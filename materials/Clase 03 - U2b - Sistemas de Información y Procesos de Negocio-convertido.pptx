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326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27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9144000" cy="6858000" type="screen4x3"/>
  <p:notesSz cx="9144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6258" y="193801"/>
            <a:ext cx="8571483" cy="606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193801"/>
            <a:ext cx="227139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0994" y="2127757"/>
            <a:ext cx="4135754" cy="2157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png"/><Relationship Id="rId18" Type="http://schemas.openxmlformats.org/officeDocument/2006/relationships/image" Target="../media/image35.png"/><Relationship Id="rId3" Type="http://schemas.openxmlformats.org/officeDocument/2006/relationships/image" Target="../media/image38.png"/><Relationship Id="rId21" Type="http://schemas.openxmlformats.org/officeDocument/2006/relationships/image" Target="../media/image63.png"/><Relationship Id="rId7" Type="http://schemas.openxmlformats.org/officeDocument/2006/relationships/image" Target="../media/image51.png"/><Relationship Id="rId12" Type="http://schemas.openxmlformats.org/officeDocument/2006/relationships/image" Target="../media/image30.png"/><Relationship Id="rId17" Type="http://schemas.openxmlformats.org/officeDocument/2006/relationships/image" Target="../media/image60.png"/><Relationship Id="rId2" Type="http://schemas.openxmlformats.org/officeDocument/2006/relationships/image" Target="../media/image14.png"/><Relationship Id="rId16" Type="http://schemas.openxmlformats.org/officeDocument/2006/relationships/image" Target="../media/image59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6.png"/><Relationship Id="rId5" Type="http://schemas.openxmlformats.org/officeDocument/2006/relationships/image" Target="../media/image28.png"/><Relationship Id="rId15" Type="http://schemas.openxmlformats.org/officeDocument/2006/relationships/image" Target="../media/image58.png"/><Relationship Id="rId23" Type="http://schemas.openxmlformats.org/officeDocument/2006/relationships/image" Target="../media/image65.png"/><Relationship Id="rId10" Type="http://schemas.openxmlformats.org/officeDocument/2006/relationships/image" Target="../media/image54.png"/><Relationship Id="rId19" Type="http://schemas.openxmlformats.org/officeDocument/2006/relationships/image" Target="../media/image61.png"/><Relationship Id="rId4" Type="http://schemas.openxmlformats.org/officeDocument/2006/relationships/image" Target="../media/image39.png"/><Relationship Id="rId9" Type="http://schemas.openxmlformats.org/officeDocument/2006/relationships/image" Target="../media/image53.png"/><Relationship Id="rId14" Type="http://schemas.openxmlformats.org/officeDocument/2006/relationships/image" Target="../media/image57.png"/><Relationship Id="rId22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9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2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jpg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3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5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7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26" Type="http://schemas.openxmlformats.org/officeDocument/2006/relationships/image" Target="../media/image112.png"/><Relationship Id="rId3" Type="http://schemas.openxmlformats.org/officeDocument/2006/relationships/image" Target="../media/image89.png"/><Relationship Id="rId21" Type="http://schemas.openxmlformats.org/officeDocument/2006/relationships/image" Target="../media/image107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1.png"/><Relationship Id="rId2" Type="http://schemas.openxmlformats.org/officeDocument/2006/relationships/image" Target="../media/image88.png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110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23" Type="http://schemas.openxmlformats.org/officeDocument/2006/relationships/image" Target="../media/image109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" Type="http://schemas.openxmlformats.org/officeDocument/2006/relationships/image" Target="../media/image176.png"/><Relationship Id="rId21" Type="http://schemas.openxmlformats.org/officeDocument/2006/relationships/image" Target="../media/image194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2" Type="http://schemas.openxmlformats.org/officeDocument/2006/relationships/image" Target="../media/image175.png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29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5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1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4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00.png"/><Relationship Id="rId30" Type="http://schemas.openxmlformats.org/officeDocument/2006/relationships/image" Target="../media/image20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7" Type="http://schemas.openxmlformats.org/officeDocument/2006/relationships/image" Target="../media/image21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0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7.jp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395" y="2048255"/>
            <a:ext cx="2464308" cy="676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6878" y="2439161"/>
            <a:ext cx="3730752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713482"/>
            <a:ext cx="1363980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6925" y="2114803"/>
            <a:ext cx="3394710" cy="203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30" dirty="0">
                <a:solidFill>
                  <a:srgbClr val="FFFFFF"/>
                </a:solidFill>
                <a:latin typeface="Trebuchet MS"/>
                <a:cs typeface="Trebuchet MS"/>
              </a:rPr>
              <a:t>Unidad </a:t>
            </a:r>
            <a:r>
              <a:rPr sz="2400" b="1" i="1" spc="-19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400" b="1" i="1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i="1" spc="-16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400" dirty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8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Sistemas de </a:t>
            </a:r>
            <a:r>
              <a:rPr sz="1800" b="1" i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 </a:t>
            </a:r>
            <a:r>
              <a:rPr sz="1800" b="1" i="1" spc="-17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800" b="1" i="1" spc="-2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i="1" spc="-120" dirty="0">
                <a:solidFill>
                  <a:srgbClr val="FFFFFF"/>
                </a:solidFill>
                <a:latin typeface="Trebuchet MS"/>
                <a:cs typeface="Trebuchet MS"/>
              </a:rPr>
              <a:t>Procesos  </a:t>
            </a:r>
            <a:r>
              <a:rPr sz="1800" b="1" i="1" spc="-114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b="1" i="1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i="1" spc="-90" dirty="0">
                <a:solidFill>
                  <a:srgbClr val="FFFFFF"/>
                </a:solidFill>
                <a:latin typeface="Trebuchet MS"/>
                <a:cs typeface="Trebuchet MS"/>
              </a:rPr>
              <a:t>Negocio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Mag. </a:t>
            </a:r>
            <a:r>
              <a:rPr lang="es-AR"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Javier F. Klus</a:t>
            </a:r>
            <a:endParaRPr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 err="1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@uade.edu.ar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2019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2100" y="95249"/>
            <a:ext cx="347154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350" dirty="0">
                <a:latin typeface="Trebuchet MS"/>
                <a:cs typeface="Trebuchet MS"/>
              </a:rPr>
              <a:t>Sistemas </a:t>
            </a:r>
            <a:r>
              <a:rPr sz="5400" i="1" spc="-340" dirty="0">
                <a:latin typeface="Trebuchet MS"/>
                <a:cs typeface="Trebuchet MS"/>
              </a:rPr>
              <a:t>de  </a:t>
            </a:r>
            <a:r>
              <a:rPr sz="5400" i="1" spc="-254" dirty="0">
                <a:latin typeface="Trebuchet MS"/>
                <a:cs typeface="Trebuchet MS"/>
              </a:rPr>
              <a:t>In</a:t>
            </a:r>
            <a:r>
              <a:rPr sz="5400" i="1" spc="-290" dirty="0">
                <a:latin typeface="Trebuchet MS"/>
                <a:cs typeface="Trebuchet MS"/>
              </a:rPr>
              <a:t>f</a:t>
            </a:r>
            <a:r>
              <a:rPr sz="5400" i="1" spc="-325" dirty="0">
                <a:latin typeface="Trebuchet MS"/>
                <a:cs typeface="Trebuchet MS"/>
              </a:rPr>
              <a:t>ormación</a:t>
            </a:r>
            <a:endParaRPr sz="5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solidFill>
                  <a:srgbClr val="FFFFFF"/>
                </a:solidFill>
                <a:latin typeface="Trebuchet MS"/>
                <a:cs typeface="Trebuchet MS"/>
              </a:rPr>
              <a:t>Contenido </a:t>
            </a:r>
            <a:r>
              <a:rPr sz="3000" b="1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00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35" dirty="0">
                <a:solidFill>
                  <a:srgbClr val="FFFFFF"/>
                </a:solidFill>
                <a:latin typeface="Trebuchet MS"/>
                <a:cs typeface="Trebuchet MS"/>
              </a:rPr>
              <a:t>la  sesión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40427" y="209931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40427" y="209931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7403" y="30327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69204" y="7562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46953" y="278891"/>
            <a:ext cx="2540507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97829" y="331216"/>
            <a:ext cx="22390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Ventas </a:t>
            </a: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Cuentas </a:t>
            </a:r>
            <a:r>
              <a:rPr sz="1600" b="1" spc="-65" dirty="0">
                <a:solidFill>
                  <a:srgbClr val="003186"/>
                </a:solidFill>
                <a:latin typeface="Trebuchet MS"/>
                <a:cs typeface="Trebuchet MS"/>
              </a:rPr>
              <a:t>a</a:t>
            </a:r>
            <a:r>
              <a:rPr sz="1600" b="1" spc="-29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Cobrar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3640" y="750010"/>
            <a:ext cx="3054985" cy="985519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935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Visión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alto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nivel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del</a:t>
            </a:r>
            <a:r>
              <a:rPr sz="1400" b="1" spc="-254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procedimiento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Actividades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clave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controles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Intervención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4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tecnología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40427" y="1906904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C5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40427" y="1906904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C5E7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03876" y="2000504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69204" y="2453258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C5E7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46953" y="1975866"/>
            <a:ext cx="1197102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97829" y="2028443"/>
            <a:ext cx="8959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Cobranzas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3640" y="2446374"/>
            <a:ext cx="3053715" cy="98679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4"/>
              </a:spcBef>
              <a:buAutoNum type="arabicPeriod"/>
              <a:tabLst>
                <a:tab pos="241935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Visión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alto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nivel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del</a:t>
            </a:r>
            <a:r>
              <a:rPr sz="1400" b="1" spc="-26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procedimiento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Actividades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clave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controles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935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Intervención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4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tecnología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41189" y="57725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41189" y="57725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063490" y="5866384"/>
            <a:ext cx="243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069966" y="63188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47715" y="5841491"/>
            <a:ext cx="966977" cy="5090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498591" y="5894323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Síntesis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94655" y="6420103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1.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Resumen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preguntas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repaso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40427" y="3597021"/>
            <a:ext cx="487680" cy="548640"/>
          </a:xfrm>
          <a:custGeom>
            <a:avLst/>
            <a:gdLst/>
            <a:ahLst/>
            <a:cxnLst/>
            <a:rect l="l" t="t" r="r" b="b"/>
            <a:pathLst>
              <a:path w="487679" h="548639">
                <a:moveTo>
                  <a:pt x="487680" y="0"/>
                </a:moveTo>
                <a:lnTo>
                  <a:pt x="121920" y="0"/>
                </a:lnTo>
                <a:lnTo>
                  <a:pt x="0" y="548639"/>
                </a:lnTo>
                <a:lnTo>
                  <a:pt x="365760" y="548639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40427" y="3597021"/>
            <a:ext cx="487680" cy="548640"/>
          </a:xfrm>
          <a:custGeom>
            <a:avLst/>
            <a:gdLst/>
            <a:ahLst/>
            <a:cxnLst/>
            <a:rect l="l" t="t" r="r" b="b"/>
            <a:pathLst>
              <a:path w="487679" h="548639">
                <a:moveTo>
                  <a:pt x="0" y="548639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8639"/>
                </a:lnTo>
                <a:lnTo>
                  <a:pt x="0" y="548639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69332" y="3689857"/>
            <a:ext cx="2292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69204" y="4142613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46953" y="3665220"/>
            <a:ext cx="1627631" cy="5090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497576" y="3718305"/>
            <a:ext cx="1327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Control</a:t>
            </a:r>
            <a:r>
              <a:rPr sz="1600" b="1" spc="-16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Interno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93385" y="4136847"/>
            <a:ext cx="3339465" cy="151892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Antecedentes y conceptos</a:t>
            </a:r>
            <a:r>
              <a:rPr sz="1400" b="1" spc="-15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fundamentales</a:t>
            </a:r>
            <a:endParaRPr sz="1400">
              <a:latin typeface="Trebuchet MS"/>
              <a:cs typeface="Trebuchet MS"/>
            </a:endParaRPr>
          </a:p>
          <a:p>
            <a:pPr marL="241300" marR="27051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70" dirty="0">
                <a:solidFill>
                  <a:srgbClr val="003186"/>
                </a:solidFill>
                <a:latin typeface="Trebuchet MS"/>
                <a:cs typeface="Trebuchet MS"/>
              </a:rPr>
              <a:t>Pautas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implementación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18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controles  </a:t>
            </a: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clave </a:t>
            </a: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a</a:t>
            </a:r>
            <a:r>
              <a:rPr sz="1400" b="1" spc="-12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considerar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Rediseño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procesos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21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Benchmarking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20" dirty="0">
                <a:solidFill>
                  <a:srgbClr val="003186"/>
                </a:solidFill>
                <a:latin typeface="Trebuchet MS"/>
                <a:cs typeface="Trebuchet MS"/>
              </a:rPr>
              <a:t>BPM: </a:t>
            </a: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Business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Process</a:t>
            </a:r>
            <a:r>
              <a:rPr sz="1400" b="1" spc="-22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003186"/>
                </a:solidFill>
                <a:latin typeface="Trebuchet MS"/>
                <a:cs typeface="Trebuchet MS"/>
              </a:rPr>
              <a:t>Management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7991" y="4474007"/>
            <a:ext cx="3476625" cy="1691639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614"/>
              </a:spcBef>
            </a:pPr>
            <a:r>
              <a:rPr sz="2800" b="1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800">
              <a:latin typeface="Trebuchet MS"/>
              <a:cs typeface="Trebuchet MS"/>
            </a:endParaRPr>
          </a:p>
          <a:p>
            <a:pPr marL="911860" marR="661035" indent="-899794">
              <a:lnSpc>
                <a:spcPct val="100000"/>
              </a:lnSpc>
              <a:spcBef>
                <a:spcPts val="1520"/>
              </a:spcBef>
            </a:pPr>
            <a:r>
              <a:rPr sz="2800" b="1" spc="-135" dirty="0">
                <a:solidFill>
                  <a:srgbClr val="00338D"/>
                </a:solidFill>
                <a:latin typeface="Trebuchet MS"/>
                <a:cs typeface="Trebuchet MS"/>
              </a:rPr>
              <a:t>Ventas </a:t>
            </a:r>
            <a:r>
              <a:rPr sz="2800" b="1" spc="-170" dirty="0">
                <a:solidFill>
                  <a:srgbClr val="00338D"/>
                </a:solidFill>
                <a:latin typeface="Trebuchet MS"/>
                <a:cs typeface="Trebuchet MS"/>
              </a:rPr>
              <a:t>y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Cuentas</a:t>
            </a:r>
            <a:r>
              <a:rPr sz="2800" b="1" spc="-38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10" dirty="0">
                <a:solidFill>
                  <a:srgbClr val="00338D"/>
                </a:solidFill>
                <a:latin typeface="Trebuchet MS"/>
                <a:cs typeface="Trebuchet MS"/>
              </a:rPr>
              <a:t>a  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Cobrar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35471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2000" b="1" spc="-3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Visión de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alto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nivel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procedimiento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6683" y="1074165"/>
            <a:ext cx="1268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180" dirty="0">
                <a:solidFill>
                  <a:srgbClr val="000000"/>
                </a:solidFill>
                <a:latin typeface="Arial"/>
                <a:cs typeface="Arial"/>
              </a:rPr>
              <a:t>Venta</a:t>
            </a:r>
            <a:r>
              <a:rPr sz="3200" b="0" spc="-165" dirty="0">
                <a:solidFill>
                  <a:srgbClr val="000000"/>
                </a:solidFill>
                <a:latin typeface="Arial"/>
                <a:cs typeface="Arial"/>
              </a:rPr>
              <a:t>s</a:t>
            </a:r>
            <a:r>
              <a:rPr sz="3200" b="0" spc="-35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5115" y="47175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2541" y="1567180"/>
            <a:ext cx="8488680" cy="432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600" b="1" i="1" spc="-200" dirty="0">
                <a:latin typeface="Trebuchet MS"/>
                <a:cs typeface="Trebuchet MS"/>
              </a:rPr>
              <a:t>Objetivo </a:t>
            </a:r>
            <a:r>
              <a:rPr sz="2600" b="1" i="1" spc="-195" dirty="0">
                <a:latin typeface="Trebuchet MS"/>
                <a:cs typeface="Trebuchet MS"/>
              </a:rPr>
              <a:t>principal: </a:t>
            </a:r>
            <a:r>
              <a:rPr sz="2600" i="1" spc="-140" dirty="0">
                <a:latin typeface="Trebuchet MS"/>
                <a:cs typeface="Trebuchet MS"/>
              </a:rPr>
              <a:t>instrumentar</a:t>
            </a:r>
            <a:r>
              <a:rPr sz="2600" i="1" spc="500" dirty="0">
                <a:latin typeface="Trebuchet MS"/>
                <a:cs typeface="Trebuchet MS"/>
              </a:rPr>
              <a:t> </a:t>
            </a:r>
            <a:r>
              <a:rPr sz="2600" i="1" spc="-80" dirty="0">
                <a:latin typeface="Trebuchet MS"/>
                <a:cs typeface="Trebuchet MS"/>
              </a:rPr>
              <a:t>una </a:t>
            </a:r>
            <a:r>
              <a:rPr sz="2600" b="1" i="1" spc="-200" dirty="0">
                <a:solidFill>
                  <a:srgbClr val="00338D"/>
                </a:solidFill>
                <a:latin typeface="Trebuchet MS"/>
                <a:cs typeface="Trebuchet MS"/>
              </a:rPr>
              <a:t>oferta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130" dirty="0">
                <a:latin typeface="Trebuchet MS"/>
                <a:cs typeface="Trebuchet MS"/>
              </a:rPr>
              <a:t>valor  </a:t>
            </a:r>
            <a:r>
              <a:rPr sz="2600" i="1" spc="-135" dirty="0">
                <a:latin typeface="Trebuchet MS"/>
                <a:cs typeface="Trebuchet MS"/>
              </a:rPr>
              <a:t>(producto </a:t>
            </a:r>
            <a:r>
              <a:rPr sz="2600" i="1" spc="-185" dirty="0">
                <a:latin typeface="Trebuchet MS"/>
                <a:cs typeface="Trebuchet MS"/>
              </a:rPr>
              <a:t>y/o </a:t>
            </a:r>
            <a:r>
              <a:rPr sz="2600" i="1" spc="-140" dirty="0">
                <a:latin typeface="Trebuchet MS"/>
                <a:cs typeface="Trebuchet MS"/>
              </a:rPr>
              <a:t>servicio) </a:t>
            </a:r>
            <a:r>
              <a:rPr sz="2600" i="1" spc="-35" dirty="0">
                <a:latin typeface="Trebuchet MS"/>
                <a:cs typeface="Trebuchet MS"/>
              </a:rPr>
              <a:t>a </a:t>
            </a:r>
            <a:r>
              <a:rPr sz="2600" i="1" spc="-165" dirty="0">
                <a:latin typeface="Trebuchet MS"/>
                <a:cs typeface="Trebuchet MS"/>
              </a:rPr>
              <a:t>partir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80" dirty="0">
                <a:latin typeface="Trebuchet MS"/>
                <a:cs typeface="Trebuchet MS"/>
              </a:rPr>
              <a:t>una </a:t>
            </a:r>
            <a:r>
              <a:rPr sz="2600" b="1" i="1" spc="-185" dirty="0">
                <a:solidFill>
                  <a:srgbClr val="00338D"/>
                </a:solidFill>
                <a:latin typeface="Trebuchet MS"/>
                <a:cs typeface="Trebuchet MS"/>
              </a:rPr>
              <a:t>transacción, </a:t>
            </a:r>
            <a:r>
              <a:rPr sz="2600" i="1" spc="-125" dirty="0">
                <a:latin typeface="Trebuchet MS"/>
                <a:cs typeface="Trebuchet MS"/>
              </a:rPr>
              <a:t>en  </a:t>
            </a:r>
            <a:r>
              <a:rPr sz="2600" i="1" spc="-110" dirty="0">
                <a:latin typeface="Trebuchet MS"/>
                <a:cs typeface="Trebuchet MS"/>
              </a:rPr>
              <a:t>donde </a:t>
            </a:r>
            <a:r>
              <a:rPr sz="2600" i="1" spc="-100" dirty="0">
                <a:latin typeface="Trebuchet MS"/>
                <a:cs typeface="Trebuchet MS"/>
              </a:rPr>
              <a:t>un </a:t>
            </a:r>
            <a:r>
              <a:rPr sz="2600" b="1" i="1" spc="-180" dirty="0">
                <a:solidFill>
                  <a:srgbClr val="00338D"/>
                </a:solidFill>
                <a:latin typeface="Trebuchet MS"/>
                <a:cs typeface="Trebuchet MS"/>
              </a:rPr>
              <a:t>oferente </a:t>
            </a:r>
            <a:r>
              <a:rPr sz="2600" i="1" spc="-140" dirty="0">
                <a:latin typeface="Trebuchet MS"/>
                <a:cs typeface="Trebuchet MS"/>
              </a:rPr>
              <a:t>(vendedor) </a:t>
            </a:r>
            <a:r>
              <a:rPr sz="2600" i="1" spc="-120" dirty="0">
                <a:latin typeface="Trebuchet MS"/>
                <a:cs typeface="Trebuchet MS"/>
              </a:rPr>
              <a:t>entrega </a:t>
            </a:r>
            <a:r>
              <a:rPr sz="2600" i="1" spc="-130" dirty="0">
                <a:latin typeface="Trebuchet MS"/>
                <a:cs typeface="Trebuchet MS"/>
              </a:rPr>
              <a:t>mercadería </a:t>
            </a:r>
            <a:r>
              <a:rPr sz="2600" i="1" spc="-35" dirty="0">
                <a:latin typeface="Trebuchet MS"/>
                <a:cs typeface="Trebuchet MS"/>
              </a:rPr>
              <a:t>a </a:t>
            </a:r>
            <a:r>
              <a:rPr sz="2600" i="1" spc="-100" dirty="0">
                <a:latin typeface="Trebuchet MS"/>
                <a:cs typeface="Trebuchet MS"/>
              </a:rPr>
              <a:t>un </a:t>
            </a:r>
            <a:r>
              <a:rPr sz="2600" i="1" spc="-10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b="1" i="1" spc="-170" dirty="0">
                <a:solidFill>
                  <a:srgbClr val="00338D"/>
                </a:solidFill>
                <a:latin typeface="Trebuchet MS"/>
                <a:cs typeface="Trebuchet MS"/>
              </a:rPr>
              <a:t>comprador </a:t>
            </a:r>
            <a:r>
              <a:rPr sz="2600" i="1" spc="-190" dirty="0">
                <a:latin typeface="Trebuchet MS"/>
                <a:cs typeface="Trebuchet MS"/>
              </a:rPr>
              <a:t>(cliente, </a:t>
            </a:r>
            <a:r>
              <a:rPr sz="2600" i="1" spc="-135" dirty="0">
                <a:latin typeface="Trebuchet MS"/>
                <a:cs typeface="Trebuchet MS"/>
              </a:rPr>
              <a:t>proveedor </a:t>
            </a:r>
            <a:r>
              <a:rPr sz="2600" i="1" spc="-114" dirty="0">
                <a:latin typeface="Trebuchet MS"/>
                <a:cs typeface="Trebuchet MS"/>
              </a:rPr>
              <a:t>u </a:t>
            </a:r>
            <a:r>
              <a:rPr sz="2600" i="1" spc="-145" dirty="0">
                <a:latin typeface="Trebuchet MS"/>
                <a:cs typeface="Trebuchet MS"/>
              </a:rPr>
              <a:t>otro) </a:t>
            </a:r>
            <a:r>
              <a:rPr sz="2600" i="1" spc="-35" dirty="0">
                <a:latin typeface="Trebuchet MS"/>
                <a:cs typeface="Trebuchet MS"/>
              </a:rPr>
              <a:t>a </a:t>
            </a:r>
            <a:r>
              <a:rPr sz="2600" i="1" spc="-105" dirty="0">
                <a:latin typeface="Trebuchet MS"/>
                <a:cs typeface="Trebuchet MS"/>
              </a:rPr>
              <a:t>cambio </a:t>
            </a:r>
            <a:r>
              <a:rPr sz="2600" i="1" spc="-175" dirty="0">
                <a:latin typeface="Trebuchet MS"/>
                <a:cs typeface="Trebuchet MS"/>
              </a:rPr>
              <a:t>del </a:t>
            </a:r>
            <a:r>
              <a:rPr sz="2600" i="1" u="heavy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pago </a:t>
            </a:r>
            <a:r>
              <a:rPr sz="2600" i="1" u="heavy" spc="-1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 </a:t>
            </a:r>
            <a:r>
              <a:rPr sz="26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 </a:t>
            </a:r>
            <a:r>
              <a:rPr sz="2600" i="1" u="heavy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precio</a:t>
            </a:r>
            <a:r>
              <a:rPr sz="2600" i="1" u="heavy" spc="-2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i="1" u="heavy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determinado</a:t>
            </a:r>
            <a:r>
              <a:rPr sz="2600" i="1" spc="-150" dirty="0">
                <a:latin typeface="Trebuchet MS"/>
                <a:cs typeface="Trebuchet MS"/>
              </a:rPr>
              <a:t>.</a:t>
            </a:r>
            <a:endParaRPr sz="2600">
              <a:latin typeface="Trebuchet MS"/>
              <a:cs typeface="Trebuchet MS"/>
            </a:endParaRPr>
          </a:p>
          <a:p>
            <a:pPr marL="355600" marR="5080" algn="just">
              <a:lnSpc>
                <a:spcPct val="103299"/>
              </a:lnSpc>
              <a:spcBef>
                <a:spcPts val="520"/>
              </a:spcBef>
            </a:pPr>
            <a:r>
              <a:rPr sz="2000" i="1" spc="-100" dirty="0">
                <a:latin typeface="Trebuchet MS"/>
                <a:cs typeface="Trebuchet MS"/>
              </a:rPr>
              <a:t>NOTA: </a:t>
            </a:r>
            <a:r>
              <a:rPr sz="2000" i="1" spc="-125" dirty="0">
                <a:latin typeface="Trebuchet MS"/>
                <a:cs typeface="Trebuchet MS"/>
              </a:rPr>
              <a:t>típicamente, </a:t>
            </a:r>
            <a:r>
              <a:rPr sz="2000" i="1" spc="-120" dirty="0">
                <a:latin typeface="Trebuchet MS"/>
                <a:cs typeface="Trebuchet MS"/>
              </a:rPr>
              <a:t>este </a:t>
            </a:r>
            <a:r>
              <a:rPr sz="2000" i="1" spc="-110" dirty="0">
                <a:latin typeface="Trebuchet MS"/>
                <a:cs typeface="Trebuchet MS"/>
              </a:rPr>
              <a:t>procedimiento </a:t>
            </a:r>
            <a:r>
              <a:rPr sz="2000" i="1" spc="-80" dirty="0">
                <a:latin typeface="Trebuchet MS"/>
                <a:cs typeface="Trebuchet MS"/>
              </a:rPr>
              <a:t>se </a:t>
            </a:r>
            <a:r>
              <a:rPr sz="2000" i="1" spc="-70" dirty="0">
                <a:latin typeface="Trebuchet MS"/>
                <a:cs typeface="Trebuchet MS"/>
              </a:rPr>
              <a:t>apalanca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80" dirty="0">
                <a:latin typeface="Trebuchet MS"/>
                <a:cs typeface="Trebuchet MS"/>
              </a:rPr>
              <a:t>procesos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75" dirty="0">
                <a:latin typeface="Trebuchet MS"/>
                <a:cs typeface="Trebuchet MS"/>
              </a:rPr>
              <a:t>negocio </a:t>
            </a:r>
            <a:r>
              <a:rPr sz="2000" i="1" spc="-95" dirty="0">
                <a:latin typeface="Trebuchet MS"/>
                <a:cs typeface="Trebuchet MS"/>
              </a:rPr>
              <a:t>y 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100" dirty="0">
                <a:latin typeface="Trebuchet MS"/>
                <a:cs typeface="Trebuchet MS"/>
              </a:rPr>
              <a:t>soporte </a:t>
            </a:r>
            <a:r>
              <a:rPr sz="2000" i="1" spc="-105" dirty="0">
                <a:latin typeface="Trebuchet MS"/>
                <a:cs typeface="Trebuchet MS"/>
              </a:rPr>
              <a:t>que </a:t>
            </a:r>
            <a:r>
              <a:rPr sz="2000" i="1" spc="-125" dirty="0">
                <a:latin typeface="Trebuchet MS"/>
                <a:cs typeface="Trebuchet MS"/>
              </a:rPr>
              <a:t>permiten </a:t>
            </a:r>
            <a:r>
              <a:rPr sz="2000" i="1" spc="-105" dirty="0">
                <a:latin typeface="Trebuchet MS"/>
                <a:cs typeface="Trebuchet MS"/>
              </a:rPr>
              <a:t>que </a:t>
            </a:r>
            <a:r>
              <a:rPr sz="2000" i="1" spc="-110" dirty="0">
                <a:latin typeface="Trebuchet MS"/>
                <a:cs typeface="Trebuchet MS"/>
              </a:rPr>
              <a:t>la </a:t>
            </a:r>
            <a:r>
              <a:rPr sz="2000" i="1" spc="-85" dirty="0">
                <a:latin typeface="Trebuchet MS"/>
                <a:cs typeface="Trebuchet MS"/>
              </a:rPr>
              <a:t>organización </a:t>
            </a:r>
            <a:r>
              <a:rPr sz="2000" i="1" spc="-75" dirty="0">
                <a:latin typeface="Trebuchet MS"/>
                <a:cs typeface="Trebuchet MS"/>
              </a:rPr>
              <a:t>tenga </a:t>
            </a:r>
            <a:r>
              <a:rPr sz="2000" i="1" spc="-110" dirty="0">
                <a:latin typeface="Trebuchet MS"/>
                <a:cs typeface="Trebuchet MS"/>
              </a:rPr>
              <a:t>la </a:t>
            </a:r>
            <a:r>
              <a:rPr sz="2000" i="1" spc="-75" dirty="0">
                <a:latin typeface="Trebuchet MS"/>
                <a:cs typeface="Trebuchet MS"/>
              </a:rPr>
              <a:t>capacidad </a:t>
            </a:r>
            <a:r>
              <a:rPr sz="2000" i="1" spc="-110" dirty="0">
                <a:latin typeface="Trebuchet MS"/>
                <a:cs typeface="Trebuchet MS"/>
              </a:rPr>
              <a:t>de </a:t>
            </a:r>
            <a:r>
              <a:rPr sz="2000" i="1" spc="-120" dirty="0">
                <a:latin typeface="Trebuchet MS"/>
                <a:cs typeface="Trebuchet MS"/>
              </a:rPr>
              <a:t>realizar  </a:t>
            </a:r>
            <a:r>
              <a:rPr sz="2000" i="1" spc="-80" dirty="0">
                <a:latin typeface="Trebuchet MS"/>
                <a:cs typeface="Trebuchet MS"/>
              </a:rPr>
              <a:t>estas</a:t>
            </a:r>
            <a:r>
              <a:rPr sz="2000" i="1" spc="-170" dirty="0">
                <a:latin typeface="Trebuchet MS"/>
                <a:cs typeface="Trebuchet MS"/>
              </a:rPr>
              <a:t> </a:t>
            </a:r>
            <a:r>
              <a:rPr sz="2000" i="1" spc="-95" dirty="0">
                <a:latin typeface="Trebuchet MS"/>
                <a:cs typeface="Trebuchet MS"/>
              </a:rPr>
              <a:t>transacciones.</a:t>
            </a:r>
            <a:endParaRPr sz="2000">
              <a:latin typeface="Trebuchet MS"/>
              <a:cs typeface="Trebuchet MS"/>
            </a:endParaRPr>
          </a:p>
          <a:p>
            <a:pPr marL="386715">
              <a:lnSpc>
                <a:spcPct val="100000"/>
              </a:lnSpc>
              <a:spcBef>
                <a:spcPts val="165"/>
              </a:spcBef>
            </a:pPr>
            <a:r>
              <a:rPr sz="3200" spc="-210" dirty="0">
                <a:latin typeface="Arial"/>
                <a:cs typeface="Arial"/>
              </a:rPr>
              <a:t>Cuentas </a:t>
            </a:r>
            <a:r>
              <a:rPr sz="3200" spc="-250" dirty="0">
                <a:latin typeface="Arial"/>
                <a:cs typeface="Arial"/>
              </a:rPr>
              <a:t>a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145" dirty="0">
                <a:latin typeface="Arial"/>
                <a:cs typeface="Arial"/>
              </a:rPr>
              <a:t>Cobrar:</a:t>
            </a:r>
            <a:endParaRPr sz="3200">
              <a:latin typeface="Arial"/>
              <a:cs typeface="Arial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40"/>
              </a:spcBef>
              <a:buFont typeface="Arial"/>
              <a:buChar char="•"/>
              <a:tabLst>
                <a:tab pos="355600" algn="l"/>
              </a:tabLst>
            </a:pPr>
            <a:r>
              <a:rPr sz="2600" b="1" i="1" spc="-200" dirty="0">
                <a:latin typeface="Trebuchet MS"/>
                <a:cs typeface="Trebuchet MS"/>
              </a:rPr>
              <a:t>Objetivo principal: </a:t>
            </a:r>
            <a:r>
              <a:rPr sz="2600" b="1" i="1" spc="-210" dirty="0">
                <a:solidFill>
                  <a:srgbClr val="00338D"/>
                </a:solidFill>
                <a:latin typeface="Trebuchet MS"/>
                <a:cs typeface="Trebuchet MS"/>
              </a:rPr>
              <a:t>percibir </a:t>
            </a:r>
            <a:r>
              <a:rPr sz="2600" b="1" i="1" spc="-245" dirty="0">
                <a:solidFill>
                  <a:srgbClr val="00338D"/>
                </a:solidFill>
                <a:latin typeface="Trebuchet MS"/>
                <a:cs typeface="Trebuchet MS"/>
              </a:rPr>
              <a:t>y </a:t>
            </a:r>
            <a:r>
              <a:rPr sz="2600" b="1" i="1" spc="-195" dirty="0">
                <a:solidFill>
                  <a:srgbClr val="00338D"/>
                </a:solidFill>
                <a:latin typeface="Trebuchet MS"/>
                <a:cs typeface="Trebuchet MS"/>
              </a:rPr>
              <a:t>registrar </a:t>
            </a:r>
            <a:r>
              <a:rPr sz="2600" i="1" spc="-200" dirty="0">
                <a:latin typeface="Trebuchet MS"/>
                <a:cs typeface="Trebuchet MS"/>
              </a:rPr>
              <a:t>el </a:t>
            </a:r>
            <a:r>
              <a:rPr sz="2600" b="1" i="1" spc="-120" dirty="0">
                <a:solidFill>
                  <a:srgbClr val="00338D"/>
                </a:solidFill>
                <a:latin typeface="Trebuchet MS"/>
                <a:cs typeface="Trebuchet MS"/>
              </a:rPr>
              <a:t>pago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105" dirty="0">
                <a:latin typeface="Trebuchet MS"/>
                <a:cs typeface="Trebuchet MS"/>
              </a:rPr>
              <a:t>un </a:t>
            </a:r>
            <a:r>
              <a:rPr sz="2600" i="1" spc="-145" dirty="0">
                <a:latin typeface="Trebuchet MS"/>
                <a:cs typeface="Trebuchet MS"/>
              </a:rPr>
              <a:t>bien  </a:t>
            </a:r>
            <a:r>
              <a:rPr sz="2600" i="1" spc="-90" dirty="0">
                <a:latin typeface="Trebuchet MS"/>
                <a:cs typeface="Trebuchet MS"/>
              </a:rPr>
              <a:t>como </a:t>
            </a:r>
            <a:r>
              <a:rPr sz="2600" i="1" spc="-130" dirty="0">
                <a:latin typeface="Trebuchet MS"/>
                <a:cs typeface="Trebuchet MS"/>
              </a:rPr>
              <a:t>resultado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80" dirty="0">
                <a:latin typeface="Trebuchet MS"/>
                <a:cs typeface="Trebuchet MS"/>
              </a:rPr>
              <a:t>una </a:t>
            </a:r>
            <a:r>
              <a:rPr sz="26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transacción </a:t>
            </a:r>
            <a:r>
              <a:rPr sz="2600" i="1" u="heavy" spc="-1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</a:t>
            </a:r>
            <a:r>
              <a:rPr sz="2600" i="1" u="heavy" spc="-5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i="1" u="heavy" spc="-1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venta</a:t>
            </a:r>
            <a:r>
              <a:rPr sz="2600" i="1" spc="-155" dirty="0">
                <a:latin typeface="Trebuchet MS"/>
                <a:cs typeface="Trebuchet MS"/>
              </a:rPr>
              <a:t>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360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0" dirty="0"/>
              <a:t>Ventas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20" dirty="0"/>
              <a:t>Cobrar</a:t>
            </a:r>
            <a:r>
              <a:rPr spc="-42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85" dirty="0">
                <a:latin typeface="Arial"/>
                <a:cs typeface="Arial"/>
              </a:rPr>
              <a:t>Visión de </a:t>
            </a:r>
            <a:r>
              <a:rPr sz="1800" b="0" spc="-20" dirty="0">
                <a:latin typeface="Arial"/>
                <a:cs typeface="Arial"/>
              </a:rPr>
              <a:t>alto </a:t>
            </a:r>
            <a:r>
              <a:rPr sz="1800" b="0" spc="-50" dirty="0">
                <a:latin typeface="Arial"/>
                <a:cs typeface="Arial"/>
              </a:rPr>
              <a:t>nivel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45" dirty="0">
                <a:latin typeface="Arial"/>
                <a:cs typeface="Arial"/>
              </a:rPr>
              <a:t>procedimiento</a:t>
            </a:r>
            <a:r>
              <a:rPr sz="1800" b="0" spc="-1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880" y="1882139"/>
            <a:ext cx="1844802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980" y="1905380"/>
            <a:ext cx="1752600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9980" y="1905380"/>
            <a:ext cx="1752600" cy="914400"/>
          </a:xfrm>
          <a:custGeom>
            <a:avLst/>
            <a:gdLst/>
            <a:ahLst/>
            <a:cxnLst/>
            <a:rect l="l" t="t" r="r" b="b"/>
            <a:pathLst>
              <a:path w="1752600" h="914400">
                <a:moveTo>
                  <a:pt x="0" y="457200"/>
                </a:moveTo>
                <a:lnTo>
                  <a:pt x="8701" y="392523"/>
                </a:lnTo>
                <a:lnTo>
                  <a:pt x="34017" y="330631"/>
                </a:lnTo>
                <a:lnTo>
                  <a:pt x="74759" y="272145"/>
                </a:lnTo>
                <a:lnTo>
                  <a:pt x="129742" y="217683"/>
                </a:lnTo>
                <a:lnTo>
                  <a:pt x="162203" y="192155"/>
                </a:lnTo>
                <a:lnTo>
                  <a:pt x="197779" y="167865"/>
                </a:lnTo>
                <a:lnTo>
                  <a:pt x="236322" y="144891"/>
                </a:lnTo>
                <a:lnTo>
                  <a:pt x="277684" y="123309"/>
                </a:lnTo>
                <a:lnTo>
                  <a:pt x="321717" y="103199"/>
                </a:lnTo>
                <a:lnTo>
                  <a:pt x="368272" y="84636"/>
                </a:lnTo>
                <a:lnTo>
                  <a:pt x="417201" y="67698"/>
                </a:lnTo>
                <a:lnTo>
                  <a:pt x="468355" y="52464"/>
                </a:lnTo>
                <a:lnTo>
                  <a:pt x="521587" y="39009"/>
                </a:lnTo>
                <a:lnTo>
                  <a:pt x="576748" y="27412"/>
                </a:lnTo>
                <a:lnTo>
                  <a:pt x="633690" y="17750"/>
                </a:lnTo>
                <a:lnTo>
                  <a:pt x="692264" y="10100"/>
                </a:lnTo>
                <a:lnTo>
                  <a:pt x="752323" y="4540"/>
                </a:lnTo>
                <a:lnTo>
                  <a:pt x="813717" y="1148"/>
                </a:lnTo>
                <a:lnTo>
                  <a:pt x="876300" y="0"/>
                </a:lnTo>
                <a:lnTo>
                  <a:pt x="938885" y="1148"/>
                </a:lnTo>
                <a:lnTo>
                  <a:pt x="1000282" y="4540"/>
                </a:lnTo>
                <a:lnTo>
                  <a:pt x="1060343" y="10100"/>
                </a:lnTo>
                <a:lnTo>
                  <a:pt x="1118918" y="17750"/>
                </a:lnTo>
                <a:lnTo>
                  <a:pt x="1175861" y="27412"/>
                </a:lnTo>
                <a:lnTo>
                  <a:pt x="1231023" y="39009"/>
                </a:lnTo>
                <a:lnTo>
                  <a:pt x="1284255" y="52464"/>
                </a:lnTo>
                <a:lnTo>
                  <a:pt x="1335410" y="67698"/>
                </a:lnTo>
                <a:lnTo>
                  <a:pt x="1384338" y="84636"/>
                </a:lnTo>
                <a:lnTo>
                  <a:pt x="1430893" y="103199"/>
                </a:lnTo>
                <a:lnTo>
                  <a:pt x="1474925" y="123309"/>
                </a:lnTo>
                <a:lnTo>
                  <a:pt x="1516286" y="144891"/>
                </a:lnTo>
                <a:lnTo>
                  <a:pt x="1554828" y="167865"/>
                </a:lnTo>
                <a:lnTo>
                  <a:pt x="1590404" y="192155"/>
                </a:lnTo>
                <a:lnTo>
                  <a:pt x="1622863" y="217683"/>
                </a:lnTo>
                <a:lnTo>
                  <a:pt x="1652060" y="244373"/>
                </a:lnTo>
                <a:lnTo>
                  <a:pt x="1700068" y="300924"/>
                </a:lnTo>
                <a:lnTo>
                  <a:pt x="1733244" y="361190"/>
                </a:lnTo>
                <a:lnTo>
                  <a:pt x="1750399" y="424552"/>
                </a:lnTo>
                <a:lnTo>
                  <a:pt x="1752600" y="457200"/>
                </a:lnTo>
                <a:lnTo>
                  <a:pt x="1750399" y="489847"/>
                </a:lnTo>
                <a:lnTo>
                  <a:pt x="1733244" y="553209"/>
                </a:lnTo>
                <a:lnTo>
                  <a:pt x="1700068" y="613475"/>
                </a:lnTo>
                <a:lnTo>
                  <a:pt x="1652060" y="670026"/>
                </a:lnTo>
                <a:lnTo>
                  <a:pt x="1622863" y="696716"/>
                </a:lnTo>
                <a:lnTo>
                  <a:pt x="1590404" y="722244"/>
                </a:lnTo>
                <a:lnTo>
                  <a:pt x="1554828" y="746534"/>
                </a:lnTo>
                <a:lnTo>
                  <a:pt x="1516286" y="769508"/>
                </a:lnTo>
                <a:lnTo>
                  <a:pt x="1474925" y="791090"/>
                </a:lnTo>
                <a:lnTo>
                  <a:pt x="1430893" y="811200"/>
                </a:lnTo>
                <a:lnTo>
                  <a:pt x="1384338" y="829763"/>
                </a:lnTo>
                <a:lnTo>
                  <a:pt x="1335410" y="846701"/>
                </a:lnTo>
                <a:lnTo>
                  <a:pt x="1284255" y="861935"/>
                </a:lnTo>
                <a:lnTo>
                  <a:pt x="1231023" y="875390"/>
                </a:lnTo>
                <a:lnTo>
                  <a:pt x="1175861" y="886987"/>
                </a:lnTo>
                <a:lnTo>
                  <a:pt x="1118918" y="896649"/>
                </a:lnTo>
                <a:lnTo>
                  <a:pt x="1060343" y="904299"/>
                </a:lnTo>
                <a:lnTo>
                  <a:pt x="1000282" y="909859"/>
                </a:lnTo>
                <a:lnTo>
                  <a:pt x="938885" y="913251"/>
                </a:lnTo>
                <a:lnTo>
                  <a:pt x="876300" y="914400"/>
                </a:lnTo>
                <a:lnTo>
                  <a:pt x="813717" y="913251"/>
                </a:lnTo>
                <a:lnTo>
                  <a:pt x="752323" y="909859"/>
                </a:lnTo>
                <a:lnTo>
                  <a:pt x="692264" y="904299"/>
                </a:lnTo>
                <a:lnTo>
                  <a:pt x="633690" y="896649"/>
                </a:lnTo>
                <a:lnTo>
                  <a:pt x="576748" y="886987"/>
                </a:lnTo>
                <a:lnTo>
                  <a:pt x="521587" y="875390"/>
                </a:lnTo>
                <a:lnTo>
                  <a:pt x="468355" y="861935"/>
                </a:lnTo>
                <a:lnTo>
                  <a:pt x="417201" y="846701"/>
                </a:lnTo>
                <a:lnTo>
                  <a:pt x="368272" y="829763"/>
                </a:lnTo>
                <a:lnTo>
                  <a:pt x="321717" y="811200"/>
                </a:lnTo>
                <a:lnTo>
                  <a:pt x="277684" y="791090"/>
                </a:lnTo>
                <a:lnTo>
                  <a:pt x="236322" y="769508"/>
                </a:lnTo>
                <a:lnTo>
                  <a:pt x="197779" y="746534"/>
                </a:lnTo>
                <a:lnTo>
                  <a:pt x="162203" y="722244"/>
                </a:lnTo>
                <a:lnTo>
                  <a:pt x="129742" y="696716"/>
                </a:lnTo>
                <a:lnTo>
                  <a:pt x="100544" y="670026"/>
                </a:lnTo>
                <a:lnTo>
                  <a:pt x="52533" y="613475"/>
                </a:lnTo>
                <a:lnTo>
                  <a:pt x="19357" y="553209"/>
                </a:lnTo>
                <a:lnTo>
                  <a:pt x="2200" y="48984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42594" y="2175510"/>
            <a:ext cx="1104900" cy="4541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9339" y="2214880"/>
            <a:ext cx="8464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Vendedor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21279" y="1882139"/>
            <a:ext cx="1844801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61716" y="2036064"/>
            <a:ext cx="1026413" cy="7787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67380" y="1905380"/>
            <a:ext cx="1752599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67380" y="1905380"/>
            <a:ext cx="1752600" cy="914400"/>
          </a:xfrm>
          <a:custGeom>
            <a:avLst/>
            <a:gdLst/>
            <a:ahLst/>
            <a:cxnLst/>
            <a:rect l="l" t="t" r="r" b="b"/>
            <a:pathLst>
              <a:path w="1752600" h="914400">
                <a:moveTo>
                  <a:pt x="0" y="457200"/>
                </a:moveTo>
                <a:lnTo>
                  <a:pt x="8701" y="392523"/>
                </a:lnTo>
                <a:lnTo>
                  <a:pt x="34015" y="330631"/>
                </a:lnTo>
                <a:lnTo>
                  <a:pt x="74755" y="272145"/>
                </a:lnTo>
                <a:lnTo>
                  <a:pt x="129736" y="217683"/>
                </a:lnTo>
                <a:lnTo>
                  <a:pt x="162195" y="192155"/>
                </a:lnTo>
                <a:lnTo>
                  <a:pt x="197771" y="167865"/>
                </a:lnTo>
                <a:lnTo>
                  <a:pt x="236313" y="144891"/>
                </a:lnTo>
                <a:lnTo>
                  <a:pt x="277674" y="123309"/>
                </a:lnTo>
                <a:lnTo>
                  <a:pt x="321706" y="103199"/>
                </a:lnTo>
                <a:lnTo>
                  <a:pt x="368261" y="84636"/>
                </a:lnTo>
                <a:lnTo>
                  <a:pt x="417189" y="67698"/>
                </a:lnTo>
                <a:lnTo>
                  <a:pt x="468344" y="52464"/>
                </a:lnTo>
                <a:lnTo>
                  <a:pt x="521576" y="39009"/>
                </a:lnTo>
                <a:lnTo>
                  <a:pt x="576738" y="27412"/>
                </a:lnTo>
                <a:lnTo>
                  <a:pt x="633681" y="17750"/>
                </a:lnTo>
                <a:lnTo>
                  <a:pt x="692256" y="10100"/>
                </a:lnTo>
                <a:lnTo>
                  <a:pt x="752317" y="4540"/>
                </a:lnTo>
                <a:lnTo>
                  <a:pt x="813714" y="1148"/>
                </a:lnTo>
                <a:lnTo>
                  <a:pt x="876299" y="0"/>
                </a:lnTo>
                <a:lnTo>
                  <a:pt x="938885" y="1148"/>
                </a:lnTo>
                <a:lnTo>
                  <a:pt x="1000282" y="4540"/>
                </a:lnTo>
                <a:lnTo>
                  <a:pt x="1060343" y="10100"/>
                </a:lnTo>
                <a:lnTo>
                  <a:pt x="1118918" y="17750"/>
                </a:lnTo>
                <a:lnTo>
                  <a:pt x="1175861" y="27412"/>
                </a:lnTo>
                <a:lnTo>
                  <a:pt x="1231023" y="39009"/>
                </a:lnTo>
                <a:lnTo>
                  <a:pt x="1284255" y="52464"/>
                </a:lnTo>
                <a:lnTo>
                  <a:pt x="1335410" y="67698"/>
                </a:lnTo>
                <a:lnTo>
                  <a:pt x="1384338" y="84636"/>
                </a:lnTo>
                <a:lnTo>
                  <a:pt x="1430893" y="103199"/>
                </a:lnTo>
                <a:lnTo>
                  <a:pt x="1474925" y="123309"/>
                </a:lnTo>
                <a:lnTo>
                  <a:pt x="1516286" y="144891"/>
                </a:lnTo>
                <a:lnTo>
                  <a:pt x="1554828" y="167865"/>
                </a:lnTo>
                <a:lnTo>
                  <a:pt x="1590404" y="192155"/>
                </a:lnTo>
                <a:lnTo>
                  <a:pt x="1622863" y="217683"/>
                </a:lnTo>
                <a:lnTo>
                  <a:pt x="1652060" y="244373"/>
                </a:lnTo>
                <a:lnTo>
                  <a:pt x="1700068" y="300924"/>
                </a:lnTo>
                <a:lnTo>
                  <a:pt x="1733244" y="361190"/>
                </a:lnTo>
                <a:lnTo>
                  <a:pt x="1750399" y="424552"/>
                </a:lnTo>
                <a:lnTo>
                  <a:pt x="1752599" y="457200"/>
                </a:lnTo>
                <a:lnTo>
                  <a:pt x="1750399" y="489847"/>
                </a:lnTo>
                <a:lnTo>
                  <a:pt x="1733244" y="553209"/>
                </a:lnTo>
                <a:lnTo>
                  <a:pt x="1700068" y="613475"/>
                </a:lnTo>
                <a:lnTo>
                  <a:pt x="1652060" y="670026"/>
                </a:lnTo>
                <a:lnTo>
                  <a:pt x="1622863" y="696716"/>
                </a:lnTo>
                <a:lnTo>
                  <a:pt x="1590404" y="722244"/>
                </a:lnTo>
                <a:lnTo>
                  <a:pt x="1554828" y="746534"/>
                </a:lnTo>
                <a:lnTo>
                  <a:pt x="1516286" y="769508"/>
                </a:lnTo>
                <a:lnTo>
                  <a:pt x="1474925" y="791090"/>
                </a:lnTo>
                <a:lnTo>
                  <a:pt x="1430893" y="811200"/>
                </a:lnTo>
                <a:lnTo>
                  <a:pt x="1384338" y="829763"/>
                </a:lnTo>
                <a:lnTo>
                  <a:pt x="1335410" y="846701"/>
                </a:lnTo>
                <a:lnTo>
                  <a:pt x="1284255" y="861935"/>
                </a:lnTo>
                <a:lnTo>
                  <a:pt x="1231023" y="875390"/>
                </a:lnTo>
                <a:lnTo>
                  <a:pt x="1175861" y="886987"/>
                </a:lnTo>
                <a:lnTo>
                  <a:pt x="1118918" y="896649"/>
                </a:lnTo>
                <a:lnTo>
                  <a:pt x="1060343" y="904299"/>
                </a:lnTo>
                <a:lnTo>
                  <a:pt x="1000282" y="909859"/>
                </a:lnTo>
                <a:lnTo>
                  <a:pt x="938885" y="913251"/>
                </a:lnTo>
                <a:lnTo>
                  <a:pt x="876299" y="914400"/>
                </a:lnTo>
                <a:lnTo>
                  <a:pt x="813714" y="913251"/>
                </a:lnTo>
                <a:lnTo>
                  <a:pt x="752317" y="909859"/>
                </a:lnTo>
                <a:lnTo>
                  <a:pt x="692256" y="904299"/>
                </a:lnTo>
                <a:lnTo>
                  <a:pt x="633681" y="896649"/>
                </a:lnTo>
                <a:lnTo>
                  <a:pt x="576738" y="886987"/>
                </a:lnTo>
                <a:lnTo>
                  <a:pt x="521576" y="875390"/>
                </a:lnTo>
                <a:lnTo>
                  <a:pt x="468344" y="861935"/>
                </a:lnTo>
                <a:lnTo>
                  <a:pt x="417189" y="846701"/>
                </a:lnTo>
                <a:lnTo>
                  <a:pt x="368261" y="829763"/>
                </a:lnTo>
                <a:lnTo>
                  <a:pt x="321706" y="811200"/>
                </a:lnTo>
                <a:lnTo>
                  <a:pt x="277674" y="791090"/>
                </a:lnTo>
                <a:lnTo>
                  <a:pt x="236313" y="769508"/>
                </a:lnTo>
                <a:lnTo>
                  <a:pt x="197771" y="746534"/>
                </a:lnTo>
                <a:lnTo>
                  <a:pt x="162195" y="722244"/>
                </a:lnTo>
                <a:lnTo>
                  <a:pt x="129736" y="696716"/>
                </a:lnTo>
                <a:lnTo>
                  <a:pt x="100539" y="670026"/>
                </a:lnTo>
                <a:lnTo>
                  <a:pt x="52531" y="613475"/>
                </a:lnTo>
                <a:lnTo>
                  <a:pt x="19355" y="553209"/>
                </a:lnTo>
                <a:lnTo>
                  <a:pt x="2200" y="48984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02101" y="2053589"/>
            <a:ext cx="945641" cy="4541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20389" y="2297429"/>
            <a:ext cx="863346" cy="4541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29101" y="2092960"/>
            <a:ext cx="6407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18415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Control 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Formal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52066" y="1645157"/>
            <a:ext cx="1034795" cy="56616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093214" y="1663445"/>
            <a:ext cx="866775" cy="382270"/>
          </a:xfrm>
          <a:custGeom>
            <a:avLst/>
            <a:gdLst/>
            <a:ahLst/>
            <a:cxnLst/>
            <a:rect l="l" t="t" r="r" b="b"/>
            <a:pathLst>
              <a:path w="866775" h="382269">
                <a:moveTo>
                  <a:pt x="427736" y="0"/>
                </a:moveTo>
                <a:lnTo>
                  <a:pt x="387350" y="2286"/>
                </a:lnTo>
                <a:lnTo>
                  <a:pt x="347472" y="8636"/>
                </a:lnTo>
                <a:lnTo>
                  <a:pt x="308356" y="18923"/>
                </a:lnTo>
                <a:lnTo>
                  <a:pt x="270256" y="32765"/>
                </a:lnTo>
                <a:lnTo>
                  <a:pt x="233425" y="49911"/>
                </a:lnTo>
                <a:lnTo>
                  <a:pt x="198247" y="70103"/>
                </a:lnTo>
                <a:lnTo>
                  <a:pt x="165100" y="92963"/>
                </a:lnTo>
                <a:lnTo>
                  <a:pt x="133858" y="118363"/>
                </a:lnTo>
                <a:lnTo>
                  <a:pt x="105166" y="146176"/>
                </a:lnTo>
                <a:lnTo>
                  <a:pt x="79375" y="175640"/>
                </a:lnTo>
                <a:lnTo>
                  <a:pt x="56642" y="207009"/>
                </a:lnTo>
                <a:lnTo>
                  <a:pt x="37084" y="240029"/>
                </a:lnTo>
                <a:lnTo>
                  <a:pt x="14986" y="291718"/>
                </a:lnTo>
                <a:lnTo>
                  <a:pt x="2540" y="345693"/>
                </a:lnTo>
                <a:lnTo>
                  <a:pt x="0" y="380873"/>
                </a:lnTo>
                <a:lnTo>
                  <a:pt x="38100" y="382269"/>
                </a:lnTo>
                <a:lnTo>
                  <a:pt x="38608" y="365251"/>
                </a:lnTo>
                <a:lnTo>
                  <a:pt x="40386" y="349630"/>
                </a:lnTo>
                <a:lnTo>
                  <a:pt x="51435" y="302767"/>
                </a:lnTo>
                <a:lnTo>
                  <a:pt x="71247" y="256793"/>
                </a:lnTo>
                <a:lnTo>
                  <a:pt x="98933" y="212851"/>
                </a:lnTo>
                <a:lnTo>
                  <a:pt x="133350" y="171703"/>
                </a:lnTo>
                <a:lnTo>
                  <a:pt x="173862" y="134365"/>
                </a:lnTo>
                <a:lnTo>
                  <a:pt x="219329" y="101726"/>
                </a:lnTo>
                <a:lnTo>
                  <a:pt x="268478" y="75056"/>
                </a:lnTo>
                <a:lnTo>
                  <a:pt x="320548" y="54990"/>
                </a:lnTo>
                <a:lnTo>
                  <a:pt x="374269" y="42290"/>
                </a:lnTo>
                <a:lnTo>
                  <a:pt x="428625" y="38100"/>
                </a:lnTo>
                <a:lnTo>
                  <a:pt x="601199" y="38100"/>
                </a:lnTo>
                <a:lnTo>
                  <a:pt x="585088" y="31368"/>
                </a:lnTo>
                <a:lnTo>
                  <a:pt x="546988" y="18033"/>
                </a:lnTo>
                <a:lnTo>
                  <a:pt x="507746" y="8127"/>
                </a:lnTo>
                <a:lnTo>
                  <a:pt x="467994" y="2031"/>
                </a:lnTo>
                <a:lnTo>
                  <a:pt x="447802" y="507"/>
                </a:lnTo>
                <a:lnTo>
                  <a:pt x="427736" y="0"/>
                </a:lnTo>
                <a:close/>
              </a:path>
              <a:path w="866775" h="382269">
                <a:moveTo>
                  <a:pt x="791781" y="262149"/>
                </a:moveTo>
                <a:lnTo>
                  <a:pt x="755142" y="270890"/>
                </a:lnTo>
                <a:lnTo>
                  <a:pt x="837184" y="368807"/>
                </a:lnTo>
                <a:lnTo>
                  <a:pt x="857809" y="280924"/>
                </a:lnTo>
                <a:lnTo>
                  <a:pt x="796798" y="280924"/>
                </a:lnTo>
                <a:lnTo>
                  <a:pt x="792198" y="262976"/>
                </a:lnTo>
                <a:lnTo>
                  <a:pt x="791781" y="262149"/>
                </a:lnTo>
                <a:close/>
              </a:path>
              <a:path w="866775" h="382269">
                <a:moveTo>
                  <a:pt x="792198" y="262976"/>
                </a:moveTo>
                <a:lnTo>
                  <a:pt x="796798" y="280924"/>
                </a:lnTo>
                <a:lnTo>
                  <a:pt x="833628" y="271399"/>
                </a:lnTo>
                <a:lnTo>
                  <a:pt x="831870" y="264540"/>
                </a:lnTo>
                <a:lnTo>
                  <a:pt x="792988" y="264540"/>
                </a:lnTo>
                <a:lnTo>
                  <a:pt x="792198" y="262976"/>
                </a:lnTo>
                <a:close/>
              </a:path>
              <a:path w="866775" h="382269">
                <a:moveTo>
                  <a:pt x="866394" y="244348"/>
                </a:moveTo>
                <a:lnTo>
                  <a:pt x="828983" y="253273"/>
                </a:lnTo>
                <a:lnTo>
                  <a:pt x="833628" y="271399"/>
                </a:lnTo>
                <a:lnTo>
                  <a:pt x="796798" y="280924"/>
                </a:lnTo>
                <a:lnTo>
                  <a:pt x="857809" y="280924"/>
                </a:lnTo>
                <a:lnTo>
                  <a:pt x="866394" y="244348"/>
                </a:lnTo>
                <a:close/>
              </a:path>
              <a:path w="866775" h="382269">
                <a:moveTo>
                  <a:pt x="792111" y="262070"/>
                </a:moveTo>
                <a:lnTo>
                  <a:pt x="792198" y="262976"/>
                </a:lnTo>
                <a:lnTo>
                  <a:pt x="792988" y="264540"/>
                </a:lnTo>
                <a:lnTo>
                  <a:pt x="792111" y="262070"/>
                </a:lnTo>
                <a:close/>
              </a:path>
              <a:path w="866775" h="382269">
                <a:moveTo>
                  <a:pt x="828983" y="253273"/>
                </a:moveTo>
                <a:lnTo>
                  <a:pt x="792111" y="262070"/>
                </a:lnTo>
                <a:lnTo>
                  <a:pt x="792988" y="264540"/>
                </a:lnTo>
                <a:lnTo>
                  <a:pt x="831870" y="264540"/>
                </a:lnTo>
                <a:lnTo>
                  <a:pt x="828983" y="253273"/>
                </a:lnTo>
                <a:close/>
              </a:path>
              <a:path w="866775" h="382269">
                <a:moveTo>
                  <a:pt x="791975" y="262103"/>
                </a:moveTo>
                <a:lnTo>
                  <a:pt x="791781" y="262149"/>
                </a:lnTo>
                <a:lnTo>
                  <a:pt x="792198" y="262976"/>
                </a:lnTo>
                <a:lnTo>
                  <a:pt x="791975" y="262103"/>
                </a:lnTo>
                <a:close/>
              </a:path>
              <a:path w="866775" h="382269">
                <a:moveTo>
                  <a:pt x="601199" y="38100"/>
                </a:moveTo>
                <a:lnTo>
                  <a:pt x="428625" y="38100"/>
                </a:lnTo>
                <a:lnTo>
                  <a:pt x="446786" y="38607"/>
                </a:lnTo>
                <a:lnTo>
                  <a:pt x="464947" y="40004"/>
                </a:lnTo>
                <a:lnTo>
                  <a:pt x="518922" y="49656"/>
                </a:lnTo>
                <a:lnTo>
                  <a:pt x="571627" y="66928"/>
                </a:lnTo>
                <a:lnTo>
                  <a:pt x="621919" y="90804"/>
                </a:lnTo>
                <a:lnTo>
                  <a:pt x="668655" y="120523"/>
                </a:lnTo>
                <a:lnTo>
                  <a:pt x="710692" y="155066"/>
                </a:lnTo>
                <a:lnTo>
                  <a:pt x="747268" y="193675"/>
                </a:lnTo>
                <a:lnTo>
                  <a:pt x="777240" y="235584"/>
                </a:lnTo>
                <a:lnTo>
                  <a:pt x="791781" y="262149"/>
                </a:lnTo>
                <a:lnTo>
                  <a:pt x="791975" y="262103"/>
                </a:lnTo>
                <a:lnTo>
                  <a:pt x="791591" y="260603"/>
                </a:lnTo>
                <a:lnTo>
                  <a:pt x="798258" y="260603"/>
                </a:lnTo>
                <a:lnTo>
                  <a:pt x="828983" y="253273"/>
                </a:lnTo>
                <a:lnTo>
                  <a:pt x="828421" y="251078"/>
                </a:lnTo>
                <a:lnTo>
                  <a:pt x="828167" y="249808"/>
                </a:lnTo>
                <a:lnTo>
                  <a:pt x="827659" y="248412"/>
                </a:lnTo>
                <a:lnTo>
                  <a:pt x="826897" y="247141"/>
                </a:lnTo>
                <a:lnTo>
                  <a:pt x="818515" y="230886"/>
                </a:lnTo>
                <a:lnTo>
                  <a:pt x="809244" y="214756"/>
                </a:lnTo>
                <a:lnTo>
                  <a:pt x="776097" y="168782"/>
                </a:lnTo>
                <a:lnTo>
                  <a:pt x="750188" y="140207"/>
                </a:lnTo>
                <a:lnTo>
                  <a:pt x="721487" y="113664"/>
                </a:lnTo>
                <a:lnTo>
                  <a:pt x="690372" y="89153"/>
                </a:lnTo>
                <a:lnTo>
                  <a:pt x="656971" y="67182"/>
                </a:lnTo>
                <a:lnTo>
                  <a:pt x="621792" y="47751"/>
                </a:lnTo>
                <a:lnTo>
                  <a:pt x="603631" y="39115"/>
                </a:lnTo>
                <a:lnTo>
                  <a:pt x="601199" y="38100"/>
                </a:lnTo>
                <a:close/>
              </a:path>
              <a:path w="866775" h="382269">
                <a:moveTo>
                  <a:pt x="791591" y="260603"/>
                </a:moveTo>
                <a:lnTo>
                  <a:pt x="791975" y="262103"/>
                </a:lnTo>
                <a:lnTo>
                  <a:pt x="792111" y="262070"/>
                </a:lnTo>
                <a:lnTo>
                  <a:pt x="791591" y="260603"/>
                </a:lnTo>
                <a:close/>
              </a:path>
              <a:path w="866775" h="382269">
                <a:moveTo>
                  <a:pt x="798258" y="260603"/>
                </a:moveTo>
                <a:lnTo>
                  <a:pt x="791591" y="260603"/>
                </a:lnTo>
                <a:lnTo>
                  <a:pt x="792111" y="262070"/>
                </a:lnTo>
                <a:lnTo>
                  <a:pt x="798258" y="260603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177790" y="2801111"/>
            <a:ext cx="2540508" cy="111175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21427" y="2818764"/>
            <a:ext cx="2355850" cy="915035"/>
          </a:xfrm>
          <a:custGeom>
            <a:avLst/>
            <a:gdLst/>
            <a:ahLst/>
            <a:cxnLst/>
            <a:rect l="l" t="t" r="r" b="b"/>
            <a:pathLst>
              <a:path w="2355850" h="915035">
                <a:moveTo>
                  <a:pt x="0" y="787908"/>
                </a:moveTo>
                <a:lnTo>
                  <a:pt x="12573" y="915035"/>
                </a:lnTo>
                <a:lnTo>
                  <a:pt x="99898" y="834898"/>
                </a:lnTo>
                <a:lnTo>
                  <a:pt x="63373" y="834898"/>
                </a:lnTo>
                <a:lnTo>
                  <a:pt x="29718" y="817118"/>
                </a:lnTo>
                <a:lnTo>
                  <a:pt x="37556" y="802259"/>
                </a:lnTo>
                <a:lnTo>
                  <a:pt x="0" y="787908"/>
                </a:lnTo>
                <a:close/>
              </a:path>
              <a:path w="2355850" h="915035">
                <a:moveTo>
                  <a:pt x="37556" y="802259"/>
                </a:moveTo>
                <a:lnTo>
                  <a:pt x="29718" y="817118"/>
                </a:lnTo>
                <a:lnTo>
                  <a:pt x="63373" y="834898"/>
                </a:lnTo>
                <a:lnTo>
                  <a:pt x="73370" y="815946"/>
                </a:lnTo>
                <a:lnTo>
                  <a:pt x="37556" y="802259"/>
                </a:lnTo>
                <a:close/>
              </a:path>
              <a:path w="2355850" h="915035">
                <a:moveTo>
                  <a:pt x="73370" y="815946"/>
                </a:moveTo>
                <a:lnTo>
                  <a:pt x="63373" y="834898"/>
                </a:lnTo>
                <a:lnTo>
                  <a:pt x="99898" y="834898"/>
                </a:lnTo>
                <a:lnTo>
                  <a:pt x="106680" y="828675"/>
                </a:lnTo>
                <a:lnTo>
                  <a:pt x="73370" y="815946"/>
                </a:lnTo>
                <a:close/>
              </a:path>
              <a:path w="2355850" h="915035">
                <a:moveTo>
                  <a:pt x="2317623" y="0"/>
                </a:moveTo>
                <a:lnTo>
                  <a:pt x="2311654" y="38481"/>
                </a:lnTo>
                <a:lnTo>
                  <a:pt x="2294001" y="76454"/>
                </a:lnTo>
                <a:lnTo>
                  <a:pt x="2264791" y="115315"/>
                </a:lnTo>
                <a:lnTo>
                  <a:pt x="2235454" y="144525"/>
                </a:lnTo>
                <a:lnTo>
                  <a:pt x="2200021" y="173355"/>
                </a:lnTo>
                <a:lnTo>
                  <a:pt x="2159000" y="201675"/>
                </a:lnTo>
                <a:lnTo>
                  <a:pt x="2112645" y="229235"/>
                </a:lnTo>
                <a:lnTo>
                  <a:pt x="2078990" y="247142"/>
                </a:lnTo>
                <a:lnTo>
                  <a:pt x="2043302" y="264413"/>
                </a:lnTo>
                <a:lnTo>
                  <a:pt x="2005711" y="281177"/>
                </a:lnTo>
                <a:lnTo>
                  <a:pt x="1966214" y="297307"/>
                </a:lnTo>
                <a:lnTo>
                  <a:pt x="1925066" y="312800"/>
                </a:lnTo>
                <a:lnTo>
                  <a:pt x="1882267" y="327787"/>
                </a:lnTo>
                <a:lnTo>
                  <a:pt x="1837944" y="341884"/>
                </a:lnTo>
                <a:lnTo>
                  <a:pt x="1792224" y="355092"/>
                </a:lnTo>
                <a:lnTo>
                  <a:pt x="1745233" y="367664"/>
                </a:lnTo>
                <a:lnTo>
                  <a:pt x="1696974" y="379349"/>
                </a:lnTo>
                <a:lnTo>
                  <a:pt x="1647698" y="390017"/>
                </a:lnTo>
                <a:lnTo>
                  <a:pt x="1597532" y="399923"/>
                </a:lnTo>
                <a:lnTo>
                  <a:pt x="1546352" y="408686"/>
                </a:lnTo>
                <a:lnTo>
                  <a:pt x="1494663" y="416433"/>
                </a:lnTo>
                <a:lnTo>
                  <a:pt x="1442212" y="423037"/>
                </a:lnTo>
                <a:lnTo>
                  <a:pt x="1389126" y="428625"/>
                </a:lnTo>
                <a:lnTo>
                  <a:pt x="1335786" y="433070"/>
                </a:lnTo>
                <a:lnTo>
                  <a:pt x="1282065" y="436118"/>
                </a:lnTo>
                <a:lnTo>
                  <a:pt x="1227963" y="438150"/>
                </a:lnTo>
                <a:lnTo>
                  <a:pt x="1119886" y="439420"/>
                </a:lnTo>
                <a:lnTo>
                  <a:pt x="1065149" y="441451"/>
                </a:lnTo>
                <a:lnTo>
                  <a:pt x="1010538" y="444626"/>
                </a:lnTo>
                <a:lnTo>
                  <a:pt x="956310" y="449199"/>
                </a:lnTo>
                <a:lnTo>
                  <a:pt x="902462" y="454787"/>
                </a:lnTo>
                <a:lnTo>
                  <a:pt x="849249" y="461518"/>
                </a:lnTo>
                <a:lnTo>
                  <a:pt x="796671" y="469392"/>
                </a:lnTo>
                <a:lnTo>
                  <a:pt x="744601" y="478409"/>
                </a:lnTo>
                <a:lnTo>
                  <a:pt x="693674" y="488314"/>
                </a:lnTo>
                <a:lnTo>
                  <a:pt x="643509" y="499237"/>
                </a:lnTo>
                <a:lnTo>
                  <a:pt x="594613" y="511048"/>
                </a:lnTo>
                <a:lnTo>
                  <a:pt x="546735" y="523875"/>
                </a:lnTo>
                <a:lnTo>
                  <a:pt x="500125" y="537337"/>
                </a:lnTo>
                <a:lnTo>
                  <a:pt x="454913" y="551814"/>
                </a:lnTo>
                <a:lnTo>
                  <a:pt x="411099" y="567055"/>
                </a:lnTo>
                <a:lnTo>
                  <a:pt x="369062" y="582930"/>
                </a:lnTo>
                <a:lnTo>
                  <a:pt x="328549" y="599439"/>
                </a:lnTo>
                <a:lnTo>
                  <a:pt x="289813" y="616712"/>
                </a:lnTo>
                <a:lnTo>
                  <a:pt x="252984" y="634619"/>
                </a:lnTo>
                <a:lnTo>
                  <a:pt x="218186" y="653161"/>
                </a:lnTo>
                <a:lnTo>
                  <a:pt x="169672" y="681863"/>
                </a:lnTo>
                <a:lnTo>
                  <a:pt x="126364" y="711835"/>
                </a:lnTo>
                <a:lnTo>
                  <a:pt x="88392" y="742823"/>
                </a:lnTo>
                <a:lnTo>
                  <a:pt x="56134" y="774954"/>
                </a:lnTo>
                <a:lnTo>
                  <a:pt x="44323" y="789432"/>
                </a:lnTo>
                <a:lnTo>
                  <a:pt x="37556" y="802259"/>
                </a:lnTo>
                <a:lnTo>
                  <a:pt x="73370" y="815946"/>
                </a:lnTo>
                <a:lnTo>
                  <a:pt x="76102" y="810768"/>
                </a:lnTo>
                <a:lnTo>
                  <a:pt x="75692" y="810768"/>
                </a:lnTo>
                <a:lnTo>
                  <a:pt x="77977" y="807212"/>
                </a:lnTo>
                <a:lnTo>
                  <a:pt x="78693" y="807212"/>
                </a:lnTo>
                <a:lnTo>
                  <a:pt x="83947" y="800989"/>
                </a:lnTo>
                <a:lnTo>
                  <a:pt x="93090" y="791210"/>
                </a:lnTo>
                <a:lnTo>
                  <a:pt x="124460" y="761873"/>
                </a:lnTo>
                <a:lnTo>
                  <a:pt x="161798" y="733044"/>
                </a:lnTo>
                <a:lnTo>
                  <a:pt x="204470" y="704976"/>
                </a:lnTo>
                <a:lnTo>
                  <a:pt x="269621" y="668909"/>
                </a:lnTo>
                <a:lnTo>
                  <a:pt x="305308" y="651510"/>
                </a:lnTo>
                <a:lnTo>
                  <a:pt x="343026" y="634746"/>
                </a:lnTo>
                <a:lnTo>
                  <a:pt x="382524" y="618489"/>
                </a:lnTo>
                <a:lnTo>
                  <a:pt x="423672" y="602996"/>
                </a:lnTo>
                <a:lnTo>
                  <a:pt x="466471" y="588137"/>
                </a:lnTo>
                <a:lnTo>
                  <a:pt x="510794" y="573913"/>
                </a:lnTo>
                <a:lnTo>
                  <a:pt x="556513" y="560577"/>
                </a:lnTo>
                <a:lnTo>
                  <a:pt x="603503" y="548132"/>
                </a:lnTo>
                <a:lnTo>
                  <a:pt x="651637" y="536448"/>
                </a:lnTo>
                <a:lnTo>
                  <a:pt x="700913" y="525652"/>
                </a:lnTo>
                <a:lnTo>
                  <a:pt x="751205" y="516000"/>
                </a:lnTo>
                <a:lnTo>
                  <a:pt x="802259" y="507111"/>
                </a:lnTo>
                <a:lnTo>
                  <a:pt x="854075" y="499363"/>
                </a:lnTo>
                <a:lnTo>
                  <a:pt x="906526" y="492633"/>
                </a:lnTo>
                <a:lnTo>
                  <a:pt x="959358" y="487045"/>
                </a:lnTo>
                <a:lnTo>
                  <a:pt x="1012698" y="482600"/>
                </a:lnTo>
                <a:lnTo>
                  <a:pt x="1066546" y="479551"/>
                </a:lnTo>
                <a:lnTo>
                  <a:pt x="1120394" y="477520"/>
                </a:lnTo>
                <a:lnTo>
                  <a:pt x="1229487" y="476250"/>
                </a:lnTo>
                <a:lnTo>
                  <a:pt x="1284224" y="474218"/>
                </a:lnTo>
                <a:lnTo>
                  <a:pt x="1338833" y="471043"/>
                </a:lnTo>
                <a:lnTo>
                  <a:pt x="1393063" y="466471"/>
                </a:lnTo>
                <a:lnTo>
                  <a:pt x="1446911" y="460883"/>
                </a:lnTo>
                <a:lnTo>
                  <a:pt x="1500251" y="454151"/>
                </a:lnTo>
                <a:lnTo>
                  <a:pt x="1552828" y="446277"/>
                </a:lnTo>
                <a:lnTo>
                  <a:pt x="1604772" y="437261"/>
                </a:lnTo>
                <a:lnTo>
                  <a:pt x="1655952" y="427355"/>
                </a:lnTo>
                <a:lnTo>
                  <a:pt x="1705864" y="416306"/>
                </a:lnTo>
                <a:lnTo>
                  <a:pt x="1755013" y="404495"/>
                </a:lnTo>
                <a:lnTo>
                  <a:pt x="1802892" y="391795"/>
                </a:lnTo>
                <a:lnTo>
                  <a:pt x="1849501" y="378206"/>
                </a:lnTo>
                <a:lnTo>
                  <a:pt x="1894840" y="363727"/>
                </a:lnTo>
                <a:lnTo>
                  <a:pt x="1938527" y="348488"/>
                </a:lnTo>
                <a:lnTo>
                  <a:pt x="1980692" y="332613"/>
                </a:lnTo>
                <a:lnTo>
                  <a:pt x="2021204" y="315975"/>
                </a:lnTo>
                <a:lnTo>
                  <a:pt x="2060067" y="298704"/>
                </a:lnTo>
                <a:lnTo>
                  <a:pt x="2096897" y="280670"/>
                </a:lnTo>
                <a:lnTo>
                  <a:pt x="2131695" y="262255"/>
                </a:lnTo>
                <a:lnTo>
                  <a:pt x="2179954" y="233552"/>
                </a:lnTo>
                <a:lnTo>
                  <a:pt x="2223389" y="203581"/>
                </a:lnTo>
                <a:lnTo>
                  <a:pt x="2261362" y="172465"/>
                </a:lnTo>
                <a:lnTo>
                  <a:pt x="2293747" y="140081"/>
                </a:lnTo>
                <a:lnTo>
                  <a:pt x="2319908" y="106680"/>
                </a:lnTo>
                <a:lnTo>
                  <a:pt x="2339340" y="72136"/>
                </a:lnTo>
                <a:lnTo>
                  <a:pt x="2353818" y="24384"/>
                </a:lnTo>
                <a:lnTo>
                  <a:pt x="2355723" y="1270"/>
                </a:lnTo>
                <a:lnTo>
                  <a:pt x="2317623" y="0"/>
                </a:lnTo>
                <a:close/>
              </a:path>
              <a:path w="2355850" h="915035">
                <a:moveTo>
                  <a:pt x="77977" y="807212"/>
                </a:moveTo>
                <a:lnTo>
                  <a:pt x="75692" y="810768"/>
                </a:lnTo>
                <a:lnTo>
                  <a:pt x="76785" y="809472"/>
                </a:lnTo>
                <a:lnTo>
                  <a:pt x="77977" y="807212"/>
                </a:lnTo>
                <a:close/>
              </a:path>
              <a:path w="2355850" h="915035">
                <a:moveTo>
                  <a:pt x="76785" y="809472"/>
                </a:moveTo>
                <a:lnTo>
                  <a:pt x="75692" y="810768"/>
                </a:lnTo>
                <a:lnTo>
                  <a:pt x="76102" y="810768"/>
                </a:lnTo>
                <a:lnTo>
                  <a:pt x="76785" y="809472"/>
                </a:lnTo>
                <a:close/>
              </a:path>
              <a:path w="2355850" h="915035">
                <a:moveTo>
                  <a:pt x="78693" y="807212"/>
                </a:moveTo>
                <a:lnTo>
                  <a:pt x="77977" y="807212"/>
                </a:lnTo>
                <a:lnTo>
                  <a:pt x="76785" y="809472"/>
                </a:lnTo>
                <a:lnTo>
                  <a:pt x="78693" y="807212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96867" y="4629911"/>
            <a:ext cx="1497330" cy="71094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35552" y="4647565"/>
            <a:ext cx="1317625" cy="629285"/>
          </a:xfrm>
          <a:custGeom>
            <a:avLst/>
            <a:gdLst/>
            <a:ahLst/>
            <a:cxnLst/>
            <a:rect l="l" t="t" r="r" b="b"/>
            <a:pathLst>
              <a:path w="1317625" h="629285">
                <a:moveTo>
                  <a:pt x="73978" y="349331"/>
                </a:moveTo>
                <a:lnTo>
                  <a:pt x="37770" y="361599"/>
                </a:lnTo>
                <a:lnTo>
                  <a:pt x="43307" y="374015"/>
                </a:lnTo>
                <a:lnTo>
                  <a:pt x="44196" y="375412"/>
                </a:lnTo>
                <a:lnTo>
                  <a:pt x="72771" y="409956"/>
                </a:lnTo>
                <a:lnTo>
                  <a:pt x="105790" y="441960"/>
                </a:lnTo>
                <a:lnTo>
                  <a:pt x="143637" y="472059"/>
                </a:lnTo>
                <a:lnTo>
                  <a:pt x="185927" y="500507"/>
                </a:lnTo>
                <a:lnTo>
                  <a:pt x="232156" y="526542"/>
                </a:lnTo>
                <a:lnTo>
                  <a:pt x="281813" y="550291"/>
                </a:lnTo>
                <a:lnTo>
                  <a:pt x="334518" y="571373"/>
                </a:lnTo>
                <a:lnTo>
                  <a:pt x="389763" y="589661"/>
                </a:lnTo>
                <a:lnTo>
                  <a:pt x="447167" y="604774"/>
                </a:lnTo>
                <a:lnTo>
                  <a:pt x="506222" y="616458"/>
                </a:lnTo>
                <a:lnTo>
                  <a:pt x="566547" y="624586"/>
                </a:lnTo>
                <a:lnTo>
                  <a:pt x="627634" y="628650"/>
                </a:lnTo>
                <a:lnTo>
                  <a:pt x="658495" y="629285"/>
                </a:lnTo>
                <a:lnTo>
                  <a:pt x="689737" y="628396"/>
                </a:lnTo>
                <a:lnTo>
                  <a:pt x="751459" y="621157"/>
                </a:lnTo>
                <a:lnTo>
                  <a:pt x="812419" y="607314"/>
                </a:lnTo>
                <a:lnTo>
                  <a:pt x="861189" y="591185"/>
                </a:lnTo>
                <a:lnTo>
                  <a:pt x="657478" y="591185"/>
                </a:lnTo>
                <a:lnTo>
                  <a:pt x="628396" y="590677"/>
                </a:lnTo>
                <a:lnTo>
                  <a:pt x="569849" y="586613"/>
                </a:lnTo>
                <a:lnTo>
                  <a:pt x="511937" y="578866"/>
                </a:lnTo>
                <a:lnTo>
                  <a:pt x="455168" y="567563"/>
                </a:lnTo>
                <a:lnTo>
                  <a:pt x="400050" y="552958"/>
                </a:lnTo>
                <a:lnTo>
                  <a:pt x="346963" y="535432"/>
                </a:lnTo>
                <a:lnTo>
                  <a:pt x="296545" y="515112"/>
                </a:lnTo>
                <a:lnTo>
                  <a:pt x="249047" y="492379"/>
                </a:lnTo>
                <a:lnTo>
                  <a:pt x="205359" y="467614"/>
                </a:lnTo>
                <a:lnTo>
                  <a:pt x="165481" y="440944"/>
                </a:lnTo>
                <a:lnTo>
                  <a:pt x="130175" y="412750"/>
                </a:lnTo>
                <a:lnTo>
                  <a:pt x="100075" y="383413"/>
                </a:lnTo>
                <a:lnTo>
                  <a:pt x="78227" y="357124"/>
                </a:lnTo>
                <a:lnTo>
                  <a:pt x="77470" y="357124"/>
                </a:lnTo>
                <a:lnTo>
                  <a:pt x="75184" y="353187"/>
                </a:lnTo>
                <a:lnTo>
                  <a:pt x="75705" y="353187"/>
                </a:lnTo>
                <a:lnTo>
                  <a:pt x="73978" y="349331"/>
                </a:lnTo>
                <a:close/>
              </a:path>
              <a:path w="1317625" h="629285">
                <a:moveTo>
                  <a:pt x="1279271" y="0"/>
                </a:moveTo>
                <a:lnTo>
                  <a:pt x="1275714" y="55880"/>
                </a:lnTo>
                <a:lnTo>
                  <a:pt x="1265301" y="110236"/>
                </a:lnTo>
                <a:lnTo>
                  <a:pt x="1248664" y="163957"/>
                </a:lnTo>
                <a:lnTo>
                  <a:pt x="1226058" y="216408"/>
                </a:lnTo>
                <a:lnTo>
                  <a:pt x="1197864" y="267462"/>
                </a:lnTo>
                <a:lnTo>
                  <a:pt x="1164589" y="316357"/>
                </a:lnTo>
                <a:lnTo>
                  <a:pt x="1126744" y="362839"/>
                </a:lnTo>
                <a:lnTo>
                  <a:pt x="1084834" y="406273"/>
                </a:lnTo>
                <a:lnTo>
                  <a:pt x="1039113" y="446024"/>
                </a:lnTo>
                <a:lnTo>
                  <a:pt x="990219" y="482219"/>
                </a:lnTo>
                <a:lnTo>
                  <a:pt x="938784" y="513715"/>
                </a:lnTo>
                <a:lnTo>
                  <a:pt x="884936" y="540639"/>
                </a:lnTo>
                <a:lnTo>
                  <a:pt x="829437" y="562229"/>
                </a:lnTo>
                <a:lnTo>
                  <a:pt x="772795" y="578104"/>
                </a:lnTo>
                <a:lnTo>
                  <a:pt x="715137" y="587883"/>
                </a:lnTo>
                <a:lnTo>
                  <a:pt x="657478" y="591185"/>
                </a:lnTo>
                <a:lnTo>
                  <a:pt x="861189" y="591185"/>
                </a:lnTo>
                <a:lnTo>
                  <a:pt x="901192" y="575056"/>
                </a:lnTo>
                <a:lnTo>
                  <a:pt x="957834" y="546735"/>
                </a:lnTo>
                <a:lnTo>
                  <a:pt x="1012317" y="513334"/>
                </a:lnTo>
                <a:lnTo>
                  <a:pt x="1063625" y="475361"/>
                </a:lnTo>
                <a:lnTo>
                  <a:pt x="1111631" y="433197"/>
                </a:lnTo>
                <a:lnTo>
                  <a:pt x="1155827" y="387477"/>
                </a:lnTo>
                <a:lnTo>
                  <a:pt x="1195705" y="338455"/>
                </a:lnTo>
                <a:lnTo>
                  <a:pt x="1230757" y="286639"/>
                </a:lnTo>
                <a:lnTo>
                  <a:pt x="1260602" y="232537"/>
                </a:lnTo>
                <a:lnTo>
                  <a:pt x="1284732" y="176276"/>
                </a:lnTo>
                <a:lnTo>
                  <a:pt x="1302639" y="118491"/>
                </a:lnTo>
                <a:lnTo>
                  <a:pt x="1313561" y="59562"/>
                </a:lnTo>
                <a:lnTo>
                  <a:pt x="1317371" y="1270"/>
                </a:lnTo>
                <a:lnTo>
                  <a:pt x="1279271" y="0"/>
                </a:lnTo>
                <a:close/>
              </a:path>
              <a:path w="1317625" h="629285">
                <a:moveTo>
                  <a:pt x="17525" y="247777"/>
                </a:moveTo>
                <a:lnTo>
                  <a:pt x="0" y="374396"/>
                </a:lnTo>
                <a:lnTo>
                  <a:pt x="37770" y="361599"/>
                </a:lnTo>
                <a:lnTo>
                  <a:pt x="30734" y="345821"/>
                </a:lnTo>
                <a:lnTo>
                  <a:pt x="65405" y="330200"/>
                </a:lnTo>
                <a:lnTo>
                  <a:pt x="100763" y="330200"/>
                </a:lnTo>
                <a:lnTo>
                  <a:pt x="17525" y="247777"/>
                </a:lnTo>
                <a:close/>
              </a:path>
              <a:path w="1317625" h="629285">
                <a:moveTo>
                  <a:pt x="65405" y="330200"/>
                </a:moveTo>
                <a:lnTo>
                  <a:pt x="30734" y="345821"/>
                </a:lnTo>
                <a:lnTo>
                  <a:pt x="37770" y="361599"/>
                </a:lnTo>
                <a:lnTo>
                  <a:pt x="73978" y="349331"/>
                </a:lnTo>
                <a:lnTo>
                  <a:pt x="65405" y="330200"/>
                </a:lnTo>
                <a:close/>
              </a:path>
              <a:path w="1317625" h="629285">
                <a:moveTo>
                  <a:pt x="75184" y="353187"/>
                </a:moveTo>
                <a:lnTo>
                  <a:pt x="77470" y="357124"/>
                </a:lnTo>
                <a:lnTo>
                  <a:pt x="76425" y="354792"/>
                </a:lnTo>
                <a:lnTo>
                  <a:pt x="75184" y="353187"/>
                </a:lnTo>
                <a:close/>
              </a:path>
              <a:path w="1317625" h="629285">
                <a:moveTo>
                  <a:pt x="76425" y="354792"/>
                </a:moveTo>
                <a:lnTo>
                  <a:pt x="77470" y="357124"/>
                </a:lnTo>
                <a:lnTo>
                  <a:pt x="78227" y="357124"/>
                </a:lnTo>
                <a:lnTo>
                  <a:pt x="76425" y="354792"/>
                </a:lnTo>
                <a:close/>
              </a:path>
              <a:path w="1317625" h="629285">
                <a:moveTo>
                  <a:pt x="75705" y="353187"/>
                </a:moveTo>
                <a:lnTo>
                  <a:pt x="75184" y="353187"/>
                </a:lnTo>
                <a:lnTo>
                  <a:pt x="76425" y="354792"/>
                </a:lnTo>
                <a:lnTo>
                  <a:pt x="75705" y="353187"/>
                </a:lnTo>
                <a:close/>
              </a:path>
              <a:path w="1317625" h="629285">
                <a:moveTo>
                  <a:pt x="100763" y="330200"/>
                </a:moveTo>
                <a:lnTo>
                  <a:pt x="65405" y="330200"/>
                </a:lnTo>
                <a:lnTo>
                  <a:pt x="73978" y="349331"/>
                </a:lnTo>
                <a:lnTo>
                  <a:pt x="108331" y="337693"/>
                </a:lnTo>
                <a:lnTo>
                  <a:pt x="100763" y="33020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68067" y="5010911"/>
            <a:ext cx="1344930" cy="7620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24277" y="5028691"/>
            <a:ext cx="1147445" cy="680085"/>
          </a:xfrm>
          <a:custGeom>
            <a:avLst/>
            <a:gdLst/>
            <a:ahLst/>
            <a:cxnLst/>
            <a:rect l="l" t="t" r="r" b="b"/>
            <a:pathLst>
              <a:path w="1147445" h="680085">
                <a:moveTo>
                  <a:pt x="72606" y="490892"/>
                </a:moveTo>
                <a:lnTo>
                  <a:pt x="38850" y="508941"/>
                </a:lnTo>
                <a:lnTo>
                  <a:pt x="44958" y="517905"/>
                </a:lnTo>
                <a:lnTo>
                  <a:pt x="45974" y="519429"/>
                </a:lnTo>
                <a:lnTo>
                  <a:pt x="47117" y="520699"/>
                </a:lnTo>
                <a:lnTo>
                  <a:pt x="48514" y="521842"/>
                </a:lnTo>
                <a:lnTo>
                  <a:pt x="62611" y="533653"/>
                </a:lnTo>
                <a:lnTo>
                  <a:pt x="93980" y="556132"/>
                </a:lnTo>
                <a:lnTo>
                  <a:pt x="129540" y="577253"/>
                </a:lnTo>
                <a:lnTo>
                  <a:pt x="168656" y="596861"/>
                </a:lnTo>
                <a:lnTo>
                  <a:pt x="210820" y="614794"/>
                </a:lnTo>
                <a:lnTo>
                  <a:pt x="256032" y="630948"/>
                </a:lnTo>
                <a:lnTo>
                  <a:pt x="303657" y="645134"/>
                </a:lnTo>
                <a:lnTo>
                  <a:pt x="353314" y="657263"/>
                </a:lnTo>
                <a:lnTo>
                  <a:pt x="404622" y="666953"/>
                </a:lnTo>
                <a:lnTo>
                  <a:pt x="457200" y="674027"/>
                </a:lnTo>
                <a:lnTo>
                  <a:pt x="510540" y="678484"/>
                </a:lnTo>
                <a:lnTo>
                  <a:pt x="564896" y="680008"/>
                </a:lnTo>
                <a:lnTo>
                  <a:pt x="592709" y="678954"/>
                </a:lnTo>
                <a:lnTo>
                  <a:pt x="647827" y="671004"/>
                </a:lnTo>
                <a:lnTo>
                  <a:pt x="702183" y="655827"/>
                </a:lnTo>
                <a:lnTo>
                  <a:pt x="737215" y="641934"/>
                </a:lnTo>
                <a:lnTo>
                  <a:pt x="563626" y="641934"/>
                </a:lnTo>
                <a:lnTo>
                  <a:pt x="538099" y="641540"/>
                </a:lnTo>
                <a:lnTo>
                  <a:pt x="486410" y="638632"/>
                </a:lnTo>
                <a:lnTo>
                  <a:pt x="435356" y="633006"/>
                </a:lnTo>
                <a:lnTo>
                  <a:pt x="385318" y="624878"/>
                </a:lnTo>
                <a:lnTo>
                  <a:pt x="336804" y="614311"/>
                </a:lnTo>
                <a:lnTo>
                  <a:pt x="289941" y="601675"/>
                </a:lnTo>
                <a:lnTo>
                  <a:pt x="245491" y="587120"/>
                </a:lnTo>
                <a:lnTo>
                  <a:pt x="203835" y="570763"/>
                </a:lnTo>
                <a:lnTo>
                  <a:pt x="165100" y="552957"/>
                </a:lnTo>
                <a:lnTo>
                  <a:pt x="130302" y="533780"/>
                </a:lnTo>
                <a:lnTo>
                  <a:pt x="85344" y="503046"/>
                </a:lnTo>
                <a:lnTo>
                  <a:pt x="77603" y="496569"/>
                </a:lnTo>
                <a:lnTo>
                  <a:pt x="76454" y="496569"/>
                </a:lnTo>
                <a:lnTo>
                  <a:pt x="72898" y="492632"/>
                </a:lnTo>
                <a:lnTo>
                  <a:pt x="73786" y="492632"/>
                </a:lnTo>
                <a:lnTo>
                  <a:pt x="72606" y="490892"/>
                </a:lnTo>
                <a:close/>
              </a:path>
              <a:path w="1147445" h="680085">
                <a:moveTo>
                  <a:pt x="1109345" y="0"/>
                </a:moveTo>
                <a:lnTo>
                  <a:pt x="1106170" y="60832"/>
                </a:lnTo>
                <a:lnTo>
                  <a:pt x="1097026" y="120395"/>
                </a:lnTo>
                <a:lnTo>
                  <a:pt x="1082167" y="178942"/>
                </a:lnTo>
                <a:lnTo>
                  <a:pt x="1062101" y="236346"/>
                </a:lnTo>
                <a:lnTo>
                  <a:pt x="1037209" y="291972"/>
                </a:lnTo>
                <a:lnTo>
                  <a:pt x="1007872" y="345185"/>
                </a:lnTo>
                <a:lnTo>
                  <a:pt x="974344" y="395477"/>
                </a:lnTo>
                <a:lnTo>
                  <a:pt x="937387" y="442467"/>
                </a:lnTo>
                <a:lnTo>
                  <a:pt x="897255" y="485647"/>
                </a:lnTo>
                <a:lnTo>
                  <a:pt x="854202" y="524636"/>
                </a:lnTo>
                <a:lnTo>
                  <a:pt x="808990" y="558799"/>
                </a:lnTo>
                <a:lnTo>
                  <a:pt x="761873" y="587730"/>
                </a:lnTo>
                <a:lnTo>
                  <a:pt x="713232" y="610908"/>
                </a:lnTo>
                <a:lnTo>
                  <a:pt x="663702" y="627926"/>
                </a:lnTo>
                <a:lnTo>
                  <a:pt x="613664" y="638403"/>
                </a:lnTo>
                <a:lnTo>
                  <a:pt x="563626" y="641934"/>
                </a:lnTo>
                <a:lnTo>
                  <a:pt x="737215" y="641934"/>
                </a:lnTo>
                <a:lnTo>
                  <a:pt x="781050" y="620674"/>
                </a:lnTo>
                <a:lnTo>
                  <a:pt x="831215" y="589749"/>
                </a:lnTo>
                <a:lnTo>
                  <a:pt x="879221" y="553465"/>
                </a:lnTo>
                <a:lnTo>
                  <a:pt x="924560" y="512190"/>
                </a:lnTo>
                <a:lnTo>
                  <a:pt x="966851" y="466597"/>
                </a:lnTo>
                <a:lnTo>
                  <a:pt x="1005713" y="417067"/>
                </a:lnTo>
                <a:lnTo>
                  <a:pt x="1040764" y="364108"/>
                </a:lnTo>
                <a:lnTo>
                  <a:pt x="1071626" y="308228"/>
                </a:lnTo>
                <a:lnTo>
                  <a:pt x="1097788" y="249681"/>
                </a:lnTo>
                <a:lnTo>
                  <a:pt x="1118870" y="189102"/>
                </a:lnTo>
                <a:lnTo>
                  <a:pt x="1134491" y="126999"/>
                </a:lnTo>
                <a:lnTo>
                  <a:pt x="1144143" y="63753"/>
                </a:lnTo>
                <a:lnTo>
                  <a:pt x="1147445" y="1015"/>
                </a:lnTo>
                <a:lnTo>
                  <a:pt x="1109345" y="0"/>
                </a:lnTo>
                <a:close/>
              </a:path>
              <a:path w="1147445" h="680085">
                <a:moveTo>
                  <a:pt x="0" y="400049"/>
                </a:moveTo>
                <a:lnTo>
                  <a:pt x="3556" y="527811"/>
                </a:lnTo>
                <a:lnTo>
                  <a:pt x="38850" y="508941"/>
                </a:lnTo>
                <a:lnTo>
                  <a:pt x="29210" y="494791"/>
                </a:lnTo>
                <a:lnTo>
                  <a:pt x="60706" y="473328"/>
                </a:lnTo>
                <a:lnTo>
                  <a:pt x="103371" y="473328"/>
                </a:lnTo>
                <a:lnTo>
                  <a:pt x="0" y="400049"/>
                </a:lnTo>
                <a:close/>
              </a:path>
              <a:path w="1147445" h="680085">
                <a:moveTo>
                  <a:pt x="60706" y="473328"/>
                </a:moveTo>
                <a:lnTo>
                  <a:pt x="29210" y="494791"/>
                </a:lnTo>
                <a:lnTo>
                  <a:pt x="38850" y="508941"/>
                </a:lnTo>
                <a:lnTo>
                  <a:pt x="72606" y="490892"/>
                </a:lnTo>
                <a:lnTo>
                  <a:pt x="60706" y="473328"/>
                </a:lnTo>
                <a:close/>
              </a:path>
              <a:path w="1147445" h="680085">
                <a:moveTo>
                  <a:pt x="72898" y="492632"/>
                </a:moveTo>
                <a:lnTo>
                  <a:pt x="76454" y="496569"/>
                </a:lnTo>
                <a:lnTo>
                  <a:pt x="74949" y="494349"/>
                </a:lnTo>
                <a:lnTo>
                  <a:pt x="72898" y="492632"/>
                </a:lnTo>
                <a:close/>
              </a:path>
              <a:path w="1147445" h="680085">
                <a:moveTo>
                  <a:pt x="74949" y="494349"/>
                </a:moveTo>
                <a:lnTo>
                  <a:pt x="76454" y="496569"/>
                </a:lnTo>
                <a:lnTo>
                  <a:pt x="77603" y="496569"/>
                </a:lnTo>
                <a:lnTo>
                  <a:pt x="74949" y="494349"/>
                </a:lnTo>
                <a:close/>
              </a:path>
              <a:path w="1147445" h="680085">
                <a:moveTo>
                  <a:pt x="73786" y="492632"/>
                </a:moveTo>
                <a:lnTo>
                  <a:pt x="72898" y="492632"/>
                </a:lnTo>
                <a:lnTo>
                  <a:pt x="74949" y="494349"/>
                </a:lnTo>
                <a:lnTo>
                  <a:pt x="73786" y="492632"/>
                </a:lnTo>
                <a:close/>
              </a:path>
              <a:path w="1147445" h="680085">
                <a:moveTo>
                  <a:pt x="103371" y="473328"/>
                </a:moveTo>
                <a:lnTo>
                  <a:pt x="60706" y="473328"/>
                </a:lnTo>
                <a:lnTo>
                  <a:pt x="72606" y="490892"/>
                </a:lnTo>
                <a:lnTo>
                  <a:pt x="104267" y="473963"/>
                </a:lnTo>
                <a:lnTo>
                  <a:pt x="103371" y="473328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1381" y="1448180"/>
            <a:ext cx="8382000" cy="1828800"/>
          </a:xfrm>
          <a:custGeom>
            <a:avLst/>
            <a:gdLst/>
            <a:ahLst/>
            <a:cxnLst/>
            <a:rect l="l" t="t" r="r" b="b"/>
            <a:pathLst>
              <a:path w="8382000" h="1828800">
                <a:moveTo>
                  <a:pt x="0" y="1828800"/>
                </a:moveTo>
                <a:lnTo>
                  <a:pt x="8382000" y="1828800"/>
                </a:lnTo>
                <a:lnTo>
                  <a:pt x="83820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ln w="25146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884170" y="2993644"/>
            <a:ext cx="33902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C00000"/>
                </a:solidFill>
                <a:latin typeface="Trebuchet MS"/>
                <a:cs typeface="Trebuchet MS"/>
              </a:rPr>
              <a:t>Módulo </a:t>
            </a:r>
            <a:r>
              <a:rPr sz="1400" b="1" spc="-125" dirty="0">
                <a:solidFill>
                  <a:srgbClr val="C00000"/>
                </a:solidFill>
                <a:latin typeface="Trebuchet MS"/>
                <a:cs typeface="Trebuchet MS"/>
              </a:rPr>
              <a:t>1: </a:t>
            </a:r>
            <a:r>
              <a:rPr sz="1400" b="1" spc="-90" dirty="0">
                <a:solidFill>
                  <a:srgbClr val="C00000"/>
                </a:solidFill>
                <a:latin typeface="Trebuchet MS"/>
                <a:cs typeface="Trebuchet MS"/>
              </a:rPr>
              <a:t>Recepción 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C00000"/>
                </a:solidFill>
                <a:latin typeface="Trebuchet MS"/>
                <a:cs typeface="Trebuchet MS"/>
              </a:rPr>
              <a:t>aprobación </a:t>
            </a:r>
            <a:r>
              <a:rPr sz="1400" b="1" spc="-80" dirty="0">
                <a:solidFill>
                  <a:srgbClr val="C00000"/>
                </a:solidFill>
                <a:latin typeface="Trebuchet MS"/>
                <a:cs typeface="Trebuchet MS"/>
              </a:rPr>
              <a:t>del</a:t>
            </a:r>
            <a:r>
              <a:rPr sz="1400" b="1" spc="-2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C00000"/>
                </a:solidFill>
                <a:latin typeface="Trebuchet MS"/>
                <a:cs typeface="Trebuchet MS"/>
              </a:rPr>
              <a:t>pedido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78679" y="1882139"/>
            <a:ext cx="1844802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119115" y="2036064"/>
            <a:ext cx="1026413" cy="7787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724780" y="1905380"/>
            <a:ext cx="1752600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24780" y="1905380"/>
            <a:ext cx="1752600" cy="914400"/>
          </a:xfrm>
          <a:custGeom>
            <a:avLst/>
            <a:gdLst/>
            <a:ahLst/>
            <a:cxnLst/>
            <a:rect l="l" t="t" r="r" b="b"/>
            <a:pathLst>
              <a:path w="1752600" h="914400">
                <a:moveTo>
                  <a:pt x="0" y="457200"/>
                </a:moveTo>
                <a:lnTo>
                  <a:pt x="8701" y="392523"/>
                </a:lnTo>
                <a:lnTo>
                  <a:pt x="34015" y="330631"/>
                </a:lnTo>
                <a:lnTo>
                  <a:pt x="74755" y="272145"/>
                </a:lnTo>
                <a:lnTo>
                  <a:pt x="129736" y="217683"/>
                </a:lnTo>
                <a:lnTo>
                  <a:pt x="162195" y="192155"/>
                </a:lnTo>
                <a:lnTo>
                  <a:pt x="197771" y="167865"/>
                </a:lnTo>
                <a:lnTo>
                  <a:pt x="236313" y="144891"/>
                </a:lnTo>
                <a:lnTo>
                  <a:pt x="277674" y="123309"/>
                </a:lnTo>
                <a:lnTo>
                  <a:pt x="321706" y="103199"/>
                </a:lnTo>
                <a:lnTo>
                  <a:pt x="368261" y="84636"/>
                </a:lnTo>
                <a:lnTo>
                  <a:pt x="417189" y="67698"/>
                </a:lnTo>
                <a:lnTo>
                  <a:pt x="468344" y="52464"/>
                </a:lnTo>
                <a:lnTo>
                  <a:pt x="521576" y="39009"/>
                </a:lnTo>
                <a:lnTo>
                  <a:pt x="576738" y="27412"/>
                </a:lnTo>
                <a:lnTo>
                  <a:pt x="633681" y="17750"/>
                </a:lnTo>
                <a:lnTo>
                  <a:pt x="692256" y="10100"/>
                </a:lnTo>
                <a:lnTo>
                  <a:pt x="752317" y="4540"/>
                </a:lnTo>
                <a:lnTo>
                  <a:pt x="813714" y="1148"/>
                </a:lnTo>
                <a:lnTo>
                  <a:pt x="876300" y="0"/>
                </a:lnTo>
                <a:lnTo>
                  <a:pt x="938885" y="1148"/>
                </a:lnTo>
                <a:lnTo>
                  <a:pt x="1000282" y="4540"/>
                </a:lnTo>
                <a:lnTo>
                  <a:pt x="1060343" y="10100"/>
                </a:lnTo>
                <a:lnTo>
                  <a:pt x="1118918" y="17750"/>
                </a:lnTo>
                <a:lnTo>
                  <a:pt x="1175861" y="27412"/>
                </a:lnTo>
                <a:lnTo>
                  <a:pt x="1231023" y="39009"/>
                </a:lnTo>
                <a:lnTo>
                  <a:pt x="1284255" y="52464"/>
                </a:lnTo>
                <a:lnTo>
                  <a:pt x="1335410" y="67698"/>
                </a:lnTo>
                <a:lnTo>
                  <a:pt x="1384338" y="84636"/>
                </a:lnTo>
                <a:lnTo>
                  <a:pt x="1430893" y="103199"/>
                </a:lnTo>
                <a:lnTo>
                  <a:pt x="1474925" y="123309"/>
                </a:lnTo>
                <a:lnTo>
                  <a:pt x="1516286" y="144891"/>
                </a:lnTo>
                <a:lnTo>
                  <a:pt x="1554828" y="167865"/>
                </a:lnTo>
                <a:lnTo>
                  <a:pt x="1590404" y="192155"/>
                </a:lnTo>
                <a:lnTo>
                  <a:pt x="1622863" y="217683"/>
                </a:lnTo>
                <a:lnTo>
                  <a:pt x="1652060" y="244373"/>
                </a:lnTo>
                <a:lnTo>
                  <a:pt x="1700068" y="300924"/>
                </a:lnTo>
                <a:lnTo>
                  <a:pt x="1733244" y="361190"/>
                </a:lnTo>
                <a:lnTo>
                  <a:pt x="1750399" y="424552"/>
                </a:lnTo>
                <a:lnTo>
                  <a:pt x="1752600" y="457200"/>
                </a:lnTo>
                <a:lnTo>
                  <a:pt x="1750399" y="489847"/>
                </a:lnTo>
                <a:lnTo>
                  <a:pt x="1733244" y="553209"/>
                </a:lnTo>
                <a:lnTo>
                  <a:pt x="1700068" y="613475"/>
                </a:lnTo>
                <a:lnTo>
                  <a:pt x="1652060" y="670026"/>
                </a:lnTo>
                <a:lnTo>
                  <a:pt x="1622863" y="696716"/>
                </a:lnTo>
                <a:lnTo>
                  <a:pt x="1590404" y="722244"/>
                </a:lnTo>
                <a:lnTo>
                  <a:pt x="1554828" y="746534"/>
                </a:lnTo>
                <a:lnTo>
                  <a:pt x="1516286" y="769508"/>
                </a:lnTo>
                <a:lnTo>
                  <a:pt x="1474925" y="791090"/>
                </a:lnTo>
                <a:lnTo>
                  <a:pt x="1430893" y="811200"/>
                </a:lnTo>
                <a:lnTo>
                  <a:pt x="1384338" y="829763"/>
                </a:lnTo>
                <a:lnTo>
                  <a:pt x="1335410" y="846701"/>
                </a:lnTo>
                <a:lnTo>
                  <a:pt x="1284255" y="861935"/>
                </a:lnTo>
                <a:lnTo>
                  <a:pt x="1231023" y="875390"/>
                </a:lnTo>
                <a:lnTo>
                  <a:pt x="1175861" y="886987"/>
                </a:lnTo>
                <a:lnTo>
                  <a:pt x="1118918" y="896649"/>
                </a:lnTo>
                <a:lnTo>
                  <a:pt x="1060343" y="904299"/>
                </a:lnTo>
                <a:lnTo>
                  <a:pt x="1000282" y="909859"/>
                </a:lnTo>
                <a:lnTo>
                  <a:pt x="938885" y="913251"/>
                </a:lnTo>
                <a:lnTo>
                  <a:pt x="876300" y="914400"/>
                </a:lnTo>
                <a:lnTo>
                  <a:pt x="813714" y="913251"/>
                </a:lnTo>
                <a:lnTo>
                  <a:pt x="752317" y="909859"/>
                </a:lnTo>
                <a:lnTo>
                  <a:pt x="692256" y="904299"/>
                </a:lnTo>
                <a:lnTo>
                  <a:pt x="633681" y="896649"/>
                </a:lnTo>
                <a:lnTo>
                  <a:pt x="576738" y="886987"/>
                </a:lnTo>
                <a:lnTo>
                  <a:pt x="521576" y="875390"/>
                </a:lnTo>
                <a:lnTo>
                  <a:pt x="468344" y="861935"/>
                </a:lnTo>
                <a:lnTo>
                  <a:pt x="417189" y="846701"/>
                </a:lnTo>
                <a:lnTo>
                  <a:pt x="368261" y="829763"/>
                </a:lnTo>
                <a:lnTo>
                  <a:pt x="321706" y="811200"/>
                </a:lnTo>
                <a:lnTo>
                  <a:pt x="277674" y="791090"/>
                </a:lnTo>
                <a:lnTo>
                  <a:pt x="236313" y="769508"/>
                </a:lnTo>
                <a:lnTo>
                  <a:pt x="197771" y="746534"/>
                </a:lnTo>
                <a:lnTo>
                  <a:pt x="162195" y="722244"/>
                </a:lnTo>
                <a:lnTo>
                  <a:pt x="129736" y="696716"/>
                </a:lnTo>
                <a:lnTo>
                  <a:pt x="100539" y="670026"/>
                </a:lnTo>
                <a:lnTo>
                  <a:pt x="52531" y="613475"/>
                </a:lnTo>
                <a:lnTo>
                  <a:pt x="19355" y="553209"/>
                </a:lnTo>
                <a:lnTo>
                  <a:pt x="2200" y="48984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59502" y="2053589"/>
            <a:ext cx="945641" cy="4541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163311" y="2297429"/>
            <a:ext cx="893063" cy="45415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286502" y="2092960"/>
            <a:ext cx="6407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 marR="5080" indent="-381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Control 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Crédito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736080" y="1882139"/>
            <a:ext cx="1844802" cy="1006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76516" y="2036064"/>
            <a:ext cx="1026414" cy="7787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782181" y="1905380"/>
            <a:ext cx="1752600" cy="914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82181" y="1905380"/>
            <a:ext cx="1752600" cy="914400"/>
          </a:xfrm>
          <a:custGeom>
            <a:avLst/>
            <a:gdLst/>
            <a:ahLst/>
            <a:cxnLst/>
            <a:rect l="l" t="t" r="r" b="b"/>
            <a:pathLst>
              <a:path w="1752600" h="914400">
                <a:moveTo>
                  <a:pt x="0" y="457200"/>
                </a:moveTo>
                <a:lnTo>
                  <a:pt x="8701" y="392523"/>
                </a:lnTo>
                <a:lnTo>
                  <a:pt x="34015" y="330631"/>
                </a:lnTo>
                <a:lnTo>
                  <a:pt x="74755" y="272145"/>
                </a:lnTo>
                <a:lnTo>
                  <a:pt x="129736" y="217683"/>
                </a:lnTo>
                <a:lnTo>
                  <a:pt x="162195" y="192155"/>
                </a:lnTo>
                <a:lnTo>
                  <a:pt x="197771" y="167865"/>
                </a:lnTo>
                <a:lnTo>
                  <a:pt x="236313" y="144891"/>
                </a:lnTo>
                <a:lnTo>
                  <a:pt x="277674" y="123309"/>
                </a:lnTo>
                <a:lnTo>
                  <a:pt x="321706" y="103199"/>
                </a:lnTo>
                <a:lnTo>
                  <a:pt x="368261" y="84636"/>
                </a:lnTo>
                <a:lnTo>
                  <a:pt x="417189" y="67698"/>
                </a:lnTo>
                <a:lnTo>
                  <a:pt x="468344" y="52464"/>
                </a:lnTo>
                <a:lnTo>
                  <a:pt x="521576" y="39009"/>
                </a:lnTo>
                <a:lnTo>
                  <a:pt x="576738" y="27412"/>
                </a:lnTo>
                <a:lnTo>
                  <a:pt x="633681" y="17750"/>
                </a:lnTo>
                <a:lnTo>
                  <a:pt x="692256" y="10100"/>
                </a:lnTo>
                <a:lnTo>
                  <a:pt x="752317" y="4540"/>
                </a:lnTo>
                <a:lnTo>
                  <a:pt x="813714" y="1148"/>
                </a:lnTo>
                <a:lnTo>
                  <a:pt x="876300" y="0"/>
                </a:lnTo>
                <a:lnTo>
                  <a:pt x="938885" y="1148"/>
                </a:lnTo>
                <a:lnTo>
                  <a:pt x="1000282" y="4540"/>
                </a:lnTo>
                <a:lnTo>
                  <a:pt x="1060343" y="10100"/>
                </a:lnTo>
                <a:lnTo>
                  <a:pt x="1118918" y="17750"/>
                </a:lnTo>
                <a:lnTo>
                  <a:pt x="1175861" y="27412"/>
                </a:lnTo>
                <a:lnTo>
                  <a:pt x="1231023" y="39009"/>
                </a:lnTo>
                <a:lnTo>
                  <a:pt x="1284255" y="52464"/>
                </a:lnTo>
                <a:lnTo>
                  <a:pt x="1335410" y="67698"/>
                </a:lnTo>
                <a:lnTo>
                  <a:pt x="1384338" y="84636"/>
                </a:lnTo>
                <a:lnTo>
                  <a:pt x="1430893" y="103199"/>
                </a:lnTo>
                <a:lnTo>
                  <a:pt x="1474925" y="123309"/>
                </a:lnTo>
                <a:lnTo>
                  <a:pt x="1516286" y="144891"/>
                </a:lnTo>
                <a:lnTo>
                  <a:pt x="1554828" y="167865"/>
                </a:lnTo>
                <a:lnTo>
                  <a:pt x="1590404" y="192155"/>
                </a:lnTo>
                <a:lnTo>
                  <a:pt x="1622863" y="217683"/>
                </a:lnTo>
                <a:lnTo>
                  <a:pt x="1652060" y="244373"/>
                </a:lnTo>
                <a:lnTo>
                  <a:pt x="1700068" y="300924"/>
                </a:lnTo>
                <a:lnTo>
                  <a:pt x="1733244" y="361190"/>
                </a:lnTo>
                <a:lnTo>
                  <a:pt x="1750399" y="424552"/>
                </a:lnTo>
                <a:lnTo>
                  <a:pt x="1752600" y="457200"/>
                </a:lnTo>
                <a:lnTo>
                  <a:pt x="1750399" y="489847"/>
                </a:lnTo>
                <a:lnTo>
                  <a:pt x="1733244" y="553209"/>
                </a:lnTo>
                <a:lnTo>
                  <a:pt x="1700068" y="613475"/>
                </a:lnTo>
                <a:lnTo>
                  <a:pt x="1652060" y="670026"/>
                </a:lnTo>
                <a:lnTo>
                  <a:pt x="1622863" y="696716"/>
                </a:lnTo>
                <a:lnTo>
                  <a:pt x="1590404" y="722244"/>
                </a:lnTo>
                <a:lnTo>
                  <a:pt x="1554828" y="746534"/>
                </a:lnTo>
                <a:lnTo>
                  <a:pt x="1516286" y="769508"/>
                </a:lnTo>
                <a:lnTo>
                  <a:pt x="1474925" y="791090"/>
                </a:lnTo>
                <a:lnTo>
                  <a:pt x="1430893" y="811200"/>
                </a:lnTo>
                <a:lnTo>
                  <a:pt x="1384338" y="829763"/>
                </a:lnTo>
                <a:lnTo>
                  <a:pt x="1335410" y="846701"/>
                </a:lnTo>
                <a:lnTo>
                  <a:pt x="1284255" y="861935"/>
                </a:lnTo>
                <a:lnTo>
                  <a:pt x="1231023" y="875390"/>
                </a:lnTo>
                <a:lnTo>
                  <a:pt x="1175861" y="886987"/>
                </a:lnTo>
                <a:lnTo>
                  <a:pt x="1118918" y="896649"/>
                </a:lnTo>
                <a:lnTo>
                  <a:pt x="1060343" y="904299"/>
                </a:lnTo>
                <a:lnTo>
                  <a:pt x="1000282" y="909859"/>
                </a:lnTo>
                <a:lnTo>
                  <a:pt x="938885" y="913251"/>
                </a:lnTo>
                <a:lnTo>
                  <a:pt x="876300" y="914400"/>
                </a:lnTo>
                <a:lnTo>
                  <a:pt x="813714" y="913251"/>
                </a:lnTo>
                <a:lnTo>
                  <a:pt x="752317" y="909859"/>
                </a:lnTo>
                <a:lnTo>
                  <a:pt x="692256" y="904299"/>
                </a:lnTo>
                <a:lnTo>
                  <a:pt x="633681" y="896649"/>
                </a:lnTo>
                <a:lnTo>
                  <a:pt x="576738" y="886987"/>
                </a:lnTo>
                <a:lnTo>
                  <a:pt x="521576" y="875390"/>
                </a:lnTo>
                <a:lnTo>
                  <a:pt x="468344" y="861935"/>
                </a:lnTo>
                <a:lnTo>
                  <a:pt x="417189" y="846701"/>
                </a:lnTo>
                <a:lnTo>
                  <a:pt x="368261" y="829763"/>
                </a:lnTo>
                <a:lnTo>
                  <a:pt x="321706" y="811200"/>
                </a:lnTo>
                <a:lnTo>
                  <a:pt x="277674" y="791090"/>
                </a:lnTo>
                <a:lnTo>
                  <a:pt x="236313" y="769508"/>
                </a:lnTo>
                <a:lnTo>
                  <a:pt x="197771" y="746534"/>
                </a:lnTo>
                <a:lnTo>
                  <a:pt x="162195" y="722244"/>
                </a:lnTo>
                <a:lnTo>
                  <a:pt x="129736" y="696716"/>
                </a:lnTo>
                <a:lnTo>
                  <a:pt x="100539" y="670026"/>
                </a:lnTo>
                <a:lnTo>
                  <a:pt x="52531" y="613475"/>
                </a:lnTo>
                <a:lnTo>
                  <a:pt x="19355" y="553209"/>
                </a:lnTo>
                <a:lnTo>
                  <a:pt x="2200" y="48984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16902" y="2053589"/>
            <a:ext cx="945642" cy="4541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301483" y="2297429"/>
            <a:ext cx="730757" cy="4541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44156" y="2092960"/>
            <a:ext cx="6407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455" marR="5080" indent="-8509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Control 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Stock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104132" y="1640585"/>
            <a:ext cx="1034034" cy="5768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45279" y="1658366"/>
            <a:ext cx="867410" cy="382270"/>
          </a:xfrm>
          <a:custGeom>
            <a:avLst/>
            <a:gdLst/>
            <a:ahLst/>
            <a:cxnLst/>
            <a:rect l="l" t="t" r="r" b="b"/>
            <a:pathLst>
              <a:path w="867410" h="382269">
                <a:moveTo>
                  <a:pt x="427355" y="0"/>
                </a:moveTo>
                <a:lnTo>
                  <a:pt x="387096" y="2286"/>
                </a:lnTo>
                <a:lnTo>
                  <a:pt x="347091" y="8636"/>
                </a:lnTo>
                <a:lnTo>
                  <a:pt x="308102" y="18923"/>
                </a:lnTo>
                <a:lnTo>
                  <a:pt x="270129" y="32766"/>
                </a:lnTo>
                <a:lnTo>
                  <a:pt x="233425" y="49911"/>
                </a:lnTo>
                <a:lnTo>
                  <a:pt x="198247" y="70104"/>
                </a:lnTo>
                <a:lnTo>
                  <a:pt x="164973" y="92963"/>
                </a:lnTo>
                <a:lnTo>
                  <a:pt x="133731" y="118363"/>
                </a:lnTo>
                <a:lnTo>
                  <a:pt x="104932" y="146431"/>
                </a:lnTo>
                <a:lnTo>
                  <a:pt x="79248" y="175768"/>
                </a:lnTo>
                <a:lnTo>
                  <a:pt x="56515" y="207137"/>
                </a:lnTo>
                <a:lnTo>
                  <a:pt x="37084" y="240030"/>
                </a:lnTo>
                <a:lnTo>
                  <a:pt x="14947" y="291973"/>
                </a:lnTo>
                <a:lnTo>
                  <a:pt x="2540" y="345694"/>
                </a:lnTo>
                <a:lnTo>
                  <a:pt x="0" y="381000"/>
                </a:lnTo>
                <a:lnTo>
                  <a:pt x="38100" y="382270"/>
                </a:lnTo>
                <a:lnTo>
                  <a:pt x="38608" y="365251"/>
                </a:lnTo>
                <a:lnTo>
                  <a:pt x="40386" y="349758"/>
                </a:lnTo>
                <a:lnTo>
                  <a:pt x="51435" y="302768"/>
                </a:lnTo>
                <a:lnTo>
                  <a:pt x="71247" y="256794"/>
                </a:lnTo>
                <a:lnTo>
                  <a:pt x="98806" y="212979"/>
                </a:lnTo>
                <a:lnTo>
                  <a:pt x="133475" y="171704"/>
                </a:lnTo>
                <a:lnTo>
                  <a:pt x="173736" y="134366"/>
                </a:lnTo>
                <a:lnTo>
                  <a:pt x="219202" y="101854"/>
                </a:lnTo>
                <a:lnTo>
                  <a:pt x="268350" y="75184"/>
                </a:lnTo>
                <a:lnTo>
                  <a:pt x="320294" y="54991"/>
                </a:lnTo>
                <a:lnTo>
                  <a:pt x="374015" y="42418"/>
                </a:lnTo>
                <a:lnTo>
                  <a:pt x="428371" y="38100"/>
                </a:lnTo>
                <a:lnTo>
                  <a:pt x="597872" y="38100"/>
                </a:lnTo>
                <a:lnTo>
                  <a:pt x="584835" y="32385"/>
                </a:lnTo>
                <a:lnTo>
                  <a:pt x="546608" y="18542"/>
                </a:lnTo>
                <a:lnTo>
                  <a:pt x="507619" y="8509"/>
                </a:lnTo>
                <a:lnTo>
                  <a:pt x="467741" y="2159"/>
                </a:lnTo>
                <a:lnTo>
                  <a:pt x="447421" y="508"/>
                </a:lnTo>
                <a:lnTo>
                  <a:pt x="427355" y="0"/>
                </a:lnTo>
                <a:close/>
              </a:path>
              <a:path w="867410" h="382269">
                <a:moveTo>
                  <a:pt x="792264" y="272851"/>
                </a:moveTo>
                <a:lnTo>
                  <a:pt x="755904" y="281050"/>
                </a:lnTo>
                <a:lnTo>
                  <a:pt x="836676" y="379984"/>
                </a:lnTo>
                <a:lnTo>
                  <a:pt x="858476" y="291973"/>
                </a:lnTo>
                <a:lnTo>
                  <a:pt x="797433" y="291973"/>
                </a:lnTo>
                <a:lnTo>
                  <a:pt x="792264" y="272851"/>
                </a:lnTo>
                <a:close/>
              </a:path>
              <a:path w="867410" h="382269">
                <a:moveTo>
                  <a:pt x="829382" y="264480"/>
                </a:moveTo>
                <a:lnTo>
                  <a:pt x="792264" y="272851"/>
                </a:lnTo>
                <a:lnTo>
                  <a:pt x="797433" y="291973"/>
                </a:lnTo>
                <a:lnTo>
                  <a:pt x="834136" y="282067"/>
                </a:lnTo>
                <a:lnTo>
                  <a:pt x="829382" y="264480"/>
                </a:lnTo>
                <a:close/>
              </a:path>
              <a:path w="867410" h="382269">
                <a:moveTo>
                  <a:pt x="867410" y="255905"/>
                </a:moveTo>
                <a:lnTo>
                  <a:pt x="829382" y="264480"/>
                </a:lnTo>
                <a:lnTo>
                  <a:pt x="834136" y="282067"/>
                </a:lnTo>
                <a:lnTo>
                  <a:pt x="797433" y="291973"/>
                </a:lnTo>
                <a:lnTo>
                  <a:pt x="858476" y="291973"/>
                </a:lnTo>
                <a:lnTo>
                  <a:pt x="867410" y="255905"/>
                </a:lnTo>
                <a:close/>
              </a:path>
              <a:path w="867410" h="382269">
                <a:moveTo>
                  <a:pt x="811656" y="268478"/>
                </a:moveTo>
                <a:lnTo>
                  <a:pt x="791083" y="268478"/>
                </a:lnTo>
                <a:lnTo>
                  <a:pt x="792353" y="271907"/>
                </a:lnTo>
                <a:lnTo>
                  <a:pt x="792009" y="271907"/>
                </a:lnTo>
                <a:lnTo>
                  <a:pt x="792264" y="272851"/>
                </a:lnTo>
                <a:lnTo>
                  <a:pt x="796451" y="271907"/>
                </a:lnTo>
                <a:lnTo>
                  <a:pt x="792353" y="271907"/>
                </a:lnTo>
                <a:lnTo>
                  <a:pt x="791582" y="270326"/>
                </a:lnTo>
                <a:lnTo>
                  <a:pt x="803461" y="270326"/>
                </a:lnTo>
                <a:lnTo>
                  <a:pt x="811656" y="268478"/>
                </a:lnTo>
                <a:close/>
              </a:path>
              <a:path w="867410" h="382269">
                <a:moveTo>
                  <a:pt x="791083" y="268478"/>
                </a:moveTo>
                <a:lnTo>
                  <a:pt x="791582" y="270326"/>
                </a:lnTo>
                <a:lnTo>
                  <a:pt x="792353" y="271907"/>
                </a:lnTo>
                <a:lnTo>
                  <a:pt x="791083" y="268478"/>
                </a:lnTo>
                <a:close/>
              </a:path>
              <a:path w="867410" h="382269">
                <a:moveTo>
                  <a:pt x="597872" y="38100"/>
                </a:moveTo>
                <a:lnTo>
                  <a:pt x="428371" y="38100"/>
                </a:lnTo>
                <a:lnTo>
                  <a:pt x="446532" y="38608"/>
                </a:lnTo>
                <a:lnTo>
                  <a:pt x="464566" y="40132"/>
                </a:lnTo>
                <a:lnTo>
                  <a:pt x="518541" y="50164"/>
                </a:lnTo>
                <a:lnTo>
                  <a:pt x="571119" y="67945"/>
                </a:lnTo>
                <a:lnTo>
                  <a:pt x="621284" y="92456"/>
                </a:lnTo>
                <a:lnTo>
                  <a:pt x="667893" y="123062"/>
                </a:lnTo>
                <a:lnTo>
                  <a:pt x="710057" y="158750"/>
                </a:lnTo>
                <a:lnTo>
                  <a:pt x="746633" y="198755"/>
                </a:lnTo>
                <a:lnTo>
                  <a:pt x="776478" y="241808"/>
                </a:lnTo>
                <a:lnTo>
                  <a:pt x="791582" y="270326"/>
                </a:lnTo>
                <a:lnTo>
                  <a:pt x="791083" y="268478"/>
                </a:lnTo>
                <a:lnTo>
                  <a:pt x="811656" y="268478"/>
                </a:lnTo>
                <a:lnTo>
                  <a:pt x="829382" y="264480"/>
                </a:lnTo>
                <a:lnTo>
                  <a:pt x="827786" y="258572"/>
                </a:lnTo>
                <a:lnTo>
                  <a:pt x="827532" y="257301"/>
                </a:lnTo>
                <a:lnTo>
                  <a:pt x="808863" y="221742"/>
                </a:lnTo>
                <a:lnTo>
                  <a:pt x="787654" y="189611"/>
                </a:lnTo>
                <a:lnTo>
                  <a:pt x="763143" y="159258"/>
                </a:lnTo>
                <a:lnTo>
                  <a:pt x="735838" y="130810"/>
                </a:lnTo>
                <a:lnTo>
                  <a:pt x="705993" y="104521"/>
                </a:lnTo>
                <a:lnTo>
                  <a:pt x="673735" y="80391"/>
                </a:lnTo>
                <a:lnTo>
                  <a:pt x="639445" y="59055"/>
                </a:lnTo>
                <a:lnTo>
                  <a:pt x="603377" y="40512"/>
                </a:lnTo>
                <a:lnTo>
                  <a:pt x="597872" y="3810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161532" y="1640585"/>
            <a:ext cx="1034034" cy="5768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202679" y="1658366"/>
            <a:ext cx="867410" cy="382270"/>
          </a:xfrm>
          <a:custGeom>
            <a:avLst/>
            <a:gdLst/>
            <a:ahLst/>
            <a:cxnLst/>
            <a:rect l="l" t="t" r="r" b="b"/>
            <a:pathLst>
              <a:path w="867409" h="382269">
                <a:moveTo>
                  <a:pt x="427354" y="0"/>
                </a:moveTo>
                <a:lnTo>
                  <a:pt x="387096" y="2286"/>
                </a:lnTo>
                <a:lnTo>
                  <a:pt x="347091" y="8636"/>
                </a:lnTo>
                <a:lnTo>
                  <a:pt x="308101" y="18923"/>
                </a:lnTo>
                <a:lnTo>
                  <a:pt x="270129" y="32766"/>
                </a:lnTo>
                <a:lnTo>
                  <a:pt x="233425" y="49911"/>
                </a:lnTo>
                <a:lnTo>
                  <a:pt x="198247" y="70104"/>
                </a:lnTo>
                <a:lnTo>
                  <a:pt x="164973" y="92963"/>
                </a:lnTo>
                <a:lnTo>
                  <a:pt x="133731" y="118363"/>
                </a:lnTo>
                <a:lnTo>
                  <a:pt x="104932" y="146431"/>
                </a:lnTo>
                <a:lnTo>
                  <a:pt x="79248" y="175768"/>
                </a:lnTo>
                <a:lnTo>
                  <a:pt x="56515" y="207137"/>
                </a:lnTo>
                <a:lnTo>
                  <a:pt x="37084" y="240030"/>
                </a:lnTo>
                <a:lnTo>
                  <a:pt x="14947" y="291973"/>
                </a:lnTo>
                <a:lnTo>
                  <a:pt x="2540" y="345694"/>
                </a:lnTo>
                <a:lnTo>
                  <a:pt x="0" y="381000"/>
                </a:lnTo>
                <a:lnTo>
                  <a:pt x="38100" y="382270"/>
                </a:lnTo>
                <a:lnTo>
                  <a:pt x="38608" y="365251"/>
                </a:lnTo>
                <a:lnTo>
                  <a:pt x="40386" y="349758"/>
                </a:lnTo>
                <a:lnTo>
                  <a:pt x="51435" y="302768"/>
                </a:lnTo>
                <a:lnTo>
                  <a:pt x="71247" y="256794"/>
                </a:lnTo>
                <a:lnTo>
                  <a:pt x="98806" y="212979"/>
                </a:lnTo>
                <a:lnTo>
                  <a:pt x="133475" y="171704"/>
                </a:lnTo>
                <a:lnTo>
                  <a:pt x="173736" y="134366"/>
                </a:lnTo>
                <a:lnTo>
                  <a:pt x="219202" y="101854"/>
                </a:lnTo>
                <a:lnTo>
                  <a:pt x="268350" y="75184"/>
                </a:lnTo>
                <a:lnTo>
                  <a:pt x="320294" y="54991"/>
                </a:lnTo>
                <a:lnTo>
                  <a:pt x="374015" y="42418"/>
                </a:lnTo>
                <a:lnTo>
                  <a:pt x="428371" y="38100"/>
                </a:lnTo>
                <a:lnTo>
                  <a:pt x="597872" y="38100"/>
                </a:lnTo>
                <a:lnTo>
                  <a:pt x="584835" y="32385"/>
                </a:lnTo>
                <a:lnTo>
                  <a:pt x="546608" y="18542"/>
                </a:lnTo>
                <a:lnTo>
                  <a:pt x="507619" y="8509"/>
                </a:lnTo>
                <a:lnTo>
                  <a:pt x="467741" y="2159"/>
                </a:lnTo>
                <a:lnTo>
                  <a:pt x="447421" y="508"/>
                </a:lnTo>
                <a:lnTo>
                  <a:pt x="427354" y="0"/>
                </a:lnTo>
                <a:close/>
              </a:path>
              <a:path w="867409" h="382269">
                <a:moveTo>
                  <a:pt x="792264" y="272851"/>
                </a:moveTo>
                <a:lnTo>
                  <a:pt x="755903" y="281050"/>
                </a:lnTo>
                <a:lnTo>
                  <a:pt x="836676" y="379984"/>
                </a:lnTo>
                <a:lnTo>
                  <a:pt x="858476" y="291973"/>
                </a:lnTo>
                <a:lnTo>
                  <a:pt x="797433" y="291973"/>
                </a:lnTo>
                <a:lnTo>
                  <a:pt x="792264" y="272851"/>
                </a:lnTo>
                <a:close/>
              </a:path>
              <a:path w="867409" h="382269">
                <a:moveTo>
                  <a:pt x="829382" y="264480"/>
                </a:moveTo>
                <a:lnTo>
                  <a:pt x="792264" y="272851"/>
                </a:lnTo>
                <a:lnTo>
                  <a:pt x="797433" y="291973"/>
                </a:lnTo>
                <a:lnTo>
                  <a:pt x="834136" y="282067"/>
                </a:lnTo>
                <a:lnTo>
                  <a:pt x="829382" y="264480"/>
                </a:lnTo>
                <a:close/>
              </a:path>
              <a:path w="867409" h="382269">
                <a:moveTo>
                  <a:pt x="867410" y="255905"/>
                </a:moveTo>
                <a:lnTo>
                  <a:pt x="829382" y="264480"/>
                </a:lnTo>
                <a:lnTo>
                  <a:pt x="834136" y="282067"/>
                </a:lnTo>
                <a:lnTo>
                  <a:pt x="797433" y="291973"/>
                </a:lnTo>
                <a:lnTo>
                  <a:pt x="858476" y="291973"/>
                </a:lnTo>
                <a:lnTo>
                  <a:pt x="867410" y="255905"/>
                </a:lnTo>
                <a:close/>
              </a:path>
              <a:path w="867409" h="382269">
                <a:moveTo>
                  <a:pt x="811656" y="268478"/>
                </a:moveTo>
                <a:lnTo>
                  <a:pt x="791083" y="268478"/>
                </a:lnTo>
                <a:lnTo>
                  <a:pt x="792352" y="271907"/>
                </a:lnTo>
                <a:lnTo>
                  <a:pt x="792009" y="271907"/>
                </a:lnTo>
                <a:lnTo>
                  <a:pt x="792264" y="272851"/>
                </a:lnTo>
                <a:lnTo>
                  <a:pt x="796451" y="271907"/>
                </a:lnTo>
                <a:lnTo>
                  <a:pt x="792352" y="271907"/>
                </a:lnTo>
                <a:lnTo>
                  <a:pt x="791582" y="270326"/>
                </a:lnTo>
                <a:lnTo>
                  <a:pt x="803461" y="270326"/>
                </a:lnTo>
                <a:lnTo>
                  <a:pt x="811656" y="268478"/>
                </a:lnTo>
                <a:close/>
              </a:path>
              <a:path w="867409" h="382269">
                <a:moveTo>
                  <a:pt x="791083" y="268478"/>
                </a:moveTo>
                <a:lnTo>
                  <a:pt x="791582" y="270326"/>
                </a:lnTo>
                <a:lnTo>
                  <a:pt x="792352" y="271907"/>
                </a:lnTo>
                <a:lnTo>
                  <a:pt x="791083" y="268478"/>
                </a:lnTo>
                <a:close/>
              </a:path>
              <a:path w="867409" h="382269">
                <a:moveTo>
                  <a:pt x="597872" y="38100"/>
                </a:moveTo>
                <a:lnTo>
                  <a:pt x="428371" y="38100"/>
                </a:lnTo>
                <a:lnTo>
                  <a:pt x="446531" y="38608"/>
                </a:lnTo>
                <a:lnTo>
                  <a:pt x="464566" y="40132"/>
                </a:lnTo>
                <a:lnTo>
                  <a:pt x="518541" y="50164"/>
                </a:lnTo>
                <a:lnTo>
                  <a:pt x="571119" y="67945"/>
                </a:lnTo>
                <a:lnTo>
                  <a:pt x="621284" y="92456"/>
                </a:lnTo>
                <a:lnTo>
                  <a:pt x="667893" y="123062"/>
                </a:lnTo>
                <a:lnTo>
                  <a:pt x="710056" y="158750"/>
                </a:lnTo>
                <a:lnTo>
                  <a:pt x="746633" y="198755"/>
                </a:lnTo>
                <a:lnTo>
                  <a:pt x="776477" y="241808"/>
                </a:lnTo>
                <a:lnTo>
                  <a:pt x="791582" y="270326"/>
                </a:lnTo>
                <a:lnTo>
                  <a:pt x="791083" y="268478"/>
                </a:lnTo>
                <a:lnTo>
                  <a:pt x="811656" y="268478"/>
                </a:lnTo>
                <a:lnTo>
                  <a:pt x="829382" y="264480"/>
                </a:lnTo>
                <a:lnTo>
                  <a:pt x="827786" y="258572"/>
                </a:lnTo>
                <a:lnTo>
                  <a:pt x="827531" y="257301"/>
                </a:lnTo>
                <a:lnTo>
                  <a:pt x="808863" y="221742"/>
                </a:lnTo>
                <a:lnTo>
                  <a:pt x="787653" y="189611"/>
                </a:lnTo>
                <a:lnTo>
                  <a:pt x="763143" y="159258"/>
                </a:lnTo>
                <a:lnTo>
                  <a:pt x="735838" y="130810"/>
                </a:lnTo>
                <a:lnTo>
                  <a:pt x="705993" y="104521"/>
                </a:lnTo>
                <a:lnTo>
                  <a:pt x="673735" y="80391"/>
                </a:lnTo>
                <a:lnTo>
                  <a:pt x="639445" y="59055"/>
                </a:lnTo>
                <a:lnTo>
                  <a:pt x="603376" y="40512"/>
                </a:lnTo>
                <a:lnTo>
                  <a:pt x="597872" y="3810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97679" y="3710940"/>
            <a:ext cx="2073402" cy="100660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657344" y="3864864"/>
            <a:ext cx="1417320" cy="77876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43780" y="3734180"/>
            <a:ext cx="1981200" cy="9144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343780" y="3734180"/>
            <a:ext cx="1981200" cy="914400"/>
          </a:xfrm>
          <a:custGeom>
            <a:avLst/>
            <a:gdLst/>
            <a:ahLst/>
            <a:cxnLst/>
            <a:rect l="l" t="t" r="r" b="b"/>
            <a:pathLst>
              <a:path w="1981200" h="914400">
                <a:moveTo>
                  <a:pt x="0" y="457200"/>
                </a:moveTo>
                <a:lnTo>
                  <a:pt x="8340" y="397602"/>
                </a:lnTo>
                <a:lnTo>
                  <a:pt x="32667" y="340321"/>
                </a:lnTo>
                <a:lnTo>
                  <a:pt x="71935" y="285838"/>
                </a:lnTo>
                <a:lnTo>
                  <a:pt x="125102" y="234636"/>
                </a:lnTo>
                <a:lnTo>
                  <a:pt x="156570" y="210415"/>
                </a:lnTo>
                <a:lnTo>
                  <a:pt x="191121" y="187195"/>
                </a:lnTo>
                <a:lnTo>
                  <a:pt x="228625" y="165037"/>
                </a:lnTo>
                <a:lnTo>
                  <a:pt x="268951" y="144000"/>
                </a:lnTo>
                <a:lnTo>
                  <a:pt x="311968" y="124145"/>
                </a:lnTo>
                <a:lnTo>
                  <a:pt x="357546" y="105532"/>
                </a:lnTo>
                <a:lnTo>
                  <a:pt x="405554" y="88221"/>
                </a:lnTo>
                <a:lnTo>
                  <a:pt x="455862" y="72273"/>
                </a:lnTo>
                <a:lnTo>
                  <a:pt x="508340" y="57747"/>
                </a:lnTo>
                <a:lnTo>
                  <a:pt x="562857" y="44705"/>
                </a:lnTo>
                <a:lnTo>
                  <a:pt x="619282" y="33206"/>
                </a:lnTo>
                <a:lnTo>
                  <a:pt x="677485" y="23311"/>
                </a:lnTo>
                <a:lnTo>
                  <a:pt x="737335" y="15079"/>
                </a:lnTo>
                <a:lnTo>
                  <a:pt x="798702" y="8572"/>
                </a:lnTo>
                <a:lnTo>
                  <a:pt x="861455" y="3850"/>
                </a:lnTo>
                <a:lnTo>
                  <a:pt x="925465" y="972"/>
                </a:lnTo>
                <a:lnTo>
                  <a:pt x="990600" y="0"/>
                </a:lnTo>
                <a:lnTo>
                  <a:pt x="1055734" y="972"/>
                </a:lnTo>
                <a:lnTo>
                  <a:pt x="1119744" y="3850"/>
                </a:lnTo>
                <a:lnTo>
                  <a:pt x="1182497" y="8572"/>
                </a:lnTo>
                <a:lnTo>
                  <a:pt x="1243864" y="15079"/>
                </a:lnTo>
                <a:lnTo>
                  <a:pt x="1303714" y="23311"/>
                </a:lnTo>
                <a:lnTo>
                  <a:pt x="1361917" y="33206"/>
                </a:lnTo>
                <a:lnTo>
                  <a:pt x="1418342" y="44705"/>
                </a:lnTo>
                <a:lnTo>
                  <a:pt x="1472859" y="57747"/>
                </a:lnTo>
                <a:lnTo>
                  <a:pt x="1525337" y="72273"/>
                </a:lnTo>
                <a:lnTo>
                  <a:pt x="1575645" y="88221"/>
                </a:lnTo>
                <a:lnTo>
                  <a:pt x="1623653" y="105532"/>
                </a:lnTo>
                <a:lnTo>
                  <a:pt x="1669231" y="124145"/>
                </a:lnTo>
                <a:lnTo>
                  <a:pt x="1712248" y="144000"/>
                </a:lnTo>
                <a:lnTo>
                  <a:pt x="1752574" y="165037"/>
                </a:lnTo>
                <a:lnTo>
                  <a:pt x="1790078" y="187195"/>
                </a:lnTo>
                <a:lnTo>
                  <a:pt x="1824629" y="210415"/>
                </a:lnTo>
                <a:lnTo>
                  <a:pt x="1856097" y="234636"/>
                </a:lnTo>
                <a:lnTo>
                  <a:pt x="1909264" y="285838"/>
                </a:lnTo>
                <a:lnTo>
                  <a:pt x="1948532" y="340321"/>
                </a:lnTo>
                <a:lnTo>
                  <a:pt x="1972859" y="397602"/>
                </a:lnTo>
                <a:lnTo>
                  <a:pt x="1981200" y="457200"/>
                </a:lnTo>
                <a:lnTo>
                  <a:pt x="1979093" y="487257"/>
                </a:lnTo>
                <a:lnTo>
                  <a:pt x="1962628" y="545757"/>
                </a:lnTo>
                <a:lnTo>
                  <a:pt x="1930700" y="601699"/>
                </a:lnTo>
                <a:lnTo>
                  <a:pt x="1884352" y="654602"/>
                </a:lnTo>
                <a:lnTo>
                  <a:pt x="1824629" y="703984"/>
                </a:lnTo>
                <a:lnTo>
                  <a:pt x="1790078" y="727204"/>
                </a:lnTo>
                <a:lnTo>
                  <a:pt x="1752574" y="749362"/>
                </a:lnTo>
                <a:lnTo>
                  <a:pt x="1712248" y="770399"/>
                </a:lnTo>
                <a:lnTo>
                  <a:pt x="1669231" y="790254"/>
                </a:lnTo>
                <a:lnTo>
                  <a:pt x="1623653" y="808867"/>
                </a:lnTo>
                <a:lnTo>
                  <a:pt x="1575645" y="826178"/>
                </a:lnTo>
                <a:lnTo>
                  <a:pt x="1525337" y="842126"/>
                </a:lnTo>
                <a:lnTo>
                  <a:pt x="1472859" y="856652"/>
                </a:lnTo>
                <a:lnTo>
                  <a:pt x="1418342" y="869694"/>
                </a:lnTo>
                <a:lnTo>
                  <a:pt x="1361917" y="881193"/>
                </a:lnTo>
                <a:lnTo>
                  <a:pt x="1303714" y="891088"/>
                </a:lnTo>
                <a:lnTo>
                  <a:pt x="1243864" y="899320"/>
                </a:lnTo>
                <a:lnTo>
                  <a:pt x="1182497" y="905827"/>
                </a:lnTo>
                <a:lnTo>
                  <a:pt x="1119744" y="910549"/>
                </a:lnTo>
                <a:lnTo>
                  <a:pt x="1055734" y="913427"/>
                </a:lnTo>
                <a:lnTo>
                  <a:pt x="990600" y="914400"/>
                </a:lnTo>
                <a:lnTo>
                  <a:pt x="925465" y="913427"/>
                </a:lnTo>
                <a:lnTo>
                  <a:pt x="861455" y="910549"/>
                </a:lnTo>
                <a:lnTo>
                  <a:pt x="798702" y="905827"/>
                </a:lnTo>
                <a:lnTo>
                  <a:pt x="737335" y="899320"/>
                </a:lnTo>
                <a:lnTo>
                  <a:pt x="677485" y="891088"/>
                </a:lnTo>
                <a:lnTo>
                  <a:pt x="619282" y="881193"/>
                </a:lnTo>
                <a:lnTo>
                  <a:pt x="562857" y="869694"/>
                </a:lnTo>
                <a:lnTo>
                  <a:pt x="508340" y="856652"/>
                </a:lnTo>
                <a:lnTo>
                  <a:pt x="455862" y="842126"/>
                </a:lnTo>
                <a:lnTo>
                  <a:pt x="405554" y="826178"/>
                </a:lnTo>
                <a:lnTo>
                  <a:pt x="357546" y="808867"/>
                </a:lnTo>
                <a:lnTo>
                  <a:pt x="311968" y="790254"/>
                </a:lnTo>
                <a:lnTo>
                  <a:pt x="268951" y="770399"/>
                </a:lnTo>
                <a:lnTo>
                  <a:pt x="228625" y="749362"/>
                </a:lnTo>
                <a:lnTo>
                  <a:pt x="191121" y="727204"/>
                </a:lnTo>
                <a:lnTo>
                  <a:pt x="156570" y="703984"/>
                </a:lnTo>
                <a:lnTo>
                  <a:pt x="125102" y="679763"/>
                </a:lnTo>
                <a:lnTo>
                  <a:pt x="71935" y="628561"/>
                </a:lnTo>
                <a:lnTo>
                  <a:pt x="32667" y="574078"/>
                </a:lnTo>
                <a:lnTo>
                  <a:pt x="8340" y="51679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697729" y="3882390"/>
            <a:ext cx="1336548" cy="4541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721352" y="4126229"/>
            <a:ext cx="1243584" cy="45415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316479" y="4091940"/>
            <a:ext cx="2073401" cy="100660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362580" y="4115180"/>
            <a:ext cx="1981199" cy="9144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362580" y="4115180"/>
            <a:ext cx="1981200" cy="914400"/>
          </a:xfrm>
          <a:custGeom>
            <a:avLst/>
            <a:gdLst/>
            <a:ahLst/>
            <a:cxnLst/>
            <a:rect l="l" t="t" r="r" b="b"/>
            <a:pathLst>
              <a:path w="1981200" h="914400">
                <a:moveTo>
                  <a:pt x="0" y="457200"/>
                </a:moveTo>
                <a:lnTo>
                  <a:pt x="8340" y="397602"/>
                </a:lnTo>
                <a:lnTo>
                  <a:pt x="32667" y="340321"/>
                </a:lnTo>
                <a:lnTo>
                  <a:pt x="71935" y="285838"/>
                </a:lnTo>
                <a:lnTo>
                  <a:pt x="125102" y="234636"/>
                </a:lnTo>
                <a:lnTo>
                  <a:pt x="156570" y="210415"/>
                </a:lnTo>
                <a:lnTo>
                  <a:pt x="191121" y="187195"/>
                </a:lnTo>
                <a:lnTo>
                  <a:pt x="228625" y="165037"/>
                </a:lnTo>
                <a:lnTo>
                  <a:pt x="268951" y="144000"/>
                </a:lnTo>
                <a:lnTo>
                  <a:pt x="311968" y="124145"/>
                </a:lnTo>
                <a:lnTo>
                  <a:pt x="357546" y="105532"/>
                </a:lnTo>
                <a:lnTo>
                  <a:pt x="405554" y="88221"/>
                </a:lnTo>
                <a:lnTo>
                  <a:pt x="455862" y="72273"/>
                </a:lnTo>
                <a:lnTo>
                  <a:pt x="508340" y="57747"/>
                </a:lnTo>
                <a:lnTo>
                  <a:pt x="562857" y="44705"/>
                </a:lnTo>
                <a:lnTo>
                  <a:pt x="619282" y="33206"/>
                </a:lnTo>
                <a:lnTo>
                  <a:pt x="677485" y="23311"/>
                </a:lnTo>
                <a:lnTo>
                  <a:pt x="737335" y="15079"/>
                </a:lnTo>
                <a:lnTo>
                  <a:pt x="798702" y="8572"/>
                </a:lnTo>
                <a:lnTo>
                  <a:pt x="861455" y="3850"/>
                </a:lnTo>
                <a:lnTo>
                  <a:pt x="925465" y="972"/>
                </a:lnTo>
                <a:lnTo>
                  <a:pt x="990599" y="0"/>
                </a:lnTo>
                <a:lnTo>
                  <a:pt x="1055734" y="972"/>
                </a:lnTo>
                <a:lnTo>
                  <a:pt x="1119744" y="3850"/>
                </a:lnTo>
                <a:lnTo>
                  <a:pt x="1182497" y="8572"/>
                </a:lnTo>
                <a:lnTo>
                  <a:pt x="1243864" y="15079"/>
                </a:lnTo>
                <a:lnTo>
                  <a:pt x="1303714" y="23311"/>
                </a:lnTo>
                <a:lnTo>
                  <a:pt x="1361917" y="33206"/>
                </a:lnTo>
                <a:lnTo>
                  <a:pt x="1418342" y="44705"/>
                </a:lnTo>
                <a:lnTo>
                  <a:pt x="1472859" y="57747"/>
                </a:lnTo>
                <a:lnTo>
                  <a:pt x="1525337" y="72273"/>
                </a:lnTo>
                <a:lnTo>
                  <a:pt x="1575645" y="88221"/>
                </a:lnTo>
                <a:lnTo>
                  <a:pt x="1623653" y="105532"/>
                </a:lnTo>
                <a:lnTo>
                  <a:pt x="1669231" y="124145"/>
                </a:lnTo>
                <a:lnTo>
                  <a:pt x="1712248" y="144000"/>
                </a:lnTo>
                <a:lnTo>
                  <a:pt x="1752574" y="165037"/>
                </a:lnTo>
                <a:lnTo>
                  <a:pt x="1790078" y="187195"/>
                </a:lnTo>
                <a:lnTo>
                  <a:pt x="1824629" y="210415"/>
                </a:lnTo>
                <a:lnTo>
                  <a:pt x="1856097" y="234636"/>
                </a:lnTo>
                <a:lnTo>
                  <a:pt x="1909264" y="285838"/>
                </a:lnTo>
                <a:lnTo>
                  <a:pt x="1948532" y="340321"/>
                </a:lnTo>
                <a:lnTo>
                  <a:pt x="1972859" y="397602"/>
                </a:lnTo>
                <a:lnTo>
                  <a:pt x="1981199" y="457200"/>
                </a:lnTo>
                <a:lnTo>
                  <a:pt x="1979093" y="487257"/>
                </a:lnTo>
                <a:lnTo>
                  <a:pt x="1962628" y="545757"/>
                </a:lnTo>
                <a:lnTo>
                  <a:pt x="1930700" y="601699"/>
                </a:lnTo>
                <a:lnTo>
                  <a:pt x="1884352" y="654602"/>
                </a:lnTo>
                <a:lnTo>
                  <a:pt x="1824629" y="703984"/>
                </a:lnTo>
                <a:lnTo>
                  <a:pt x="1790078" y="727204"/>
                </a:lnTo>
                <a:lnTo>
                  <a:pt x="1752574" y="749362"/>
                </a:lnTo>
                <a:lnTo>
                  <a:pt x="1712248" y="770399"/>
                </a:lnTo>
                <a:lnTo>
                  <a:pt x="1669231" y="790254"/>
                </a:lnTo>
                <a:lnTo>
                  <a:pt x="1623653" y="808867"/>
                </a:lnTo>
                <a:lnTo>
                  <a:pt x="1575645" y="826178"/>
                </a:lnTo>
                <a:lnTo>
                  <a:pt x="1525337" y="842126"/>
                </a:lnTo>
                <a:lnTo>
                  <a:pt x="1472859" y="856652"/>
                </a:lnTo>
                <a:lnTo>
                  <a:pt x="1418342" y="869694"/>
                </a:lnTo>
                <a:lnTo>
                  <a:pt x="1361917" y="881193"/>
                </a:lnTo>
                <a:lnTo>
                  <a:pt x="1303714" y="891088"/>
                </a:lnTo>
                <a:lnTo>
                  <a:pt x="1243864" y="899320"/>
                </a:lnTo>
                <a:lnTo>
                  <a:pt x="1182497" y="905827"/>
                </a:lnTo>
                <a:lnTo>
                  <a:pt x="1119744" y="910549"/>
                </a:lnTo>
                <a:lnTo>
                  <a:pt x="1055734" y="913427"/>
                </a:lnTo>
                <a:lnTo>
                  <a:pt x="990599" y="914400"/>
                </a:lnTo>
                <a:lnTo>
                  <a:pt x="925465" y="913427"/>
                </a:lnTo>
                <a:lnTo>
                  <a:pt x="861455" y="910549"/>
                </a:lnTo>
                <a:lnTo>
                  <a:pt x="798702" y="905827"/>
                </a:lnTo>
                <a:lnTo>
                  <a:pt x="737335" y="899320"/>
                </a:lnTo>
                <a:lnTo>
                  <a:pt x="677485" y="891088"/>
                </a:lnTo>
                <a:lnTo>
                  <a:pt x="619282" y="881193"/>
                </a:lnTo>
                <a:lnTo>
                  <a:pt x="562857" y="869694"/>
                </a:lnTo>
                <a:lnTo>
                  <a:pt x="508340" y="856652"/>
                </a:lnTo>
                <a:lnTo>
                  <a:pt x="455862" y="842126"/>
                </a:lnTo>
                <a:lnTo>
                  <a:pt x="405554" y="826178"/>
                </a:lnTo>
                <a:lnTo>
                  <a:pt x="357546" y="808867"/>
                </a:lnTo>
                <a:lnTo>
                  <a:pt x="311968" y="790254"/>
                </a:lnTo>
                <a:lnTo>
                  <a:pt x="268951" y="770399"/>
                </a:lnTo>
                <a:lnTo>
                  <a:pt x="228625" y="749362"/>
                </a:lnTo>
                <a:lnTo>
                  <a:pt x="191121" y="727204"/>
                </a:lnTo>
                <a:lnTo>
                  <a:pt x="156570" y="703984"/>
                </a:lnTo>
                <a:lnTo>
                  <a:pt x="125102" y="679763"/>
                </a:lnTo>
                <a:lnTo>
                  <a:pt x="71935" y="628561"/>
                </a:lnTo>
                <a:lnTo>
                  <a:pt x="32667" y="574078"/>
                </a:lnTo>
                <a:lnTo>
                  <a:pt x="8340" y="51679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13304" y="4385309"/>
            <a:ext cx="1096518" cy="45415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87680" y="4625340"/>
            <a:ext cx="2073402" cy="100660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031747" y="4779264"/>
            <a:ext cx="1047750" cy="77876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33780" y="4648580"/>
            <a:ext cx="1981200" cy="91440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33780" y="4648580"/>
            <a:ext cx="1981200" cy="914400"/>
          </a:xfrm>
          <a:custGeom>
            <a:avLst/>
            <a:gdLst/>
            <a:ahLst/>
            <a:cxnLst/>
            <a:rect l="l" t="t" r="r" b="b"/>
            <a:pathLst>
              <a:path w="1981200" h="914400">
                <a:moveTo>
                  <a:pt x="0" y="457200"/>
                </a:moveTo>
                <a:lnTo>
                  <a:pt x="8341" y="397602"/>
                </a:lnTo>
                <a:lnTo>
                  <a:pt x="32669" y="340321"/>
                </a:lnTo>
                <a:lnTo>
                  <a:pt x="71939" y="285838"/>
                </a:lnTo>
                <a:lnTo>
                  <a:pt x="125107" y="234636"/>
                </a:lnTo>
                <a:lnTo>
                  <a:pt x="156576" y="210415"/>
                </a:lnTo>
                <a:lnTo>
                  <a:pt x="191129" y="187195"/>
                </a:lnTo>
                <a:lnTo>
                  <a:pt x="228633" y="165037"/>
                </a:lnTo>
                <a:lnTo>
                  <a:pt x="268960" y="144000"/>
                </a:lnTo>
                <a:lnTo>
                  <a:pt x="311978" y="124145"/>
                </a:lnTo>
                <a:lnTo>
                  <a:pt x="357556" y="105532"/>
                </a:lnTo>
                <a:lnTo>
                  <a:pt x="405565" y="88221"/>
                </a:lnTo>
                <a:lnTo>
                  <a:pt x="455874" y="72273"/>
                </a:lnTo>
                <a:lnTo>
                  <a:pt x="508351" y="57747"/>
                </a:lnTo>
                <a:lnTo>
                  <a:pt x="562868" y="44705"/>
                </a:lnTo>
                <a:lnTo>
                  <a:pt x="619292" y="33206"/>
                </a:lnTo>
                <a:lnTo>
                  <a:pt x="677494" y="23311"/>
                </a:lnTo>
                <a:lnTo>
                  <a:pt x="737343" y="15079"/>
                </a:lnTo>
                <a:lnTo>
                  <a:pt x="798709" y="8572"/>
                </a:lnTo>
                <a:lnTo>
                  <a:pt x="861461" y="3850"/>
                </a:lnTo>
                <a:lnTo>
                  <a:pt x="925468" y="972"/>
                </a:lnTo>
                <a:lnTo>
                  <a:pt x="990600" y="0"/>
                </a:lnTo>
                <a:lnTo>
                  <a:pt x="1055734" y="972"/>
                </a:lnTo>
                <a:lnTo>
                  <a:pt x="1119744" y="3850"/>
                </a:lnTo>
                <a:lnTo>
                  <a:pt x="1182497" y="8572"/>
                </a:lnTo>
                <a:lnTo>
                  <a:pt x="1243864" y="15079"/>
                </a:lnTo>
                <a:lnTo>
                  <a:pt x="1303714" y="23311"/>
                </a:lnTo>
                <a:lnTo>
                  <a:pt x="1361917" y="33206"/>
                </a:lnTo>
                <a:lnTo>
                  <a:pt x="1418342" y="44705"/>
                </a:lnTo>
                <a:lnTo>
                  <a:pt x="1472859" y="57747"/>
                </a:lnTo>
                <a:lnTo>
                  <a:pt x="1525337" y="72273"/>
                </a:lnTo>
                <a:lnTo>
                  <a:pt x="1575645" y="88221"/>
                </a:lnTo>
                <a:lnTo>
                  <a:pt x="1623653" y="105532"/>
                </a:lnTo>
                <a:lnTo>
                  <a:pt x="1669231" y="124145"/>
                </a:lnTo>
                <a:lnTo>
                  <a:pt x="1712248" y="144000"/>
                </a:lnTo>
                <a:lnTo>
                  <a:pt x="1752574" y="165037"/>
                </a:lnTo>
                <a:lnTo>
                  <a:pt x="1790078" y="187195"/>
                </a:lnTo>
                <a:lnTo>
                  <a:pt x="1824629" y="210415"/>
                </a:lnTo>
                <a:lnTo>
                  <a:pt x="1856097" y="234636"/>
                </a:lnTo>
                <a:lnTo>
                  <a:pt x="1909264" y="285838"/>
                </a:lnTo>
                <a:lnTo>
                  <a:pt x="1948532" y="340321"/>
                </a:lnTo>
                <a:lnTo>
                  <a:pt x="1972859" y="397602"/>
                </a:lnTo>
                <a:lnTo>
                  <a:pt x="1981200" y="457200"/>
                </a:lnTo>
                <a:lnTo>
                  <a:pt x="1979093" y="487257"/>
                </a:lnTo>
                <a:lnTo>
                  <a:pt x="1962628" y="545757"/>
                </a:lnTo>
                <a:lnTo>
                  <a:pt x="1930700" y="601699"/>
                </a:lnTo>
                <a:lnTo>
                  <a:pt x="1884352" y="654602"/>
                </a:lnTo>
                <a:lnTo>
                  <a:pt x="1824629" y="703984"/>
                </a:lnTo>
                <a:lnTo>
                  <a:pt x="1790078" y="727204"/>
                </a:lnTo>
                <a:lnTo>
                  <a:pt x="1752574" y="749362"/>
                </a:lnTo>
                <a:lnTo>
                  <a:pt x="1712248" y="770399"/>
                </a:lnTo>
                <a:lnTo>
                  <a:pt x="1669231" y="790254"/>
                </a:lnTo>
                <a:lnTo>
                  <a:pt x="1623653" y="808867"/>
                </a:lnTo>
                <a:lnTo>
                  <a:pt x="1575645" y="826178"/>
                </a:lnTo>
                <a:lnTo>
                  <a:pt x="1525337" y="842126"/>
                </a:lnTo>
                <a:lnTo>
                  <a:pt x="1472859" y="856652"/>
                </a:lnTo>
                <a:lnTo>
                  <a:pt x="1418342" y="869694"/>
                </a:lnTo>
                <a:lnTo>
                  <a:pt x="1361917" y="881193"/>
                </a:lnTo>
                <a:lnTo>
                  <a:pt x="1303714" y="891088"/>
                </a:lnTo>
                <a:lnTo>
                  <a:pt x="1243864" y="899320"/>
                </a:lnTo>
                <a:lnTo>
                  <a:pt x="1182497" y="905827"/>
                </a:lnTo>
                <a:lnTo>
                  <a:pt x="1119744" y="910549"/>
                </a:lnTo>
                <a:lnTo>
                  <a:pt x="1055734" y="913427"/>
                </a:lnTo>
                <a:lnTo>
                  <a:pt x="990600" y="914400"/>
                </a:lnTo>
                <a:lnTo>
                  <a:pt x="925468" y="913427"/>
                </a:lnTo>
                <a:lnTo>
                  <a:pt x="861461" y="910549"/>
                </a:lnTo>
                <a:lnTo>
                  <a:pt x="798709" y="905827"/>
                </a:lnTo>
                <a:lnTo>
                  <a:pt x="737343" y="899320"/>
                </a:lnTo>
                <a:lnTo>
                  <a:pt x="677494" y="891088"/>
                </a:lnTo>
                <a:lnTo>
                  <a:pt x="619292" y="881193"/>
                </a:lnTo>
                <a:lnTo>
                  <a:pt x="562868" y="869694"/>
                </a:lnTo>
                <a:lnTo>
                  <a:pt x="508351" y="856652"/>
                </a:lnTo>
                <a:lnTo>
                  <a:pt x="455874" y="842126"/>
                </a:lnTo>
                <a:lnTo>
                  <a:pt x="405565" y="826178"/>
                </a:lnTo>
                <a:lnTo>
                  <a:pt x="357556" y="808867"/>
                </a:lnTo>
                <a:lnTo>
                  <a:pt x="311978" y="790254"/>
                </a:lnTo>
                <a:lnTo>
                  <a:pt x="268960" y="770399"/>
                </a:lnTo>
                <a:lnTo>
                  <a:pt x="228633" y="749362"/>
                </a:lnTo>
                <a:lnTo>
                  <a:pt x="191129" y="727204"/>
                </a:lnTo>
                <a:lnTo>
                  <a:pt x="156576" y="703984"/>
                </a:lnTo>
                <a:lnTo>
                  <a:pt x="125107" y="679763"/>
                </a:lnTo>
                <a:lnTo>
                  <a:pt x="71939" y="628561"/>
                </a:lnTo>
                <a:lnTo>
                  <a:pt x="32669" y="574078"/>
                </a:lnTo>
                <a:lnTo>
                  <a:pt x="8341" y="51679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072133" y="4796790"/>
            <a:ext cx="966978" cy="45415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101852" y="5040629"/>
            <a:ext cx="862584" cy="45415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81381" y="3429380"/>
            <a:ext cx="6096000" cy="2667000"/>
          </a:xfrm>
          <a:prstGeom prst="rect">
            <a:avLst/>
          </a:prstGeom>
          <a:ln w="25146">
            <a:solidFill>
              <a:srgbClr val="9BBA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Times New Roman"/>
              <a:cs typeface="Times New Roman"/>
            </a:endParaRPr>
          </a:p>
          <a:p>
            <a:pPr marL="4466590" marR="625475" indent="-24130" algn="r">
              <a:lnSpc>
                <a:spcPct val="100000"/>
              </a:lnSpc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Preparaci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ó</a:t>
            </a:r>
            <a:r>
              <a:rPr sz="1600" b="1" spc="-60" dirty="0">
                <a:solidFill>
                  <a:srgbClr val="FFFFFF"/>
                </a:solidFill>
                <a:latin typeface="Trebuchet MS"/>
                <a:cs typeface="Trebuchet MS"/>
              </a:rPr>
              <a:t>n  </a:t>
            </a:r>
            <a:r>
              <a:rPr sz="1600" b="1" spc="-70" dirty="0">
                <a:solidFill>
                  <a:srgbClr val="FFFFFF"/>
                </a:solidFill>
                <a:latin typeface="Trebuchet MS"/>
                <a:cs typeface="Trebuchet MS"/>
              </a:rPr>
              <a:t>Mercadería</a:t>
            </a:r>
            <a:endParaRPr sz="1600">
              <a:latin typeface="Trebuchet MS"/>
              <a:cs typeface="Trebuchet MS"/>
            </a:endParaRPr>
          </a:p>
          <a:p>
            <a:pPr marR="146050" algn="ctr">
              <a:lnSpc>
                <a:spcPct val="100000"/>
              </a:lnSpc>
              <a:spcBef>
                <a:spcPts val="120"/>
              </a:spcBef>
            </a:pPr>
            <a:r>
              <a:rPr sz="1600" b="1" spc="-80" dirty="0">
                <a:solidFill>
                  <a:srgbClr val="FFFFFF"/>
                </a:solidFill>
                <a:latin typeface="Trebuchet MS"/>
                <a:cs typeface="Trebuchet MS"/>
              </a:rPr>
              <a:t>Despacho</a:t>
            </a:r>
            <a:endParaRPr sz="1600">
              <a:latin typeface="Trebuchet MS"/>
              <a:cs typeface="Trebuchet MS"/>
            </a:endParaRPr>
          </a:p>
          <a:p>
            <a:pPr marL="846455" marR="4619625" indent="-29845">
              <a:lnSpc>
                <a:spcPct val="100000"/>
              </a:lnSpc>
              <a:spcBef>
                <a:spcPts val="132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Entrega  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Cliente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imes New Roman"/>
              <a:cs typeface="Times New Roman"/>
            </a:endParaRPr>
          </a:p>
          <a:p>
            <a:pPr marL="1283335">
              <a:lnSpc>
                <a:spcPct val="100000"/>
              </a:lnSpc>
            </a:pPr>
            <a:r>
              <a:rPr sz="1400" b="1" spc="-20" dirty="0">
                <a:solidFill>
                  <a:srgbClr val="00AF50"/>
                </a:solidFill>
                <a:latin typeface="Trebuchet MS"/>
                <a:cs typeface="Trebuchet MS"/>
              </a:rPr>
              <a:t>Módulo </a:t>
            </a:r>
            <a:r>
              <a:rPr sz="1400" b="1" spc="-125" dirty="0">
                <a:solidFill>
                  <a:srgbClr val="00AF50"/>
                </a:solidFill>
                <a:latin typeface="Trebuchet MS"/>
                <a:cs typeface="Trebuchet MS"/>
              </a:rPr>
              <a:t>2: </a:t>
            </a:r>
            <a:r>
              <a:rPr sz="1400" b="1" spc="-75" dirty="0">
                <a:solidFill>
                  <a:srgbClr val="00AF50"/>
                </a:solidFill>
                <a:latin typeface="Trebuchet MS"/>
                <a:cs typeface="Trebuchet MS"/>
              </a:rPr>
              <a:t>Despacho </a:t>
            </a:r>
            <a:r>
              <a:rPr sz="1400" b="1" spc="-85" dirty="0">
                <a:solidFill>
                  <a:srgbClr val="00AF50"/>
                </a:solidFill>
                <a:latin typeface="Trebuchet MS"/>
                <a:cs typeface="Trebuchet MS"/>
              </a:rPr>
              <a:t>y entrega de </a:t>
            </a:r>
            <a:r>
              <a:rPr sz="1400" b="1" spc="-65" dirty="0">
                <a:solidFill>
                  <a:srgbClr val="00AF50"/>
                </a:solidFill>
                <a:latin typeface="Trebuchet MS"/>
                <a:cs typeface="Trebuchet MS"/>
              </a:rPr>
              <a:t>la</a:t>
            </a:r>
            <a:r>
              <a:rPr sz="1400" b="1" spc="-30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400" b="1" spc="-90" dirty="0">
                <a:solidFill>
                  <a:srgbClr val="00AF50"/>
                </a:solidFill>
                <a:latin typeface="Trebuchet MS"/>
                <a:cs typeface="Trebuchet MS"/>
              </a:rPr>
              <a:t>mercadería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782181" y="4724780"/>
            <a:ext cx="1828800" cy="304800"/>
          </a:xfrm>
          <a:prstGeom prst="rect">
            <a:avLst/>
          </a:prstGeom>
          <a:ln w="25146">
            <a:solidFill>
              <a:srgbClr val="0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483870">
              <a:lnSpc>
                <a:spcPct val="100000"/>
              </a:lnSpc>
              <a:spcBef>
                <a:spcPts val="270"/>
              </a:spcBef>
            </a:pPr>
            <a:r>
              <a:rPr sz="1400" b="1" spc="-90" dirty="0">
                <a:latin typeface="Trebuchet MS"/>
                <a:cs typeface="Trebuchet MS"/>
              </a:rPr>
              <a:t>Facturación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964680" y="3634740"/>
            <a:ext cx="1159002" cy="100660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010781" y="3657980"/>
            <a:ext cx="1066800" cy="9144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010781" y="365798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552450" y="0"/>
                </a:lnTo>
                <a:lnTo>
                  <a:pt x="599111" y="2690"/>
                </a:lnTo>
                <a:lnTo>
                  <a:pt x="644189" y="10563"/>
                </a:lnTo>
                <a:lnTo>
                  <a:pt x="687385" y="23318"/>
                </a:lnTo>
                <a:lnTo>
                  <a:pt x="728398" y="40654"/>
                </a:lnTo>
                <a:lnTo>
                  <a:pt x="766929" y="62273"/>
                </a:lnTo>
                <a:lnTo>
                  <a:pt x="802677" y="87874"/>
                </a:lnTo>
                <a:lnTo>
                  <a:pt x="835342" y="117157"/>
                </a:lnTo>
                <a:lnTo>
                  <a:pt x="864625" y="149822"/>
                </a:lnTo>
                <a:lnTo>
                  <a:pt x="890226" y="185570"/>
                </a:lnTo>
                <a:lnTo>
                  <a:pt x="911845" y="224101"/>
                </a:lnTo>
                <a:lnTo>
                  <a:pt x="929181" y="265114"/>
                </a:lnTo>
                <a:lnTo>
                  <a:pt x="941936" y="308310"/>
                </a:lnTo>
                <a:lnTo>
                  <a:pt x="949809" y="353388"/>
                </a:lnTo>
                <a:lnTo>
                  <a:pt x="952500" y="400050"/>
                </a:lnTo>
                <a:lnTo>
                  <a:pt x="952500" y="685800"/>
                </a:lnTo>
                <a:lnTo>
                  <a:pt x="1066800" y="685800"/>
                </a:lnTo>
                <a:lnTo>
                  <a:pt x="838200" y="914400"/>
                </a:lnTo>
                <a:lnTo>
                  <a:pt x="609600" y="685800"/>
                </a:lnTo>
                <a:lnTo>
                  <a:pt x="723900" y="685800"/>
                </a:lnTo>
                <a:lnTo>
                  <a:pt x="723900" y="400050"/>
                </a:lnTo>
                <a:lnTo>
                  <a:pt x="717779" y="354453"/>
                </a:lnTo>
                <a:lnTo>
                  <a:pt x="700503" y="313492"/>
                </a:lnTo>
                <a:lnTo>
                  <a:pt x="673703" y="278796"/>
                </a:lnTo>
                <a:lnTo>
                  <a:pt x="639007" y="251996"/>
                </a:lnTo>
                <a:lnTo>
                  <a:pt x="598046" y="234720"/>
                </a:lnTo>
                <a:lnTo>
                  <a:pt x="552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629781" y="3429380"/>
            <a:ext cx="2133600" cy="2667000"/>
          </a:xfrm>
          <a:prstGeom prst="rect">
            <a:avLst/>
          </a:prstGeom>
          <a:ln w="25146">
            <a:solidFill>
              <a:srgbClr val="4F81B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43510" marR="137795" indent="1270" algn="ctr">
              <a:lnSpc>
                <a:spcPct val="100000"/>
              </a:lnSpc>
              <a:spcBef>
                <a:spcPts val="950"/>
              </a:spcBef>
            </a:pPr>
            <a:r>
              <a:rPr sz="1400" b="1" spc="-25" dirty="0">
                <a:solidFill>
                  <a:srgbClr val="548ED4"/>
                </a:solidFill>
                <a:latin typeface="Trebuchet MS"/>
                <a:cs typeface="Trebuchet MS"/>
              </a:rPr>
              <a:t>Módulos </a:t>
            </a:r>
            <a:r>
              <a:rPr sz="1400" b="1" spc="-125" dirty="0">
                <a:solidFill>
                  <a:srgbClr val="548ED4"/>
                </a:solidFill>
                <a:latin typeface="Trebuchet MS"/>
                <a:cs typeface="Trebuchet MS"/>
              </a:rPr>
              <a:t>3: </a:t>
            </a:r>
            <a:r>
              <a:rPr sz="1400" b="1" spc="-100" dirty="0">
                <a:solidFill>
                  <a:srgbClr val="548ED4"/>
                </a:solidFill>
                <a:latin typeface="Trebuchet MS"/>
                <a:cs typeface="Trebuchet MS"/>
              </a:rPr>
              <a:t>Facturación,  </a:t>
            </a:r>
            <a:r>
              <a:rPr sz="1400" b="1" spc="-85" dirty="0">
                <a:solidFill>
                  <a:srgbClr val="548ED4"/>
                </a:solidFill>
                <a:latin typeface="Trebuchet MS"/>
                <a:cs typeface="Trebuchet MS"/>
              </a:rPr>
              <a:t>registración y </a:t>
            </a:r>
            <a:r>
              <a:rPr sz="1400" b="1" spc="-80" dirty="0">
                <a:solidFill>
                  <a:srgbClr val="548ED4"/>
                </a:solidFill>
                <a:latin typeface="Trebuchet MS"/>
                <a:cs typeface="Trebuchet MS"/>
              </a:rPr>
              <a:t>control </a:t>
            </a:r>
            <a:r>
              <a:rPr sz="1400" b="1" spc="50" dirty="0">
                <a:solidFill>
                  <a:srgbClr val="548ED4"/>
                </a:solidFill>
                <a:latin typeface="Trebuchet MS"/>
                <a:cs typeface="Trebuchet MS"/>
              </a:rPr>
              <a:t>/  </a:t>
            </a:r>
            <a:r>
              <a:rPr sz="1400" b="1" spc="-75" dirty="0">
                <a:solidFill>
                  <a:srgbClr val="548ED4"/>
                </a:solidFill>
                <a:latin typeface="Trebuchet MS"/>
                <a:cs typeface="Trebuchet MS"/>
              </a:rPr>
              <a:t>Seguimiento </a:t>
            </a:r>
            <a:r>
              <a:rPr sz="1400" b="1" spc="-85" dirty="0">
                <a:solidFill>
                  <a:srgbClr val="548ED4"/>
                </a:solidFill>
                <a:latin typeface="Trebuchet MS"/>
                <a:cs typeface="Trebuchet MS"/>
              </a:rPr>
              <a:t>y </a:t>
            </a:r>
            <a:r>
              <a:rPr sz="1400" b="1" spc="-80" dirty="0">
                <a:solidFill>
                  <a:srgbClr val="548ED4"/>
                </a:solidFill>
                <a:latin typeface="Trebuchet MS"/>
                <a:cs typeface="Trebuchet MS"/>
              </a:rPr>
              <a:t>control</a:t>
            </a:r>
            <a:r>
              <a:rPr sz="1400" b="1" spc="-215" dirty="0">
                <a:solidFill>
                  <a:srgbClr val="548ED4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548ED4"/>
                </a:solidFill>
                <a:latin typeface="Trebuchet MS"/>
                <a:cs typeface="Trebuchet MS"/>
              </a:rPr>
              <a:t>de  </a:t>
            </a:r>
            <a:r>
              <a:rPr sz="1400" b="1" spc="-55" dirty="0">
                <a:solidFill>
                  <a:srgbClr val="548ED4"/>
                </a:solidFill>
                <a:latin typeface="Trebuchet MS"/>
                <a:cs typeface="Trebuchet MS"/>
              </a:rPr>
              <a:t>los</a:t>
            </a:r>
            <a:r>
              <a:rPr sz="1400" b="1" spc="-110" dirty="0">
                <a:solidFill>
                  <a:srgbClr val="548ED4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548ED4"/>
                </a:solidFill>
                <a:latin typeface="Trebuchet MS"/>
                <a:cs typeface="Trebuchet MS"/>
              </a:rPr>
              <a:t>pedidos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lang="es-AR" spc="-5" dirty="0"/>
              <a:t>Javier F. Klus </a:t>
            </a:r>
            <a:r>
              <a:rPr spc="-30" dirty="0"/>
              <a:t>(</a:t>
            </a:r>
            <a:r>
              <a:rPr lang="es-AR" spc="-30" dirty="0" err="1"/>
              <a:t>jklus</a:t>
            </a:r>
            <a:r>
              <a:rPr spc="-30" dirty="0"/>
              <a:t>@uade.edu.ar)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7090" y="1126872"/>
            <a:ext cx="7995281" cy="4221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360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0" dirty="0"/>
              <a:t>Ventas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20" dirty="0"/>
              <a:t>Cobrar</a:t>
            </a:r>
            <a:r>
              <a:rPr spc="-42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85" dirty="0">
                <a:latin typeface="Arial"/>
                <a:cs typeface="Arial"/>
              </a:rPr>
              <a:t>Visión de </a:t>
            </a:r>
            <a:r>
              <a:rPr sz="1800" b="0" spc="-20" dirty="0">
                <a:latin typeface="Arial"/>
                <a:cs typeface="Arial"/>
              </a:rPr>
              <a:t>alto </a:t>
            </a:r>
            <a:r>
              <a:rPr sz="1800" b="0" spc="-50" dirty="0">
                <a:latin typeface="Arial"/>
                <a:cs typeface="Arial"/>
              </a:rPr>
              <a:t>nivel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45" dirty="0">
                <a:latin typeface="Arial"/>
                <a:cs typeface="Arial"/>
              </a:rPr>
              <a:t>procedimiento</a:t>
            </a:r>
            <a:r>
              <a:rPr sz="1800" b="0" spc="-1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58840" y="4642230"/>
            <a:ext cx="139446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46647" y="4566666"/>
            <a:ext cx="2817495" cy="185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latin typeface="Trebuchet MS"/>
                <a:cs typeface="Trebuchet MS"/>
              </a:rPr>
              <a:t>Actores </a:t>
            </a:r>
            <a:r>
              <a:rPr sz="1600" b="1" spc="60" dirty="0">
                <a:latin typeface="Trebuchet MS"/>
                <a:cs typeface="Trebuchet MS"/>
              </a:rPr>
              <a:t>/ </a:t>
            </a:r>
            <a:r>
              <a:rPr sz="1600" b="1" spc="-80" dirty="0">
                <a:latin typeface="Trebuchet MS"/>
                <a:cs typeface="Trebuchet MS"/>
              </a:rPr>
              <a:t>Áreas</a:t>
            </a:r>
            <a:r>
              <a:rPr sz="1600" b="1" spc="-360" dirty="0">
                <a:latin typeface="Trebuchet MS"/>
                <a:cs typeface="Trebuchet MS"/>
              </a:rPr>
              <a:t> </a:t>
            </a:r>
            <a:r>
              <a:rPr sz="1600" b="1" spc="-90" dirty="0">
                <a:latin typeface="Trebuchet MS"/>
                <a:cs typeface="Trebuchet MS"/>
              </a:rPr>
              <a:t>involucradas:</a:t>
            </a:r>
            <a:endParaRPr sz="1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300" spc="-60" dirty="0">
                <a:latin typeface="Arial"/>
                <a:cs typeface="Arial"/>
              </a:rPr>
              <a:t>Vendedor</a:t>
            </a:r>
            <a:endParaRPr sz="13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300" spc="-40" dirty="0">
                <a:latin typeface="Arial"/>
                <a:cs typeface="Arial"/>
              </a:rPr>
              <a:t>Administración </a:t>
            </a:r>
            <a:r>
              <a:rPr sz="1300" spc="-60" dirty="0">
                <a:latin typeface="Arial"/>
                <a:cs typeface="Arial"/>
              </a:rPr>
              <a:t>de</a:t>
            </a:r>
            <a:r>
              <a:rPr sz="1300" spc="-85" dirty="0">
                <a:latin typeface="Arial"/>
                <a:cs typeface="Arial"/>
              </a:rPr>
              <a:t> </a:t>
            </a:r>
            <a:r>
              <a:rPr sz="1300" spc="-75" dirty="0">
                <a:latin typeface="Arial"/>
                <a:cs typeface="Arial"/>
              </a:rPr>
              <a:t>Ventas</a:t>
            </a:r>
            <a:endParaRPr sz="13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300" spc="-60" dirty="0">
                <a:latin typeface="Arial"/>
                <a:cs typeface="Arial"/>
              </a:rPr>
              <a:t>Créditos</a:t>
            </a:r>
            <a:endParaRPr sz="13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300" spc="-75" dirty="0">
                <a:latin typeface="Arial"/>
                <a:cs typeface="Arial"/>
              </a:rPr>
              <a:t>Almacenes</a:t>
            </a:r>
            <a:endParaRPr sz="13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300" spc="-60" dirty="0">
                <a:latin typeface="Arial"/>
                <a:cs typeface="Arial"/>
              </a:rPr>
              <a:t>Contaduría</a:t>
            </a:r>
            <a:endParaRPr sz="13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300" spc="-70" dirty="0">
                <a:latin typeface="Arial"/>
                <a:cs typeface="Arial"/>
              </a:rPr>
              <a:t>Expedición</a:t>
            </a:r>
            <a:endParaRPr sz="13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300" spc="-50" dirty="0">
                <a:latin typeface="Arial"/>
                <a:cs typeface="Arial"/>
              </a:rPr>
              <a:t>Repartición</a:t>
            </a:r>
            <a:endParaRPr sz="13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300" spc="-55" dirty="0">
                <a:latin typeface="Arial"/>
                <a:cs typeface="Arial"/>
              </a:rPr>
              <a:t>Cliente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23862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r>
              <a:rPr sz="2000" b="1" spc="-4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Recepción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aprobación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pedido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5115" y="2595498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5115" y="473824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5115" y="5652668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9241" y="1049782"/>
            <a:ext cx="8270240" cy="536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725" algn="just">
              <a:lnSpc>
                <a:spcPct val="100000"/>
              </a:lnSpc>
              <a:spcBef>
                <a:spcPts val="100"/>
              </a:spcBef>
            </a:pPr>
            <a:r>
              <a:rPr sz="3000" spc="-170" dirty="0">
                <a:latin typeface="Arial"/>
                <a:cs typeface="Arial"/>
              </a:rPr>
              <a:t>Un </a:t>
            </a:r>
            <a:r>
              <a:rPr sz="3000" spc="-120" dirty="0">
                <a:latin typeface="Arial"/>
                <a:cs typeface="Arial"/>
              </a:rPr>
              <a:t>Cliente </a:t>
            </a:r>
            <a:r>
              <a:rPr sz="3000" spc="-65" dirty="0">
                <a:latin typeface="Arial"/>
                <a:cs typeface="Arial"/>
              </a:rPr>
              <a:t>instrumenta </a:t>
            </a:r>
            <a:r>
              <a:rPr sz="3000" spc="-95" dirty="0">
                <a:latin typeface="Arial"/>
                <a:cs typeface="Arial"/>
              </a:rPr>
              <a:t>un pedido </a:t>
            </a:r>
            <a:r>
              <a:rPr sz="3000" spc="-135" dirty="0">
                <a:latin typeface="Arial"/>
                <a:cs typeface="Arial"/>
              </a:rPr>
              <a:t>sobre </a:t>
            </a:r>
            <a:r>
              <a:rPr sz="3000" spc="-70" dirty="0">
                <a:latin typeface="Arial"/>
                <a:cs typeface="Arial"/>
              </a:rPr>
              <a:t>cierta  </a:t>
            </a:r>
            <a:r>
              <a:rPr sz="3000" spc="-135" dirty="0">
                <a:latin typeface="Arial"/>
                <a:cs typeface="Arial"/>
              </a:rPr>
              <a:t>mercadería </a:t>
            </a:r>
            <a:r>
              <a:rPr sz="3000" spc="-125" dirty="0">
                <a:latin typeface="Arial"/>
                <a:cs typeface="Arial"/>
              </a:rPr>
              <a:t>que </a:t>
            </a:r>
            <a:r>
              <a:rPr sz="3000" spc="-210" dirty="0">
                <a:latin typeface="Arial"/>
                <a:cs typeface="Arial"/>
              </a:rPr>
              <a:t>desea </a:t>
            </a:r>
            <a:r>
              <a:rPr sz="3000" spc="-55" dirty="0">
                <a:latin typeface="Arial"/>
                <a:cs typeface="Arial"/>
              </a:rPr>
              <a:t>adquirir, </a:t>
            </a:r>
            <a:r>
              <a:rPr sz="3000" spc="-80" dirty="0">
                <a:latin typeface="Arial"/>
                <a:cs typeface="Arial"/>
              </a:rPr>
              <a:t>previo </a:t>
            </a:r>
            <a:r>
              <a:rPr sz="3000" spc="-130" dirty="0">
                <a:latin typeface="Arial"/>
                <a:cs typeface="Arial"/>
              </a:rPr>
              <a:t>acuerdo </a:t>
            </a:r>
            <a:r>
              <a:rPr sz="3000" spc="-140" dirty="0">
                <a:latin typeface="Arial"/>
                <a:cs typeface="Arial"/>
              </a:rPr>
              <a:t>con   </a:t>
            </a:r>
            <a:r>
              <a:rPr sz="3000" spc="-95" dirty="0">
                <a:latin typeface="Arial"/>
                <a:cs typeface="Arial"/>
              </a:rPr>
              <a:t>un</a:t>
            </a:r>
            <a:r>
              <a:rPr sz="3000" spc="-170" dirty="0">
                <a:latin typeface="Arial"/>
                <a:cs typeface="Arial"/>
              </a:rPr>
              <a:t> </a:t>
            </a:r>
            <a:r>
              <a:rPr sz="3000" spc="-120" dirty="0">
                <a:latin typeface="Arial"/>
                <a:cs typeface="Arial"/>
              </a:rPr>
              <a:t>Vendedor.</a:t>
            </a:r>
            <a:endParaRPr sz="3000" dirty="0">
              <a:latin typeface="Arial"/>
              <a:cs typeface="Arial"/>
            </a:endParaRPr>
          </a:p>
          <a:p>
            <a:pPr marL="12700" marR="5715" indent="85725" algn="just">
              <a:lnSpc>
                <a:spcPts val="3240"/>
              </a:lnSpc>
              <a:spcBef>
                <a:spcPts val="770"/>
              </a:spcBef>
            </a:pPr>
            <a:r>
              <a:rPr sz="3000" spc="-260" dirty="0">
                <a:latin typeface="Arial"/>
                <a:cs typeface="Arial"/>
              </a:rPr>
              <a:t>El </a:t>
            </a:r>
            <a:r>
              <a:rPr sz="3000" spc="-165" dirty="0">
                <a:latin typeface="Arial"/>
                <a:cs typeface="Arial"/>
              </a:rPr>
              <a:t>área  </a:t>
            </a:r>
            <a:r>
              <a:rPr sz="3000" spc="-140" dirty="0">
                <a:latin typeface="Arial"/>
                <a:cs typeface="Arial"/>
              </a:rPr>
              <a:t>de</a:t>
            </a:r>
            <a:r>
              <a:rPr sz="3000" spc="550" dirty="0">
                <a:latin typeface="Arial"/>
                <a:cs typeface="Arial"/>
              </a:rPr>
              <a:t> </a:t>
            </a:r>
            <a:r>
              <a:rPr sz="3000" spc="-100" dirty="0">
                <a:latin typeface="Arial"/>
                <a:cs typeface="Arial"/>
              </a:rPr>
              <a:t>Administración </a:t>
            </a:r>
            <a:r>
              <a:rPr sz="3000" spc="-140" dirty="0">
                <a:latin typeface="Arial"/>
                <a:cs typeface="Arial"/>
              </a:rPr>
              <a:t>de  </a:t>
            </a:r>
            <a:r>
              <a:rPr sz="3000" spc="-200" dirty="0">
                <a:latin typeface="Arial"/>
                <a:cs typeface="Arial"/>
              </a:rPr>
              <a:t>Ventas </a:t>
            </a:r>
            <a:r>
              <a:rPr sz="3000" spc="-90" dirty="0">
                <a:latin typeface="Arial"/>
                <a:cs typeface="Arial"/>
              </a:rPr>
              <a:t>verifica </a:t>
            </a:r>
            <a:r>
              <a:rPr sz="3000" spc="-105" dirty="0">
                <a:latin typeface="Arial"/>
                <a:cs typeface="Arial"/>
              </a:rPr>
              <a:t>la  </a:t>
            </a:r>
            <a:r>
              <a:rPr sz="3000" spc="-80" dirty="0">
                <a:latin typeface="Arial"/>
                <a:cs typeface="Arial"/>
              </a:rPr>
              <a:t>información referida </a:t>
            </a:r>
            <a:r>
              <a:rPr sz="3000" spc="-105" dirty="0">
                <a:latin typeface="Arial"/>
                <a:cs typeface="Arial"/>
              </a:rPr>
              <a:t>al </a:t>
            </a:r>
            <a:r>
              <a:rPr sz="3000" spc="-80" dirty="0">
                <a:latin typeface="Arial"/>
                <a:cs typeface="Arial"/>
              </a:rPr>
              <a:t>cliente</a:t>
            </a:r>
            <a:r>
              <a:rPr sz="3000" spc="-405" dirty="0">
                <a:latin typeface="Arial"/>
                <a:cs typeface="Arial"/>
              </a:rPr>
              <a:t> </a:t>
            </a:r>
            <a:r>
              <a:rPr sz="3000" spc="-100" dirty="0">
                <a:latin typeface="Arial"/>
                <a:cs typeface="Arial"/>
              </a:rPr>
              <a:t>comprador:</a:t>
            </a:r>
            <a:endParaRPr sz="3000" dirty="0">
              <a:latin typeface="Arial"/>
              <a:cs typeface="Arial"/>
            </a:endParaRPr>
          </a:p>
          <a:p>
            <a:pPr marL="262255" indent="-233679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337185" algn="l"/>
                <a:tab pos="337820" algn="l"/>
              </a:tabLst>
            </a:pPr>
            <a:r>
              <a:rPr sz="2600" b="1" spc="-110" dirty="0">
                <a:latin typeface="Trebuchet MS"/>
                <a:cs typeface="Trebuchet MS"/>
              </a:rPr>
              <a:t>¿Está </a:t>
            </a:r>
            <a:r>
              <a:rPr sz="2600" b="1" spc="-105" dirty="0">
                <a:latin typeface="Trebuchet MS"/>
                <a:cs typeface="Trebuchet MS"/>
              </a:rPr>
              <a:t>dado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5" dirty="0">
                <a:latin typeface="Trebuchet MS"/>
                <a:cs typeface="Trebuchet MS"/>
              </a:rPr>
              <a:t>alta </a:t>
            </a:r>
            <a:r>
              <a:rPr sz="2600" b="1" spc="-135" dirty="0">
                <a:latin typeface="Trebuchet MS"/>
                <a:cs typeface="Trebuchet MS"/>
              </a:rPr>
              <a:t>como</a:t>
            </a:r>
            <a:r>
              <a:rPr sz="2600" b="1" spc="-459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cliente?</a:t>
            </a:r>
            <a:endParaRPr sz="2600" dirty="0">
              <a:latin typeface="Trebuchet MS"/>
              <a:cs typeface="Trebuchet MS"/>
            </a:endParaRPr>
          </a:p>
          <a:p>
            <a:pPr marL="262255" marR="6350" indent="-233679">
              <a:lnSpc>
                <a:spcPts val="2810"/>
              </a:lnSpc>
              <a:spcBef>
                <a:spcPts val="665"/>
              </a:spcBef>
              <a:buFont typeface="Wingdings"/>
              <a:buChar char=""/>
              <a:tabLst>
                <a:tab pos="337185" algn="l"/>
                <a:tab pos="337820" algn="l"/>
              </a:tabLst>
            </a:pPr>
            <a:r>
              <a:rPr sz="2600" b="1" spc="-225" dirty="0">
                <a:latin typeface="Trebuchet MS"/>
                <a:cs typeface="Trebuchet MS"/>
              </a:rPr>
              <a:t>La </a:t>
            </a:r>
            <a:r>
              <a:rPr sz="2600" b="1" spc="-180" dirty="0">
                <a:latin typeface="Trebuchet MS"/>
                <a:cs typeface="Trebuchet MS"/>
              </a:rPr>
              <a:t>venta, </a:t>
            </a:r>
            <a:r>
              <a:rPr sz="2600" b="1" spc="-75" dirty="0">
                <a:latin typeface="Trebuchet MS"/>
                <a:cs typeface="Trebuchet MS"/>
              </a:rPr>
              <a:t>¿se </a:t>
            </a:r>
            <a:r>
              <a:rPr sz="2600" b="1" spc="-170" dirty="0">
                <a:latin typeface="Trebuchet MS"/>
                <a:cs typeface="Trebuchet MS"/>
              </a:rPr>
              <a:t>perfeccionará </a:t>
            </a:r>
            <a:r>
              <a:rPr sz="2600" b="1" spc="-150" dirty="0">
                <a:latin typeface="Trebuchet MS"/>
                <a:cs typeface="Trebuchet MS"/>
              </a:rPr>
              <a:t>utilizando </a:t>
            </a:r>
            <a:r>
              <a:rPr sz="2600" b="1" spc="-120" dirty="0">
                <a:latin typeface="Trebuchet MS"/>
                <a:cs typeface="Trebuchet MS"/>
              </a:rPr>
              <a:t>la </a:t>
            </a:r>
            <a:r>
              <a:rPr sz="2600" b="1" spc="-130" dirty="0">
                <a:latin typeface="Trebuchet MS"/>
                <a:cs typeface="Trebuchet MS"/>
              </a:rPr>
              <a:t>lista </a:t>
            </a:r>
            <a:r>
              <a:rPr sz="2600" b="1" spc="-155" dirty="0">
                <a:latin typeface="Trebuchet MS"/>
                <a:cs typeface="Trebuchet MS"/>
              </a:rPr>
              <a:t>de precios  </a:t>
            </a:r>
            <a:r>
              <a:rPr sz="2600" b="1" spc="-120" dirty="0">
                <a:latin typeface="Trebuchet MS"/>
                <a:cs typeface="Trebuchet MS"/>
              </a:rPr>
              <a:t>adecuada?</a:t>
            </a:r>
            <a:endParaRPr sz="2600" dirty="0">
              <a:latin typeface="Trebuchet MS"/>
              <a:cs typeface="Trebuchet MS"/>
            </a:endParaRPr>
          </a:p>
          <a:p>
            <a:pPr marL="12700" marR="5080" indent="85725" algn="just">
              <a:lnSpc>
                <a:spcPts val="3240"/>
              </a:lnSpc>
              <a:spcBef>
                <a:spcPts val="695"/>
              </a:spcBef>
            </a:pPr>
            <a:r>
              <a:rPr sz="3000" spc="-204" dirty="0">
                <a:latin typeface="Arial"/>
                <a:cs typeface="Arial"/>
              </a:rPr>
              <a:t>Luego,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165" dirty="0">
                <a:latin typeface="Arial"/>
                <a:cs typeface="Arial"/>
              </a:rPr>
              <a:t>área  </a:t>
            </a:r>
            <a:r>
              <a:rPr sz="3000" spc="-140" dirty="0">
                <a:latin typeface="Arial"/>
                <a:cs typeface="Arial"/>
              </a:rPr>
              <a:t>de Créditos </a:t>
            </a:r>
            <a:r>
              <a:rPr sz="3000" spc="-165" dirty="0">
                <a:latin typeface="Arial"/>
                <a:cs typeface="Arial"/>
              </a:rPr>
              <a:t>examina</a:t>
            </a:r>
            <a:r>
              <a:rPr sz="3000" spc="500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00" dirty="0">
                <a:latin typeface="Arial"/>
                <a:cs typeface="Arial"/>
              </a:rPr>
              <a:t>situación  </a:t>
            </a:r>
            <a:r>
              <a:rPr sz="3000" spc="-75" dirty="0">
                <a:latin typeface="Arial"/>
                <a:cs typeface="Arial"/>
              </a:rPr>
              <a:t>crediticia </a:t>
            </a:r>
            <a:r>
              <a:rPr sz="3000" spc="-90" dirty="0">
                <a:latin typeface="Arial"/>
                <a:cs typeface="Arial"/>
              </a:rPr>
              <a:t>del </a:t>
            </a:r>
            <a:r>
              <a:rPr sz="3000" spc="-80" dirty="0">
                <a:latin typeface="Arial"/>
                <a:cs typeface="Arial"/>
              </a:rPr>
              <a:t>cliente, </a:t>
            </a:r>
            <a:r>
              <a:rPr sz="3000" spc="-90" dirty="0">
                <a:latin typeface="Arial"/>
                <a:cs typeface="Arial"/>
              </a:rPr>
              <a:t>verificando </a:t>
            </a:r>
            <a:r>
              <a:rPr sz="3000" spc="-250" dirty="0">
                <a:latin typeface="Arial"/>
                <a:cs typeface="Arial"/>
              </a:rPr>
              <a:t>sus</a:t>
            </a:r>
            <a:r>
              <a:rPr sz="3000" spc="-509" dirty="0">
                <a:latin typeface="Arial"/>
                <a:cs typeface="Arial"/>
              </a:rPr>
              <a:t> </a:t>
            </a:r>
            <a:r>
              <a:rPr sz="3000" spc="-130" dirty="0">
                <a:latin typeface="Arial"/>
                <a:cs typeface="Arial"/>
              </a:rPr>
              <a:t>antecedentes.</a:t>
            </a:r>
            <a:endParaRPr sz="3000" dirty="0">
              <a:latin typeface="Arial"/>
              <a:cs typeface="Arial"/>
            </a:endParaRPr>
          </a:p>
          <a:p>
            <a:pPr marL="12700" marR="7620" indent="85725" algn="just">
              <a:lnSpc>
                <a:spcPts val="3240"/>
              </a:lnSpc>
              <a:spcBef>
                <a:spcPts val="720"/>
              </a:spcBef>
            </a:pPr>
            <a:r>
              <a:rPr sz="3000" spc="-120" dirty="0">
                <a:latin typeface="Arial"/>
                <a:cs typeface="Arial"/>
              </a:rPr>
              <a:t>Finalmente,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160" dirty="0">
                <a:latin typeface="Arial"/>
                <a:cs typeface="Arial"/>
              </a:rPr>
              <a:t>área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80" dirty="0">
                <a:latin typeface="Arial"/>
                <a:cs typeface="Arial"/>
              </a:rPr>
              <a:t>Almacenes </a:t>
            </a:r>
            <a:r>
              <a:rPr sz="3000" spc="-90" dirty="0">
                <a:latin typeface="Arial"/>
                <a:cs typeface="Arial"/>
              </a:rPr>
              <a:t>verifica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140" dirty="0">
                <a:latin typeface="Arial"/>
                <a:cs typeface="Arial"/>
              </a:rPr>
              <a:t>stock  </a:t>
            </a:r>
            <a:r>
              <a:rPr sz="3000" spc="-110" dirty="0">
                <a:latin typeface="Arial"/>
                <a:cs typeface="Arial"/>
              </a:rPr>
              <a:t>existente, </a:t>
            </a:r>
            <a:r>
              <a:rPr sz="3000" spc="-150" dirty="0">
                <a:latin typeface="Arial"/>
                <a:cs typeface="Arial"/>
              </a:rPr>
              <a:t>con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50" dirty="0">
                <a:latin typeface="Arial"/>
                <a:cs typeface="Arial"/>
              </a:rPr>
              <a:t>objeto </a:t>
            </a:r>
            <a:r>
              <a:rPr sz="3000" spc="-135" dirty="0">
                <a:latin typeface="Arial"/>
                <a:cs typeface="Arial"/>
              </a:rPr>
              <a:t>de </a:t>
            </a:r>
            <a:r>
              <a:rPr sz="3000" spc="-30" dirty="0">
                <a:latin typeface="Arial"/>
                <a:cs typeface="Arial"/>
              </a:rPr>
              <a:t>surtir </a:t>
            </a:r>
            <a:r>
              <a:rPr sz="3000" spc="-80" dirty="0">
                <a:latin typeface="Arial"/>
                <a:cs typeface="Arial"/>
              </a:rPr>
              <a:t>el</a:t>
            </a:r>
            <a:r>
              <a:rPr sz="3000" spc="-615" dirty="0">
                <a:latin typeface="Arial"/>
                <a:cs typeface="Arial"/>
              </a:rPr>
              <a:t> </a:t>
            </a:r>
            <a:r>
              <a:rPr sz="3000" spc="-90" dirty="0">
                <a:latin typeface="Arial"/>
                <a:cs typeface="Arial"/>
              </a:rPr>
              <a:t>pedido.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541" y="193801"/>
            <a:ext cx="8536940" cy="6222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r>
              <a:rPr sz="2000" b="1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Recepción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aprobación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pedido</a:t>
            </a:r>
            <a:r>
              <a:rPr sz="1800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R="3577590" algn="ctr">
              <a:lnSpc>
                <a:spcPct val="100000"/>
              </a:lnSpc>
            </a:pPr>
            <a:r>
              <a:rPr sz="3000" b="1" spc="-160" dirty="0">
                <a:latin typeface="Trebuchet MS"/>
                <a:cs typeface="Trebuchet MS"/>
              </a:rPr>
              <a:t>Controles</a:t>
            </a:r>
            <a:r>
              <a:rPr sz="3000" b="1" spc="-235" dirty="0">
                <a:latin typeface="Trebuchet MS"/>
                <a:cs typeface="Trebuchet MS"/>
              </a:rPr>
              <a:t> </a:t>
            </a:r>
            <a:r>
              <a:rPr sz="3000" b="1" spc="-160" dirty="0">
                <a:latin typeface="Trebuchet MS"/>
                <a:cs typeface="Trebuchet MS"/>
              </a:rPr>
              <a:t>instrumentados:</a:t>
            </a:r>
            <a:endParaRPr sz="3000">
              <a:latin typeface="Trebuchet MS"/>
              <a:cs typeface="Trebuchet MS"/>
            </a:endParaRPr>
          </a:p>
          <a:p>
            <a:pPr marL="279400" indent="-266700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b="1" spc="-150" dirty="0">
                <a:latin typeface="Trebuchet MS"/>
                <a:cs typeface="Trebuchet MS"/>
              </a:rPr>
              <a:t>Colocación </a:t>
            </a:r>
            <a:r>
              <a:rPr sz="2600" b="1" spc="-145" dirty="0">
                <a:latin typeface="Trebuchet MS"/>
                <a:cs typeface="Trebuchet MS"/>
              </a:rPr>
              <a:t>del</a:t>
            </a:r>
            <a:r>
              <a:rPr sz="2600" b="1" spc="-215" dirty="0">
                <a:latin typeface="Trebuchet MS"/>
                <a:cs typeface="Trebuchet MS"/>
              </a:rPr>
              <a:t> </a:t>
            </a:r>
            <a:r>
              <a:rPr sz="2600" b="1" spc="-130" dirty="0">
                <a:latin typeface="Trebuchet MS"/>
                <a:cs typeface="Trebuchet MS"/>
              </a:rPr>
              <a:t>pedido</a:t>
            </a:r>
            <a:endParaRPr sz="2600">
              <a:latin typeface="Trebuchet MS"/>
              <a:cs typeface="Trebuchet MS"/>
            </a:endParaRPr>
          </a:p>
          <a:p>
            <a:pPr marL="736600" marR="508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90" dirty="0">
                <a:latin typeface="Arial"/>
                <a:cs typeface="Arial"/>
              </a:rPr>
              <a:t>Para </a:t>
            </a:r>
            <a:r>
              <a:rPr sz="2200" spc="-50" dirty="0">
                <a:latin typeface="Arial"/>
                <a:cs typeface="Arial"/>
              </a:rPr>
              <a:t>evitar </a:t>
            </a:r>
            <a:r>
              <a:rPr sz="2200" spc="-90" dirty="0">
                <a:latin typeface="Arial"/>
                <a:cs typeface="Arial"/>
              </a:rPr>
              <a:t>inconvenientes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confusiones, los </a:t>
            </a:r>
            <a:r>
              <a:rPr sz="2200" spc="-95" dirty="0">
                <a:latin typeface="Arial"/>
                <a:cs typeface="Arial"/>
              </a:rPr>
              <a:t>pedidos </a:t>
            </a:r>
            <a:r>
              <a:rPr sz="2200" spc="-45" dirty="0">
                <a:latin typeface="Arial"/>
                <a:cs typeface="Arial"/>
              </a:rPr>
              <a:t>tienen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20" dirty="0">
                <a:latin typeface="Arial"/>
                <a:cs typeface="Arial"/>
              </a:rPr>
              <a:t>ser  </a:t>
            </a:r>
            <a:r>
              <a:rPr sz="2200" spc="-105" dirty="0">
                <a:latin typeface="Arial"/>
                <a:cs typeface="Arial"/>
              </a:rPr>
              <a:t>aprobados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85" dirty="0">
                <a:latin typeface="Arial"/>
                <a:cs typeface="Arial"/>
              </a:rPr>
              <a:t>clientes </a:t>
            </a:r>
            <a:r>
              <a:rPr sz="2200" spc="-35" dirty="0">
                <a:latin typeface="Arial"/>
                <a:cs typeface="Arial"/>
              </a:rPr>
              <a:t>por</a:t>
            </a:r>
            <a:r>
              <a:rPr sz="2200" spc="-295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escrito.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1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35" dirty="0">
                <a:latin typeface="Trebuchet MS"/>
                <a:cs typeface="Trebuchet MS"/>
              </a:rPr>
              <a:t>Aprobación formal </a:t>
            </a:r>
            <a:r>
              <a:rPr sz="2600" b="1" spc="-145" dirty="0">
                <a:latin typeface="Trebuchet MS"/>
                <a:cs typeface="Trebuchet MS"/>
              </a:rPr>
              <a:t>del</a:t>
            </a:r>
            <a:r>
              <a:rPr sz="2600" b="1" spc="-280" dirty="0">
                <a:latin typeface="Trebuchet MS"/>
                <a:cs typeface="Trebuchet MS"/>
              </a:rPr>
              <a:t> </a:t>
            </a:r>
            <a:r>
              <a:rPr sz="2600" b="1" spc="-130" dirty="0">
                <a:latin typeface="Trebuchet MS"/>
                <a:cs typeface="Trebuchet MS"/>
              </a:rPr>
              <a:t>pedido</a:t>
            </a:r>
            <a:endParaRPr sz="2600">
              <a:latin typeface="Trebuchet MS"/>
              <a:cs typeface="Trebuchet MS"/>
            </a:endParaRPr>
          </a:p>
          <a:p>
            <a:pPr marL="736600" marR="6350" lvl="1" indent="-266700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95" dirty="0">
                <a:latin typeface="Arial"/>
                <a:cs typeface="Arial"/>
              </a:rPr>
              <a:t>El </a:t>
            </a:r>
            <a:r>
              <a:rPr sz="2200" spc="-60" dirty="0">
                <a:latin typeface="Arial"/>
                <a:cs typeface="Arial"/>
              </a:rPr>
              <a:t>cliente </a:t>
            </a:r>
            <a:r>
              <a:rPr sz="2200" spc="-105" dirty="0">
                <a:latin typeface="Arial"/>
                <a:cs typeface="Arial"/>
              </a:rPr>
              <a:t>debe </a:t>
            </a:r>
            <a:r>
              <a:rPr sz="2200" spc="-85" dirty="0">
                <a:latin typeface="Arial"/>
                <a:cs typeface="Arial"/>
              </a:rPr>
              <a:t>estar </a:t>
            </a:r>
            <a:r>
              <a:rPr sz="2200" spc="-95" dirty="0">
                <a:latin typeface="Arial"/>
                <a:cs typeface="Arial"/>
              </a:rPr>
              <a:t>dado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60" dirty="0">
                <a:latin typeface="Arial"/>
                <a:cs typeface="Arial"/>
              </a:rPr>
              <a:t>alta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60" dirty="0">
                <a:latin typeface="Arial"/>
                <a:cs typeface="Arial"/>
              </a:rPr>
              <a:t>base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clientes </a:t>
            </a:r>
            <a:r>
              <a:rPr sz="2200" spc="-105" dirty="0">
                <a:latin typeface="Arial"/>
                <a:cs typeface="Arial"/>
              </a:rPr>
              <a:t>antes </a:t>
            </a:r>
            <a:r>
              <a:rPr sz="2200" spc="-100" dirty="0">
                <a:latin typeface="Arial"/>
                <a:cs typeface="Arial"/>
              </a:rPr>
              <a:t>de  </a:t>
            </a:r>
            <a:r>
              <a:rPr sz="2200" spc="-85" dirty="0">
                <a:latin typeface="Arial"/>
                <a:cs typeface="Arial"/>
              </a:rPr>
              <a:t>perfeccionado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165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pedido;</a:t>
            </a:r>
            <a:endParaRPr sz="2200">
              <a:latin typeface="Arial"/>
              <a:cs typeface="Arial"/>
            </a:endParaRPr>
          </a:p>
          <a:p>
            <a:pPr marL="736600" marR="635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spc="-75" dirty="0">
                <a:latin typeface="Arial"/>
                <a:cs typeface="Arial"/>
              </a:rPr>
              <a:t>Verificar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05" dirty="0">
                <a:latin typeface="Arial"/>
                <a:cs typeface="Arial"/>
              </a:rPr>
              <a:t>existencia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0" dirty="0">
                <a:latin typeface="Arial"/>
                <a:cs typeface="Arial"/>
              </a:rPr>
              <a:t>diferencias </a:t>
            </a:r>
            <a:r>
              <a:rPr sz="2200" spc="-45" dirty="0">
                <a:latin typeface="Arial"/>
                <a:cs typeface="Arial"/>
              </a:rPr>
              <a:t>entre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95" dirty="0">
                <a:latin typeface="Arial"/>
                <a:cs typeface="Arial"/>
              </a:rPr>
              <a:t>listas </a:t>
            </a:r>
            <a:r>
              <a:rPr sz="2200" spc="-100" dirty="0">
                <a:latin typeface="Arial"/>
                <a:cs typeface="Arial"/>
              </a:rPr>
              <a:t>de precios de </a:t>
            </a:r>
            <a:r>
              <a:rPr sz="2200" spc="-105" dirty="0">
                <a:latin typeface="Arial"/>
                <a:cs typeface="Arial"/>
              </a:rPr>
              <a:t>los  </a:t>
            </a:r>
            <a:r>
              <a:rPr sz="2200" spc="-125" dirty="0">
                <a:latin typeface="Arial"/>
                <a:cs typeface="Arial"/>
              </a:rPr>
              <a:t>Vendedores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95" dirty="0">
                <a:latin typeface="Arial"/>
                <a:cs typeface="Arial"/>
              </a:rPr>
              <a:t>los precios </a:t>
            </a:r>
            <a:r>
              <a:rPr sz="2200" spc="-100" dirty="0">
                <a:latin typeface="Arial"/>
                <a:cs typeface="Arial"/>
              </a:rPr>
              <a:t>vigentes 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55" dirty="0">
                <a:latin typeface="Arial"/>
                <a:cs typeface="Arial"/>
              </a:rPr>
              <a:t>momento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</a:t>
            </a:r>
            <a:r>
              <a:rPr sz="2200" spc="-35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facturación.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1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50" dirty="0">
                <a:latin typeface="Trebuchet MS"/>
                <a:cs typeface="Trebuchet MS"/>
              </a:rPr>
              <a:t>Control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Créditos</a:t>
            </a:r>
            <a:endParaRPr sz="2600">
              <a:latin typeface="Trebuchet MS"/>
              <a:cs typeface="Trebuchet MS"/>
            </a:endParaRPr>
          </a:p>
          <a:p>
            <a:pPr marL="736600" marR="508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75" dirty="0">
                <a:latin typeface="Arial"/>
                <a:cs typeface="Arial"/>
              </a:rPr>
              <a:t>Verificar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60" dirty="0">
                <a:latin typeface="Arial"/>
                <a:cs typeface="Arial"/>
              </a:rPr>
              <a:t>el cliente </a:t>
            </a:r>
            <a:r>
              <a:rPr sz="2200" spc="-65" dirty="0">
                <a:latin typeface="Arial"/>
                <a:cs typeface="Arial"/>
              </a:rPr>
              <a:t>no </a:t>
            </a:r>
            <a:r>
              <a:rPr sz="2200" spc="-100" dirty="0">
                <a:latin typeface="Arial"/>
                <a:cs typeface="Arial"/>
              </a:rPr>
              <a:t>tenga </a:t>
            </a:r>
            <a:r>
              <a:rPr sz="2200" spc="-114" dirty="0">
                <a:latin typeface="Arial"/>
                <a:cs typeface="Arial"/>
              </a:rPr>
              <a:t>atrasos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45" dirty="0">
                <a:latin typeface="Arial"/>
                <a:cs typeface="Arial"/>
              </a:rPr>
              <a:t>cobranzas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14" dirty="0">
                <a:latin typeface="Arial"/>
                <a:cs typeface="Arial"/>
              </a:rPr>
              <a:t>ventas  </a:t>
            </a:r>
            <a:r>
              <a:rPr sz="2200" spc="-65" dirty="0">
                <a:latin typeface="Arial"/>
                <a:cs typeface="Arial"/>
              </a:rPr>
              <a:t>anteriores;</a:t>
            </a:r>
            <a:endParaRPr sz="22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spc="-130" dirty="0">
                <a:latin typeface="Arial"/>
                <a:cs typeface="Arial"/>
              </a:rPr>
              <a:t>Chequear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60" dirty="0">
                <a:latin typeface="Arial"/>
                <a:cs typeface="Arial"/>
              </a:rPr>
              <a:t>el cliente </a:t>
            </a:r>
            <a:r>
              <a:rPr sz="2200" spc="-65" dirty="0">
                <a:latin typeface="Arial"/>
                <a:cs typeface="Arial"/>
              </a:rPr>
              <a:t>no </a:t>
            </a:r>
            <a:r>
              <a:rPr sz="2200" spc="-150" dirty="0">
                <a:latin typeface="Arial"/>
                <a:cs typeface="Arial"/>
              </a:rPr>
              <a:t>haya </a:t>
            </a:r>
            <a:r>
              <a:rPr sz="2200" spc="-105" dirty="0">
                <a:latin typeface="Arial"/>
                <a:cs typeface="Arial"/>
              </a:rPr>
              <a:t>superado </a:t>
            </a:r>
            <a:r>
              <a:rPr sz="2200" spc="-155" dirty="0">
                <a:latin typeface="Arial"/>
                <a:cs typeface="Arial"/>
              </a:rPr>
              <a:t>su </a:t>
            </a:r>
            <a:r>
              <a:rPr sz="2200" spc="-35" dirty="0">
                <a:latin typeface="Arial"/>
                <a:cs typeface="Arial"/>
              </a:rPr>
              <a:t>límite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360" dirty="0"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crédito;</a:t>
            </a:r>
            <a:endParaRPr sz="2200">
              <a:latin typeface="Arial"/>
              <a:cs typeface="Arial"/>
            </a:endParaRPr>
          </a:p>
          <a:p>
            <a:pPr marL="736600" marR="635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spc="-120" dirty="0">
                <a:latin typeface="Arial"/>
                <a:cs typeface="Arial"/>
              </a:rPr>
              <a:t>Emplear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85" dirty="0">
                <a:latin typeface="Arial"/>
                <a:cs typeface="Arial"/>
              </a:rPr>
              <a:t>aplicar políticas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50" dirty="0">
                <a:latin typeface="Arial"/>
                <a:cs typeface="Arial"/>
              </a:rPr>
              <a:t>evitar </a:t>
            </a:r>
            <a:r>
              <a:rPr sz="2200" spc="-105" dirty="0">
                <a:latin typeface="Arial"/>
                <a:cs typeface="Arial"/>
              </a:rPr>
              <a:t>desactualización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precios  </a:t>
            </a:r>
            <a:r>
              <a:rPr sz="2200" spc="-35" dirty="0">
                <a:latin typeface="Arial"/>
                <a:cs typeface="Arial"/>
              </a:rPr>
              <a:t>por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55" dirty="0">
                <a:latin typeface="Arial"/>
                <a:cs typeface="Arial"/>
              </a:rPr>
              <a:t>inflación.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92823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r>
              <a:rPr sz="2000" b="1" spc="-4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I: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Recepción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aprobación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pedido</a:t>
            </a:r>
            <a:r>
              <a:rPr sz="1800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2541" y="1049782"/>
            <a:ext cx="4525645" cy="3534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5080" indent="85725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latin typeface="Trebuchet MS"/>
                <a:cs typeface="Trebuchet MS"/>
              </a:rPr>
              <a:t>Controles </a:t>
            </a:r>
            <a:r>
              <a:rPr sz="3000" b="1" spc="-150" dirty="0">
                <a:latin typeface="Trebuchet MS"/>
                <a:cs typeface="Trebuchet MS"/>
              </a:rPr>
              <a:t>instrumentados  </a:t>
            </a:r>
            <a:r>
              <a:rPr sz="3000" b="1" spc="-195" dirty="0">
                <a:latin typeface="Trebuchet MS"/>
                <a:cs typeface="Trebuchet MS"/>
              </a:rPr>
              <a:t>(Cont.):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70" dirty="0">
                <a:latin typeface="Trebuchet MS"/>
                <a:cs typeface="Trebuchet MS"/>
              </a:rPr>
              <a:t>Verificación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190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existencias</a:t>
            </a:r>
            <a:endParaRPr sz="2600">
              <a:latin typeface="Trebuchet MS"/>
              <a:cs typeface="Trebuchet MS"/>
            </a:endParaRPr>
          </a:p>
          <a:p>
            <a:pPr marL="736600" marR="5080" lvl="1" indent="-266700" algn="just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65" dirty="0">
                <a:latin typeface="Arial"/>
                <a:cs typeface="Arial"/>
              </a:rPr>
              <a:t>Desde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20" dirty="0">
                <a:latin typeface="Arial"/>
                <a:cs typeface="Arial"/>
              </a:rPr>
              <a:t>área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5" dirty="0">
                <a:latin typeface="Arial"/>
                <a:cs typeface="Arial"/>
              </a:rPr>
              <a:t>Almacenes,  </a:t>
            </a:r>
            <a:r>
              <a:rPr sz="2200" spc="-90" dirty="0">
                <a:latin typeface="Arial"/>
                <a:cs typeface="Arial"/>
              </a:rPr>
              <a:t>revisar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suficiencia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05" dirty="0">
                <a:latin typeface="Arial"/>
                <a:cs typeface="Arial"/>
              </a:rPr>
              <a:t>stock  </a:t>
            </a:r>
            <a:r>
              <a:rPr sz="2200" spc="-85" dirty="0">
                <a:latin typeface="Arial"/>
                <a:cs typeface="Arial"/>
              </a:rPr>
              <a:t>vigente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100" dirty="0">
                <a:latin typeface="Arial"/>
                <a:cs typeface="Arial"/>
              </a:rPr>
              <a:t>satisfacer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0" dirty="0">
                <a:latin typeface="Arial"/>
                <a:cs typeface="Arial"/>
              </a:rPr>
              <a:t>pedido  </a:t>
            </a:r>
            <a:r>
              <a:rPr sz="2200" spc="-75" dirty="0">
                <a:latin typeface="Arial"/>
                <a:cs typeface="Arial"/>
              </a:rPr>
              <a:t>efectuado.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1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35" dirty="0">
                <a:latin typeface="Trebuchet MS"/>
                <a:cs typeface="Trebuchet MS"/>
              </a:rPr>
              <a:t>Pedidos</a:t>
            </a:r>
            <a:r>
              <a:rPr sz="2600" b="1" spc="-165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rechazados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8501" y="4896358"/>
            <a:ext cx="1659889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4125" algn="l"/>
              </a:tabLst>
            </a:pPr>
            <a:r>
              <a:rPr sz="2200" spc="-95" dirty="0">
                <a:latin typeface="Arial"/>
                <a:cs typeface="Arial"/>
              </a:rPr>
              <a:t>pe</a:t>
            </a:r>
            <a:r>
              <a:rPr sz="2200" spc="-100" dirty="0">
                <a:latin typeface="Arial"/>
                <a:cs typeface="Arial"/>
              </a:rPr>
              <a:t>d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35" dirty="0">
                <a:latin typeface="Arial"/>
                <a:cs typeface="Arial"/>
              </a:rPr>
              <a:t>do</a:t>
            </a:r>
            <a:r>
              <a:rPr sz="2200" spc="-114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40" dirty="0">
                <a:latin typeface="Arial"/>
                <a:cs typeface="Arial"/>
              </a:rPr>
              <a:t>por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9741" y="4561332"/>
            <a:ext cx="146748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5080" indent="-26670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79400" algn="l"/>
              </a:tabLst>
            </a:pPr>
            <a:r>
              <a:rPr sz="2200" spc="-105" dirty="0">
                <a:latin typeface="Arial"/>
                <a:cs typeface="Arial"/>
              </a:rPr>
              <a:t>Analizar  </a:t>
            </a:r>
            <a:r>
              <a:rPr sz="2200" spc="-40" dirty="0">
                <a:latin typeface="Arial"/>
                <a:cs typeface="Arial"/>
              </a:rPr>
              <a:t>“salvar”  </a:t>
            </a:r>
            <a:r>
              <a:rPr sz="2200" spc="-75" dirty="0">
                <a:latin typeface="Arial"/>
                <a:cs typeface="Arial"/>
              </a:rPr>
              <a:t>demo</a:t>
            </a:r>
            <a:r>
              <a:rPr sz="2200" spc="-85" dirty="0">
                <a:latin typeface="Arial"/>
                <a:cs typeface="Arial"/>
              </a:rPr>
              <a:t>r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d</a:t>
            </a:r>
            <a:r>
              <a:rPr sz="2200" spc="-65" dirty="0">
                <a:latin typeface="Arial"/>
                <a:cs typeface="Arial"/>
              </a:rPr>
              <a:t>o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8522" y="5232146"/>
            <a:ext cx="17811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5145" algn="l"/>
                <a:tab pos="1620520" algn="l"/>
              </a:tabLst>
            </a:pPr>
            <a:r>
              <a:rPr sz="2200" spc="-100" dirty="0">
                <a:latin typeface="Arial"/>
                <a:cs typeface="Arial"/>
              </a:rPr>
              <a:t>de	</a:t>
            </a:r>
            <a:r>
              <a:rPr sz="2200" spc="-110" dirty="0">
                <a:latin typeface="Arial"/>
                <a:cs typeface="Arial"/>
              </a:rPr>
              <a:t>c</a:t>
            </a:r>
            <a:r>
              <a:rPr sz="2200" spc="-60" dirty="0">
                <a:latin typeface="Arial"/>
                <a:cs typeface="Arial"/>
              </a:rPr>
              <a:t>l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00" dirty="0">
                <a:latin typeface="Arial"/>
                <a:cs typeface="Arial"/>
              </a:rPr>
              <a:t>e</a:t>
            </a:r>
            <a:r>
              <a:rPr sz="2200" spc="-114" dirty="0">
                <a:latin typeface="Arial"/>
                <a:cs typeface="Arial"/>
              </a:rPr>
              <a:t>n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85" dirty="0">
                <a:latin typeface="Arial"/>
                <a:cs typeface="Arial"/>
              </a:rPr>
              <a:t>es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5" dirty="0">
                <a:latin typeface="Arial"/>
                <a:cs typeface="Arial"/>
              </a:rPr>
              <a:t>o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81173" y="4561332"/>
            <a:ext cx="251714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8645" algn="l"/>
                <a:tab pos="2218055" algn="l"/>
              </a:tabLst>
            </a:pPr>
            <a:r>
              <a:rPr sz="2200" spc="-55" dirty="0">
                <a:latin typeface="Arial"/>
                <a:cs typeface="Arial"/>
              </a:rPr>
              <a:t>l</a:t>
            </a:r>
            <a:r>
              <a:rPr sz="2200" spc="-11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5" dirty="0">
                <a:latin typeface="Arial"/>
                <a:cs typeface="Arial"/>
              </a:rPr>
              <a:t>f</a:t>
            </a:r>
            <a:r>
              <a:rPr sz="2200" spc="-85" dirty="0">
                <a:latin typeface="Arial"/>
                <a:cs typeface="Arial"/>
              </a:rPr>
              <a:t>ac</a:t>
            </a:r>
            <a:r>
              <a:rPr sz="2200" spc="-60" dirty="0">
                <a:latin typeface="Arial"/>
                <a:cs typeface="Arial"/>
              </a:rPr>
              <a:t>t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20" dirty="0">
                <a:latin typeface="Arial"/>
                <a:cs typeface="Arial"/>
              </a:rPr>
              <a:t>bi</a:t>
            </a:r>
            <a:r>
              <a:rPr sz="2200" spc="-30" dirty="0">
                <a:latin typeface="Arial"/>
                <a:cs typeface="Arial"/>
              </a:rPr>
              <a:t>l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70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de</a:t>
            </a:r>
            <a:endParaRPr sz="2200">
              <a:latin typeface="Arial"/>
              <a:cs typeface="Arial"/>
            </a:endParaRPr>
          </a:p>
          <a:p>
            <a:pPr marL="2112010" marR="5080" indent="-166370" algn="r">
              <a:lnSpc>
                <a:spcPct val="100000"/>
              </a:lnSpc>
            </a:pPr>
            <a:r>
              <a:rPr sz="2200" spc="-145" dirty="0">
                <a:latin typeface="Arial"/>
                <a:cs typeface="Arial"/>
              </a:rPr>
              <a:t>pa</a:t>
            </a:r>
            <a:r>
              <a:rPr sz="2200" spc="-165" dirty="0">
                <a:latin typeface="Arial"/>
                <a:cs typeface="Arial"/>
              </a:rPr>
              <a:t>g</a:t>
            </a:r>
            <a:r>
              <a:rPr sz="2200" spc="-45" dirty="0">
                <a:latin typeface="Arial"/>
                <a:cs typeface="Arial"/>
              </a:rPr>
              <a:t>o  </a:t>
            </a:r>
            <a:r>
              <a:rPr sz="2200" spc="-40" dirty="0">
                <a:latin typeface="Arial"/>
                <a:cs typeface="Arial"/>
              </a:rPr>
              <a:t>por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6441" y="5567426"/>
            <a:ext cx="36982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14" dirty="0">
                <a:latin typeface="Arial"/>
                <a:cs typeface="Arial"/>
              </a:rPr>
              <a:t>atrasos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40" dirty="0">
                <a:latin typeface="Arial"/>
                <a:cs typeface="Arial"/>
              </a:rPr>
              <a:t>plazos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85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entrega.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57800" y="1066800"/>
            <a:ext cx="3657600" cy="25100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59908" y="3657600"/>
            <a:ext cx="3436620" cy="25016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92823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0" dirty="0"/>
              <a:t>Ventas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20" dirty="0"/>
              <a:t>Cobrar</a:t>
            </a:r>
            <a:r>
              <a:rPr spc="-41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35" dirty="0">
                <a:latin typeface="Arial"/>
                <a:cs typeface="Arial"/>
              </a:rPr>
              <a:t>I: </a:t>
            </a:r>
            <a:r>
              <a:rPr sz="1800" b="0" spc="-110" dirty="0">
                <a:latin typeface="Arial"/>
                <a:cs typeface="Arial"/>
              </a:rPr>
              <a:t>Recepción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70" dirty="0">
                <a:latin typeface="Arial"/>
                <a:cs typeface="Arial"/>
              </a:rPr>
              <a:t>aprobación </a:t>
            </a:r>
            <a:r>
              <a:rPr sz="1800" b="0" spc="-55" dirty="0">
                <a:latin typeface="Arial"/>
                <a:cs typeface="Arial"/>
              </a:rPr>
              <a:t>del pedido</a:t>
            </a:r>
            <a:r>
              <a:rPr sz="1800" b="0" spc="-17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52600" y="1066800"/>
            <a:ext cx="5791200" cy="5385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4932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r>
              <a:rPr sz="2000" b="1" spc="-4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Despacho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entrega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-1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mercadería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5115" y="20941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5115" y="3875659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5115" y="4698619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5115" y="5521604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0776" y="1049782"/>
            <a:ext cx="8188325" cy="5238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3000" spc="-325" dirty="0">
                <a:latin typeface="Arial"/>
                <a:cs typeface="Arial"/>
              </a:rPr>
              <a:t>La </a:t>
            </a:r>
            <a:r>
              <a:rPr sz="3000" spc="-135" dirty="0">
                <a:latin typeface="Arial"/>
                <a:cs typeface="Arial"/>
              </a:rPr>
              <a:t>mercadería </a:t>
            </a:r>
            <a:r>
              <a:rPr sz="3000" spc="-254" dirty="0">
                <a:latin typeface="Arial"/>
                <a:cs typeface="Arial"/>
              </a:rPr>
              <a:t>es </a:t>
            </a:r>
            <a:r>
              <a:rPr sz="3000" spc="-120" dirty="0">
                <a:latin typeface="Arial"/>
                <a:cs typeface="Arial"/>
              </a:rPr>
              <a:t>trasladada </a:t>
            </a:r>
            <a:r>
              <a:rPr sz="3000" spc="-90" dirty="0">
                <a:latin typeface="Arial"/>
                <a:cs typeface="Arial"/>
              </a:rPr>
              <a:t>del </a:t>
            </a:r>
            <a:r>
              <a:rPr sz="3000" spc="-155" dirty="0">
                <a:latin typeface="Arial"/>
                <a:cs typeface="Arial"/>
              </a:rPr>
              <a:t>almacén </a:t>
            </a:r>
            <a:r>
              <a:rPr sz="3000" spc="-105" dirty="0">
                <a:latin typeface="Arial"/>
                <a:cs typeface="Arial"/>
              </a:rPr>
              <a:t>al </a:t>
            </a:r>
            <a:r>
              <a:rPr sz="3000" spc="-150" dirty="0">
                <a:latin typeface="Arial"/>
                <a:cs typeface="Arial"/>
              </a:rPr>
              <a:t>área </a:t>
            </a:r>
            <a:r>
              <a:rPr sz="3000" spc="-140" dirty="0">
                <a:latin typeface="Arial"/>
                <a:cs typeface="Arial"/>
              </a:rPr>
              <a:t>de  </a:t>
            </a:r>
            <a:r>
              <a:rPr sz="3000" spc="-145" dirty="0">
                <a:latin typeface="Arial"/>
                <a:cs typeface="Arial"/>
              </a:rPr>
              <a:t>Expedición.</a:t>
            </a:r>
            <a:endParaRPr sz="30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3000" spc="-140" dirty="0">
                <a:latin typeface="Arial"/>
                <a:cs typeface="Arial"/>
              </a:rPr>
              <a:t>Aquí, </a:t>
            </a:r>
            <a:r>
              <a:rPr sz="3000" spc="-155" dirty="0">
                <a:latin typeface="Arial"/>
                <a:cs typeface="Arial"/>
              </a:rPr>
              <a:t>Expedición </a:t>
            </a:r>
            <a:r>
              <a:rPr sz="3000" spc="-80" dirty="0">
                <a:latin typeface="Arial"/>
                <a:cs typeface="Arial"/>
              </a:rPr>
              <a:t>verifica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75" dirty="0">
                <a:latin typeface="Arial"/>
                <a:cs typeface="Arial"/>
              </a:rPr>
              <a:t>integridad </a:t>
            </a:r>
            <a:r>
              <a:rPr sz="3000" spc="-90" dirty="0">
                <a:latin typeface="Arial"/>
                <a:cs typeface="Arial"/>
              </a:rPr>
              <a:t>del </a:t>
            </a:r>
            <a:r>
              <a:rPr sz="3000" spc="-80" dirty="0">
                <a:latin typeface="Arial"/>
                <a:cs typeface="Arial"/>
              </a:rPr>
              <a:t>contenido 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85" dirty="0">
                <a:latin typeface="Arial"/>
                <a:cs typeface="Arial"/>
              </a:rPr>
              <a:t>orden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165" dirty="0">
                <a:latin typeface="Arial"/>
                <a:cs typeface="Arial"/>
              </a:rPr>
              <a:t>despachar </a:t>
            </a:r>
            <a:r>
              <a:rPr sz="3000" spc="-105" dirty="0">
                <a:latin typeface="Arial"/>
                <a:cs typeface="Arial"/>
              </a:rPr>
              <a:t>al </a:t>
            </a:r>
            <a:r>
              <a:rPr sz="3000" spc="-114" dirty="0">
                <a:latin typeface="Arial"/>
                <a:cs typeface="Arial"/>
              </a:rPr>
              <a:t>Cliente, </a:t>
            </a:r>
            <a:r>
              <a:rPr sz="3000" spc="-135" dirty="0">
                <a:latin typeface="Arial"/>
                <a:cs typeface="Arial"/>
              </a:rPr>
              <a:t>para </a:t>
            </a:r>
            <a:r>
              <a:rPr sz="3000" spc="-125" dirty="0">
                <a:latin typeface="Arial"/>
                <a:cs typeface="Arial"/>
              </a:rPr>
              <a:t>que </a:t>
            </a:r>
            <a:r>
              <a:rPr sz="3000" spc="-114" dirty="0">
                <a:latin typeface="Arial"/>
                <a:cs typeface="Arial"/>
              </a:rPr>
              <a:t>luego,  Repartición</a:t>
            </a:r>
            <a:r>
              <a:rPr sz="3000" spc="600" dirty="0">
                <a:latin typeface="Arial"/>
                <a:cs typeface="Arial"/>
              </a:rPr>
              <a:t> </a:t>
            </a:r>
            <a:r>
              <a:rPr sz="3000" spc="-35" dirty="0">
                <a:latin typeface="Arial"/>
                <a:cs typeface="Arial"/>
              </a:rPr>
              <a:t>lo </a:t>
            </a:r>
            <a:r>
              <a:rPr sz="3000" spc="-100" dirty="0">
                <a:latin typeface="Arial"/>
                <a:cs typeface="Arial"/>
              </a:rPr>
              <a:t>entregue </a:t>
            </a:r>
            <a:r>
              <a:rPr sz="3000" spc="-105" dirty="0">
                <a:latin typeface="Arial"/>
                <a:cs typeface="Arial"/>
              </a:rPr>
              <a:t>al </a:t>
            </a:r>
            <a:r>
              <a:rPr sz="3000" spc="-120" dirty="0">
                <a:latin typeface="Arial"/>
                <a:cs typeface="Arial"/>
              </a:rPr>
              <a:t>Cliente </a:t>
            </a:r>
            <a:r>
              <a:rPr sz="3000" spc="-140" dirty="0">
                <a:latin typeface="Arial"/>
                <a:cs typeface="Arial"/>
              </a:rPr>
              <a:t>en  </a:t>
            </a:r>
            <a:r>
              <a:rPr sz="3000" spc="-50" dirty="0">
                <a:latin typeface="Arial"/>
                <a:cs typeface="Arial"/>
              </a:rPr>
              <a:t>tiempo </a:t>
            </a:r>
            <a:r>
              <a:rPr sz="3000" spc="-145" dirty="0">
                <a:latin typeface="Arial"/>
                <a:cs typeface="Arial"/>
              </a:rPr>
              <a:t>y  </a:t>
            </a:r>
            <a:r>
              <a:rPr sz="3000" spc="-60" dirty="0">
                <a:latin typeface="Arial"/>
                <a:cs typeface="Arial"/>
              </a:rPr>
              <a:t>forma;</a:t>
            </a:r>
            <a:endParaRPr sz="3000">
              <a:latin typeface="Arial"/>
              <a:cs typeface="Arial"/>
            </a:endParaRPr>
          </a:p>
          <a:p>
            <a:pPr marL="12700" marR="5080" algn="just">
              <a:lnSpc>
                <a:spcPts val="3240"/>
              </a:lnSpc>
              <a:spcBef>
                <a:spcPts val="50"/>
              </a:spcBef>
            </a:pPr>
            <a:r>
              <a:rPr sz="3000" spc="-204" dirty="0">
                <a:latin typeface="Arial"/>
                <a:cs typeface="Arial"/>
              </a:rPr>
              <a:t>Luego, </a:t>
            </a:r>
            <a:r>
              <a:rPr sz="3000" spc="-114" dirty="0">
                <a:latin typeface="Arial"/>
                <a:cs typeface="Arial"/>
              </a:rPr>
              <a:t>Repartición </a:t>
            </a:r>
            <a:r>
              <a:rPr sz="3000" spc="-125" dirty="0">
                <a:latin typeface="Arial"/>
                <a:cs typeface="Arial"/>
              </a:rPr>
              <a:t>entrega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95" dirty="0">
                <a:latin typeface="Arial"/>
                <a:cs typeface="Arial"/>
              </a:rPr>
              <a:t>pedido </a:t>
            </a:r>
            <a:r>
              <a:rPr sz="3000" spc="-105" dirty="0">
                <a:latin typeface="Arial"/>
                <a:cs typeface="Arial"/>
              </a:rPr>
              <a:t>al </a:t>
            </a:r>
            <a:r>
              <a:rPr sz="3000" spc="-125" dirty="0">
                <a:latin typeface="Arial"/>
                <a:cs typeface="Arial"/>
              </a:rPr>
              <a:t>Cliente,  </a:t>
            </a:r>
            <a:r>
              <a:rPr sz="3000" spc="-25" dirty="0">
                <a:latin typeface="Arial"/>
                <a:cs typeface="Arial"/>
              </a:rPr>
              <a:t>junto </a:t>
            </a:r>
            <a:r>
              <a:rPr sz="3000" spc="-150" dirty="0">
                <a:latin typeface="Arial"/>
                <a:cs typeface="Arial"/>
              </a:rPr>
              <a:t>con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35" dirty="0">
                <a:latin typeface="Arial"/>
                <a:cs typeface="Arial"/>
              </a:rPr>
              <a:t>remito </a:t>
            </a:r>
            <a:r>
              <a:rPr sz="3000" spc="-125" dirty="0">
                <a:latin typeface="Arial"/>
                <a:cs typeface="Arial"/>
              </a:rPr>
              <a:t>que </a:t>
            </a:r>
            <a:r>
              <a:rPr sz="3000" spc="-145" dirty="0">
                <a:latin typeface="Arial"/>
                <a:cs typeface="Arial"/>
              </a:rPr>
              <a:t>respalda </a:t>
            </a:r>
            <a:r>
              <a:rPr sz="3000" spc="-105" dirty="0">
                <a:latin typeface="Arial"/>
                <a:cs typeface="Arial"/>
              </a:rPr>
              <a:t>la</a:t>
            </a:r>
            <a:r>
              <a:rPr sz="3000" spc="-595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operación.</a:t>
            </a:r>
            <a:endParaRPr sz="3000">
              <a:latin typeface="Arial"/>
              <a:cs typeface="Arial"/>
            </a:endParaRPr>
          </a:p>
          <a:p>
            <a:pPr marL="12700" marR="5080" algn="just">
              <a:lnSpc>
                <a:spcPts val="3240"/>
              </a:lnSpc>
            </a:pPr>
            <a:r>
              <a:rPr sz="3000" spc="-260" dirty="0">
                <a:latin typeface="Arial"/>
                <a:cs typeface="Arial"/>
              </a:rPr>
              <a:t>El </a:t>
            </a:r>
            <a:r>
              <a:rPr sz="3000" spc="-130" dirty="0">
                <a:latin typeface="Arial"/>
                <a:cs typeface="Arial"/>
              </a:rPr>
              <a:t>Cliente </a:t>
            </a:r>
            <a:r>
              <a:rPr sz="3000" spc="-80" dirty="0">
                <a:latin typeface="Arial"/>
                <a:cs typeface="Arial"/>
              </a:rPr>
              <a:t>controla el </a:t>
            </a:r>
            <a:r>
              <a:rPr sz="3000" spc="-95" dirty="0">
                <a:latin typeface="Arial"/>
                <a:cs typeface="Arial"/>
              </a:rPr>
              <a:t>pedido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40" dirty="0">
                <a:latin typeface="Arial"/>
                <a:cs typeface="Arial"/>
              </a:rPr>
              <a:t>firma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35" dirty="0">
                <a:latin typeface="Arial"/>
                <a:cs typeface="Arial"/>
              </a:rPr>
              <a:t>remito  </a:t>
            </a:r>
            <a:r>
              <a:rPr sz="3000" spc="-114" dirty="0">
                <a:latin typeface="Arial"/>
                <a:cs typeface="Arial"/>
              </a:rPr>
              <a:t>perfeccionando </a:t>
            </a:r>
            <a:r>
              <a:rPr sz="3000" spc="-105" dirty="0">
                <a:latin typeface="Arial"/>
                <a:cs typeface="Arial"/>
              </a:rPr>
              <a:t>la</a:t>
            </a:r>
            <a:r>
              <a:rPr sz="3000" spc="-220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operación.</a:t>
            </a:r>
            <a:endParaRPr sz="3000">
              <a:latin typeface="Arial"/>
              <a:cs typeface="Arial"/>
            </a:endParaRPr>
          </a:p>
          <a:p>
            <a:pPr marL="12700" marR="7620" algn="just">
              <a:lnSpc>
                <a:spcPts val="3240"/>
              </a:lnSpc>
            </a:pPr>
            <a:r>
              <a:rPr sz="3000" spc="-120" dirty="0">
                <a:latin typeface="Arial"/>
                <a:cs typeface="Arial"/>
              </a:rPr>
              <a:t>Finalmente, </a:t>
            </a:r>
            <a:r>
              <a:rPr sz="3000" spc="-155" dirty="0">
                <a:latin typeface="Arial"/>
                <a:cs typeface="Arial"/>
              </a:rPr>
              <a:t>Expedición </a:t>
            </a:r>
            <a:r>
              <a:rPr sz="3000" spc="-60" dirty="0">
                <a:latin typeface="Arial"/>
                <a:cs typeface="Arial"/>
              </a:rPr>
              <a:t>rinde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125" dirty="0">
                <a:latin typeface="Arial"/>
                <a:cs typeface="Arial"/>
              </a:rPr>
              <a:t>entrega </a:t>
            </a:r>
            <a:r>
              <a:rPr sz="3000" spc="-140" dirty="0">
                <a:latin typeface="Arial"/>
                <a:cs typeface="Arial"/>
              </a:rPr>
              <a:t>como  </a:t>
            </a:r>
            <a:r>
              <a:rPr sz="3000" spc="-110" dirty="0">
                <a:latin typeface="Arial"/>
                <a:cs typeface="Arial"/>
              </a:rPr>
              <a:t>finalizada.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541" y="193801"/>
            <a:ext cx="8535670" cy="454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r>
              <a:rPr sz="2000" b="1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Despacho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entrega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mercadería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</a:pPr>
            <a:r>
              <a:rPr sz="3000" b="1" spc="-160" dirty="0">
                <a:latin typeface="Trebuchet MS"/>
                <a:cs typeface="Trebuchet MS"/>
              </a:rPr>
              <a:t>Controles</a:t>
            </a:r>
            <a:r>
              <a:rPr sz="3000" b="1" spc="-229" dirty="0">
                <a:latin typeface="Trebuchet MS"/>
                <a:cs typeface="Trebuchet MS"/>
              </a:rPr>
              <a:t> </a:t>
            </a:r>
            <a:r>
              <a:rPr sz="3000" b="1" spc="-160" dirty="0">
                <a:latin typeface="Trebuchet MS"/>
                <a:cs typeface="Trebuchet MS"/>
              </a:rPr>
              <a:t>instrumentados:</a:t>
            </a:r>
            <a:endParaRPr sz="3000">
              <a:latin typeface="Trebuchet MS"/>
              <a:cs typeface="Trebuchet MS"/>
            </a:endParaRPr>
          </a:p>
          <a:p>
            <a:pPr marL="279400" indent="-266700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b="1" spc="-130" dirty="0">
                <a:latin typeface="Trebuchet MS"/>
                <a:cs typeface="Trebuchet MS"/>
              </a:rPr>
              <a:t>Emisión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45" dirty="0">
                <a:latin typeface="Trebuchet MS"/>
                <a:cs typeface="Trebuchet MS"/>
              </a:rPr>
              <a:t>remitos </a:t>
            </a:r>
            <a:r>
              <a:rPr sz="2600" b="1" spc="-160" dirty="0">
                <a:latin typeface="Trebuchet MS"/>
                <a:cs typeface="Trebuchet MS"/>
              </a:rPr>
              <a:t>y </a:t>
            </a:r>
            <a:r>
              <a:rPr sz="2600" b="1" spc="-145" dirty="0">
                <a:latin typeface="Trebuchet MS"/>
                <a:cs typeface="Trebuchet MS"/>
              </a:rPr>
              <a:t>Órdenes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90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expedición</a:t>
            </a:r>
            <a:endParaRPr sz="2600">
              <a:latin typeface="Trebuchet MS"/>
              <a:cs typeface="Trebuchet MS"/>
            </a:endParaRPr>
          </a:p>
          <a:p>
            <a:pPr marL="736600" lvl="1" indent="-266700">
              <a:lnSpc>
                <a:spcPts val="263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20" dirty="0">
                <a:latin typeface="Arial"/>
                <a:cs typeface="Arial"/>
              </a:rPr>
              <a:t>Deberán </a:t>
            </a:r>
            <a:r>
              <a:rPr sz="2200" spc="-85" dirty="0">
                <a:latin typeface="Arial"/>
                <a:cs typeface="Arial"/>
              </a:rPr>
              <a:t>estar</a:t>
            </a:r>
            <a:r>
              <a:rPr sz="2200" spc="-14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pre-numerados.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11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80" dirty="0">
                <a:latin typeface="Trebuchet MS"/>
                <a:cs typeface="Trebuchet MS"/>
              </a:rPr>
              <a:t>Transporte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18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mercadería</a:t>
            </a:r>
            <a:endParaRPr sz="2600">
              <a:latin typeface="Trebuchet MS"/>
              <a:cs typeface="Trebuchet MS"/>
            </a:endParaRPr>
          </a:p>
          <a:p>
            <a:pPr marL="736600" lvl="1" indent="-266700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30" dirty="0">
                <a:latin typeface="Arial"/>
                <a:cs typeface="Arial"/>
              </a:rPr>
              <a:t>Deberá </a:t>
            </a:r>
            <a:r>
              <a:rPr sz="2200" spc="-105" dirty="0">
                <a:latin typeface="Arial"/>
                <a:cs typeface="Arial"/>
              </a:rPr>
              <a:t>celebrarse y </a:t>
            </a:r>
            <a:r>
              <a:rPr sz="2200" spc="-100" dirty="0">
                <a:latin typeface="Arial"/>
                <a:cs typeface="Arial"/>
              </a:rPr>
              <a:t>documentarse </a:t>
            </a:r>
            <a:r>
              <a:rPr sz="2200" spc="-70" dirty="0">
                <a:latin typeface="Arial"/>
                <a:cs typeface="Arial"/>
              </a:rPr>
              <a:t>un </a:t>
            </a:r>
            <a:r>
              <a:rPr sz="2200" spc="-80" dirty="0">
                <a:latin typeface="Arial"/>
                <a:cs typeface="Arial"/>
              </a:rPr>
              <a:t>Contrato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55" dirty="0">
                <a:latin typeface="Arial"/>
                <a:cs typeface="Arial"/>
              </a:rPr>
              <a:t>Seguros, 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spc="-200" dirty="0">
                <a:latin typeface="Arial"/>
                <a:cs typeface="Arial"/>
              </a:rPr>
              <a:t> </a:t>
            </a:r>
            <a:r>
              <a:rPr sz="2200" spc="-60" dirty="0">
                <a:latin typeface="Arial"/>
                <a:cs typeface="Arial"/>
              </a:rPr>
              <a:t>bien;</a:t>
            </a:r>
            <a:endParaRPr sz="2200">
              <a:latin typeface="Arial"/>
              <a:cs typeface="Arial"/>
            </a:endParaRPr>
          </a:p>
          <a:p>
            <a:pPr marL="736600" lvl="1" indent="-266700">
              <a:lnSpc>
                <a:spcPts val="263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spc="-145" dirty="0">
                <a:latin typeface="Arial"/>
                <a:cs typeface="Arial"/>
              </a:rPr>
              <a:t>Que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105" dirty="0">
                <a:latin typeface="Arial"/>
                <a:cs typeface="Arial"/>
              </a:rPr>
              <a:t>mercadería </a:t>
            </a:r>
            <a:r>
              <a:rPr sz="2200" spc="-75" dirty="0">
                <a:latin typeface="Arial"/>
                <a:cs typeface="Arial"/>
              </a:rPr>
              <a:t>viaje </a:t>
            </a:r>
            <a:r>
              <a:rPr sz="2200" spc="20" dirty="0">
                <a:latin typeface="Arial"/>
                <a:cs typeface="Arial"/>
              </a:rPr>
              <a:t>“por </a:t>
            </a:r>
            <a:r>
              <a:rPr sz="2200" spc="-90" dirty="0">
                <a:latin typeface="Arial"/>
                <a:cs typeface="Arial"/>
              </a:rPr>
              <a:t>cuenta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riesgo </a:t>
            </a:r>
            <a:r>
              <a:rPr sz="2200" spc="-60" dirty="0">
                <a:latin typeface="Arial"/>
                <a:cs typeface="Arial"/>
              </a:rPr>
              <a:t>del</a:t>
            </a:r>
            <a:r>
              <a:rPr sz="2200" spc="-400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comprador”.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11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50" dirty="0">
                <a:latin typeface="Trebuchet MS"/>
                <a:cs typeface="Trebuchet MS"/>
              </a:rPr>
              <a:t>Control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65" dirty="0">
                <a:latin typeface="Trebuchet MS"/>
                <a:cs typeface="Trebuchet MS"/>
              </a:rPr>
              <a:t>entrega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0" dirty="0">
                <a:latin typeface="Trebuchet MS"/>
                <a:cs typeface="Trebuchet MS"/>
              </a:rPr>
              <a:t>la </a:t>
            </a:r>
            <a:r>
              <a:rPr sz="2600" b="1" spc="-165" dirty="0">
                <a:latin typeface="Trebuchet MS"/>
                <a:cs typeface="Trebuchet MS"/>
              </a:rPr>
              <a:t>mercadería </a:t>
            </a:r>
            <a:r>
              <a:rPr sz="2600" b="1" spc="-130" dirty="0">
                <a:latin typeface="Trebuchet MS"/>
                <a:cs typeface="Trebuchet MS"/>
              </a:rPr>
              <a:t>solicitada por </a:t>
            </a:r>
            <a:r>
              <a:rPr sz="2600" b="1" spc="-160" dirty="0">
                <a:latin typeface="Trebuchet MS"/>
                <a:cs typeface="Trebuchet MS"/>
              </a:rPr>
              <a:t>el</a:t>
            </a:r>
            <a:r>
              <a:rPr sz="2600" b="1" spc="-450" dirty="0">
                <a:latin typeface="Trebuchet MS"/>
                <a:cs typeface="Trebuchet MS"/>
              </a:rPr>
              <a:t> </a:t>
            </a:r>
            <a:r>
              <a:rPr sz="2600" b="1" spc="-180" dirty="0">
                <a:latin typeface="Trebuchet MS"/>
                <a:cs typeface="Trebuchet MS"/>
              </a:rPr>
              <a:t>cliente</a:t>
            </a:r>
            <a:endParaRPr sz="2600">
              <a:latin typeface="Trebuchet MS"/>
              <a:cs typeface="Trebuchet MS"/>
            </a:endParaRPr>
          </a:p>
          <a:p>
            <a:pPr marL="736600" marR="5080" lvl="1" indent="-266700" algn="just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14" dirty="0">
                <a:latin typeface="Arial"/>
                <a:cs typeface="Arial"/>
              </a:rPr>
              <a:t>Expedición </a:t>
            </a:r>
            <a:r>
              <a:rPr sz="2200" spc="-60" dirty="0">
                <a:latin typeface="Arial"/>
                <a:cs typeface="Arial"/>
              </a:rPr>
              <a:t>le </a:t>
            </a:r>
            <a:r>
              <a:rPr sz="2200" spc="-105" dirty="0">
                <a:latin typeface="Arial"/>
                <a:cs typeface="Arial"/>
              </a:rPr>
              <a:t>debe </a:t>
            </a:r>
            <a:r>
              <a:rPr sz="2200" spc="-80" dirty="0">
                <a:latin typeface="Arial"/>
                <a:cs typeface="Arial"/>
              </a:rPr>
              <a:t>enviar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75" dirty="0">
                <a:latin typeface="Arial"/>
                <a:cs typeface="Arial"/>
              </a:rPr>
              <a:t>Administración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45" dirty="0">
                <a:latin typeface="Arial"/>
                <a:cs typeface="Arial"/>
              </a:rPr>
              <a:t>Ventas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100" dirty="0">
                <a:latin typeface="Arial"/>
                <a:cs typeface="Arial"/>
              </a:rPr>
              <a:t>copia </a:t>
            </a:r>
            <a:r>
              <a:rPr sz="2200" spc="-65" dirty="0">
                <a:latin typeface="Arial"/>
                <a:cs typeface="Arial"/>
              </a:rPr>
              <a:t>del  </a:t>
            </a:r>
            <a:r>
              <a:rPr sz="2200" spc="-100" dirty="0">
                <a:latin typeface="Arial"/>
                <a:cs typeface="Arial"/>
              </a:rPr>
              <a:t>Remito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20" dirty="0">
                <a:latin typeface="Arial"/>
                <a:cs typeface="Arial"/>
              </a:rPr>
              <a:t>diga </a:t>
            </a:r>
            <a:r>
              <a:rPr sz="2200" spc="-70" dirty="0">
                <a:latin typeface="Arial"/>
                <a:cs typeface="Arial"/>
              </a:rPr>
              <a:t>“Mercadería </a:t>
            </a:r>
            <a:r>
              <a:rPr sz="2200" spc="-114" dirty="0">
                <a:latin typeface="Arial"/>
                <a:cs typeface="Arial"/>
              </a:rPr>
              <a:t>Entregada”, </a:t>
            </a:r>
            <a:r>
              <a:rPr sz="2200" spc="-90" dirty="0">
                <a:latin typeface="Arial"/>
                <a:cs typeface="Arial"/>
              </a:rPr>
              <a:t>evidenciando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la  </a:t>
            </a:r>
            <a:r>
              <a:rPr sz="2200" spc="-90" dirty="0">
                <a:latin typeface="Arial"/>
                <a:cs typeface="Arial"/>
              </a:rPr>
              <a:t>entrega </a:t>
            </a:r>
            <a:r>
              <a:rPr sz="2200" spc="-50" dirty="0">
                <a:latin typeface="Arial"/>
                <a:cs typeface="Arial"/>
              </a:rPr>
              <a:t>fue</a:t>
            </a:r>
            <a:r>
              <a:rPr sz="2200" spc="-15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perfeccionada.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200" y="4733544"/>
            <a:ext cx="3438905" cy="1667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4932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0" dirty="0"/>
              <a:t>Ventas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20" dirty="0"/>
              <a:t>Cobrar</a:t>
            </a:r>
            <a:r>
              <a:rPr spc="-42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0" dirty="0">
                <a:latin typeface="Arial"/>
                <a:cs typeface="Arial"/>
              </a:rPr>
              <a:t>II: </a:t>
            </a:r>
            <a:r>
              <a:rPr sz="1800" b="0" spc="-120" dirty="0">
                <a:latin typeface="Arial"/>
                <a:cs typeface="Arial"/>
              </a:rPr>
              <a:t>Despacho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65" dirty="0">
                <a:latin typeface="Arial"/>
                <a:cs typeface="Arial"/>
              </a:rPr>
              <a:t>entrega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la</a:t>
            </a:r>
            <a:r>
              <a:rPr sz="1800" b="0" spc="-18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mercadería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45691" y="1069086"/>
            <a:ext cx="6446520" cy="5349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767016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r>
              <a:rPr sz="2000" b="1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III: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Facturación,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Registración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19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800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Seguimiento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Pedidos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5115" y="30085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0776" y="1049782"/>
            <a:ext cx="815022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000" spc="-260" dirty="0">
                <a:latin typeface="Arial"/>
                <a:cs typeface="Arial"/>
              </a:rPr>
              <a:t>El </a:t>
            </a:r>
            <a:r>
              <a:rPr sz="3000" spc="-150" dirty="0">
                <a:latin typeface="Arial"/>
                <a:cs typeface="Arial"/>
              </a:rPr>
              <a:t>área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35" dirty="0">
                <a:latin typeface="Arial"/>
                <a:cs typeface="Arial"/>
              </a:rPr>
              <a:t>Facturación </a:t>
            </a:r>
            <a:r>
              <a:rPr sz="3000" spc="-85" dirty="0">
                <a:latin typeface="Arial"/>
                <a:cs typeface="Arial"/>
              </a:rPr>
              <a:t>verifica </a:t>
            </a:r>
            <a:r>
              <a:rPr sz="3000" spc="-110" dirty="0">
                <a:latin typeface="Arial"/>
                <a:cs typeface="Arial"/>
              </a:rPr>
              <a:t>la documentación  </a:t>
            </a:r>
            <a:r>
              <a:rPr sz="3000" spc="-70" dirty="0">
                <a:latin typeface="Arial"/>
                <a:cs typeface="Arial"/>
              </a:rPr>
              <a:t>resultante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120" dirty="0">
                <a:latin typeface="Arial"/>
                <a:cs typeface="Arial"/>
              </a:rPr>
              <a:t>transacción </a:t>
            </a:r>
            <a:r>
              <a:rPr sz="3000" spc="-145" dirty="0">
                <a:latin typeface="Arial"/>
                <a:cs typeface="Arial"/>
              </a:rPr>
              <a:t>(Remitos </a:t>
            </a:r>
            <a:r>
              <a:rPr sz="3000" spc="-90" dirty="0">
                <a:latin typeface="Arial"/>
                <a:cs typeface="Arial"/>
              </a:rPr>
              <a:t>firmados </a:t>
            </a:r>
            <a:r>
              <a:rPr sz="3000" spc="-45" dirty="0">
                <a:latin typeface="Arial"/>
                <a:cs typeface="Arial"/>
              </a:rPr>
              <a:t>por 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114" dirty="0">
                <a:latin typeface="Arial"/>
                <a:cs typeface="Arial"/>
              </a:rPr>
              <a:t>Cliente)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120" dirty="0">
                <a:latin typeface="Arial"/>
                <a:cs typeface="Arial"/>
              </a:rPr>
              <a:t>procede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110" dirty="0">
                <a:latin typeface="Arial"/>
                <a:cs typeface="Arial"/>
              </a:rPr>
              <a:t>la emisión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55" dirty="0">
                <a:latin typeface="Arial"/>
                <a:cs typeface="Arial"/>
              </a:rPr>
              <a:t>Factura  </a:t>
            </a:r>
            <a:r>
              <a:rPr sz="3000" spc="-160" dirty="0">
                <a:latin typeface="Arial"/>
                <a:cs typeface="Arial"/>
              </a:rPr>
              <a:t>(</a:t>
            </a:r>
            <a:r>
              <a:rPr sz="3000" b="1" spc="-160" dirty="0">
                <a:latin typeface="Trebuchet MS"/>
                <a:cs typeface="Trebuchet MS"/>
              </a:rPr>
              <a:t>Cuentas </a:t>
            </a:r>
            <a:r>
              <a:rPr sz="3000" b="1" spc="-120" dirty="0">
                <a:latin typeface="Trebuchet MS"/>
                <a:cs typeface="Trebuchet MS"/>
              </a:rPr>
              <a:t>a</a:t>
            </a:r>
            <a:r>
              <a:rPr sz="3000" b="1" spc="-305" dirty="0">
                <a:latin typeface="Trebuchet MS"/>
                <a:cs typeface="Trebuchet MS"/>
              </a:rPr>
              <a:t> </a:t>
            </a:r>
            <a:r>
              <a:rPr sz="3000" b="1" spc="-145" dirty="0">
                <a:latin typeface="Trebuchet MS"/>
                <a:cs typeface="Trebuchet MS"/>
              </a:rPr>
              <a:t>Cobrar</a:t>
            </a:r>
            <a:r>
              <a:rPr sz="3000" spc="-145" dirty="0">
                <a:latin typeface="Arial"/>
                <a:cs typeface="Arial"/>
              </a:rPr>
              <a:t>);</a:t>
            </a:r>
            <a:endParaRPr sz="3000">
              <a:latin typeface="Arial"/>
              <a:cs typeface="Arial"/>
            </a:endParaRPr>
          </a:p>
          <a:p>
            <a:pPr marL="12700" marR="5715" algn="just">
              <a:lnSpc>
                <a:spcPct val="100000"/>
              </a:lnSpc>
            </a:pPr>
            <a:r>
              <a:rPr sz="3000" spc="-90" dirty="0">
                <a:latin typeface="Arial"/>
                <a:cs typeface="Arial"/>
              </a:rPr>
              <a:t>Posteriormente,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55" dirty="0">
                <a:latin typeface="Arial"/>
                <a:cs typeface="Arial"/>
              </a:rPr>
              <a:t>Factura </a:t>
            </a:r>
            <a:r>
              <a:rPr sz="3000" spc="-254" dirty="0">
                <a:latin typeface="Arial"/>
                <a:cs typeface="Arial"/>
              </a:rPr>
              <a:t>es </a:t>
            </a:r>
            <a:r>
              <a:rPr sz="3000" spc="-105" dirty="0">
                <a:latin typeface="Arial"/>
                <a:cs typeface="Arial"/>
              </a:rPr>
              <a:t>registrada </a:t>
            </a:r>
            <a:r>
              <a:rPr sz="3000" spc="-45" dirty="0">
                <a:latin typeface="Arial"/>
                <a:cs typeface="Arial"/>
              </a:rPr>
              <a:t>por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150" dirty="0">
                <a:latin typeface="Arial"/>
                <a:cs typeface="Arial"/>
              </a:rPr>
              <a:t>área 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10" dirty="0">
                <a:latin typeface="Arial"/>
                <a:cs typeface="Arial"/>
              </a:rPr>
              <a:t>Contabilidad. </a:t>
            </a:r>
            <a:r>
              <a:rPr sz="3000" spc="-125" dirty="0">
                <a:latin typeface="Arial"/>
                <a:cs typeface="Arial"/>
              </a:rPr>
              <a:t>Paralelamente, </a:t>
            </a:r>
            <a:r>
              <a:rPr sz="3000" spc="-100" dirty="0">
                <a:latin typeface="Arial"/>
                <a:cs typeface="Arial"/>
              </a:rPr>
              <a:t>Administración </a:t>
            </a:r>
            <a:r>
              <a:rPr sz="3000" spc="-140" dirty="0">
                <a:latin typeface="Arial"/>
                <a:cs typeface="Arial"/>
              </a:rPr>
              <a:t>de  </a:t>
            </a:r>
            <a:r>
              <a:rPr sz="3000" spc="-200" dirty="0">
                <a:latin typeface="Arial"/>
                <a:cs typeface="Arial"/>
              </a:rPr>
              <a:t>Ventas </a:t>
            </a:r>
            <a:r>
              <a:rPr sz="3000" spc="-80" dirty="0">
                <a:latin typeface="Arial"/>
                <a:cs typeface="Arial"/>
              </a:rPr>
              <a:t>monitoreará el </a:t>
            </a:r>
            <a:r>
              <a:rPr sz="3000" spc="-110" dirty="0">
                <a:latin typeface="Arial"/>
                <a:cs typeface="Arial"/>
              </a:rPr>
              <a:t>seguimiento </a:t>
            </a:r>
            <a:r>
              <a:rPr sz="3000" spc="-140" dirty="0">
                <a:latin typeface="Arial"/>
                <a:cs typeface="Arial"/>
              </a:rPr>
              <a:t>de  </a:t>
            </a:r>
            <a:r>
              <a:rPr sz="3000" spc="-130" dirty="0">
                <a:latin typeface="Arial"/>
                <a:cs typeface="Arial"/>
              </a:rPr>
              <a:t>pedidos  </a:t>
            </a:r>
            <a:r>
              <a:rPr sz="3000" spc="-114" dirty="0">
                <a:latin typeface="Arial"/>
                <a:cs typeface="Arial"/>
              </a:rPr>
              <a:t>pendientes </a:t>
            </a:r>
            <a:r>
              <a:rPr sz="3000" spc="-135" dirty="0">
                <a:latin typeface="Arial"/>
                <a:cs typeface="Arial"/>
              </a:rPr>
              <a:t>de</a:t>
            </a:r>
            <a:r>
              <a:rPr sz="3000" spc="-245" dirty="0">
                <a:latin typeface="Arial"/>
                <a:cs typeface="Arial"/>
              </a:rPr>
              <a:t> </a:t>
            </a:r>
            <a:r>
              <a:rPr sz="3000" spc="-70" dirty="0">
                <a:latin typeface="Arial"/>
                <a:cs typeface="Arial"/>
              </a:rPr>
              <a:t>cumplimiento.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8357234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r>
              <a:rPr sz="2000" b="1" spc="-4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III: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Facturación,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Registración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195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800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Seguimiento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Pedidos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2541" y="1049782"/>
            <a:ext cx="8536940" cy="5031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latin typeface="Trebuchet MS"/>
                <a:cs typeface="Trebuchet MS"/>
              </a:rPr>
              <a:t>Controles</a:t>
            </a:r>
            <a:r>
              <a:rPr sz="3000" b="1" spc="-229" dirty="0">
                <a:latin typeface="Trebuchet MS"/>
                <a:cs typeface="Trebuchet MS"/>
              </a:rPr>
              <a:t> </a:t>
            </a:r>
            <a:r>
              <a:rPr sz="3000" b="1" spc="-160" dirty="0">
                <a:latin typeface="Trebuchet MS"/>
                <a:cs typeface="Trebuchet MS"/>
              </a:rPr>
              <a:t>instrumentados:</a:t>
            </a:r>
            <a:endParaRPr sz="3000">
              <a:latin typeface="Trebuchet MS"/>
              <a:cs typeface="Trebuchet MS"/>
            </a:endParaRPr>
          </a:p>
          <a:p>
            <a:pPr marL="279400" indent="-2667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b="1" spc="-180" dirty="0">
                <a:latin typeface="Trebuchet MS"/>
                <a:cs typeface="Trebuchet MS"/>
              </a:rPr>
              <a:t>Facturación</a:t>
            </a:r>
            <a:endParaRPr sz="2600">
              <a:latin typeface="Trebuchet MS"/>
              <a:cs typeface="Trebuchet MS"/>
            </a:endParaRPr>
          </a:p>
          <a:p>
            <a:pPr marL="736600" marR="6985" lvl="1" indent="-266700" algn="just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75" dirty="0">
                <a:latin typeface="Arial"/>
                <a:cs typeface="Arial"/>
              </a:rPr>
              <a:t>Verificar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60" dirty="0">
                <a:latin typeface="Arial"/>
                <a:cs typeface="Arial"/>
              </a:rPr>
              <a:t>facture </a:t>
            </a:r>
            <a:r>
              <a:rPr sz="2200" spc="-90" dirty="0">
                <a:latin typeface="Arial"/>
                <a:cs typeface="Arial"/>
              </a:rPr>
              <a:t>solamente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05" dirty="0">
                <a:latin typeface="Arial"/>
                <a:cs typeface="Arial"/>
              </a:rPr>
              <a:t>mercadería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50" dirty="0">
                <a:latin typeface="Arial"/>
                <a:cs typeface="Arial"/>
              </a:rPr>
              <a:t>fue  </a:t>
            </a:r>
            <a:r>
              <a:rPr sz="2200" spc="-75" dirty="0">
                <a:latin typeface="Arial"/>
                <a:cs typeface="Arial"/>
              </a:rPr>
              <a:t>efectivamente</a:t>
            </a:r>
            <a:r>
              <a:rPr sz="2200" spc="-14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entregada;</a:t>
            </a:r>
            <a:endParaRPr sz="2200">
              <a:latin typeface="Arial"/>
              <a:cs typeface="Arial"/>
            </a:endParaRPr>
          </a:p>
          <a:p>
            <a:pPr marL="736600" marR="6985" lvl="1" indent="-266700" algn="just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spc="-75" dirty="0">
                <a:latin typeface="Arial"/>
                <a:cs typeface="Arial"/>
              </a:rPr>
              <a:t>Controlar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90" dirty="0">
                <a:latin typeface="Arial"/>
                <a:cs typeface="Arial"/>
              </a:rPr>
              <a:t>facturas </a:t>
            </a:r>
            <a:r>
              <a:rPr sz="2200" spc="-95" dirty="0">
                <a:latin typeface="Arial"/>
                <a:cs typeface="Arial"/>
              </a:rPr>
              <a:t>estén </a:t>
            </a:r>
            <a:r>
              <a:rPr sz="2200" spc="-100" dirty="0">
                <a:latin typeface="Arial"/>
                <a:cs typeface="Arial"/>
              </a:rPr>
              <a:t>pre-numeradas </a:t>
            </a:r>
            <a:r>
              <a:rPr sz="2200" spc="-90" dirty="0">
                <a:latin typeface="Arial"/>
                <a:cs typeface="Arial"/>
              </a:rPr>
              <a:t>(y </a:t>
            </a:r>
            <a:r>
              <a:rPr sz="2200" spc="-105" dirty="0">
                <a:latin typeface="Arial"/>
                <a:cs typeface="Arial"/>
              </a:rPr>
              <a:t>adecuadamente  </a:t>
            </a:r>
            <a:r>
              <a:rPr sz="2200" spc="-90" dirty="0">
                <a:latin typeface="Arial"/>
                <a:cs typeface="Arial"/>
              </a:rPr>
              <a:t>membretadas).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1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60" dirty="0">
                <a:latin typeface="Trebuchet MS"/>
                <a:cs typeface="Trebuchet MS"/>
              </a:rPr>
              <a:t>Precios y </a:t>
            </a:r>
            <a:r>
              <a:rPr sz="2600" b="1" spc="-150" dirty="0">
                <a:latin typeface="Trebuchet MS"/>
                <a:cs typeface="Trebuchet MS"/>
              </a:rPr>
              <a:t>Condiciones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Venta</a:t>
            </a:r>
            <a:endParaRPr sz="2600">
              <a:latin typeface="Trebuchet MS"/>
              <a:cs typeface="Trebuchet MS"/>
            </a:endParaRPr>
          </a:p>
          <a:p>
            <a:pPr marL="73660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05" dirty="0">
                <a:latin typeface="Arial"/>
                <a:cs typeface="Arial"/>
              </a:rPr>
              <a:t>Contar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100" dirty="0">
                <a:latin typeface="Arial"/>
                <a:cs typeface="Arial"/>
              </a:rPr>
              <a:t>única </a:t>
            </a:r>
            <a:r>
              <a:rPr sz="2200" spc="-65" dirty="0">
                <a:latin typeface="Arial"/>
                <a:cs typeface="Arial"/>
              </a:rPr>
              <a:t>lista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precios</a:t>
            </a:r>
            <a:r>
              <a:rPr sz="2200" spc="-300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actualizada;</a:t>
            </a:r>
            <a:endParaRPr sz="2200">
              <a:latin typeface="Arial"/>
              <a:cs typeface="Arial"/>
            </a:endParaRPr>
          </a:p>
          <a:p>
            <a:pPr marL="736600" marR="6985" lvl="1" indent="-266700" algn="just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spc="-100" dirty="0">
                <a:latin typeface="Arial"/>
                <a:cs typeface="Arial"/>
              </a:rPr>
              <a:t>Gestionar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75" dirty="0">
                <a:latin typeface="Arial"/>
                <a:cs typeface="Arial"/>
              </a:rPr>
              <a:t>documentar </a:t>
            </a:r>
            <a:r>
              <a:rPr sz="2200" spc="-105" dirty="0">
                <a:latin typeface="Arial"/>
                <a:cs typeface="Arial"/>
              </a:rPr>
              <a:t>adecuadamente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85" dirty="0">
                <a:latin typeface="Arial"/>
                <a:cs typeface="Arial"/>
              </a:rPr>
              <a:t>bonificaciones </a:t>
            </a:r>
            <a:r>
              <a:rPr sz="2200" spc="-105" dirty="0">
                <a:latin typeface="Arial"/>
                <a:cs typeface="Arial"/>
              </a:rPr>
              <a:t>y  </a:t>
            </a:r>
            <a:r>
              <a:rPr sz="2200" spc="-110" dirty="0">
                <a:latin typeface="Arial"/>
                <a:cs typeface="Arial"/>
              </a:rPr>
              <a:t>descuentos,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75" dirty="0">
                <a:latin typeface="Arial"/>
                <a:cs typeface="Arial"/>
              </a:rPr>
              <a:t>vez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40" dirty="0">
                <a:latin typeface="Arial"/>
                <a:cs typeface="Arial"/>
              </a:rPr>
              <a:t>tener </a:t>
            </a:r>
            <a:r>
              <a:rPr sz="2200" spc="-114" dirty="0">
                <a:latin typeface="Arial"/>
                <a:cs typeface="Arial"/>
              </a:rPr>
              <a:t>varias </a:t>
            </a:r>
            <a:r>
              <a:rPr sz="2200" spc="-95" dirty="0">
                <a:latin typeface="Arial"/>
                <a:cs typeface="Arial"/>
              </a:rPr>
              <a:t>listas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29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precios.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1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50" dirty="0">
                <a:latin typeface="Trebuchet MS"/>
                <a:cs typeface="Trebuchet MS"/>
              </a:rPr>
              <a:t>Control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30" dirty="0">
                <a:latin typeface="Trebuchet MS"/>
                <a:cs typeface="Trebuchet MS"/>
              </a:rPr>
              <a:t>Gestión </a:t>
            </a:r>
            <a:r>
              <a:rPr sz="2600" b="1" spc="-140" dirty="0">
                <a:latin typeface="Trebuchet MS"/>
                <a:cs typeface="Trebuchet MS"/>
              </a:rPr>
              <a:t>sobre </a:t>
            </a:r>
            <a:r>
              <a:rPr sz="2600" b="1" spc="-120" dirty="0">
                <a:latin typeface="Trebuchet MS"/>
                <a:cs typeface="Trebuchet MS"/>
              </a:rPr>
              <a:t>la</a:t>
            </a:r>
            <a:r>
              <a:rPr sz="2600" b="1" spc="-360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facturación</a:t>
            </a:r>
            <a:endParaRPr sz="2600">
              <a:latin typeface="Trebuchet MS"/>
              <a:cs typeface="Trebuchet MS"/>
            </a:endParaRPr>
          </a:p>
          <a:p>
            <a:pPr marL="736600" marR="5080" lvl="1" indent="-266700" algn="just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10" dirty="0">
                <a:latin typeface="Arial"/>
                <a:cs typeface="Arial"/>
              </a:rPr>
              <a:t>Contaduría </a:t>
            </a:r>
            <a:r>
              <a:rPr sz="2200" spc="-105" dirty="0">
                <a:latin typeface="Arial"/>
                <a:cs typeface="Arial"/>
              </a:rPr>
              <a:t>debe </a:t>
            </a:r>
            <a:r>
              <a:rPr sz="2200" spc="-80" dirty="0">
                <a:latin typeface="Arial"/>
                <a:cs typeface="Arial"/>
              </a:rPr>
              <a:t>correlacionar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60" dirty="0">
                <a:latin typeface="Arial"/>
                <a:cs typeface="Arial"/>
              </a:rPr>
              <a:t>remitos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90" dirty="0">
                <a:latin typeface="Arial"/>
                <a:cs typeface="Arial"/>
              </a:rPr>
              <a:t>facturas </a:t>
            </a:r>
            <a:r>
              <a:rPr sz="2200" spc="-50" dirty="0">
                <a:latin typeface="Arial"/>
                <a:cs typeface="Arial"/>
              </a:rPr>
              <a:t>(evitar  </a:t>
            </a:r>
            <a:r>
              <a:rPr sz="2200" spc="-130" dirty="0">
                <a:latin typeface="Arial"/>
                <a:cs typeface="Arial"/>
              </a:rPr>
              <a:t>salidas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0" dirty="0">
                <a:latin typeface="Arial"/>
                <a:cs typeface="Arial"/>
              </a:rPr>
              <a:t>mercaderías </a:t>
            </a:r>
            <a:r>
              <a:rPr sz="2200" spc="-70" dirty="0">
                <a:latin typeface="Arial"/>
                <a:cs typeface="Arial"/>
              </a:rPr>
              <a:t>no </a:t>
            </a:r>
            <a:r>
              <a:rPr sz="2200" spc="-95" dirty="0">
                <a:latin typeface="Arial"/>
                <a:cs typeface="Arial"/>
              </a:rPr>
              <a:t>facturadas </a:t>
            </a:r>
            <a:r>
              <a:rPr sz="2200" spc="-65" dirty="0">
                <a:latin typeface="Arial"/>
                <a:cs typeface="Arial"/>
              </a:rPr>
              <a:t>o </a:t>
            </a:r>
            <a:r>
              <a:rPr sz="2200" spc="-70" dirty="0">
                <a:latin typeface="Arial"/>
                <a:cs typeface="Arial"/>
              </a:rPr>
              <a:t>distintas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05" dirty="0">
                <a:latin typeface="Arial"/>
                <a:cs typeface="Arial"/>
              </a:rPr>
              <a:t>cantidades  </a:t>
            </a:r>
            <a:r>
              <a:rPr sz="2200" spc="-90" dirty="0">
                <a:latin typeface="Arial"/>
                <a:cs typeface="Arial"/>
              </a:rPr>
              <a:t>facturadas).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8357234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0" dirty="0"/>
              <a:t>Ventas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20" dirty="0"/>
              <a:t>Cobrar</a:t>
            </a:r>
            <a:r>
              <a:rPr spc="-40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0" dirty="0">
                <a:latin typeface="Arial"/>
                <a:cs typeface="Arial"/>
              </a:rPr>
              <a:t>III: </a:t>
            </a:r>
            <a:r>
              <a:rPr sz="1800" b="0" spc="-80" dirty="0">
                <a:latin typeface="Arial"/>
                <a:cs typeface="Arial"/>
              </a:rPr>
              <a:t>Facturación, </a:t>
            </a:r>
            <a:r>
              <a:rPr sz="1800" b="0" spc="-85" dirty="0">
                <a:latin typeface="Arial"/>
                <a:cs typeface="Arial"/>
              </a:rPr>
              <a:t>Registración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5" dirty="0">
                <a:latin typeface="Arial"/>
                <a:cs typeface="Arial"/>
              </a:rPr>
              <a:t>Control </a:t>
            </a:r>
            <a:r>
              <a:rPr sz="1800" b="0" spc="195" dirty="0">
                <a:latin typeface="Arial"/>
                <a:cs typeface="Arial"/>
              </a:rPr>
              <a:t>/</a:t>
            </a:r>
            <a:r>
              <a:rPr sz="1800" b="0" spc="-170" dirty="0">
                <a:latin typeface="Arial"/>
                <a:cs typeface="Arial"/>
              </a:rPr>
              <a:t> </a:t>
            </a:r>
            <a:r>
              <a:rPr sz="1800" b="0" spc="-85" dirty="0">
                <a:latin typeface="Arial"/>
                <a:cs typeface="Arial"/>
              </a:rPr>
              <a:t>Seguimiento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5" dirty="0">
                <a:latin typeface="Arial"/>
                <a:cs typeface="Arial"/>
              </a:rPr>
              <a:t>Control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5" dirty="0">
                <a:latin typeface="Arial"/>
                <a:cs typeface="Arial"/>
              </a:rPr>
              <a:t>Pedidos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90600" y="1066800"/>
            <a:ext cx="6934200" cy="5394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8357234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00" dirty="0"/>
              <a:t>Ventas </a:t>
            </a:r>
            <a:r>
              <a:rPr spc="-125" dirty="0"/>
              <a:t>y </a:t>
            </a:r>
            <a:r>
              <a:rPr spc="-114" dirty="0"/>
              <a:t>Cuentas </a:t>
            </a:r>
            <a:r>
              <a:rPr spc="-80" dirty="0"/>
              <a:t>a </a:t>
            </a:r>
            <a:r>
              <a:rPr spc="-120" dirty="0"/>
              <a:t>Cobrar</a:t>
            </a:r>
            <a:r>
              <a:rPr spc="-40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0" dirty="0">
                <a:latin typeface="Arial"/>
                <a:cs typeface="Arial"/>
              </a:rPr>
              <a:t>III: </a:t>
            </a:r>
            <a:r>
              <a:rPr sz="1800" b="0" spc="-80" dirty="0">
                <a:latin typeface="Arial"/>
                <a:cs typeface="Arial"/>
              </a:rPr>
              <a:t>Facturación, </a:t>
            </a:r>
            <a:r>
              <a:rPr sz="1800" b="0" spc="-85" dirty="0">
                <a:latin typeface="Arial"/>
                <a:cs typeface="Arial"/>
              </a:rPr>
              <a:t>Registración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5" dirty="0">
                <a:latin typeface="Arial"/>
                <a:cs typeface="Arial"/>
              </a:rPr>
              <a:t>Control </a:t>
            </a:r>
            <a:r>
              <a:rPr sz="1800" b="0" spc="195" dirty="0">
                <a:latin typeface="Arial"/>
                <a:cs typeface="Arial"/>
              </a:rPr>
              <a:t>/</a:t>
            </a:r>
            <a:r>
              <a:rPr sz="1800" b="0" spc="-170" dirty="0">
                <a:latin typeface="Arial"/>
                <a:cs typeface="Arial"/>
              </a:rPr>
              <a:t> </a:t>
            </a:r>
            <a:r>
              <a:rPr sz="1800" b="0" spc="-85" dirty="0">
                <a:latin typeface="Arial"/>
                <a:cs typeface="Arial"/>
              </a:rPr>
              <a:t>Seguimiento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55" dirty="0">
                <a:latin typeface="Arial"/>
                <a:cs typeface="Arial"/>
              </a:rPr>
              <a:t>Control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5" dirty="0">
                <a:latin typeface="Arial"/>
                <a:cs typeface="Arial"/>
              </a:rPr>
              <a:t>Pedidos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1600200"/>
            <a:ext cx="8428293" cy="3597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664146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Ventas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2000" b="1" spc="-114" dirty="0">
                <a:solidFill>
                  <a:srgbClr val="FFFFFF"/>
                </a:solidFill>
                <a:latin typeface="Trebuchet MS"/>
                <a:cs typeface="Trebuchet MS"/>
              </a:rPr>
              <a:t>Cuentas </a:t>
            </a:r>
            <a:r>
              <a:rPr sz="2000" b="1" spc="-80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Cobrar</a:t>
            </a:r>
            <a:r>
              <a:rPr sz="2000" b="1" spc="-40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Introducción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Tecnología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Ventas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Cuentas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Cobrar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900" y="1075944"/>
            <a:ext cx="863790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78485" algn="l"/>
                <a:tab pos="1975485" algn="l"/>
                <a:tab pos="4093845" algn="l"/>
                <a:tab pos="4737735" algn="l"/>
                <a:tab pos="6249670" algn="l"/>
                <a:tab pos="7909559" algn="l"/>
              </a:tabLst>
            </a:pPr>
            <a:r>
              <a:rPr sz="3000" b="1" spc="-165" dirty="0">
                <a:latin typeface="Trebuchet MS"/>
                <a:cs typeface="Trebuchet MS"/>
              </a:rPr>
              <a:t>S</a:t>
            </a:r>
            <a:r>
              <a:rPr sz="3000" b="1" spc="-175" dirty="0">
                <a:latin typeface="Trebuchet MS"/>
                <a:cs typeface="Trebuchet MS"/>
              </a:rPr>
              <a:t>e</a:t>
            </a:r>
            <a:r>
              <a:rPr sz="3000" b="1" dirty="0">
                <a:latin typeface="Trebuchet MS"/>
                <a:cs typeface="Trebuchet MS"/>
              </a:rPr>
              <a:t>	</a:t>
            </a:r>
            <a:r>
              <a:rPr sz="3000" b="1" spc="-175" dirty="0">
                <a:latin typeface="Trebuchet MS"/>
                <a:cs typeface="Trebuchet MS"/>
              </a:rPr>
              <a:t>pued</a:t>
            </a:r>
            <a:r>
              <a:rPr sz="3000" b="1" spc="-170" dirty="0">
                <a:latin typeface="Trebuchet MS"/>
                <a:cs typeface="Trebuchet MS"/>
              </a:rPr>
              <a:t>e</a:t>
            </a:r>
            <a:r>
              <a:rPr sz="3000" b="1" spc="-165" dirty="0">
                <a:latin typeface="Trebuchet MS"/>
                <a:cs typeface="Trebuchet MS"/>
              </a:rPr>
              <a:t>n</a:t>
            </a:r>
            <a:r>
              <a:rPr sz="3000" b="1" dirty="0">
                <a:latin typeface="Trebuchet MS"/>
                <a:cs typeface="Trebuchet MS"/>
              </a:rPr>
              <a:t>	</a:t>
            </a:r>
            <a:r>
              <a:rPr sz="3000" b="1" spc="-135" dirty="0">
                <a:latin typeface="Trebuchet MS"/>
                <a:cs typeface="Trebuchet MS"/>
              </a:rPr>
              <a:t>a</a:t>
            </a:r>
            <a:r>
              <a:rPr sz="3000" b="1" spc="-160" dirty="0">
                <a:latin typeface="Trebuchet MS"/>
                <a:cs typeface="Trebuchet MS"/>
              </a:rPr>
              <a:t>u</a:t>
            </a:r>
            <a:r>
              <a:rPr sz="3000" b="1" spc="-140" dirty="0">
                <a:latin typeface="Trebuchet MS"/>
                <a:cs typeface="Trebuchet MS"/>
              </a:rPr>
              <a:t>toma</a:t>
            </a:r>
            <a:r>
              <a:rPr sz="3000" b="1" spc="-105" dirty="0">
                <a:latin typeface="Trebuchet MS"/>
                <a:cs typeface="Trebuchet MS"/>
              </a:rPr>
              <a:t>t</a:t>
            </a:r>
            <a:r>
              <a:rPr sz="3000" b="1" spc="-200" dirty="0">
                <a:latin typeface="Trebuchet MS"/>
                <a:cs typeface="Trebuchet MS"/>
              </a:rPr>
              <a:t>i</a:t>
            </a:r>
            <a:r>
              <a:rPr sz="3000" b="1" spc="-365" dirty="0">
                <a:latin typeface="Trebuchet MS"/>
                <a:cs typeface="Trebuchet MS"/>
              </a:rPr>
              <a:t>z</a:t>
            </a:r>
            <a:r>
              <a:rPr sz="3000" b="1" spc="-170" dirty="0">
                <a:latin typeface="Trebuchet MS"/>
                <a:cs typeface="Trebuchet MS"/>
              </a:rPr>
              <a:t>ar</a:t>
            </a:r>
            <a:r>
              <a:rPr sz="3000" b="1" dirty="0">
                <a:latin typeface="Trebuchet MS"/>
                <a:cs typeface="Trebuchet MS"/>
              </a:rPr>
              <a:t>	</a:t>
            </a:r>
            <a:r>
              <a:rPr sz="3000" b="1" spc="-110" dirty="0">
                <a:latin typeface="Trebuchet MS"/>
                <a:cs typeface="Trebuchet MS"/>
              </a:rPr>
              <a:t>los</a:t>
            </a:r>
            <a:r>
              <a:rPr sz="3000" b="1" dirty="0">
                <a:latin typeface="Trebuchet MS"/>
                <a:cs typeface="Trebuchet MS"/>
              </a:rPr>
              <a:t>	</a:t>
            </a:r>
            <a:r>
              <a:rPr sz="3000" b="1" spc="-190" dirty="0">
                <a:latin typeface="Trebuchet MS"/>
                <a:cs typeface="Trebuchet MS"/>
              </a:rPr>
              <a:t>arc</a:t>
            </a:r>
            <a:r>
              <a:rPr sz="3000" b="1" spc="-240" dirty="0">
                <a:latin typeface="Trebuchet MS"/>
                <a:cs typeface="Trebuchet MS"/>
              </a:rPr>
              <a:t>h</a:t>
            </a:r>
            <a:r>
              <a:rPr sz="3000" b="1" spc="-120" dirty="0">
                <a:latin typeface="Trebuchet MS"/>
                <a:cs typeface="Trebuchet MS"/>
              </a:rPr>
              <a:t>i</a:t>
            </a:r>
            <a:r>
              <a:rPr sz="3000" b="1" spc="-200" dirty="0">
                <a:latin typeface="Trebuchet MS"/>
                <a:cs typeface="Trebuchet MS"/>
              </a:rPr>
              <a:t>v</a:t>
            </a:r>
            <a:r>
              <a:rPr sz="3000" b="1" spc="-95" dirty="0">
                <a:latin typeface="Trebuchet MS"/>
                <a:cs typeface="Trebuchet MS"/>
              </a:rPr>
              <a:t>os</a:t>
            </a:r>
            <a:r>
              <a:rPr sz="3000" b="1" dirty="0">
                <a:latin typeface="Trebuchet MS"/>
                <a:cs typeface="Trebuchet MS"/>
              </a:rPr>
              <a:t>	</a:t>
            </a:r>
            <a:r>
              <a:rPr sz="3000" b="1" spc="-160" dirty="0">
                <a:latin typeface="Trebuchet MS"/>
                <a:cs typeface="Trebuchet MS"/>
              </a:rPr>
              <a:t>mae</a:t>
            </a:r>
            <a:r>
              <a:rPr sz="3000" b="1" spc="-120" dirty="0">
                <a:latin typeface="Trebuchet MS"/>
                <a:cs typeface="Trebuchet MS"/>
              </a:rPr>
              <a:t>s</a:t>
            </a:r>
            <a:r>
              <a:rPr sz="3000" b="1" spc="-140" dirty="0">
                <a:latin typeface="Trebuchet MS"/>
                <a:cs typeface="Trebuchet MS"/>
              </a:rPr>
              <a:t>tros</a:t>
            </a:r>
            <a:r>
              <a:rPr sz="3000" b="1" dirty="0">
                <a:latin typeface="Trebuchet MS"/>
                <a:cs typeface="Trebuchet MS"/>
              </a:rPr>
              <a:t>	</a:t>
            </a:r>
            <a:r>
              <a:rPr sz="3000" b="1" spc="-135" dirty="0">
                <a:latin typeface="Trebuchet MS"/>
                <a:cs typeface="Trebuchet MS"/>
              </a:rPr>
              <a:t>pa</a:t>
            </a:r>
            <a:r>
              <a:rPr sz="3000" b="1" spc="-145" dirty="0">
                <a:latin typeface="Trebuchet MS"/>
                <a:cs typeface="Trebuchet MS"/>
              </a:rPr>
              <a:t>ra  </a:t>
            </a:r>
            <a:r>
              <a:rPr sz="3000" b="1" spc="-204" dirty="0">
                <a:latin typeface="Trebuchet MS"/>
                <a:cs typeface="Trebuchet MS"/>
              </a:rPr>
              <a:t>realizar </a:t>
            </a:r>
            <a:r>
              <a:rPr sz="3000" b="1" spc="-160" dirty="0">
                <a:latin typeface="Trebuchet MS"/>
                <a:cs typeface="Trebuchet MS"/>
              </a:rPr>
              <a:t>validaciones</a:t>
            </a:r>
            <a:r>
              <a:rPr sz="3000" b="1" spc="-275" dirty="0">
                <a:latin typeface="Trebuchet MS"/>
                <a:cs typeface="Trebuchet MS"/>
              </a:rPr>
              <a:t> </a:t>
            </a:r>
            <a:r>
              <a:rPr sz="3000" b="1" spc="-409" dirty="0">
                <a:latin typeface="Trebuchet MS"/>
                <a:cs typeface="Trebuchet MS"/>
              </a:rPr>
              <a:t>de</a:t>
            </a:r>
            <a:r>
              <a:rPr sz="3000" b="1" spc="-409" dirty="0">
                <a:latin typeface="Arial"/>
                <a:cs typeface="Arial"/>
              </a:rPr>
              <a:t>…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180" dirty="0">
                <a:latin typeface="Trebuchet MS"/>
                <a:cs typeface="Trebuchet MS"/>
              </a:rPr>
              <a:t>Clientes</a:t>
            </a:r>
            <a:endParaRPr sz="3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170" dirty="0">
                <a:latin typeface="Trebuchet MS"/>
                <a:cs typeface="Trebuchet MS"/>
              </a:rPr>
              <a:t>Cuentas</a:t>
            </a:r>
            <a:r>
              <a:rPr sz="3000" b="1" spc="-235" dirty="0">
                <a:latin typeface="Trebuchet MS"/>
                <a:cs typeface="Trebuchet MS"/>
              </a:rPr>
              <a:t> </a:t>
            </a:r>
            <a:r>
              <a:rPr sz="3000" b="1" spc="-185" dirty="0">
                <a:latin typeface="Trebuchet MS"/>
                <a:cs typeface="Trebuchet MS"/>
              </a:rPr>
              <a:t>corrientes</a:t>
            </a:r>
            <a:endParaRPr sz="3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155" dirty="0">
                <a:latin typeface="Trebuchet MS"/>
                <a:cs typeface="Trebuchet MS"/>
              </a:rPr>
              <a:t>Artículos</a:t>
            </a:r>
            <a:endParaRPr sz="3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155" dirty="0">
                <a:latin typeface="Trebuchet MS"/>
                <a:cs typeface="Trebuchet MS"/>
              </a:rPr>
              <a:t>Stocks</a:t>
            </a:r>
            <a:endParaRPr sz="3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170" dirty="0">
                <a:latin typeface="Trebuchet MS"/>
                <a:cs typeface="Trebuchet MS"/>
              </a:rPr>
              <a:t>Listas </a:t>
            </a:r>
            <a:r>
              <a:rPr sz="3000" b="1" spc="-180" dirty="0">
                <a:latin typeface="Trebuchet MS"/>
                <a:cs typeface="Trebuchet MS"/>
              </a:rPr>
              <a:t>de</a:t>
            </a:r>
            <a:r>
              <a:rPr sz="3000" b="1" spc="-290" dirty="0">
                <a:latin typeface="Trebuchet MS"/>
                <a:cs typeface="Trebuchet MS"/>
              </a:rPr>
              <a:t> </a:t>
            </a:r>
            <a:r>
              <a:rPr sz="3000" b="1" spc="-170" dirty="0">
                <a:latin typeface="Trebuchet MS"/>
                <a:cs typeface="Trebuchet MS"/>
              </a:rPr>
              <a:t>precios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76800" y="2370582"/>
            <a:ext cx="3886200" cy="29634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lang="es-AR" b="1" spc="-10" dirty="0">
                <a:latin typeface="Arial"/>
                <a:cs typeface="Arial"/>
              </a:rPr>
              <a:t> - 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79B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79B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09950" y="1247647"/>
            <a:ext cx="3225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71625" y="919733"/>
            <a:ext cx="143700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60" dirty="0">
                <a:solidFill>
                  <a:srgbClr val="00338D"/>
                </a:solidFill>
              </a:rPr>
              <a:t>Cobranzas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354711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Cobranzas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Visión de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alto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nivel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procedimiento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6683" y="1074165"/>
            <a:ext cx="18421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235" dirty="0">
                <a:solidFill>
                  <a:srgbClr val="000000"/>
                </a:solidFill>
                <a:latin typeface="Arial"/>
                <a:cs typeface="Arial"/>
              </a:rPr>
              <a:t>Cobranza</a:t>
            </a:r>
            <a:r>
              <a:rPr sz="3200" b="0" spc="-204" dirty="0">
                <a:solidFill>
                  <a:srgbClr val="000000"/>
                </a:solidFill>
                <a:latin typeface="Arial"/>
                <a:cs typeface="Arial"/>
              </a:rPr>
              <a:t>s</a:t>
            </a:r>
            <a:r>
              <a:rPr sz="3200" b="0" spc="-35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541" y="1567180"/>
            <a:ext cx="8488680" cy="121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600" b="1" i="1" spc="-200" dirty="0">
                <a:latin typeface="Trebuchet MS"/>
                <a:cs typeface="Trebuchet MS"/>
              </a:rPr>
              <a:t>Objetivo principal: </a:t>
            </a:r>
            <a:r>
              <a:rPr sz="2600" i="1" spc="-140" dirty="0">
                <a:latin typeface="Trebuchet MS"/>
                <a:cs typeface="Trebuchet MS"/>
              </a:rPr>
              <a:t>instrumentar la </a:t>
            </a:r>
            <a:r>
              <a:rPr sz="2600" b="1" i="1" spc="-180" dirty="0">
                <a:solidFill>
                  <a:srgbClr val="00338D"/>
                </a:solidFill>
                <a:latin typeface="Trebuchet MS"/>
                <a:cs typeface="Trebuchet MS"/>
              </a:rPr>
              <a:t>recepción </a:t>
            </a:r>
            <a:r>
              <a:rPr sz="2600" b="1" i="1" spc="-204" dirty="0">
                <a:solidFill>
                  <a:srgbClr val="00338D"/>
                </a:solidFill>
                <a:latin typeface="Trebuchet MS"/>
                <a:cs typeface="Trebuchet MS"/>
              </a:rPr>
              <a:t>efectiva </a:t>
            </a:r>
            <a:r>
              <a:rPr sz="2600" i="1" spc="-175" dirty="0">
                <a:latin typeface="Trebuchet MS"/>
                <a:cs typeface="Trebuchet MS"/>
              </a:rPr>
              <a:t>del </a:t>
            </a:r>
            <a:r>
              <a:rPr sz="2600" i="1" spc="-17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b="1" i="1" spc="-190" dirty="0">
                <a:solidFill>
                  <a:srgbClr val="00338D"/>
                </a:solidFill>
                <a:latin typeface="Trebuchet MS"/>
                <a:cs typeface="Trebuchet MS"/>
              </a:rPr>
              <a:t>precio</a:t>
            </a:r>
            <a:r>
              <a:rPr sz="2600" b="1" i="1" spc="40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b="1" i="1" spc="-180" dirty="0">
                <a:solidFill>
                  <a:srgbClr val="00338D"/>
                </a:solidFill>
                <a:latin typeface="Trebuchet MS"/>
                <a:cs typeface="Trebuchet MS"/>
              </a:rPr>
              <a:t>pactado </a:t>
            </a:r>
            <a:r>
              <a:rPr sz="2600" i="1" spc="-125" dirty="0">
                <a:latin typeface="Trebuchet MS"/>
                <a:cs typeface="Trebuchet MS"/>
              </a:rPr>
              <a:t>en </a:t>
            </a:r>
            <a:r>
              <a:rPr sz="2600" i="1" spc="-140" dirty="0">
                <a:latin typeface="Trebuchet MS"/>
                <a:cs typeface="Trebuchet MS"/>
              </a:rPr>
              <a:t>la </a:t>
            </a:r>
            <a:r>
              <a:rPr sz="2600" i="1" spc="-155" dirty="0">
                <a:latin typeface="Trebuchet MS"/>
                <a:cs typeface="Trebuchet MS"/>
              </a:rPr>
              <a:t>venta, </a:t>
            </a:r>
            <a:r>
              <a:rPr sz="2600" i="1" spc="-135" dirty="0">
                <a:latin typeface="Trebuchet MS"/>
                <a:cs typeface="Trebuchet MS"/>
              </a:rPr>
              <a:t>de </a:t>
            </a:r>
            <a:r>
              <a:rPr sz="2600" i="1" spc="-114" dirty="0">
                <a:latin typeface="Trebuchet MS"/>
                <a:cs typeface="Trebuchet MS"/>
              </a:rPr>
              <a:t>acuerdo </a:t>
            </a:r>
            <a:r>
              <a:rPr sz="2600" i="1" spc="-135" dirty="0">
                <a:latin typeface="Trebuchet MS"/>
                <a:cs typeface="Trebuchet MS"/>
              </a:rPr>
              <a:t>al </a:t>
            </a:r>
            <a:r>
              <a:rPr sz="2600" b="1" i="1" spc="-145" dirty="0">
                <a:solidFill>
                  <a:srgbClr val="00338D"/>
                </a:solidFill>
                <a:latin typeface="Trebuchet MS"/>
                <a:cs typeface="Trebuchet MS"/>
              </a:rPr>
              <a:t>medio </a:t>
            </a:r>
            <a:r>
              <a:rPr sz="2600" b="1" i="1" spc="-114" dirty="0">
                <a:solidFill>
                  <a:srgbClr val="00338D"/>
                </a:solidFill>
                <a:latin typeface="Trebuchet MS"/>
                <a:cs typeface="Trebuchet MS"/>
              </a:rPr>
              <a:t>o  </a:t>
            </a:r>
            <a:r>
              <a:rPr sz="2600" b="1" i="1" spc="-160" dirty="0">
                <a:solidFill>
                  <a:srgbClr val="00338D"/>
                </a:solidFill>
                <a:latin typeface="Trebuchet MS"/>
                <a:cs typeface="Trebuchet MS"/>
              </a:rPr>
              <a:t>modalidad </a:t>
            </a:r>
            <a:r>
              <a:rPr sz="2600" b="1" i="1" spc="-165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600" b="1" i="1" spc="-125" dirty="0">
                <a:solidFill>
                  <a:srgbClr val="00338D"/>
                </a:solidFill>
                <a:latin typeface="Trebuchet MS"/>
                <a:cs typeface="Trebuchet MS"/>
              </a:rPr>
              <a:t>pago </a:t>
            </a:r>
            <a:r>
              <a:rPr sz="2600" i="1" spc="-150" dirty="0">
                <a:latin typeface="Trebuchet MS"/>
                <a:cs typeface="Trebuchet MS"/>
              </a:rPr>
              <a:t>definida </a:t>
            </a:r>
            <a:r>
              <a:rPr sz="2600" i="1" spc="-145" dirty="0">
                <a:latin typeface="Trebuchet MS"/>
                <a:cs typeface="Trebuchet MS"/>
              </a:rPr>
              <a:t>(dinero </a:t>
            </a:r>
            <a:r>
              <a:rPr sz="2600" i="1" spc="-65" dirty="0">
                <a:latin typeface="Trebuchet MS"/>
                <a:cs typeface="Trebuchet MS"/>
              </a:rPr>
              <a:t>o</a:t>
            </a:r>
            <a:r>
              <a:rPr sz="2600" i="1" spc="-409" dirty="0">
                <a:latin typeface="Trebuchet MS"/>
                <a:cs typeface="Trebuchet MS"/>
              </a:rPr>
              <a:t> </a:t>
            </a:r>
            <a:r>
              <a:rPr sz="2600" i="1" spc="-160" dirty="0">
                <a:latin typeface="Trebuchet MS"/>
                <a:cs typeface="Trebuchet MS"/>
              </a:rPr>
              <a:t>equivalente).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82181" y="4648580"/>
            <a:ext cx="1828800" cy="523875"/>
          </a:xfrm>
          <a:custGeom>
            <a:avLst/>
            <a:gdLst/>
            <a:ahLst/>
            <a:cxnLst/>
            <a:rect l="l" t="t" r="r" b="b"/>
            <a:pathLst>
              <a:path w="1828800" h="523875">
                <a:moveTo>
                  <a:pt x="0" y="523494"/>
                </a:moveTo>
                <a:lnTo>
                  <a:pt x="1828800" y="523494"/>
                </a:lnTo>
                <a:lnTo>
                  <a:pt x="1828800" y="0"/>
                </a:lnTo>
                <a:lnTo>
                  <a:pt x="0" y="0"/>
                </a:lnTo>
                <a:lnTo>
                  <a:pt x="0" y="523494"/>
                </a:lnTo>
                <a:close/>
              </a:path>
            </a:pathLst>
          </a:custGeom>
          <a:ln w="25146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77557" y="4670297"/>
            <a:ext cx="1639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8750">
              <a:lnSpc>
                <a:spcPct val="100000"/>
              </a:lnSpc>
              <a:spcBef>
                <a:spcPts val="95"/>
              </a:spcBef>
            </a:pPr>
            <a:r>
              <a:rPr sz="1400" b="1" spc="-95" dirty="0">
                <a:latin typeface="Trebuchet MS"/>
                <a:cs typeface="Trebuchet MS"/>
              </a:rPr>
              <a:t>Percepción </a:t>
            </a:r>
            <a:r>
              <a:rPr sz="1400" b="1" spc="-85" dirty="0">
                <a:latin typeface="Trebuchet MS"/>
                <a:cs typeface="Trebuchet MS"/>
              </a:rPr>
              <a:t>de </a:t>
            </a:r>
            <a:r>
              <a:rPr sz="1400" b="1" spc="-114" dirty="0">
                <a:latin typeface="Trebuchet MS"/>
                <a:cs typeface="Trebuchet MS"/>
              </a:rPr>
              <a:t>$ </a:t>
            </a:r>
            <a:r>
              <a:rPr sz="1400" b="1" spc="-85" dirty="0">
                <a:latin typeface="Trebuchet MS"/>
                <a:cs typeface="Trebuchet MS"/>
              </a:rPr>
              <a:t>y  </a:t>
            </a:r>
            <a:r>
              <a:rPr sz="1400" b="1" spc="-75" dirty="0">
                <a:latin typeface="Trebuchet MS"/>
                <a:cs typeface="Trebuchet MS"/>
              </a:rPr>
              <a:t>Registración</a:t>
            </a:r>
            <a:r>
              <a:rPr sz="1400" b="1" spc="-145" dirty="0">
                <a:latin typeface="Trebuchet MS"/>
                <a:cs typeface="Trebuchet MS"/>
              </a:rPr>
              <a:t> </a:t>
            </a:r>
            <a:r>
              <a:rPr sz="1400" b="1" spc="-80" dirty="0">
                <a:latin typeface="Trebuchet MS"/>
                <a:cs typeface="Trebuchet MS"/>
              </a:rPr>
              <a:t>Contable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4680" y="3558540"/>
            <a:ext cx="1159002" cy="10066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10781" y="3581780"/>
            <a:ext cx="1066800" cy="914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10781" y="3581780"/>
            <a:ext cx="1066800" cy="914400"/>
          </a:xfrm>
          <a:custGeom>
            <a:avLst/>
            <a:gdLst/>
            <a:ahLst/>
            <a:cxnLst/>
            <a:rect l="l" t="t" r="r" b="b"/>
            <a:pathLst>
              <a:path w="1066800" h="914400">
                <a:moveTo>
                  <a:pt x="0" y="0"/>
                </a:moveTo>
                <a:lnTo>
                  <a:pt x="552450" y="0"/>
                </a:lnTo>
                <a:lnTo>
                  <a:pt x="599111" y="2690"/>
                </a:lnTo>
                <a:lnTo>
                  <a:pt x="644189" y="10563"/>
                </a:lnTo>
                <a:lnTo>
                  <a:pt x="687385" y="23318"/>
                </a:lnTo>
                <a:lnTo>
                  <a:pt x="728398" y="40654"/>
                </a:lnTo>
                <a:lnTo>
                  <a:pt x="766929" y="62273"/>
                </a:lnTo>
                <a:lnTo>
                  <a:pt x="802677" y="87874"/>
                </a:lnTo>
                <a:lnTo>
                  <a:pt x="835342" y="117157"/>
                </a:lnTo>
                <a:lnTo>
                  <a:pt x="864625" y="149822"/>
                </a:lnTo>
                <a:lnTo>
                  <a:pt x="890226" y="185570"/>
                </a:lnTo>
                <a:lnTo>
                  <a:pt x="911845" y="224101"/>
                </a:lnTo>
                <a:lnTo>
                  <a:pt x="929181" y="265114"/>
                </a:lnTo>
                <a:lnTo>
                  <a:pt x="941936" y="308310"/>
                </a:lnTo>
                <a:lnTo>
                  <a:pt x="949809" y="353388"/>
                </a:lnTo>
                <a:lnTo>
                  <a:pt x="952500" y="400050"/>
                </a:lnTo>
                <a:lnTo>
                  <a:pt x="952500" y="685800"/>
                </a:lnTo>
                <a:lnTo>
                  <a:pt x="1066800" y="685800"/>
                </a:lnTo>
                <a:lnTo>
                  <a:pt x="838200" y="914400"/>
                </a:lnTo>
                <a:lnTo>
                  <a:pt x="609600" y="685800"/>
                </a:lnTo>
                <a:lnTo>
                  <a:pt x="723900" y="685800"/>
                </a:lnTo>
                <a:lnTo>
                  <a:pt x="723900" y="400050"/>
                </a:lnTo>
                <a:lnTo>
                  <a:pt x="717779" y="354453"/>
                </a:lnTo>
                <a:lnTo>
                  <a:pt x="700503" y="313492"/>
                </a:lnTo>
                <a:lnTo>
                  <a:pt x="673703" y="278796"/>
                </a:lnTo>
                <a:lnTo>
                  <a:pt x="639007" y="251996"/>
                </a:lnTo>
                <a:lnTo>
                  <a:pt x="598046" y="234720"/>
                </a:lnTo>
                <a:lnTo>
                  <a:pt x="552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29781" y="3353180"/>
            <a:ext cx="2133600" cy="2667000"/>
          </a:xfrm>
          <a:custGeom>
            <a:avLst/>
            <a:gdLst/>
            <a:ahLst/>
            <a:cxnLst/>
            <a:rect l="l" t="t" r="r" b="b"/>
            <a:pathLst>
              <a:path w="2133600" h="2667000">
                <a:moveTo>
                  <a:pt x="0" y="2667000"/>
                </a:moveTo>
                <a:lnTo>
                  <a:pt x="2133600" y="2667000"/>
                </a:lnTo>
                <a:lnTo>
                  <a:pt x="2133600" y="0"/>
                </a:lnTo>
                <a:lnTo>
                  <a:pt x="0" y="0"/>
                </a:lnTo>
                <a:lnTo>
                  <a:pt x="0" y="2667000"/>
                </a:lnTo>
                <a:close/>
              </a:path>
            </a:pathLst>
          </a:custGeom>
          <a:ln w="25146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11340" y="5310378"/>
            <a:ext cx="15697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400" b="1" spc="-25" dirty="0">
                <a:solidFill>
                  <a:srgbClr val="548ED4"/>
                </a:solidFill>
                <a:latin typeface="Trebuchet MS"/>
                <a:cs typeface="Trebuchet MS"/>
              </a:rPr>
              <a:t>Módulos </a:t>
            </a:r>
            <a:r>
              <a:rPr sz="1400" b="1" spc="-125" dirty="0">
                <a:solidFill>
                  <a:srgbClr val="548ED4"/>
                </a:solidFill>
                <a:latin typeface="Trebuchet MS"/>
                <a:cs typeface="Trebuchet MS"/>
              </a:rPr>
              <a:t>3: </a:t>
            </a:r>
            <a:r>
              <a:rPr sz="1400" b="1" spc="-80" dirty="0">
                <a:solidFill>
                  <a:srgbClr val="548ED4"/>
                </a:solidFill>
                <a:latin typeface="Trebuchet MS"/>
                <a:cs typeface="Trebuchet MS"/>
              </a:rPr>
              <a:t>Control</a:t>
            </a:r>
            <a:r>
              <a:rPr sz="1400" b="1" spc="-210" dirty="0">
                <a:solidFill>
                  <a:srgbClr val="548ED4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548ED4"/>
                </a:solidFill>
                <a:latin typeface="Trebuchet MS"/>
                <a:cs typeface="Trebuchet MS"/>
              </a:rPr>
              <a:t>y  registración de </a:t>
            </a:r>
            <a:r>
              <a:rPr sz="1400" b="1" spc="-65" dirty="0">
                <a:solidFill>
                  <a:srgbClr val="548ED4"/>
                </a:solidFill>
                <a:latin typeface="Trebuchet MS"/>
                <a:cs typeface="Trebuchet MS"/>
              </a:rPr>
              <a:t>la  </a:t>
            </a:r>
            <a:r>
              <a:rPr sz="1400" b="1" spc="-80" dirty="0">
                <a:solidFill>
                  <a:srgbClr val="548ED4"/>
                </a:solidFill>
                <a:latin typeface="Trebuchet MS"/>
                <a:cs typeface="Trebuchet MS"/>
              </a:rPr>
              <a:t>operación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3580" y="3353180"/>
            <a:ext cx="3733800" cy="2667000"/>
          </a:xfrm>
          <a:custGeom>
            <a:avLst/>
            <a:gdLst/>
            <a:ahLst/>
            <a:cxnLst/>
            <a:rect l="l" t="t" r="r" b="b"/>
            <a:pathLst>
              <a:path w="3733800" h="2667000">
                <a:moveTo>
                  <a:pt x="0" y="2667000"/>
                </a:moveTo>
                <a:lnTo>
                  <a:pt x="3733800" y="2667000"/>
                </a:lnTo>
                <a:lnTo>
                  <a:pt x="3733800" y="0"/>
                </a:lnTo>
                <a:lnTo>
                  <a:pt x="0" y="0"/>
                </a:lnTo>
                <a:lnTo>
                  <a:pt x="0" y="2667000"/>
                </a:lnTo>
                <a:close/>
              </a:path>
            </a:pathLst>
          </a:custGeom>
          <a:ln w="25146">
            <a:solidFill>
              <a:srgbClr val="9BBA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48610" y="5737097"/>
            <a:ext cx="352297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00AF50"/>
                </a:solidFill>
                <a:latin typeface="Trebuchet MS"/>
                <a:cs typeface="Trebuchet MS"/>
              </a:rPr>
              <a:t>Módulo </a:t>
            </a:r>
            <a:r>
              <a:rPr sz="1400" b="1" spc="-125" dirty="0">
                <a:solidFill>
                  <a:srgbClr val="00AF50"/>
                </a:solidFill>
                <a:latin typeface="Trebuchet MS"/>
                <a:cs typeface="Trebuchet MS"/>
              </a:rPr>
              <a:t>2: </a:t>
            </a:r>
            <a:r>
              <a:rPr sz="1400" b="1" spc="-80" dirty="0">
                <a:solidFill>
                  <a:srgbClr val="00AF50"/>
                </a:solidFill>
                <a:latin typeface="Trebuchet MS"/>
                <a:cs typeface="Trebuchet MS"/>
              </a:rPr>
              <a:t>Control </a:t>
            </a:r>
            <a:r>
              <a:rPr sz="1400" b="1" spc="-85" dirty="0">
                <a:solidFill>
                  <a:srgbClr val="00AF50"/>
                </a:solidFill>
                <a:latin typeface="Trebuchet MS"/>
                <a:cs typeface="Trebuchet MS"/>
              </a:rPr>
              <a:t>y </a:t>
            </a:r>
            <a:r>
              <a:rPr sz="1400" b="1" spc="-65" dirty="0">
                <a:solidFill>
                  <a:srgbClr val="00AF50"/>
                </a:solidFill>
                <a:latin typeface="Trebuchet MS"/>
                <a:cs typeface="Trebuchet MS"/>
              </a:rPr>
              <a:t>depósito </a:t>
            </a:r>
            <a:r>
              <a:rPr sz="1400" b="1" spc="-85" dirty="0">
                <a:solidFill>
                  <a:srgbClr val="00AF50"/>
                </a:solidFill>
                <a:latin typeface="Trebuchet MS"/>
                <a:cs typeface="Trebuchet MS"/>
              </a:rPr>
              <a:t>de </a:t>
            </a:r>
            <a:r>
              <a:rPr sz="1400" b="1" spc="-65" dirty="0">
                <a:solidFill>
                  <a:srgbClr val="00AF50"/>
                </a:solidFill>
                <a:latin typeface="Trebuchet MS"/>
                <a:cs typeface="Trebuchet MS"/>
              </a:rPr>
              <a:t>la</a:t>
            </a:r>
            <a:r>
              <a:rPr sz="1400" b="1" spc="-27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400" b="1" spc="-90" dirty="0">
                <a:solidFill>
                  <a:srgbClr val="00AF50"/>
                </a:solidFill>
                <a:latin typeface="Trebuchet MS"/>
                <a:cs typeface="Trebuchet MS"/>
              </a:rPr>
              <a:t>recaudación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73879" y="3482340"/>
            <a:ext cx="2073402" cy="10066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83252" y="3514344"/>
            <a:ext cx="1517141" cy="10226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19980" y="3505580"/>
            <a:ext cx="1981200" cy="914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19980" y="3505580"/>
            <a:ext cx="1981200" cy="914400"/>
          </a:xfrm>
          <a:custGeom>
            <a:avLst/>
            <a:gdLst/>
            <a:ahLst/>
            <a:cxnLst/>
            <a:rect l="l" t="t" r="r" b="b"/>
            <a:pathLst>
              <a:path w="1981200" h="914400">
                <a:moveTo>
                  <a:pt x="0" y="457200"/>
                </a:moveTo>
                <a:lnTo>
                  <a:pt x="8340" y="397602"/>
                </a:lnTo>
                <a:lnTo>
                  <a:pt x="32667" y="340321"/>
                </a:lnTo>
                <a:lnTo>
                  <a:pt x="71935" y="285838"/>
                </a:lnTo>
                <a:lnTo>
                  <a:pt x="125102" y="234636"/>
                </a:lnTo>
                <a:lnTo>
                  <a:pt x="156570" y="210415"/>
                </a:lnTo>
                <a:lnTo>
                  <a:pt x="191121" y="187195"/>
                </a:lnTo>
                <a:lnTo>
                  <a:pt x="228625" y="165037"/>
                </a:lnTo>
                <a:lnTo>
                  <a:pt x="268951" y="144000"/>
                </a:lnTo>
                <a:lnTo>
                  <a:pt x="311968" y="124145"/>
                </a:lnTo>
                <a:lnTo>
                  <a:pt x="357546" y="105532"/>
                </a:lnTo>
                <a:lnTo>
                  <a:pt x="405554" y="88221"/>
                </a:lnTo>
                <a:lnTo>
                  <a:pt x="455862" y="72273"/>
                </a:lnTo>
                <a:lnTo>
                  <a:pt x="508340" y="57747"/>
                </a:lnTo>
                <a:lnTo>
                  <a:pt x="562857" y="44705"/>
                </a:lnTo>
                <a:lnTo>
                  <a:pt x="619282" y="33206"/>
                </a:lnTo>
                <a:lnTo>
                  <a:pt x="677485" y="23311"/>
                </a:lnTo>
                <a:lnTo>
                  <a:pt x="737335" y="15079"/>
                </a:lnTo>
                <a:lnTo>
                  <a:pt x="798702" y="8572"/>
                </a:lnTo>
                <a:lnTo>
                  <a:pt x="861455" y="3850"/>
                </a:lnTo>
                <a:lnTo>
                  <a:pt x="925465" y="972"/>
                </a:lnTo>
                <a:lnTo>
                  <a:pt x="990600" y="0"/>
                </a:lnTo>
                <a:lnTo>
                  <a:pt x="1055734" y="972"/>
                </a:lnTo>
                <a:lnTo>
                  <a:pt x="1119744" y="3850"/>
                </a:lnTo>
                <a:lnTo>
                  <a:pt x="1182497" y="8572"/>
                </a:lnTo>
                <a:lnTo>
                  <a:pt x="1243864" y="15079"/>
                </a:lnTo>
                <a:lnTo>
                  <a:pt x="1303714" y="23311"/>
                </a:lnTo>
                <a:lnTo>
                  <a:pt x="1361917" y="33206"/>
                </a:lnTo>
                <a:lnTo>
                  <a:pt x="1418342" y="44705"/>
                </a:lnTo>
                <a:lnTo>
                  <a:pt x="1472859" y="57747"/>
                </a:lnTo>
                <a:lnTo>
                  <a:pt x="1525337" y="72273"/>
                </a:lnTo>
                <a:lnTo>
                  <a:pt x="1575645" y="88221"/>
                </a:lnTo>
                <a:lnTo>
                  <a:pt x="1623653" y="105532"/>
                </a:lnTo>
                <a:lnTo>
                  <a:pt x="1669231" y="124145"/>
                </a:lnTo>
                <a:lnTo>
                  <a:pt x="1712248" y="144000"/>
                </a:lnTo>
                <a:lnTo>
                  <a:pt x="1752574" y="165037"/>
                </a:lnTo>
                <a:lnTo>
                  <a:pt x="1790078" y="187195"/>
                </a:lnTo>
                <a:lnTo>
                  <a:pt x="1824629" y="210415"/>
                </a:lnTo>
                <a:lnTo>
                  <a:pt x="1856097" y="234636"/>
                </a:lnTo>
                <a:lnTo>
                  <a:pt x="1909264" y="285838"/>
                </a:lnTo>
                <a:lnTo>
                  <a:pt x="1948532" y="340321"/>
                </a:lnTo>
                <a:lnTo>
                  <a:pt x="1972859" y="397602"/>
                </a:lnTo>
                <a:lnTo>
                  <a:pt x="1981200" y="457200"/>
                </a:lnTo>
                <a:lnTo>
                  <a:pt x="1979093" y="487257"/>
                </a:lnTo>
                <a:lnTo>
                  <a:pt x="1962628" y="545757"/>
                </a:lnTo>
                <a:lnTo>
                  <a:pt x="1930700" y="601699"/>
                </a:lnTo>
                <a:lnTo>
                  <a:pt x="1884352" y="654602"/>
                </a:lnTo>
                <a:lnTo>
                  <a:pt x="1824629" y="703984"/>
                </a:lnTo>
                <a:lnTo>
                  <a:pt x="1790078" y="727204"/>
                </a:lnTo>
                <a:lnTo>
                  <a:pt x="1752574" y="749362"/>
                </a:lnTo>
                <a:lnTo>
                  <a:pt x="1712248" y="770399"/>
                </a:lnTo>
                <a:lnTo>
                  <a:pt x="1669231" y="790254"/>
                </a:lnTo>
                <a:lnTo>
                  <a:pt x="1623653" y="808867"/>
                </a:lnTo>
                <a:lnTo>
                  <a:pt x="1575645" y="826178"/>
                </a:lnTo>
                <a:lnTo>
                  <a:pt x="1525337" y="842126"/>
                </a:lnTo>
                <a:lnTo>
                  <a:pt x="1472859" y="856652"/>
                </a:lnTo>
                <a:lnTo>
                  <a:pt x="1418342" y="869694"/>
                </a:lnTo>
                <a:lnTo>
                  <a:pt x="1361917" y="881193"/>
                </a:lnTo>
                <a:lnTo>
                  <a:pt x="1303714" y="891088"/>
                </a:lnTo>
                <a:lnTo>
                  <a:pt x="1243864" y="899320"/>
                </a:lnTo>
                <a:lnTo>
                  <a:pt x="1182497" y="905827"/>
                </a:lnTo>
                <a:lnTo>
                  <a:pt x="1119744" y="910549"/>
                </a:lnTo>
                <a:lnTo>
                  <a:pt x="1055734" y="913427"/>
                </a:lnTo>
                <a:lnTo>
                  <a:pt x="990600" y="914400"/>
                </a:lnTo>
                <a:lnTo>
                  <a:pt x="925465" y="913427"/>
                </a:lnTo>
                <a:lnTo>
                  <a:pt x="861455" y="910549"/>
                </a:lnTo>
                <a:lnTo>
                  <a:pt x="798702" y="905827"/>
                </a:lnTo>
                <a:lnTo>
                  <a:pt x="737335" y="899320"/>
                </a:lnTo>
                <a:lnTo>
                  <a:pt x="677485" y="891088"/>
                </a:lnTo>
                <a:lnTo>
                  <a:pt x="619282" y="881193"/>
                </a:lnTo>
                <a:lnTo>
                  <a:pt x="562857" y="869694"/>
                </a:lnTo>
                <a:lnTo>
                  <a:pt x="508340" y="856652"/>
                </a:lnTo>
                <a:lnTo>
                  <a:pt x="455862" y="842126"/>
                </a:lnTo>
                <a:lnTo>
                  <a:pt x="405554" y="826178"/>
                </a:lnTo>
                <a:lnTo>
                  <a:pt x="357546" y="808867"/>
                </a:lnTo>
                <a:lnTo>
                  <a:pt x="311968" y="790254"/>
                </a:lnTo>
                <a:lnTo>
                  <a:pt x="268951" y="770399"/>
                </a:lnTo>
                <a:lnTo>
                  <a:pt x="228625" y="749362"/>
                </a:lnTo>
                <a:lnTo>
                  <a:pt x="191121" y="727204"/>
                </a:lnTo>
                <a:lnTo>
                  <a:pt x="156570" y="703984"/>
                </a:lnTo>
                <a:lnTo>
                  <a:pt x="125102" y="679763"/>
                </a:lnTo>
                <a:lnTo>
                  <a:pt x="71935" y="628561"/>
                </a:lnTo>
                <a:lnTo>
                  <a:pt x="32667" y="574078"/>
                </a:lnTo>
                <a:lnTo>
                  <a:pt x="8340" y="51679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83835" y="3531870"/>
            <a:ext cx="1315974" cy="4541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23638" y="3775709"/>
            <a:ext cx="1436369" cy="4541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47844" y="4019550"/>
            <a:ext cx="1142238" cy="4541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837684" y="3571240"/>
            <a:ext cx="11461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Verificación 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Listado</a:t>
            </a:r>
            <a:r>
              <a:rPr sz="160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Cobranzas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73679" y="4472940"/>
            <a:ext cx="2073401" cy="10066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00400" y="4626864"/>
            <a:ext cx="1283970" cy="77876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19780" y="4496180"/>
            <a:ext cx="1981199" cy="9144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19780" y="4496180"/>
            <a:ext cx="1981200" cy="914400"/>
          </a:xfrm>
          <a:custGeom>
            <a:avLst/>
            <a:gdLst/>
            <a:ahLst/>
            <a:cxnLst/>
            <a:rect l="l" t="t" r="r" b="b"/>
            <a:pathLst>
              <a:path w="1981200" h="914400">
                <a:moveTo>
                  <a:pt x="0" y="457200"/>
                </a:moveTo>
                <a:lnTo>
                  <a:pt x="8340" y="397602"/>
                </a:lnTo>
                <a:lnTo>
                  <a:pt x="32667" y="340321"/>
                </a:lnTo>
                <a:lnTo>
                  <a:pt x="71935" y="285838"/>
                </a:lnTo>
                <a:lnTo>
                  <a:pt x="125102" y="234636"/>
                </a:lnTo>
                <a:lnTo>
                  <a:pt x="156570" y="210415"/>
                </a:lnTo>
                <a:lnTo>
                  <a:pt x="191121" y="187195"/>
                </a:lnTo>
                <a:lnTo>
                  <a:pt x="228625" y="165037"/>
                </a:lnTo>
                <a:lnTo>
                  <a:pt x="268951" y="144000"/>
                </a:lnTo>
                <a:lnTo>
                  <a:pt x="311968" y="124145"/>
                </a:lnTo>
                <a:lnTo>
                  <a:pt x="357546" y="105532"/>
                </a:lnTo>
                <a:lnTo>
                  <a:pt x="405554" y="88221"/>
                </a:lnTo>
                <a:lnTo>
                  <a:pt x="455862" y="72273"/>
                </a:lnTo>
                <a:lnTo>
                  <a:pt x="508340" y="57747"/>
                </a:lnTo>
                <a:lnTo>
                  <a:pt x="562857" y="44705"/>
                </a:lnTo>
                <a:lnTo>
                  <a:pt x="619282" y="33206"/>
                </a:lnTo>
                <a:lnTo>
                  <a:pt x="677485" y="23311"/>
                </a:lnTo>
                <a:lnTo>
                  <a:pt x="737335" y="15079"/>
                </a:lnTo>
                <a:lnTo>
                  <a:pt x="798702" y="8572"/>
                </a:lnTo>
                <a:lnTo>
                  <a:pt x="861455" y="3850"/>
                </a:lnTo>
                <a:lnTo>
                  <a:pt x="925465" y="972"/>
                </a:lnTo>
                <a:lnTo>
                  <a:pt x="990599" y="0"/>
                </a:lnTo>
                <a:lnTo>
                  <a:pt x="1055734" y="972"/>
                </a:lnTo>
                <a:lnTo>
                  <a:pt x="1119744" y="3850"/>
                </a:lnTo>
                <a:lnTo>
                  <a:pt x="1182497" y="8572"/>
                </a:lnTo>
                <a:lnTo>
                  <a:pt x="1243864" y="15079"/>
                </a:lnTo>
                <a:lnTo>
                  <a:pt x="1303714" y="23311"/>
                </a:lnTo>
                <a:lnTo>
                  <a:pt x="1361917" y="33206"/>
                </a:lnTo>
                <a:lnTo>
                  <a:pt x="1418342" y="44705"/>
                </a:lnTo>
                <a:lnTo>
                  <a:pt x="1472859" y="57747"/>
                </a:lnTo>
                <a:lnTo>
                  <a:pt x="1525337" y="72273"/>
                </a:lnTo>
                <a:lnTo>
                  <a:pt x="1575645" y="88221"/>
                </a:lnTo>
                <a:lnTo>
                  <a:pt x="1623653" y="105532"/>
                </a:lnTo>
                <a:lnTo>
                  <a:pt x="1669231" y="124145"/>
                </a:lnTo>
                <a:lnTo>
                  <a:pt x="1712248" y="144000"/>
                </a:lnTo>
                <a:lnTo>
                  <a:pt x="1752574" y="165037"/>
                </a:lnTo>
                <a:lnTo>
                  <a:pt x="1790078" y="187195"/>
                </a:lnTo>
                <a:lnTo>
                  <a:pt x="1824629" y="210415"/>
                </a:lnTo>
                <a:lnTo>
                  <a:pt x="1856097" y="234636"/>
                </a:lnTo>
                <a:lnTo>
                  <a:pt x="1909264" y="285838"/>
                </a:lnTo>
                <a:lnTo>
                  <a:pt x="1948532" y="340321"/>
                </a:lnTo>
                <a:lnTo>
                  <a:pt x="1972859" y="397602"/>
                </a:lnTo>
                <a:lnTo>
                  <a:pt x="1981199" y="457200"/>
                </a:lnTo>
                <a:lnTo>
                  <a:pt x="1979093" y="487257"/>
                </a:lnTo>
                <a:lnTo>
                  <a:pt x="1962628" y="545757"/>
                </a:lnTo>
                <a:lnTo>
                  <a:pt x="1930700" y="601699"/>
                </a:lnTo>
                <a:lnTo>
                  <a:pt x="1884352" y="654602"/>
                </a:lnTo>
                <a:lnTo>
                  <a:pt x="1824629" y="703984"/>
                </a:lnTo>
                <a:lnTo>
                  <a:pt x="1790078" y="727204"/>
                </a:lnTo>
                <a:lnTo>
                  <a:pt x="1752574" y="749362"/>
                </a:lnTo>
                <a:lnTo>
                  <a:pt x="1712248" y="770399"/>
                </a:lnTo>
                <a:lnTo>
                  <a:pt x="1669231" y="790254"/>
                </a:lnTo>
                <a:lnTo>
                  <a:pt x="1623653" y="808867"/>
                </a:lnTo>
                <a:lnTo>
                  <a:pt x="1575645" y="826178"/>
                </a:lnTo>
                <a:lnTo>
                  <a:pt x="1525337" y="842126"/>
                </a:lnTo>
                <a:lnTo>
                  <a:pt x="1472859" y="856652"/>
                </a:lnTo>
                <a:lnTo>
                  <a:pt x="1418342" y="869694"/>
                </a:lnTo>
                <a:lnTo>
                  <a:pt x="1361917" y="881193"/>
                </a:lnTo>
                <a:lnTo>
                  <a:pt x="1303714" y="891088"/>
                </a:lnTo>
                <a:lnTo>
                  <a:pt x="1243864" y="899320"/>
                </a:lnTo>
                <a:lnTo>
                  <a:pt x="1182497" y="905827"/>
                </a:lnTo>
                <a:lnTo>
                  <a:pt x="1119744" y="910549"/>
                </a:lnTo>
                <a:lnTo>
                  <a:pt x="1055734" y="913427"/>
                </a:lnTo>
                <a:lnTo>
                  <a:pt x="990599" y="914400"/>
                </a:lnTo>
                <a:lnTo>
                  <a:pt x="925465" y="913427"/>
                </a:lnTo>
                <a:lnTo>
                  <a:pt x="861455" y="910549"/>
                </a:lnTo>
                <a:lnTo>
                  <a:pt x="798702" y="905827"/>
                </a:lnTo>
                <a:lnTo>
                  <a:pt x="737335" y="899320"/>
                </a:lnTo>
                <a:lnTo>
                  <a:pt x="677485" y="891088"/>
                </a:lnTo>
                <a:lnTo>
                  <a:pt x="619282" y="881193"/>
                </a:lnTo>
                <a:lnTo>
                  <a:pt x="562857" y="869694"/>
                </a:lnTo>
                <a:lnTo>
                  <a:pt x="508340" y="856652"/>
                </a:lnTo>
                <a:lnTo>
                  <a:pt x="455862" y="842126"/>
                </a:lnTo>
                <a:lnTo>
                  <a:pt x="405554" y="826178"/>
                </a:lnTo>
                <a:lnTo>
                  <a:pt x="357546" y="808867"/>
                </a:lnTo>
                <a:lnTo>
                  <a:pt x="311968" y="790254"/>
                </a:lnTo>
                <a:lnTo>
                  <a:pt x="268951" y="770399"/>
                </a:lnTo>
                <a:lnTo>
                  <a:pt x="228625" y="749362"/>
                </a:lnTo>
                <a:lnTo>
                  <a:pt x="191121" y="727204"/>
                </a:lnTo>
                <a:lnTo>
                  <a:pt x="156570" y="703984"/>
                </a:lnTo>
                <a:lnTo>
                  <a:pt x="125102" y="679763"/>
                </a:lnTo>
                <a:lnTo>
                  <a:pt x="71935" y="628561"/>
                </a:lnTo>
                <a:lnTo>
                  <a:pt x="32667" y="574078"/>
                </a:lnTo>
                <a:lnTo>
                  <a:pt x="8340" y="51679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40785" y="4644390"/>
            <a:ext cx="1203198" cy="4541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23082" y="4888229"/>
            <a:ext cx="991362" cy="4541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354832" y="4684014"/>
            <a:ext cx="9112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Control</a:t>
            </a:r>
            <a:r>
              <a:rPr sz="1600" b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Cheques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749802" y="3829050"/>
            <a:ext cx="826008" cy="73075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90950" y="3917569"/>
            <a:ext cx="628650" cy="579120"/>
          </a:xfrm>
          <a:custGeom>
            <a:avLst/>
            <a:gdLst/>
            <a:ahLst/>
            <a:cxnLst/>
            <a:rect l="l" t="t" r="r" b="b"/>
            <a:pathLst>
              <a:path w="628650" h="579120">
                <a:moveTo>
                  <a:pt x="513004" y="37975"/>
                </a:moveTo>
                <a:lnTo>
                  <a:pt x="453136" y="53085"/>
                </a:lnTo>
                <a:lnTo>
                  <a:pt x="397255" y="73151"/>
                </a:lnTo>
                <a:lnTo>
                  <a:pt x="343153" y="98043"/>
                </a:lnTo>
                <a:lnTo>
                  <a:pt x="291464" y="127380"/>
                </a:lnTo>
                <a:lnTo>
                  <a:pt x="242442" y="160527"/>
                </a:lnTo>
                <a:lnTo>
                  <a:pt x="196723" y="197484"/>
                </a:lnTo>
                <a:lnTo>
                  <a:pt x="154559" y="237489"/>
                </a:lnTo>
                <a:lnTo>
                  <a:pt x="116459" y="280669"/>
                </a:lnTo>
                <a:lnTo>
                  <a:pt x="82930" y="326135"/>
                </a:lnTo>
                <a:lnTo>
                  <a:pt x="54355" y="373887"/>
                </a:lnTo>
                <a:lnTo>
                  <a:pt x="31241" y="423290"/>
                </a:lnTo>
                <a:lnTo>
                  <a:pt x="14224" y="474217"/>
                </a:lnTo>
                <a:lnTo>
                  <a:pt x="3683" y="526287"/>
                </a:lnTo>
                <a:lnTo>
                  <a:pt x="0" y="577595"/>
                </a:lnTo>
                <a:lnTo>
                  <a:pt x="38100" y="578865"/>
                </a:lnTo>
                <a:lnTo>
                  <a:pt x="38988" y="553973"/>
                </a:lnTo>
                <a:lnTo>
                  <a:pt x="41528" y="530351"/>
                </a:lnTo>
                <a:lnTo>
                  <a:pt x="51308" y="483107"/>
                </a:lnTo>
                <a:lnTo>
                  <a:pt x="67055" y="436498"/>
                </a:lnTo>
                <a:lnTo>
                  <a:pt x="88519" y="390905"/>
                </a:lnTo>
                <a:lnTo>
                  <a:pt x="115188" y="346455"/>
                </a:lnTo>
                <a:lnTo>
                  <a:pt x="146558" y="303910"/>
                </a:lnTo>
                <a:lnTo>
                  <a:pt x="182625" y="263397"/>
                </a:lnTo>
                <a:lnTo>
                  <a:pt x="222376" y="225551"/>
                </a:lnTo>
                <a:lnTo>
                  <a:pt x="265811" y="190626"/>
                </a:lnTo>
                <a:lnTo>
                  <a:pt x="312165" y="159257"/>
                </a:lnTo>
                <a:lnTo>
                  <a:pt x="361188" y="131571"/>
                </a:lnTo>
                <a:lnTo>
                  <a:pt x="412369" y="108076"/>
                </a:lnTo>
                <a:lnTo>
                  <a:pt x="465200" y="89280"/>
                </a:lnTo>
                <a:lnTo>
                  <a:pt x="516991" y="75940"/>
                </a:lnTo>
                <a:lnTo>
                  <a:pt x="513004" y="37975"/>
                </a:lnTo>
                <a:close/>
              </a:path>
              <a:path w="628650" h="579120">
                <a:moveTo>
                  <a:pt x="604926" y="35940"/>
                </a:moveTo>
                <a:lnTo>
                  <a:pt x="531876" y="35940"/>
                </a:lnTo>
                <a:lnTo>
                  <a:pt x="535939" y="73786"/>
                </a:lnTo>
                <a:lnTo>
                  <a:pt x="519175" y="75437"/>
                </a:lnTo>
                <a:lnTo>
                  <a:pt x="516991" y="75940"/>
                </a:lnTo>
                <a:lnTo>
                  <a:pt x="520953" y="113664"/>
                </a:lnTo>
                <a:lnTo>
                  <a:pt x="628650" y="44830"/>
                </a:lnTo>
                <a:lnTo>
                  <a:pt x="604926" y="35940"/>
                </a:lnTo>
                <a:close/>
              </a:path>
              <a:path w="628650" h="579120">
                <a:moveTo>
                  <a:pt x="531876" y="35940"/>
                </a:moveTo>
                <a:lnTo>
                  <a:pt x="513004" y="37975"/>
                </a:lnTo>
                <a:lnTo>
                  <a:pt x="516991" y="75940"/>
                </a:lnTo>
                <a:lnTo>
                  <a:pt x="519175" y="75437"/>
                </a:lnTo>
                <a:lnTo>
                  <a:pt x="535939" y="73786"/>
                </a:lnTo>
                <a:lnTo>
                  <a:pt x="531876" y="35940"/>
                </a:lnTo>
                <a:close/>
              </a:path>
              <a:path w="628650" h="579120">
                <a:moveTo>
                  <a:pt x="509015" y="0"/>
                </a:moveTo>
                <a:lnTo>
                  <a:pt x="513004" y="37975"/>
                </a:lnTo>
                <a:lnTo>
                  <a:pt x="531876" y="35940"/>
                </a:lnTo>
                <a:lnTo>
                  <a:pt x="604926" y="35940"/>
                </a:lnTo>
                <a:lnTo>
                  <a:pt x="509015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350002" y="4401311"/>
            <a:ext cx="1588007" cy="68732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91150" y="4418838"/>
            <a:ext cx="1390650" cy="545465"/>
          </a:xfrm>
          <a:custGeom>
            <a:avLst/>
            <a:gdLst/>
            <a:ahLst/>
            <a:cxnLst/>
            <a:rect l="l" t="t" r="r" b="b"/>
            <a:pathLst>
              <a:path w="1390650" h="545464">
                <a:moveTo>
                  <a:pt x="1277493" y="431164"/>
                </a:moveTo>
                <a:lnTo>
                  <a:pt x="1276732" y="469198"/>
                </a:lnTo>
                <a:lnTo>
                  <a:pt x="1295907" y="469645"/>
                </a:lnTo>
                <a:lnTo>
                  <a:pt x="1294892" y="507745"/>
                </a:lnTo>
                <a:lnTo>
                  <a:pt x="1275961" y="507745"/>
                </a:lnTo>
                <a:lnTo>
                  <a:pt x="1275206" y="545464"/>
                </a:lnTo>
                <a:lnTo>
                  <a:pt x="1354574" y="507745"/>
                </a:lnTo>
                <a:lnTo>
                  <a:pt x="1294892" y="507745"/>
                </a:lnTo>
                <a:lnTo>
                  <a:pt x="1275971" y="507246"/>
                </a:lnTo>
                <a:lnTo>
                  <a:pt x="1355625" y="507246"/>
                </a:lnTo>
                <a:lnTo>
                  <a:pt x="1390650" y="490600"/>
                </a:lnTo>
                <a:lnTo>
                  <a:pt x="1277493" y="431164"/>
                </a:lnTo>
                <a:close/>
              </a:path>
              <a:path w="1390650" h="545464">
                <a:moveTo>
                  <a:pt x="1276732" y="469198"/>
                </a:moveTo>
                <a:lnTo>
                  <a:pt x="1275971" y="507246"/>
                </a:lnTo>
                <a:lnTo>
                  <a:pt x="1294892" y="507745"/>
                </a:lnTo>
                <a:lnTo>
                  <a:pt x="1295907" y="469645"/>
                </a:lnTo>
                <a:lnTo>
                  <a:pt x="1276732" y="469198"/>
                </a:lnTo>
                <a:close/>
              </a:path>
              <a:path w="1390650" h="545464">
                <a:moveTo>
                  <a:pt x="38100" y="0"/>
                </a:moveTo>
                <a:lnTo>
                  <a:pt x="0" y="1524"/>
                </a:lnTo>
                <a:lnTo>
                  <a:pt x="508" y="13081"/>
                </a:lnTo>
                <a:lnTo>
                  <a:pt x="2159" y="26288"/>
                </a:lnTo>
                <a:lnTo>
                  <a:pt x="13462" y="64769"/>
                </a:lnTo>
                <a:lnTo>
                  <a:pt x="33654" y="102235"/>
                </a:lnTo>
                <a:lnTo>
                  <a:pt x="61975" y="138430"/>
                </a:lnTo>
                <a:lnTo>
                  <a:pt x="97536" y="173228"/>
                </a:lnTo>
                <a:lnTo>
                  <a:pt x="139953" y="206756"/>
                </a:lnTo>
                <a:lnTo>
                  <a:pt x="171830" y="228600"/>
                </a:lnTo>
                <a:lnTo>
                  <a:pt x="206501" y="249681"/>
                </a:lnTo>
                <a:lnTo>
                  <a:pt x="243839" y="270382"/>
                </a:lnTo>
                <a:lnTo>
                  <a:pt x="283717" y="290449"/>
                </a:lnTo>
                <a:lnTo>
                  <a:pt x="325882" y="310006"/>
                </a:lnTo>
                <a:lnTo>
                  <a:pt x="393319" y="337947"/>
                </a:lnTo>
                <a:lnTo>
                  <a:pt x="441071" y="355600"/>
                </a:lnTo>
                <a:lnTo>
                  <a:pt x="490727" y="372618"/>
                </a:lnTo>
                <a:lnTo>
                  <a:pt x="542289" y="388874"/>
                </a:lnTo>
                <a:lnTo>
                  <a:pt x="595502" y="404368"/>
                </a:lnTo>
                <a:lnTo>
                  <a:pt x="650494" y="418845"/>
                </a:lnTo>
                <a:lnTo>
                  <a:pt x="706754" y="432435"/>
                </a:lnTo>
                <a:lnTo>
                  <a:pt x="764539" y="445135"/>
                </a:lnTo>
                <a:lnTo>
                  <a:pt x="823595" y="456819"/>
                </a:lnTo>
                <a:lnTo>
                  <a:pt x="883792" y="467487"/>
                </a:lnTo>
                <a:lnTo>
                  <a:pt x="944752" y="477012"/>
                </a:lnTo>
                <a:lnTo>
                  <a:pt x="1006855" y="485394"/>
                </a:lnTo>
                <a:lnTo>
                  <a:pt x="1069594" y="492632"/>
                </a:lnTo>
                <a:lnTo>
                  <a:pt x="1132967" y="498729"/>
                </a:lnTo>
                <a:lnTo>
                  <a:pt x="1196975" y="503428"/>
                </a:lnTo>
                <a:lnTo>
                  <a:pt x="1261236" y="506856"/>
                </a:lnTo>
                <a:lnTo>
                  <a:pt x="1275971" y="507246"/>
                </a:lnTo>
                <a:lnTo>
                  <a:pt x="1276732" y="469198"/>
                </a:lnTo>
                <a:lnTo>
                  <a:pt x="1263269" y="468884"/>
                </a:lnTo>
                <a:lnTo>
                  <a:pt x="1199769" y="465455"/>
                </a:lnTo>
                <a:lnTo>
                  <a:pt x="1136650" y="460756"/>
                </a:lnTo>
                <a:lnTo>
                  <a:pt x="1073912" y="454787"/>
                </a:lnTo>
                <a:lnTo>
                  <a:pt x="1011936" y="447675"/>
                </a:lnTo>
                <a:lnTo>
                  <a:pt x="950722" y="439419"/>
                </a:lnTo>
                <a:lnTo>
                  <a:pt x="890397" y="430022"/>
                </a:lnTo>
                <a:lnTo>
                  <a:pt x="830961" y="419481"/>
                </a:lnTo>
                <a:lnTo>
                  <a:pt x="772795" y="407924"/>
                </a:lnTo>
                <a:lnTo>
                  <a:pt x="715772" y="395478"/>
                </a:lnTo>
                <a:lnTo>
                  <a:pt x="660146" y="382016"/>
                </a:lnTo>
                <a:lnTo>
                  <a:pt x="606171" y="367792"/>
                </a:lnTo>
                <a:lnTo>
                  <a:pt x="553720" y="352551"/>
                </a:lnTo>
                <a:lnTo>
                  <a:pt x="503047" y="336550"/>
                </a:lnTo>
                <a:lnTo>
                  <a:pt x="454278" y="319913"/>
                </a:lnTo>
                <a:lnTo>
                  <a:pt x="407670" y="302513"/>
                </a:lnTo>
                <a:lnTo>
                  <a:pt x="362965" y="284480"/>
                </a:lnTo>
                <a:lnTo>
                  <a:pt x="320801" y="265811"/>
                </a:lnTo>
                <a:lnTo>
                  <a:pt x="280924" y="246634"/>
                </a:lnTo>
                <a:lnTo>
                  <a:pt x="243712" y="226949"/>
                </a:lnTo>
                <a:lnTo>
                  <a:pt x="209169" y="206882"/>
                </a:lnTo>
                <a:lnTo>
                  <a:pt x="162813" y="176275"/>
                </a:lnTo>
                <a:lnTo>
                  <a:pt x="123062" y="144906"/>
                </a:lnTo>
                <a:lnTo>
                  <a:pt x="90804" y="113411"/>
                </a:lnTo>
                <a:lnTo>
                  <a:pt x="66039" y="82168"/>
                </a:lnTo>
                <a:lnTo>
                  <a:pt x="45212" y="41148"/>
                </a:lnTo>
                <a:lnTo>
                  <a:pt x="38608" y="11556"/>
                </a:lnTo>
                <a:lnTo>
                  <a:pt x="3810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81381" y="3353180"/>
            <a:ext cx="2209800" cy="2667000"/>
          </a:xfrm>
          <a:custGeom>
            <a:avLst/>
            <a:gdLst/>
            <a:ahLst/>
            <a:cxnLst/>
            <a:rect l="l" t="t" r="r" b="b"/>
            <a:pathLst>
              <a:path w="2209800" h="2667000">
                <a:moveTo>
                  <a:pt x="0" y="2667000"/>
                </a:moveTo>
                <a:lnTo>
                  <a:pt x="2209800" y="2667000"/>
                </a:lnTo>
                <a:lnTo>
                  <a:pt x="2209800" y="0"/>
                </a:lnTo>
                <a:lnTo>
                  <a:pt x="0" y="0"/>
                </a:lnTo>
                <a:lnTo>
                  <a:pt x="0" y="2667000"/>
                </a:lnTo>
                <a:close/>
              </a:path>
            </a:pathLst>
          </a:custGeom>
          <a:ln w="25146">
            <a:solidFill>
              <a:srgbClr val="C0504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09091" y="5097017"/>
            <a:ext cx="17538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" marR="5080" indent="-17780">
              <a:lnSpc>
                <a:spcPct val="100000"/>
              </a:lnSpc>
              <a:spcBef>
                <a:spcPts val="95"/>
              </a:spcBef>
            </a:pPr>
            <a:r>
              <a:rPr sz="1400" b="1" spc="-20" dirty="0">
                <a:solidFill>
                  <a:srgbClr val="C00000"/>
                </a:solidFill>
                <a:latin typeface="Trebuchet MS"/>
                <a:cs typeface="Trebuchet MS"/>
              </a:rPr>
              <a:t>Módulo </a:t>
            </a:r>
            <a:r>
              <a:rPr sz="1400" b="1" spc="-125" dirty="0">
                <a:solidFill>
                  <a:srgbClr val="C00000"/>
                </a:solidFill>
                <a:latin typeface="Trebuchet MS"/>
                <a:cs typeface="Trebuchet MS"/>
              </a:rPr>
              <a:t>1: </a:t>
            </a:r>
            <a:r>
              <a:rPr sz="1400" b="1" spc="-75" dirty="0">
                <a:solidFill>
                  <a:srgbClr val="C00000"/>
                </a:solidFill>
                <a:latin typeface="Trebuchet MS"/>
                <a:cs typeface="Trebuchet MS"/>
              </a:rPr>
              <a:t>(a)</a:t>
            </a:r>
            <a:r>
              <a:rPr sz="1400" b="1" spc="-229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400" b="1" spc="-90" dirty="0">
                <a:solidFill>
                  <a:srgbClr val="C00000"/>
                </a:solidFill>
                <a:latin typeface="Trebuchet MS"/>
                <a:cs typeface="Trebuchet MS"/>
              </a:rPr>
              <a:t>Cobranza  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mediante </a:t>
            </a:r>
            <a:r>
              <a:rPr sz="1400" b="1" spc="-80" dirty="0">
                <a:solidFill>
                  <a:srgbClr val="C00000"/>
                </a:solidFill>
                <a:latin typeface="Trebuchet MS"/>
                <a:cs typeface="Trebuchet MS"/>
              </a:rPr>
              <a:t>cobradores</a:t>
            </a:r>
            <a:r>
              <a:rPr sz="1400" b="1" spc="-1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400" b="1" spc="50" dirty="0">
                <a:solidFill>
                  <a:srgbClr val="C00000"/>
                </a:solidFill>
                <a:latin typeface="Trebuchet MS"/>
                <a:cs typeface="Trebuchet MS"/>
              </a:rPr>
              <a:t>/</a:t>
            </a:r>
            <a:endParaRPr sz="1400">
              <a:latin typeface="Trebuchet MS"/>
              <a:cs typeface="Trebuchet MS"/>
            </a:endParaRPr>
          </a:p>
          <a:p>
            <a:pPr marL="262255" marR="254000">
              <a:lnSpc>
                <a:spcPct val="100000"/>
              </a:lnSpc>
            </a:pPr>
            <a:r>
              <a:rPr sz="1400" b="1" spc="-75" dirty="0">
                <a:solidFill>
                  <a:srgbClr val="C00000"/>
                </a:solidFill>
                <a:latin typeface="Trebuchet MS"/>
                <a:cs typeface="Trebuchet MS"/>
              </a:rPr>
              <a:t>(b) </a:t>
            </a:r>
            <a:r>
              <a:rPr sz="1400" b="1" spc="-90" dirty="0">
                <a:solidFill>
                  <a:srgbClr val="C00000"/>
                </a:solidFill>
                <a:latin typeface="Trebuchet MS"/>
                <a:cs typeface="Trebuchet MS"/>
              </a:rPr>
              <a:t>Cobranza</a:t>
            </a:r>
            <a:r>
              <a:rPr sz="1400" b="1" spc="-20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C00000"/>
                </a:solidFill>
                <a:latin typeface="Trebuchet MS"/>
                <a:cs typeface="Trebuchet MS"/>
              </a:rPr>
              <a:t>por  </a:t>
            </a:r>
            <a:r>
              <a:rPr sz="1400" b="1" spc="-105" dirty="0">
                <a:solidFill>
                  <a:srgbClr val="C00000"/>
                </a:solidFill>
                <a:latin typeface="Trebuchet MS"/>
                <a:cs typeface="Trebuchet MS"/>
              </a:rPr>
              <a:t>cor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r</a:t>
            </a:r>
            <a:r>
              <a:rPr sz="1400" b="1" spc="-75" dirty="0">
                <a:solidFill>
                  <a:srgbClr val="C00000"/>
                </a:solidFill>
                <a:latin typeface="Trebuchet MS"/>
                <a:cs typeface="Trebuchet MS"/>
              </a:rPr>
              <a:t>espon</a:t>
            </a:r>
            <a:r>
              <a:rPr sz="1400" b="1" spc="-85" dirty="0">
                <a:solidFill>
                  <a:srgbClr val="C00000"/>
                </a:solidFill>
                <a:latin typeface="Trebuchet MS"/>
                <a:cs typeface="Trebuchet MS"/>
              </a:rPr>
              <a:t>dencia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11480" y="3710940"/>
            <a:ext cx="2073402" cy="10066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6948" y="3742944"/>
            <a:ext cx="1459230" cy="102260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7580" y="3734180"/>
            <a:ext cx="1981200" cy="9144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7580" y="3734180"/>
            <a:ext cx="1981200" cy="914400"/>
          </a:xfrm>
          <a:custGeom>
            <a:avLst/>
            <a:gdLst/>
            <a:ahLst/>
            <a:cxnLst/>
            <a:rect l="l" t="t" r="r" b="b"/>
            <a:pathLst>
              <a:path w="1981200" h="914400">
                <a:moveTo>
                  <a:pt x="0" y="457200"/>
                </a:moveTo>
                <a:lnTo>
                  <a:pt x="8341" y="397602"/>
                </a:lnTo>
                <a:lnTo>
                  <a:pt x="32669" y="340321"/>
                </a:lnTo>
                <a:lnTo>
                  <a:pt x="71939" y="285838"/>
                </a:lnTo>
                <a:lnTo>
                  <a:pt x="125107" y="234636"/>
                </a:lnTo>
                <a:lnTo>
                  <a:pt x="156576" y="210415"/>
                </a:lnTo>
                <a:lnTo>
                  <a:pt x="191129" y="187195"/>
                </a:lnTo>
                <a:lnTo>
                  <a:pt x="228633" y="165037"/>
                </a:lnTo>
                <a:lnTo>
                  <a:pt x="268960" y="144000"/>
                </a:lnTo>
                <a:lnTo>
                  <a:pt x="311978" y="124145"/>
                </a:lnTo>
                <a:lnTo>
                  <a:pt x="357556" y="105532"/>
                </a:lnTo>
                <a:lnTo>
                  <a:pt x="405565" y="88221"/>
                </a:lnTo>
                <a:lnTo>
                  <a:pt x="455874" y="72273"/>
                </a:lnTo>
                <a:lnTo>
                  <a:pt x="508351" y="57747"/>
                </a:lnTo>
                <a:lnTo>
                  <a:pt x="562868" y="44705"/>
                </a:lnTo>
                <a:lnTo>
                  <a:pt x="619292" y="33206"/>
                </a:lnTo>
                <a:lnTo>
                  <a:pt x="677494" y="23311"/>
                </a:lnTo>
                <a:lnTo>
                  <a:pt x="737343" y="15079"/>
                </a:lnTo>
                <a:lnTo>
                  <a:pt x="798709" y="8572"/>
                </a:lnTo>
                <a:lnTo>
                  <a:pt x="861461" y="3850"/>
                </a:lnTo>
                <a:lnTo>
                  <a:pt x="925468" y="972"/>
                </a:lnTo>
                <a:lnTo>
                  <a:pt x="990600" y="0"/>
                </a:lnTo>
                <a:lnTo>
                  <a:pt x="1055734" y="972"/>
                </a:lnTo>
                <a:lnTo>
                  <a:pt x="1119744" y="3850"/>
                </a:lnTo>
                <a:lnTo>
                  <a:pt x="1182497" y="8572"/>
                </a:lnTo>
                <a:lnTo>
                  <a:pt x="1243864" y="15079"/>
                </a:lnTo>
                <a:lnTo>
                  <a:pt x="1303714" y="23311"/>
                </a:lnTo>
                <a:lnTo>
                  <a:pt x="1361917" y="33206"/>
                </a:lnTo>
                <a:lnTo>
                  <a:pt x="1418342" y="44705"/>
                </a:lnTo>
                <a:lnTo>
                  <a:pt x="1472859" y="57747"/>
                </a:lnTo>
                <a:lnTo>
                  <a:pt x="1525337" y="72273"/>
                </a:lnTo>
                <a:lnTo>
                  <a:pt x="1575645" y="88221"/>
                </a:lnTo>
                <a:lnTo>
                  <a:pt x="1623653" y="105532"/>
                </a:lnTo>
                <a:lnTo>
                  <a:pt x="1669231" y="124145"/>
                </a:lnTo>
                <a:lnTo>
                  <a:pt x="1712248" y="144000"/>
                </a:lnTo>
                <a:lnTo>
                  <a:pt x="1752574" y="165037"/>
                </a:lnTo>
                <a:lnTo>
                  <a:pt x="1790078" y="187195"/>
                </a:lnTo>
                <a:lnTo>
                  <a:pt x="1824629" y="210415"/>
                </a:lnTo>
                <a:lnTo>
                  <a:pt x="1856097" y="234636"/>
                </a:lnTo>
                <a:lnTo>
                  <a:pt x="1909264" y="285838"/>
                </a:lnTo>
                <a:lnTo>
                  <a:pt x="1948532" y="340321"/>
                </a:lnTo>
                <a:lnTo>
                  <a:pt x="1972859" y="397602"/>
                </a:lnTo>
                <a:lnTo>
                  <a:pt x="1981200" y="457200"/>
                </a:lnTo>
                <a:lnTo>
                  <a:pt x="1979093" y="487257"/>
                </a:lnTo>
                <a:lnTo>
                  <a:pt x="1962628" y="545757"/>
                </a:lnTo>
                <a:lnTo>
                  <a:pt x="1930700" y="601699"/>
                </a:lnTo>
                <a:lnTo>
                  <a:pt x="1884352" y="654602"/>
                </a:lnTo>
                <a:lnTo>
                  <a:pt x="1824629" y="703984"/>
                </a:lnTo>
                <a:lnTo>
                  <a:pt x="1790078" y="727204"/>
                </a:lnTo>
                <a:lnTo>
                  <a:pt x="1752574" y="749362"/>
                </a:lnTo>
                <a:lnTo>
                  <a:pt x="1712248" y="770399"/>
                </a:lnTo>
                <a:lnTo>
                  <a:pt x="1669231" y="790254"/>
                </a:lnTo>
                <a:lnTo>
                  <a:pt x="1623653" y="808867"/>
                </a:lnTo>
                <a:lnTo>
                  <a:pt x="1575645" y="826178"/>
                </a:lnTo>
                <a:lnTo>
                  <a:pt x="1525337" y="842126"/>
                </a:lnTo>
                <a:lnTo>
                  <a:pt x="1472859" y="856652"/>
                </a:lnTo>
                <a:lnTo>
                  <a:pt x="1418342" y="869694"/>
                </a:lnTo>
                <a:lnTo>
                  <a:pt x="1361917" y="881193"/>
                </a:lnTo>
                <a:lnTo>
                  <a:pt x="1303714" y="891088"/>
                </a:lnTo>
                <a:lnTo>
                  <a:pt x="1243864" y="899320"/>
                </a:lnTo>
                <a:lnTo>
                  <a:pt x="1182497" y="905827"/>
                </a:lnTo>
                <a:lnTo>
                  <a:pt x="1119744" y="910549"/>
                </a:lnTo>
                <a:lnTo>
                  <a:pt x="1055734" y="913427"/>
                </a:lnTo>
                <a:lnTo>
                  <a:pt x="990600" y="914400"/>
                </a:lnTo>
                <a:lnTo>
                  <a:pt x="925468" y="913427"/>
                </a:lnTo>
                <a:lnTo>
                  <a:pt x="861461" y="910549"/>
                </a:lnTo>
                <a:lnTo>
                  <a:pt x="798709" y="905827"/>
                </a:lnTo>
                <a:lnTo>
                  <a:pt x="737343" y="899320"/>
                </a:lnTo>
                <a:lnTo>
                  <a:pt x="677494" y="891088"/>
                </a:lnTo>
                <a:lnTo>
                  <a:pt x="619292" y="881193"/>
                </a:lnTo>
                <a:lnTo>
                  <a:pt x="562868" y="869694"/>
                </a:lnTo>
                <a:lnTo>
                  <a:pt x="508351" y="856652"/>
                </a:lnTo>
                <a:lnTo>
                  <a:pt x="455874" y="842126"/>
                </a:lnTo>
                <a:lnTo>
                  <a:pt x="405565" y="826178"/>
                </a:lnTo>
                <a:lnTo>
                  <a:pt x="357556" y="808867"/>
                </a:lnTo>
                <a:lnTo>
                  <a:pt x="311978" y="790254"/>
                </a:lnTo>
                <a:lnTo>
                  <a:pt x="268960" y="770399"/>
                </a:lnTo>
                <a:lnTo>
                  <a:pt x="228633" y="749362"/>
                </a:lnTo>
                <a:lnTo>
                  <a:pt x="191129" y="727204"/>
                </a:lnTo>
                <a:lnTo>
                  <a:pt x="156576" y="703984"/>
                </a:lnTo>
                <a:lnTo>
                  <a:pt x="125107" y="679763"/>
                </a:lnTo>
                <a:lnTo>
                  <a:pt x="71939" y="628561"/>
                </a:lnTo>
                <a:lnTo>
                  <a:pt x="32669" y="574078"/>
                </a:lnTo>
                <a:lnTo>
                  <a:pt x="8341" y="516797"/>
                </a:lnTo>
                <a:lnTo>
                  <a:pt x="0" y="457200"/>
                </a:lnTo>
                <a:close/>
              </a:path>
            </a:pathLst>
          </a:custGeom>
          <a:ln w="9906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67333" y="3760470"/>
            <a:ext cx="1315974" cy="45415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12035" y="3760470"/>
            <a:ext cx="333756" cy="45415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16686" y="4004309"/>
            <a:ext cx="625601" cy="45415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16736" y="4004309"/>
            <a:ext cx="723900" cy="4541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26591" y="4248150"/>
            <a:ext cx="1060704" cy="45415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81125" y="3799585"/>
            <a:ext cx="113284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" marR="5080" indent="-149860">
              <a:lnSpc>
                <a:spcPct val="100000"/>
              </a:lnSpc>
              <a:spcBef>
                <a:spcPts val="100"/>
              </a:spcBef>
            </a:pPr>
            <a:r>
              <a:rPr sz="1600" b="1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600" b="1" spc="-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strume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600" b="1" spc="-70" dirty="0">
                <a:solidFill>
                  <a:srgbClr val="FFFFFF"/>
                </a:solidFill>
                <a:latin typeface="Trebuchet MS"/>
                <a:cs typeface="Trebuchet MS"/>
              </a:rPr>
              <a:t>ta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- 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ción de </a:t>
            </a:r>
            <a:r>
              <a:rPr sz="1600" b="1" spc="-70" dirty="0">
                <a:solidFill>
                  <a:srgbClr val="FFFFFF"/>
                </a:solidFill>
                <a:latin typeface="Trebuchet MS"/>
                <a:cs typeface="Trebuchet MS"/>
              </a:rPr>
              <a:t>la  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Cobranza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087879" y="4495800"/>
            <a:ext cx="887730" cy="63626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129027" y="4513198"/>
            <a:ext cx="690245" cy="488315"/>
          </a:xfrm>
          <a:custGeom>
            <a:avLst/>
            <a:gdLst/>
            <a:ahLst/>
            <a:cxnLst/>
            <a:rect l="l" t="t" r="r" b="b"/>
            <a:pathLst>
              <a:path w="690244" h="488314">
                <a:moveTo>
                  <a:pt x="574962" y="449761"/>
                </a:moveTo>
                <a:lnTo>
                  <a:pt x="572135" y="488188"/>
                </a:lnTo>
                <a:lnTo>
                  <a:pt x="660948" y="451612"/>
                </a:lnTo>
                <a:lnTo>
                  <a:pt x="593471" y="451612"/>
                </a:lnTo>
                <a:lnTo>
                  <a:pt x="574962" y="449761"/>
                </a:lnTo>
                <a:close/>
              </a:path>
              <a:path w="690244" h="488314">
                <a:moveTo>
                  <a:pt x="577752" y="411844"/>
                </a:moveTo>
                <a:lnTo>
                  <a:pt x="574962" y="449761"/>
                </a:lnTo>
                <a:lnTo>
                  <a:pt x="593471" y="451612"/>
                </a:lnTo>
                <a:lnTo>
                  <a:pt x="597154" y="413638"/>
                </a:lnTo>
                <a:lnTo>
                  <a:pt x="577752" y="411844"/>
                </a:lnTo>
                <a:close/>
              </a:path>
              <a:path w="690244" h="488314">
                <a:moveTo>
                  <a:pt x="580517" y="374269"/>
                </a:moveTo>
                <a:lnTo>
                  <a:pt x="577752" y="411844"/>
                </a:lnTo>
                <a:lnTo>
                  <a:pt x="597154" y="413638"/>
                </a:lnTo>
                <a:lnTo>
                  <a:pt x="593471" y="451612"/>
                </a:lnTo>
                <a:lnTo>
                  <a:pt x="660948" y="451612"/>
                </a:lnTo>
                <a:lnTo>
                  <a:pt x="690245" y="439546"/>
                </a:lnTo>
                <a:lnTo>
                  <a:pt x="580517" y="374269"/>
                </a:lnTo>
                <a:close/>
              </a:path>
              <a:path w="690244" h="488314">
                <a:moveTo>
                  <a:pt x="38100" y="0"/>
                </a:moveTo>
                <a:lnTo>
                  <a:pt x="0" y="1777"/>
                </a:lnTo>
                <a:lnTo>
                  <a:pt x="1016" y="22351"/>
                </a:lnTo>
                <a:lnTo>
                  <a:pt x="3937" y="44576"/>
                </a:lnTo>
                <a:lnTo>
                  <a:pt x="16002" y="88518"/>
                </a:lnTo>
                <a:lnTo>
                  <a:pt x="35052" y="131190"/>
                </a:lnTo>
                <a:lnTo>
                  <a:pt x="60960" y="172593"/>
                </a:lnTo>
                <a:lnTo>
                  <a:pt x="92583" y="212217"/>
                </a:lnTo>
                <a:lnTo>
                  <a:pt x="129794" y="249808"/>
                </a:lnTo>
                <a:lnTo>
                  <a:pt x="171704" y="285242"/>
                </a:lnTo>
                <a:lnTo>
                  <a:pt x="218059" y="318262"/>
                </a:lnTo>
                <a:lnTo>
                  <a:pt x="268478" y="348488"/>
                </a:lnTo>
                <a:lnTo>
                  <a:pt x="322072" y="375793"/>
                </a:lnTo>
                <a:lnTo>
                  <a:pt x="378714" y="399669"/>
                </a:lnTo>
                <a:lnTo>
                  <a:pt x="438023" y="419988"/>
                </a:lnTo>
                <a:lnTo>
                  <a:pt x="499110" y="436371"/>
                </a:lnTo>
                <a:lnTo>
                  <a:pt x="561721" y="448437"/>
                </a:lnTo>
                <a:lnTo>
                  <a:pt x="574962" y="449761"/>
                </a:lnTo>
                <a:lnTo>
                  <a:pt x="577752" y="411844"/>
                </a:lnTo>
                <a:lnTo>
                  <a:pt x="568325" y="410971"/>
                </a:lnTo>
                <a:lnTo>
                  <a:pt x="538226" y="405764"/>
                </a:lnTo>
                <a:lnTo>
                  <a:pt x="478790" y="392049"/>
                </a:lnTo>
                <a:lnTo>
                  <a:pt x="421132" y="374523"/>
                </a:lnTo>
                <a:lnTo>
                  <a:pt x="365506" y="353313"/>
                </a:lnTo>
                <a:lnTo>
                  <a:pt x="312674" y="328930"/>
                </a:lnTo>
                <a:lnTo>
                  <a:pt x="263017" y="301498"/>
                </a:lnTo>
                <a:lnTo>
                  <a:pt x="217043" y="271399"/>
                </a:lnTo>
                <a:lnTo>
                  <a:pt x="175260" y="239268"/>
                </a:lnTo>
                <a:lnTo>
                  <a:pt x="138303" y="205105"/>
                </a:lnTo>
                <a:lnTo>
                  <a:pt x="106426" y="169671"/>
                </a:lnTo>
                <a:lnTo>
                  <a:pt x="80137" y="132969"/>
                </a:lnTo>
                <a:lnTo>
                  <a:pt x="60071" y="95631"/>
                </a:lnTo>
                <a:lnTo>
                  <a:pt x="46228" y="58165"/>
                </a:lnTo>
                <a:lnTo>
                  <a:pt x="38989" y="20574"/>
                </a:lnTo>
                <a:lnTo>
                  <a:pt x="38100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79551" y="1076705"/>
            <a:ext cx="6620305" cy="5186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360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25" dirty="0"/>
              <a:t>Cobranzas</a:t>
            </a:r>
            <a:r>
              <a:rPr spc="-229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85" dirty="0">
                <a:latin typeface="Arial"/>
                <a:cs typeface="Arial"/>
              </a:rPr>
              <a:t>Visión de </a:t>
            </a:r>
            <a:r>
              <a:rPr sz="1800" b="0" spc="-20" dirty="0">
                <a:latin typeface="Arial"/>
                <a:cs typeface="Arial"/>
              </a:rPr>
              <a:t>alto </a:t>
            </a:r>
            <a:r>
              <a:rPr sz="1800" b="0" spc="-50" dirty="0">
                <a:latin typeface="Arial"/>
                <a:cs typeface="Arial"/>
              </a:rPr>
              <a:t>nivel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45" dirty="0">
                <a:latin typeface="Arial"/>
                <a:cs typeface="Arial"/>
              </a:rPr>
              <a:t>procedimiento</a:t>
            </a:r>
            <a:r>
              <a:rPr sz="1800" b="0" spc="-1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54040" y="3982211"/>
            <a:ext cx="139446" cy="1424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41847" y="3906773"/>
            <a:ext cx="281749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latin typeface="Trebuchet MS"/>
                <a:cs typeface="Trebuchet MS"/>
              </a:rPr>
              <a:t>Actores </a:t>
            </a:r>
            <a:r>
              <a:rPr sz="1600" b="1" spc="60" dirty="0">
                <a:latin typeface="Trebuchet MS"/>
                <a:cs typeface="Trebuchet MS"/>
              </a:rPr>
              <a:t>/ </a:t>
            </a:r>
            <a:r>
              <a:rPr sz="1600" b="1" spc="-80" dirty="0">
                <a:latin typeface="Trebuchet MS"/>
                <a:cs typeface="Trebuchet MS"/>
              </a:rPr>
              <a:t>Áreas</a:t>
            </a:r>
            <a:r>
              <a:rPr sz="1600" b="1" spc="-360" dirty="0">
                <a:latin typeface="Trebuchet MS"/>
                <a:cs typeface="Trebuchet MS"/>
              </a:rPr>
              <a:t> </a:t>
            </a:r>
            <a:r>
              <a:rPr sz="1600" b="1" spc="-90" dirty="0">
                <a:latin typeface="Trebuchet MS"/>
                <a:cs typeface="Trebuchet MS"/>
              </a:rPr>
              <a:t>involucradas:</a:t>
            </a:r>
            <a:endParaRPr sz="1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10" dirty="0">
                <a:latin typeface="Arial"/>
                <a:cs typeface="Arial"/>
              </a:rPr>
              <a:t>Banco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65" dirty="0">
                <a:latin typeface="Arial"/>
                <a:cs typeface="Arial"/>
              </a:rPr>
              <a:t>Cliente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latin typeface="Arial"/>
                <a:cs typeface="Arial"/>
              </a:rPr>
              <a:t>Secretaría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75" dirty="0">
                <a:latin typeface="Arial"/>
                <a:cs typeface="Arial"/>
              </a:rPr>
              <a:t>Cobrador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90" dirty="0">
                <a:latin typeface="Arial"/>
                <a:cs typeface="Arial"/>
              </a:rPr>
              <a:t>Tesorería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20" dirty="0">
                <a:latin typeface="Arial"/>
                <a:cs typeface="Arial"/>
              </a:rPr>
              <a:t>Cobranzas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75" dirty="0">
                <a:latin typeface="Arial"/>
                <a:cs typeface="Arial"/>
              </a:rPr>
              <a:t>Contaduría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25" dirty="0"/>
              <a:t>Cobranzas</a:t>
            </a:r>
            <a:r>
              <a:rPr spc="-27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258" y="500126"/>
            <a:ext cx="4696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Ia: 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Cobranza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mediante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cobradores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5115" y="31866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5115" y="3872484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5115" y="5472684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9241" y="999490"/>
            <a:ext cx="8221345" cy="528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725" algn="just">
              <a:lnSpc>
                <a:spcPct val="100000"/>
              </a:lnSpc>
              <a:spcBef>
                <a:spcPts val="100"/>
              </a:spcBef>
            </a:pPr>
            <a:r>
              <a:rPr sz="3000" spc="-270" dirty="0">
                <a:latin typeface="Arial"/>
                <a:cs typeface="Arial"/>
              </a:rPr>
              <a:t>A </a:t>
            </a:r>
            <a:r>
              <a:rPr sz="3000" spc="-15" dirty="0">
                <a:latin typeface="Arial"/>
                <a:cs typeface="Arial"/>
              </a:rPr>
              <a:t>partir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120" dirty="0">
                <a:latin typeface="Arial"/>
                <a:cs typeface="Arial"/>
              </a:rPr>
              <a:t>recepción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45" dirty="0">
                <a:latin typeface="Arial"/>
                <a:cs typeface="Arial"/>
              </a:rPr>
              <a:t>Factura, </a:t>
            </a:r>
            <a:r>
              <a:rPr sz="3000" spc="-215" dirty="0">
                <a:latin typeface="Arial"/>
                <a:cs typeface="Arial"/>
              </a:rPr>
              <a:t>Cobranzas  </a:t>
            </a:r>
            <a:r>
              <a:rPr sz="3000" spc="-60" dirty="0">
                <a:latin typeface="Arial"/>
                <a:cs typeface="Arial"/>
              </a:rPr>
              <a:t>emite </a:t>
            </a:r>
            <a:r>
              <a:rPr sz="3000" spc="-95" dirty="0">
                <a:latin typeface="Arial"/>
                <a:cs typeface="Arial"/>
              </a:rPr>
              <a:t>un </a:t>
            </a:r>
            <a:r>
              <a:rPr sz="3000" spc="-145" dirty="0">
                <a:latin typeface="Arial"/>
                <a:cs typeface="Arial"/>
              </a:rPr>
              <a:t>Listado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215" dirty="0">
                <a:latin typeface="Arial"/>
                <a:cs typeface="Arial"/>
              </a:rPr>
              <a:t>Cobranzas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254" dirty="0">
                <a:latin typeface="Arial"/>
                <a:cs typeface="Arial"/>
              </a:rPr>
              <a:t>se </a:t>
            </a:r>
            <a:r>
              <a:rPr sz="3000" spc="-35" dirty="0">
                <a:latin typeface="Arial"/>
                <a:cs typeface="Arial"/>
              </a:rPr>
              <a:t>lo </a:t>
            </a:r>
            <a:r>
              <a:rPr sz="3000" spc="-105" dirty="0">
                <a:latin typeface="Arial"/>
                <a:cs typeface="Arial"/>
              </a:rPr>
              <a:t>entrega </a:t>
            </a:r>
            <a:r>
              <a:rPr sz="3000" spc="-110" dirty="0">
                <a:latin typeface="Arial"/>
                <a:cs typeface="Arial"/>
              </a:rPr>
              <a:t>al  </a:t>
            </a:r>
            <a:r>
              <a:rPr sz="3000" spc="-135" dirty="0">
                <a:latin typeface="Arial"/>
                <a:cs typeface="Arial"/>
              </a:rPr>
              <a:t>Cobrador para </a:t>
            </a:r>
            <a:r>
              <a:rPr sz="3000" spc="-125" dirty="0">
                <a:latin typeface="Arial"/>
                <a:cs typeface="Arial"/>
              </a:rPr>
              <a:t>que </a:t>
            </a:r>
            <a:r>
              <a:rPr sz="3000" spc="-120" dirty="0">
                <a:latin typeface="Arial"/>
                <a:cs typeface="Arial"/>
              </a:rPr>
              <a:t>gestione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120" dirty="0">
                <a:latin typeface="Arial"/>
                <a:cs typeface="Arial"/>
              </a:rPr>
              <a:t>recepción </a:t>
            </a:r>
            <a:r>
              <a:rPr sz="3000" spc="-140" dirty="0">
                <a:latin typeface="Arial"/>
                <a:cs typeface="Arial"/>
              </a:rPr>
              <a:t>de  </a:t>
            </a:r>
            <a:r>
              <a:rPr sz="3000" spc="-180" dirty="0">
                <a:latin typeface="Arial"/>
                <a:cs typeface="Arial"/>
              </a:rPr>
              <a:t>las  </a:t>
            </a:r>
            <a:r>
              <a:rPr sz="3000" spc="-165" dirty="0">
                <a:latin typeface="Arial"/>
                <a:cs typeface="Arial"/>
              </a:rPr>
              <a:t>mismas.</a:t>
            </a:r>
            <a:endParaRPr sz="3000">
              <a:latin typeface="Arial"/>
              <a:cs typeface="Arial"/>
            </a:endParaRPr>
          </a:p>
          <a:p>
            <a:pPr marL="98425">
              <a:lnSpc>
                <a:spcPct val="100000"/>
              </a:lnSpc>
              <a:spcBef>
                <a:spcPts val="1800"/>
              </a:spcBef>
            </a:pPr>
            <a:r>
              <a:rPr sz="3000" spc="-260" dirty="0">
                <a:latin typeface="Arial"/>
                <a:cs typeface="Arial"/>
              </a:rPr>
              <a:t>El </a:t>
            </a:r>
            <a:r>
              <a:rPr sz="3000" spc="-135" dirty="0">
                <a:latin typeface="Arial"/>
                <a:cs typeface="Arial"/>
              </a:rPr>
              <a:t>Cobrador </a:t>
            </a:r>
            <a:r>
              <a:rPr sz="3000" spc="-105" dirty="0">
                <a:latin typeface="Arial"/>
                <a:cs typeface="Arial"/>
              </a:rPr>
              <a:t>entrega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90" dirty="0">
                <a:latin typeface="Arial"/>
                <a:cs typeface="Arial"/>
              </a:rPr>
              <a:t>recibo </a:t>
            </a:r>
            <a:r>
              <a:rPr sz="3000" spc="-105" dirty="0">
                <a:latin typeface="Arial"/>
                <a:cs typeface="Arial"/>
              </a:rPr>
              <a:t>al</a:t>
            </a:r>
            <a:r>
              <a:rPr sz="3000" spc="-335" dirty="0">
                <a:latin typeface="Arial"/>
                <a:cs typeface="Arial"/>
              </a:rPr>
              <a:t> </a:t>
            </a:r>
            <a:r>
              <a:rPr sz="3000" spc="-70" dirty="0">
                <a:latin typeface="Arial"/>
                <a:cs typeface="Arial"/>
              </a:rPr>
              <a:t>cliente.</a:t>
            </a:r>
            <a:endParaRPr sz="3000">
              <a:latin typeface="Arial"/>
              <a:cs typeface="Arial"/>
            </a:endParaRPr>
          </a:p>
          <a:p>
            <a:pPr marL="12700" marR="5080" indent="85725" algn="just">
              <a:lnSpc>
                <a:spcPct val="100000"/>
              </a:lnSpc>
              <a:spcBef>
                <a:spcPts val="1800"/>
              </a:spcBef>
            </a:pPr>
            <a:r>
              <a:rPr sz="3000" spc="-190" dirty="0">
                <a:latin typeface="Arial"/>
                <a:cs typeface="Arial"/>
              </a:rPr>
              <a:t>Luego,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120" dirty="0">
                <a:latin typeface="Arial"/>
                <a:cs typeface="Arial"/>
              </a:rPr>
              <a:t>Cliente </a:t>
            </a:r>
            <a:r>
              <a:rPr sz="3000" spc="-105" dirty="0">
                <a:latin typeface="Arial"/>
                <a:cs typeface="Arial"/>
              </a:rPr>
              <a:t>entrega </a:t>
            </a:r>
            <a:r>
              <a:rPr sz="3000" spc="-95" dirty="0">
                <a:latin typeface="Arial"/>
                <a:cs typeface="Arial"/>
              </a:rPr>
              <a:t>un </a:t>
            </a:r>
            <a:r>
              <a:rPr sz="3000" spc="-210" dirty="0">
                <a:latin typeface="Arial"/>
                <a:cs typeface="Arial"/>
              </a:rPr>
              <a:t>Cheque </a:t>
            </a:r>
            <a:r>
              <a:rPr sz="3000" spc="-105" dirty="0">
                <a:latin typeface="Arial"/>
                <a:cs typeface="Arial"/>
              </a:rPr>
              <a:t>al </a:t>
            </a:r>
            <a:r>
              <a:rPr sz="3000" spc="-140" dirty="0">
                <a:latin typeface="Arial"/>
                <a:cs typeface="Arial"/>
              </a:rPr>
              <a:t>Cobrador en  </a:t>
            </a:r>
            <a:r>
              <a:rPr sz="3000" spc="-60" dirty="0">
                <a:latin typeface="Arial"/>
                <a:cs typeface="Arial"/>
              </a:rPr>
              <a:t>forma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55" dirty="0">
                <a:latin typeface="Arial"/>
                <a:cs typeface="Arial"/>
              </a:rPr>
              <a:t>pago. </a:t>
            </a:r>
            <a:r>
              <a:rPr sz="3000" spc="-204" dirty="0">
                <a:latin typeface="Arial"/>
                <a:cs typeface="Arial"/>
              </a:rPr>
              <a:t>Cobranzas, </a:t>
            </a:r>
            <a:r>
              <a:rPr sz="3000" spc="-100" dirty="0">
                <a:latin typeface="Arial"/>
                <a:cs typeface="Arial"/>
              </a:rPr>
              <a:t>paralelamente, </a:t>
            </a:r>
            <a:r>
              <a:rPr sz="3000" spc="-130" dirty="0">
                <a:latin typeface="Arial"/>
                <a:cs typeface="Arial"/>
              </a:rPr>
              <a:t>actualiza 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145" dirty="0">
                <a:latin typeface="Arial"/>
                <a:cs typeface="Arial"/>
              </a:rPr>
              <a:t>Listado </a:t>
            </a:r>
            <a:r>
              <a:rPr sz="3000" spc="-135" dirty="0">
                <a:latin typeface="Arial"/>
                <a:cs typeface="Arial"/>
              </a:rPr>
              <a:t>de</a:t>
            </a:r>
            <a:r>
              <a:rPr sz="3000" spc="-270" dirty="0">
                <a:latin typeface="Arial"/>
                <a:cs typeface="Arial"/>
              </a:rPr>
              <a:t> </a:t>
            </a:r>
            <a:r>
              <a:rPr sz="3000" spc="-200" dirty="0">
                <a:latin typeface="Arial"/>
                <a:cs typeface="Arial"/>
              </a:rPr>
              <a:t>Cobranzas.</a:t>
            </a:r>
            <a:endParaRPr sz="3000">
              <a:latin typeface="Arial"/>
              <a:cs typeface="Arial"/>
            </a:endParaRPr>
          </a:p>
          <a:p>
            <a:pPr marL="12700" marR="6985" indent="85725" algn="just">
              <a:lnSpc>
                <a:spcPct val="100000"/>
              </a:lnSpc>
              <a:spcBef>
                <a:spcPts val="1800"/>
              </a:spcBef>
            </a:pPr>
            <a:r>
              <a:rPr sz="3000" spc="-114" dirty="0">
                <a:latin typeface="Arial"/>
                <a:cs typeface="Arial"/>
              </a:rPr>
              <a:t>Finalmente, </a:t>
            </a:r>
            <a:r>
              <a:rPr sz="3000" spc="-165" dirty="0">
                <a:latin typeface="Arial"/>
                <a:cs typeface="Arial"/>
              </a:rPr>
              <a:t>Tesorería </a:t>
            </a:r>
            <a:r>
              <a:rPr sz="3000" spc="-70" dirty="0">
                <a:latin typeface="Arial"/>
                <a:cs typeface="Arial"/>
              </a:rPr>
              <a:t>obtiene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210" dirty="0">
                <a:latin typeface="Arial"/>
                <a:cs typeface="Arial"/>
              </a:rPr>
              <a:t>Cheque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65" dirty="0">
                <a:latin typeface="Arial"/>
                <a:cs typeface="Arial"/>
              </a:rPr>
              <a:t>controla 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70" dirty="0">
                <a:latin typeface="Arial"/>
                <a:cs typeface="Arial"/>
              </a:rPr>
              <a:t>integridad </a:t>
            </a:r>
            <a:r>
              <a:rPr sz="3000" spc="-145" dirty="0">
                <a:latin typeface="Arial"/>
                <a:cs typeface="Arial"/>
              </a:rPr>
              <a:t>y adecuación </a:t>
            </a:r>
            <a:r>
              <a:rPr sz="3000" spc="-90" dirty="0">
                <a:latin typeface="Arial"/>
                <a:cs typeface="Arial"/>
              </a:rPr>
              <a:t>del</a:t>
            </a:r>
            <a:r>
              <a:rPr sz="3000" spc="-385" dirty="0">
                <a:latin typeface="Arial"/>
                <a:cs typeface="Arial"/>
              </a:rPr>
              <a:t> </a:t>
            </a:r>
            <a:r>
              <a:rPr sz="3000" spc="-155" dirty="0">
                <a:latin typeface="Arial"/>
                <a:cs typeface="Arial"/>
              </a:rPr>
              <a:t>pago.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lang="es-AR" b="1" spc="-10" dirty="0">
                <a:latin typeface="Arial"/>
                <a:cs typeface="Arial"/>
              </a:rPr>
              <a:t> - 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541" y="193801"/>
            <a:ext cx="5669280" cy="6161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Cobranzas</a:t>
            </a:r>
            <a:r>
              <a:rPr sz="2000" b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Ia: 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Cobranza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mediante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cobradores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</a:pPr>
            <a:r>
              <a:rPr sz="3000" b="1" spc="-160" dirty="0">
                <a:latin typeface="Trebuchet MS"/>
                <a:cs typeface="Trebuchet MS"/>
              </a:rPr>
              <a:t>Controles</a:t>
            </a:r>
            <a:r>
              <a:rPr sz="3000" b="1" spc="-229" dirty="0">
                <a:latin typeface="Trebuchet MS"/>
                <a:cs typeface="Trebuchet MS"/>
              </a:rPr>
              <a:t> </a:t>
            </a:r>
            <a:r>
              <a:rPr sz="3000" b="1" spc="-160" dirty="0">
                <a:latin typeface="Trebuchet MS"/>
                <a:cs typeface="Trebuchet MS"/>
              </a:rPr>
              <a:t>instrumentados:</a:t>
            </a:r>
            <a:endParaRPr sz="3000">
              <a:latin typeface="Trebuchet MS"/>
              <a:cs typeface="Trebuchet MS"/>
            </a:endParaRPr>
          </a:p>
          <a:p>
            <a:pPr marL="279400" indent="-266700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b="1" spc="-160" dirty="0">
                <a:latin typeface="Trebuchet MS"/>
                <a:cs typeface="Trebuchet MS"/>
              </a:rPr>
              <a:t>Recibo </a:t>
            </a:r>
            <a:r>
              <a:rPr sz="2600" b="1" spc="-130" dirty="0">
                <a:latin typeface="Trebuchet MS"/>
                <a:cs typeface="Trebuchet MS"/>
              </a:rPr>
              <a:t>provisorio </a:t>
            </a:r>
            <a:r>
              <a:rPr sz="2600" b="1" spc="100" dirty="0">
                <a:latin typeface="Trebuchet MS"/>
                <a:cs typeface="Trebuchet MS"/>
              </a:rPr>
              <a:t>/ </a:t>
            </a:r>
            <a:r>
              <a:rPr sz="2600" b="1" spc="-160" dirty="0">
                <a:latin typeface="Trebuchet MS"/>
                <a:cs typeface="Trebuchet MS"/>
              </a:rPr>
              <a:t>Recibo</a:t>
            </a:r>
            <a:r>
              <a:rPr sz="2600" b="1" spc="-580" dirty="0">
                <a:latin typeface="Trebuchet MS"/>
                <a:cs typeface="Trebuchet MS"/>
              </a:rPr>
              <a:t> </a:t>
            </a:r>
            <a:r>
              <a:rPr sz="2600" b="1" spc="-140" dirty="0">
                <a:latin typeface="Trebuchet MS"/>
                <a:cs typeface="Trebuchet MS"/>
              </a:rPr>
              <a:t>oficial</a:t>
            </a:r>
            <a:endParaRPr sz="2600">
              <a:latin typeface="Trebuchet MS"/>
              <a:cs typeface="Trebuchet MS"/>
            </a:endParaRPr>
          </a:p>
          <a:p>
            <a:pPr marL="736600" marR="5080" lvl="1" indent="-266700" algn="just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35" dirty="0">
                <a:latin typeface="Arial"/>
                <a:cs typeface="Arial"/>
              </a:rPr>
              <a:t>Algunas </a:t>
            </a:r>
            <a:r>
              <a:rPr sz="2200" spc="-120" dirty="0">
                <a:latin typeface="Arial"/>
                <a:cs typeface="Arial"/>
              </a:rPr>
              <a:t>organizaciones </a:t>
            </a:r>
            <a:r>
              <a:rPr sz="2200" spc="-50" dirty="0">
                <a:latin typeface="Arial"/>
                <a:cs typeface="Arial"/>
              </a:rPr>
              <a:t>emiten </a:t>
            </a:r>
            <a:r>
              <a:rPr sz="2200" spc="-70" dirty="0">
                <a:latin typeface="Arial"/>
                <a:cs typeface="Arial"/>
              </a:rPr>
              <a:t>un </a:t>
            </a:r>
            <a:r>
              <a:rPr sz="2200" spc="-75" dirty="0">
                <a:latin typeface="Arial"/>
                <a:cs typeface="Arial"/>
              </a:rPr>
              <a:t>recibo  </a:t>
            </a:r>
            <a:r>
              <a:rPr sz="2200" spc="-60" dirty="0">
                <a:latin typeface="Arial"/>
                <a:cs typeface="Arial"/>
              </a:rPr>
              <a:t>provisorio </a:t>
            </a:r>
            <a:r>
              <a:rPr sz="2200" spc="-110" dirty="0">
                <a:latin typeface="Arial"/>
                <a:cs typeface="Arial"/>
              </a:rPr>
              <a:t>cuando </a:t>
            </a:r>
            <a:r>
              <a:rPr sz="2200" spc="-85" dirty="0">
                <a:latin typeface="Arial"/>
                <a:cs typeface="Arial"/>
              </a:rPr>
              <a:t>reciben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10" dirty="0">
                <a:latin typeface="Arial"/>
                <a:cs typeface="Arial"/>
              </a:rPr>
              <a:t>cheque </a:t>
            </a:r>
            <a:r>
              <a:rPr sz="2200" spc="-100" dirty="0">
                <a:latin typeface="Arial"/>
                <a:cs typeface="Arial"/>
              </a:rPr>
              <a:t>de los  </a:t>
            </a:r>
            <a:r>
              <a:rPr sz="2200" spc="-85" dirty="0">
                <a:latin typeface="Arial"/>
                <a:cs typeface="Arial"/>
              </a:rPr>
              <a:t>clientes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5" dirty="0">
                <a:latin typeface="Arial"/>
                <a:cs typeface="Arial"/>
              </a:rPr>
              <a:t>recibo </a:t>
            </a:r>
            <a:r>
              <a:rPr sz="2200" spc="-50" dirty="0">
                <a:latin typeface="Arial"/>
                <a:cs typeface="Arial"/>
              </a:rPr>
              <a:t>oficial </a:t>
            </a:r>
            <a:r>
              <a:rPr sz="2200" spc="-110" dirty="0">
                <a:latin typeface="Arial"/>
                <a:cs typeface="Arial"/>
              </a:rPr>
              <a:t>cuando </a:t>
            </a:r>
            <a:r>
              <a:rPr sz="2200" spc="-35" dirty="0">
                <a:latin typeface="Arial"/>
                <a:cs typeface="Arial"/>
              </a:rPr>
              <a:t>lo  </a:t>
            </a:r>
            <a:r>
              <a:rPr sz="2200" spc="-80" dirty="0">
                <a:latin typeface="Arial"/>
                <a:cs typeface="Arial"/>
              </a:rPr>
              <a:t>depositan. </a:t>
            </a:r>
            <a:r>
              <a:rPr sz="2200" spc="-160" dirty="0">
                <a:latin typeface="Arial"/>
                <a:cs typeface="Arial"/>
              </a:rPr>
              <a:t>Esto </a:t>
            </a:r>
            <a:r>
              <a:rPr sz="2200" spc="-120" dirty="0">
                <a:latin typeface="Arial"/>
                <a:cs typeface="Arial"/>
              </a:rPr>
              <a:t>genera </a:t>
            </a:r>
            <a:r>
              <a:rPr sz="2200" spc="-70" dirty="0">
                <a:latin typeface="Arial"/>
                <a:cs typeface="Arial"/>
              </a:rPr>
              <a:t>un doble</a:t>
            </a:r>
            <a:r>
              <a:rPr sz="2200" spc="-185" dirty="0"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trabajo;</a:t>
            </a:r>
            <a:endParaRPr sz="2200">
              <a:latin typeface="Arial"/>
              <a:cs typeface="Arial"/>
            </a:endParaRPr>
          </a:p>
          <a:p>
            <a:pPr marL="736600" marR="5080" lvl="1" indent="-266700" algn="just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20" dirty="0">
                <a:latin typeface="Arial"/>
                <a:cs typeface="Arial"/>
              </a:rPr>
              <a:t>Mejor: </a:t>
            </a:r>
            <a:r>
              <a:rPr sz="2200" spc="-105" dirty="0">
                <a:latin typeface="Arial"/>
                <a:cs typeface="Arial"/>
              </a:rPr>
              <a:t>hacer </a:t>
            </a:r>
            <a:r>
              <a:rPr sz="2200" spc="-95" dirty="0">
                <a:latin typeface="Arial"/>
                <a:cs typeface="Arial"/>
              </a:rPr>
              <a:t>sólo </a:t>
            </a:r>
            <a:r>
              <a:rPr sz="2200" spc="-100" dirty="0">
                <a:latin typeface="Arial"/>
                <a:cs typeface="Arial"/>
              </a:rPr>
              <a:t>recibos </a:t>
            </a:r>
            <a:r>
              <a:rPr sz="2200" spc="-50" dirty="0">
                <a:latin typeface="Arial"/>
                <a:cs typeface="Arial"/>
              </a:rPr>
              <a:t>definitivos </a:t>
            </a:r>
            <a:r>
              <a:rPr sz="2200" spc="-114" dirty="0">
                <a:latin typeface="Arial"/>
                <a:cs typeface="Arial"/>
              </a:rPr>
              <a:t>con </a:t>
            </a:r>
            <a:r>
              <a:rPr sz="2200" spc="-90" dirty="0">
                <a:latin typeface="Arial"/>
                <a:cs typeface="Arial"/>
              </a:rPr>
              <a:t>la  </a:t>
            </a:r>
            <a:r>
              <a:rPr sz="2200" spc="-100" dirty="0">
                <a:latin typeface="Arial"/>
                <a:cs typeface="Arial"/>
              </a:rPr>
              <a:t>leyenda </a:t>
            </a:r>
            <a:r>
              <a:rPr sz="2200" spc="-80" dirty="0">
                <a:latin typeface="Arial"/>
                <a:cs typeface="Arial"/>
              </a:rPr>
              <a:t>condicional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30" dirty="0">
                <a:latin typeface="Arial"/>
                <a:cs typeface="Arial"/>
              </a:rPr>
              <a:t>“</a:t>
            </a:r>
            <a:r>
              <a:rPr sz="2200" i="1" spc="-30" dirty="0">
                <a:latin typeface="Trebuchet MS"/>
                <a:cs typeface="Trebuchet MS"/>
              </a:rPr>
              <a:t>los </a:t>
            </a:r>
            <a:r>
              <a:rPr sz="2200" i="1" spc="-105" dirty="0">
                <a:latin typeface="Trebuchet MS"/>
                <a:cs typeface="Trebuchet MS"/>
              </a:rPr>
              <a:t>cheques  </a:t>
            </a:r>
            <a:r>
              <a:rPr sz="2200" i="1" spc="-120" dirty="0">
                <a:latin typeface="Trebuchet MS"/>
                <a:cs typeface="Trebuchet MS"/>
              </a:rPr>
              <a:t>recibidos </a:t>
            </a:r>
            <a:r>
              <a:rPr sz="2200" i="1" spc="-90" dirty="0">
                <a:latin typeface="Trebuchet MS"/>
                <a:cs typeface="Trebuchet MS"/>
              </a:rPr>
              <a:t>serán </a:t>
            </a:r>
            <a:r>
              <a:rPr sz="2200" i="1" spc="-100" dirty="0">
                <a:latin typeface="Trebuchet MS"/>
                <a:cs typeface="Trebuchet MS"/>
              </a:rPr>
              <a:t>aplicados </a:t>
            </a:r>
            <a:r>
              <a:rPr sz="2200" i="1" spc="-25" dirty="0">
                <a:latin typeface="Trebuchet MS"/>
                <a:cs typeface="Trebuchet MS"/>
              </a:rPr>
              <a:t>a </a:t>
            </a:r>
            <a:r>
              <a:rPr sz="2200" i="1" spc="-140" dirty="0">
                <a:latin typeface="Trebuchet MS"/>
                <a:cs typeface="Trebuchet MS"/>
              </a:rPr>
              <a:t>este </a:t>
            </a:r>
            <a:r>
              <a:rPr sz="2200" i="1" spc="-125" dirty="0">
                <a:latin typeface="Trebuchet MS"/>
                <a:cs typeface="Trebuchet MS"/>
              </a:rPr>
              <a:t>recibo  </a:t>
            </a:r>
            <a:r>
              <a:rPr sz="2200" i="1" spc="-75" dirty="0">
                <a:latin typeface="Trebuchet MS"/>
                <a:cs typeface="Trebuchet MS"/>
              </a:rPr>
              <a:t>cuando </a:t>
            </a:r>
            <a:r>
              <a:rPr sz="2200" i="1" spc="-70" dirty="0">
                <a:latin typeface="Trebuchet MS"/>
                <a:cs typeface="Trebuchet MS"/>
              </a:rPr>
              <a:t>sean</a:t>
            </a:r>
            <a:r>
              <a:rPr sz="2200" i="1" spc="-305" dirty="0">
                <a:latin typeface="Trebuchet MS"/>
                <a:cs typeface="Trebuchet MS"/>
              </a:rPr>
              <a:t> </a:t>
            </a:r>
            <a:r>
              <a:rPr sz="2200" i="1" spc="-100" dirty="0">
                <a:latin typeface="Trebuchet MS"/>
                <a:cs typeface="Trebuchet MS"/>
              </a:rPr>
              <a:t>acreditados</a:t>
            </a:r>
            <a:r>
              <a:rPr sz="2200" spc="-100" dirty="0">
                <a:latin typeface="Arial"/>
                <a:cs typeface="Arial"/>
              </a:rPr>
              <a:t>”.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1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50" dirty="0">
                <a:latin typeface="Trebuchet MS"/>
                <a:cs typeface="Trebuchet MS"/>
              </a:rPr>
              <a:t>Recibos</a:t>
            </a:r>
            <a:r>
              <a:rPr sz="2600" b="1" spc="-190" dirty="0">
                <a:latin typeface="Trebuchet MS"/>
                <a:cs typeface="Trebuchet MS"/>
              </a:rPr>
              <a:t> </a:t>
            </a:r>
            <a:r>
              <a:rPr sz="2600" b="1" spc="-114" dirty="0">
                <a:latin typeface="Trebuchet MS"/>
                <a:cs typeface="Trebuchet MS"/>
              </a:rPr>
              <a:t>anulados</a:t>
            </a:r>
            <a:endParaRPr sz="2600">
              <a:latin typeface="Trebuchet MS"/>
              <a:cs typeface="Trebuchet MS"/>
            </a:endParaRPr>
          </a:p>
          <a:p>
            <a:pPr marL="736600" marR="5715" lvl="1" indent="-266700" algn="just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30" dirty="0">
                <a:latin typeface="Arial"/>
                <a:cs typeface="Arial"/>
              </a:rPr>
              <a:t>Deben </a:t>
            </a:r>
            <a:r>
              <a:rPr sz="2200" spc="-70" dirty="0">
                <a:latin typeface="Arial"/>
                <a:cs typeface="Arial"/>
              </a:rPr>
              <a:t>inutilizarse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14" dirty="0">
                <a:latin typeface="Arial"/>
                <a:cs typeface="Arial"/>
              </a:rPr>
              <a:t>archivarse </a:t>
            </a:r>
            <a:r>
              <a:rPr sz="2200" spc="-20" dirty="0">
                <a:latin typeface="Arial"/>
                <a:cs typeface="Arial"/>
              </a:rPr>
              <a:t>junto </a:t>
            </a:r>
            <a:r>
              <a:rPr sz="2200" spc="-114" dirty="0">
                <a:latin typeface="Arial"/>
                <a:cs typeface="Arial"/>
              </a:rPr>
              <a:t>con </a:t>
            </a:r>
            <a:r>
              <a:rPr sz="2200" spc="-65" dirty="0">
                <a:latin typeface="Arial"/>
                <a:cs typeface="Arial"/>
              </a:rPr>
              <a:t>el  </a:t>
            </a:r>
            <a:r>
              <a:rPr sz="2200" spc="-45" dirty="0">
                <a:latin typeface="Arial"/>
                <a:cs typeface="Arial"/>
              </a:rPr>
              <a:t>talonario; </a:t>
            </a:r>
            <a:r>
              <a:rPr sz="2200" spc="-70" dirty="0">
                <a:latin typeface="Arial"/>
                <a:cs typeface="Arial"/>
              </a:rPr>
              <a:t>todos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114" dirty="0">
                <a:latin typeface="Arial"/>
                <a:cs typeface="Arial"/>
              </a:rPr>
              <a:t>sectores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60" dirty="0">
                <a:latin typeface="Arial"/>
                <a:cs typeface="Arial"/>
              </a:rPr>
              <a:t>controlan  correlatividad </a:t>
            </a:r>
            <a:r>
              <a:rPr sz="2200" spc="-100" dirty="0">
                <a:latin typeface="Arial"/>
                <a:cs typeface="Arial"/>
              </a:rPr>
              <a:t>deben </a:t>
            </a:r>
            <a:r>
              <a:rPr sz="2200" spc="-90" dirty="0">
                <a:latin typeface="Arial"/>
                <a:cs typeface="Arial"/>
              </a:rPr>
              <a:t>estar </a:t>
            </a:r>
            <a:r>
              <a:rPr sz="2200" spc="-10" dirty="0">
                <a:latin typeface="Arial"/>
                <a:cs typeface="Arial"/>
              </a:rPr>
              <a:t>“al </a:t>
            </a:r>
            <a:r>
              <a:rPr sz="2200" spc="-25" dirty="0">
                <a:latin typeface="Arial"/>
                <a:cs typeface="Arial"/>
              </a:rPr>
              <a:t>corriente”</a:t>
            </a:r>
            <a:r>
              <a:rPr sz="2200" spc="-24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de  </a:t>
            </a:r>
            <a:r>
              <a:rPr sz="2200" spc="-95" dirty="0">
                <a:latin typeface="Arial"/>
                <a:cs typeface="Arial"/>
              </a:rPr>
              <a:t>los recibos</a:t>
            </a:r>
            <a:r>
              <a:rPr sz="2200" spc="-15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anulados.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24600" y="1143000"/>
            <a:ext cx="2514600" cy="251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24600" y="3810000"/>
            <a:ext cx="2514600" cy="2362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9646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25" dirty="0"/>
              <a:t>Cobranzas</a:t>
            </a:r>
            <a:r>
              <a:rPr spc="-229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70" dirty="0">
                <a:latin typeface="Arial"/>
                <a:cs typeface="Arial"/>
              </a:rPr>
              <a:t>Ia: </a:t>
            </a:r>
            <a:r>
              <a:rPr sz="1800" b="0" spc="-125" dirty="0">
                <a:latin typeface="Arial"/>
                <a:cs typeface="Arial"/>
              </a:rPr>
              <a:t>Cobranza </a:t>
            </a:r>
            <a:r>
              <a:rPr sz="1800" b="0" spc="-55" dirty="0">
                <a:latin typeface="Arial"/>
                <a:cs typeface="Arial"/>
              </a:rPr>
              <a:t>mediante </a:t>
            </a:r>
            <a:r>
              <a:rPr sz="1800" b="0" spc="-80" dirty="0">
                <a:latin typeface="Arial"/>
                <a:cs typeface="Arial"/>
              </a:rPr>
              <a:t>cobradores</a:t>
            </a:r>
            <a:r>
              <a:rPr sz="1800" b="0" spc="-8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28800" y="1090422"/>
            <a:ext cx="5486400" cy="52997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25" dirty="0"/>
              <a:t>Cobranzas</a:t>
            </a:r>
            <a:r>
              <a:rPr spc="-27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258" y="500126"/>
            <a:ext cx="395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Ib: 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Cobranza 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correspondencia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5115" y="2272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5115" y="3872484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9241" y="999490"/>
            <a:ext cx="8221345" cy="459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indent="85725" algn="just">
              <a:lnSpc>
                <a:spcPct val="100000"/>
              </a:lnSpc>
              <a:spcBef>
                <a:spcPts val="100"/>
              </a:spcBef>
            </a:pPr>
            <a:r>
              <a:rPr sz="3000" spc="-260" dirty="0">
                <a:latin typeface="Arial"/>
                <a:cs typeface="Arial"/>
              </a:rPr>
              <a:t>El </a:t>
            </a:r>
            <a:r>
              <a:rPr sz="3000" spc="-120" dirty="0">
                <a:latin typeface="Arial"/>
                <a:cs typeface="Arial"/>
              </a:rPr>
              <a:t>Cliente </a:t>
            </a:r>
            <a:r>
              <a:rPr sz="3000" spc="-60" dirty="0">
                <a:latin typeface="Arial"/>
                <a:cs typeface="Arial"/>
              </a:rPr>
              <a:t>emite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90" dirty="0">
                <a:latin typeface="Arial"/>
                <a:cs typeface="Arial"/>
              </a:rPr>
              <a:t>medio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75" dirty="0">
                <a:latin typeface="Arial"/>
                <a:cs typeface="Arial"/>
              </a:rPr>
              <a:t>pago </a:t>
            </a:r>
            <a:r>
              <a:rPr sz="3000" spc="-50" dirty="0">
                <a:latin typeface="Arial"/>
                <a:cs typeface="Arial"/>
              </a:rPr>
              <a:t>por  </a:t>
            </a:r>
            <a:r>
              <a:rPr sz="3000" spc="-120" dirty="0">
                <a:latin typeface="Arial"/>
                <a:cs typeface="Arial"/>
              </a:rPr>
              <a:t>correspondencia.</a:t>
            </a:r>
            <a:endParaRPr sz="3000">
              <a:latin typeface="Arial"/>
              <a:cs typeface="Arial"/>
            </a:endParaRPr>
          </a:p>
          <a:p>
            <a:pPr marL="12700" marR="5080" indent="85725" algn="just">
              <a:lnSpc>
                <a:spcPct val="100000"/>
              </a:lnSpc>
              <a:spcBef>
                <a:spcPts val="1800"/>
              </a:spcBef>
            </a:pPr>
            <a:r>
              <a:rPr sz="3000" spc="-325" dirty="0">
                <a:latin typeface="Arial"/>
                <a:cs typeface="Arial"/>
              </a:rPr>
              <a:t>La </a:t>
            </a:r>
            <a:r>
              <a:rPr sz="3000" spc="-160" dirty="0">
                <a:latin typeface="Arial"/>
                <a:cs typeface="Arial"/>
              </a:rPr>
              <a:t>Secretaría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30" dirty="0">
                <a:latin typeface="Arial"/>
                <a:cs typeface="Arial"/>
              </a:rPr>
              <a:t>organización </a:t>
            </a:r>
            <a:r>
              <a:rPr sz="3000" spc="-35" dirty="0">
                <a:latin typeface="Arial"/>
                <a:cs typeface="Arial"/>
              </a:rPr>
              <a:t>lo </a:t>
            </a:r>
            <a:r>
              <a:rPr sz="3000" spc="-105" dirty="0">
                <a:latin typeface="Arial"/>
                <a:cs typeface="Arial"/>
              </a:rPr>
              <a:t>recibe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90" dirty="0">
                <a:latin typeface="Arial"/>
                <a:cs typeface="Arial"/>
              </a:rPr>
              <a:t>registra </a:t>
            </a:r>
            <a:r>
              <a:rPr sz="3000" spc="650" dirty="0">
                <a:latin typeface="Arial"/>
                <a:cs typeface="Arial"/>
              </a:rPr>
              <a:t> </a:t>
            </a:r>
            <a:r>
              <a:rPr sz="3000" spc="-135" dirty="0">
                <a:latin typeface="Arial"/>
                <a:cs typeface="Arial"/>
              </a:rPr>
              <a:t>dicha </a:t>
            </a:r>
            <a:r>
              <a:rPr sz="3000" spc="-120" dirty="0">
                <a:latin typeface="Arial"/>
                <a:cs typeface="Arial"/>
              </a:rPr>
              <a:t>recepción </a:t>
            </a:r>
            <a:r>
              <a:rPr sz="3000" spc="-140" dirty="0">
                <a:latin typeface="Arial"/>
                <a:cs typeface="Arial"/>
              </a:rPr>
              <a:t>en </a:t>
            </a:r>
            <a:r>
              <a:rPr sz="3000" spc="-110" dirty="0">
                <a:latin typeface="Arial"/>
                <a:cs typeface="Arial"/>
              </a:rPr>
              <a:t>la </a:t>
            </a:r>
            <a:r>
              <a:rPr sz="3000" spc="-120" dirty="0">
                <a:latin typeface="Arial"/>
                <a:cs typeface="Arial"/>
              </a:rPr>
              <a:t>Planilla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55" dirty="0">
                <a:latin typeface="Arial"/>
                <a:cs typeface="Arial"/>
              </a:rPr>
              <a:t>Valores </a:t>
            </a:r>
            <a:r>
              <a:rPr sz="3000" spc="-170" dirty="0">
                <a:latin typeface="Arial"/>
                <a:cs typeface="Arial"/>
              </a:rPr>
              <a:t>Recibidos  </a:t>
            </a:r>
            <a:r>
              <a:rPr sz="3000" spc="-45" dirty="0">
                <a:latin typeface="Arial"/>
                <a:cs typeface="Arial"/>
              </a:rPr>
              <a:t>por</a:t>
            </a:r>
            <a:r>
              <a:rPr sz="3000" spc="-160" dirty="0">
                <a:latin typeface="Arial"/>
                <a:cs typeface="Arial"/>
              </a:rPr>
              <a:t> </a:t>
            </a:r>
            <a:r>
              <a:rPr sz="3000" spc="-140" dirty="0">
                <a:latin typeface="Arial"/>
                <a:cs typeface="Arial"/>
              </a:rPr>
              <a:t>Correspondencia.</a:t>
            </a:r>
            <a:endParaRPr sz="3000">
              <a:latin typeface="Arial"/>
              <a:cs typeface="Arial"/>
            </a:endParaRPr>
          </a:p>
          <a:p>
            <a:pPr marL="12700" marR="5080" indent="85725" algn="just">
              <a:lnSpc>
                <a:spcPct val="100000"/>
              </a:lnSpc>
              <a:spcBef>
                <a:spcPts val="1800"/>
              </a:spcBef>
            </a:pPr>
            <a:r>
              <a:rPr sz="3000" spc="-190" dirty="0">
                <a:latin typeface="Arial"/>
                <a:cs typeface="Arial"/>
              </a:rPr>
              <a:t>Luego, </a:t>
            </a:r>
            <a:r>
              <a:rPr sz="3000" spc="-135" dirty="0">
                <a:latin typeface="Arial"/>
                <a:cs typeface="Arial"/>
              </a:rPr>
              <a:t>los </a:t>
            </a:r>
            <a:r>
              <a:rPr sz="3000" spc="-175" dirty="0">
                <a:latin typeface="Arial"/>
                <a:cs typeface="Arial"/>
              </a:rPr>
              <a:t>cheques </a:t>
            </a:r>
            <a:r>
              <a:rPr sz="3000" spc="-170" dirty="0">
                <a:latin typeface="Arial"/>
                <a:cs typeface="Arial"/>
              </a:rPr>
              <a:t>son </a:t>
            </a:r>
            <a:r>
              <a:rPr sz="3000" spc="-145" dirty="0">
                <a:latin typeface="Arial"/>
                <a:cs typeface="Arial"/>
              </a:rPr>
              <a:t>enviados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155" dirty="0">
                <a:latin typeface="Arial"/>
                <a:cs typeface="Arial"/>
              </a:rPr>
              <a:t>Tesorería, </a:t>
            </a:r>
            <a:r>
              <a:rPr sz="3000" spc="-130" dirty="0">
                <a:latin typeface="Arial"/>
                <a:cs typeface="Arial"/>
              </a:rPr>
              <a:t>que  </a:t>
            </a:r>
            <a:r>
              <a:rPr sz="3000" spc="-135" dirty="0">
                <a:latin typeface="Arial"/>
                <a:cs typeface="Arial"/>
              </a:rPr>
              <a:t>los </a:t>
            </a:r>
            <a:r>
              <a:rPr sz="3000" spc="-70" dirty="0">
                <a:latin typeface="Arial"/>
                <a:cs typeface="Arial"/>
              </a:rPr>
              <a:t>controla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90" dirty="0">
                <a:latin typeface="Arial"/>
                <a:cs typeface="Arial"/>
              </a:rPr>
              <a:t>coteja </a:t>
            </a:r>
            <a:r>
              <a:rPr sz="3000" spc="-80" dirty="0">
                <a:latin typeface="Arial"/>
                <a:cs typeface="Arial"/>
              </a:rPr>
              <a:t>contra </a:t>
            </a:r>
            <a:r>
              <a:rPr sz="3000" spc="-135" dirty="0">
                <a:latin typeface="Arial"/>
                <a:cs typeface="Arial"/>
              </a:rPr>
              <a:t>los </a:t>
            </a:r>
            <a:r>
              <a:rPr sz="3000" spc="-105" dirty="0">
                <a:latin typeface="Arial"/>
                <a:cs typeface="Arial"/>
              </a:rPr>
              <a:t>registros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75" dirty="0">
                <a:latin typeface="Arial"/>
                <a:cs typeface="Arial"/>
              </a:rPr>
              <a:t>deudas  </a:t>
            </a:r>
            <a:r>
              <a:rPr sz="3000" spc="-140" dirty="0">
                <a:latin typeface="Arial"/>
                <a:cs typeface="Arial"/>
              </a:rPr>
              <a:t>de</a:t>
            </a:r>
            <a:r>
              <a:rPr sz="3000" spc="550" dirty="0">
                <a:latin typeface="Arial"/>
                <a:cs typeface="Arial"/>
              </a:rPr>
              <a:t> </a:t>
            </a:r>
            <a:r>
              <a:rPr sz="3000" spc="-105" dirty="0">
                <a:latin typeface="Arial"/>
                <a:cs typeface="Arial"/>
              </a:rPr>
              <a:t>clientes, </a:t>
            </a:r>
            <a:r>
              <a:rPr sz="3000" spc="-135" dirty="0">
                <a:latin typeface="Arial"/>
                <a:cs typeface="Arial"/>
              </a:rPr>
              <a:t>para </a:t>
            </a:r>
            <a:r>
              <a:rPr sz="3000" spc="-65" dirty="0">
                <a:latin typeface="Arial"/>
                <a:cs typeface="Arial"/>
              </a:rPr>
              <a:t>finalmente, </a:t>
            </a:r>
            <a:r>
              <a:rPr sz="3000" spc="-125" dirty="0">
                <a:latin typeface="Arial"/>
                <a:cs typeface="Arial"/>
              </a:rPr>
              <a:t>generar </a:t>
            </a:r>
            <a:r>
              <a:rPr sz="3000" spc="-80" dirty="0">
                <a:latin typeface="Arial"/>
                <a:cs typeface="Arial"/>
              </a:rPr>
              <a:t>el </a:t>
            </a:r>
            <a:r>
              <a:rPr sz="3000" spc="-90" dirty="0">
                <a:latin typeface="Arial"/>
                <a:cs typeface="Arial"/>
              </a:rPr>
              <a:t>recibo </a:t>
            </a:r>
            <a:r>
              <a:rPr sz="3000" spc="-145" dirty="0">
                <a:latin typeface="Arial"/>
                <a:cs typeface="Arial"/>
              </a:rPr>
              <a:t>y  </a:t>
            </a:r>
            <a:r>
              <a:rPr sz="3000" spc="-70" dirty="0">
                <a:latin typeface="Arial"/>
                <a:cs typeface="Arial"/>
              </a:rPr>
              <a:t>remitírselo </a:t>
            </a:r>
            <a:r>
              <a:rPr sz="3000" spc="-105" dirty="0">
                <a:latin typeface="Arial"/>
                <a:cs typeface="Arial"/>
              </a:rPr>
              <a:t>al</a:t>
            </a:r>
            <a:r>
              <a:rPr sz="3000" spc="-250" dirty="0">
                <a:latin typeface="Arial"/>
                <a:cs typeface="Arial"/>
              </a:rPr>
              <a:t> </a:t>
            </a:r>
            <a:r>
              <a:rPr sz="3000" spc="-70" dirty="0">
                <a:latin typeface="Arial"/>
                <a:cs typeface="Arial"/>
              </a:rPr>
              <a:t>cliente.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541" y="193801"/>
            <a:ext cx="5668645" cy="421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Cobranzas</a:t>
            </a:r>
            <a:r>
              <a:rPr sz="2000" b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Ib: 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Cobranza </a:t>
            </a: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correspondencia</a:t>
            </a:r>
            <a:r>
              <a:rPr sz="18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</a:pPr>
            <a:r>
              <a:rPr sz="3000" b="1" spc="-160" dirty="0">
                <a:latin typeface="Trebuchet MS"/>
                <a:cs typeface="Trebuchet MS"/>
              </a:rPr>
              <a:t>Controles</a:t>
            </a:r>
            <a:r>
              <a:rPr sz="3000" b="1" spc="-229" dirty="0">
                <a:latin typeface="Trebuchet MS"/>
                <a:cs typeface="Trebuchet MS"/>
              </a:rPr>
              <a:t> </a:t>
            </a:r>
            <a:r>
              <a:rPr sz="3000" b="1" spc="-160" dirty="0">
                <a:latin typeface="Trebuchet MS"/>
                <a:cs typeface="Trebuchet MS"/>
              </a:rPr>
              <a:t>instrumentados:</a:t>
            </a:r>
            <a:endParaRPr sz="3000">
              <a:latin typeface="Trebuchet MS"/>
              <a:cs typeface="Trebuchet MS"/>
            </a:endParaRPr>
          </a:p>
          <a:p>
            <a:pPr marL="279400" indent="-266700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b="1" spc="-150" dirty="0">
                <a:latin typeface="Trebuchet MS"/>
                <a:cs typeface="Trebuchet MS"/>
              </a:rPr>
              <a:t>Apertura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0" dirty="0">
                <a:latin typeface="Trebuchet MS"/>
                <a:cs typeface="Trebuchet MS"/>
              </a:rPr>
              <a:t>la</a:t>
            </a:r>
            <a:r>
              <a:rPr sz="2600" b="1" spc="-250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correspondencia</a:t>
            </a:r>
            <a:endParaRPr sz="2600">
              <a:latin typeface="Trebuchet MS"/>
              <a:cs typeface="Trebuchet MS"/>
            </a:endParaRPr>
          </a:p>
          <a:p>
            <a:pPr marL="736600" marR="5080" lvl="1" indent="-266700" algn="just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45" dirty="0">
                <a:latin typeface="Arial"/>
                <a:cs typeface="Arial"/>
              </a:rPr>
              <a:t>Debe </a:t>
            </a:r>
            <a:r>
              <a:rPr sz="2200" spc="-114" dirty="0">
                <a:latin typeface="Arial"/>
                <a:cs typeface="Arial"/>
              </a:rPr>
              <a:t>ser </a:t>
            </a:r>
            <a:r>
              <a:rPr sz="2200" spc="-110" dirty="0">
                <a:latin typeface="Arial"/>
                <a:cs typeface="Arial"/>
              </a:rPr>
              <a:t>realizada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70" dirty="0">
                <a:latin typeface="Arial"/>
                <a:cs typeface="Arial"/>
              </a:rPr>
              <a:t>funcionarios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35" dirty="0">
                <a:latin typeface="Arial"/>
                <a:cs typeface="Arial"/>
              </a:rPr>
              <a:t>alto  </a:t>
            </a:r>
            <a:r>
              <a:rPr sz="2200" spc="-65" dirty="0">
                <a:latin typeface="Arial"/>
                <a:cs typeface="Arial"/>
              </a:rPr>
              <a:t>nivel o </a:t>
            </a:r>
            <a:r>
              <a:rPr sz="2200" spc="-185" dirty="0">
                <a:latin typeface="Arial"/>
                <a:cs typeface="Arial"/>
              </a:rPr>
              <a:t>sus </a:t>
            </a:r>
            <a:r>
              <a:rPr sz="2200" spc="-125" dirty="0">
                <a:latin typeface="Arial"/>
                <a:cs typeface="Arial"/>
              </a:rPr>
              <a:t>Secretarias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sensibilidad 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60" dirty="0">
                <a:latin typeface="Arial"/>
                <a:cs typeface="Arial"/>
              </a:rPr>
              <a:t>información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85" dirty="0">
                <a:latin typeface="Arial"/>
                <a:cs typeface="Arial"/>
              </a:rPr>
              <a:t>se</a:t>
            </a:r>
            <a:r>
              <a:rPr sz="2200" spc="-27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maneja.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Wingdings"/>
              <a:buChar char=""/>
            </a:pPr>
            <a:endParaRPr sz="2250">
              <a:latin typeface="Times New Roman"/>
              <a:cs typeface="Times New Roman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  <a:tab pos="1595120" algn="l"/>
                <a:tab pos="2276475" algn="l"/>
                <a:tab pos="3597910" algn="l"/>
                <a:tab pos="5182235" algn="l"/>
              </a:tabLst>
            </a:pPr>
            <a:r>
              <a:rPr sz="2600" b="1" spc="-190" dirty="0">
                <a:latin typeface="Trebuchet MS"/>
                <a:cs typeface="Trebuchet MS"/>
              </a:rPr>
              <a:t>Li</a:t>
            </a:r>
            <a:r>
              <a:rPr sz="2600" b="1" spc="-225" dirty="0">
                <a:latin typeface="Trebuchet MS"/>
                <a:cs typeface="Trebuchet MS"/>
              </a:rPr>
              <a:t>s</a:t>
            </a:r>
            <a:r>
              <a:rPr sz="2600" b="1" spc="-165" dirty="0">
                <a:latin typeface="Trebuchet MS"/>
                <a:cs typeface="Trebuchet MS"/>
              </a:rPr>
              <a:t>t</a:t>
            </a:r>
            <a:r>
              <a:rPr sz="2600" b="1" spc="-105" dirty="0">
                <a:latin typeface="Trebuchet MS"/>
                <a:cs typeface="Trebuchet MS"/>
              </a:rPr>
              <a:t>a</a:t>
            </a:r>
            <a:r>
              <a:rPr sz="2600" b="1" spc="-110" dirty="0">
                <a:latin typeface="Trebuchet MS"/>
                <a:cs typeface="Trebuchet MS"/>
              </a:rPr>
              <a:t>d</a:t>
            </a:r>
            <a:r>
              <a:rPr sz="2600" b="1" spc="-75" dirty="0">
                <a:latin typeface="Trebuchet MS"/>
                <a:cs typeface="Trebuchet MS"/>
              </a:rPr>
              <a:t>o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80" dirty="0">
                <a:latin typeface="Trebuchet MS"/>
                <a:cs typeface="Trebuchet MS"/>
              </a:rPr>
              <a:t>v</a:t>
            </a:r>
            <a:r>
              <a:rPr sz="2600" b="1" spc="-130" dirty="0">
                <a:latin typeface="Trebuchet MS"/>
                <a:cs typeface="Trebuchet MS"/>
              </a:rPr>
              <a:t>alo</a:t>
            </a:r>
            <a:r>
              <a:rPr sz="2600" b="1" spc="-155" dirty="0">
                <a:latin typeface="Trebuchet MS"/>
                <a:cs typeface="Trebuchet MS"/>
              </a:rPr>
              <a:t>r</a:t>
            </a:r>
            <a:r>
              <a:rPr sz="2600" b="1" spc="-160" dirty="0">
                <a:latin typeface="Trebuchet MS"/>
                <a:cs typeface="Trebuchet MS"/>
              </a:rPr>
              <a:t>e</a:t>
            </a:r>
            <a:r>
              <a:rPr sz="2600" b="1" spc="-120" dirty="0">
                <a:latin typeface="Trebuchet MS"/>
                <a:cs typeface="Trebuchet MS"/>
              </a:rPr>
              <a:t>s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215" dirty="0">
                <a:latin typeface="Trebuchet MS"/>
                <a:cs typeface="Trebuchet MS"/>
              </a:rPr>
              <a:t>r</a:t>
            </a:r>
            <a:r>
              <a:rPr sz="2600" b="1" spc="-185" dirty="0">
                <a:latin typeface="Trebuchet MS"/>
                <a:cs typeface="Trebuchet MS"/>
              </a:rPr>
              <a:t>ecib</a:t>
            </a:r>
            <a:r>
              <a:rPr sz="2600" b="1" spc="-105" dirty="0">
                <a:latin typeface="Trebuchet MS"/>
                <a:cs typeface="Trebuchet MS"/>
              </a:rPr>
              <a:t>i</a:t>
            </a:r>
            <a:r>
              <a:rPr sz="2600" b="1" spc="-95" dirty="0">
                <a:latin typeface="Trebuchet MS"/>
                <a:cs typeface="Trebuchet MS"/>
              </a:rPr>
              <a:t>dos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10" dirty="0">
                <a:latin typeface="Trebuchet MS"/>
                <a:cs typeface="Trebuchet MS"/>
              </a:rPr>
              <a:t>por  </a:t>
            </a:r>
            <a:r>
              <a:rPr sz="2600" b="1" spc="-155" dirty="0">
                <a:latin typeface="Trebuchet MS"/>
                <a:cs typeface="Trebuchet MS"/>
              </a:rPr>
              <a:t>correspondencia</a:t>
            </a:r>
            <a:endParaRPr sz="2600">
              <a:latin typeface="Trebuchet MS"/>
              <a:cs typeface="Trebuchet MS"/>
            </a:endParaRPr>
          </a:p>
          <a:p>
            <a:pPr marL="73660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  <a:tab pos="1078230" algn="l"/>
                <a:tab pos="2198370" algn="l"/>
                <a:tab pos="2772410" algn="l"/>
                <a:tab pos="3427095" algn="l"/>
                <a:tab pos="3765550" algn="l"/>
              </a:tabLst>
            </a:pPr>
            <a:r>
              <a:rPr sz="2200" spc="-290" dirty="0">
                <a:latin typeface="Arial"/>
                <a:cs typeface="Arial"/>
              </a:rPr>
              <a:t>E</a:t>
            </a:r>
            <a:r>
              <a:rPr sz="2200" spc="-95" dirty="0">
                <a:latin typeface="Arial"/>
                <a:cs typeface="Arial"/>
              </a:rPr>
              <a:t>l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0" dirty="0">
                <a:latin typeface="Arial"/>
                <a:cs typeface="Arial"/>
              </a:rPr>
              <a:t>pe</a:t>
            </a:r>
            <a:r>
              <a:rPr sz="2200" spc="-90" dirty="0">
                <a:latin typeface="Arial"/>
                <a:cs typeface="Arial"/>
              </a:rPr>
              <a:t>r</a:t>
            </a:r>
            <a:r>
              <a:rPr sz="2200" spc="-125" dirty="0">
                <a:latin typeface="Arial"/>
                <a:cs typeface="Arial"/>
              </a:rPr>
              <a:t>sona</a:t>
            </a:r>
            <a:r>
              <a:rPr sz="2200" spc="-50" dirty="0">
                <a:latin typeface="Arial"/>
                <a:cs typeface="Arial"/>
              </a:rPr>
              <a:t>l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95" dirty="0">
                <a:latin typeface="Arial"/>
                <a:cs typeface="Arial"/>
              </a:rPr>
              <a:t>qu</a:t>
            </a:r>
            <a:r>
              <a:rPr sz="2200" spc="-9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b</a:t>
            </a:r>
            <a:r>
              <a:rPr sz="2200" spc="5" dirty="0">
                <a:latin typeface="Arial"/>
                <a:cs typeface="Arial"/>
              </a:rPr>
              <a:t>r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5" dirty="0">
                <a:latin typeface="Arial"/>
                <a:cs typeface="Arial"/>
              </a:rPr>
              <a:t>l</a:t>
            </a:r>
            <a:r>
              <a:rPr sz="2200" spc="-11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0" dirty="0">
                <a:latin typeface="Arial"/>
                <a:cs typeface="Arial"/>
              </a:rPr>
              <a:t>c</a:t>
            </a:r>
            <a:r>
              <a:rPr sz="2200" spc="-5" dirty="0">
                <a:latin typeface="Arial"/>
                <a:cs typeface="Arial"/>
              </a:rPr>
              <a:t>or</a:t>
            </a:r>
            <a:r>
              <a:rPr sz="2200" spc="-35" dirty="0">
                <a:latin typeface="Arial"/>
                <a:cs typeface="Arial"/>
              </a:rPr>
              <a:t>r</a:t>
            </a:r>
            <a:r>
              <a:rPr sz="2200" spc="-195" dirty="0">
                <a:latin typeface="Arial"/>
                <a:cs typeface="Arial"/>
              </a:rPr>
              <a:t>e</a:t>
            </a:r>
            <a:r>
              <a:rPr sz="2200" spc="-185" dirty="0">
                <a:latin typeface="Arial"/>
                <a:cs typeface="Arial"/>
              </a:rPr>
              <a:t>s</a:t>
            </a:r>
            <a:r>
              <a:rPr sz="2200" spc="-75" dirty="0">
                <a:latin typeface="Arial"/>
                <a:cs typeface="Arial"/>
              </a:rPr>
              <a:t>pon</a:t>
            </a:r>
            <a:r>
              <a:rPr sz="2200" spc="-80" dirty="0">
                <a:latin typeface="Arial"/>
                <a:cs typeface="Arial"/>
              </a:rPr>
              <a:t>d</a:t>
            </a:r>
            <a:r>
              <a:rPr sz="2200" spc="-105" dirty="0">
                <a:latin typeface="Arial"/>
                <a:cs typeface="Arial"/>
              </a:rPr>
              <a:t>enc</a:t>
            </a:r>
            <a:r>
              <a:rPr sz="2200" spc="-60" dirty="0">
                <a:latin typeface="Arial"/>
                <a:cs typeface="Arial"/>
              </a:rPr>
              <a:t>i</a:t>
            </a:r>
            <a:r>
              <a:rPr sz="2200" spc="-170" dirty="0"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6441" y="4378452"/>
            <a:ext cx="1947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99210" algn="l"/>
              </a:tabLst>
            </a:pPr>
            <a:r>
              <a:rPr sz="2200" spc="-85" dirty="0">
                <a:latin typeface="Arial"/>
                <a:cs typeface="Arial"/>
              </a:rPr>
              <a:t>debe</a:t>
            </a:r>
            <a:r>
              <a:rPr sz="2200" spc="-65" dirty="0">
                <a:latin typeface="Arial"/>
                <a:cs typeface="Arial"/>
              </a:rPr>
              <a:t>r</a:t>
            </a:r>
            <a:r>
              <a:rPr sz="2200" spc="-120" dirty="0">
                <a:latin typeface="Arial"/>
                <a:cs typeface="Arial"/>
              </a:rPr>
              <a:t>í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h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90" dirty="0">
                <a:latin typeface="Arial"/>
                <a:cs typeface="Arial"/>
              </a:rPr>
              <a:t>cer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6441" y="4713732"/>
            <a:ext cx="201485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4520" algn="l"/>
              </a:tabLst>
            </a:pPr>
            <a:r>
              <a:rPr sz="2200" spc="-190" dirty="0">
                <a:latin typeface="Arial"/>
                <a:cs typeface="Arial"/>
              </a:rPr>
              <a:t>c</a:t>
            </a:r>
            <a:r>
              <a:rPr sz="2200" spc="-70" dirty="0">
                <a:latin typeface="Arial"/>
                <a:cs typeface="Arial"/>
              </a:rPr>
              <a:t>on</a:t>
            </a:r>
            <a:r>
              <a:rPr sz="2200" spc="-75" dirty="0">
                <a:latin typeface="Arial"/>
                <a:cs typeface="Arial"/>
              </a:rPr>
              <a:t>o</a:t>
            </a:r>
            <a:r>
              <a:rPr sz="2200" spc="-110" dirty="0">
                <a:latin typeface="Arial"/>
                <a:cs typeface="Arial"/>
              </a:rPr>
              <a:t>c</a:t>
            </a:r>
            <a:r>
              <a:rPr sz="2200" spc="-60" dirty="0">
                <a:latin typeface="Arial"/>
                <a:cs typeface="Arial"/>
              </a:rPr>
              <a:t>i</a:t>
            </a:r>
            <a:r>
              <a:rPr sz="2200" spc="-65" dirty="0">
                <a:latin typeface="Arial"/>
                <a:cs typeface="Arial"/>
              </a:rPr>
              <a:t>mie</a:t>
            </a:r>
            <a:r>
              <a:rPr sz="2200" spc="-85" dirty="0">
                <a:latin typeface="Arial"/>
                <a:cs typeface="Arial"/>
              </a:rPr>
              <a:t>n</a:t>
            </a:r>
            <a:r>
              <a:rPr sz="2200" spc="95" dirty="0">
                <a:latin typeface="Arial"/>
                <a:cs typeface="Arial"/>
              </a:rPr>
              <a:t>t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0729" y="4378452"/>
            <a:ext cx="82994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735">
              <a:lnSpc>
                <a:spcPct val="100000"/>
              </a:lnSpc>
              <a:spcBef>
                <a:spcPts val="100"/>
              </a:spcBef>
            </a:pPr>
            <a:r>
              <a:rPr sz="2200" spc="-105" dirty="0">
                <a:latin typeface="Arial"/>
                <a:cs typeface="Arial"/>
              </a:rPr>
              <a:t>este  </a:t>
            </a:r>
            <a:r>
              <a:rPr sz="2200" spc="-190" dirty="0">
                <a:latin typeface="Arial"/>
                <a:cs typeface="Arial"/>
              </a:rPr>
              <a:t>c</a:t>
            </a:r>
            <a:r>
              <a:rPr sz="2200" spc="-70" dirty="0">
                <a:latin typeface="Arial"/>
                <a:cs typeface="Arial"/>
              </a:rPr>
              <a:t>o</a:t>
            </a:r>
            <a:r>
              <a:rPr sz="2200" spc="-100" dirty="0">
                <a:latin typeface="Arial"/>
                <a:cs typeface="Arial"/>
              </a:rPr>
              <a:t>n</a:t>
            </a:r>
            <a:r>
              <a:rPr sz="2200" spc="70" dirty="0">
                <a:latin typeface="Arial"/>
                <a:cs typeface="Arial"/>
              </a:rPr>
              <a:t>t</a:t>
            </a:r>
            <a:r>
              <a:rPr sz="2200" spc="45" dirty="0">
                <a:latin typeface="Arial"/>
                <a:cs typeface="Arial"/>
              </a:rPr>
              <a:t>r</a:t>
            </a:r>
            <a:r>
              <a:rPr sz="2200" spc="-30" dirty="0">
                <a:latin typeface="Arial"/>
                <a:cs typeface="Arial"/>
              </a:rPr>
              <a:t>ol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38244" y="4378452"/>
            <a:ext cx="17024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marR="5080" indent="-181610">
              <a:lnSpc>
                <a:spcPct val="100000"/>
              </a:lnSpc>
              <a:spcBef>
                <a:spcPts val="100"/>
              </a:spcBef>
              <a:tabLst>
                <a:tab pos="1184910" algn="l"/>
                <a:tab pos="1402080" algn="l"/>
              </a:tabLst>
            </a:pPr>
            <a:r>
              <a:rPr sz="2200" spc="15" dirty="0">
                <a:latin typeface="Arial"/>
                <a:cs typeface="Arial"/>
              </a:rPr>
              <a:t>l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265" dirty="0">
                <a:latin typeface="Arial"/>
                <a:cs typeface="Arial"/>
              </a:rPr>
              <a:t>s</a:t>
            </a:r>
            <a:r>
              <a:rPr sz="2200" spc="95" dirty="0">
                <a:latin typeface="Arial"/>
                <a:cs typeface="Arial"/>
              </a:rPr>
              <a:t>t</a:t>
            </a:r>
            <a:r>
              <a:rPr sz="2200" spc="-100" dirty="0">
                <a:latin typeface="Arial"/>
                <a:cs typeface="Arial"/>
              </a:rPr>
              <a:t>ado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p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20" dirty="0">
                <a:latin typeface="Arial"/>
                <a:cs typeface="Arial"/>
              </a:rPr>
              <a:t>r</a:t>
            </a:r>
            <a:r>
              <a:rPr sz="2200" spc="-114" dirty="0">
                <a:latin typeface="Arial"/>
                <a:cs typeface="Arial"/>
              </a:rPr>
              <a:t>a  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-85" dirty="0">
                <a:latin typeface="Arial"/>
                <a:cs typeface="Arial"/>
              </a:rPr>
              <a:t>ru</a:t>
            </a:r>
            <a:r>
              <a:rPr sz="2200" spc="-135" dirty="0">
                <a:latin typeface="Arial"/>
                <a:cs typeface="Arial"/>
              </a:rPr>
              <a:t>z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40" dirty="0">
                <a:latin typeface="Arial"/>
                <a:cs typeface="Arial"/>
              </a:rPr>
              <a:t>d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	</a:t>
            </a:r>
            <a:r>
              <a:rPr sz="2200" spc="-100" dirty="0">
                <a:latin typeface="Arial"/>
                <a:cs typeface="Arial"/>
              </a:rPr>
              <a:t>de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6441" y="5049265"/>
            <a:ext cx="25501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65" dirty="0">
                <a:latin typeface="Arial"/>
                <a:cs typeface="Arial"/>
              </a:rPr>
              <a:t>Cobranzas </a:t>
            </a:r>
            <a:r>
              <a:rPr sz="2200" spc="-105" dirty="0">
                <a:latin typeface="Arial"/>
                <a:cs typeface="Arial"/>
              </a:rPr>
              <a:t>y</a:t>
            </a:r>
            <a:r>
              <a:rPr sz="2200" spc="-135" dirty="0">
                <a:latin typeface="Arial"/>
                <a:cs typeface="Arial"/>
              </a:rPr>
              <a:t> Tesorería.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48400" y="1369978"/>
            <a:ext cx="2667000" cy="24400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47254" y="4114800"/>
            <a:ext cx="2306594" cy="1976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424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25" dirty="0"/>
              <a:t>Cobranzas</a:t>
            </a:r>
            <a:r>
              <a:rPr spc="-229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5" dirty="0">
                <a:latin typeface="Arial"/>
                <a:cs typeface="Arial"/>
              </a:rPr>
              <a:t>Ib: </a:t>
            </a:r>
            <a:r>
              <a:rPr sz="1800" b="0" spc="-125" dirty="0">
                <a:latin typeface="Arial"/>
                <a:cs typeface="Arial"/>
              </a:rPr>
              <a:t>Cobranza </a:t>
            </a:r>
            <a:r>
              <a:rPr sz="1800" b="0" spc="-30" dirty="0">
                <a:latin typeface="Arial"/>
                <a:cs typeface="Arial"/>
              </a:rPr>
              <a:t>por </a:t>
            </a:r>
            <a:r>
              <a:rPr sz="1800" b="0" spc="-75" dirty="0">
                <a:latin typeface="Arial"/>
                <a:cs typeface="Arial"/>
              </a:rPr>
              <a:t>correspondencia</a:t>
            </a:r>
            <a:r>
              <a:rPr sz="1800" b="0" spc="-1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4667" y="1108710"/>
            <a:ext cx="6009132" cy="52920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44563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Cobranzas</a:t>
            </a:r>
            <a:r>
              <a:rPr sz="2000" b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depósito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-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recaudación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9241" y="999490"/>
            <a:ext cx="822198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725" algn="just">
              <a:lnSpc>
                <a:spcPct val="100000"/>
              </a:lnSpc>
              <a:spcBef>
                <a:spcPts val="100"/>
              </a:spcBef>
            </a:pPr>
            <a:r>
              <a:rPr sz="3000" spc="-190" dirty="0">
                <a:latin typeface="Arial"/>
                <a:cs typeface="Arial"/>
              </a:rPr>
              <a:t>Una </a:t>
            </a:r>
            <a:r>
              <a:rPr sz="3000" spc="-220" dirty="0">
                <a:latin typeface="Arial"/>
                <a:cs typeface="Arial"/>
              </a:rPr>
              <a:t>vez </a:t>
            </a:r>
            <a:r>
              <a:rPr sz="3000" spc="-80" dirty="0">
                <a:latin typeface="Arial"/>
                <a:cs typeface="Arial"/>
              </a:rPr>
              <a:t>obtenida </a:t>
            </a:r>
            <a:r>
              <a:rPr sz="3000" spc="-105" dirty="0">
                <a:latin typeface="Arial"/>
                <a:cs typeface="Arial"/>
              </a:rPr>
              <a:t>la </a:t>
            </a:r>
            <a:r>
              <a:rPr sz="3000" spc="-155" dirty="0">
                <a:latin typeface="Arial"/>
                <a:cs typeface="Arial"/>
              </a:rPr>
              <a:t>cobranza </a:t>
            </a:r>
            <a:r>
              <a:rPr sz="3000" spc="-60" dirty="0">
                <a:latin typeface="Arial"/>
                <a:cs typeface="Arial"/>
              </a:rPr>
              <a:t>(por </a:t>
            </a:r>
            <a:r>
              <a:rPr sz="3000" spc="-110" dirty="0">
                <a:latin typeface="Arial"/>
                <a:cs typeface="Arial"/>
              </a:rPr>
              <a:t>cualquiera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35" dirty="0">
                <a:latin typeface="Arial"/>
                <a:cs typeface="Arial"/>
              </a:rPr>
              <a:t>los  </a:t>
            </a:r>
            <a:r>
              <a:rPr sz="3000" spc="-130" dirty="0">
                <a:latin typeface="Arial"/>
                <a:cs typeface="Arial"/>
              </a:rPr>
              <a:t>medios </a:t>
            </a:r>
            <a:r>
              <a:rPr sz="3000" spc="-140" dirty="0">
                <a:latin typeface="Arial"/>
                <a:cs typeface="Arial"/>
              </a:rPr>
              <a:t>mencionados </a:t>
            </a:r>
            <a:r>
              <a:rPr sz="3000" spc="-95" dirty="0">
                <a:latin typeface="Arial"/>
                <a:cs typeface="Arial"/>
              </a:rPr>
              <a:t>u </a:t>
            </a:r>
            <a:r>
              <a:rPr sz="3000" spc="-70" dirty="0">
                <a:latin typeface="Arial"/>
                <a:cs typeface="Arial"/>
              </a:rPr>
              <a:t>otros), </a:t>
            </a:r>
            <a:r>
              <a:rPr sz="3000" spc="-165" dirty="0">
                <a:latin typeface="Arial"/>
                <a:cs typeface="Arial"/>
              </a:rPr>
              <a:t>Tesorería </a:t>
            </a:r>
            <a:r>
              <a:rPr sz="3000" spc="-55" dirty="0">
                <a:latin typeface="Arial"/>
                <a:cs typeface="Arial"/>
              </a:rPr>
              <a:t>emite </a:t>
            </a:r>
            <a:r>
              <a:rPr sz="3000" spc="-180" dirty="0">
                <a:latin typeface="Arial"/>
                <a:cs typeface="Arial"/>
              </a:rPr>
              <a:t>las  </a:t>
            </a:r>
            <a:r>
              <a:rPr sz="3000" spc="-110" dirty="0">
                <a:latin typeface="Arial"/>
                <a:cs typeface="Arial"/>
              </a:rPr>
              <a:t>boletas </a:t>
            </a:r>
            <a:r>
              <a:rPr sz="3000" spc="-135" dirty="0">
                <a:latin typeface="Arial"/>
                <a:cs typeface="Arial"/>
              </a:rPr>
              <a:t>de </a:t>
            </a:r>
            <a:r>
              <a:rPr sz="3000" spc="-90" dirty="0">
                <a:latin typeface="Arial"/>
                <a:cs typeface="Arial"/>
              </a:rPr>
              <a:t>depósito</a:t>
            </a:r>
            <a:r>
              <a:rPr sz="3000" spc="-250" dirty="0">
                <a:latin typeface="Arial"/>
                <a:cs typeface="Arial"/>
              </a:rPr>
              <a:t> </a:t>
            </a:r>
            <a:r>
              <a:rPr sz="3000" spc="-110" dirty="0">
                <a:latin typeface="Arial"/>
                <a:cs typeface="Arial"/>
              </a:rPr>
              <a:t>bancario.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5115" y="27294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348" y="2599690"/>
            <a:ext cx="29311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8755" algn="l"/>
              </a:tabLst>
            </a:pPr>
            <a:r>
              <a:rPr sz="3000" spc="-190" dirty="0">
                <a:latin typeface="Arial"/>
                <a:cs typeface="Arial"/>
              </a:rPr>
              <a:t>Luego,	</a:t>
            </a:r>
            <a:r>
              <a:rPr sz="3000" spc="-165" dirty="0">
                <a:latin typeface="Arial"/>
                <a:cs typeface="Arial"/>
              </a:rPr>
              <a:t>Tesorería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b="1" spc="-20" dirty="0">
                <a:latin typeface="Arial"/>
                <a:cs typeface="Arial"/>
              </a:rPr>
              <a:t> -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8" name="object 8"/>
          <p:cNvSpPr txBox="1"/>
          <p:nvPr/>
        </p:nvSpPr>
        <p:spPr>
          <a:xfrm>
            <a:off x="3963161" y="2599690"/>
            <a:ext cx="12496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45" dirty="0">
                <a:latin typeface="Arial"/>
                <a:cs typeface="Arial"/>
              </a:rPr>
              <a:t>c</a:t>
            </a:r>
            <a:r>
              <a:rPr sz="3000" spc="-110" dirty="0">
                <a:latin typeface="Arial"/>
                <a:cs typeface="Arial"/>
              </a:rPr>
              <a:t>om</a:t>
            </a:r>
            <a:r>
              <a:rPr sz="3000" spc="-80" dirty="0">
                <a:latin typeface="Arial"/>
                <a:cs typeface="Arial"/>
              </a:rPr>
              <a:t>p</a:t>
            </a:r>
            <a:r>
              <a:rPr sz="3000" spc="-65" dirty="0">
                <a:latin typeface="Arial"/>
                <a:cs typeface="Arial"/>
              </a:rPr>
              <a:t>ila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8226" y="2599690"/>
            <a:ext cx="31407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3105" algn="l"/>
              </a:tabLst>
            </a:pPr>
            <a:r>
              <a:rPr sz="3000" spc="-105" dirty="0">
                <a:latin typeface="Arial"/>
                <a:cs typeface="Arial"/>
              </a:rPr>
              <a:t>la	</a:t>
            </a:r>
            <a:r>
              <a:rPr sz="3000" spc="-110" dirty="0">
                <a:latin typeface="Arial"/>
                <a:cs typeface="Arial"/>
              </a:rPr>
              <a:t>documentación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241" y="3056890"/>
            <a:ext cx="41617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3625" algn="l"/>
              </a:tabLst>
            </a:pPr>
            <a:r>
              <a:rPr sz="3000" spc="-95" dirty="0">
                <a:latin typeface="Arial"/>
                <a:cs typeface="Arial"/>
              </a:rPr>
              <a:t>respaldatoria	</a:t>
            </a:r>
            <a:r>
              <a:rPr sz="3000" spc="-100" dirty="0">
                <a:latin typeface="Arial"/>
                <a:cs typeface="Arial"/>
              </a:rPr>
              <a:t>(incluyendo</a:t>
            </a: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39284" y="3056890"/>
            <a:ext cx="15468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7370" algn="l"/>
              </a:tabLst>
            </a:pPr>
            <a:r>
              <a:rPr sz="3000" spc="-105" dirty="0">
                <a:latin typeface="Arial"/>
                <a:cs typeface="Arial"/>
              </a:rPr>
              <a:t>la	</a:t>
            </a:r>
            <a:r>
              <a:rPr sz="3000" spc="-75" dirty="0">
                <a:latin typeface="Arial"/>
                <a:cs typeface="Arial"/>
              </a:rPr>
              <a:t>boleta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5411" y="3056890"/>
            <a:ext cx="20345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6115" algn="l"/>
              </a:tabLst>
            </a:pPr>
            <a:r>
              <a:rPr sz="3000" spc="-140" dirty="0">
                <a:latin typeface="Arial"/>
                <a:cs typeface="Arial"/>
              </a:rPr>
              <a:t>de	</a:t>
            </a:r>
            <a:r>
              <a:rPr sz="3000" spc="-90" dirty="0">
                <a:latin typeface="Arial"/>
                <a:cs typeface="Arial"/>
              </a:rPr>
              <a:t>depósito</a:t>
            </a:r>
            <a:endParaRPr sz="3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9241" y="3513835"/>
            <a:ext cx="822198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000" spc="-114" dirty="0">
                <a:latin typeface="Arial"/>
                <a:cs typeface="Arial"/>
              </a:rPr>
              <a:t>bancario,</a:t>
            </a:r>
            <a:r>
              <a:rPr sz="3000" spc="600" dirty="0">
                <a:latin typeface="Arial"/>
                <a:cs typeface="Arial"/>
              </a:rPr>
              <a:t> </a:t>
            </a:r>
            <a:r>
              <a:rPr sz="3000" spc="-85" dirty="0">
                <a:latin typeface="Arial"/>
                <a:cs typeface="Arial"/>
              </a:rPr>
              <a:t>el </a:t>
            </a:r>
            <a:r>
              <a:rPr sz="3000" spc="-80" dirty="0">
                <a:latin typeface="Arial"/>
                <a:cs typeface="Arial"/>
              </a:rPr>
              <a:t>listado </a:t>
            </a:r>
            <a:r>
              <a:rPr sz="3000" spc="-140" dirty="0">
                <a:latin typeface="Arial"/>
                <a:cs typeface="Arial"/>
              </a:rPr>
              <a:t>de </a:t>
            </a:r>
            <a:r>
              <a:rPr sz="3000" spc="-165" dirty="0">
                <a:latin typeface="Arial"/>
                <a:cs typeface="Arial"/>
              </a:rPr>
              <a:t>cobranzas, </a:t>
            </a:r>
            <a:r>
              <a:rPr sz="3000" spc="-130" dirty="0">
                <a:latin typeface="Arial"/>
                <a:cs typeface="Arial"/>
              </a:rPr>
              <a:t>los </a:t>
            </a:r>
            <a:r>
              <a:rPr sz="3000" spc="-125" dirty="0">
                <a:latin typeface="Arial"/>
                <a:cs typeface="Arial"/>
              </a:rPr>
              <a:t>recibos  </a:t>
            </a:r>
            <a:r>
              <a:rPr sz="3000" spc="-90" dirty="0">
                <a:latin typeface="Arial"/>
                <a:cs typeface="Arial"/>
              </a:rPr>
              <a:t>obtenidos, etc.) </a:t>
            </a:r>
            <a:r>
              <a:rPr sz="3000" spc="-145" dirty="0">
                <a:latin typeface="Arial"/>
                <a:cs typeface="Arial"/>
              </a:rPr>
              <a:t>y </a:t>
            </a:r>
            <a:r>
              <a:rPr sz="3000" spc="-180" dirty="0">
                <a:latin typeface="Arial"/>
                <a:cs typeface="Arial"/>
              </a:rPr>
              <a:t>las </a:t>
            </a:r>
            <a:r>
              <a:rPr sz="3000" spc="-160" dirty="0">
                <a:latin typeface="Arial"/>
                <a:cs typeface="Arial"/>
              </a:rPr>
              <a:t>envía </a:t>
            </a:r>
            <a:r>
              <a:rPr sz="3000" spc="-235" dirty="0">
                <a:latin typeface="Arial"/>
                <a:cs typeface="Arial"/>
              </a:rPr>
              <a:t>a </a:t>
            </a:r>
            <a:r>
              <a:rPr sz="3000" spc="-110" dirty="0">
                <a:latin typeface="Arial"/>
                <a:cs typeface="Arial"/>
              </a:rPr>
              <a:t>Contabilidad </a:t>
            </a:r>
            <a:r>
              <a:rPr sz="3000" spc="-135" dirty="0">
                <a:latin typeface="Arial"/>
                <a:cs typeface="Arial"/>
              </a:rPr>
              <a:t>para </a:t>
            </a:r>
            <a:r>
              <a:rPr sz="3000" spc="-215" dirty="0">
                <a:latin typeface="Arial"/>
                <a:cs typeface="Arial"/>
              </a:rPr>
              <a:t>su  </a:t>
            </a:r>
            <a:r>
              <a:rPr sz="3000" spc="-60" dirty="0">
                <a:latin typeface="Arial"/>
                <a:cs typeface="Arial"/>
              </a:rPr>
              <a:t>posterior </a:t>
            </a:r>
            <a:r>
              <a:rPr sz="3000" spc="-95" dirty="0">
                <a:latin typeface="Arial"/>
                <a:cs typeface="Arial"/>
              </a:rPr>
              <a:t>registración </a:t>
            </a:r>
            <a:r>
              <a:rPr sz="3000" spc="-145" dirty="0">
                <a:latin typeface="Arial"/>
                <a:cs typeface="Arial"/>
              </a:rPr>
              <a:t>y</a:t>
            </a:r>
            <a:r>
              <a:rPr sz="3000" spc="-320" dirty="0">
                <a:latin typeface="Arial"/>
                <a:cs typeface="Arial"/>
              </a:rPr>
              <a:t> </a:t>
            </a:r>
            <a:r>
              <a:rPr sz="3000" spc="-45" dirty="0">
                <a:latin typeface="Arial"/>
                <a:cs typeface="Arial"/>
              </a:rPr>
              <a:t>control.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179702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541" y="193801"/>
            <a:ext cx="5668645" cy="5793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Cobranzas</a:t>
            </a:r>
            <a:r>
              <a:rPr sz="2000" b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II: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depósito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recaudación</a:t>
            </a:r>
            <a:r>
              <a:rPr sz="1800" spc="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</a:pPr>
            <a:r>
              <a:rPr sz="3000" b="1" spc="-160" dirty="0">
                <a:latin typeface="Trebuchet MS"/>
                <a:cs typeface="Trebuchet MS"/>
              </a:rPr>
              <a:t>Controles</a:t>
            </a:r>
            <a:r>
              <a:rPr sz="3000" b="1" spc="-229" dirty="0">
                <a:latin typeface="Trebuchet MS"/>
                <a:cs typeface="Trebuchet MS"/>
              </a:rPr>
              <a:t> </a:t>
            </a:r>
            <a:r>
              <a:rPr sz="3000" b="1" spc="-160" dirty="0">
                <a:latin typeface="Trebuchet MS"/>
                <a:cs typeface="Trebuchet MS"/>
              </a:rPr>
              <a:t>instrumentados:</a:t>
            </a:r>
            <a:endParaRPr sz="3000">
              <a:latin typeface="Trebuchet MS"/>
              <a:cs typeface="Trebuchet MS"/>
            </a:endParaRPr>
          </a:p>
          <a:p>
            <a:pPr marL="279400" marR="5080" indent="-266700">
              <a:lnSpc>
                <a:spcPct val="100000"/>
              </a:lnSpc>
              <a:spcBef>
                <a:spcPts val="30"/>
              </a:spcBef>
              <a:buFont typeface="Wingdings"/>
              <a:buChar char=""/>
              <a:tabLst>
                <a:tab pos="279400" algn="l"/>
                <a:tab pos="1537970" algn="l"/>
                <a:tab pos="2125345" algn="l"/>
                <a:tab pos="3658870" algn="l"/>
                <a:tab pos="4677410" algn="l"/>
                <a:tab pos="5264785" algn="l"/>
              </a:tabLst>
            </a:pPr>
            <a:r>
              <a:rPr sz="2600" b="1" spc="-114" dirty="0">
                <a:latin typeface="Trebuchet MS"/>
                <a:cs typeface="Trebuchet MS"/>
              </a:rPr>
              <a:t>Bol</a:t>
            </a:r>
            <a:r>
              <a:rPr sz="2600" b="1" spc="-155" dirty="0">
                <a:latin typeface="Trebuchet MS"/>
                <a:cs typeface="Trebuchet MS"/>
              </a:rPr>
              <a:t>et</a:t>
            </a:r>
            <a:r>
              <a:rPr sz="2600" b="1" spc="-95" dirty="0">
                <a:latin typeface="Trebuchet MS"/>
                <a:cs typeface="Trebuchet MS"/>
              </a:rPr>
              <a:t>as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5" dirty="0">
                <a:latin typeface="Trebuchet MS"/>
                <a:cs typeface="Trebuchet MS"/>
              </a:rPr>
              <a:t>d</a:t>
            </a:r>
            <a:r>
              <a:rPr sz="2600" b="1" spc="-150" dirty="0">
                <a:latin typeface="Trebuchet MS"/>
                <a:cs typeface="Trebuchet MS"/>
              </a:rPr>
              <a:t>e</a:t>
            </a:r>
            <a:r>
              <a:rPr sz="2600" b="1" spc="-114" dirty="0">
                <a:latin typeface="Trebuchet MS"/>
                <a:cs typeface="Trebuchet MS"/>
              </a:rPr>
              <a:t>pósi</a:t>
            </a:r>
            <a:r>
              <a:rPr sz="2600" b="1" spc="-120" dirty="0">
                <a:latin typeface="Trebuchet MS"/>
                <a:cs typeface="Trebuchet MS"/>
              </a:rPr>
              <a:t>t</a:t>
            </a:r>
            <a:r>
              <a:rPr sz="2600" b="1" spc="-75" dirty="0">
                <a:latin typeface="Trebuchet MS"/>
                <a:cs typeface="Trebuchet MS"/>
              </a:rPr>
              <a:t>o</a:t>
            </a:r>
            <a:r>
              <a:rPr sz="2600" b="1" spc="-265" dirty="0">
                <a:latin typeface="Trebuchet MS"/>
                <a:cs typeface="Trebuchet MS"/>
              </a:rPr>
              <a:t>.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60" dirty="0">
                <a:latin typeface="Trebuchet MS"/>
                <a:cs typeface="Trebuchet MS"/>
              </a:rPr>
              <a:t>C</a:t>
            </a:r>
            <a:r>
              <a:rPr sz="2600" b="1" spc="-135" dirty="0">
                <a:latin typeface="Trebuchet MS"/>
                <a:cs typeface="Trebuchet MS"/>
              </a:rPr>
              <a:t>o</a:t>
            </a:r>
            <a:r>
              <a:rPr sz="2600" b="1" spc="-125" dirty="0">
                <a:latin typeface="Trebuchet MS"/>
                <a:cs typeface="Trebuchet MS"/>
              </a:rPr>
              <a:t>pia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85" dirty="0">
                <a:latin typeface="Trebuchet MS"/>
                <a:cs typeface="Trebuchet MS"/>
              </a:rPr>
              <a:t>los  </a:t>
            </a:r>
            <a:r>
              <a:rPr sz="2600" b="1" spc="-140" dirty="0">
                <a:latin typeface="Trebuchet MS"/>
                <a:cs typeface="Trebuchet MS"/>
              </a:rPr>
              <a:t>valores</a:t>
            </a:r>
            <a:r>
              <a:rPr sz="2600" b="1" spc="-195" dirty="0">
                <a:latin typeface="Trebuchet MS"/>
                <a:cs typeface="Trebuchet MS"/>
              </a:rPr>
              <a:t> </a:t>
            </a:r>
            <a:r>
              <a:rPr sz="2600" b="1" spc="-114" dirty="0">
                <a:latin typeface="Trebuchet MS"/>
                <a:cs typeface="Trebuchet MS"/>
              </a:rPr>
              <a:t>depositados</a:t>
            </a:r>
            <a:endParaRPr sz="2600">
              <a:latin typeface="Trebuchet MS"/>
              <a:cs typeface="Trebuchet MS"/>
            </a:endParaRPr>
          </a:p>
          <a:p>
            <a:pPr marL="736600" marR="5715" lvl="1" indent="-266700" algn="just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120" dirty="0">
                <a:latin typeface="Arial"/>
                <a:cs typeface="Arial"/>
              </a:rPr>
              <a:t>Muchas </a:t>
            </a:r>
            <a:r>
              <a:rPr sz="2200" spc="-145" dirty="0">
                <a:latin typeface="Arial"/>
                <a:cs typeface="Arial"/>
              </a:rPr>
              <a:t>veces, </a:t>
            </a:r>
            <a:r>
              <a:rPr sz="2200" spc="-60" dirty="0">
                <a:latin typeface="Arial"/>
                <a:cs typeface="Arial"/>
              </a:rPr>
              <a:t>el detalle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10" dirty="0">
                <a:latin typeface="Arial"/>
                <a:cs typeface="Arial"/>
              </a:rPr>
              <a:t>valores  </a:t>
            </a:r>
            <a:r>
              <a:rPr sz="2200" spc="-95" dirty="0">
                <a:latin typeface="Arial"/>
                <a:cs typeface="Arial"/>
              </a:rPr>
              <a:t>depositados </a:t>
            </a:r>
            <a:r>
              <a:rPr sz="2200" spc="-114" dirty="0">
                <a:latin typeface="Arial"/>
                <a:cs typeface="Arial"/>
              </a:rPr>
              <a:t>está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00" dirty="0">
                <a:latin typeface="Arial"/>
                <a:cs typeface="Arial"/>
              </a:rPr>
              <a:t>copia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105" dirty="0">
                <a:latin typeface="Arial"/>
                <a:cs typeface="Arial"/>
              </a:rPr>
              <a:t>queda 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-110" dirty="0">
                <a:latin typeface="Arial"/>
                <a:cs typeface="Arial"/>
              </a:rPr>
              <a:t>banco.</a:t>
            </a:r>
            <a:endParaRPr sz="2200">
              <a:latin typeface="Arial"/>
              <a:cs typeface="Arial"/>
            </a:endParaRPr>
          </a:p>
          <a:p>
            <a:pPr marL="279400" marR="5715" indent="-266700">
              <a:lnSpc>
                <a:spcPts val="3120"/>
              </a:lnSpc>
              <a:spcBef>
                <a:spcPts val="80"/>
              </a:spcBef>
              <a:buFont typeface="Wingdings"/>
              <a:buChar char=""/>
              <a:tabLst>
                <a:tab pos="279400" algn="l"/>
                <a:tab pos="1805939" algn="l"/>
                <a:tab pos="2899410" algn="l"/>
                <a:tab pos="3361690" algn="l"/>
                <a:tab pos="4638675" algn="l"/>
                <a:tab pos="5278755" algn="l"/>
              </a:tabLst>
            </a:pPr>
            <a:r>
              <a:rPr sz="2600" b="1" spc="-125" dirty="0">
                <a:latin typeface="Trebuchet MS"/>
                <a:cs typeface="Trebuchet MS"/>
              </a:rPr>
              <a:t>D</a:t>
            </a:r>
            <a:r>
              <a:rPr sz="2600" b="1" spc="-105" dirty="0">
                <a:latin typeface="Trebuchet MS"/>
                <a:cs typeface="Trebuchet MS"/>
              </a:rPr>
              <a:t>e</a:t>
            </a:r>
            <a:r>
              <a:rPr sz="2600" b="1" spc="-114" dirty="0">
                <a:latin typeface="Trebuchet MS"/>
                <a:cs typeface="Trebuchet MS"/>
              </a:rPr>
              <a:t>pósi</a:t>
            </a:r>
            <a:r>
              <a:rPr sz="2600" b="1" spc="-125" dirty="0">
                <a:latin typeface="Trebuchet MS"/>
                <a:cs typeface="Trebuchet MS"/>
              </a:rPr>
              <a:t>t</a:t>
            </a:r>
            <a:r>
              <a:rPr sz="2600" b="1" spc="-75" dirty="0">
                <a:latin typeface="Trebuchet MS"/>
                <a:cs typeface="Trebuchet MS"/>
              </a:rPr>
              <a:t>o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40" dirty="0">
                <a:latin typeface="Trebuchet MS"/>
                <a:cs typeface="Trebuchet MS"/>
              </a:rPr>
              <a:t>dia</a:t>
            </a:r>
            <a:r>
              <a:rPr sz="2600" b="1" spc="-125" dirty="0">
                <a:latin typeface="Trebuchet MS"/>
                <a:cs typeface="Trebuchet MS"/>
              </a:rPr>
              <a:t>r</a:t>
            </a:r>
            <a:r>
              <a:rPr sz="2600" b="1" spc="-110" dirty="0">
                <a:latin typeface="Trebuchet MS"/>
                <a:cs typeface="Trebuchet MS"/>
              </a:rPr>
              <a:t>io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90" dirty="0">
                <a:latin typeface="Trebuchet MS"/>
                <a:cs typeface="Trebuchet MS"/>
              </a:rPr>
              <a:t>e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95" dirty="0">
                <a:latin typeface="Trebuchet MS"/>
                <a:cs typeface="Trebuchet MS"/>
              </a:rPr>
              <a:t>í</a:t>
            </a:r>
            <a:r>
              <a:rPr sz="2600" b="1" spc="-204" dirty="0">
                <a:latin typeface="Trebuchet MS"/>
                <a:cs typeface="Trebuchet MS"/>
              </a:rPr>
              <a:t>n</a:t>
            </a:r>
            <a:r>
              <a:rPr sz="2600" b="1" spc="-170" dirty="0">
                <a:latin typeface="Trebuchet MS"/>
                <a:cs typeface="Trebuchet MS"/>
              </a:rPr>
              <a:t>t</a:t>
            </a:r>
            <a:r>
              <a:rPr sz="2600" b="1" spc="-165" dirty="0">
                <a:latin typeface="Trebuchet MS"/>
                <a:cs typeface="Trebuchet MS"/>
              </a:rPr>
              <a:t>eg</a:t>
            </a:r>
            <a:r>
              <a:rPr sz="2600" b="1" spc="-155" dirty="0">
                <a:latin typeface="Trebuchet MS"/>
                <a:cs typeface="Trebuchet MS"/>
              </a:rPr>
              <a:t>r</a:t>
            </a:r>
            <a:r>
              <a:rPr sz="2600" b="1" spc="-75" dirty="0">
                <a:latin typeface="Trebuchet MS"/>
                <a:cs typeface="Trebuchet MS"/>
              </a:rPr>
              <a:t>o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95" dirty="0">
                <a:latin typeface="Trebuchet MS"/>
                <a:cs typeface="Trebuchet MS"/>
              </a:rPr>
              <a:t>las  </a:t>
            </a:r>
            <a:r>
              <a:rPr sz="2600" b="1" spc="-165" dirty="0">
                <a:latin typeface="Trebuchet MS"/>
                <a:cs typeface="Trebuchet MS"/>
              </a:rPr>
              <a:t>Cobranzas</a:t>
            </a:r>
            <a:endParaRPr sz="2600">
              <a:latin typeface="Trebuchet MS"/>
              <a:cs typeface="Trebuchet MS"/>
            </a:endParaRPr>
          </a:p>
          <a:p>
            <a:pPr marL="736600" marR="6350" lvl="1" indent="-266700" algn="just">
              <a:lnSpc>
                <a:spcPts val="2640"/>
              </a:lnSpc>
              <a:spcBef>
                <a:spcPts val="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spc="-240" dirty="0">
                <a:latin typeface="Arial"/>
                <a:cs typeface="Arial"/>
              </a:rPr>
              <a:t>Las </a:t>
            </a:r>
            <a:r>
              <a:rPr sz="2200" spc="-145" dirty="0">
                <a:latin typeface="Arial"/>
                <a:cs typeface="Arial"/>
              </a:rPr>
              <a:t>cobranzas </a:t>
            </a:r>
            <a:r>
              <a:rPr sz="2200" spc="-100" dirty="0">
                <a:latin typeface="Arial"/>
                <a:cs typeface="Arial"/>
              </a:rPr>
              <a:t>deben </a:t>
            </a:r>
            <a:r>
              <a:rPr sz="2200" spc="-114" dirty="0">
                <a:latin typeface="Arial"/>
                <a:cs typeface="Arial"/>
              </a:rPr>
              <a:t>ser </a:t>
            </a:r>
            <a:r>
              <a:rPr sz="2200" spc="-105" dirty="0">
                <a:latin typeface="Arial"/>
                <a:cs typeface="Arial"/>
              </a:rPr>
              <a:t>depositadas  </a:t>
            </a:r>
            <a:r>
              <a:rPr sz="2200" spc="-65" dirty="0">
                <a:latin typeface="Arial"/>
                <a:cs typeface="Arial"/>
              </a:rPr>
              <a:t>diariamente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55" dirty="0">
                <a:latin typeface="Arial"/>
                <a:cs typeface="Arial"/>
              </a:rPr>
              <a:t>forma</a:t>
            </a:r>
            <a:r>
              <a:rPr sz="2200" spc="-195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íntegra.</a:t>
            </a:r>
            <a:endParaRPr sz="2200">
              <a:latin typeface="Arial"/>
              <a:cs typeface="Arial"/>
            </a:endParaRPr>
          </a:p>
          <a:p>
            <a:pPr marL="279400" indent="-266700">
              <a:lnSpc>
                <a:spcPts val="301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35" dirty="0">
                <a:latin typeface="Trebuchet MS"/>
                <a:cs typeface="Trebuchet MS"/>
              </a:rPr>
              <a:t>Custodia </a:t>
            </a:r>
            <a:r>
              <a:rPr sz="2600" b="1" spc="-150" dirty="0">
                <a:latin typeface="Trebuchet MS"/>
                <a:cs typeface="Trebuchet MS"/>
              </a:rPr>
              <a:t>de </a:t>
            </a:r>
            <a:r>
              <a:rPr sz="2600" b="1" spc="-95" dirty="0">
                <a:latin typeface="Trebuchet MS"/>
                <a:cs typeface="Trebuchet MS"/>
              </a:rPr>
              <a:t>los </a:t>
            </a:r>
            <a:r>
              <a:rPr sz="2600" b="1" spc="-120" dirty="0">
                <a:latin typeface="Trebuchet MS"/>
                <a:cs typeface="Trebuchet MS"/>
              </a:rPr>
              <a:t>talonarios </a:t>
            </a:r>
            <a:r>
              <a:rPr sz="2600" b="1" spc="-150" dirty="0">
                <a:latin typeface="Trebuchet MS"/>
                <a:cs typeface="Trebuchet MS"/>
              </a:rPr>
              <a:t>de</a:t>
            </a:r>
            <a:r>
              <a:rPr sz="2600" b="1" spc="-110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Recibos</a:t>
            </a:r>
            <a:endParaRPr sz="2600">
              <a:latin typeface="Trebuchet MS"/>
              <a:cs typeface="Trebuchet MS"/>
            </a:endParaRPr>
          </a:p>
          <a:p>
            <a:pPr marL="279400">
              <a:lnSpc>
                <a:spcPct val="100000"/>
              </a:lnSpc>
              <a:spcBef>
                <a:spcPts val="5"/>
              </a:spcBef>
            </a:pPr>
            <a:r>
              <a:rPr sz="2600" b="1" spc="-125" dirty="0">
                <a:latin typeface="Trebuchet MS"/>
                <a:cs typeface="Trebuchet MS"/>
              </a:rPr>
              <a:t>sin</a:t>
            </a:r>
            <a:r>
              <a:rPr sz="2600" b="1" spc="-200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utilizar</a:t>
            </a:r>
            <a:endParaRPr sz="2600">
              <a:latin typeface="Trebuchet MS"/>
              <a:cs typeface="Trebuchet MS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b="1" spc="-150" dirty="0">
                <a:latin typeface="Trebuchet MS"/>
                <a:cs typeface="Trebuchet MS"/>
              </a:rPr>
              <a:t>Control </a:t>
            </a:r>
            <a:r>
              <a:rPr sz="2600" b="1" spc="-160" dirty="0">
                <a:latin typeface="Trebuchet MS"/>
                <a:cs typeface="Trebuchet MS"/>
              </a:rPr>
              <a:t>numérico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45" dirty="0">
                <a:latin typeface="Trebuchet MS"/>
                <a:cs typeface="Trebuchet MS"/>
              </a:rPr>
              <a:t> </a:t>
            </a:r>
            <a:r>
              <a:rPr sz="2600" b="1" spc="-140" dirty="0">
                <a:latin typeface="Trebuchet MS"/>
                <a:cs typeface="Trebuchet MS"/>
              </a:rPr>
              <a:t>documentos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72200" y="1219200"/>
            <a:ext cx="2705100" cy="17045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19800" y="2895600"/>
            <a:ext cx="1339596" cy="167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38238" y="2971800"/>
            <a:ext cx="1613153" cy="161467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94476" y="4495800"/>
            <a:ext cx="2859024" cy="18958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r>
              <a:rPr spc="-30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457962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Cobranzas</a:t>
            </a:r>
            <a:r>
              <a:rPr sz="2000" b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30" dirty="0">
                <a:solidFill>
                  <a:srgbClr val="FFFFFF"/>
                </a:solidFill>
                <a:latin typeface="Arial"/>
                <a:cs typeface="Arial"/>
              </a:rPr>
              <a:t>Módulo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III: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registración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800" spc="-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operación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1292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348" y="999490"/>
            <a:ext cx="56114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5010" algn="l"/>
                <a:tab pos="3422650" algn="l"/>
                <a:tab pos="3949065" algn="l"/>
              </a:tabLst>
            </a:pPr>
            <a:r>
              <a:rPr sz="3000" spc="-140" dirty="0">
                <a:latin typeface="Arial"/>
                <a:cs typeface="Arial"/>
              </a:rPr>
              <a:t>Contadurí</a:t>
            </a:r>
            <a:r>
              <a:rPr sz="3000" spc="-150" dirty="0">
                <a:latin typeface="Arial"/>
                <a:cs typeface="Arial"/>
              </a:rPr>
              <a:t>a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90" dirty="0">
                <a:latin typeface="Arial"/>
                <a:cs typeface="Arial"/>
              </a:rPr>
              <a:t>registra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05" dirty="0">
                <a:latin typeface="Arial"/>
                <a:cs typeface="Arial"/>
              </a:rPr>
              <a:t>la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95" dirty="0">
                <a:latin typeface="Arial"/>
                <a:cs typeface="Arial"/>
              </a:rPr>
              <a:t>ope</a:t>
            </a:r>
            <a:r>
              <a:rPr sz="3000" spc="-65" dirty="0">
                <a:latin typeface="Arial"/>
                <a:cs typeface="Arial"/>
              </a:rPr>
              <a:t>r</a:t>
            </a:r>
            <a:r>
              <a:rPr sz="3000" spc="-120" dirty="0">
                <a:latin typeface="Arial"/>
                <a:cs typeface="Arial"/>
              </a:rPr>
              <a:t>ación,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7855" y="999490"/>
            <a:ext cx="617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85" dirty="0">
                <a:latin typeface="Arial"/>
                <a:cs typeface="Arial"/>
              </a:rPr>
              <a:t>tras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241" y="1456690"/>
            <a:ext cx="19494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65605" algn="l"/>
              </a:tabLst>
            </a:pPr>
            <a:r>
              <a:rPr sz="3000" spc="-105" dirty="0">
                <a:latin typeface="Arial"/>
                <a:cs typeface="Arial"/>
              </a:rPr>
              <a:t>ve</a:t>
            </a:r>
            <a:r>
              <a:rPr sz="3000" spc="-80" dirty="0">
                <a:latin typeface="Arial"/>
                <a:cs typeface="Arial"/>
              </a:rPr>
              <a:t>r</a:t>
            </a:r>
            <a:r>
              <a:rPr sz="3000" spc="-50" dirty="0">
                <a:latin typeface="Arial"/>
                <a:cs typeface="Arial"/>
              </a:rPr>
              <a:t>ificar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05" dirty="0">
                <a:latin typeface="Arial"/>
                <a:cs typeface="Arial"/>
              </a:rPr>
              <a:t>la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4960" y="1456690"/>
            <a:ext cx="44634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1360" algn="l"/>
                <a:tab pos="2557145" algn="l"/>
              </a:tabLst>
            </a:pPr>
            <a:r>
              <a:rPr sz="3000" spc="-65" dirty="0">
                <a:latin typeface="Arial"/>
                <a:cs typeface="Arial"/>
              </a:rPr>
              <a:t>inte</a:t>
            </a:r>
            <a:r>
              <a:rPr sz="3000" spc="-95" dirty="0">
                <a:latin typeface="Arial"/>
                <a:cs typeface="Arial"/>
              </a:rPr>
              <a:t>g</a:t>
            </a:r>
            <a:r>
              <a:rPr sz="3000" spc="-70" dirty="0">
                <a:latin typeface="Arial"/>
                <a:cs typeface="Arial"/>
              </a:rPr>
              <a:t>ridad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45" dirty="0">
                <a:latin typeface="Arial"/>
                <a:cs typeface="Arial"/>
              </a:rPr>
              <a:t>y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30" dirty="0">
                <a:latin typeface="Arial"/>
                <a:cs typeface="Arial"/>
              </a:rPr>
              <a:t>consist</a:t>
            </a:r>
            <a:r>
              <a:rPr sz="3000" spc="-175" dirty="0">
                <a:latin typeface="Arial"/>
                <a:cs typeface="Arial"/>
              </a:rPr>
              <a:t>e</a:t>
            </a:r>
            <a:r>
              <a:rPr sz="3000" spc="-130" dirty="0">
                <a:latin typeface="Arial"/>
                <a:cs typeface="Arial"/>
              </a:rPr>
              <a:t>nc</a:t>
            </a:r>
            <a:r>
              <a:rPr sz="3000" spc="-70" dirty="0">
                <a:latin typeface="Arial"/>
                <a:cs typeface="Arial"/>
              </a:rPr>
              <a:t>i</a:t>
            </a:r>
            <a:r>
              <a:rPr sz="3000" spc="-235" dirty="0">
                <a:latin typeface="Arial"/>
                <a:cs typeface="Arial"/>
              </a:rPr>
              <a:t>a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6216" y="999490"/>
            <a:ext cx="14439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5080" indent="-368935">
              <a:lnSpc>
                <a:spcPct val="100000"/>
              </a:lnSpc>
              <a:spcBef>
                <a:spcPts val="100"/>
              </a:spcBef>
              <a:tabLst>
                <a:tab pos="1161415" algn="l"/>
                <a:tab pos="1257935" algn="l"/>
              </a:tabLst>
            </a:pPr>
            <a:r>
              <a:rPr sz="3000" spc="-50" dirty="0">
                <a:latin typeface="Arial"/>
                <a:cs typeface="Arial"/>
              </a:rPr>
              <a:t>r</a:t>
            </a:r>
            <a:r>
              <a:rPr sz="3000" spc="-95" dirty="0">
                <a:latin typeface="Arial"/>
                <a:cs typeface="Arial"/>
              </a:rPr>
              <a:t>e</a:t>
            </a:r>
            <a:r>
              <a:rPr sz="3000" spc="-50" dirty="0">
                <a:latin typeface="Arial"/>
                <a:cs typeface="Arial"/>
              </a:rPr>
              <a:t>cibir</a:t>
            </a:r>
            <a:r>
              <a:rPr sz="3000" dirty="0">
                <a:latin typeface="Arial"/>
                <a:cs typeface="Arial"/>
              </a:rPr>
              <a:t>		</a:t>
            </a:r>
            <a:r>
              <a:rPr sz="3000" spc="-100" dirty="0">
                <a:latin typeface="Arial"/>
                <a:cs typeface="Arial"/>
              </a:rPr>
              <a:t>y  </a:t>
            </a:r>
            <a:r>
              <a:rPr sz="3000" spc="-140" dirty="0">
                <a:latin typeface="Arial"/>
                <a:cs typeface="Arial"/>
              </a:rPr>
              <a:t>d</a:t>
            </a:r>
            <a:r>
              <a:rPr sz="3000" spc="-135" dirty="0">
                <a:latin typeface="Arial"/>
                <a:cs typeface="Arial"/>
              </a:rPr>
              <a:t>e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110" dirty="0">
                <a:latin typeface="Arial"/>
                <a:cs typeface="Arial"/>
              </a:rPr>
              <a:t>la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5115" y="2729483"/>
            <a:ext cx="266700" cy="266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9241" y="1685290"/>
            <a:ext cx="6969759" cy="139700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spc="-110" dirty="0">
                <a:latin typeface="Arial"/>
                <a:cs typeface="Arial"/>
              </a:rPr>
              <a:t>documentación </a:t>
            </a:r>
            <a:r>
              <a:rPr sz="3000" spc="-125" dirty="0">
                <a:latin typeface="Arial"/>
                <a:cs typeface="Arial"/>
              </a:rPr>
              <a:t>que </a:t>
            </a:r>
            <a:r>
              <a:rPr sz="3000" spc="-114" dirty="0">
                <a:latin typeface="Arial"/>
                <a:cs typeface="Arial"/>
              </a:rPr>
              <a:t>perfecciona </a:t>
            </a:r>
            <a:r>
              <a:rPr sz="3000" spc="-105" dirty="0">
                <a:latin typeface="Arial"/>
                <a:cs typeface="Arial"/>
              </a:rPr>
              <a:t>la</a:t>
            </a:r>
            <a:r>
              <a:rPr sz="3000" spc="-290" dirty="0">
                <a:latin typeface="Arial"/>
                <a:cs typeface="Arial"/>
              </a:rPr>
              <a:t> </a:t>
            </a:r>
            <a:r>
              <a:rPr sz="3000" spc="-145" dirty="0">
                <a:latin typeface="Arial"/>
                <a:cs typeface="Arial"/>
              </a:rPr>
              <a:t>cobranza.</a:t>
            </a:r>
            <a:endParaRPr sz="3000">
              <a:latin typeface="Arial"/>
              <a:cs typeface="Arial"/>
            </a:endParaRPr>
          </a:p>
          <a:p>
            <a:pPr marL="98425">
              <a:lnSpc>
                <a:spcPct val="100000"/>
              </a:lnSpc>
              <a:spcBef>
                <a:spcPts val="1800"/>
              </a:spcBef>
            </a:pPr>
            <a:r>
              <a:rPr sz="3000" b="1" spc="-160" dirty="0">
                <a:latin typeface="Trebuchet MS"/>
                <a:cs typeface="Trebuchet MS"/>
              </a:rPr>
              <a:t>Controles</a:t>
            </a:r>
            <a:r>
              <a:rPr sz="3000" b="1" spc="-229" dirty="0">
                <a:latin typeface="Trebuchet MS"/>
                <a:cs typeface="Trebuchet MS"/>
              </a:rPr>
              <a:t> </a:t>
            </a:r>
            <a:r>
              <a:rPr sz="3000" b="1" spc="-160" dirty="0">
                <a:latin typeface="Trebuchet MS"/>
                <a:cs typeface="Trebuchet MS"/>
              </a:rPr>
              <a:t>instrumentados: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19314" y="3060700"/>
            <a:ext cx="10407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4225" algn="l"/>
              </a:tabLst>
            </a:pPr>
            <a:r>
              <a:rPr sz="2600" b="1" spc="-155" dirty="0">
                <a:latin typeface="Trebuchet MS"/>
                <a:cs typeface="Trebuchet MS"/>
              </a:rPr>
              <a:t>de	</a:t>
            </a:r>
            <a:r>
              <a:rPr sz="2600" b="1" spc="-125" dirty="0">
                <a:latin typeface="Trebuchet MS"/>
                <a:cs typeface="Trebuchet MS"/>
              </a:rPr>
              <a:t>la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2541" y="3060700"/>
            <a:ext cx="7113270" cy="2497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marR="73660" indent="-2667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79400" algn="l"/>
                <a:tab pos="2225675" algn="l"/>
                <a:tab pos="3551554" algn="l"/>
                <a:tab pos="4333240" algn="l"/>
                <a:tab pos="5736590" algn="l"/>
              </a:tabLst>
            </a:pPr>
            <a:r>
              <a:rPr sz="2600" b="1" spc="-150" dirty="0">
                <a:latin typeface="Trebuchet MS"/>
                <a:cs typeface="Trebuchet MS"/>
              </a:rPr>
              <a:t>Co</a:t>
            </a:r>
            <a:r>
              <a:rPr sz="2600" b="1" spc="-170" dirty="0">
                <a:latin typeface="Trebuchet MS"/>
                <a:cs typeface="Trebuchet MS"/>
              </a:rPr>
              <a:t>n</a:t>
            </a:r>
            <a:r>
              <a:rPr sz="2600" b="1" spc="-155" dirty="0">
                <a:latin typeface="Trebuchet MS"/>
                <a:cs typeface="Trebuchet MS"/>
              </a:rPr>
              <a:t>t</a:t>
            </a:r>
            <a:r>
              <a:rPr sz="2600" b="1" spc="-105" dirty="0">
                <a:latin typeface="Trebuchet MS"/>
                <a:cs typeface="Trebuchet MS"/>
              </a:rPr>
              <a:t>a</a:t>
            </a:r>
            <a:r>
              <a:rPr sz="2600" b="1" spc="-110" dirty="0">
                <a:latin typeface="Trebuchet MS"/>
                <a:cs typeface="Trebuchet MS"/>
              </a:rPr>
              <a:t>d</a:t>
            </a:r>
            <a:r>
              <a:rPr sz="2600" b="1" spc="-145" dirty="0">
                <a:latin typeface="Trebuchet MS"/>
                <a:cs typeface="Trebuchet MS"/>
              </a:rPr>
              <a:t>uría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215" dirty="0">
                <a:latin typeface="Trebuchet MS"/>
                <a:cs typeface="Trebuchet MS"/>
              </a:rPr>
              <a:t>r</a:t>
            </a:r>
            <a:r>
              <a:rPr sz="2600" b="1" spc="-180" dirty="0">
                <a:latin typeface="Trebuchet MS"/>
                <a:cs typeface="Trebuchet MS"/>
              </a:rPr>
              <a:t>eali</a:t>
            </a:r>
            <a:r>
              <a:rPr sz="2600" b="1" spc="-240" dirty="0">
                <a:latin typeface="Trebuchet MS"/>
                <a:cs typeface="Trebuchet MS"/>
              </a:rPr>
              <a:t>z</a:t>
            </a:r>
            <a:r>
              <a:rPr sz="2600" b="1" spc="-105" dirty="0">
                <a:latin typeface="Trebuchet MS"/>
                <a:cs typeface="Trebuchet MS"/>
              </a:rPr>
              <a:t>a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45" dirty="0">
                <a:latin typeface="Trebuchet MS"/>
                <a:cs typeface="Trebuchet MS"/>
              </a:rPr>
              <a:t>un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155" dirty="0">
                <a:latin typeface="Trebuchet MS"/>
                <a:cs typeface="Trebuchet MS"/>
              </a:rPr>
              <a:t>co</a:t>
            </a:r>
            <a:r>
              <a:rPr sz="2600" b="1" spc="-195" dirty="0">
                <a:latin typeface="Trebuchet MS"/>
                <a:cs typeface="Trebuchet MS"/>
              </a:rPr>
              <a:t>n</a:t>
            </a:r>
            <a:r>
              <a:rPr sz="2600" b="1" spc="-155" dirty="0">
                <a:latin typeface="Trebuchet MS"/>
                <a:cs typeface="Trebuchet MS"/>
              </a:rPr>
              <a:t>t</a:t>
            </a:r>
            <a:r>
              <a:rPr sz="2600" b="1" spc="-195" dirty="0">
                <a:latin typeface="Trebuchet MS"/>
                <a:cs typeface="Trebuchet MS"/>
              </a:rPr>
              <a:t>r</a:t>
            </a:r>
            <a:r>
              <a:rPr sz="2600" b="1" spc="-105" dirty="0">
                <a:latin typeface="Trebuchet MS"/>
                <a:cs typeface="Trebuchet MS"/>
              </a:rPr>
              <a:t>ol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b="1" spc="-260" dirty="0">
                <a:latin typeface="Trebuchet MS"/>
                <a:cs typeface="Trebuchet MS"/>
              </a:rPr>
              <a:t>c</a:t>
            </a:r>
            <a:r>
              <a:rPr sz="2600" b="1" spc="-130" dirty="0">
                <a:latin typeface="Trebuchet MS"/>
                <a:cs typeface="Trebuchet MS"/>
              </a:rPr>
              <a:t>ompl</a:t>
            </a:r>
            <a:r>
              <a:rPr sz="2600" b="1" spc="-140" dirty="0">
                <a:latin typeface="Trebuchet MS"/>
                <a:cs typeface="Trebuchet MS"/>
              </a:rPr>
              <a:t>e</a:t>
            </a:r>
            <a:r>
              <a:rPr sz="2600" b="1" spc="-165" dirty="0">
                <a:latin typeface="Trebuchet MS"/>
                <a:cs typeface="Trebuchet MS"/>
              </a:rPr>
              <a:t>t</a:t>
            </a:r>
            <a:r>
              <a:rPr sz="2600" b="1" spc="-55" dirty="0">
                <a:latin typeface="Trebuchet MS"/>
                <a:cs typeface="Trebuchet MS"/>
              </a:rPr>
              <a:t>o  </a:t>
            </a:r>
            <a:r>
              <a:rPr sz="2600" b="1" spc="-150" dirty="0">
                <a:latin typeface="Trebuchet MS"/>
                <a:cs typeface="Trebuchet MS"/>
              </a:rPr>
              <a:t>documentación</a:t>
            </a:r>
            <a:r>
              <a:rPr sz="2600" b="1" spc="-18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recibida</a:t>
            </a:r>
            <a:endParaRPr sz="2600">
              <a:latin typeface="Trebuchet MS"/>
              <a:cs typeface="Trebuchet MS"/>
            </a:endParaRPr>
          </a:p>
          <a:p>
            <a:pPr marL="736600" lvl="1" indent="-266700">
              <a:lnSpc>
                <a:spcPct val="100000"/>
              </a:lnSpc>
              <a:spcBef>
                <a:spcPts val="25"/>
              </a:spcBef>
              <a:buFont typeface="Wingdings"/>
              <a:buChar char=""/>
              <a:tabLst>
                <a:tab pos="736600" algn="l"/>
              </a:tabLst>
            </a:pPr>
            <a:r>
              <a:rPr sz="2200" b="1" spc="-95" dirty="0">
                <a:latin typeface="Trebuchet MS"/>
                <a:cs typeface="Trebuchet MS"/>
              </a:rPr>
              <a:t>De </a:t>
            </a:r>
            <a:r>
              <a:rPr sz="2200" b="1" spc="-114" dirty="0">
                <a:latin typeface="Trebuchet MS"/>
                <a:cs typeface="Trebuchet MS"/>
              </a:rPr>
              <a:t>Contaduría</a:t>
            </a:r>
            <a:r>
              <a:rPr sz="2200" spc="-114" dirty="0">
                <a:latin typeface="Arial"/>
                <a:cs typeface="Arial"/>
              </a:rPr>
              <a:t>: </a:t>
            </a:r>
            <a:r>
              <a:rPr sz="2200" spc="-110" dirty="0">
                <a:latin typeface="Arial"/>
                <a:cs typeface="Arial"/>
              </a:rPr>
              <a:t>Parte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04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ingresos;</a:t>
            </a:r>
            <a:endParaRPr sz="22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b="1" spc="-95" dirty="0">
                <a:latin typeface="Trebuchet MS"/>
                <a:cs typeface="Trebuchet MS"/>
              </a:rPr>
              <a:t>De </a:t>
            </a:r>
            <a:r>
              <a:rPr sz="2200" b="1" spc="-150" dirty="0">
                <a:latin typeface="Trebuchet MS"/>
                <a:cs typeface="Trebuchet MS"/>
              </a:rPr>
              <a:t>Tesorería</a:t>
            </a:r>
            <a:r>
              <a:rPr sz="2200" spc="-150" dirty="0">
                <a:latin typeface="Arial"/>
                <a:cs typeface="Arial"/>
              </a:rPr>
              <a:t>: </a:t>
            </a:r>
            <a:r>
              <a:rPr sz="2200" spc="-90" dirty="0">
                <a:latin typeface="Arial"/>
                <a:cs typeface="Arial"/>
              </a:rPr>
              <a:t>Boleta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05" dirty="0">
                <a:latin typeface="Arial"/>
                <a:cs typeface="Arial"/>
              </a:rPr>
              <a:t>Depósitos </a:t>
            </a:r>
            <a:r>
              <a:rPr sz="2200" spc="-130" dirty="0">
                <a:latin typeface="Arial"/>
                <a:cs typeface="Arial"/>
              </a:rPr>
              <a:t>selladas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290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Banco;</a:t>
            </a:r>
            <a:endParaRPr sz="22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b="1" spc="-95" dirty="0">
                <a:latin typeface="Trebuchet MS"/>
                <a:cs typeface="Trebuchet MS"/>
              </a:rPr>
              <a:t>De </a:t>
            </a:r>
            <a:r>
              <a:rPr sz="2200" b="1" spc="-130" dirty="0">
                <a:latin typeface="Trebuchet MS"/>
                <a:cs typeface="Trebuchet MS"/>
              </a:rPr>
              <a:t>Cobranzas</a:t>
            </a:r>
            <a:r>
              <a:rPr sz="2200" spc="-130" dirty="0">
                <a:latin typeface="Arial"/>
                <a:cs typeface="Arial"/>
              </a:rPr>
              <a:t>: </a:t>
            </a:r>
            <a:r>
              <a:rPr sz="2200" spc="-145" dirty="0">
                <a:latin typeface="Arial"/>
                <a:cs typeface="Arial"/>
              </a:rPr>
              <a:t>Recibo</a:t>
            </a:r>
            <a:r>
              <a:rPr sz="2200" spc="-18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Oficial;</a:t>
            </a:r>
            <a:endParaRPr sz="22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spc="-110" dirty="0">
                <a:latin typeface="Arial"/>
                <a:cs typeface="Arial"/>
              </a:rPr>
              <a:t>Listado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55" dirty="0">
                <a:latin typeface="Arial"/>
                <a:cs typeface="Arial"/>
              </a:rPr>
              <a:t>Cobranzas, </a:t>
            </a:r>
            <a:r>
              <a:rPr sz="2200" spc="-70" dirty="0">
                <a:latin typeface="Arial"/>
                <a:cs typeface="Arial"/>
              </a:rPr>
              <a:t>uno </a:t>
            </a:r>
            <a:r>
              <a:rPr sz="2200" spc="-35" dirty="0">
                <a:latin typeface="Arial"/>
                <a:cs typeface="Arial"/>
              </a:rPr>
              <a:t>por</a:t>
            </a:r>
            <a:r>
              <a:rPr sz="2200" spc="-18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cobrador;</a:t>
            </a:r>
            <a:endParaRPr sz="22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200" spc="-135" dirty="0">
                <a:latin typeface="Arial"/>
                <a:cs typeface="Arial"/>
              </a:rPr>
              <a:t>Valores </a:t>
            </a:r>
            <a:r>
              <a:rPr sz="2200" spc="-80" dirty="0">
                <a:latin typeface="Arial"/>
                <a:cs typeface="Arial"/>
              </a:rPr>
              <a:t>recibidos </a:t>
            </a:r>
            <a:r>
              <a:rPr sz="2200" spc="-35" dirty="0">
                <a:latin typeface="Arial"/>
                <a:cs typeface="Arial"/>
              </a:rPr>
              <a:t>por</a:t>
            </a:r>
            <a:r>
              <a:rPr sz="2200" spc="-16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correspondencia.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29400" y="4742688"/>
            <a:ext cx="2213609" cy="1658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26986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25" dirty="0"/>
              <a:t>Cobranzas</a:t>
            </a:r>
            <a:r>
              <a:rPr spc="-229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30" dirty="0">
                <a:latin typeface="Arial"/>
                <a:cs typeface="Arial"/>
              </a:rPr>
              <a:t>Módulo </a:t>
            </a:r>
            <a:r>
              <a:rPr sz="1800" b="0" spc="-40" dirty="0">
                <a:latin typeface="Arial"/>
                <a:cs typeface="Arial"/>
              </a:rPr>
              <a:t>III: </a:t>
            </a:r>
            <a:r>
              <a:rPr sz="1800" b="0" spc="-55" dirty="0">
                <a:latin typeface="Arial"/>
                <a:cs typeface="Arial"/>
              </a:rPr>
              <a:t>Control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60" dirty="0">
                <a:latin typeface="Arial"/>
                <a:cs typeface="Arial"/>
              </a:rPr>
              <a:t>registración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65" dirty="0">
                <a:latin typeface="Arial"/>
                <a:cs typeface="Arial"/>
              </a:rPr>
              <a:t>la </a:t>
            </a:r>
            <a:r>
              <a:rPr sz="1800" b="0" spc="-70" dirty="0">
                <a:latin typeface="Arial"/>
                <a:cs typeface="Arial"/>
              </a:rPr>
              <a:t>operación</a:t>
            </a:r>
            <a:r>
              <a:rPr sz="1800" b="0" spc="-22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23594" y="1055369"/>
            <a:ext cx="6435852" cy="5308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15683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25" dirty="0"/>
              <a:t>Cobranzas</a:t>
            </a:r>
            <a:r>
              <a:rPr spc="-229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45" dirty="0">
                <a:latin typeface="Arial"/>
                <a:cs typeface="Arial"/>
              </a:rPr>
              <a:t>Introducción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5" dirty="0">
                <a:latin typeface="Arial"/>
                <a:cs typeface="Arial"/>
              </a:rPr>
              <a:t>Tecnología </a:t>
            </a:r>
            <a:r>
              <a:rPr sz="1800" b="0" spc="-85" dirty="0">
                <a:latin typeface="Arial"/>
                <a:cs typeface="Arial"/>
              </a:rPr>
              <a:t>en </a:t>
            </a:r>
            <a:r>
              <a:rPr sz="1800" b="0" spc="-50" dirty="0">
                <a:latin typeface="Arial"/>
                <a:cs typeface="Arial"/>
              </a:rPr>
              <a:t>el </a:t>
            </a:r>
            <a:r>
              <a:rPr sz="1800" b="0" spc="-90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00" dirty="0">
                <a:latin typeface="Arial"/>
                <a:cs typeface="Arial"/>
              </a:rPr>
              <a:t> </a:t>
            </a:r>
            <a:r>
              <a:rPr sz="1800" b="0" spc="-130" dirty="0">
                <a:latin typeface="Arial"/>
                <a:cs typeface="Arial"/>
              </a:rPr>
              <a:t>Cobranzas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96342" y="1079500"/>
            <a:ext cx="8533130" cy="240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0" marR="1364615" indent="-2667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79400" algn="l"/>
              </a:tabLst>
            </a:pPr>
            <a:r>
              <a:rPr sz="2600" spc="-160" dirty="0">
                <a:latin typeface="Arial"/>
                <a:cs typeface="Arial"/>
              </a:rPr>
              <a:t>Pueden </a:t>
            </a:r>
            <a:r>
              <a:rPr sz="2600" spc="-95" dirty="0">
                <a:latin typeface="Arial"/>
                <a:cs typeface="Arial"/>
              </a:rPr>
              <a:t>automatizarse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75" dirty="0">
                <a:latin typeface="Arial"/>
                <a:cs typeface="Arial"/>
              </a:rPr>
              <a:t>controles </a:t>
            </a:r>
            <a:r>
              <a:rPr sz="2600" spc="-105" dirty="0">
                <a:latin typeface="Arial"/>
                <a:cs typeface="Arial"/>
              </a:rPr>
              <a:t>ejecutados</a:t>
            </a:r>
            <a:r>
              <a:rPr sz="2600" spc="-254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por  </a:t>
            </a:r>
            <a:r>
              <a:rPr sz="2600" spc="-120" dirty="0">
                <a:latin typeface="Arial"/>
                <a:cs typeface="Arial"/>
              </a:rPr>
              <a:t>Contaduría</a:t>
            </a:r>
            <a:endParaRPr sz="2600">
              <a:latin typeface="Arial"/>
              <a:cs typeface="Arial"/>
            </a:endParaRPr>
          </a:p>
          <a:p>
            <a:pPr marL="279400" marR="508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600" spc="-200" dirty="0">
                <a:latin typeface="Arial"/>
                <a:cs typeface="Arial"/>
              </a:rPr>
              <a:t>Hay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40" dirty="0">
                <a:latin typeface="Arial"/>
                <a:cs typeface="Arial"/>
              </a:rPr>
              <a:t>tener </a:t>
            </a:r>
            <a:r>
              <a:rPr sz="2600" spc="-105" dirty="0">
                <a:latin typeface="Arial"/>
                <a:cs typeface="Arial"/>
              </a:rPr>
              <a:t>cuidado </a:t>
            </a:r>
            <a:r>
              <a:rPr sz="2600" spc="-120" dirty="0">
                <a:latin typeface="Arial"/>
                <a:cs typeface="Arial"/>
              </a:rPr>
              <a:t>con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90" dirty="0">
                <a:latin typeface="Arial"/>
                <a:cs typeface="Arial"/>
              </a:rPr>
              <a:t>acceso </a:t>
            </a:r>
            <a:r>
              <a:rPr sz="2600" spc="-204" dirty="0">
                <a:latin typeface="Arial"/>
                <a:cs typeface="Arial"/>
              </a:rPr>
              <a:t>a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125" dirty="0">
                <a:latin typeface="Arial"/>
                <a:cs typeface="Arial"/>
              </a:rPr>
              <a:t>opciones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5" dirty="0">
                <a:latin typeface="Arial"/>
                <a:cs typeface="Arial"/>
              </a:rPr>
              <a:t>menú  </a:t>
            </a:r>
            <a:r>
              <a:rPr sz="2600" spc="-120" dirty="0">
                <a:latin typeface="Arial"/>
                <a:cs typeface="Arial"/>
              </a:rPr>
              <a:t>de generación de </a:t>
            </a:r>
            <a:r>
              <a:rPr sz="2600" spc="-180" dirty="0">
                <a:latin typeface="Arial"/>
                <a:cs typeface="Arial"/>
              </a:rPr>
              <a:t>Recibos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45" dirty="0">
                <a:latin typeface="Arial"/>
                <a:cs typeface="Arial"/>
              </a:rPr>
              <a:t>Listados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90" dirty="0">
                <a:latin typeface="Arial"/>
                <a:cs typeface="Arial"/>
              </a:rPr>
              <a:t>Cobranzas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45" dirty="0">
                <a:latin typeface="Arial"/>
                <a:cs typeface="Arial"/>
              </a:rPr>
              <a:t>Partes </a:t>
            </a:r>
            <a:r>
              <a:rPr sz="2600" spc="-114" dirty="0">
                <a:latin typeface="Arial"/>
                <a:cs typeface="Arial"/>
              </a:rPr>
              <a:t>de  </a:t>
            </a:r>
            <a:r>
              <a:rPr sz="2600" spc="-135" dirty="0">
                <a:latin typeface="Arial"/>
                <a:cs typeface="Arial"/>
              </a:rPr>
              <a:t>Ingresos. </a:t>
            </a:r>
            <a:r>
              <a:rPr sz="2600" spc="-155" dirty="0">
                <a:latin typeface="Arial"/>
                <a:cs typeface="Arial"/>
              </a:rPr>
              <a:t>Deben </a:t>
            </a:r>
            <a:r>
              <a:rPr sz="2600" spc="-95" dirty="0">
                <a:latin typeface="Arial"/>
                <a:cs typeface="Arial"/>
              </a:rPr>
              <a:t>estar </a:t>
            </a:r>
            <a:r>
              <a:rPr sz="2600" spc="-105" dirty="0">
                <a:latin typeface="Arial"/>
                <a:cs typeface="Arial"/>
              </a:rPr>
              <a:t>disponibles </a:t>
            </a:r>
            <a:r>
              <a:rPr sz="2600" spc="-110" dirty="0">
                <a:latin typeface="Arial"/>
                <a:cs typeface="Arial"/>
              </a:rPr>
              <a:t>solo </a:t>
            </a:r>
            <a:r>
              <a:rPr sz="2600" spc="-114" dirty="0">
                <a:latin typeface="Arial"/>
                <a:cs typeface="Arial"/>
              </a:rPr>
              <a:t>para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10" dirty="0">
                <a:latin typeface="Arial"/>
                <a:cs typeface="Arial"/>
              </a:rPr>
              <a:t>personal </a:t>
            </a:r>
            <a:r>
              <a:rPr sz="2600" spc="-125" dirty="0">
                <a:latin typeface="Arial"/>
                <a:cs typeface="Arial"/>
              </a:rPr>
              <a:t>de  </a:t>
            </a:r>
            <a:r>
              <a:rPr sz="2600" spc="-190" dirty="0">
                <a:latin typeface="Arial"/>
                <a:cs typeface="Arial"/>
              </a:rPr>
              <a:t>Cobranzas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145" dirty="0">
                <a:latin typeface="Arial"/>
                <a:cs typeface="Arial"/>
              </a:rPr>
              <a:t>Tesorería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respectivamente.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4916" y="843533"/>
            <a:ext cx="213741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45" dirty="0">
                <a:solidFill>
                  <a:srgbClr val="00338D"/>
                </a:solidFill>
              </a:rPr>
              <a:t>Control</a:t>
            </a:r>
            <a:r>
              <a:rPr sz="2600" spc="-210" dirty="0">
                <a:solidFill>
                  <a:srgbClr val="00338D"/>
                </a:solidFill>
              </a:rPr>
              <a:t> </a:t>
            </a:r>
            <a:r>
              <a:rPr sz="2600" spc="-135" dirty="0">
                <a:solidFill>
                  <a:srgbClr val="00338D"/>
                </a:solidFill>
              </a:rPr>
              <a:t>Interno</a:t>
            </a:r>
            <a:endParaRPr sz="2600"/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35273" y="1247647"/>
            <a:ext cx="4711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60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39300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</a:t>
            </a:r>
            <a:r>
              <a:rPr sz="20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Antecedentes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fundamentales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6683" y="1074165"/>
            <a:ext cx="24212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0" spc="-135" dirty="0">
                <a:solidFill>
                  <a:srgbClr val="000000"/>
                </a:solidFill>
                <a:latin typeface="Arial"/>
                <a:cs typeface="Arial"/>
              </a:rPr>
              <a:t>Antecedente</a:t>
            </a:r>
            <a:r>
              <a:rPr sz="3200" b="0" spc="-140" dirty="0">
                <a:solidFill>
                  <a:srgbClr val="000000"/>
                </a:solidFill>
                <a:latin typeface="Arial"/>
                <a:cs typeface="Arial"/>
              </a:rPr>
              <a:t>s</a:t>
            </a:r>
            <a:r>
              <a:rPr sz="3200" b="0" spc="-35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272541" y="1567180"/>
            <a:ext cx="8392795" cy="478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i="1" spc="-185" dirty="0">
                <a:latin typeface="Trebuchet MS"/>
                <a:cs typeface="Trebuchet MS"/>
              </a:rPr>
              <a:t>En </a:t>
            </a:r>
            <a:r>
              <a:rPr sz="2600" b="1" i="1" spc="-160" dirty="0">
                <a:latin typeface="Trebuchet MS"/>
                <a:cs typeface="Trebuchet MS"/>
              </a:rPr>
              <a:t>los últimos </a:t>
            </a:r>
            <a:r>
              <a:rPr sz="2600" b="1" i="1" spc="-170" dirty="0">
                <a:latin typeface="Trebuchet MS"/>
                <a:cs typeface="Trebuchet MS"/>
              </a:rPr>
              <a:t>años, se </a:t>
            </a:r>
            <a:r>
              <a:rPr sz="2600" b="1" i="1" spc="-175" dirty="0">
                <a:latin typeface="Trebuchet MS"/>
                <a:cs typeface="Trebuchet MS"/>
              </a:rPr>
              <a:t>produjeron </a:t>
            </a:r>
            <a:r>
              <a:rPr sz="2600" b="1" i="1" spc="-140" dirty="0">
                <a:latin typeface="Trebuchet MS"/>
                <a:cs typeface="Trebuchet MS"/>
              </a:rPr>
              <a:t>numerosos</a:t>
            </a:r>
            <a:r>
              <a:rPr sz="2600" b="1" i="1" spc="-295" dirty="0">
                <a:latin typeface="Trebuchet MS"/>
                <a:cs typeface="Trebuchet MS"/>
              </a:rPr>
              <a:t> </a:t>
            </a:r>
            <a:r>
              <a:rPr sz="2600" b="1" i="1" spc="-170" dirty="0">
                <a:latin typeface="Trebuchet MS"/>
                <a:cs typeface="Trebuchet MS"/>
              </a:rPr>
              <a:t>cambios:</a:t>
            </a:r>
            <a:endParaRPr sz="2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i="1" spc="-140" dirty="0">
                <a:solidFill>
                  <a:srgbClr val="00338D"/>
                </a:solidFill>
                <a:latin typeface="Trebuchet MS"/>
                <a:cs typeface="Trebuchet MS"/>
              </a:rPr>
              <a:t>Incremento/aceleración de </a:t>
            </a:r>
            <a:r>
              <a:rPr sz="2600" i="1" spc="-135" dirty="0">
                <a:solidFill>
                  <a:srgbClr val="00338D"/>
                </a:solidFill>
                <a:latin typeface="Trebuchet MS"/>
                <a:cs typeface="Trebuchet MS"/>
              </a:rPr>
              <a:t>la</a:t>
            </a:r>
            <a:r>
              <a:rPr sz="2600" i="1" spc="-27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40" dirty="0">
                <a:solidFill>
                  <a:srgbClr val="00338D"/>
                </a:solidFill>
                <a:latin typeface="Trebuchet MS"/>
                <a:cs typeface="Trebuchet MS"/>
              </a:rPr>
              <a:t>internacionalización;</a:t>
            </a:r>
            <a:endParaRPr sz="26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i="1" spc="-120" dirty="0">
                <a:solidFill>
                  <a:srgbClr val="00338D"/>
                </a:solidFill>
                <a:latin typeface="Trebuchet MS"/>
                <a:cs typeface="Trebuchet MS"/>
              </a:rPr>
              <a:t>Oportunidades</a:t>
            </a:r>
            <a:r>
              <a:rPr sz="2600" i="1" spc="-19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25" dirty="0">
                <a:solidFill>
                  <a:srgbClr val="00338D"/>
                </a:solidFill>
                <a:latin typeface="Trebuchet MS"/>
                <a:cs typeface="Trebuchet MS"/>
              </a:rPr>
              <a:t>y</a:t>
            </a:r>
            <a:r>
              <a:rPr sz="2600" i="1" spc="-19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90" dirty="0">
                <a:solidFill>
                  <a:srgbClr val="00338D"/>
                </a:solidFill>
                <a:latin typeface="Trebuchet MS"/>
                <a:cs typeface="Trebuchet MS"/>
              </a:rPr>
              <a:t>amenazas</a:t>
            </a:r>
            <a:r>
              <a:rPr sz="2600" i="1" spc="-20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35" dirty="0">
                <a:solidFill>
                  <a:srgbClr val="00338D"/>
                </a:solidFill>
                <a:latin typeface="Trebuchet MS"/>
                <a:cs typeface="Trebuchet MS"/>
              </a:rPr>
              <a:t>a</a:t>
            </a:r>
            <a:r>
              <a:rPr sz="2600" i="1" spc="-20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65" dirty="0">
                <a:solidFill>
                  <a:srgbClr val="00338D"/>
                </a:solidFill>
                <a:latin typeface="Trebuchet MS"/>
                <a:cs typeface="Trebuchet MS"/>
              </a:rPr>
              <a:t>partir</a:t>
            </a:r>
            <a:r>
              <a:rPr sz="2600" i="1" spc="-204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35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r>
              <a:rPr sz="2600" i="1" spc="-20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00" dirty="0">
                <a:solidFill>
                  <a:srgbClr val="00338D"/>
                </a:solidFill>
                <a:latin typeface="Trebuchet MS"/>
                <a:cs typeface="Trebuchet MS"/>
              </a:rPr>
              <a:t>nuevos</a:t>
            </a:r>
            <a:r>
              <a:rPr sz="2600" i="1" spc="-20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35" dirty="0">
                <a:solidFill>
                  <a:srgbClr val="00338D"/>
                </a:solidFill>
                <a:latin typeface="Trebuchet MS"/>
                <a:cs typeface="Trebuchet MS"/>
              </a:rPr>
              <a:t>competidores  </a:t>
            </a:r>
            <a:r>
              <a:rPr sz="2600" i="1" spc="-125" dirty="0">
                <a:solidFill>
                  <a:srgbClr val="00338D"/>
                </a:solidFill>
                <a:latin typeface="Trebuchet MS"/>
                <a:cs typeface="Trebuchet MS"/>
              </a:rPr>
              <a:t>y </a:t>
            </a:r>
            <a:r>
              <a:rPr sz="2600" i="1" spc="-100" dirty="0">
                <a:solidFill>
                  <a:srgbClr val="00338D"/>
                </a:solidFill>
                <a:latin typeface="Trebuchet MS"/>
                <a:cs typeface="Trebuchet MS"/>
              </a:rPr>
              <a:t>nuevos</a:t>
            </a:r>
            <a:r>
              <a:rPr sz="2600" i="1" spc="-27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14" dirty="0">
                <a:solidFill>
                  <a:srgbClr val="00338D"/>
                </a:solidFill>
                <a:latin typeface="Trebuchet MS"/>
                <a:cs typeface="Trebuchet MS"/>
              </a:rPr>
              <a:t>negocios;</a:t>
            </a:r>
            <a:endParaRPr sz="2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i="1" spc="-125" dirty="0">
                <a:solidFill>
                  <a:srgbClr val="00338D"/>
                </a:solidFill>
                <a:latin typeface="Trebuchet MS"/>
                <a:cs typeface="Trebuchet MS"/>
              </a:rPr>
              <a:t>Posibilidades </a:t>
            </a:r>
            <a:r>
              <a:rPr sz="2600" i="1" spc="-140" dirty="0">
                <a:solidFill>
                  <a:srgbClr val="00338D"/>
                </a:solidFill>
                <a:latin typeface="Trebuchet MS"/>
                <a:cs typeface="Trebuchet MS"/>
              </a:rPr>
              <a:t>de instrumentar </a:t>
            </a:r>
            <a:r>
              <a:rPr sz="2600" i="1" spc="-114" dirty="0">
                <a:solidFill>
                  <a:srgbClr val="00338D"/>
                </a:solidFill>
                <a:latin typeface="Trebuchet MS"/>
                <a:cs typeface="Trebuchet MS"/>
              </a:rPr>
              <a:t>alianzas</a:t>
            </a:r>
            <a:r>
              <a:rPr sz="2600" i="1" spc="-34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30" dirty="0">
                <a:solidFill>
                  <a:srgbClr val="00338D"/>
                </a:solidFill>
                <a:latin typeface="Trebuchet MS"/>
                <a:cs typeface="Trebuchet MS"/>
              </a:rPr>
              <a:t>estratégicas;</a:t>
            </a:r>
            <a:endParaRPr sz="2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i="1" spc="-160" dirty="0">
                <a:solidFill>
                  <a:srgbClr val="00338D"/>
                </a:solidFill>
                <a:latin typeface="Trebuchet MS"/>
                <a:cs typeface="Trebuchet MS"/>
              </a:rPr>
              <a:t>Crecimiento </a:t>
            </a:r>
            <a:r>
              <a:rPr sz="2600" i="1" spc="-125" dirty="0">
                <a:solidFill>
                  <a:srgbClr val="00338D"/>
                </a:solidFill>
                <a:latin typeface="Trebuchet MS"/>
                <a:cs typeface="Trebuchet MS"/>
              </a:rPr>
              <a:t>en </a:t>
            </a:r>
            <a:r>
              <a:rPr sz="2600" i="1" spc="-200" dirty="0">
                <a:solidFill>
                  <a:srgbClr val="00338D"/>
                </a:solidFill>
                <a:latin typeface="Trebuchet MS"/>
                <a:cs typeface="Trebuchet MS"/>
              </a:rPr>
              <a:t>el </a:t>
            </a:r>
            <a:r>
              <a:rPr sz="2600" i="1" spc="-125" dirty="0">
                <a:solidFill>
                  <a:srgbClr val="00338D"/>
                </a:solidFill>
                <a:latin typeface="Trebuchet MS"/>
                <a:cs typeface="Trebuchet MS"/>
              </a:rPr>
              <a:t>número </a:t>
            </a:r>
            <a:r>
              <a:rPr sz="2600" i="1" spc="-135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600" i="1" spc="-120" dirty="0">
                <a:solidFill>
                  <a:srgbClr val="00338D"/>
                </a:solidFill>
                <a:latin typeface="Trebuchet MS"/>
                <a:cs typeface="Trebuchet MS"/>
              </a:rPr>
              <a:t>operaciones </a:t>
            </a:r>
            <a:r>
              <a:rPr sz="2600" i="1" spc="-125" dirty="0">
                <a:solidFill>
                  <a:srgbClr val="00338D"/>
                </a:solidFill>
                <a:latin typeface="Trebuchet MS"/>
                <a:cs typeface="Trebuchet MS"/>
              </a:rPr>
              <a:t>y</a:t>
            </a:r>
            <a:r>
              <a:rPr sz="2600" i="1" spc="-45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35" dirty="0">
                <a:solidFill>
                  <a:srgbClr val="00338D"/>
                </a:solidFill>
                <a:latin typeface="Trebuchet MS"/>
                <a:cs typeface="Trebuchet MS"/>
              </a:rPr>
              <a:t>ventas;</a:t>
            </a:r>
            <a:endParaRPr sz="2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i="1" spc="-85" dirty="0">
                <a:solidFill>
                  <a:srgbClr val="00338D"/>
                </a:solidFill>
                <a:latin typeface="Trebuchet MS"/>
                <a:cs typeface="Trebuchet MS"/>
              </a:rPr>
              <a:t>Mejoras </a:t>
            </a:r>
            <a:r>
              <a:rPr sz="2600" i="1" spc="-125" dirty="0">
                <a:solidFill>
                  <a:srgbClr val="00338D"/>
                </a:solidFill>
                <a:latin typeface="Trebuchet MS"/>
                <a:cs typeface="Trebuchet MS"/>
              </a:rPr>
              <a:t>en </a:t>
            </a:r>
            <a:r>
              <a:rPr sz="2600" i="1" spc="-105" dirty="0">
                <a:solidFill>
                  <a:srgbClr val="00338D"/>
                </a:solidFill>
                <a:latin typeface="Trebuchet MS"/>
                <a:cs typeface="Trebuchet MS"/>
              </a:rPr>
              <a:t>las</a:t>
            </a:r>
            <a:r>
              <a:rPr sz="2600" i="1" spc="-38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70" dirty="0">
                <a:solidFill>
                  <a:srgbClr val="00338D"/>
                </a:solidFill>
                <a:latin typeface="Trebuchet MS"/>
                <a:cs typeface="Trebuchet MS"/>
              </a:rPr>
              <a:t>TICs;</a:t>
            </a:r>
            <a:endParaRPr sz="2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i="1" spc="-114" dirty="0">
                <a:solidFill>
                  <a:srgbClr val="00338D"/>
                </a:solidFill>
                <a:latin typeface="Trebuchet MS"/>
                <a:cs typeface="Trebuchet MS"/>
              </a:rPr>
              <a:t>Separación</a:t>
            </a:r>
            <a:r>
              <a:rPr sz="2600" i="1" spc="-18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40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r>
              <a:rPr sz="2600" i="1" spc="-19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35" dirty="0">
                <a:solidFill>
                  <a:srgbClr val="00338D"/>
                </a:solidFill>
                <a:latin typeface="Trebuchet MS"/>
                <a:cs typeface="Trebuchet MS"/>
              </a:rPr>
              <a:t>la</a:t>
            </a:r>
            <a:r>
              <a:rPr sz="2600" i="1" spc="-19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30" dirty="0">
                <a:solidFill>
                  <a:srgbClr val="00338D"/>
                </a:solidFill>
                <a:latin typeface="Trebuchet MS"/>
                <a:cs typeface="Trebuchet MS"/>
              </a:rPr>
              <a:t>propiedad</a:t>
            </a:r>
            <a:r>
              <a:rPr sz="2600" i="1" spc="-18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40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r>
              <a:rPr sz="2600" i="1" spc="-19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35" dirty="0">
                <a:solidFill>
                  <a:srgbClr val="00338D"/>
                </a:solidFill>
                <a:latin typeface="Trebuchet MS"/>
                <a:cs typeface="Trebuchet MS"/>
              </a:rPr>
              <a:t>la</a:t>
            </a:r>
            <a:r>
              <a:rPr sz="2600" i="1" spc="-19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14" dirty="0">
                <a:solidFill>
                  <a:srgbClr val="00338D"/>
                </a:solidFill>
                <a:latin typeface="Trebuchet MS"/>
                <a:cs typeface="Trebuchet MS"/>
              </a:rPr>
              <a:t>empresa</a:t>
            </a:r>
            <a:r>
              <a:rPr sz="2600" i="1" spc="-19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25" dirty="0">
                <a:solidFill>
                  <a:srgbClr val="00338D"/>
                </a:solidFill>
                <a:latin typeface="Trebuchet MS"/>
                <a:cs typeface="Trebuchet MS"/>
              </a:rPr>
              <a:t>y</a:t>
            </a:r>
            <a:r>
              <a:rPr sz="2600" i="1" spc="-19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80" dirty="0">
                <a:solidFill>
                  <a:srgbClr val="00338D"/>
                </a:solidFill>
                <a:latin typeface="Trebuchet MS"/>
                <a:cs typeface="Trebuchet MS"/>
              </a:rPr>
              <a:t>su</a:t>
            </a:r>
            <a:r>
              <a:rPr sz="2600" i="1" spc="-20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30" dirty="0">
                <a:solidFill>
                  <a:srgbClr val="00338D"/>
                </a:solidFill>
                <a:latin typeface="Trebuchet MS"/>
                <a:cs typeface="Trebuchet MS"/>
              </a:rPr>
              <a:t>gestión;</a:t>
            </a:r>
            <a:endParaRPr sz="2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i="1" spc="-130" dirty="0">
                <a:solidFill>
                  <a:srgbClr val="00338D"/>
                </a:solidFill>
                <a:latin typeface="Trebuchet MS"/>
                <a:cs typeface="Trebuchet MS"/>
              </a:rPr>
              <a:t>Profesionalización </a:t>
            </a:r>
            <a:r>
              <a:rPr sz="2600" i="1" spc="-140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600" i="1" spc="-105" dirty="0">
                <a:solidFill>
                  <a:srgbClr val="00338D"/>
                </a:solidFill>
                <a:latin typeface="Trebuchet MS"/>
                <a:cs typeface="Trebuchet MS"/>
              </a:rPr>
              <a:t>empresas</a:t>
            </a:r>
            <a:r>
              <a:rPr sz="2600" i="1" spc="-30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600" i="1" spc="-160" dirty="0">
                <a:solidFill>
                  <a:srgbClr val="00338D"/>
                </a:solidFill>
                <a:latin typeface="Trebuchet MS"/>
                <a:cs typeface="Trebuchet MS"/>
              </a:rPr>
              <a:t>familiares;</a:t>
            </a:r>
            <a:endParaRPr sz="26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i="1" spc="-235" dirty="0">
                <a:solidFill>
                  <a:srgbClr val="00338D"/>
                </a:solidFill>
                <a:latin typeface="Arial"/>
                <a:cs typeface="Arial"/>
              </a:rPr>
              <a:t>Otras…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i="1" spc="-755" dirty="0">
                <a:latin typeface="Arial"/>
                <a:cs typeface="Arial"/>
              </a:rPr>
              <a:t>…</a:t>
            </a:r>
            <a:r>
              <a:rPr sz="2600" b="1" i="1" spc="-135" dirty="0">
                <a:latin typeface="Arial"/>
                <a:cs typeface="Arial"/>
              </a:rPr>
              <a:t> </a:t>
            </a:r>
            <a:r>
              <a:rPr sz="2600" b="1" i="1" spc="-270" dirty="0">
                <a:latin typeface="Arial"/>
                <a:cs typeface="Arial"/>
              </a:rPr>
              <a:t>Esto </a:t>
            </a:r>
            <a:r>
              <a:rPr sz="2600" b="1" i="1" spc="-185" dirty="0">
                <a:latin typeface="Arial"/>
                <a:cs typeface="Arial"/>
              </a:rPr>
              <a:t>generó </a:t>
            </a:r>
            <a:r>
              <a:rPr sz="2600" b="1" i="1" spc="-225" dirty="0">
                <a:latin typeface="Arial"/>
                <a:cs typeface="Arial"/>
              </a:rPr>
              <a:t>un </a:t>
            </a:r>
            <a:r>
              <a:rPr sz="2600" b="1" i="1" spc="-185" dirty="0">
                <a:latin typeface="Arial"/>
                <a:cs typeface="Arial"/>
              </a:rPr>
              <a:t>crecimiento </a:t>
            </a:r>
            <a:r>
              <a:rPr sz="2600" b="1" i="1" spc="-200" dirty="0">
                <a:latin typeface="Arial"/>
                <a:cs typeface="Arial"/>
              </a:rPr>
              <a:t>en </a:t>
            </a:r>
            <a:r>
              <a:rPr sz="2600" b="1" i="1" spc="-130" dirty="0">
                <a:latin typeface="Arial"/>
                <a:cs typeface="Arial"/>
              </a:rPr>
              <a:t>el </a:t>
            </a:r>
            <a:r>
              <a:rPr sz="2600" b="1" i="1" spc="-210" dirty="0">
                <a:latin typeface="Arial"/>
                <a:cs typeface="Arial"/>
              </a:rPr>
              <a:t>riesgo </a:t>
            </a:r>
            <a:r>
              <a:rPr sz="2600" b="1" i="1" spc="-195" dirty="0">
                <a:latin typeface="Arial"/>
                <a:cs typeface="Arial"/>
              </a:rPr>
              <a:t>en </a:t>
            </a:r>
            <a:r>
              <a:rPr sz="2600" b="1" i="1" spc="-80" dirty="0">
                <a:latin typeface="Arial"/>
                <a:cs typeface="Arial"/>
              </a:rPr>
              <a:t>la</a:t>
            </a:r>
            <a:r>
              <a:rPr sz="2600" b="1" i="1" spc="-55" dirty="0">
                <a:latin typeface="Arial"/>
                <a:cs typeface="Arial"/>
              </a:rPr>
              <a:t> </a:t>
            </a:r>
            <a:r>
              <a:rPr sz="2600" b="1" i="1" spc="-175" dirty="0">
                <a:latin typeface="Arial"/>
                <a:cs typeface="Arial"/>
              </a:rPr>
              <a:t>operación.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541" y="193801"/>
            <a:ext cx="5669280" cy="1736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Antecedentes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fundamentales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280" dirty="0">
                <a:latin typeface="Arial"/>
                <a:cs typeface="Arial"/>
              </a:rPr>
              <a:t>El </a:t>
            </a:r>
            <a:r>
              <a:rPr sz="3200" spc="-100" dirty="0">
                <a:latin typeface="Arial"/>
                <a:cs typeface="Arial"/>
              </a:rPr>
              <a:t>Control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0" dirty="0">
                <a:latin typeface="Arial"/>
                <a:cs typeface="Arial"/>
              </a:rPr>
              <a:t>Interno: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354965" algn="l"/>
                <a:tab pos="355600" algn="l"/>
                <a:tab pos="729615" algn="l"/>
                <a:tab pos="3515360" algn="l"/>
              </a:tabLst>
            </a:pPr>
            <a:r>
              <a:rPr sz="2200" b="1" i="1" spc="-190" dirty="0">
                <a:latin typeface="Trebuchet MS"/>
                <a:cs typeface="Trebuchet MS"/>
              </a:rPr>
              <a:t>Es	</a:t>
            </a:r>
            <a:r>
              <a:rPr sz="2200" b="1" i="1" spc="-75" dirty="0">
                <a:latin typeface="Trebuchet MS"/>
                <a:cs typeface="Trebuchet MS"/>
              </a:rPr>
              <a:t>un</a:t>
            </a:r>
            <a:r>
              <a:rPr sz="2200" b="1" i="1" spc="355" dirty="0">
                <a:latin typeface="Trebuchet MS"/>
                <a:cs typeface="Trebuchet MS"/>
              </a:rPr>
              <a:t> </a:t>
            </a:r>
            <a:r>
              <a:rPr sz="2200" b="1" i="1" spc="-150" dirty="0">
                <a:latin typeface="Trebuchet MS"/>
                <a:cs typeface="Trebuchet MS"/>
              </a:rPr>
              <a:t>proceso</a:t>
            </a:r>
            <a:r>
              <a:rPr sz="2200" b="1" i="1" spc="360" dirty="0">
                <a:latin typeface="Trebuchet MS"/>
                <a:cs typeface="Trebuchet MS"/>
              </a:rPr>
              <a:t> </a:t>
            </a:r>
            <a:r>
              <a:rPr sz="2200" b="1" i="1" spc="-135" dirty="0">
                <a:latin typeface="Trebuchet MS"/>
                <a:cs typeface="Trebuchet MS"/>
              </a:rPr>
              <a:t>impulsado	</a:t>
            </a:r>
            <a:r>
              <a:rPr sz="2200" b="1" i="1" spc="-155" dirty="0">
                <a:latin typeface="Trebuchet MS"/>
                <a:cs typeface="Trebuchet MS"/>
              </a:rPr>
              <a:t>por </a:t>
            </a:r>
            <a:r>
              <a:rPr sz="2200" b="1" i="1" spc="-150" dirty="0">
                <a:latin typeface="Trebuchet MS"/>
                <a:cs typeface="Trebuchet MS"/>
              </a:rPr>
              <a:t>el consejo</a:t>
            </a:r>
            <a:r>
              <a:rPr sz="2200" b="1" i="1" spc="220" dirty="0">
                <a:latin typeface="Trebuchet MS"/>
                <a:cs typeface="Trebuchet MS"/>
              </a:rPr>
              <a:t> </a:t>
            </a:r>
            <a:r>
              <a:rPr sz="2200" b="1" i="1" spc="-140" dirty="0">
                <a:latin typeface="Trebuchet MS"/>
                <a:cs typeface="Trebuchet MS"/>
              </a:rPr>
              <a:t>de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441" y="1904745"/>
            <a:ext cx="15716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2540" algn="l"/>
              </a:tabLst>
            </a:pPr>
            <a:r>
              <a:rPr sz="2200" b="1" i="1" spc="-130" dirty="0">
                <a:latin typeface="Trebuchet MS"/>
                <a:cs typeface="Trebuchet MS"/>
              </a:rPr>
              <a:t>Dir</a:t>
            </a:r>
            <a:r>
              <a:rPr sz="2200" b="1" i="1" spc="-165" dirty="0">
                <a:latin typeface="Trebuchet MS"/>
                <a:cs typeface="Trebuchet MS"/>
              </a:rPr>
              <a:t>e</a:t>
            </a:r>
            <a:r>
              <a:rPr sz="2200" b="1" i="1" spc="-190" dirty="0">
                <a:latin typeface="Trebuchet MS"/>
                <a:cs typeface="Trebuchet MS"/>
              </a:rPr>
              <a:t>c</a:t>
            </a:r>
            <a:r>
              <a:rPr sz="2200" b="1" i="1" spc="-215" dirty="0">
                <a:latin typeface="Trebuchet MS"/>
                <a:cs typeface="Trebuchet MS"/>
              </a:rPr>
              <a:t>c</a:t>
            </a:r>
            <a:r>
              <a:rPr sz="2200" b="1" i="1" spc="-155" dirty="0">
                <a:latin typeface="Trebuchet MS"/>
                <a:cs typeface="Trebuchet MS"/>
              </a:rPr>
              <a:t>i</a:t>
            </a:r>
            <a:r>
              <a:rPr sz="2200" b="1" i="1" spc="-90" dirty="0">
                <a:latin typeface="Trebuchet MS"/>
                <a:cs typeface="Trebuchet MS"/>
              </a:rPr>
              <a:t>ó</a:t>
            </a:r>
            <a:r>
              <a:rPr sz="2200" b="1" i="1" spc="-85" dirty="0">
                <a:latin typeface="Trebuchet MS"/>
                <a:cs typeface="Trebuchet MS"/>
              </a:rPr>
              <a:t>n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40" dirty="0">
                <a:latin typeface="Trebuchet MS"/>
                <a:cs typeface="Trebuchet MS"/>
              </a:rPr>
              <a:t>de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441" y="2240025"/>
            <a:ext cx="15379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i="1" spc="-150" dirty="0">
                <a:latin typeface="Trebuchet MS"/>
                <a:cs typeface="Trebuchet MS"/>
              </a:rPr>
              <a:t>proporcionar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8229" y="1904745"/>
            <a:ext cx="35934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 marR="5080" indent="-154305">
              <a:lnSpc>
                <a:spcPct val="100000"/>
              </a:lnSpc>
              <a:spcBef>
                <a:spcPts val="100"/>
              </a:spcBef>
              <a:tabLst>
                <a:tab pos="643890" algn="l"/>
                <a:tab pos="837565" algn="l"/>
                <a:tab pos="1767205" algn="l"/>
                <a:tab pos="1797050" algn="l"/>
                <a:tab pos="2427605" algn="l"/>
                <a:tab pos="3038475" algn="l"/>
              </a:tabLst>
            </a:pPr>
            <a:r>
              <a:rPr sz="2200" b="1" i="1" spc="-95" dirty="0">
                <a:latin typeface="Trebuchet MS"/>
                <a:cs typeface="Trebuchet MS"/>
              </a:rPr>
              <a:t>una	</a:t>
            </a:r>
            <a:r>
              <a:rPr sz="2200" b="1" i="1" spc="-170" dirty="0">
                <a:latin typeface="Trebuchet MS"/>
                <a:cs typeface="Trebuchet MS"/>
              </a:rPr>
              <a:t>ent</a:t>
            </a:r>
            <a:r>
              <a:rPr sz="2200" b="1" i="1" spc="-114" dirty="0">
                <a:latin typeface="Trebuchet MS"/>
                <a:cs typeface="Trebuchet MS"/>
              </a:rPr>
              <a:t>i</a:t>
            </a:r>
            <a:r>
              <a:rPr sz="2200" b="1" i="1" spc="-170" dirty="0">
                <a:latin typeface="Trebuchet MS"/>
                <a:cs typeface="Trebuchet MS"/>
              </a:rPr>
              <a:t>dad,</a:t>
            </a:r>
            <a:r>
              <a:rPr sz="2200" b="1" i="1" dirty="0">
                <a:latin typeface="Trebuchet MS"/>
                <a:cs typeface="Trebuchet MS"/>
              </a:rPr>
              <a:t>		</a:t>
            </a:r>
            <a:r>
              <a:rPr sz="2200" b="1" i="1" spc="-155" dirty="0">
                <a:latin typeface="Trebuchet MS"/>
                <a:cs typeface="Trebuchet MS"/>
              </a:rPr>
              <a:t>di</a:t>
            </a:r>
            <a:r>
              <a:rPr sz="2200" b="1" i="1" spc="-170" dirty="0">
                <a:latin typeface="Trebuchet MS"/>
                <a:cs typeface="Trebuchet MS"/>
              </a:rPr>
              <a:t>s</a:t>
            </a:r>
            <a:r>
              <a:rPr sz="2200" b="1" i="1" spc="-125" dirty="0">
                <a:latin typeface="Trebuchet MS"/>
                <a:cs typeface="Trebuchet MS"/>
              </a:rPr>
              <a:t>eñad</a:t>
            </a:r>
            <a:r>
              <a:rPr sz="2200" b="1" i="1" spc="-120" dirty="0">
                <a:latin typeface="Trebuchet MS"/>
                <a:cs typeface="Trebuchet MS"/>
              </a:rPr>
              <a:t>o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50" dirty="0">
                <a:latin typeface="Trebuchet MS"/>
                <a:cs typeface="Trebuchet MS"/>
              </a:rPr>
              <a:t>para </a:t>
            </a:r>
            <a:r>
              <a:rPr sz="2200" b="1" i="1" spc="-90" dirty="0">
                <a:latin typeface="Trebuchet MS"/>
                <a:cs typeface="Trebuchet MS"/>
              </a:rPr>
              <a:t> </a:t>
            </a:r>
            <a:r>
              <a:rPr sz="2200" b="1" i="1" spc="-70" dirty="0">
                <a:latin typeface="Trebuchet MS"/>
                <a:cs typeface="Trebuchet MS"/>
              </a:rPr>
              <a:t>un</a:t>
            </a:r>
            <a:r>
              <a:rPr sz="2200" b="1" i="1" dirty="0">
                <a:latin typeface="Trebuchet MS"/>
                <a:cs typeface="Trebuchet MS"/>
              </a:rPr>
              <a:t>		</a:t>
            </a:r>
            <a:r>
              <a:rPr sz="2200" b="1" i="1" spc="-140" dirty="0">
                <a:latin typeface="Trebuchet MS"/>
                <a:cs typeface="Trebuchet MS"/>
              </a:rPr>
              <a:t>ni</a:t>
            </a:r>
            <a:r>
              <a:rPr sz="2200" b="1" i="1" spc="-170" dirty="0">
                <a:latin typeface="Trebuchet MS"/>
                <a:cs typeface="Trebuchet MS"/>
              </a:rPr>
              <a:t>v</a:t>
            </a:r>
            <a:r>
              <a:rPr sz="2200" b="1" i="1" spc="-195" dirty="0">
                <a:latin typeface="Trebuchet MS"/>
                <a:cs typeface="Trebuchet MS"/>
              </a:rPr>
              <a:t>e</a:t>
            </a:r>
            <a:r>
              <a:rPr sz="2200" b="1" i="1" spc="-110" dirty="0">
                <a:latin typeface="Trebuchet MS"/>
                <a:cs typeface="Trebuchet MS"/>
              </a:rPr>
              <a:t>l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50" dirty="0">
                <a:latin typeface="Trebuchet MS"/>
                <a:cs typeface="Trebuchet MS"/>
              </a:rPr>
              <a:t>d</a:t>
            </a:r>
            <a:r>
              <a:rPr sz="2200" b="1" i="1" spc="-135" dirty="0">
                <a:latin typeface="Trebuchet MS"/>
                <a:cs typeface="Trebuchet MS"/>
              </a:rPr>
              <a:t>e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30" dirty="0">
                <a:latin typeface="Trebuchet MS"/>
                <a:cs typeface="Trebuchet MS"/>
              </a:rPr>
              <a:t>s</a:t>
            </a:r>
            <a:r>
              <a:rPr sz="2200" b="1" i="1" spc="-165" dirty="0">
                <a:latin typeface="Trebuchet MS"/>
                <a:cs typeface="Trebuchet MS"/>
              </a:rPr>
              <a:t>e</a:t>
            </a:r>
            <a:r>
              <a:rPr sz="2200" b="1" i="1" spc="-130" dirty="0">
                <a:latin typeface="Trebuchet MS"/>
                <a:cs typeface="Trebuchet MS"/>
              </a:rPr>
              <a:t>guridad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441" y="2575305"/>
            <a:ext cx="53263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370965" algn="l"/>
                <a:tab pos="2433320" algn="l"/>
                <a:tab pos="2962275" algn="l"/>
                <a:tab pos="3302000" algn="l"/>
                <a:tab pos="5027295" algn="l"/>
              </a:tabLst>
            </a:pPr>
            <a:r>
              <a:rPr sz="2200" b="1" i="1" spc="-160" dirty="0">
                <a:latin typeface="Trebuchet MS"/>
                <a:cs typeface="Trebuchet MS"/>
              </a:rPr>
              <a:t>razonabl</a:t>
            </a:r>
            <a:r>
              <a:rPr sz="2200" b="1" i="1" spc="-175" dirty="0">
                <a:latin typeface="Trebuchet MS"/>
                <a:cs typeface="Trebuchet MS"/>
              </a:rPr>
              <a:t>e</a:t>
            </a:r>
            <a:r>
              <a:rPr sz="2200" b="1" i="1" spc="-245" dirty="0">
                <a:latin typeface="Trebuchet MS"/>
                <a:cs typeface="Trebuchet MS"/>
              </a:rPr>
              <a:t>,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40" dirty="0">
                <a:latin typeface="Trebuchet MS"/>
                <a:cs typeface="Trebuchet MS"/>
              </a:rPr>
              <a:t>veland</a:t>
            </a:r>
            <a:r>
              <a:rPr sz="2200" b="1" i="1" spc="-145" dirty="0">
                <a:latin typeface="Trebuchet MS"/>
                <a:cs typeface="Trebuchet MS"/>
              </a:rPr>
              <a:t>o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55" dirty="0">
                <a:latin typeface="Trebuchet MS"/>
                <a:cs typeface="Trebuchet MS"/>
              </a:rPr>
              <a:t>por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95" dirty="0">
                <a:latin typeface="Trebuchet MS"/>
                <a:cs typeface="Trebuchet MS"/>
              </a:rPr>
              <a:t>e</a:t>
            </a:r>
            <a:r>
              <a:rPr sz="2200" b="1" i="1" spc="-110" dirty="0">
                <a:latin typeface="Trebuchet MS"/>
                <a:cs typeface="Trebuchet MS"/>
              </a:rPr>
              <a:t>l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14" dirty="0">
                <a:latin typeface="Trebuchet MS"/>
                <a:cs typeface="Trebuchet MS"/>
              </a:rPr>
              <a:t>cum</a:t>
            </a:r>
            <a:r>
              <a:rPr sz="2200" b="1" i="1" spc="-120" dirty="0">
                <a:latin typeface="Trebuchet MS"/>
                <a:cs typeface="Trebuchet MS"/>
              </a:rPr>
              <a:t>p</a:t>
            </a:r>
            <a:r>
              <a:rPr sz="2200" b="1" i="1" spc="-170" dirty="0">
                <a:latin typeface="Trebuchet MS"/>
                <a:cs typeface="Trebuchet MS"/>
              </a:rPr>
              <a:t>l</a:t>
            </a:r>
            <a:r>
              <a:rPr sz="2200" b="1" i="1" spc="-185" dirty="0">
                <a:latin typeface="Trebuchet MS"/>
                <a:cs typeface="Trebuchet MS"/>
              </a:rPr>
              <a:t>i</a:t>
            </a:r>
            <a:r>
              <a:rPr sz="2200" b="1" i="1" spc="-75" dirty="0">
                <a:latin typeface="Trebuchet MS"/>
                <a:cs typeface="Trebuchet MS"/>
              </a:rPr>
              <a:t>m</a:t>
            </a:r>
            <a:r>
              <a:rPr sz="2200" b="1" i="1" spc="-150" dirty="0">
                <a:latin typeface="Trebuchet MS"/>
                <a:cs typeface="Trebuchet MS"/>
              </a:rPr>
              <a:t>ient</a:t>
            </a:r>
            <a:r>
              <a:rPr sz="2200" b="1" i="1" spc="-95" dirty="0">
                <a:latin typeface="Trebuchet MS"/>
                <a:cs typeface="Trebuchet MS"/>
              </a:rPr>
              <a:t>o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20" dirty="0">
                <a:latin typeface="Trebuchet MS"/>
                <a:cs typeface="Trebuchet MS"/>
              </a:rPr>
              <a:t>de </a:t>
            </a:r>
            <a:r>
              <a:rPr sz="2200" b="1" i="1" spc="-75" dirty="0">
                <a:latin typeface="Trebuchet MS"/>
                <a:cs typeface="Trebuchet MS"/>
              </a:rPr>
              <a:t> </a:t>
            </a:r>
            <a:r>
              <a:rPr sz="2200" b="1" i="1" spc="-135" dirty="0">
                <a:latin typeface="Trebuchet MS"/>
                <a:cs typeface="Trebuchet MS"/>
              </a:rPr>
              <a:t>los </a:t>
            </a:r>
            <a:r>
              <a:rPr sz="2200" b="1" i="1" spc="-170" dirty="0">
                <a:latin typeface="Trebuchet MS"/>
                <a:cs typeface="Trebuchet MS"/>
              </a:rPr>
              <a:t>objetivos</a:t>
            </a:r>
            <a:r>
              <a:rPr sz="2200" b="1" i="1" spc="-215" dirty="0">
                <a:latin typeface="Trebuchet MS"/>
                <a:cs typeface="Trebuchet MS"/>
              </a:rPr>
              <a:t> </a:t>
            </a:r>
            <a:r>
              <a:rPr sz="2200" b="1" i="1" spc="-150" dirty="0">
                <a:latin typeface="Trebuchet MS"/>
                <a:cs typeface="Trebuchet MS"/>
              </a:rPr>
              <a:t>organizacionales.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2541" y="3245866"/>
            <a:ext cx="17538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1608455" algn="l"/>
              </a:tabLst>
            </a:pPr>
            <a:r>
              <a:rPr sz="2200" b="1" i="1" spc="-100" dirty="0">
                <a:latin typeface="Trebuchet MS"/>
                <a:cs typeface="Trebuchet MS"/>
              </a:rPr>
              <a:t>Invol</a:t>
            </a:r>
            <a:r>
              <a:rPr sz="2200" b="1" i="1" spc="-114" dirty="0">
                <a:latin typeface="Trebuchet MS"/>
                <a:cs typeface="Trebuchet MS"/>
              </a:rPr>
              <a:t>u</a:t>
            </a:r>
            <a:r>
              <a:rPr sz="2200" b="1" i="1" spc="-180" dirty="0">
                <a:latin typeface="Trebuchet MS"/>
                <a:cs typeface="Trebuchet MS"/>
              </a:rPr>
              <a:t>cra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210" dirty="0">
                <a:latin typeface="Trebuchet MS"/>
                <a:cs typeface="Trebuchet MS"/>
              </a:rPr>
              <a:t>y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4494" y="3245866"/>
            <a:ext cx="37661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5015" algn="l"/>
                <a:tab pos="2501900" algn="l"/>
                <a:tab pos="2823845" algn="l"/>
                <a:tab pos="3536950" algn="l"/>
              </a:tabLst>
            </a:pPr>
            <a:r>
              <a:rPr sz="2200" b="1" i="1" spc="-140" dirty="0">
                <a:latin typeface="Trebuchet MS"/>
                <a:cs typeface="Trebuchet MS"/>
              </a:rPr>
              <a:t>debe	</a:t>
            </a:r>
            <a:r>
              <a:rPr sz="2200" b="1" i="1" spc="-95" dirty="0">
                <a:latin typeface="Trebuchet MS"/>
                <a:cs typeface="Trebuchet MS"/>
              </a:rPr>
              <a:t>co</a:t>
            </a:r>
            <a:r>
              <a:rPr sz="2200" b="1" i="1" spc="-160" dirty="0">
                <a:latin typeface="Trebuchet MS"/>
                <a:cs typeface="Trebuchet MS"/>
              </a:rPr>
              <a:t>m</a:t>
            </a:r>
            <a:r>
              <a:rPr sz="2200" b="1" i="1" spc="-135" dirty="0">
                <a:latin typeface="Trebuchet MS"/>
                <a:cs typeface="Trebuchet MS"/>
              </a:rPr>
              <a:t>prom</a:t>
            </a:r>
            <a:r>
              <a:rPr sz="2200" b="1" i="1" spc="-130" dirty="0">
                <a:latin typeface="Trebuchet MS"/>
                <a:cs typeface="Trebuchet MS"/>
              </a:rPr>
              <a:t>e</a:t>
            </a:r>
            <a:r>
              <a:rPr sz="2200" b="1" i="1" spc="-180" dirty="0">
                <a:latin typeface="Trebuchet MS"/>
                <a:cs typeface="Trebuchet MS"/>
              </a:rPr>
              <a:t>ter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45" dirty="0">
                <a:latin typeface="Trebuchet MS"/>
                <a:cs typeface="Trebuchet MS"/>
              </a:rPr>
              <a:t>a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45" dirty="0">
                <a:latin typeface="Trebuchet MS"/>
                <a:cs typeface="Trebuchet MS"/>
              </a:rPr>
              <a:t>toda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60" dirty="0">
                <a:latin typeface="Trebuchet MS"/>
                <a:cs typeface="Trebuchet MS"/>
              </a:rPr>
              <a:t>la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541" y="3581146"/>
            <a:ext cx="5669280" cy="270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200" b="1" i="1" spc="-150" dirty="0">
                <a:latin typeface="Trebuchet MS"/>
                <a:cs typeface="Trebuchet MS"/>
              </a:rPr>
              <a:t>organización.</a:t>
            </a:r>
            <a:endParaRPr sz="2200">
              <a:latin typeface="Trebuchet MS"/>
              <a:cs typeface="Trebuchet MS"/>
            </a:endParaRPr>
          </a:p>
          <a:p>
            <a:pPr marL="355600" marR="635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200" b="1" i="1" spc="-155" dirty="0">
                <a:latin typeface="Trebuchet MS"/>
                <a:cs typeface="Trebuchet MS"/>
              </a:rPr>
              <a:t>Constituye </a:t>
            </a:r>
            <a:r>
              <a:rPr sz="2200" b="1" i="1" spc="-75" dirty="0">
                <a:latin typeface="Trebuchet MS"/>
                <a:cs typeface="Trebuchet MS"/>
              </a:rPr>
              <a:t>un </a:t>
            </a:r>
            <a:r>
              <a:rPr sz="2200" b="1" i="1" spc="-125" dirty="0">
                <a:latin typeface="Trebuchet MS"/>
                <a:cs typeface="Trebuchet MS"/>
              </a:rPr>
              <a:t>medio </a:t>
            </a:r>
            <a:r>
              <a:rPr sz="2200" b="1" i="1" spc="-165" dirty="0">
                <a:latin typeface="Trebuchet MS"/>
                <a:cs typeface="Trebuchet MS"/>
              </a:rPr>
              <a:t>para </a:t>
            </a:r>
            <a:r>
              <a:rPr sz="2200" b="1" i="1" spc="-70" dirty="0">
                <a:latin typeface="Trebuchet MS"/>
                <a:cs typeface="Trebuchet MS"/>
              </a:rPr>
              <a:t>un </a:t>
            </a:r>
            <a:r>
              <a:rPr sz="2200" b="1" i="1" spc="-160" dirty="0">
                <a:latin typeface="Trebuchet MS"/>
                <a:cs typeface="Trebuchet MS"/>
              </a:rPr>
              <a:t>fin </a:t>
            </a:r>
            <a:r>
              <a:rPr sz="2200" b="1" i="1" spc="-210" dirty="0">
                <a:latin typeface="Trebuchet MS"/>
                <a:cs typeface="Trebuchet MS"/>
              </a:rPr>
              <a:t>y </a:t>
            </a:r>
            <a:r>
              <a:rPr sz="2200" b="1" i="1" spc="-85" dirty="0">
                <a:latin typeface="Trebuchet MS"/>
                <a:cs typeface="Trebuchet MS"/>
              </a:rPr>
              <a:t>no </a:t>
            </a:r>
            <a:r>
              <a:rPr sz="2200" b="1" i="1" spc="-145" dirty="0">
                <a:latin typeface="Trebuchet MS"/>
                <a:cs typeface="Trebuchet MS"/>
              </a:rPr>
              <a:t>es </a:t>
            </a:r>
            <a:r>
              <a:rPr sz="2200" b="1" i="1" spc="-70" dirty="0">
                <a:latin typeface="Trebuchet MS"/>
                <a:cs typeface="Trebuchet MS"/>
              </a:rPr>
              <a:t>un</a:t>
            </a:r>
            <a:r>
              <a:rPr sz="2200" b="1" i="1" spc="-450" dirty="0">
                <a:latin typeface="Trebuchet MS"/>
                <a:cs typeface="Trebuchet MS"/>
              </a:rPr>
              <a:t> </a:t>
            </a:r>
            <a:r>
              <a:rPr sz="2200" b="1" i="1" spc="-160" dirty="0">
                <a:latin typeface="Trebuchet MS"/>
                <a:cs typeface="Trebuchet MS"/>
              </a:rPr>
              <a:t>fin  </a:t>
            </a:r>
            <a:r>
              <a:rPr sz="2200" b="1" i="1" spc="-110" dirty="0">
                <a:latin typeface="Trebuchet MS"/>
                <a:cs typeface="Trebuchet MS"/>
              </a:rPr>
              <a:t>en </a:t>
            </a:r>
            <a:r>
              <a:rPr sz="2200" b="1" i="1" spc="-160" dirty="0">
                <a:latin typeface="Trebuchet MS"/>
                <a:cs typeface="Trebuchet MS"/>
              </a:rPr>
              <a:t>si</a:t>
            </a:r>
            <a:r>
              <a:rPr sz="2200" b="1" i="1" spc="-240" dirty="0">
                <a:latin typeface="Trebuchet MS"/>
                <a:cs typeface="Trebuchet MS"/>
              </a:rPr>
              <a:t> </a:t>
            </a:r>
            <a:r>
              <a:rPr sz="2200" b="1" i="1" spc="-125" dirty="0">
                <a:latin typeface="Trebuchet MS"/>
                <a:cs typeface="Trebuchet MS"/>
              </a:rPr>
              <a:t>mismo.</a:t>
            </a:r>
            <a:endParaRPr sz="22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sz="2200" b="1" i="1" spc="-110" dirty="0">
                <a:latin typeface="Trebuchet MS"/>
                <a:cs typeface="Trebuchet MS"/>
              </a:rPr>
              <a:t>Debe </a:t>
            </a:r>
            <a:r>
              <a:rPr sz="2200" b="1" i="1" spc="-165" dirty="0">
                <a:latin typeface="Trebuchet MS"/>
                <a:cs typeface="Trebuchet MS"/>
              </a:rPr>
              <a:t>ser </a:t>
            </a:r>
            <a:r>
              <a:rPr sz="2200" b="1" i="1" spc="-160" dirty="0">
                <a:latin typeface="Trebuchet MS"/>
                <a:cs typeface="Trebuchet MS"/>
              </a:rPr>
              <a:t>interpretado </a:t>
            </a:r>
            <a:r>
              <a:rPr sz="2200" b="1" i="1" spc="-110" dirty="0">
                <a:latin typeface="Trebuchet MS"/>
                <a:cs typeface="Trebuchet MS"/>
              </a:rPr>
              <a:t>como </a:t>
            </a:r>
            <a:r>
              <a:rPr sz="2200" b="1" i="1" spc="-70" dirty="0">
                <a:latin typeface="Trebuchet MS"/>
                <a:cs typeface="Trebuchet MS"/>
              </a:rPr>
              <a:t>un </a:t>
            </a:r>
            <a:r>
              <a:rPr sz="2200" b="1" i="1" spc="-140" dirty="0">
                <a:latin typeface="Trebuchet MS"/>
                <a:cs typeface="Trebuchet MS"/>
              </a:rPr>
              <a:t>vehículo </a:t>
            </a:r>
            <a:r>
              <a:rPr sz="2200" b="1" i="1" spc="-165" dirty="0">
                <a:latin typeface="Trebuchet MS"/>
                <a:cs typeface="Trebuchet MS"/>
              </a:rPr>
              <a:t>para  </a:t>
            </a:r>
            <a:r>
              <a:rPr sz="2200" b="1" i="1" spc="-150" dirty="0">
                <a:latin typeface="Trebuchet MS"/>
                <a:cs typeface="Trebuchet MS"/>
              </a:rPr>
              <a:t>el </a:t>
            </a:r>
            <a:r>
              <a:rPr sz="2200" b="1" i="1" spc="-175" dirty="0">
                <a:latin typeface="Trebuchet MS"/>
                <a:cs typeface="Trebuchet MS"/>
              </a:rPr>
              <a:t>aprendizaje </a:t>
            </a:r>
            <a:r>
              <a:rPr sz="2200" b="1" i="1" spc="-210" dirty="0">
                <a:latin typeface="Trebuchet MS"/>
                <a:cs typeface="Trebuchet MS"/>
              </a:rPr>
              <a:t>y </a:t>
            </a:r>
            <a:r>
              <a:rPr sz="2200" b="1" i="1" spc="-155" dirty="0">
                <a:latin typeface="Trebuchet MS"/>
                <a:cs typeface="Trebuchet MS"/>
              </a:rPr>
              <a:t>la mejora</a:t>
            </a:r>
            <a:r>
              <a:rPr sz="2200" b="1" i="1" spc="-195" dirty="0">
                <a:latin typeface="Trebuchet MS"/>
                <a:cs typeface="Trebuchet MS"/>
              </a:rPr>
              <a:t> </a:t>
            </a:r>
            <a:r>
              <a:rPr sz="2200" b="1" i="1" spc="-140" dirty="0">
                <a:latin typeface="Trebuchet MS"/>
                <a:cs typeface="Trebuchet MS"/>
              </a:rPr>
              <a:t>continua.</a:t>
            </a:r>
            <a:endParaRPr sz="22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200" b="1" i="1" spc="-190" dirty="0">
                <a:latin typeface="Trebuchet MS"/>
                <a:cs typeface="Trebuchet MS"/>
              </a:rPr>
              <a:t>Es </a:t>
            </a:r>
            <a:r>
              <a:rPr sz="2200" b="1" i="1" spc="-160" dirty="0">
                <a:latin typeface="Trebuchet MS"/>
                <a:cs typeface="Trebuchet MS"/>
              </a:rPr>
              <a:t>ejecutado </a:t>
            </a:r>
            <a:r>
              <a:rPr sz="2200" b="1" i="1" spc="-155" dirty="0">
                <a:latin typeface="Trebuchet MS"/>
                <a:cs typeface="Trebuchet MS"/>
              </a:rPr>
              <a:t>por personas. </a:t>
            </a:r>
            <a:r>
              <a:rPr sz="2200" b="1" i="1" spc="-50" dirty="0">
                <a:latin typeface="Trebuchet MS"/>
                <a:cs typeface="Trebuchet MS"/>
              </a:rPr>
              <a:t>No </a:t>
            </a:r>
            <a:r>
              <a:rPr sz="2200" b="1" i="1" spc="-110" dirty="0">
                <a:latin typeface="Trebuchet MS"/>
                <a:cs typeface="Trebuchet MS"/>
              </a:rPr>
              <a:t>son </a:t>
            </a:r>
            <a:r>
              <a:rPr sz="2200" b="1" i="1" spc="-135" dirty="0">
                <a:latin typeface="Trebuchet MS"/>
                <a:cs typeface="Trebuchet MS"/>
              </a:rPr>
              <a:t>solamente  </a:t>
            </a:r>
            <a:r>
              <a:rPr sz="2200" b="1" i="1" spc="-120" dirty="0">
                <a:latin typeface="Trebuchet MS"/>
                <a:cs typeface="Trebuchet MS"/>
              </a:rPr>
              <a:t>manuales </a:t>
            </a:r>
            <a:r>
              <a:rPr sz="2200" b="1" i="1" spc="-145" dirty="0">
                <a:latin typeface="Trebuchet MS"/>
                <a:cs typeface="Trebuchet MS"/>
              </a:rPr>
              <a:t>de </a:t>
            </a:r>
            <a:r>
              <a:rPr sz="2200" b="1" i="1" spc="-165" dirty="0">
                <a:latin typeface="Trebuchet MS"/>
                <a:cs typeface="Trebuchet MS"/>
              </a:rPr>
              <a:t>políticas </a:t>
            </a:r>
            <a:r>
              <a:rPr sz="2200" b="1" i="1" spc="-210" dirty="0">
                <a:latin typeface="Trebuchet MS"/>
                <a:cs typeface="Trebuchet MS"/>
              </a:rPr>
              <a:t>y </a:t>
            </a:r>
            <a:r>
              <a:rPr sz="2200" b="1" i="1" spc="-160" dirty="0">
                <a:latin typeface="Trebuchet MS"/>
                <a:cs typeface="Trebuchet MS"/>
              </a:rPr>
              <a:t>formas, </a:t>
            </a:r>
            <a:r>
              <a:rPr sz="2200" b="1" i="1" spc="-130" dirty="0">
                <a:latin typeface="Trebuchet MS"/>
                <a:cs typeface="Trebuchet MS"/>
              </a:rPr>
              <a:t>sino </a:t>
            </a:r>
            <a:r>
              <a:rPr sz="2200" b="1" i="1" spc="-145" dirty="0">
                <a:latin typeface="Trebuchet MS"/>
                <a:cs typeface="Trebuchet MS"/>
              </a:rPr>
              <a:t>personas  </a:t>
            </a:r>
            <a:r>
              <a:rPr sz="2200" b="1" i="1" spc="-110" dirty="0">
                <a:latin typeface="Trebuchet MS"/>
                <a:cs typeface="Trebuchet MS"/>
              </a:rPr>
              <a:t>en </a:t>
            </a:r>
            <a:r>
              <a:rPr sz="2200" b="1" i="1" spc="-155" dirty="0">
                <a:latin typeface="Trebuchet MS"/>
                <a:cs typeface="Trebuchet MS"/>
              </a:rPr>
              <a:t>cada </a:t>
            </a:r>
            <a:r>
              <a:rPr sz="2200" b="1" i="1" spc="-150" dirty="0">
                <a:latin typeface="Trebuchet MS"/>
                <a:cs typeface="Trebuchet MS"/>
              </a:rPr>
              <a:t>nivel </a:t>
            </a:r>
            <a:r>
              <a:rPr sz="2200" b="1" i="1" spc="-140" dirty="0">
                <a:latin typeface="Trebuchet MS"/>
                <a:cs typeface="Trebuchet MS"/>
              </a:rPr>
              <a:t>de </a:t>
            </a:r>
            <a:r>
              <a:rPr sz="2200" b="1" i="1" spc="-155" dirty="0">
                <a:latin typeface="Trebuchet MS"/>
                <a:cs typeface="Trebuchet MS"/>
              </a:rPr>
              <a:t>la</a:t>
            </a:r>
            <a:r>
              <a:rPr sz="2200" b="1" i="1" spc="-300" dirty="0">
                <a:latin typeface="Trebuchet MS"/>
                <a:cs typeface="Trebuchet MS"/>
              </a:rPr>
              <a:t> </a:t>
            </a:r>
            <a:r>
              <a:rPr sz="2200" b="1" i="1" spc="-150" dirty="0">
                <a:latin typeface="Trebuchet MS"/>
                <a:cs typeface="Trebuchet MS"/>
              </a:rPr>
              <a:t>organización.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72200" y="1143000"/>
            <a:ext cx="2743200" cy="25656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53200" y="3886200"/>
            <a:ext cx="2010155" cy="22768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r>
              <a:rPr spc="-3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115" y="352882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5115" y="535762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6258" y="193801"/>
            <a:ext cx="5461635" cy="6026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Antecedentes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fundamentales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265430" marR="67945" indent="107314">
              <a:lnSpc>
                <a:spcPct val="100000"/>
              </a:lnSpc>
            </a:pPr>
            <a:r>
              <a:rPr sz="3200" spc="-180" dirty="0">
                <a:latin typeface="Arial"/>
                <a:cs typeface="Arial"/>
              </a:rPr>
              <a:t>Un </a:t>
            </a:r>
            <a:r>
              <a:rPr sz="3200" spc="-195" dirty="0">
                <a:latin typeface="Arial"/>
                <a:cs typeface="Arial"/>
              </a:rPr>
              <a:t>Sistema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100" dirty="0">
                <a:latin typeface="Arial"/>
                <a:cs typeface="Arial"/>
              </a:rPr>
              <a:t>Control </a:t>
            </a:r>
            <a:r>
              <a:rPr sz="3200" spc="-50" dirty="0">
                <a:latin typeface="Arial"/>
                <a:cs typeface="Arial"/>
              </a:rPr>
              <a:t>Interno  </a:t>
            </a:r>
            <a:r>
              <a:rPr sz="3200" spc="-200" dirty="0">
                <a:latin typeface="Arial"/>
                <a:cs typeface="Arial"/>
              </a:rPr>
              <a:t>es:</a:t>
            </a:r>
            <a:endParaRPr sz="3200">
              <a:latin typeface="Arial"/>
              <a:cs typeface="Arial"/>
            </a:endParaRPr>
          </a:p>
          <a:p>
            <a:pPr marL="798830" marR="5080" indent="-3429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798830" algn="l"/>
                <a:tab pos="799465" algn="l"/>
              </a:tabLst>
            </a:pPr>
            <a:r>
              <a:rPr sz="2200" b="1" i="1" spc="-50" dirty="0">
                <a:latin typeface="Trebuchet MS"/>
                <a:cs typeface="Trebuchet MS"/>
              </a:rPr>
              <a:t>Un </a:t>
            </a:r>
            <a:r>
              <a:rPr sz="2200" b="1" i="1" spc="-135" dirty="0">
                <a:latin typeface="Trebuchet MS"/>
                <a:cs typeface="Trebuchet MS"/>
              </a:rPr>
              <a:t>conjunto </a:t>
            </a:r>
            <a:r>
              <a:rPr sz="2200" b="1" i="1" spc="-140" dirty="0">
                <a:latin typeface="Trebuchet MS"/>
                <a:cs typeface="Trebuchet MS"/>
              </a:rPr>
              <a:t>de </a:t>
            </a:r>
            <a:r>
              <a:rPr sz="2200" b="1" i="1" spc="-145" dirty="0">
                <a:latin typeface="Trebuchet MS"/>
                <a:cs typeface="Trebuchet MS"/>
              </a:rPr>
              <a:t>normas, </a:t>
            </a:r>
            <a:r>
              <a:rPr sz="2200" b="1" i="1" spc="-155" dirty="0">
                <a:latin typeface="Trebuchet MS"/>
                <a:cs typeface="Trebuchet MS"/>
              </a:rPr>
              <a:t>controles,  </a:t>
            </a:r>
            <a:r>
              <a:rPr sz="2200" b="1" i="1" spc="-145" dirty="0">
                <a:latin typeface="Trebuchet MS"/>
                <a:cs typeface="Trebuchet MS"/>
              </a:rPr>
              <a:t>consideraciones </a:t>
            </a:r>
            <a:r>
              <a:rPr sz="2200" b="1" i="1" spc="-210" dirty="0">
                <a:latin typeface="Trebuchet MS"/>
                <a:cs typeface="Trebuchet MS"/>
              </a:rPr>
              <a:t>y </a:t>
            </a:r>
            <a:r>
              <a:rPr sz="2200" b="1" i="1" spc="-150" dirty="0">
                <a:latin typeface="Trebuchet MS"/>
                <a:cs typeface="Trebuchet MS"/>
              </a:rPr>
              <a:t>aspectos </a:t>
            </a:r>
            <a:r>
              <a:rPr sz="2200" b="1" i="1" spc="-145" dirty="0">
                <a:latin typeface="Trebuchet MS"/>
                <a:cs typeface="Trebuchet MS"/>
              </a:rPr>
              <a:t>a </a:t>
            </a:r>
            <a:r>
              <a:rPr sz="2200" b="1" i="1" spc="-165" dirty="0">
                <a:latin typeface="Trebuchet MS"/>
                <a:cs typeface="Trebuchet MS"/>
              </a:rPr>
              <a:t>ser</a:t>
            </a:r>
            <a:r>
              <a:rPr sz="2200" b="1" i="1" spc="-265" dirty="0">
                <a:latin typeface="Trebuchet MS"/>
                <a:cs typeface="Trebuchet MS"/>
              </a:rPr>
              <a:t> </a:t>
            </a:r>
            <a:r>
              <a:rPr sz="2200" b="1" i="1" spc="-140" dirty="0">
                <a:latin typeface="Trebuchet MS"/>
                <a:cs typeface="Trebuchet MS"/>
              </a:rPr>
              <a:t>tenidos  </a:t>
            </a:r>
            <a:r>
              <a:rPr sz="2200" b="1" i="1" spc="-110" dirty="0">
                <a:latin typeface="Trebuchet MS"/>
                <a:cs typeface="Trebuchet MS"/>
              </a:rPr>
              <a:t>en </a:t>
            </a:r>
            <a:r>
              <a:rPr sz="2200" b="1" i="1" spc="-135" dirty="0">
                <a:latin typeface="Trebuchet MS"/>
                <a:cs typeface="Trebuchet MS"/>
              </a:rPr>
              <a:t>cuenta </a:t>
            </a:r>
            <a:r>
              <a:rPr sz="2200" b="1" i="1" spc="-155" dirty="0">
                <a:latin typeface="Trebuchet MS"/>
                <a:cs typeface="Trebuchet MS"/>
              </a:rPr>
              <a:t>por </a:t>
            </a:r>
            <a:r>
              <a:rPr sz="2200" b="1" i="1" spc="-150" dirty="0">
                <a:latin typeface="Trebuchet MS"/>
                <a:cs typeface="Trebuchet MS"/>
              </a:rPr>
              <a:t>el </a:t>
            </a:r>
            <a:r>
              <a:rPr sz="2200" b="1" i="1" spc="-140" dirty="0">
                <a:latin typeface="Trebuchet MS"/>
                <a:cs typeface="Trebuchet MS"/>
              </a:rPr>
              <a:t>ente </a:t>
            </a:r>
            <a:r>
              <a:rPr sz="2200" b="1" i="1" spc="-120" dirty="0">
                <a:latin typeface="Trebuchet MS"/>
                <a:cs typeface="Trebuchet MS"/>
              </a:rPr>
              <a:t>que </a:t>
            </a:r>
            <a:r>
              <a:rPr sz="2200" b="1" i="1" spc="-135" dirty="0">
                <a:latin typeface="Trebuchet MS"/>
                <a:cs typeface="Trebuchet MS"/>
              </a:rPr>
              <a:t>los</a:t>
            </a:r>
            <a:r>
              <a:rPr sz="2200" b="1" i="1" spc="-400" dirty="0">
                <a:latin typeface="Trebuchet MS"/>
                <a:cs typeface="Trebuchet MS"/>
              </a:rPr>
              <a:t> </a:t>
            </a:r>
            <a:r>
              <a:rPr sz="2200" b="1" i="1" spc="-150" dirty="0">
                <a:latin typeface="Trebuchet MS"/>
                <a:cs typeface="Trebuchet MS"/>
              </a:rPr>
              <a:t>adopta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72745">
              <a:lnSpc>
                <a:spcPct val="100000"/>
              </a:lnSpc>
            </a:pPr>
            <a:r>
              <a:rPr sz="3200" spc="-270" dirty="0">
                <a:latin typeface="Arial"/>
                <a:cs typeface="Arial"/>
              </a:rPr>
              <a:t>Con </a:t>
            </a:r>
            <a:r>
              <a:rPr sz="3200" spc="-85" dirty="0">
                <a:latin typeface="Arial"/>
                <a:cs typeface="Arial"/>
              </a:rPr>
              <a:t>el </a:t>
            </a:r>
            <a:r>
              <a:rPr sz="3200" spc="-50" dirty="0">
                <a:latin typeface="Arial"/>
                <a:cs typeface="Arial"/>
              </a:rPr>
              <a:t>objetivo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spc="-114" dirty="0">
                <a:latin typeface="Arial"/>
                <a:cs typeface="Arial"/>
              </a:rPr>
              <a:t>de:</a:t>
            </a:r>
            <a:endParaRPr sz="3200">
              <a:latin typeface="Arial"/>
              <a:cs typeface="Arial"/>
            </a:endParaRPr>
          </a:p>
          <a:p>
            <a:pPr marL="722630" indent="-2667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722630" algn="l"/>
                <a:tab pos="723265" algn="l"/>
              </a:tabLst>
            </a:pPr>
            <a:r>
              <a:rPr sz="2200" b="1" i="1" spc="-190" dirty="0">
                <a:latin typeface="Trebuchet MS"/>
                <a:cs typeface="Trebuchet MS"/>
              </a:rPr>
              <a:t>Evitar </a:t>
            </a:r>
            <a:r>
              <a:rPr sz="2200" b="1" i="1" spc="-165" dirty="0">
                <a:latin typeface="Trebuchet MS"/>
                <a:cs typeface="Trebuchet MS"/>
              </a:rPr>
              <a:t>errores </a:t>
            </a:r>
            <a:r>
              <a:rPr sz="2200" b="1" i="1" spc="-210" dirty="0">
                <a:latin typeface="Trebuchet MS"/>
                <a:cs typeface="Trebuchet MS"/>
              </a:rPr>
              <a:t>y</a:t>
            </a:r>
            <a:r>
              <a:rPr sz="2200" b="1" i="1" spc="-160" dirty="0">
                <a:latin typeface="Trebuchet MS"/>
                <a:cs typeface="Trebuchet MS"/>
              </a:rPr>
              <a:t> </a:t>
            </a:r>
            <a:r>
              <a:rPr sz="2200" b="1" i="1" spc="-155" dirty="0">
                <a:latin typeface="Trebuchet MS"/>
                <a:cs typeface="Trebuchet MS"/>
              </a:rPr>
              <a:t>fraudes</a:t>
            </a:r>
            <a:endParaRPr sz="2200">
              <a:latin typeface="Trebuchet MS"/>
              <a:cs typeface="Trebuchet MS"/>
            </a:endParaRPr>
          </a:p>
          <a:p>
            <a:pPr marL="722630" marR="404495" indent="-266700">
              <a:lnSpc>
                <a:spcPct val="100000"/>
              </a:lnSpc>
              <a:buFont typeface="Arial"/>
              <a:buChar char="•"/>
              <a:tabLst>
                <a:tab pos="722630" algn="l"/>
                <a:tab pos="723265" algn="l"/>
              </a:tabLst>
            </a:pPr>
            <a:r>
              <a:rPr sz="2200" b="1" i="1" spc="-135" dirty="0">
                <a:latin typeface="Trebuchet MS"/>
                <a:cs typeface="Trebuchet MS"/>
              </a:rPr>
              <a:t>Ganar seguridad </a:t>
            </a:r>
            <a:r>
              <a:rPr sz="2200" b="1" i="1" spc="-210" dirty="0">
                <a:latin typeface="Trebuchet MS"/>
                <a:cs typeface="Trebuchet MS"/>
              </a:rPr>
              <a:t>y </a:t>
            </a:r>
            <a:r>
              <a:rPr sz="2200" b="1" i="1" spc="-155" dirty="0">
                <a:latin typeface="Trebuchet MS"/>
                <a:cs typeface="Trebuchet MS"/>
              </a:rPr>
              <a:t>confiabilidad </a:t>
            </a:r>
            <a:r>
              <a:rPr sz="2200" b="1" i="1" spc="-110" dirty="0">
                <a:latin typeface="Trebuchet MS"/>
                <a:cs typeface="Trebuchet MS"/>
              </a:rPr>
              <a:t>en</a:t>
            </a:r>
            <a:r>
              <a:rPr sz="2200" b="1" i="1" spc="-295" dirty="0">
                <a:latin typeface="Trebuchet MS"/>
                <a:cs typeface="Trebuchet MS"/>
              </a:rPr>
              <a:t> </a:t>
            </a:r>
            <a:r>
              <a:rPr sz="2200" b="1" i="1" spc="-155" dirty="0">
                <a:latin typeface="Trebuchet MS"/>
                <a:cs typeface="Trebuchet MS"/>
              </a:rPr>
              <a:t>la  </a:t>
            </a:r>
            <a:r>
              <a:rPr sz="2200" b="1" i="1" spc="-160" dirty="0">
                <a:latin typeface="Trebuchet MS"/>
                <a:cs typeface="Trebuchet MS"/>
              </a:rPr>
              <a:t>operatoria </a:t>
            </a:r>
            <a:r>
              <a:rPr sz="2200" b="1" i="1" spc="-140" dirty="0">
                <a:latin typeface="Trebuchet MS"/>
                <a:cs typeface="Trebuchet MS"/>
              </a:rPr>
              <a:t>de </a:t>
            </a:r>
            <a:r>
              <a:rPr sz="2200" b="1" i="1" spc="-155" dirty="0">
                <a:latin typeface="Trebuchet MS"/>
                <a:cs typeface="Trebuchet MS"/>
              </a:rPr>
              <a:t>la</a:t>
            </a:r>
            <a:r>
              <a:rPr sz="2200" b="1" i="1" spc="-220" dirty="0">
                <a:latin typeface="Trebuchet MS"/>
                <a:cs typeface="Trebuchet MS"/>
              </a:rPr>
              <a:t> </a:t>
            </a:r>
            <a:r>
              <a:rPr sz="2200" b="1" i="1" spc="-145" dirty="0">
                <a:latin typeface="Trebuchet MS"/>
                <a:cs typeface="Trebuchet MS"/>
              </a:rPr>
              <a:t>organización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00">
              <a:latin typeface="Times New Roman"/>
              <a:cs typeface="Times New Roman"/>
            </a:endParaRPr>
          </a:p>
          <a:p>
            <a:pPr marL="265430" marR="1730375" indent="107314">
              <a:lnSpc>
                <a:spcPct val="100000"/>
              </a:lnSpc>
            </a:pPr>
            <a:r>
              <a:rPr sz="3200" spc="-254" dirty="0">
                <a:latin typeface="Arial"/>
                <a:cs typeface="Arial"/>
              </a:rPr>
              <a:t>Sin </a:t>
            </a:r>
            <a:r>
              <a:rPr sz="3200" spc="-85" dirty="0">
                <a:latin typeface="Arial"/>
                <a:cs typeface="Arial"/>
              </a:rPr>
              <a:t>perder </a:t>
            </a:r>
            <a:r>
              <a:rPr sz="3200" spc="-110" dirty="0">
                <a:latin typeface="Arial"/>
                <a:cs typeface="Arial"/>
              </a:rPr>
              <a:t>eficiencia  </a:t>
            </a:r>
            <a:r>
              <a:rPr sz="3200" spc="-80" dirty="0">
                <a:latin typeface="Arial"/>
                <a:cs typeface="Arial"/>
              </a:rPr>
              <a:t>administrativa.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52084" y="1086611"/>
            <a:ext cx="2563047" cy="2661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24600" y="4093633"/>
            <a:ext cx="2362200" cy="20997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</a:t>
            </a:r>
            <a:r>
              <a:rPr spc="-30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2541" y="193801"/>
            <a:ext cx="5516245" cy="3230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Antecedentes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fundamentales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279400" marR="5715" indent="107314">
              <a:lnSpc>
                <a:spcPct val="100000"/>
              </a:lnSpc>
            </a:pPr>
            <a:r>
              <a:rPr sz="3200" spc="-180" dirty="0">
                <a:latin typeface="Arial"/>
                <a:cs typeface="Arial"/>
              </a:rPr>
              <a:t>Un </a:t>
            </a:r>
            <a:r>
              <a:rPr sz="3200" spc="-200" dirty="0">
                <a:latin typeface="Arial"/>
                <a:cs typeface="Arial"/>
              </a:rPr>
              <a:t>Sistema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95" dirty="0">
                <a:latin typeface="Arial"/>
                <a:cs typeface="Arial"/>
              </a:rPr>
              <a:t>Control </a:t>
            </a:r>
            <a:r>
              <a:rPr sz="3200" spc="-50" dirty="0">
                <a:latin typeface="Arial"/>
                <a:cs typeface="Arial"/>
              </a:rPr>
              <a:t>Interno  </a:t>
            </a:r>
            <a:r>
              <a:rPr sz="3200" spc="-195" dirty="0">
                <a:latin typeface="Arial"/>
                <a:cs typeface="Arial"/>
              </a:rPr>
              <a:t>es: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i="1" spc="-190" dirty="0">
                <a:latin typeface="Trebuchet MS"/>
                <a:cs typeface="Trebuchet MS"/>
              </a:rPr>
              <a:t>Es </a:t>
            </a:r>
            <a:r>
              <a:rPr sz="2200" b="1" i="1" spc="-155" dirty="0">
                <a:latin typeface="Trebuchet MS"/>
                <a:cs typeface="Trebuchet MS"/>
              </a:rPr>
              <a:t>preventivo </a:t>
            </a:r>
            <a:r>
              <a:rPr sz="2200" b="1" i="1" spc="-210" dirty="0">
                <a:latin typeface="Trebuchet MS"/>
                <a:cs typeface="Trebuchet MS"/>
              </a:rPr>
              <a:t>y</a:t>
            </a:r>
            <a:r>
              <a:rPr sz="2200" b="1" i="1" spc="-170" dirty="0">
                <a:latin typeface="Trebuchet MS"/>
                <a:cs typeface="Trebuchet MS"/>
              </a:rPr>
              <a:t> </a:t>
            </a:r>
            <a:r>
              <a:rPr sz="2200" b="1" i="1" spc="-130" dirty="0">
                <a:latin typeface="Trebuchet MS"/>
                <a:cs typeface="Trebuchet MS"/>
              </a:rPr>
              <a:t>continuo;</a:t>
            </a:r>
            <a:endParaRPr sz="22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200" b="1" i="1" spc="-180" dirty="0">
                <a:latin typeface="Trebuchet MS"/>
                <a:cs typeface="Trebuchet MS"/>
              </a:rPr>
              <a:t>Está </a:t>
            </a:r>
            <a:r>
              <a:rPr sz="2200" b="1" i="1" spc="-114" dirty="0">
                <a:latin typeface="Trebuchet MS"/>
                <a:cs typeface="Trebuchet MS"/>
              </a:rPr>
              <a:t>unido </a:t>
            </a:r>
            <a:r>
              <a:rPr sz="2200" b="1" i="1" spc="-145" dirty="0">
                <a:latin typeface="Trebuchet MS"/>
                <a:cs typeface="Trebuchet MS"/>
              </a:rPr>
              <a:t>a </a:t>
            </a:r>
            <a:r>
              <a:rPr sz="2200" b="1" i="1" spc="-140" dirty="0">
                <a:latin typeface="Trebuchet MS"/>
                <a:cs typeface="Trebuchet MS"/>
              </a:rPr>
              <a:t>los </a:t>
            </a:r>
            <a:r>
              <a:rPr sz="2200" b="1" i="1" spc="-150" dirty="0">
                <a:latin typeface="Trebuchet MS"/>
                <a:cs typeface="Trebuchet MS"/>
              </a:rPr>
              <a:t>sistemas </a:t>
            </a:r>
            <a:r>
              <a:rPr sz="2200" b="1" i="1" spc="-155" dirty="0">
                <a:latin typeface="Trebuchet MS"/>
                <a:cs typeface="Trebuchet MS"/>
              </a:rPr>
              <a:t>administrativos </a:t>
            </a:r>
            <a:r>
              <a:rPr sz="2200" b="1" i="1" spc="-210" dirty="0">
                <a:latin typeface="Trebuchet MS"/>
                <a:cs typeface="Trebuchet MS"/>
              </a:rPr>
              <a:t>y  </a:t>
            </a:r>
            <a:r>
              <a:rPr sz="2200" b="1" i="1" spc="-145" dirty="0">
                <a:latin typeface="Trebuchet MS"/>
                <a:cs typeface="Trebuchet MS"/>
              </a:rPr>
              <a:t>contables de </a:t>
            </a:r>
            <a:r>
              <a:rPr sz="2200" b="1" i="1" spc="-160" dirty="0">
                <a:latin typeface="Trebuchet MS"/>
                <a:cs typeface="Trebuchet MS"/>
              </a:rPr>
              <a:t>la </a:t>
            </a:r>
            <a:r>
              <a:rPr sz="2200" b="1" i="1" spc="-145" dirty="0">
                <a:latin typeface="Trebuchet MS"/>
                <a:cs typeface="Trebuchet MS"/>
              </a:rPr>
              <a:t>organización </a:t>
            </a:r>
            <a:r>
              <a:rPr sz="2200" b="1" i="1" spc="-135" dirty="0">
                <a:latin typeface="Trebuchet MS"/>
                <a:cs typeface="Trebuchet MS"/>
              </a:rPr>
              <a:t>e </a:t>
            </a:r>
            <a:r>
              <a:rPr sz="2200" b="1" i="1" spc="-150" dirty="0">
                <a:latin typeface="Trebuchet MS"/>
                <a:cs typeface="Trebuchet MS"/>
              </a:rPr>
              <a:t>incorporado  </a:t>
            </a:r>
            <a:r>
              <a:rPr sz="2200" b="1" i="1" spc="-155" dirty="0">
                <a:latin typeface="Trebuchet MS"/>
                <a:cs typeface="Trebuchet MS"/>
              </a:rPr>
              <a:t>al </a:t>
            </a:r>
            <a:r>
              <a:rPr sz="2200" b="1" i="1" spc="-135" dirty="0">
                <a:latin typeface="Trebuchet MS"/>
                <a:cs typeface="Trebuchet MS"/>
              </a:rPr>
              <a:t>diseño </a:t>
            </a:r>
            <a:r>
              <a:rPr sz="2200" b="1" i="1" spc="-140" dirty="0">
                <a:latin typeface="Trebuchet MS"/>
                <a:cs typeface="Trebuchet MS"/>
              </a:rPr>
              <a:t>de </a:t>
            </a:r>
            <a:r>
              <a:rPr sz="2200" b="1" i="1" spc="-155" dirty="0">
                <a:latin typeface="Trebuchet MS"/>
                <a:cs typeface="Trebuchet MS"/>
              </a:rPr>
              <a:t>la </a:t>
            </a:r>
            <a:r>
              <a:rPr sz="2200" b="1" i="1" spc="-170" dirty="0">
                <a:latin typeface="Trebuchet MS"/>
                <a:cs typeface="Trebuchet MS"/>
              </a:rPr>
              <a:t>estructura, </a:t>
            </a:r>
            <a:r>
              <a:rPr sz="2200" b="1" i="1" spc="-145" dirty="0">
                <a:latin typeface="Trebuchet MS"/>
                <a:cs typeface="Trebuchet MS"/>
              </a:rPr>
              <a:t>de</a:t>
            </a:r>
            <a:r>
              <a:rPr sz="2200" b="1" i="1" spc="120" dirty="0">
                <a:latin typeface="Trebuchet MS"/>
                <a:cs typeface="Trebuchet MS"/>
              </a:rPr>
              <a:t> </a:t>
            </a:r>
            <a:r>
              <a:rPr sz="2200" b="1" i="1" spc="-140" dirty="0">
                <a:latin typeface="Trebuchet MS"/>
                <a:cs typeface="Trebuchet MS"/>
              </a:rPr>
              <a:t>los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541" y="3398266"/>
            <a:ext cx="551624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lnSpc>
                <a:spcPct val="100000"/>
              </a:lnSpc>
              <a:spcBef>
                <a:spcPts val="100"/>
              </a:spcBef>
            </a:pPr>
            <a:r>
              <a:rPr sz="2200" b="1" i="1" spc="-145" dirty="0">
                <a:latin typeface="Trebuchet MS"/>
                <a:cs typeface="Trebuchet MS"/>
              </a:rPr>
              <a:t>procedimientos </a:t>
            </a:r>
            <a:r>
              <a:rPr sz="2200" b="1" i="1" spc="-210" dirty="0">
                <a:latin typeface="Trebuchet MS"/>
                <a:cs typeface="Trebuchet MS"/>
              </a:rPr>
              <a:t>y </a:t>
            </a:r>
            <a:r>
              <a:rPr sz="2200" b="1" i="1" spc="-150" dirty="0">
                <a:latin typeface="Trebuchet MS"/>
                <a:cs typeface="Trebuchet MS"/>
              </a:rPr>
              <a:t>sistemas </a:t>
            </a:r>
            <a:r>
              <a:rPr sz="2200" b="1" i="1" spc="-160" dirty="0">
                <a:latin typeface="Trebuchet MS"/>
                <a:cs typeface="Trebuchet MS"/>
              </a:rPr>
              <a:t>administrativos,  </a:t>
            </a:r>
            <a:r>
              <a:rPr sz="2200" b="1" i="1" spc="-204" dirty="0">
                <a:latin typeface="Trebuchet MS"/>
                <a:cs typeface="Trebuchet MS"/>
              </a:rPr>
              <a:t>y </a:t>
            </a:r>
            <a:r>
              <a:rPr sz="2200" b="1" i="1" spc="-140" dirty="0">
                <a:latin typeface="Trebuchet MS"/>
                <a:cs typeface="Trebuchet MS"/>
              </a:rPr>
              <a:t>de </a:t>
            </a:r>
            <a:r>
              <a:rPr sz="2200" b="1" i="1" spc="-135" dirty="0">
                <a:latin typeface="Trebuchet MS"/>
                <a:cs typeface="Trebuchet MS"/>
              </a:rPr>
              <a:t>los</a:t>
            </a:r>
            <a:r>
              <a:rPr sz="2200" b="1" i="1" spc="-175" dirty="0">
                <a:latin typeface="Trebuchet MS"/>
                <a:cs typeface="Trebuchet MS"/>
              </a:rPr>
              <a:t> </a:t>
            </a:r>
            <a:r>
              <a:rPr sz="2200" b="1" i="1" spc="-105" dirty="0">
                <a:latin typeface="Trebuchet MS"/>
                <a:cs typeface="Trebuchet MS"/>
              </a:rPr>
              <a:t>SI;</a:t>
            </a:r>
            <a:endParaRPr sz="2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200" b="1" i="1" spc="-50" dirty="0">
                <a:latin typeface="Trebuchet MS"/>
                <a:cs typeface="Trebuchet MS"/>
              </a:rPr>
              <a:t>No </a:t>
            </a:r>
            <a:r>
              <a:rPr sz="2200" b="1" i="1" spc="-140" dirty="0">
                <a:latin typeface="Trebuchet MS"/>
                <a:cs typeface="Trebuchet MS"/>
              </a:rPr>
              <a:t>es </a:t>
            </a:r>
            <a:r>
              <a:rPr sz="2200" b="1" i="1" spc="-155" dirty="0">
                <a:latin typeface="Trebuchet MS"/>
                <a:cs typeface="Trebuchet MS"/>
              </a:rPr>
              <a:t>esporádico al </a:t>
            </a:r>
            <a:r>
              <a:rPr sz="2200" b="1" i="1" spc="-150" dirty="0">
                <a:latin typeface="Trebuchet MS"/>
                <a:cs typeface="Trebuchet MS"/>
              </a:rPr>
              <a:t>sistema </a:t>
            </a:r>
            <a:r>
              <a:rPr sz="2200" b="1" i="1" spc="-130" dirty="0">
                <a:latin typeface="Trebuchet MS"/>
                <a:cs typeface="Trebuchet MS"/>
              </a:rPr>
              <a:t>ni </a:t>
            </a:r>
            <a:r>
              <a:rPr sz="2200" b="1" i="1" spc="-145" dirty="0">
                <a:latin typeface="Trebuchet MS"/>
                <a:cs typeface="Trebuchet MS"/>
              </a:rPr>
              <a:t>a </a:t>
            </a:r>
            <a:r>
              <a:rPr sz="2200" b="1" i="1" spc="-155" dirty="0">
                <a:latin typeface="Trebuchet MS"/>
                <a:cs typeface="Trebuchet MS"/>
              </a:rPr>
              <a:t>la</a:t>
            </a:r>
            <a:r>
              <a:rPr sz="2200" b="1" i="1" spc="-425" dirty="0">
                <a:latin typeface="Trebuchet MS"/>
                <a:cs typeface="Trebuchet MS"/>
              </a:rPr>
              <a:t> </a:t>
            </a:r>
            <a:r>
              <a:rPr sz="2200" b="1" i="1" spc="-155" dirty="0">
                <a:latin typeface="Trebuchet MS"/>
                <a:cs typeface="Trebuchet MS"/>
              </a:rPr>
              <a:t>empresa;</a:t>
            </a:r>
            <a:endParaRPr sz="2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  <a:tab pos="1377315" algn="l"/>
              </a:tabLst>
            </a:pPr>
            <a:r>
              <a:rPr sz="2200" b="1" i="1" spc="-135" dirty="0">
                <a:latin typeface="Trebuchet MS"/>
                <a:cs typeface="Trebuchet MS"/>
              </a:rPr>
              <a:t>Implica	</a:t>
            </a:r>
            <a:r>
              <a:rPr sz="2200" b="1" i="1" spc="-175" dirty="0">
                <a:latin typeface="Trebuchet MS"/>
                <a:cs typeface="Trebuchet MS"/>
              </a:rPr>
              <a:t>eficacia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9511" y="4404360"/>
            <a:ext cx="30886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4345" algn="l"/>
                <a:tab pos="976630" algn="l"/>
                <a:tab pos="2943860" algn="l"/>
              </a:tabLst>
            </a:pPr>
            <a:r>
              <a:rPr sz="2200" b="1" i="1" spc="-110" dirty="0">
                <a:latin typeface="Trebuchet MS"/>
                <a:cs typeface="Trebuchet MS"/>
              </a:rPr>
              <a:t>e</a:t>
            </a:r>
            <a:r>
              <a:rPr sz="2200" b="1" i="1" spc="-105" dirty="0">
                <a:latin typeface="Trebuchet MS"/>
                <a:cs typeface="Trebuchet MS"/>
              </a:rPr>
              <a:t>n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75" dirty="0">
                <a:latin typeface="Trebuchet MS"/>
                <a:cs typeface="Trebuchet MS"/>
              </a:rPr>
              <a:t>l</a:t>
            </a:r>
            <a:r>
              <a:rPr sz="2200" b="1" i="1" spc="-135" dirty="0">
                <a:latin typeface="Trebuchet MS"/>
                <a:cs typeface="Trebuchet MS"/>
              </a:rPr>
              <a:t>o</a:t>
            </a:r>
            <a:r>
              <a:rPr sz="2200" b="1" i="1" spc="-105" dirty="0">
                <a:latin typeface="Trebuchet MS"/>
                <a:cs typeface="Trebuchet MS"/>
              </a:rPr>
              <a:t>s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65" dirty="0">
                <a:latin typeface="Trebuchet MS"/>
                <a:cs typeface="Trebuchet MS"/>
              </a:rPr>
              <a:t>pro</a:t>
            </a:r>
            <a:r>
              <a:rPr sz="2200" b="1" i="1" spc="-160" dirty="0">
                <a:latin typeface="Trebuchet MS"/>
                <a:cs typeface="Trebuchet MS"/>
              </a:rPr>
              <a:t>c</a:t>
            </a:r>
            <a:r>
              <a:rPr sz="2200" b="1" i="1" spc="-185" dirty="0">
                <a:latin typeface="Trebuchet MS"/>
                <a:cs typeface="Trebuchet MS"/>
              </a:rPr>
              <a:t>ed</a:t>
            </a:r>
            <a:r>
              <a:rPr sz="2200" b="1" i="1" spc="-114" dirty="0">
                <a:latin typeface="Trebuchet MS"/>
                <a:cs typeface="Trebuchet MS"/>
              </a:rPr>
              <a:t>i</a:t>
            </a:r>
            <a:r>
              <a:rPr sz="2200" b="1" i="1" spc="-170" dirty="0">
                <a:latin typeface="Trebuchet MS"/>
                <a:cs typeface="Trebuchet MS"/>
              </a:rPr>
              <a:t>m</a:t>
            </a:r>
            <a:r>
              <a:rPr sz="2200" b="1" i="1" spc="-85" dirty="0">
                <a:latin typeface="Trebuchet MS"/>
                <a:cs typeface="Trebuchet MS"/>
              </a:rPr>
              <a:t>i</a:t>
            </a:r>
            <a:r>
              <a:rPr sz="2200" b="1" i="1" spc="-140" dirty="0">
                <a:latin typeface="Trebuchet MS"/>
                <a:cs typeface="Trebuchet MS"/>
              </a:rPr>
              <a:t>ento</a:t>
            </a:r>
            <a:r>
              <a:rPr sz="2200" b="1" i="1" spc="-114" dirty="0">
                <a:latin typeface="Trebuchet MS"/>
                <a:cs typeface="Trebuchet MS"/>
              </a:rPr>
              <a:t>s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210" dirty="0">
                <a:latin typeface="Trebuchet MS"/>
                <a:cs typeface="Trebuchet MS"/>
              </a:rPr>
              <a:t>y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2541" y="4739640"/>
            <a:ext cx="551497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>
              <a:lnSpc>
                <a:spcPct val="100000"/>
              </a:lnSpc>
              <a:spcBef>
                <a:spcPts val="100"/>
              </a:spcBef>
            </a:pPr>
            <a:r>
              <a:rPr sz="2200" b="1" i="1" spc="-155" dirty="0">
                <a:latin typeface="Trebuchet MS"/>
                <a:cs typeface="Trebuchet MS"/>
              </a:rPr>
              <a:t>controles, </a:t>
            </a:r>
            <a:r>
              <a:rPr sz="2200" b="1" i="1" spc="-165" dirty="0">
                <a:latin typeface="Trebuchet MS"/>
                <a:cs typeface="Trebuchet MS"/>
              </a:rPr>
              <a:t>eficiencia </a:t>
            </a:r>
            <a:r>
              <a:rPr sz="2200" b="1" i="1" spc="-175" dirty="0">
                <a:latin typeface="Trebuchet MS"/>
                <a:cs typeface="Trebuchet MS"/>
              </a:rPr>
              <a:t>operativa, </a:t>
            </a:r>
            <a:r>
              <a:rPr sz="2200" b="1" i="1" spc="-135" dirty="0">
                <a:latin typeface="Trebuchet MS"/>
                <a:cs typeface="Trebuchet MS"/>
              </a:rPr>
              <a:t>seguridad </a:t>
            </a:r>
            <a:r>
              <a:rPr sz="2200" b="1" i="1" spc="-114" dirty="0">
                <a:latin typeface="Trebuchet MS"/>
                <a:cs typeface="Trebuchet MS"/>
              </a:rPr>
              <a:t>en  </a:t>
            </a:r>
            <a:r>
              <a:rPr sz="2200" b="1" i="1" spc="-155" dirty="0">
                <a:latin typeface="Trebuchet MS"/>
                <a:cs typeface="Trebuchet MS"/>
              </a:rPr>
              <a:t>la</a:t>
            </a:r>
            <a:r>
              <a:rPr sz="2200" b="1" i="1" spc="-170" dirty="0">
                <a:latin typeface="Trebuchet MS"/>
                <a:cs typeface="Trebuchet MS"/>
              </a:rPr>
              <a:t> </a:t>
            </a:r>
            <a:r>
              <a:rPr sz="2200" b="1" i="1" spc="-145" dirty="0">
                <a:latin typeface="Trebuchet MS"/>
                <a:cs typeface="Trebuchet MS"/>
              </a:rPr>
              <a:t>información;</a:t>
            </a:r>
            <a:endParaRPr sz="22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  <a:tab pos="1238885" algn="l"/>
                <a:tab pos="1584960" algn="l"/>
                <a:tab pos="3518535" algn="l"/>
                <a:tab pos="4200525" algn="l"/>
              </a:tabLst>
            </a:pPr>
            <a:r>
              <a:rPr sz="2200" b="1" i="1" spc="-155" dirty="0">
                <a:latin typeface="Trebuchet MS"/>
                <a:cs typeface="Trebuchet MS"/>
              </a:rPr>
              <a:t>Uti</a:t>
            </a:r>
            <a:r>
              <a:rPr sz="2200" b="1" i="1" spc="-114" dirty="0">
                <a:latin typeface="Trebuchet MS"/>
                <a:cs typeface="Trebuchet MS"/>
              </a:rPr>
              <a:t>l</a:t>
            </a:r>
            <a:r>
              <a:rPr sz="2200" b="1" i="1" spc="-210" dirty="0">
                <a:latin typeface="Trebuchet MS"/>
                <a:cs typeface="Trebuchet MS"/>
              </a:rPr>
              <a:t>iza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95" dirty="0">
                <a:latin typeface="Trebuchet MS"/>
                <a:cs typeface="Trebuchet MS"/>
              </a:rPr>
              <a:t>e</a:t>
            </a:r>
            <a:r>
              <a:rPr sz="2200" b="1" i="1" spc="-110" dirty="0">
                <a:latin typeface="Trebuchet MS"/>
                <a:cs typeface="Trebuchet MS"/>
              </a:rPr>
              <a:t>l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90" dirty="0">
                <a:latin typeface="Trebuchet MS"/>
                <a:cs typeface="Trebuchet MS"/>
              </a:rPr>
              <a:t>c</a:t>
            </a:r>
            <a:r>
              <a:rPr sz="2200" b="1" i="1" spc="-100" dirty="0">
                <a:latin typeface="Trebuchet MS"/>
                <a:cs typeface="Trebuchet MS"/>
              </a:rPr>
              <a:t>osto/</a:t>
            </a:r>
            <a:r>
              <a:rPr sz="2200" b="1" i="1" spc="-135" dirty="0">
                <a:latin typeface="Trebuchet MS"/>
                <a:cs typeface="Trebuchet MS"/>
              </a:rPr>
              <a:t>b</a:t>
            </a:r>
            <a:r>
              <a:rPr sz="2200" b="1" i="1" spc="-145" dirty="0">
                <a:latin typeface="Trebuchet MS"/>
                <a:cs typeface="Trebuchet MS"/>
              </a:rPr>
              <a:t>e</a:t>
            </a:r>
            <a:r>
              <a:rPr sz="2200" b="1" i="1" spc="-175" dirty="0">
                <a:latin typeface="Trebuchet MS"/>
                <a:cs typeface="Trebuchet MS"/>
              </a:rPr>
              <a:t>nefic</a:t>
            </a:r>
            <a:r>
              <a:rPr sz="2200" b="1" i="1" spc="-130" dirty="0">
                <a:latin typeface="Trebuchet MS"/>
                <a:cs typeface="Trebuchet MS"/>
              </a:rPr>
              <a:t>i</a:t>
            </a:r>
            <a:r>
              <a:rPr sz="2200" b="1" i="1" spc="-95" dirty="0">
                <a:latin typeface="Trebuchet MS"/>
                <a:cs typeface="Trebuchet MS"/>
              </a:rPr>
              <a:t>o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65" dirty="0">
                <a:latin typeface="Trebuchet MS"/>
                <a:cs typeface="Trebuchet MS"/>
              </a:rPr>
              <a:t>para</a:t>
            </a:r>
            <a:r>
              <a:rPr sz="2200" b="1" i="1" dirty="0">
                <a:latin typeface="Trebuchet MS"/>
                <a:cs typeface="Trebuchet MS"/>
              </a:rPr>
              <a:t>	</a:t>
            </a:r>
            <a:r>
              <a:rPr sz="2200" b="1" i="1" spc="-175" dirty="0">
                <a:latin typeface="Trebuchet MS"/>
                <a:cs typeface="Trebuchet MS"/>
              </a:rPr>
              <a:t>de</a:t>
            </a:r>
            <a:r>
              <a:rPr sz="2200" b="1" i="1" spc="-145" dirty="0">
                <a:latin typeface="Trebuchet MS"/>
                <a:cs typeface="Trebuchet MS"/>
              </a:rPr>
              <a:t>t</a:t>
            </a:r>
            <a:r>
              <a:rPr sz="2200" b="1" i="1" spc="-195" dirty="0">
                <a:latin typeface="Trebuchet MS"/>
                <a:cs typeface="Trebuchet MS"/>
              </a:rPr>
              <a:t>e</a:t>
            </a:r>
            <a:r>
              <a:rPr sz="2200" b="1" i="1" spc="-165" dirty="0">
                <a:latin typeface="Trebuchet MS"/>
                <a:cs typeface="Trebuchet MS"/>
              </a:rPr>
              <a:t>r</a:t>
            </a:r>
            <a:r>
              <a:rPr sz="2200" b="1" i="1" spc="-170" dirty="0">
                <a:latin typeface="Trebuchet MS"/>
                <a:cs typeface="Trebuchet MS"/>
              </a:rPr>
              <a:t>m</a:t>
            </a:r>
            <a:r>
              <a:rPr sz="2200" b="1" i="1" spc="-80" dirty="0">
                <a:latin typeface="Trebuchet MS"/>
                <a:cs typeface="Trebuchet MS"/>
              </a:rPr>
              <a:t>i</a:t>
            </a:r>
            <a:r>
              <a:rPr sz="2200" b="1" i="1" spc="-135" dirty="0">
                <a:latin typeface="Trebuchet MS"/>
                <a:cs typeface="Trebuchet MS"/>
              </a:rPr>
              <a:t>nar </a:t>
            </a:r>
            <a:r>
              <a:rPr sz="2200" b="1" i="1" spc="-85" dirty="0">
                <a:latin typeface="Trebuchet MS"/>
                <a:cs typeface="Trebuchet MS"/>
              </a:rPr>
              <a:t> </a:t>
            </a:r>
            <a:r>
              <a:rPr sz="2200" b="1" i="1" spc="-135" dirty="0">
                <a:latin typeface="Trebuchet MS"/>
                <a:cs typeface="Trebuchet MS"/>
              </a:rPr>
              <a:t>los </a:t>
            </a:r>
            <a:r>
              <a:rPr sz="2200" b="1" i="1" spc="-145" dirty="0">
                <a:latin typeface="Trebuchet MS"/>
                <a:cs typeface="Trebuchet MS"/>
              </a:rPr>
              <a:t>controles a</a:t>
            </a:r>
            <a:r>
              <a:rPr sz="2200" b="1" i="1" spc="-254" dirty="0">
                <a:latin typeface="Trebuchet MS"/>
                <a:cs typeface="Trebuchet MS"/>
              </a:rPr>
              <a:t> </a:t>
            </a:r>
            <a:r>
              <a:rPr sz="2200" b="1" i="1" spc="-165" dirty="0">
                <a:latin typeface="Trebuchet MS"/>
                <a:cs typeface="Trebuchet MS"/>
              </a:rPr>
              <a:t>hacer.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96000" y="1457705"/>
            <a:ext cx="2743200" cy="2357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172200" y="3743705"/>
            <a:ext cx="2662428" cy="20474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704" y="1295400"/>
            <a:ext cx="8540750" cy="1295400"/>
          </a:xfrm>
          <a:custGeom>
            <a:avLst/>
            <a:gdLst/>
            <a:ahLst/>
            <a:cxnLst/>
            <a:rect l="l" t="t" r="r" b="b"/>
            <a:pathLst>
              <a:path w="8540750" h="1295400">
                <a:moveTo>
                  <a:pt x="0" y="74929"/>
                </a:moveTo>
                <a:lnTo>
                  <a:pt x="5885" y="45755"/>
                </a:lnTo>
                <a:lnTo>
                  <a:pt x="21934" y="21939"/>
                </a:lnTo>
                <a:lnTo>
                  <a:pt x="45739" y="5885"/>
                </a:lnTo>
                <a:lnTo>
                  <a:pt x="74891" y="0"/>
                </a:lnTo>
                <a:lnTo>
                  <a:pt x="8465566" y="0"/>
                </a:lnTo>
                <a:lnTo>
                  <a:pt x="8494740" y="5885"/>
                </a:lnTo>
                <a:lnTo>
                  <a:pt x="8518556" y="21939"/>
                </a:lnTo>
                <a:lnTo>
                  <a:pt x="8534610" y="45755"/>
                </a:lnTo>
                <a:lnTo>
                  <a:pt x="8540496" y="74929"/>
                </a:lnTo>
                <a:lnTo>
                  <a:pt x="8540496" y="1220470"/>
                </a:lnTo>
                <a:lnTo>
                  <a:pt x="8534610" y="1249644"/>
                </a:lnTo>
                <a:lnTo>
                  <a:pt x="8518556" y="1273460"/>
                </a:lnTo>
                <a:lnTo>
                  <a:pt x="8494740" y="1289514"/>
                </a:lnTo>
                <a:lnTo>
                  <a:pt x="8465566" y="1295400"/>
                </a:lnTo>
                <a:lnTo>
                  <a:pt x="74891" y="1295400"/>
                </a:lnTo>
                <a:lnTo>
                  <a:pt x="45739" y="1289514"/>
                </a:lnTo>
                <a:lnTo>
                  <a:pt x="21934" y="1273460"/>
                </a:lnTo>
                <a:lnTo>
                  <a:pt x="5885" y="1249644"/>
                </a:lnTo>
                <a:lnTo>
                  <a:pt x="0" y="1220470"/>
                </a:lnTo>
                <a:lnTo>
                  <a:pt x="0" y="7492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5750" y="1378965"/>
            <a:ext cx="8415020" cy="469679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73990" marR="5080" indent="-1905" algn="ctr">
              <a:lnSpc>
                <a:spcPts val="2590"/>
              </a:lnSpc>
              <a:spcBef>
                <a:spcPts val="425"/>
              </a:spcBef>
            </a:pPr>
            <a:r>
              <a:rPr sz="2400" b="1" spc="-95" dirty="0">
                <a:latin typeface="Trebuchet MS"/>
                <a:cs typeface="Trebuchet MS"/>
              </a:rPr>
              <a:t>Un </a:t>
            </a:r>
            <a:r>
              <a:rPr sz="24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Riesgo</a:t>
            </a:r>
            <a:r>
              <a:rPr sz="2400" b="1" spc="-105" dirty="0">
                <a:latin typeface="Trebuchet MS"/>
                <a:cs typeface="Trebuchet MS"/>
              </a:rPr>
              <a:t> </a:t>
            </a:r>
            <a:r>
              <a:rPr sz="2400" b="1" spc="-130" dirty="0">
                <a:latin typeface="Trebuchet MS"/>
                <a:cs typeface="Trebuchet MS"/>
              </a:rPr>
              <a:t>es un </a:t>
            </a:r>
            <a:r>
              <a:rPr sz="2400" b="1" spc="-170" dirty="0">
                <a:latin typeface="Trebuchet MS"/>
                <a:cs typeface="Trebuchet MS"/>
              </a:rPr>
              <a:t>hecho, </a:t>
            </a:r>
            <a:r>
              <a:rPr sz="2400" b="1" spc="-120" dirty="0">
                <a:latin typeface="Trebuchet MS"/>
                <a:cs typeface="Trebuchet MS"/>
              </a:rPr>
              <a:t>una </a:t>
            </a:r>
            <a:r>
              <a:rPr sz="2400" b="1" spc="-150" dirty="0">
                <a:latin typeface="Trebuchet MS"/>
                <a:cs typeface="Trebuchet MS"/>
              </a:rPr>
              <a:t>acción </a:t>
            </a:r>
            <a:r>
              <a:rPr sz="2400" b="1" spc="-70" dirty="0">
                <a:latin typeface="Trebuchet MS"/>
                <a:cs typeface="Trebuchet MS"/>
              </a:rPr>
              <a:t>o </a:t>
            </a:r>
            <a:r>
              <a:rPr sz="2400" b="1" spc="-120" dirty="0">
                <a:latin typeface="Trebuchet MS"/>
                <a:cs typeface="Trebuchet MS"/>
              </a:rPr>
              <a:t>una </a:t>
            </a:r>
            <a:r>
              <a:rPr sz="2400" b="1" spc="-105" dirty="0">
                <a:latin typeface="Trebuchet MS"/>
                <a:cs typeface="Trebuchet MS"/>
              </a:rPr>
              <a:t>omisión </a:t>
            </a:r>
            <a:r>
              <a:rPr sz="2400" b="1" spc="-140" dirty="0">
                <a:latin typeface="Trebuchet MS"/>
                <a:cs typeface="Trebuchet MS"/>
              </a:rPr>
              <a:t>que </a:t>
            </a:r>
            <a:r>
              <a:rPr sz="2400" b="1" spc="-114" dirty="0">
                <a:latin typeface="Trebuchet MS"/>
                <a:cs typeface="Trebuchet MS"/>
              </a:rPr>
              <a:t>podría  </a:t>
            </a:r>
            <a:r>
              <a:rPr sz="2400" b="1" spc="-145" dirty="0">
                <a:latin typeface="Trebuchet MS"/>
                <a:cs typeface="Trebuchet MS"/>
              </a:rPr>
              <a:t>afectar </a:t>
            </a:r>
            <a:r>
              <a:rPr sz="2400" b="1" spc="-130" dirty="0">
                <a:latin typeface="Trebuchet MS"/>
                <a:cs typeface="Trebuchet MS"/>
              </a:rPr>
              <a:t>adversamente </a:t>
            </a:r>
            <a:r>
              <a:rPr sz="2400" b="1" spc="-110" dirty="0">
                <a:latin typeface="Trebuchet MS"/>
                <a:cs typeface="Trebuchet MS"/>
              </a:rPr>
              <a:t>la </a:t>
            </a:r>
            <a:r>
              <a:rPr sz="2400" b="1" spc="-135" dirty="0">
                <a:latin typeface="Trebuchet MS"/>
                <a:cs typeface="Trebuchet MS"/>
              </a:rPr>
              <a:t>capacidad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20" dirty="0">
                <a:latin typeface="Trebuchet MS"/>
                <a:cs typeface="Trebuchet MS"/>
              </a:rPr>
              <a:t>una </a:t>
            </a:r>
            <a:r>
              <a:rPr sz="2400" b="1" spc="-140" dirty="0">
                <a:latin typeface="Trebuchet MS"/>
                <a:cs typeface="Trebuchet MS"/>
              </a:rPr>
              <a:t>organización de</a:t>
            </a:r>
            <a:r>
              <a:rPr sz="2400" b="1" spc="-525" dirty="0">
                <a:latin typeface="Trebuchet MS"/>
                <a:cs typeface="Trebuchet MS"/>
              </a:rPr>
              <a:t> </a:t>
            </a:r>
            <a:r>
              <a:rPr sz="2400" b="1" spc="-120" dirty="0">
                <a:latin typeface="Trebuchet MS"/>
                <a:cs typeface="Trebuchet MS"/>
              </a:rPr>
              <a:t>lograr  </a:t>
            </a:r>
            <a:r>
              <a:rPr sz="2400" b="1" spc="-95" dirty="0">
                <a:latin typeface="Trebuchet MS"/>
                <a:cs typeface="Trebuchet MS"/>
              </a:rPr>
              <a:t>sus </a:t>
            </a:r>
            <a:r>
              <a:rPr sz="2400" b="1" spc="-130" dirty="0">
                <a:latin typeface="Trebuchet MS"/>
                <a:cs typeface="Trebuchet MS"/>
              </a:rPr>
              <a:t>objetivos </a:t>
            </a:r>
            <a:r>
              <a:rPr sz="2400" b="1" spc="-140" dirty="0">
                <a:latin typeface="Trebuchet MS"/>
                <a:cs typeface="Trebuchet MS"/>
              </a:rPr>
              <a:t>de </a:t>
            </a:r>
            <a:r>
              <a:rPr sz="2400" b="1" spc="-120" dirty="0">
                <a:latin typeface="Trebuchet MS"/>
                <a:cs typeface="Trebuchet MS"/>
              </a:rPr>
              <a:t>negocios </a:t>
            </a:r>
            <a:r>
              <a:rPr sz="2400" b="1" spc="-145" dirty="0">
                <a:latin typeface="Trebuchet MS"/>
                <a:cs typeface="Trebuchet MS"/>
              </a:rPr>
              <a:t>y </a:t>
            </a:r>
            <a:r>
              <a:rPr sz="2400" b="1" spc="-175" dirty="0">
                <a:latin typeface="Trebuchet MS"/>
                <a:cs typeface="Trebuchet MS"/>
              </a:rPr>
              <a:t>ejecutar </a:t>
            </a:r>
            <a:r>
              <a:rPr sz="2400" b="1" spc="-95" dirty="0">
                <a:latin typeface="Trebuchet MS"/>
                <a:cs typeface="Trebuchet MS"/>
              </a:rPr>
              <a:t>sus</a:t>
            </a:r>
            <a:r>
              <a:rPr sz="2400" b="1" spc="-530" dirty="0">
                <a:latin typeface="Trebuchet MS"/>
                <a:cs typeface="Trebuchet MS"/>
              </a:rPr>
              <a:t> </a:t>
            </a:r>
            <a:r>
              <a:rPr sz="2400" b="1" spc="-125" dirty="0">
                <a:latin typeface="Trebuchet MS"/>
                <a:cs typeface="Trebuchet MS"/>
              </a:rPr>
              <a:t>estrategias </a:t>
            </a:r>
            <a:r>
              <a:rPr sz="2400" b="1" spc="-145" dirty="0">
                <a:latin typeface="Trebuchet MS"/>
                <a:cs typeface="Trebuchet MS"/>
              </a:rPr>
              <a:t>con </a:t>
            </a:r>
            <a:r>
              <a:rPr sz="2400" b="1" spc="-165" dirty="0">
                <a:latin typeface="Trebuchet MS"/>
                <a:cs typeface="Trebuchet MS"/>
              </a:rPr>
              <a:t>éxito.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50" dirty="0">
              <a:latin typeface="Times New Roman"/>
              <a:cs typeface="Times New Roman"/>
            </a:endParaRPr>
          </a:p>
          <a:p>
            <a:pPr marL="328930" indent="-316230">
              <a:lnSpc>
                <a:spcPct val="100000"/>
              </a:lnSpc>
              <a:buClr>
                <a:srgbClr val="009999"/>
              </a:buClr>
              <a:buChar char="•"/>
              <a:tabLst>
                <a:tab pos="434340" algn="l"/>
                <a:tab pos="434975" algn="l"/>
              </a:tabLst>
            </a:pPr>
            <a:r>
              <a:rPr sz="2000" spc="-155" dirty="0">
                <a:latin typeface="Arial"/>
                <a:cs typeface="Arial"/>
              </a:rPr>
              <a:t>Riesgo </a:t>
            </a:r>
            <a:r>
              <a:rPr sz="2000" spc="-175" dirty="0">
                <a:latin typeface="Arial"/>
                <a:cs typeface="Arial"/>
              </a:rPr>
              <a:t>= </a:t>
            </a:r>
            <a:r>
              <a:rPr sz="2000" spc="-125" dirty="0">
                <a:latin typeface="Arial"/>
                <a:cs typeface="Arial"/>
              </a:rPr>
              <a:t>"¿Qué </a:t>
            </a:r>
            <a:r>
              <a:rPr sz="2000" spc="-90" dirty="0">
                <a:latin typeface="Arial"/>
                <a:cs typeface="Arial"/>
              </a:rPr>
              <a:t>puede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fallar?"</a:t>
            </a:r>
            <a:endParaRPr sz="2000" dirty="0">
              <a:latin typeface="Arial"/>
              <a:cs typeface="Arial"/>
            </a:endParaRPr>
          </a:p>
          <a:p>
            <a:pPr marL="328930" indent="-316230">
              <a:lnSpc>
                <a:spcPct val="100000"/>
              </a:lnSpc>
              <a:spcBef>
                <a:spcPts val="480"/>
              </a:spcBef>
              <a:buClr>
                <a:srgbClr val="009999"/>
              </a:buClr>
              <a:buChar char="•"/>
              <a:tabLst>
                <a:tab pos="434340" algn="l"/>
                <a:tab pos="434975" algn="l"/>
              </a:tabLst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90" dirty="0">
                <a:latin typeface="Arial"/>
                <a:cs typeface="Arial"/>
              </a:rPr>
              <a:t>riesgo </a:t>
            </a:r>
            <a:r>
              <a:rPr sz="2000" spc="-65" dirty="0">
                <a:latin typeface="Arial"/>
                <a:cs typeface="Arial"/>
              </a:rPr>
              <a:t>no </a:t>
            </a:r>
            <a:r>
              <a:rPr sz="2000" spc="-120" dirty="0">
                <a:latin typeface="Arial"/>
                <a:cs typeface="Arial"/>
              </a:rPr>
              <a:t>desaparece </a:t>
            </a:r>
            <a:r>
              <a:rPr sz="2000" spc="-35" dirty="0">
                <a:latin typeface="Arial"/>
                <a:cs typeface="Arial"/>
              </a:rPr>
              <a:t>por </a:t>
            </a:r>
            <a:r>
              <a:rPr sz="2000" spc="-150" dirty="0">
                <a:latin typeface="Arial"/>
                <a:cs typeface="Arial"/>
              </a:rPr>
              <a:t>más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00" dirty="0">
                <a:latin typeface="Arial"/>
                <a:cs typeface="Arial"/>
              </a:rPr>
              <a:t>exista </a:t>
            </a:r>
            <a:r>
              <a:rPr sz="2000" spc="-70" dirty="0">
                <a:latin typeface="Arial"/>
                <a:cs typeface="Arial"/>
              </a:rPr>
              <a:t>un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40" dirty="0">
                <a:latin typeface="Arial"/>
                <a:cs typeface="Arial"/>
              </a:rPr>
              <a:t>control</a:t>
            </a:r>
            <a:endParaRPr sz="2000" dirty="0">
              <a:latin typeface="Arial"/>
              <a:cs typeface="Arial"/>
            </a:endParaRPr>
          </a:p>
          <a:p>
            <a:pPr marL="328930" indent="-316230">
              <a:lnSpc>
                <a:spcPct val="100000"/>
              </a:lnSpc>
              <a:spcBef>
                <a:spcPts val="480"/>
              </a:spcBef>
              <a:buClr>
                <a:srgbClr val="009999"/>
              </a:buClr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sz="2000" b="1" spc="-145" dirty="0">
                <a:latin typeface="Trebuchet MS"/>
                <a:cs typeface="Trebuchet MS"/>
              </a:rPr>
              <a:t>¡La </a:t>
            </a:r>
            <a:r>
              <a:rPr sz="2000" b="1" spc="-110" dirty="0">
                <a:latin typeface="Trebuchet MS"/>
                <a:cs typeface="Trebuchet MS"/>
              </a:rPr>
              <a:t>ausencia </a:t>
            </a:r>
            <a:r>
              <a:rPr sz="2000" b="1" spc="-120" dirty="0">
                <a:latin typeface="Trebuchet MS"/>
                <a:cs typeface="Trebuchet MS"/>
              </a:rPr>
              <a:t>de control </a:t>
            </a:r>
            <a:r>
              <a:rPr sz="2000" b="1" spc="-85" dirty="0">
                <a:latin typeface="Trebuchet MS"/>
                <a:cs typeface="Trebuchet MS"/>
              </a:rPr>
              <a:t>no </a:t>
            </a:r>
            <a:r>
              <a:rPr sz="2000" b="1" spc="-110" dirty="0">
                <a:latin typeface="Trebuchet MS"/>
                <a:cs typeface="Trebuchet MS"/>
              </a:rPr>
              <a:t>es un</a:t>
            </a:r>
            <a:r>
              <a:rPr sz="2000" b="1" spc="-355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riesgo!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009999"/>
              </a:buClr>
              <a:buFont typeface="Arial"/>
              <a:buChar char="•"/>
            </a:pP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spc="-260" dirty="0">
                <a:latin typeface="Arial"/>
                <a:cs typeface="Arial"/>
              </a:rPr>
              <a:t>La </a:t>
            </a:r>
            <a:r>
              <a:rPr sz="2400" spc="-105" dirty="0">
                <a:latin typeface="Arial"/>
                <a:cs typeface="Arial"/>
              </a:rPr>
              <a:t>evaluación </a:t>
            </a:r>
            <a:r>
              <a:rPr sz="2400" spc="-114" dirty="0">
                <a:latin typeface="Arial"/>
                <a:cs typeface="Arial"/>
              </a:rPr>
              <a:t>general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10" dirty="0">
                <a:latin typeface="Arial"/>
                <a:cs typeface="Arial"/>
              </a:rPr>
              <a:t>riesgo depende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de:</a:t>
            </a:r>
            <a:endParaRPr sz="2400" dirty="0">
              <a:latin typeface="Arial"/>
              <a:cs typeface="Arial"/>
            </a:endParaRPr>
          </a:p>
          <a:p>
            <a:pPr marL="328930" indent="-316230">
              <a:lnSpc>
                <a:spcPct val="100000"/>
              </a:lnSpc>
              <a:spcBef>
                <a:spcPts val="869"/>
              </a:spcBef>
              <a:buClr>
                <a:srgbClr val="009999"/>
              </a:buClr>
              <a:buChar char="•"/>
              <a:tabLst>
                <a:tab pos="328295" algn="l"/>
                <a:tab pos="328930" algn="l"/>
              </a:tabLst>
            </a:pPr>
            <a:r>
              <a:rPr sz="2000" spc="-220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probabilidad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75" dirty="0">
                <a:latin typeface="Arial"/>
                <a:cs typeface="Arial"/>
              </a:rPr>
              <a:t>se</a:t>
            </a:r>
            <a:r>
              <a:rPr lang="es-AR" sz="2000" spc="-175" dirty="0">
                <a:latin typeface="Arial"/>
                <a:cs typeface="Arial"/>
              </a:rPr>
              <a:t> </a:t>
            </a:r>
            <a:r>
              <a:rPr sz="2000" spc="-38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materialice</a:t>
            </a:r>
            <a:endParaRPr sz="2000" dirty="0">
              <a:latin typeface="Arial"/>
              <a:cs typeface="Arial"/>
            </a:endParaRPr>
          </a:p>
          <a:p>
            <a:pPr marL="328930" marR="21590" indent="-316230">
              <a:lnSpc>
                <a:spcPct val="100000"/>
              </a:lnSpc>
              <a:spcBef>
                <a:spcPts val="840"/>
              </a:spcBef>
              <a:buClr>
                <a:srgbClr val="009999"/>
              </a:buClr>
              <a:buChar char="•"/>
              <a:tabLst>
                <a:tab pos="328295" algn="l"/>
                <a:tab pos="328930" algn="l"/>
              </a:tabLst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85" dirty="0">
                <a:latin typeface="Arial"/>
                <a:cs typeface="Arial"/>
              </a:rPr>
              <a:t>consiguiente </a:t>
            </a:r>
            <a:r>
              <a:rPr sz="2000" spc="-60" dirty="0">
                <a:latin typeface="Arial"/>
                <a:cs typeface="Arial"/>
              </a:rPr>
              <a:t>impacto del </a:t>
            </a:r>
            <a:r>
              <a:rPr sz="2000" spc="-95" dirty="0">
                <a:latin typeface="Arial"/>
                <a:cs typeface="Arial"/>
              </a:rPr>
              <a:t>riesgo sobre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00" dirty="0">
                <a:latin typeface="Arial"/>
                <a:cs typeface="Arial"/>
              </a:rPr>
              <a:t>ingresos,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reputación, </a:t>
            </a:r>
            <a:r>
              <a:rPr sz="2000" spc="-75" dirty="0">
                <a:latin typeface="Arial"/>
                <a:cs typeface="Arial"/>
              </a:rPr>
              <a:t>la emisión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información,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50" dirty="0">
                <a:latin typeface="Arial"/>
                <a:cs typeface="Arial"/>
              </a:rPr>
              <a:t>otros</a:t>
            </a:r>
            <a:r>
              <a:rPr sz="2000" spc="-21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aspectos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38</a:t>
            </a:fld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Antecedentes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fundamentales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5750" y="1378965"/>
            <a:ext cx="8415020" cy="187551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73990" marR="5080" indent="-1905">
              <a:lnSpc>
                <a:spcPts val="2590"/>
              </a:lnSpc>
              <a:spcBef>
                <a:spcPts val="425"/>
              </a:spcBef>
            </a:pPr>
            <a:r>
              <a:rPr lang="es-AR" sz="2400" b="1" spc="-95" dirty="0">
                <a:latin typeface="Trebuchet MS"/>
                <a:cs typeface="Trebuchet MS"/>
              </a:rPr>
              <a:t>Pensar 4 riesgos, dos que pueden ocurrir en la vida diaria y dos riesgos a los que está expuesto una empresa.</a:t>
            </a:r>
          </a:p>
          <a:p>
            <a:pPr marL="173990" marR="5080" indent="-1905">
              <a:lnSpc>
                <a:spcPts val="2590"/>
              </a:lnSpc>
              <a:spcBef>
                <a:spcPts val="425"/>
              </a:spcBef>
            </a:pPr>
            <a:endParaRPr lang="es-AR" sz="2400" b="1" spc="-95" dirty="0">
              <a:latin typeface="Trebuchet MS"/>
              <a:cs typeface="Trebuchet MS"/>
            </a:endParaRPr>
          </a:p>
          <a:p>
            <a:pPr marL="173990" marR="5080" indent="-1905">
              <a:lnSpc>
                <a:spcPts val="2590"/>
              </a:lnSpc>
              <a:spcBef>
                <a:spcPts val="425"/>
              </a:spcBef>
            </a:pPr>
            <a:endParaRPr lang="es-AR" sz="2400" b="1" spc="-95" dirty="0">
              <a:latin typeface="Trebuchet MS"/>
              <a:cs typeface="Trebuchet MS"/>
            </a:endParaRPr>
          </a:p>
          <a:p>
            <a:pPr marL="173990" marR="5080" indent="-1905">
              <a:lnSpc>
                <a:spcPts val="2590"/>
              </a:lnSpc>
              <a:spcBef>
                <a:spcPts val="425"/>
              </a:spcBef>
            </a:pPr>
            <a:r>
              <a:rPr lang="es-AR" sz="2400" dirty="0">
                <a:latin typeface="Trebuchet MS"/>
                <a:cs typeface="Trebuchet MS"/>
              </a:rPr>
              <a:t>https://padlet.com/javierklus/u7g44s6nws3zv2qp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39</a:t>
            </a:fld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Antecedentes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fundamentales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77400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0116" y="1192276"/>
            <a:ext cx="8301355" cy="1506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330" marR="92710" algn="ctr">
              <a:lnSpc>
                <a:spcPct val="100000"/>
              </a:lnSpc>
              <a:spcBef>
                <a:spcPts val="100"/>
              </a:spcBef>
            </a:pPr>
            <a:r>
              <a:rPr sz="1800" b="1" spc="-100" dirty="0">
                <a:latin typeface="Trebuchet MS"/>
                <a:cs typeface="Trebuchet MS"/>
              </a:rPr>
              <a:t>Para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mitigar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70" dirty="0">
                <a:latin typeface="Trebuchet MS"/>
                <a:cs typeface="Trebuchet MS"/>
              </a:rPr>
              <a:t>los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riesgos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de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manera</a:t>
            </a:r>
            <a:r>
              <a:rPr sz="1800" b="1" spc="-150" dirty="0">
                <a:latin typeface="Trebuchet MS"/>
                <a:cs typeface="Trebuchet MS"/>
              </a:rPr>
              <a:t> </a:t>
            </a:r>
            <a:r>
              <a:rPr sz="1800" b="1" spc="-135" dirty="0">
                <a:latin typeface="Trebuchet MS"/>
                <a:cs typeface="Trebuchet MS"/>
              </a:rPr>
              <a:t>eficaz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y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30" dirty="0">
                <a:latin typeface="Trebuchet MS"/>
                <a:cs typeface="Trebuchet MS"/>
              </a:rPr>
              <a:t>eficiente,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80" dirty="0">
                <a:latin typeface="Trebuchet MS"/>
                <a:cs typeface="Trebuchet MS"/>
              </a:rPr>
              <a:t>la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14" dirty="0">
                <a:latin typeface="Trebuchet MS"/>
                <a:cs typeface="Trebuchet MS"/>
              </a:rPr>
              <a:t>gerencia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debe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llevar</a:t>
            </a:r>
            <a:r>
              <a:rPr sz="1800" b="1" spc="-150" dirty="0">
                <a:latin typeface="Trebuchet MS"/>
                <a:cs typeface="Trebuchet MS"/>
              </a:rPr>
              <a:t> </a:t>
            </a:r>
            <a:r>
              <a:rPr sz="1800" b="1" spc="-75" dirty="0">
                <a:latin typeface="Trebuchet MS"/>
                <a:cs typeface="Trebuchet MS"/>
              </a:rPr>
              <a:t>a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00" dirty="0">
                <a:latin typeface="Trebuchet MS"/>
                <a:cs typeface="Trebuchet MS"/>
              </a:rPr>
              <a:t>cabo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100" dirty="0">
                <a:latin typeface="Trebuchet MS"/>
                <a:cs typeface="Trebuchet MS"/>
              </a:rPr>
              <a:t>un  proceso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95" dirty="0">
                <a:latin typeface="Trebuchet MS"/>
                <a:cs typeface="Trebuchet MS"/>
              </a:rPr>
              <a:t>cognitivo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75" dirty="0">
                <a:latin typeface="Trebuchet MS"/>
                <a:cs typeface="Trebuchet MS"/>
              </a:rPr>
              <a:t>a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00" dirty="0">
                <a:latin typeface="Trebuchet MS"/>
                <a:cs typeface="Trebuchet MS"/>
              </a:rPr>
              <a:t>fin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de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identificar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objetivos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de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negocios,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que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00" dirty="0">
                <a:latin typeface="Trebuchet MS"/>
                <a:cs typeface="Trebuchet MS"/>
              </a:rPr>
              <a:t>resultan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20" dirty="0">
                <a:latin typeface="Trebuchet MS"/>
                <a:cs typeface="Trebuchet MS"/>
              </a:rPr>
              <a:t>clave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para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114" dirty="0">
                <a:latin typeface="Trebuchet MS"/>
                <a:cs typeface="Trebuchet MS"/>
              </a:rPr>
              <a:t>el  éxito </a:t>
            </a:r>
            <a:r>
              <a:rPr sz="1800" b="1" spc="-110" dirty="0">
                <a:latin typeface="Trebuchet MS"/>
                <a:cs typeface="Trebuchet MS"/>
              </a:rPr>
              <a:t>y </a:t>
            </a:r>
            <a:r>
              <a:rPr sz="1800" b="1" spc="-80" dirty="0">
                <a:latin typeface="Trebuchet MS"/>
                <a:cs typeface="Trebuchet MS"/>
              </a:rPr>
              <a:t>la </a:t>
            </a:r>
            <a:r>
              <a:rPr sz="1800" b="1" spc="-90" dirty="0">
                <a:latin typeface="Trebuchet MS"/>
                <a:cs typeface="Trebuchet MS"/>
              </a:rPr>
              <a:t>longevidad </a:t>
            </a:r>
            <a:r>
              <a:rPr sz="1800" b="1" spc="-105" dirty="0">
                <a:latin typeface="Trebuchet MS"/>
                <a:cs typeface="Trebuchet MS"/>
              </a:rPr>
              <a:t>de </a:t>
            </a:r>
            <a:r>
              <a:rPr sz="1800" b="1" spc="-90" dirty="0">
                <a:latin typeface="Trebuchet MS"/>
                <a:cs typeface="Trebuchet MS"/>
              </a:rPr>
              <a:t>una</a:t>
            </a:r>
            <a:r>
              <a:rPr sz="1800" b="1" spc="-35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organización.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  <a:spcBef>
                <a:spcPts val="865"/>
              </a:spcBef>
            </a:pPr>
            <a:r>
              <a:rPr sz="1800" b="1" spc="-50" dirty="0">
                <a:latin typeface="Trebuchet MS"/>
                <a:cs typeface="Trebuchet MS"/>
              </a:rPr>
              <a:t>A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85" dirty="0">
                <a:latin typeface="Trebuchet MS"/>
                <a:cs typeface="Trebuchet MS"/>
              </a:rPr>
              <a:t>tal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100" dirty="0">
                <a:latin typeface="Trebuchet MS"/>
                <a:cs typeface="Trebuchet MS"/>
              </a:rPr>
              <a:t>fin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95" dirty="0">
                <a:latin typeface="Trebuchet MS"/>
                <a:cs typeface="Trebuchet MS"/>
              </a:rPr>
              <a:t>se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deben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considerar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70" dirty="0">
                <a:latin typeface="Trebuchet MS"/>
                <a:cs typeface="Trebuchet MS"/>
              </a:rPr>
              <a:t>los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factores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00" dirty="0">
                <a:latin typeface="Trebuchet MS"/>
                <a:cs typeface="Trebuchet MS"/>
              </a:rPr>
              <a:t>internos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y</a:t>
            </a:r>
            <a:r>
              <a:rPr sz="1800" b="1" spc="-125" dirty="0">
                <a:latin typeface="Trebuchet MS"/>
                <a:cs typeface="Trebuchet MS"/>
              </a:rPr>
              <a:t> </a:t>
            </a:r>
            <a:r>
              <a:rPr sz="1800" b="1" spc="-114" dirty="0">
                <a:latin typeface="Trebuchet MS"/>
                <a:cs typeface="Trebuchet MS"/>
              </a:rPr>
              <a:t>externos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que</a:t>
            </a:r>
            <a:r>
              <a:rPr sz="1800" b="1" spc="-135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podrían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comprometer  </a:t>
            </a:r>
            <a:r>
              <a:rPr sz="1800" b="1" spc="-70" dirty="0">
                <a:latin typeface="Trebuchet MS"/>
                <a:cs typeface="Trebuchet MS"/>
              </a:rPr>
              <a:t>los</a:t>
            </a:r>
            <a:r>
              <a:rPr sz="1800" b="1" spc="-145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atributos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120" dirty="0">
                <a:latin typeface="Trebuchet MS"/>
                <a:cs typeface="Trebuchet MS"/>
              </a:rPr>
              <a:t>clave</a:t>
            </a:r>
            <a:r>
              <a:rPr sz="1800" b="1" spc="-160" dirty="0">
                <a:latin typeface="Trebuchet MS"/>
                <a:cs typeface="Trebuchet MS"/>
              </a:rPr>
              <a:t> </a:t>
            </a:r>
            <a:r>
              <a:rPr sz="1800" b="1" spc="-105" dirty="0">
                <a:latin typeface="Trebuchet MS"/>
                <a:cs typeface="Trebuchet MS"/>
              </a:rPr>
              <a:t>que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100" dirty="0">
                <a:latin typeface="Trebuchet MS"/>
                <a:cs typeface="Trebuchet MS"/>
              </a:rPr>
              <a:t>resultan</a:t>
            </a:r>
            <a:r>
              <a:rPr sz="1800" b="1" spc="-155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significativos</a:t>
            </a:r>
            <a:r>
              <a:rPr sz="1800" b="1" spc="-160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para</a:t>
            </a:r>
            <a:r>
              <a:rPr sz="1800" b="1" spc="-130" dirty="0">
                <a:latin typeface="Trebuchet MS"/>
                <a:cs typeface="Trebuchet MS"/>
              </a:rPr>
              <a:t> </a:t>
            </a:r>
            <a:r>
              <a:rPr sz="1800" b="1" spc="-90" dirty="0">
                <a:latin typeface="Trebuchet MS"/>
                <a:cs typeface="Trebuchet MS"/>
              </a:rPr>
              <a:t>una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110" dirty="0">
                <a:latin typeface="Trebuchet MS"/>
                <a:cs typeface="Trebuchet MS"/>
              </a:rPr>
              <a:t>organización: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551" y="3292347"/>
            <a:ext cx="1547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latin typeface="Trebuchet MS"/>
                <a:cs typeface="Trebuchet MS"/>
              </a:rPr>
              <a:t>Principales Objetivos</a:t>
            </a:r>
            <a:r>
              <a:rPr sz="1200" b="1" spc="-135" dirty="0">
                <a:latin typeface="Trebuchet MS"/>
                <a:cs typeface="Trebuchet MS"/>
              </a:rPr>
              <a:t> </a:t>
            </a:r>
            <a:r>
              <a:rPr sz="1200" b="1" spc="-70" dirty="0">
                <a:latin typeface="Trebuchet MS"/>
                <a:cs typeface="Trebuchet MS"/>
              </a:rPr>
              <a:t>de  </a:t>
            </a:r>
            <a:r>
              <a:rPr sz="1200" b="1" spc="-55" dirty="0">
                <a:latin typeface="Trebuchet MS"/>
                <a:cs typeface="Trebuchet MS"/>
              </a:rPr>
              <a:t>Negocios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251" y="3736847"/>
            <a:ext cx="1407160" cy="0"/>
          </a:xfrm>
          <a:custGeom>
            <a:avLst/>
            <a:gdLst/>
            <a:ahLst/>
            <a:cxnLst/>
            <a:rect l="l" t="t" r="r" b="b"/>
            <a:pathLst>
              <a:path w="1407160">
                <a:moveTo>
                  <a:pt x="0" y="0"/>
                </a:moveTo>
                <a:lnTo>
                  <a:pt x="1406652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38501" y="3292347"/>
            <a:ext cx="1323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65" dirty="0">
                <a:latin typeface="Trebuchet MS"/>
                <a:cs typeface="Trebuchet MS"/>
              </a:rPr>
              <a:t>Atributos </a:t>
            </a:r>
            <a:r>
              <a:rPr sz="1200" b="1" spc="-85" dirty="0">
                <a:latin typeface="Trebuchet MS"/>
                <a:cs typeface="Trebuchet MS"/>
              </a:rPr>
              <a:t>clave </a:t>
            </a:r>
            <a:r>
              <a:rPr sz="1200" b="1" spc="45" dirty="0">
                <a:latin typeface="Trebuchet MS"/>
                <a:cs typeface="Trebuchet MS"/>
              </a:rPr>
              <a:t>/  </a:t>
            </a:r>
            <a:r>
              <a:rPr sz="1200" b="1" spc="-55" dirty="0">
                <a:latin typeface="Trebuchet MS"/>
                <a:cs typeface="Trebuchet MS"/>
              </a:rPr>
              <a:t>Impulsores </a:t>
            </a:r>
            <a:r>
              <a:rPr sz="1200" b="1" spc="-70" dirty="0">
                <a:latin typeface="Trebuchet MS"/>
                <a:cs typeface="Trebuchet MS"/>
              </a:rPr>
              <a:t>del</a:t>
            </a:r>
            <a:r>
              <a:rPr sz="1200" b="1" spc="-175" dirty="0">
                <a:latin typeface="Trebuchet MS"/>
                <a:cs typeface="Trebuchet MS"/>
              </a:rPr>
              <a:t> </a:t>
            </a:r>
            <a:r>
              <a:rPr sz="1200" b="1" spc="-70" dirty="0">
                <a:latin typeface="Trebuchet MS"/>
                <a:cs typeface="Trebuchet MS"/>
              </a:rPr>
              <a:t>Valor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50948" y="3736847"/>
            <a:ext cx="1336675" cy="0"/>
          </a:xfrm>
          <a:custGeom>
            <a:avLst/>
            <a:gdLst/>
            <a:ahLst/>
            <a:cxnLst/>
            <a:rect l="l" t="t" r="r" b="b"/>
            <a:pathLst>
              <a:path w="1336675">
                <a:moveTo>
                  <a:pt x="0" y="0"/>
                </a:moveTo>
                <a:lnTo>
                  <a:pt x="133654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24758" y="4370451"/>
            <a:ext cx="774192" cy="3528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24758" y="4370451"/>
            <a:ext cx="774700" cy="353060"/>
          </a:xfrm>
          <a:custGeom>
            <a:avLst/>
            <a:gdLst/>
            <a:ahLst/>
            <a:cxnLst/>
            <a:rect l="l" t="t" r="r" b="b"/>
            <a:pathLst>
              <a:path w="774700" h="353060">
                <a:moveTo>
                  <a:pt x="0" y="58800"/>
                </a:moveTo>
                <a:lnTo>
                  <a:pt x="4615" y="35897"/>
                </a:lnTo>
                <a:lnTo>
                  <a:pt x="17208" y="17208"/>
                </a:lnTo>
                <a:lnTo>
                  <a:pt x="35897" y="4615"/>
                </a:lnTo>
                <a:lnTo>
                  <a:pt x="58801" y="0"/>
                </a:lnTo>
                <a:lnTo>
                  <a:pt x="715391" y="0"/>
                </a:lnTo>
                <a:lnTo>
                  <a:pt x="738294" y="4615"/>
                </a:lnTo>
                <a:lnTo>
                  <a:pt x="756983" y="17208"/>
                </a:lnTo>
                <a:lnTo>
                  <a:pt x="769576" y="35897"/>
                </a:lnTo>
                <a:lnTo>
                  <a:pt x="774192" y="58800"/>
                </a:lnTo>
                <a:lnTo>
                  <a:pt x="774192" y="294005"/>
                </a:lnTo>
                <a:lnTo>
                  <a:pt x="769576" y="316908"/>
                </a:lnTo>
                <a:lnTo>
                  <a:pt x="756983" y="335597"/>
                </a:lnTo>
                <a:lnTo>
                  <a:pt x="738294" y="348190"/>
                </a:lnTo>
                <a:lnTo>
                  <a:pt x="715391" y="352806"/>
                </a:lnTo>
                <a:lnTo>
                  <a:pt x="58801" y="352806"/>
                </a:lnTo>
                <a:lnTo>
                  <a:pt x="35897" y="348190"/>
                </a:lnTo>
                <a:lnTo>
                  <a:pt x="17208" y="335597"/>
                </a:lnTo>
                <a:lnTo>
                  <a:pt x="4615" y="316908"/>
                </a:lnTo>
                <a:lnTo>
                  <a:pt x="0" y="294005"/>
                </a:lnTo>
                <a:lnTo>
                  <a:pt x="0" y="58800"/>
                </a:lnTo>
                <a:close/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18866" y="4415790"/>
            <a:ext cx="585470" cy="250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6670">
              <a:lnSpc>
                <a:spcPct val="105700"/>
              </a:lnSpc>
              <a:spcBef>
                <a:spcPts val="90"/>
              </a:spcBef>
            </a:pPr>
            <a:r>
              <a:rPr sz="700" b="1" spc="-25" dirty="0">
                <a:latin typeface="Trebuchet MS"/>
                <a:cs typeface="Trebuchet MS"/>
              </a:rPr>
              <a:t>Participación  </a:t>
            </a:r>
            <a:r>
              <a:rPr sz="700" b="1" spc="-30" dirty="0">
                <a:latin typeface="Trebuchet MS"/>
                <a:cs typeface="Trebuchet MS"/>
              </a:rPr>
              <a:t>en el</a:t>
            </a:r>
            <a:r>
              <a:rPr sz="700" b="1" spc="-125" dirty="0">
                <a:latin typeface="Trebuchet MS"/>
                <a:cs typeface="Trebuchet MS"/>
              </a:rPr>
              <a:t> </a:t>
            </a:r>
            <a:r>
              <a:rPr sz="700" b="1" spc="-5" dirty="0">
                <a:latin typeface="Trebuchet MS"/>
                <a:cs typeface="Trebuchet MS"/>
              </a:rPr>
              <a:t>Mercado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81986" y="4370451"/>
            <a:ext cx="702563" cy="3528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81986" y="4370451"/>
            <a:ext cx="702945" cy="353060"/>
          </a:xfrm>
          <a:custGeom>
            <a:avLst/>
            <a:gdLst/>
            <a:ahLst/>
            <a:cxnLst/>
            <a:rect l="l" t="t" r="r" b="b"/>
            <a:pathLst>
              <a:path w="702944" h="353060">
                <a:moveTo>
                  <a:pt x="0" y="58800"/>
                </a:moveTo>
                <a:lnTo>
                  <a:pt x="4615" y="35897"/>
                </a:lnTo>
                <a:lnTo>
                  <a:pt x="17208" y="17208"/>
                </a:lnTo>
                <a:lnTo>
                  <a:pt x="35897" y="4615"/>
                </a:lnTo>
                <a:lnTo>
                  <a:pt x="58800" y="0"/>
                </a:lnTo>
                <a:lnTo>
                  <a:pt x="643763" y="0"/>
                </a:lnTo>
                <a:lnTo>
                  <a:pt x="666666" y="4615"/>
                </a:lnTo>
                <a:lnTo>
                  <a:pt x="685355" y="17208"/>
                </a:lnTo>
                <a:lnTo>
                  <a:pt x="697948" y="35897"/>
                </a:lnTo>
                <a:lnTo>
                  <a:pt x="702563" y="58800"/>
                </a:lnTo>
                <a:lnTo>
                  <a:pt x="702563" y="294005"/>
                </a:lnTo>
                <a:lnTo>
                  <a:pt x="697948" y="316908"/>
                </a:lnTo>
                <a:lnTo>
                  <a:pt x="685355" y="335597"/>
                </a:lnTo>
                <a:lnTo>
                  <a:pt x="666666" y="348190"/>
                </a:lnTo>
                <a:lnTo>
                  <a:pt x="643763" y="352806"/>
                </a:lnTo>
                <a:lnTo>
                  <a:pt x="58800" y="352806"/>
                </a:lnTo>
                <a:lnTo>
                  <a:pt x="35897" y="348190"/>
                </a:lnTo>
                <a:lnTo>
                  <a:pt x="17208" y="335597"/>
                </a:lnTo>
                <a:lnTo>
                  <a:pt x="4615" y="316908"/>
                </a:lnTo>
                <a:lnTo>
                  <a:pt x="0" y="294005"/>
                </a:lnTo>
                <a:lnTo>
                  <a:pt x="0" y="5880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31644" y="4415790"/>
            <a:ext cx="603885" cy="250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40640">
              <a:lnSpc>
                <a:spcPct val="105700"/>
              </a:lnSpc>
              <a:spcBef>
                <a:spcPts val="90"/>
              </a:spcBef>
            </a:pPr>
            <a:r>
              <a:rPr sz="700" b="1" spc="-30" dirty="0">
                <a:latin typeface="Trebuchet MS"/>
                <a:cs typeface="Trebuchet MS"/>
              </a:rPr>
              <a:t>Crecimiento  </a:t>
            </a:r>
            <a:r>
              <a:rPr sz="700" b="1" spc="-25" dirty="0">
                <a:latin typeface="Trebuchet MS"/>
                <a:cs typeface="Trebuchet MS"/>
              </a:rPr>
              <a:t>de </a:t>
            </a:r>
            <a:r>
              <a:rPr sz="700" b="1" spc="-15" dirty="0">
                <a:latin typeface="Trebuchet MS"/>
                <a:cs typeface="Trebuchet MS"/>
              </a:rPr>
              <a:t>los</a:t>
            </a:r>
            <a:r>
              <a:rPr sz="700" b="1" spc="-110" dirty="0">
                <a:latin typeface="Trebuchet MS"/>
                <a:cs typeface="Trebuchet MS"/>
              </a:rPr>
              <a:t> </a:t>
            </a:r>
            <a:r>
              <a:rPr sz="700" b="1" spc="-15" dirty="0">
                <a:latin typeface="Trebuchet MS"/>
                <a:cs typeface="Trebuchet MS"/>
              </a:rPr>
              <a:t>Ingresos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02610" y="4793360"/>
            <a:ext cx="703326" cy="3505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602610" y="4793360"/>
            <a:ext cx="703580" cy="350520"/>
          </a:xfrm>
          <a:custGeom>
            <a:avLst/>
            <a:gdLst/>
            <a:ahLst/>
            <a:cxnLst/>
            <a:rect l="l" t="t" r="r" b="b"/>
            <a:pathLst>
              <a:path w="703579" h="350520">
                <a:moveTo>
                  <a:pt x="0" y="58419"/>
                </a:moveTo>
                <a:lnTo>
                  <a:pt x="4591" y="35683"/>
                </a:lnTo>
                <a:lnTo>
                  <a:pt x="17113" y="17113"/>
                </a:lnTo>
                <a:lnTo>
                  <a:pt x="35683" y="4591"/>
                </a:lnTo>
                <a:lnTo>
                  <a:pt x="58419" y="0"/>
                </a:lnTo>
                <a:lnTo>
                  <a:pt x="644906" y="0"/>
                </a:lnTo>
                <a:lnTo>
                  <a:pt x="667642" y="4591"/>
                </a:lnTo>
                <a:lnTo>
                  <a:pt x="686212" y="17113"/>
                </a:lnTo>
                <a:lnTo>
                  <a:pt x="698734" y="35683"/>
                </a:lnTo>
                <a:lnTo>
                  <a:pt x="703326" y="58419"/>
                </a:lnTo>
                <a:lnTo>
                  <a:pt x="703326" y="292100"/>
                </a:lnTo>
                <a:lnTo>
                  <a:pt x="698734" y="314836"/>
                </a:lnTo>
                <a:lnTo>
                  <a:pt x="686212" y="333406"/>
                </a:lnTo>
                <a:lnTo>
                  <a:pt x="667642" y="345928"/>
                </a:lnTo>
                <a:lnTo>
                  <a:pt x="644906" y="350519"/>
                </a:lnTo>
                <a:lnTo>
                  <a:pt x="58419" y="350519"/>
                </a:lnTo>
                <a:lnTo>
                  <a:pt x="35683" y="345928"/>
                </a:lnTo>
                <a:lnTo>
                  <a:pt x="17113" y="333406"/>
                </a:lnTo>
                <a:lnTo>
                  <a:pt x="4591" y="314836"/>
                </a:lnTo>
                <a:lnTo>
                  <a:pt x="0" y="292100"/>
                </a:lnTo>
                <a:lnTo>
                  <a:pt x="0" y="58419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56332" y="4837176"/>
            <a:ext cx="596900" cy="250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5400">
              <a:lnSpc>
                <a:spcPct val="105700"/>
              </a:lnSpc>
              <a:spcBef>
                <a:spcPts val="90"/>
              </a:spcBef>
            </a:pPr>
            <a:r>
              <a:rPr sz="700" b="1" spc="-20" dirty="0">
                <a:latin typeface="Trebuchet MS"/>
                <a:cs typeface="Trebuchet MS"/>
              </a:rPr>
              <a:t>Rentabilidad  </a:t>
            </a:r>
            <a:r>
              <a:rPr sz="700" b="1" spc="-25" dirty="0">
                <a:latin typeface="Trebuchet MS"/>
                <a:cs typeface="Trebuchet MS"/>
              </a:rPr>
              <a:t>de </a:t>
            </a:r>
            <a:r>
              <a:rPr sz="700" b="1" spc="-20" dirty="0">
                <a:latin typeface="Trebuchet MS"/>
                <a:cs typeface="Trebuchet MS"/>
              </a:rPr>
              <a:t>la</a:t>
            </a:r>
            <a:r>
              <a:rPr sz="700" b="1" spc="-125" dirty="0">
                <a:latin typeface="Trebuchet MS"/>
                <a:cs typeface="Trebuchet MS"/>
              </a:rPr>
              <a:t> </a:t>
            </a:r>
            <a:r>
              <a:rPr sz="700" b="1" spc="-20" dirty="0">
                <a:latin typeface="Trebuchet MS"/>
                <a:cs typeface="Trebuchet MS"/>
              </a:rPr>
              <a:t>Inversión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73476" y="3948303"/>
            <a:ext cx="562356" cy="3528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73476" y="3948303"/>
            <a:ext cx="562610" cy="353060"/>
          </a:xfrm>
          <a:custGeom>
            <a:avLst/>
            <a:gdLst/>
            <a:ahLst/>
            <a:cxnLst/>
            <a:rect l="l" t="t" r="r" b="b"/>
            <a:pathLst>
              <a:path w="562610" h="353060">
                <a:moveTo>
                  <a:pt x="0" y="58801"/>
                </a:moveTo>
                <a:lnTo>
                  <a:pt x="4615" y="35897"/>
                </a:lnTo>
                <a:lnTo>
                  <a:pt x="17208" y="17208"/>
                </a:lnTo>
                <a:lnTo>
                  <a:pt x="35897" y="4615"/>
                </a:lnTo>
                <a:lnTo>
                  <a:pt x="58800" y="0"/>
                </a:lnTo>
                <a:lnTo>
                  <a:pt x="503555" y="0"/>
                </a:lnTo>
                <a:lnTo>
                  <a:pt x="526458" y="4615"/>
                </a:lnTo>
                <a:lnTo>
                  <a:pt x="545147" y="17208"/>
                </a:lnTo>
                <a:lnTo>
                  <a:pt x="557740" y="35897"/>
                </a:lnTo>
                <a:lnTo>
                  <a:pt x="562356" y="58801"/>
                </a:lnTo>
                <a:lnTo>
                  <a:pt x="562356" y="294005"/>
                </a:lnTo>
                <a:lnTo>
                  <a:pt x="557740" y="316908"/>
                </a:lnTo>
                <a:lnTo>
                  <a:pt x="545147" y="335597"/>
                </a:lnTo>
                <a:lnTo>
                  <a:pt x="526458" y="348190"/>
                </a:lnTo>
                <a:lnTo>
                  <a:pt x="503555" y="352806"/>
                </a:lnTo>
                <a:lnTo>
                  <a:pt x="58800" y="352806"/>
                </a:lnTo>
                <a:lnTo>
                  <a:pt x="35897" y="348190"/>
                </a:lnTo>
                <a:lnTo>
                  <a:pt x="17208" y="335597"/>
                </a:lnTo>
                <a:lnTo>
                  <a:pt x="4615" y="316908"/>
                </a:lnTo>
                <a:lnTo>
                  <a:pt x="0" y="294005"/>
                </a:lnTo>
                <a:lnTo>
                  <a:pt x="0" y="58801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26944" y="4034028"/>
            <a:ext cx="431165" cy="166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spc="-25" dirty="0">
                <a:latin typeface="Trebuchet MS"/>
                <a:cs typeface="Trebuchet MS"/>
              </a:rPr>
              <a:t>SOX</a:t>
            </a:r>
            <a:r>
              <a:rPr sz="900" b="1" spc="-114" dirty="0">
                <a:latin typeface="Trebuchet MS"/>
                <a:cs typeface="Trebuchet MS"/>
              </a:rPr>
              <a:t> </a:t>
            </a:r>
            <a:r>
              <a:rPr sz="900" b="1" spc="-60" dirty="0">
                <a:latin typeface="Trebuchet MS"/>
                <a:cs typeface="Trebuchet MS"/>
              </a:rPr>
              <a:t>404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81986" y="5215509"/>
            <a:ext cx="702563" cy="35052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81986" y="5215509"/>
            <a:ext cx="702945" cy="350520"/>
          </a:xfrm>
          <a:custGeom>
            <a:avLst/>
            <a:gdLst/>
            <a:ahLst/>
            <a:cxnLst/>
            <a:rect l="l" t="t" r="r" b="b"/>
            <a:pathLst>
              <a:path w="702944" h="350520">
                <a:moveTo>
                  <a:pt x="0" y="58420"/>
                </a:moveTo>
                <a:lnTo>
                  <a:pt x="4591" y="35683"/>
                </a:lnTo>
                <a:lnTo>
                  <a:pt x="17113" y="17113"/>
                </a:lnTo>
                <a:lnTo>
                  <a:pt x="35683" y="4591"/>
                </a:lnTo>
                <a:lnTo>
                  <a:pt x="58419" y="0"/>
                </a:lnTo>
                <a:lnTo>
                  <a:pt x="644144" y="0"/>
                </a:lnTo>
                <a:lnTo>
                  <a:pt x="666880" y="4591"/>
                </a:lnTo>
                <a:lnTo>
                  <a:pt x="685450" y="17113"/>
                </a:lnTo>
                <a:lnTo>
                  <a:pt x="697972" y="35683"/>
                </a:lnTo>
                <a:lnTo>
                  <a:pt x="702563" y="58420"/>
                </a:lnTo>
                <a:lnTo>
                  <a:pt x="702563" y="292100"/>
                </a:lnTo>
                <a:lnTo>
                  <a:pt x="697972" y="314836"/>
                </a:lnTo>
                <a:lnTo>
                  <a:pt x="685450" y="333406"/>
                </a:lnTo>
                <a:lnTo>
                  <a:pt x="666880" y="345928"/>
                </a:lnTo>
                <a:lnTo>
                  <a:pt x="644144" y="350520"/>
                </a:lnTo>
                <a:lnTo>
                  <a:pt x="58419" y="350520"/>
                </a:lnTo>
                <a:lnTo>
                  <a:pt x="35683" y="345928"/>
                </a:lnTo>
                <a:lnTo>
                  <a:pt x="17113" y="333406"/>
                </a:lnTo>
                <a:lnTo>
                  <a:pt x="4591" y="314836"/>
                </a:lnTo>
                <a:lnTo>
                  <a:pt x="0" y="292100"/>
                </a:lnTo>
                <a:lnTo>
                  <a:pt x="0" y="5842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59076" y="5229859"/>
            <a:ext cx="548640" cy="307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9380" marR="5080" indent="-106680">
              <a:lnSpc>
                <a:spcPct val="102800"/>
              </a:lnSpc>
              <a:spcBef>
                <a:spcPts val="90"/>
              </a:spcBef>
            </a:pPr>
            <a:r>
              <a:rPr sz="900" b="1" spc="-35" dirty="0">
                <a:latin typeface="Trebuchet MS"/>
                <a:cs typeface="Trebuchet MS"/>
              </a:rPr>
              <a:t>Valor </a:t>
            </a:r>
            <a:r>
              <a:rPr sz="900" b="1" spc="-40" dirty="0">
                <a:latin typeface="Trebuchet MS"/>
                <a:cs typeface="Trebuchet MS"/>
              </a:rPr>
              <a:t>de</a:t>
            </a:r>
            <a:r>
              <a:rPr sz="900" b="1" spc="-170" dirty="0">
                <a:latin typeface="Trebuchet MS"/>
                <a:cs typeface="Trebuchet MS"/>
              </a:rPr>
              <a:t> </a:t>
            </a:r>
            <a:r>
              <a:rPr sz="900" b="1" spc="-35" dirty="0">
                <a:latin typeface="Trebuchet MS"/>
                <a:cs typeface="Trebuchet MS"/>
              </a:rPr>
              <a:t>la  </a:t>
            </a:r>
            <a:r>
              <a:rPr sz="900" b="1" spc="-10" dirty="0">
                <a:latin typeface="Trebuchet MS"/>
                <a:cs typeface="Trebuchet MS"/>
              </a:rPr>
              <a:t>Marca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54654" y="5215509"/>
            <a:ext cx="633221" cy="3505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54654" y="5215509"/>
            <a:ext cx="633730" cy="350520"/>
          </a:xfrm>
          <a:custGeom>
            <a:avLst/>
            <a:gdLst/>
            <a:ahLst/>
            <a:cxnLst/>
            <a:rect l="l" t="t" r="r" b="b"/>
            <a:pathLst>
              <a:path w="633729" h="350520">
                <a:moveTo>
                  <a:pt x="0" y="58420"/>
                </a:moveTo>
                <a:lnTo>
                  <a:pt x="4591" y="35683"/>
                </a:lnTo>
                <a:lnTo>
                  <a:pt x="17113" y="17113"/>
                </a:lnTo>
                <a:lnTo>
                  <a:pt x="35683" y="4591"/>
                </a:lnTo>
                <a:lnTo>
                  <a:pt x="58419" y="0"/>
                </a:lnTo>
                <a:lnTo>
                  <a:pt x="574802" y="0"/>
                </a:lnTo>
                <a:lnTo>
                  <a:pt x="597538" y="4591"/>
                </a:lnTo>
                <a:lnTo>
                  <a:pt x="616108" y="17113"/>
                </a:lnTo>
                <a:lnTo>
                  <a:pt x="628630" y="35683"/>
                </a:lnTo>
                <a:lnTo>
                  <a:pt x="633221" y="58420"/>
                </a:lnTo>
                <a:lnTo>
                  <a:pt x="633221" y="292100"/>
                </a:lnTo>
                <a:lnTo>
                  <a:pt x="628630" y="314836"/>
                </a:lnTo>
                <a:lnTo>
                  <a:pt x="616108" y="333406"/>
                </a:lnTo>
                <a:lnTo>
                  <a:pt x="597538" y="345928"/>
                </a:lnTo>
                <a:lnTo>
                  <a:pt x="574802" y="350520"/>
                </a:lnTo>
                <a:lnTo>
                  <a:pt x="58419" y="350520"/>
                </a:lnTo>
                <a:lnTo>
                  <a:pt x="35683" y="345928"/>
                </a:lnTo>
                <a:lnTo>
                  <a:pt x="17113" y="333406"/>
                </a:lnTo>
                <a:lnTo>
                  <a:pt x="4591" y="314836"/>
                </a:lnTo>
                <a:lnTo>
                  <a:pt x="0" y="292100"/>
                </a:lnTo>
                <a:lnTo>
                  <a:pt x="0" y="5842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11677" y="5300217"/>
            <a:ext cx="52006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35" dirty="0">
                <a:latin typeface="Trebuchet MS"/>
                <a:cs typeface="Trebuchet MS"/>
              </a:rPr>
              <a:t>Utilidades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73476" y="5637657"/>
            <a:ext cx="562356" cy="3505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73476" y="5637657"/>
            <a:ext cx="562610" cy="350520"/>
          </a:xfrm>
          <a:custGeom>
            <a:avLst/>
            <a:gdLst/>
            <a:ahLst/>
            <a:cxnLst/>
            <a:rect l="l" t="t" r="r" b="b"/>
            <a:pathLst>
              <a:path w="562610" h="350520">
                <a:moveTo>
                  <a:pt x="0" y="58420"/>
                </a:moveTo>
                <a:lnTo>
                  <a:pt x="4591" y="35677"/>
                </a:lnTo>
                <a:lnTo>
                  <a:pt x="17113" y="17108"/>
                </a:lnTo>
                <a:lnTo>
                  <a:pt x="35683" y="4590"/>
                </a:lnTo>
                <a:lnTo>
                  <a:pt x="58420" y="0"/>
                </a:lnTo>
                <a:lnTo>
                  <a:pt x="503936" y="0"/>
                </a:lnTo>
                <a:lnTo>
                  <a:pt x="526672" y="4590"/>
                </a:lnTo>
                <a:lnTo>
                  <a:pt x="545242" y="17108"/>
                </a:lnTo>
                <a:lnTo>
                  <a:pt x="557764" y="35677"/>
                </a:lnTo>
                <a:lnTo>
                  <a:pt x="562356" y="58420"/>
                </a:lnTo>
                <a:lnTo>
                  <a:pt x="562356" y="292100"/>
                </a:lnTo>
                <a:lnTo>
                  <a:pt x="557764" y="314836"/>
                </a:lnTo>
                <a:lnTo>
                  <a:pt x="545242" y="333406"/>
                </a:lnTo>
                <a:lnTo>
                  <a:pt x="526672" y="345928"/>
                </a:lnTo>
                <a:lnTo>
                  <a:pt x="503936" y="350520"/>
                </a:lnTo>
                <a:lnTo>
                  <a:pt x="58420" y="350520"/>
                </a:lnTo>
                <a:lnTo>
                  <a:pt x="35683" y="345928"/>
                </a:lnTo>
                <a:lnTo>
                  <a:pt x="17113" y="333406"/>
                </a:lnTo>
                <a:lnTo>
                  <a:pt x="4591" y="314836"/>
                </a:lnTo>
                <a:lnTo>
                  <a:pt x="0" y="292100"/>
                </a:lnTo>
                <a:lnTo>
                  <a:pt x="0" y="58420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759710" y="5722620"/>
            <a:ext cx="39052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55" dirty="0">
                <a:latin typeface="Trebuchet MS"/>
                <a:cs typeface="Trebuchet MS"/>
              </a:rPr>
              <a:t>Otros...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67555" y="3292347"/>
            <a:ext cx="1696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latin typeface="Trebuchet MS"/>
                <a:cs typeface="Trebuchet MS"/>
              </a:rPr>
              <a:t>Definición de Objetivos </a:t>
            </a:r>
            <a:r>
              <a:rPr sz="1200" b="1" spc="-80" dirty="0">
                <a:latin typeface="Trebuchet MS"/>
                <a:cs typeface="Trebuchet MS"/>
              </a:rPr>
              <a:t>en  </a:t>
            </a:r>
            <a:r>
              <a:rPr sz="1200" b="1" spc="-95" dirty="0">
                <a:latin typeface="Trebuchet MS"/>
                <a:cs typeface="Trebuchet MS"/>
              </a:rPr>
              <a:t>Toda </a:t>
            </a:r>
            <a:r>
              <a:rPr sz="1200" b="1" spc="-55" dirty="0">
                <a:latin typeface="Trebuchet MS"/>
                <a:cs typeface="Trebuchet MS"/>
              </a:rPr>
              <a:t>la</a:t>
            </a:r>
            <a:r>
              <a:rPr sz="1200" b="1" spc="-85" dirty="0">
                <a:latin typeface="Trebuchet MS"/>
                <a:cs typeface="Trebuchet MS"/>
              </a:rPr>
              <a:t> </a:t>
            </a:r>
            <a:r>
              <a:rPr sz="1200" b="1" spc="-75" dirty="0">
                <a:latin typeface="Trebuchet MS"/>
                <a:cs typeface="Trebuchet MS"/>
              </a:rPr>
              <a:t>Empresa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079747" y="3736847"/>
            <a:ext cx="1617980" cy="0"/>
          </a:xfrm>
          <a:custGeom>
            <a:avLst/>
            <a:gdLst/>
            <a:ahLst/>
            <a:cxnLst/>
            <a:rect l="l" t="t" r="r" b="b"/>
            <a:pathLst>
              <a:path w="1617979">
                <a:moveTo>
                  <a:pt x="0" y="0"/>
                </a:moveTo>
                <a:lnTo>
                  <a:pt x="161772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50233" y="3878960"/>
            <a:ext cx="1477645" cy="2179320"/>
          </a:xfrm>
          <a:custGeom>
            <a:avLst/>
            <a:gdLst/>
            <a:ahLst/>
            <a:cxnLst/>
            <a:rect l="l" t="t" r="r" b="b"/>
            <a:pathLst>
              <a:path w="1477645" h="2179320">
                <a:moveTo>
                  <a:pt x="1231264" y="0"/>
                </a:moveTo>
                <a:lnTo>
                  <a:pt x="246252" y="0"/>
                </a:lnTo>
                <a:lnTo>
                  <a:pt x="196620" y="5002"/>
                </a:lnTo>
                <a:lnTo>
                  <a:pt x="150393" y="19349"/>
                </a:lnTo>
                <a:lnTo>
                  <a:pt x="108563" y="42052"/>
                </a:lnTo>
                <a:lnTo>
                  <a:pt x="72120" y="72120"/>
                </a:lnTo>
                <a:lnTo>
                  <a:pt x="42052" y="108563"/>
                </a:lnTo>
                <a:lnTo>
                  <a:pt x="19349" y="150393"/>
                </a:lnTo>
                <a:lnTo>
                  <a:pt x="5002" y="196620"/>
                </a:lnTo>
                <a:lnTo>
                  <a:pt x="0" y="246252"/>
                </a:lnTo>
                <a:lnTo>
                  <a:pt x="0" y="1933066"/>
                </a:lnTo>
                <a:lnTo>
                  <a:pt x="5002" y="1982696"/>
                </a:lnTo>
                <a:lnTo>
                  <a:pt x="19349" y="2028920"/>
                </a:lnTo>
                <a:lnTo>
                  <a:pt x="42052" y="2070750"/>
                </a:lnTo>
                <a:lnTo>
                  <a:pt x="72120" y="2107195"/>
                </a:lnTo>
                <a:lnTo>
                  <a:pt x="108563" y="2137264"/>
                </a:lnTo>
                <a:lnTo>
                  <a:pt x="150393" y="2159968"/>
                </a:lnTo>
                <a:lnTo>
                  <a:pt x="196620" y="2174317"/>
                </a:lnTo>
                <a:lnTo>
                  <a:pt x="246252" y="2179320"/>
                </a:lnTo>
                <a:lnTo>
                  <a:pt x="1231264" y="2179320"/>
                </a:lnTo>
                <a:lnTo>
                  <a:pt x="1280897" y="2174317"/>
                </a:lnTo>
                <a:lnTo>
                  <a:pt x="1327124" y="2159968"/>
                </a:lnTo>
                <a:lnTo>
                  <a:pt x="1368954" y="2137264"/>
                </a:lnTo>
                <a:lnTo>
                  <a:pt x="1405397" y="2107195"/>
                </a:lnTo>
                <a:lnTo>
                  <a:pt x="1435465" y="2070750"/>
                </a:lnTo>
                <a:lnTo>
                  <a:pt x="1458168" y="2028920"/>
                </a:lnTo>
                <a:lnTo>
                  <a:pt x="1472515" y="1982696"/>
                </a:lnTo>
                <a:lnTo>
                  <a:pt x="1477517" y="1933066"/>
                </a:lnTo>
                <a:lnTo>
                  <a:pt x="1477517" y="246252"/>
                </a:lnTo>
                <a:lnTo>
                  <a:pt x="1472515" y="196620"/>
                </a:lnTo>
                <a:lnTo>
                  <a:pt x="1458168" y="150393"/>
                </a:lnTo>
                <a:lnTo>
                  <a:pt x="1435465" y="108563"/>
                </a:lnTo>
                <a:lnTo>
                  <a:pt x="1405397" y="72120"/>
                </a:lnTo>
                <a:lnTo>
                  <a:pt x="1368954" y="42052"/>
                </a:lnTo>
                <a:lnTo>
                  <a:pt x="1327124" y="19349"/>
                </a:lnTo>
                <a:lnTo>
                  <a:pt x="1280897" y="5002"/>
                </a:lnTo>
                <a:lnTo>
                  <a:pt x="1231264" y="0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50233" y="3878960"/>
            <a:ext cx="1477645" cy="2179320"/>
          </a:xfrm>
          <a:custGeom>
            <a:avLst/>
            <a:gdLst/>
            <a:ahLst/>
            <a:cxnLst/>
            <a:rect l="l" t="t" r="r" b="b"/>
            <a:pathLst>
              <a:path w="1477645" h="2179320">
                <a:moveTo>
                  <a:pt x="0" y="246252"/>
                </a:moveTo>
                <a:lnTo>
                  <a:pt x="5002" y="196620"/>
                </a:lnTo>
                <a:lnTo>
                  <a:pt x="19349" y="150393"/>
                </a:lnTo>
                <a:lnTo>
                  <a:pt x="42052" y="108563"/>
                </a:lnTo>
                <a:lnTo>
                  <a:pt x="72120" y="72120"/>
                </a:lnTo>
                <a:lnTo>
                  <a:pt x="108563" y="42052"/>
                </a:lnTo>
                <a:lnTo>
                  <a:pt x="150393" y="19349"/>
                </a:lnTo>
                <a:lnTo>
                  <a:pt x="196620" y="5002"/>
                </a:lnTo>
                <a:lnTo>
                  <a:pt x="246252" y="0"/>
                </a:lnTo>
                <a:lnTo>
                  <a:pt x="1231264" y="0"/>
                </a:lnTo>
                <a:lnTo>
                  <a:pt x="1280897" y="5002"/>
                </a:lnTo>
                <a:lnTo>
                  <a:pt x="1327124" y="19349"/>
                </a:lnTo>
                <a:lnTo>
                  <a:pt x="1368954" y="42052"/>
                </a:lnTo>
                <a:lnTo>
                  <a:pt x="1405397" y="72120"/>
                </a:lnTo>
                <a:lnTo>
                  <a:pt x="1435465" y="108563"/>
                </a:lnTo>
                <a:lnTo>
                  <a:pt x="1458168" y="150393"/>
                </a:lnTo>
                <a:lnTo>
                  <a:pt x="1472515" y="196620"/>
                </a:lnTo>
                <a:lnTo>
                  <a:pt x="1477517" y="246252"/>
                </a:lnTo>
                <a:lnTo>
                  <a:pt x="1477517" y="1933066"/>
                </a:lnTo>
                <a:lnTo>
                  <a:pt x="1472515" y="1982696"/>
                </a:lnTo>
                <a:lnTo>
                  <a:pt x="1458168" y="2028920"/>
                </a:lnTo>
                <a:lnTo>
                  <a:pt x="1435465" y="2070750"/>
                </a:lnTo>
                <a:lnTo>
                  <a:pt x="1405397" y="2107195"/>
                </a:lnTo>
                <a:lnTo>
                  <a:pt x="1368954" y="2137264"/>
                </a:lnTo>
                <a:lnTo>
                  <a:pt x="1327124" y="2159968"/>
                </a:lnTo>
                <a:lnTo>
                  <a:pt x="1280897" y="2174317"/>
                </a:lnTo>
                <a:lnTo>
                  <a:pt x="1231264" y="2179320"/>
                </a:lnTo>
                <a:lnTo>
                  <a:pt x="246252" y="2179320"/>
                </a:lnTo>
                <a:lnTo>
                  <a:pt x="196620" y="2174317"/>
                </a:lnTo>
                <a:lnTo>
                  <a:pt x="150393" y="2159968"/>
                </a:lnTo>
                <a:lnTo>
                  <a:pt x="108563" y="2137264"/>
                </a:lnTo>
                <a:lnTo>
                  <a:pt x="72120" y="2107195"/>
                </a:lnTo>
                <a:lnTo>
                  <a:pt x="42052" y="2070750"/>
                </a:lnTo>
                <a:lnTo>
                  <a:pt x="19349" y="2028920"/>
                </a:lnTo>
                <a:lnTo>
                  <a:pt x="5002" y="1982696"/>
                </a:lnTo>
                <a:lnTo>
                  <a:pt x="0" y="1933066"/>
                </a:lnTo>
                <a:lnTo>
                  <a:pt x="0" y="246252"/>
                </a:lnTo>
                <a:close/>
              </a:path>
            </a:pathLst>
          </a:custGeom>
          <a:ln w="9906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20336" y="4159377"/>
            <a:ext cx="633222" cy="35280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20336" y="4159377"/>
            <a:ext cx="633730" cy="353060"/>
          </a:xfrm>
          <a:custGeom>
            <a:avLst/>
            <a:gdLst/>
            <a:ahLst/>
            <a:cxnLst/>
            <a:rect l="l" t="t" r="r" b="b"/>
            <a:pathLst>
              <a:path w="633729" h="353060">
                <a:moveTo>
                  <a:pt x="0" y="58800"/>
                </a:moveTo>
                <a:lnTo>
                  <a:pt x="4615" y="35897"/>
                </a:lnTo>
                <a:lnTo>
                  <a:pt x="17208" y="17208"/>
                </a:lnTo>
                <a:lnTo>
                  <a:pt x="35897" y="4615"/>
                </a:lnTo>
                <a:lnTo>
                  <a:pt x="58800" y="0"/>
                </a:lnTo>
                <a:lnTo>
                  <a:pt x="574421" y="0"/>
                </a:lnTo>
                <a:lnTo>
                  <a:pt x="597324" y="4615"/>
                </a:lnTo>
                <a:lnTo>
                  <a:pt x="616013" y="17208"/>
                </a:lnTo>
                <a:lnTo>
                  <a:pt x="628606" y="35897"/>
                </a:lnTo>
                <a:lnTo>
                  <a:pt x="633222" y="58800"/>
                </a:lnTo>
                <a:lnTo>
                  <a:pt x="633222" y="294005"/>
                </a:lnTo>
                <a:lnTo>
                  <a:pt x="628606" y="316908"/>
                </a:lnTo>
                <a:lnTo>
                  <a:pt x="616013" y="335597"/>
                </a:lnTo>
                <a:lnTo>
                  <a:pt x="597324" y="348190"/>
                </a:lnTo>
                <a:lnTo>
                  <a:pt x="574421" y="352806"/>
                </a:lnTo>
                <a:lnTo>
                  <a:pt x="58800" y="352806"/>
                </a:lnTo>
                <a:lnTo>
                  <a:pt x="35897" y="348190"/>
                </a:lnTo>
                <a:lnTo>
                  <a:pt x="17208" y="335597"/>
                </a:lnTo>
                <a:lnTo>
                  <a:pt x="4615" y="316908"/>
                </a:lnTo>
                <a:lnTo>
                  <a:pt x="0" y="294005"/>
                </a:lnTo>
                <a:lnTo>
                  <a:pt x="0" y="58800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333494" y="4314697"/>
            <a:ext cx="43624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50" dirty="0">
                <a:latin typeface="Trebuchet MS"/>
                <a:cs typeface="Trebuchet MS"/>
              </a:rPr>
              <a:t>Entidad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925186" y="4159377"/>
            <a:ext cx="631698" cy="35280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25186" y="4159377"/>
            <a:ext cx="631825" cy="353060"/>
          </a:xfrm>
          <a:custGeom>
            <a:avLst/>
            <a:gdLst/>
            <a:ahLst/>
            <a:cxnLst/>
            <a:rect l="l" t="t" r="r" b="b"/>
            <a:pathLst>
              <a:path w="631825" h="353060">
                <a:moveTo>
                  <a:pt x="0" y="58800"/>
                </a:moveTo>
                <a:lnTo>
                  <a:pt x="4615" y="35897"/>
                </a:lnTo>
                <a:lnTo>
                  <a:pt x="17208" y="17208"/>
                </a:lnTo>
                <a:lnTo>
                  <a:pt x="35897" y="4615"/>
                </a:lnTo>
                <a:lnTo>
                  <a:pt x="58800" y="0"/>
                </a:lnTo>
                <a:lnTo>
                  <a:pt x="572897" y="0"/>
                </a:lnTo>
                <a:lnTo>
                  <a:pt x="595800" y="4615"/>
                </a:lnTo>
                <a:lnTo>
                  <a:pt x="614489" y="17208"/>
                </a:lnTo>
                <a:lnTo>
                  <a:pt x="627082" y="35897"/>
                </a:lnTo>
                <a:lnTo>
                  <a:pt x="631698" y="58800"/>
                </a:lnTo>
                <a:lnTo>
                  <a:pt x="631698" y="294005"/>
                </a:lnTo>
                <a:lnTo>
                  <a:pt x="627082" y="316908"/>
                </a:lnTo>
                <a:lnTo>
                  <a:pt x="614489" y="335597"/>
                </a:lnTo>
                <a:lnTo>
                  <a:pt x="595800" y="348190"/>
                </a:lnTo>
                <a:lnTo>
                  <a:pt x="572897" y="352806"/>
                </a:lnTo>
                <a:lnTo>
                  <a:pt x="58800" y="352806"/>
                </a:lnTo>
                <a:lnTo>
                  <a:pt x="35897" y="348190"/>
                </a:lnTo>
                <a:lnTo>
                  <a:pt x="17208" y="335597"/>
                </a:lnTo>
                <a:lnTo>
                  <a:pt x="4615" y="316908"/>
                </a:lnTo>
                <a:lnTo>
                  <a:pt x="0" y="294005"/>
                </a:lnTo>
                <a:lnTo>
                  <a:pt x="0" y="58800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022341" y="4160011"/>
            <a:ext cx="436245" cy="33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8580">
              <a:lnSpc>
                <a:spcPct val="101499"/>
              </a:lnSpc>
              <a:spcBef>
                <a:spcPts val="95"/>
              </a:spcBef>
            </a:pPr>
            <a:r>
              <a:rPr sz="1000" b="1" spc="-45" dirty="0">
                <a:latin typeface="Trebuchet MS"/>
                <a:cs typeface="Trebuchet MS"/>
              </a:rPr>
              <a:t>Nivel  </a:t>
            </a:r>
            <a:r>
              <a:rPr sz="1000" b="1" spc="-55" dirty="0">
                <a:latin typeface="Trebuchet MS"/>
                <a:cs typeface="Trebuchet MS"/>
              </a:rPr>
              <a:t>Enti</a:t>
            </a:r>
            <a:r>
              <a:rPr sz="1000" b="1" spc="-35" dirty="0">
                <a:latin typeface="Trebuchet MS"/>
                <a:cs typeface="Trebuchet MS"/>
              </a:rPr>
              <a:t>dad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220336" y="4582286"/>
            <a:ext cx="1336548" cy="63322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20336" y="4582286"/>
            <a:ext cx="1336675" cy="633730"/>
          </a:xfrm>
          <a:custGeom>
            <a:avLst/>
            <a:gdLst/>
            <a:ahLst/>
            <a:cxnLst/>
            <a:rect l="l" t="t" r="r" b="b"/>
            <a:pathLst>
              <a:path w="1336675" h="633729">
                <a:moveTo>
                  <a:pt x="0" y="105537"/>
                </a:moveTo>
                <a:lnTo>
                  <a:pt x="8292" y="64454"/>
                </a:lnTo>
                <a:lnTo>
                  <a:pt x="30908" y="30908"/>
                </a:lnTo>
                <a:lnTo>
                  <a:pt x="64454" y="8292"/>
                </a:lnTo>
                <a:lnTo>
                  <a:pt x="105537" y="0"/>
                </a:lnTo>
                <a:lnTo>
                  <a:pt x="1231011" y="0"/>
                </a:lnTo>
                <a:lnTo>
                  <a:pt x="1272093" y="8292"/>
                </a:lnTo>
                <a:lnTo>
                  <a:pt x="1305639" y="30908"/>
                </a:lnTo>
                <a:lnTo>
                  <a:pt x="1328255" y="64454"/>
                </a:lnTo>
                <a:lnTo>
                  <a:pt x="1336548" y="105537"/>
                </a:lnTo>
                <a:lnTo>
                  <a:pt x="1336548" y="527685"/>
                </a:lnTo>
                <a:lnTo>
                  <a:pt x="1328255" y="568767"/>
                </a:lnTo>
                <a:lnTo>
                  <a:pt x="1305639" y="602313"/>
                </a:lnTo>
                <a:lnTo>
                  <a:pt x="1272093" y="624929"/>
                </a:lnTo>
                <a:lnTo>
                  <a:pt x="1231011" y="633221"/>
                </a:lnTo>
                <a:lnTo>
                  <a:pt x="105537" y="633221"/>
                </a:lnTo>
                <a:lnTo>
                  <a:pt x="64454" y="624929"/>
                </a:lnTo>
                <a:lnTo>
                  <a:pt x="30908" y="602313"/>
                </a:lnTo>
                <a:lnTo>
                  <a:pt x="8292" y="568767"/>
                </a:lnTo>
                <a:lnTo>
                  <a:pt x="0" y="527685"/>
                </a:lnTo>
                <a:lnTo>
                  <a:pt x="0" y="105537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138421" y="3904488"/>
            <a:ext cx="831341" cy="2926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4207255" y="3849217"/>
            <a:ext cx="680085" cy="490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770" marR="5080" indent="-179705">
              <a:lnSpc>
                <a:spcPct val="152700"/>
              </a:lnSpc>
              <a:spcBef>
                <a:spcPts val="95"/>
              </a:spcBef>
            </a:pPr>
            <a:r>
              <a:rPr sz="1000" b="1" spc="-50" dirty="0">
                <a:latin typeface="Trebuchet MS"/>
                <a:cs typeface="Trebuchet MS"/>
              </a:rPr>
              <a:t>Corporación  </a:t>
            </a:r>
            <a:r>
              <a:rPr sz="1000" b="1" spc="-45" dirty="0">
                <a:latin typeface="Trebuchet MS"/>
                <a:cs typeface="Trebuchet MS"/>
              </a:rPr>
              <a:t>Nivel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280153" y="4607814"/>
            <a:ext cx="1228344" cy="29184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348988" y="4630673"/>
            <a:ext cx="1077595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-40" dirty="0">
                <a:latin typeface="Trebuchet MS"/>
                <a:cs typeface="Trebuchet MS"/>
              </a:rPr>
              <a:t>Unidad </a:t>
            </a:r>
            <a:r>
              <a:rPr sz="1000" b="1" spc="-55" dirty="0">
                <a:latin typeface="Trebuchet MS"/>
                <a:cs typeface="Trebuchet MS"/>
              </a:rPr>
              <a:t>de</a:t>
            </a:r>
            <a:r>
              <a:rPr sz="1000" b="1" spc="-130" dirty="0">
                <a:latin typeface="Trebuchet MS"/>
                <a:cs typeface="Trebuchet MS"/>
              </a:rPr>
              <a:t> </a:t>
            </a:r>
            <a:r>
              <a:rPr sz="1000" b="1" spc="-45" dirty="0">
                <a:latin typeface="Trebuchet MS"/>
                <a:cs typeface="Trebuchet MS"/>
              </a:rPr>
              <a:t>negocios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291203" y="4862703"/>
            <a:ext cx="281177" cy="28117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291203" y="4862703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0" y="281178"/>
                </a:moveTo>
                <a:lnTo>
                  <a:pt x="281177" y="281178"/>
                </a:lnTo>
                <a:lnTo>
                  <a:pt x="281177" y="0"/>
                </a:lnTo>
                <a:lnTo>
                  <a:pt x="0" y="0"/>
                </a:lnTo>
                <a:lnTo>
                  <a:pt x="0" y="281178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739259" y="4862703"/>
            <a:ext cx="281177" cy="28117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739259" y="4862703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0" y="281178"/>
                </a:moveTo>
                <a:lnTo>
                  <a:pt x="281177" y="281178"/>
                </a:lnTo>
                <a:lnTo>
                  <a:pt x="281177" y="0"/>
                </a:lnTo>
                <a:lnTo>
                  <a:pt x="0" y="0"/>
                </a:lnTo>
                <a:lnTo>
                  <a:pt x="0" y="281178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205603" y="4862703"/>
            <a:ext cx="281177" cy="28117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205603" y="4862703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4" h="281304">
                <a:moveTo>
                  <a:pt x="0" y="281178"/>
                </a:moveTo>
                <a:lnTo>
                  <a:pt x="281177" y="281178"/>
                </a:lnTo>
                <a:lnTo>
                  <a:pt x="281177" y="0"/>
                </a:lnTo>
                <a:lnTo>
                  <a:pt x="0" y="0"/>
                </a:lnTo>
                <a:lnTo>
                  <a:pt x="0" y="281178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20336" y="5284851"/>
            <a:ext cx="1336548" cy="6339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220336" y="5284851"/>
            <a:ext cx="1336675" cy="634365"/>
          </a:xfrm>
          <a:custGeom>
            <a:avLst/>
            <a:gdLst/>
            <a:ahLst/>
            <a:cxnLst/>
            <a:rect l="l" t="t" r="r" b="b"/>
            <a:pathLst>
              <a:path w="1336675" h="634364">
                <a:moveTo>
                  <a:pt x="0" y="105664"/>
                </a:moveTo>
                <a:lnTo>
                  <a:pt x="8294" y="64508"/>
                </a:lnTo>
                <a:lnTo>
                  <a:pt x="30924" y="30924"/>
                </a:lnTo>
                <a:lnTo>
                  <a:pt x="64508" y="8294"/>
                </a:lnTo>
                <a:lnTo>
                  <a:pt x="105663" y="0"/>
                </a:lnTo>
                <a:lnTo>
                  <a:pt x="1230884" y="0"/>
                </a:lnTo>
                <a:lnTo>
                  <a:pt x="1271986" y="8294"/>
                </a:lnTo>
                <a:lnTo>
                  <a:pt x="1305575" y="30924"/>
                </a:lnTo>
                <a:lnTo>
                  <a:pt x="1328235" y="64508"/>
                </a:lnTo>
                <a:lnTo>
                  <a:pt x="1336548" y="105664"/>
                </a:lnTo>
                <a:lnTo>
                  <a:pt x="1336548" y="528320"/>
                </a:lnTo>
                <a:lnTo>
                  <a:pt x="1328235" y="569449"/>
                </a:lnTo>
                <a:lnTo>
                  <a:pt x="1305575" y="603035"/>
                </a:lnTo>
                <a:lnTo>
                  <a:pt x="1271986" y="625680"/>
                </a:lnTo>
                <a:lnTo>
                  <a:pt x="1230884" y="633984"/>
                </a:lnTo>
                <a:lnTo>
                  <a:pt x="105663" y="633984"/>
                </a:lnTo>
                <a:lnTo>
                  <a:pt x="64508" y="625680"/>
                </a:lnTo>
                <a:lnTo>
                  <a:pt x="30924" y="603035"/>
                </a:lnTo>
                <a:lnTo>
                  <a:pt x="8294" y="569449"/>
                </a:lnTo>
                <a:lnTo>
                  <a:pt x="0" y="528320"/>
                </a:lnTo>
                <a:lnTo>
                  <a:pt x="0" y="105664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00905" y="5311140"/>
            <a:ext cx="1387602" cy="29184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269740" y="5334000"/>
            <a:ext cx="1236980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b="1" spc="-50" dirty="0">
                <a:latin typeface="Trebuchet MS"/>
                <a:cs typeface="Trebuchet MS"/>
              </a:rPr>
              <a:t>Procesos </a:t>
            </a:r>
            <a:r>
              <a:rPr sz="1000" b="1" spc="-55" dirty="0">
                <a:latin typeface="Trebuchet MS"/>
                <a:cs typeface="Trebuchet MS"/>
              </a:rPr>
              <a:t>y</a:t>
            </a:r>
            <a:r>
              <a:rPr sz="1000" b="1" spc="-150" dirty="0">
                <a:latin typeface="Trebuchet MS"/>
                <a:cs typeface="Trebuchet MS"/>
              </a:rPr>
              <a:t> </a:t>
            </a:r>
            <a:r>
              <a:rPr sz="1000" b="1" spc="-50" dirty="0">
                <a:latin typeface="Trebuchet MS"/>
                <a:cs typeface="Trebuchet MS"/>
              </a:rPr>
              <a:t>Actividades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291203" y="5707760"/>
            <a:ext cx="140208" cy="13944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91203" y="5707760"/>
            <a:ext cx="140335" cy="139700"/>
          </a:xfrm>
          <a:custGeom>
            <a:avLst/>
            <a:gdLst/>
            <a:ahLst/>
            <a:cxnLst/>
            <a:rect l="l" t="t" r="r" b="b"/>
            <a:pathLst>
              <a:path w="140335" h="139700">
                <a:moveTo>
                  <a:pt x="0" y="139445"/>
                </a:moveTo>
                <a:lnTo>
                  <a:pt x="140208" y="139445"/>
                </a:lnTo>
                <a:lnTo>
                  <a:pt x="140208" y="0"/>
                </a:lnTo>
                <a:lnTo>
                  <a:pt x="0" y="0"/>
                </a:lnTo>
                <a:lnTo>
                  <a:pt x="0" y="139445"/>
                </a:lnTo>
                <a:close/>
              </a:path>
            </a:pathLst>
          </a:custGeom>
          <a:ln w="9906">
            <a:solidFill>
              <a:srgbClr val="00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502277" y="5707760"/>
            <a:ext cx="140208" cy="13944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502277" y="5707760"/>
            <a:ext cx="140335" cy="139700"/>
          </a:xfrm>
          <a:custGeom>
            <a:avLst/>
            <a:gdLst/>
            <a:ahLst/>
            <a:cxnLst/>
            <a:rect l="l" t="t" r="r" b="b"/>
            <a:pathLst>
              <a:path w="140335" h="139700">
                <a:moveTo>
                  <a:pt x="0" y="139445"/>
                </a:moveTo>
                <a:lnTo>
                  <a:pt x="140208" y="139445"/>
                </a:lnTo>
                <a:lnTo>
                  <a:pt x="140208" y="0"/>
                </a:lnTo>
                <a:lnTo>
                  <a:pt x="0" y="0"/>
                </a:lnTo>
                <a:lnTo>
                  <a:pt x="0" y="139445"/>
                </a:lnTo>
                <a:close/>
              </a:path>
            </a:pathLst>
          </a:custGeom>
          <a:ln w="9906">
            <a:solidFill>
              <a:srgbClr val="00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713351" y="5707760"/>
            <a:ext cx="140208" cy="13944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713351" y="5707760"/>
            <a:ext cx="140335" cy="139700"/>
          </a:xfrm>
          <a:custGeom>
            <a:avLst/>
            <a:gdLst/>
            <a:ahLst/>
            <a:cxnLst/>
            <a:rect l="l" t="t" r="r" b="b"/>
            <a:pathLst>
              <a:path w="140335" h="139700">
                <a:moveTo>
                  <a:pt x="0" y="139445"/>
                </a:moveTo>
                <a:lnTo>
                  <a:pt x="140208" y="139445"/>
                </a:lnTo>
                <a:lnTo>
                  <a:pt x="140208" y="0"/>
                </a:lnTo>
                <a:lnTo>
                  <a:pt x="0" y="0"/>
                </a:lnTo>
                <a:lnTo>
                  <a:pt x="0" y="139445"/>
                </a:lnTo>
                <a:close/>
              </a:path>
            </a:pathLst>
          </a:custGeom>
          <a:ln w="9906">
            <a:solidFill>
              <a:srgbClr val="00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925186" y="5707760"/>
            <a:ext cx="139446" cy="13944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925186" y="570776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0" y="139445"/>
                </a:moveTo>
                <a:lnTo>
                  <a:pt x="139446" y="139445"/>
                </a:lnTo>
                <a:lnTo>
                  <a:pt x="139446" y="0"/>
                </a:lnTo>
                <a:lnTo>
                  <a:pt x="0" y="0"/>
                </a:lnTo>
                <a:lnTo>
                  <a:pt x="0" y="139445"/>
                </a:lnTo>
                <a:close/>
              </a:path>
            </a:pathLst>
          </a:custGeom>
          <a:ln w="9906">
            <a:solidFill>
              <a:srgbClr val="00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134736" y="5707760"/>
            <a:ext cx="140970" cy="13944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134736" y="5707760"/>
            <a:ext cx="140970" cy="139700"/>
          </a:xfrm>
          <a:custGeom>
            <a:avLst/>
            <a:gdLst/>
            <a:ahLst/>
            <a:cxnLst/>
            <a:rect l="l" t="t" r="r" b="b"/>
            <a:pathLst>
              <a:path w="140970" h="139700">
                <a:moveTo>
                  <a:pt x="0" y="139445"/>
                </a:moveTo>
                <a:lnTo>
                  <a:pt x="140970" y="139445"/>
                </a:lnTo>
                <a:lnTo>
                  <a:pt x="140970" y="0"/>
                </a:lnTo>
                <a:lnTo>
                  <a:pt x="0" y="0"/>
                </a:lnTo>
                <a:lnTo>
                  <a:pt x="0" y="139445"/>
                </a:lnTo>
                <a:close/>
              </a:path>
            </a:pathLst>
          </a:custGeom>
          <a:ln w="9906">
            <a:solidFill>
              <a:srgbClr val="00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45810" y="5707760"/>
            <a:ext cx="140970" cy="13944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345810" y="5707760"/>
            <a:ext cx="140970" cy="139700"/>
          </a:xfrm>
          <a:custGeom>
            <a:avLst/>
            <a:gdLst/>
            <a:ahLst/>
            <a:cxnLst/>
            <a:rect l="l" t="t" r="r" b="b"/>
            <a:pathLst>
              <a:path w="140970" h="139700">
                <a:moveTo>
                  <a:pt x="0" y="139445"/>
                </a:moveTo>
                <a:lnTo>
                  <a:pt x="140970" y="139445"/>
                </a:lnTo>
                <a:lnTo>
                  <a:pt x="140970" y="0"/>
                </a:lnTo>
                <a:lnTo>
                  <a:pt x="0" y="0"/>
                </a:lnTo>
                <a:lnTo>
                  <a:pt x="0" y="139445"/>
                </a:lnTo>
                <a:close/>
              </a:path>
            </a:pathLst>
          </a:custGeom>
          <a:ln w="9906">
            <a:solidFill>
              <a:srgbClr val="00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6177279" y="3292347"/>
            <a:ext cx="1649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latin typeface="Trebuchet MS"/>
                <a:cs typeface="Trebuchet MS"/>
              </a:rPr>
              <a:t>Componentes de </a:t>
            </a:r>
            <a:r>
              <a:rPr sz="1200" b="1" spc="-55" dirty="0">
                <a:latin typeface="Trebuchet MS"/>
                <a:cs typeface="Trebuchet MS"/>
              </a:rPr>
              <a:t>Riesgo</a:t>
            </a:r>
            <a:r>
              <a:rPr sz="1200" b="1" spc="-160" dirty="0">
                <a:latin typeface="Trebuchet MS"/>
                <a:cs typeface="Trebuchet MS"/>
              </a:rPr>
              <a:t> </a:t>
            </a:r>
            <a:r>
              <a:rPr sz="1200" b="1" spc="45" dirty="0">
                <a:latin typeface="Trebuchet MS"/>
                <a:cs typeface="Trebuchet MS"/>
              </a:rPr>
              <a:t>/  </a:t>
            </a:r>
            <a:r>
              <a:rPr sz="1200" b="1" spc="-60" dirty="0">
                <a:latin typeface="Trebuchet MS"/>
                <a:cs typeface="Trebuchet MS"/>
              </a:rPr>
              <a:t>Impulsores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6189726" y="3736847"/>
            <a:ext cx="1617980" cy="0"/>
          </a:xfrm>
          <a:custGeom>
            <a:avLst/>
            <a:gdLst/>
            <a:ahLst/>
            <a:cxnLst/>
            <a:rect l="l" t="t" r="r" b="b"/>
            <a:pathLst>
              <a:path w="1617979">
                <a:moveTo>
                  <a:pt x="0" y="0"/>
                </a:moveTo>
                <a:lnTo>
                  <a:pt x="161772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92633" y="3878960"/>
            <a:ext cx="1266825" cy="2179320"/>
          </a:xfrm>
          <a:custGeom>
            <a:avLst/>
            <a:gdLst/>
            <a:ahLst/>
            <a:cxnLst/>
            <a:rect l="l" t="t" r="r" b="b"/>
            <a:pathLst>
              <a:path w="1266825" h="2179320">
                <a:moveTo>
                  <a:pt x="1193165" y="0"/>
                </a:moveTo>
                <a:lnTo>
                  <a:pt x="73228" y="0"/>
                </a:lnTo>
                <a:lnTo>
                  <a:pt x="44721" y="5752"/>
                </a:lnTo>
                <a:lnTo>
                  <a:pt x="21445" y="21447"/>
                </a:lnTo>
                <a:lnTo>
                  <a:pt x="5753" y="44737"/>
                </a:lnTo>
                <a:lnTo>
                  <a:pt x="0" y="73278"/>
                </a:lnTo>
                <a:lnTo>
                  <a:pt x="0" y="2106091"/>
                </a:lnTo>
                <a:lnTo>
                  <a:pt x="5753" y="2134598"/>
                </a:lnTo>
                <a:lnTo>
                  <a:pt x="21445" y="2157874"/>
                </a:lnTo>
                <a:lnTo>
                  <a:pt x="44721" y="2173566"/>
                </a:lnTo>
                <a:lnTo>
                  <a:pt x="73228" y="2179320"/>
                </a:lnTo>
                <a:lnTo>
                  <a:pt x="1193165" y="2179320"/>
                </a:lnTo>
                <a:lnTo>
                  <a:pt x="1221706" y="2173566"/>
                </a:lnTo>
                <a:lnTo>
                  <a:pt x="1244996" y="2157874"/>
                </a:lnTo>
                <a:lnTo>
                  <a:pt x="1260691" y="2134598"/>
                </a:lnTo>
                <a:lnTo>
                  <a:pt x="1266444" y="2106091"/>
                </a:lnTo>
                <a:lnTo>
                  <a:pt x="1266444" y="73278"/>
                </a:lnTo>
                <a:lnTo>
                  <a:pt x="1260691" y="44737"/>
                </a:lnTo>
                <a:lnTo>
                  <a:pt x="1244996" y="21447"/>
                </a:lnTo>
                <a:lnTo>
                  <a:pt x="1221706" y="5752"/>
                </a:lnTo>
                <a:lnTo>
                  <a:pt x="1193165" y="0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2633" y="3878960"/>
            <a:ext cx="1266825" cy="2179320"/>
          </a:xfrm>
          <a:custGeom>
            <a:avLst/>
            <a:gdLst/>
            <a:ahLst/>
            <a:cxnLst/>
            <a:rect l="l" t="t" r="r" b="b"/>
            <a:pathLst>
              <a:path w="1266825" h="2179320">
                <a:moveTo>
                  <a:pt x="0" y="73278"/>
                </a:moveTo>
                <a:lnTo>
                  <a:pt x="5753" y="44737"/>
                </a:lnTo>
                <a:lnTo>
                  <a:pt x="21445" y="21447"/>
                </a:lnTo>
                <a:lnTo>
                  <a:pt x="44721" y="5752"/>
                </a:lnTo>
                <a:lnTo>
                  <a:pt x="73228" y="0"/>
                </a:lnTo>
                <a:lnTo>
                  <a:pt x="1193165" y="0"/>
                </a:lnTo>
                <a:lnTo>
                  <a:pt x="1221706" y="5752"/>
                </a:lnTo>
                <a:lnTo>
                  <a:pt x="1244996" y="21447"/>
                </a:lnTo>
                <a:lnTo>
                  <a:pt x="1260691" y="44737"/>
                </a:lnTo>
                <a:lnTo>
                  <a:pt x="1266444" y="73278"/>
                </a:lnTo>
                <a:lnTo>
                  <a:pt x="1266444" y="2106091"/>
                </a:lnTo>
                <a:lnTo>
                  <a:pt x="1260691" y="2134598"/>
                </a:lnTo>
                <a:lnTo>
                  <a:pt x="1244996" y="2157874"/>
                </a:lnTo>
                <a:lnTo>
                  <a:pt x="1221706" y="2173566"/>
                </a:lnTo>
                <a:lnTo>
                  <a:pt x="1193165" y="2179320"/>
                </a:lnTo>
                <a:lnTo>
                  <a:pt x="73228" y="2179320"/>
                </a:lnTo>
                <a:lnTo>
                  <a:pt x="44721" y="2173566"/>
                </a:lnTo>
                <a:lnTo>
                  <a:pt x="21445" y="2157874"/>
                </a:lnTo>
                <a:lnTo>
                  <a:pt x="5753" y="2134598"/>
                </a:lnTo>
                <a:lnTo>
                  <a:pt x="0" y="2106091"/>
                </a:lnTo>
                <a:lnTo>
                  <a:pt x="0" y="73278"/>
                </a:lnTo>
                <a:close/>
              </a:path>
            </a:pathLst>
          </a:custGeom>
          <a:ln w="9906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62737" y="4651628"/>
            <a:ext cx="1125474" cy="56387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62737" y="4651628"/>
            <a:ext cx="1125855" cy="563880"/>
          </a:xfrm>
          <a:custGeom>
            <a:avLst/>
            <a:gdLst/>
            <a:ahLst/>
            <a:cxnLst/>
            <a:rect l="l" t="t" r="r" b="b"/>
            <a:pathLst>
              <a:path w="1125855" h="563879">
                <a:moveTo>
                  <a:pt x="0" y="41148"/>
                </a:moveTo>
                <a:lnTo>
                  <a:pt x="3232" y="25128"/>
                </a:lnTo>
                <a:lnTo>
                  <a:pt x="12045" y="12049"/>
                </a:lnTo>
                <a:lnTo>
                  <a:pt x="25117" y="3232"/>
                </a:lnTo>
                <a:lnTo>
                  <a:pt x="41122" y="0"/>
                </a:lnTo>
                <a:lnTo>
                  <a:pt x="1084326" y="0"/>
                </a:lnTo>
                <a:lnTo>
                  <a:pt x="1100345" y="3232"/>
                </a:lnTo>
                <a:lnTo>
                  <a:pt x="1113424" y="12049"/>
                </a:lnTo>
                <a:lnTo>
                  <a:pt x="1122241" y="25128"/>
                </a:lnTo>
                <a:lnTo>
                  <a:pt x="1125474" y="41148"/>
                </a:lnTo>
                <a:lnTo>
                  <a:pt x="1125474" y="522732"/>
                </a:lnTo>
                <a:lnTo>
                  <a:pt x="1122241" y="538751"/>
                </a:lnTo>
                <a:lnTo>
                  <a:pt x="1113424" y="551830"/>
                </a:lnTo>
                <a:lnTo>
                  <a:pt x="1100345" y="560647"/>
                </a:lnTo>
                <a:lnTo>
                  <a:pt x="1084326" y="563880"/>
                </a:lnTo>
                <a:lnTo>
                  <a:pt x="41122" y="563880"/>
                </a:lnTo>
                <a:lnTo>
                  <a:pt x="25117" y="560647"/>
                </a:lnTo>
                <a:lnTo>
                  <a:pt x="12045" y="551830"/>
                </a:lnTo>
                <a:lnTo>
                  <a:pt x="3232" y="538751"/>
                </a:lnTo>
                <a:lnTo>
                  <a:pt x="0" y="522732"/>
                </a:lnTo>
                <a:lnTo>
                  <a:pt x="0" y="41148"/>
                </a:lnTo>
                <a:close/>
              </a:path>
            </a:pathLst>
          </a:custGeom>
          <a:ln w="9906">
            <a:solidFill>
              <a:srgbClr val="33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67690" y="4677155"/>
            <a:ext cx="1115695" cy="44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167640" algn="ctr">
              <a:lnSpc>
                <a:spcPct val="102499"/>
              </a:lnSpc>
              <a:spcBef>
                <a:spcPts val="95"/>
              </a:spcBef>
            </a:pPr>
            <a:r>
              <a:rPr sz="900" b="1" spc="-35" dirty="0">
                <a:solidFill>
                  <a:srgbClr val="003300"/>
                </a:solidFill>
                <a:latin typeface="Trebuchet MS"/>
                <a:cs typeface="Trebuchet MS"/>
              </a:rPr>
              <a:t>Integridad </a:t>
            </a:r>
            <a:r>
              <a:rPr sz="900" b="1" spc="-40" dirty="0">
                <a:solidFill>
                  <a:srgbClr val="003300"/>
                </a:solidFill>
                <a:latin typeface="Trebuchet MS"/>
                <a:cs typeface="Trebuchet MS"/>
              </a:rPr>
              <a:t>de</a:t>
            </a:r>
            <a:r>
              <a:rPr sz="900" b="1" spc="-145" dirty="0">
                <a:solidFill>
                  <a:srgbClr val="003300"/>
                </a:solidFill>
                <a:latin typeface="Trebuchet MS"/>
                <a:cs typeface="Trebuchet MS"/>
              </a:rPr>
              <a:t> </a:t>
            </a:r>
            <a:r>
              <a:rPr sz="900" b="1" spc="-35" dirty="0">
                <a:solidFill>
                  <a:srgbClr val="003300"/>
                </a:solidFill>
                <a:latin typeface="Trebuchet MS"/>
                <a:cs typeface="Trebuchet MS"/>
              </a:rPr>
              <a:t>la  Información  </a:t>
            </a:r>
            <a:r>
              <a:rPr sz="900" b="1" spc="-50" dirty="0">
                <a:solidFill>
                  <a:srgbClr val="003300"/>
                </a:solidFill>
                <a:latin typeface="Trebuchet MS"/>
                <a:cs typeface="Trebuchet MS"/>
              </a:rPr>
              <a:t>Financiera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60627" y="5871971"/>
            <a:ext cx="328295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b="1" spc="-55" dirty="0">
                <a:solidFill>
                  <a:srgbClr val="003300"/>
                </a:solidFill>
                <a:latin typeface="Trebuchet MS"/>
                <a:cs typeface="Trebuchet MS"/>
              </a:rPr>
              <a:t>CO</a:t>
            </a:r>
            <a:r>
              <a:rPr sz="1000" b="1" spc="-25" dirty="0">
                <a:solidFill>
                  <a:srgbClr val="003300"/>
                </a:solidFill>
                <a:latin typeface="Trebuchet MS"/>
                <a:cs typeface="Trebuchet MS"/>
              </a:rPr>
              <a:t>SO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899285" y="4793360"/>
            <a:ext cx="283210" cy="350520"/>
          </a:xfrm>
          <a:custGeom>
            <a:avLst/>
            <a:gdLst/>
            <a:ahLst/>
            <a:cxnLst/>
            <a:rect l="l" t="t" r="r" b="b"/>
            <a:pathLst>
              <a:path w="283210" h="350520">
                <a:moveTo>
                  <a:pt x="211962" y="0"/>
                </a:moveTo>
                <a:lnTo>
                  <a:pt x="211962" y="87630"/>
                </a:lnTo>
                <a:lnTo>
                  <a:pt x="0" y="87630"/>
                </a:lnTo>
                <a:lnTo>
                  <a:pt x="0" y="262889"/>
                </a:lnTo>
                <a:lnTo>
                  <a:pt x="211962" y="262889"/>
                </a:lnTo>
                <a:lnTo>
                  <a:pt x="211962" y="350519"/>
                </a:lnTo>
                <a:lnTo>
                  <a:pt x="282701" y="175259"/>
                </a:lnTo>
                <a:lnTo>
                  <a:pt x="211962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899285" y="4793360"/>
            <a:ext cx="283210" cy="350520"/>
          </a:xfrm>
          <a:custGeom>
            <a:avLst/>
            <a:gdLst/>
            <a:ahLst/>
            <a:cxnLst/>
            <a:rect l="l" t="t" r="r" b="b"/>
            <a:pathLst>
              <a:path w="283210" h="350520">
                <a:moveTo>
                  <a:pt x="0" y="87630"/>
                </a:moveTo>
                <a:lnTo>
                  <a:pt x="211962" y="87630"/>
                </a:lnTo>
                <a:lnTo>
                  <a:pt x="211962" y="0"/>
                </a:lnTo>
                <a:lnTo>
                  <a:pt x="282701" y="175259"/>
                </a:lnTo>
                <a:lnTo>
                  <a:pt x="211962" y="350519"/>
                </a:lnTo>
                <a:lnTo>
                  <a:pt x="211962" y="262889"/>
                </a:lnTo>
                <a:lnTo>
                  <a:pt x="0" y="262889"/>
                </a:lnTo>
                <a:lnTo>
                  <a:pt x="0" y="87630"/>
                </a:lnTo>
                <a:close/>
              </a:path>
            </a:pathLst>
          </a:custGeom>
          <a:ln w="9906">
            <a:solidFill>
              <a:srgbClr val="FFCC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62737" y="4018407"/>
            <a:ext cx="1125474" cy="56388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62737" y="4018407"/>
            <a:ext cx="1125855" cy="563880"/>
          </a:xfrm>
          <a:custGeom>
            <a:avLst/>
            <a:gdLst/>
            <a:ahLst/>
            <a:cxnLst/>
            <a:rect l="l" t="t" r="r" b="b"/>
            <a:pathLst>
              <a:path w="1125855" h="563879">
                <a:moveTo>
                  <a:pt x="0" y="41148"/>
                </a:moveTo>
                <a:lnTo>
                  <a:pt x="3232" y="25128"/>
                </a:lnTo>
                <a:lnTo>
                  <a:pt x="12045" y="12049"/>
                </a:lnTo>
                <a:lnTo>
                  <a:pt x="25117" y="3232"/>
                </a:lnTo>
                <a:lnTo>
                  <a:pt x="41122" y="0"/>
                </a:lnTo>
                <a:lnTo>
                  <a:pt x="1084326" y="0"/>
                </a:lnTo>
                <a:lnTo>
                  <a:pt x="1100345" y="3232"/>
                </a:lnTo>
                <a:lnTo>
                  <a:pt x="1113424" y="12049"/>
                </a:lnTo>
                <a:lnTo>
                  <a:pt x="1122241" y="25128"/>
                </a:lnTo>
                <a:lnTo>
                  <a:pt x="1125474" y="41148"/>
                </a:lnTo>
                <a:lnTo>
                  <a:pt x="1125474" y="522732"/>
                </a:lnTo>
                <a:lnTo>
                  <a:pt x="1122241" y="538751"/>
                </a:lnTo>
                <a:lnTo>
                  <a:pt x="1113424" y="551830"/>
                </a:lnTo>
                <a:lnTo>
                  <a:pt x="1100345" y="560647"/>
                </a:lnTo>
                <a:lnTo>
                  <a:pt x="1084326" y="563880"/>
                </a:lnTo>
                <a:lnTo>
                  <a:pt x="41122" y="563880"/>
                </a:lnTo>
                <a:lnTo>
                  <a:pt x="25117" y="560647"/>
                </a:lnTo>
                <a:lnTo>
                  <a:pt x="12045" y="551830"/>
                </a:lnTo>
                <a:lnTo>
                  <a:pt x="3232" y="538751"/>
                </a:lnTo>
                <a:lnTo>
                  <a:pt x="0" y="522732"/>
                </a:lnTo>
                <a:lnTo>
                  <a:pt x="0" y="41148"/>
                </a:lnTo>
                <a:close/>
              </a:path>
            </a:pathLst>
          </a:custGeom>
          <a:ln w="9905">
            <a:solidFill>
              <a:srgbClr val="33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567690" y="4043679"/>
            <a:ext cx="1115695" cy="307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6520" marR="85090" indent="-6985">
              <a:lnSpc>
                <a:spcPct val="102800"/>
              </a:lnSpc>
              <a:spcBef>
                <a:spcPts val="90"/>
              </a:spcBef>
            </a:pPr>
            <a:r>
              <a:rPr sz="900" b="1" spc="-50" dirty="0">
                <a:solidFill>
                  <a:srgbClr val="003300"/>
                </a:solidFill>
                <a:latin typeface="Trebuchet MS"/>
                <a:cs typeface="Trebuchet MS"/>
              </a:rPr>
              <a:t>Eficiencia </a:t>
            </a:r>
            <a:r>
              <a:rPr sz="900" b="1" spc="-45" dirty="0">
                <a:solidFill>
                  <a:srgbClr val="003300"/>
                </a:solidFill>
                <a:latin typeface="Trebuchet MS"/>
                <a:cs typeface="Trebuchet MS"/>
              </a:rPr>
              <a:t>y</a:t>
            </a:r>
            <a:r>
              <a:rPr sz="900" b="1" spc="-140" dirty="0">
                <a:solidFill>
                  <a:srgbClr val="003300"/>
                </a:solidFill>
                <a:latin typeface="Trebuchet MS"/>
                <a:cs typeface="Trebuchet MS"/>
              </a:rPr>
              <a:t> </a:t>
            </a:r>
            <a:r>
              <a:rPr sz="900" b="1" spc="-55" dirty="0">
                <a:solidFill>
                  <a:srgbClr val="003300"/>
                </a:solidFill>
                <a:latin typeface="Trebuchet MS"/>
                <a:cs typeface="Trebuchet MS"/>
              </a:rPr>
              <a:t>Eficacia  </a:t>
            </a:r>
            <a:r>
              <a:rPr sz="900" b="1" spc="-40" dirty="0">
                <a:solidFill>
                  <a:srgbClr val="003300"/>
                </a:solidFill>
                <a:latin typeface="Trebuchet MS"/>
                <a:cs typeface="Trebuchet MS"/>
              </a:rPr>
              <a:t>de </a:t>
            </a:r>
            <a:r>
              <a:rPr sz="900" b="1" spc="-30" dirty="0">
                <a:solidFill>
                  <a:srgbClr val="003300"/>
                </a:solidFill>
                <a:latin typeface="Trebuchet MS"/>
                <a:cs typeface="Trebuchet MS"/>
              </a:rPr>
              <a:t>las</a:t>
            </a:r>
            <a:r>
              <a:rPr sz="900" b="1" spc="-165" dirty="0">
                <a:solidFill>
                  <a:srgbClr val="003300"/>
                </a:solidFill>
                <a:latin typeface="Trebuchet MS"/>
                <a:cs typeface="Trebuchet MS"/>
              </a:rPr>
              <a:t> </a:t>
            </a:r>
            <a:r>
              <a:rPr sz="900" b="1" spc="-40" dirty="0">
                <a:solidFill>
                  <a:srgbClr val="003300"/>
                </a:solidFill>
                <a:latin typeface="Trebuchet MS"/>
                <a:cs typeface="Trebuchet MS"/>
              </a:rPr>
              <a:t>Operaciones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562737" y="5284851"/>
            <a:ext cx="1125474" cy="56235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62737" y="5284851"/>
            <a:ext cx="1125855" cy="562610"/>
          </a:xfrm>
          <a:custGeom>
            <a:avLst/>
            <a:gdLst/>
            <a:ahLst/>
            <a:cxnLst/>
            <a:rect l="l" t="t" r="r" b="b"/>
            <a:pathLst>
              <a:path w="1125855" h="562610">
                <a:moveTo>
                  <a:pt x="0" y="41021"/>
                </a:moveTo>
                <a:lnTo>
                  <a:pt x="3223" y="25074"/>
                </a:lnTo>
                <a:lnTo>
                  <a:pt x="12012" y="12033"/>
                </a:lnTo>
                <a:lnTo>
                  <a:pt x="25047" y="3230"/>
                </a:lnTo>
                <a:lnTo>
                  <a:pt x="41008" y="0"/>
                </a:lnTo>
                <a:lnTo>
                  <a:pt x="1084452" y="0"/>
                </a:lnTo>
                <a:lnTo>
                  <a:pt x="1100399" y="3230"/>
                </a:lnTo>
                <a:lnTo>
                  <a:pt x="1113440" y="12033"/>
                </a:lnTo>
                <a:lnTo>
                  <a:pt x="1122243" y="25074"/>
                </a:lnTo>
                <a:lnTo>
                  <a:pt x="1125474" y="41021"/>
                </a:lnTo>
                <a:lnTo>
                  <a:pt x="1125474" y="521347"/>
                </a:lnTo>
                <a:lnTo>
                  <a:pt x="1122243" y="537308"/>
                </a:lnTo>
                <a:lnTo>
                  <a:pt x="1113440" y="550343"/>
                </a:lnTo>
                <a:lnTo>
                  <a:pt x="1100399" y="559132"/>
                </a:lnTo>
                <a:lnTo>
                  <a:pt x="1084452" y="562356"/>
                </a:lnTo>
                <a:lnTo>
                  <a:pt x="41008" y="562356"/>
                </a:lnTo>
                <a:lnTo>
                  <a:pt x="25047" y="559132"/>
                </a:lnTo>
                <a:lnTo>
                  <a:pt x="12012" y="550343"/>
                </a:lnTo>
                <a:lnTo>
                  <a:pt x="3223" y="537308"/>
                </a:lnTo>
                <a:lnTo>
                  <a:pt x="0" y="521347"/>
                </a:lnTo>
                <a:lnTo>
                  <a:pt x="0" y="41021"/>
                </a:lnTo>
                <a:close/>
              </a:path>
            </a:pathLst>
          </a:custGeom>
          <a:ln w="9906">
            <a:solidFill>
              <a:srgbClr val="33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67690" y="5310632"/>
            <a:ext cx="1115695" cy="44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103505" indent="635" algn="ctr">
              <a:lnSpc>
                <a:spcPct val="102499"/>
              </a:lnSpc>
              <a:spcBef>
                <a:spcPts val="95"/>
              </a:spcBef>
            </a:pPr>
            <a:r>
              <a:rPr sz="900" b="1" spc="-40" dirty="0">
                <a:solidFill>
                  <a:srgbClr val="003300"/>
                </a:solidFill>
                <a:latin typeface="Trebuchet MS"/>
                <a:cs typeface="Trebuchet MS"/>
              </a:rPr>
              <a:t>Cumplimiento de  </a:t>
            </a:r>
            <a:r>
              <a:rPr sz="900" b="1" spc="-60" dirty="0">
                <a:solidFill>
                  <a:srgbClr val="003300"/>
                </a:solidFill>
                <a:latin typeface="Trebuchet MS"/>
                <a:cs typeface="Trebuchet MS"/>
              </a:rPr>
              <a:t>Leyes </a:t>
            </a:r>
            <a:r>
              <a:rPr sz="900" b="1" spc="-45" dirty="0">
                <a:solidFill>
                  <a:srgbClr val="003300"/>
                </a:solidFill>
                <a:latin typeface="Trebuchet MS"/>
                <a:cs typeface="Trebuchet MS"/>
              </a:rPr>
              <a:t>y  </a:t>
            </a:r>
            <a:r>
              <a:rPr sz="900" b="1" spc="-30" dirty="0">
                <a:solidFill>
                  <a:srgbClr val="003300"/>
                </a:solidFill>
                <a:latin typeface="Trebuchet MS"/>
                <a:cs typeface="Trebuchet MS"/>
              </a:rPr>
              <a:t>R</a:t>
            </a:r>
            <a:r>
              <a:rPr sz="900" b="1" spc="-55" dirty="0">
                <a:solidFill>
                  <a:srgbClr val="003300"/>
                </a:solidFill>
                <a:latin typeface="Trebuchet MS"/>
                <a:cs typeface="Trebuchet MS"/>
              </a:rPr>
              <a:t>e</a:t>
            </a:r>
            <a:r>
              <a:rPr sz="900" b="1" spc="-40" dirty="0">
                <a:solidFill>
                  <a:srgbClr val="003300"/>
                </a:solidFill>
                <a:latin typeface="Trebuchet MS"/>
                <a:cs typeface="Trebuchet MS"/>
              </a:rPr>
              <a:t>glame</a:t>
            </a:r>
            <a:r>
              <a:rPr sz="900" b="1" spc="-35" dirty="0">
                <a:solidFill>
                  <a:srgbClr val="003300"/>
                </a:solidFill>
                <a:latin typeface="Trebuchet MS"/>
                <a:cs typeface="Trebuchet MS"/>
              </a:rPr>
              <a:t>n</a:t>
            </a:r>
            <a:r>
              <a:rPr sz="900" b="1" spc="-30" dirty="0">
                <a:solidFill>
                  <a:srgbClr val="003300"/>
                </a:solidFill>
                <a:latin typeface="Trebuchet MS"/>
                <a:cs typeface="Trebuchet MS"/>
              </a:rPr>
              <a:t>t</a:t>
            </a:r>
            <a:r>
              <a:rPr sz="900" b="1" spc="-40" dirty="0">
                <a:solidFill>
                  <a:srgbClr val="003300"/>
                </a:solidFill>
                <a:latin typeface="Trebuchet MS"/>
                <a:cs typeface="Trebuchet MS"/>
              </a:rPr>
              <a:t>a</a:t>
            </a:r>
            <a:r>
              <a:rPr sz="900" b="1" spc="-50" dirty="0">
                <a:solidFill>
                  <a:srgbClr val="003300"/>
                </a:solidFill>
                <a:latin typeface="Trebuchet MS"/>
                <a:cs typeface="Trebuchet MS"/>
              </a:rPr>
              <a:t>cione</a:t>
            </a:r>
            <a:r>
              <a:rPr sz="900" b="1" spc="-20" dirty="0">
                <a:solidFill>
                  <a:srgbClr val="003300"/>
                </a:solidFill>
                <a:latin typeface="Trebuchet MS"/>
                <a:cs typeface="Trebuchet MS"/>
              </a:rPr>
              <a:t>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657980" y="4793360"/>
            <a:ext cx="281305" cy="350520"/>
          </a:xfrm>
          <a:custGeom>
            <a:avLst/>
            <a:gdLst/>
            <a:ahLst/>
            <a:cxnLst/>
            <a:rect l="l" t="t" r="r" b="b"/>
            <a:pathLst>
              <a:path w="281304" h="350520">
                <a:moveTo>
                  <a:pt x="210820" y="0"/>
                </a:moveTo>
                <a:lnTo>
                  <a:pt x="210820" y="87630"/>
                </a:lnTo>
                <a:lnTo>
                  <a:pt x="0" y="87630"/>
                </a:lnTo>
                <a:lnTo>
                  <a:pt x="0" y="262889"/>
                </a:lnTo>
                <a:lnTo>
                  <a:pt x="210820" y="262889"/>
                </a:lnTo>
                <a:lnTo>
                  <a:pt x="210820" y="350519"/>
                </a:lnTo>
                <a:lnTo>
                  <a:pt x="281178" y="175259"/>
                </a:lnTo>
                <a:lnTo>
                  <a:pt x="21082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657980" y="4793360"/>
            <a:ext cx="281305" cy="350520"/>
          </a:xfrm>
          <a:custGeom>
            <a:avLst/>
            <a:gdLst/>
            <a:ahLst/>
            <a:cxnLst/>
            <a:rect l="l" t="t" r="r" b="b"/>
            <a:pathLst>
              <a:path w="281304" h="350520">
                <a:moveTo>
                  <a:pt x="0" y="87630"/>
                </a:moveTo>
                <a:lnTo>
                  <a:pt x="210820" y="87630"/>
                </a:lnTo>
                <a:lnTo>
                  <a:pt x="210820" y="0"/>
                </a:lnTo>
                <a:lnTo>
                  <a:pt x="281178" y="175259"/>
                </a:lnTo>
                <a:lnTo>
                  <a:pt x="210820" y="350519"/>
                </a:lnTo>
                <a:lnTo>
                  <a:pt x="210820" y="262889"/>
                </a:lnTo>
                <a:lnTo>
                  <a:pt x="0" y="262889"/>
                </a:lnTo>
                <a:lnTo>
                  <a:pt x="0" y="87630"/>
                </a:lnTo>
                <a:close/>
              </a:path>
            </a:pathLst>
          </a:custGeom>
          <a:ln w="9906">
            <a:solidFill>
              <a:srgbClr val="FFCC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767959" y="4793360"/>
            <a:ext cx="281305" cy="350520"/>
          </a:xfrm>
          <a:custGeom>
            <a:avLst/>
            <a:gdLst/>
            <a:ahLst/>
            <a:cxnLst/>
            <a:rect l="l" t="t" r="r" b="b"/>
            <a:pathLst>
              <a:path w="281304" h="350520">
                <a:moveTo>
                  <a:pt x="70230" y="0"/>
                </a:moveTo>
                <a:lnTo>
                  <a:pt x="0" y="175259"/>
                </a:lnTo>
                <a:lnTo>
                  <a:pt x="70230" y="350519"/>
                </a:lnTo>
                <a:lnTo>
                  <a:pt x="70230" y="262889"/>
                </a:lnTo>
                <a:lnTo>
                  <a:pt x="281177" y="262889"/>
                </a:lnTo>
                <a:lnTo>
                  <a:pt x="281177" y="87630"/>
                </a:lnTo>
                <a:lnTo>
                  <a:pt x="70230" y="87630"/>
                </a:lnTo>
                <a:lnTo>
                  <a:pt x="7023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767959" y="4793360"/>
            <a:ext cx="281305" cy="350520"/>
          </a:xfrm>
          <a:custGeom>
            <a:avLst/>
            <a:gdLst/>
            <a:ahLst/>
            <a:cxnLst/>
            <a:rect l="l" t="t" r="r" b="b"/>
            <a:pathLst>
              <a:path w="281304" h="350520">
                <a:moveTo>
                  <a:pt x="281177" y="262889"/>
                </a:moveTo>
                <a:lnTo>
                  <a:pt x="70230" y="262889"/>
                </a:lnTo>
                <a:lnTo>
                  <a:pt x="70230" y="350519"/>
                </a:lnTo>
                <a:lnTo>
                  <a:pt x="0" y="175259"/>
                </a:lnTo>
                <a:lnTo>
                  <a:pt x="70230" y="0"/>
                </a:lnTo>
                <a:lnTo>
                  <a:pt x="70230" y="87630"/>
                </a:lnTo>
                <a:lnTo>
                  <a:pt x="281177" y="87630"/>
                </a:lnTo>
                <a:lnTo>
                  <a:pt x="281177" y="262889"/>
                </a:lnTo>
                <a:close/>
              </a:path>
            </a:pathLst>
          </a:custGeom>
          <a:ln w="9906">
            <a:solidFill>
              <a:srgbClr val="FFCC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6177279" y="3799179"/>
            <a:ext cx="2510155" cy="182054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14300" indent="-101600">
              <a:lnSpc>
                <a:spcPct val="100000"/>
              </a:lnSpc>
              <a:spcBef>
                <a:spcPts val="360"/>
              </a:spcBef>
              <a:buClr>
                <a:srgbClr val="009999"/>
              </a:buClr>
              <a:buFont typeface="Arial"/>
              <a:buChar char="•"/>
              <a:tabLst>
                <a:tab pos="114300" algn="l"/>
              </a:tabLst>
            </a:pPr>
            <a:r>
              <a:rPr sz="1000" b="1" spc="-50" dirty="0">
                <a:latin typeface="Trebuchet MS"/>
                <a:cs typeface="Trebuchet MS"/>
              </a:rPr>
              <a:t>Influencias</a:t>
            </a:r>
            <a:r>
              <a:rPr sz="1000" b="1" spc="-110" dirty="0">
                <a:latin typeface="Trebuchet MS"/>
                <a:cs typeface="Trebuchet MS"/>
              </a:rPr>
              <a:t> </a:t>
            </a:r>
            <a:r>
              <a:rPr sz="1000" b="1" spc="-45" dirty="0">
                <a:latin typeface="Trebuchet MS"/>
                <a:cs typeface="Trebuchet MS"/>
              </a:rPr>
              <a:t>geopolíticas</a:t>
            </a:r>
            <a:endParaRPr sz="1000">
              <a:latin typeface="Trebuchet MS"/>
              <a:cs typeface="Trebuchet MS"/>
            </a:endParaRPr>
          </a:p>
          <a:p>
            <a:pPr marL="114300" indent="-101600">
              <a:lnSpc>
                <a:spcPct val="100000"/>
              </a:lnSpc>
              <a:spcBef>
                <a:spcPts val="265"/>
              </a:spcBef>
              <a:buClr>
                <a:srgbClr val="009999"/>
              </a:buClr>
              <a:buFont typeface="Arial"/>
              <a:buChar char="•"/>
              <a:tabLst>
                <a:tab pos="114300" algn="l"/>
              </a:tabLst>
            </a:pPr>
            <a:r>
              <a:rPr sz="1000" b="1" spc="-60" dirty="0">
                <a:latin typeface="Trebuchet MS"/>
                <a:cs typeface="Trebuchet MS"/>
              </a:rPr>
              <a:t>Tendencias</a:t>
            </a:r>
            <a:r>
              <a:rPr sz="1000" b="1" spc="-125" dirty="0">
                <a:latin typeface="Trebuchet MS"/>
                <a:cs typeface="Trebuchet MS"/>
              </a:rPr>
              <a:t> </a:t>
            </a:r>
            <a:r>
              <a:rPr sz="1000" b="1" spc="-50" dirty="0">
                <a:latin typeface="Trebuchet MS"/>
                <a:cs typeface="Trebuchet MS"/>
              </a:rPr>
              <a:t>económicas</a:t>
            </a:r>
            <a:endParaRPr sz="1000">
              <a:latin typeface="Trebuchet MS"/>
              <a:cs typeface="Trebuchet MS"/>
            </a:endParaRPr>
          </a:p>
          <a:p>
            <a:pPr marL="114300" marR="86360" indent="-101600">
              <a:lnSpc>
                <a:spcPct val="101499"/>
              </a:lnSpc>
              <a:spcBef>
                <a:spcPts val="245"/>
              </a:spcBef>
              <a:buClr>
                <a:srgbClr val="009999"/>
              </a:buClr>
              <a:buFont typeface="Arial"/>
              <a:buChar char="•"/>
              <a:tabLst>
                <a:tab pos="114300" algn="l"/>
              </a:tabLst>
            </a:pPr>
            <a:r>
              <a:rPr sz="1000" b="1" spc="-50" dirty="0">
                <a:latin typeface="Trebuchet MS"/>
                <a:cs typeface="Trebuchet MS"/>
              </a:rPr>
              <a:t>Combinación </a:t>
            </a:r>
            <a:r>
              <a:rPr sz="1000" b="1" spc="-55" dirty="0">
                <a:latin typeface="Trebuchet MS"/>
                <a:cs typeface="Trebuchet MS"/>
              </a:rPr>
              <a:t>de </a:t>
            </a:r>
            <a:r>
              <a:rPr sz="1000" b="1" spc="-45" dirty="0">
                <a:latin typeface="Trebuchet MS"/>
                <a:cs typeface="Trebuchet MS"/>
              </a:rPr>
              <a:t>productos </a:t>
            </a:r>
            <a:r>
              <a:rPr sz="1000" b="1" spc="45" dirty="0">
                <a:latin typeface="Trebuchet MS"/>
                <a:cs typeface="Trebuchet MS"/>
              </a:rPr>
              <a:t>/</a:t>
            </a:r>
            <a:r>
              <a:rPr sz="1000" b="1" spc="-175" dirty="0">
                <a:latin typeface="Trebuchet MS"/>
                <a:cs typeface="Trebuchet MS"/>
              </a:rPr>
              <a:t> </a:t>
            </a:r>
            <a:r>
              <a:rPr sz="1000" b="1" spc="-45" dirty="0">
                <a:latin typeface="Trebuchet MS"/>
                <a:cs typeface="Trebuchet MS"/>
              </a:rPr>
              <a:t>estrategias </a:t>
            </a:r>
            <a:r>
              <a:rPr sz="1000" b="1" spc="-55" dirty="0">
                <a:latin typeface="Trebuchet MS"/>
                <a:cs typeface="Trebuchet MS"/>
              </a:rPr>
              <a:t>de  </a:t>
            </a:r>
            <a:r>
              <a:rPr sz="1000" b="1" spc="-60" dirty="0">
                <a:latin typeface="Trebuchet MS"/>
                <a:cs typeface="Trebuchet MS"/>
              </a:rPr>
              <a:t>fijación </a:t>
            </a:r>
            <a:r>
              <a:rPr sz="1000" b="1" spc="-55" dirty="0">
                <a:latin typeface="Trebuchet MS"/>
                <a:cs typeface="Trebuchet MS"/>
              </a:rPr>
              <a:t>de</a:t>
            </a:r>
            <a:r>
              <a:rPr sz="1000" b="1" spc="-75" dirty="0">
                <a:latin typeface="Trebuchet MS"/>
                <a:cs typeface="Trebuchet MS"/>
              </a:rPr>
              <a:t> </a:t>
            </a:r>
            <a:r>
              <a:rPr sz="1000" b="1" spc="-55" dirty="0">
                <a:latin typeface="Trebuchet MS"/>
                <a:cs typeface="Trebuchet MS"/>
              </a:rPr>
              <a:t>precios</a:t>
            </a:r>
            <a:endParaRPr sz="1000">
              <a:latin typeface="Trebuchet MS"/>
              <a:cs typeface="Trebuchet MS"/>
            </a:endParaRPr>
          </a:p>
          <a:p>
            <a:pPr marL="114300" indent="-101600">
              <a:lnSpc>
                <a:spcPct val="100000"/>
              </a:lnSpc>
              <a:spcBef>
                <a:spcPts val="259"/>
              </a:spcBef>
              <a:buClr>
                <a:srgbClr val="009999"/>
              </a:buClr>
              <a:buFont typeface="Arial"/>
              <a:buChar char="•"/>
              <a:tabLst>
                <a:tab pos="114300" algn="l"/>
              </a:tabLst>
            </a:pPr>
            <a:r>
              <a:rPr sz="1000" b="1" spc="-60" dirty="0">
                <a:latin typeface="Trebuchet MS"/>
                <a:cs typeface="Trebuchet MS"/>
              </a:rPr>
              <a:t>Prácticas </a:t>
            </a:r>
            <a:r>
              <a:rPr sz="1000" b="1" spc="-55" dirty="0">
                <a:latin typeface="Trebuchet MS"/>
                <a:cs typeface="Trebuchet MS"/>
              </a:rPr>
              <a:t>de </a:t>
            </a:r>
            <a:r>
              <a:rPr sz="1000" b="1" spc="-45" dirty="0">
                <a:latin typeface="Trebuchet MS"/>
                <a:cs typeface="Trebuchet MS"/>
              </a:rPr>
              <a:t>negocios</a:t>
            </a:r>
            <a:r>
              <a:rPr sz="1000" b="1" spc="-125" dirty="0">
                <a:latin typeface="Trebuchet MS"/>
                <a:cs typeface="Trebuchet MS"/>
              </a:rPr>
              <a:t> </a:t>
            </a:r>
            <a:r>
              <a:rPr sz="1000" b="1" spc="-50" dirty="0">
                <a:latin typeface="Trebuchet MS"/>
                <a:cs typeface="Trebuchet MS"/>
              </a:rPr>
              <a:t>locales</a:t>
            </a:r>
            <a:endParaRPr sz="1000">
              <a:latin typeface="Trebuchet MS"/>
              <a:cs typeface="Trebuchet MS"/>
            </a:endParaRPr>
          </a:p>
          <a:p>
            <a:pPr marL="114300" indent="-101600">
              <a:lnSpc>
                <a:spcPct val="100000"/>
              </a:lnSpc>
              <a:spcBef>
                <a:spcPts val="260"/>
              </a:spcBef>
              <a:buClr>
                <a:srgbClr val="009999"/>
              </a:buClr>
              <a:buFont typeface="Arial"/>
              <a:buChar char="•"/>
              <a:tabLst>
                <a:tab pos="114300" algn="l"/>
              </a:tabLst>
            </a:pPr>
            <a:r>
              <a:rPr sz="1000" b="1" spc="-70" dirty="0">
                <a:latin typeface="Trebuchet MS"/>
                <a:cs typeface="Trebuchet MS"/>
              </a:rPr>
              <a:t>Terreno </a:t>
            </a:r>
            <a:r>
              <a:rPr sz="1000" b="1" spc="-55" dirty="0">
                <a:latin typeface="Trebuchet MS"/>
                <a:cs typeface="Trebuchet MS"/>
              </a:rPr>
              <a:t>de </a:t>
            </a:r>
            <a:r>
              <a:rPr sz="1000" b="1" spc="-40" dirty="0">
                <a:latin typeface="Trebuchet MS"/>
                <a:cs typeface="Trebuchet MS"/>
              </a:rPr>
              <a:t>la</a:t>
            </a:r>
            <a:r>
              <a:rPr sz="1000" b="1" spc="-95" dirty="0">
                <a:latin typeface="Trebuchet MS"/>
                <a:cs typeface="Trebuchet MS"/>
              </a:rPr>
              <a:t> </a:t>
            </a:r>
            <a:r>
              <a:rPr sz="1000" b="1" spc="-60" dirty="0">
                <a:latin typeface="Trebuchet MS"/>
                <a:cs typeface="Trebuchet MS"/>
              </a:rPr>
              <a:t>competencia</a:t>
            </a:r>
            <a:endParaRPr sz="1000">
              <a:latin typeface="Trebuchet MS"/>
              <a:cs typeface="Trebuchet MS"/>
            </a:endParaRPr>
          </a:p>
          <a:p>
            <a:pPr marL="114300" marR="5080" indent="-101600">
              <a:lnSpc>
                <a:spcPct val="101499"/>
              </a:lnSpc>
              <a:spcBef>
                <a:spcPts val="240"/>
              </a:spcBef>
              <a:buClr>
                <a:srgbClr val="009999"/>
              </a:buClr>
              <a:buFont typeface="Arial"/>
              <a:buChar char="•"/>
              <a:tabLst>
                <a:tab pos="114300" algn="l"/>
              </a:tabLst>
            </a:pPr>
            <a:r>
              <a:rPr sz="1000" b="1" spc="-55" dirty="0">
                <a:latin typeface="Trebuchet MS"/>
                <a:cs typeface="Trebuchet MS"/>
              </a:rPr>
              <a:t>Conocimiento y cumplimiento de </a:t>
            </a:r>
            <a:r>
              <a:rPr sz="1000" b="1" spc="-35" dirty="0">
                <a:latin typeface="Trebuchet MS"/>
                <a:cs typeface="Trebuchet MS"/>
              </a:rPr>
              <a:t>las </a:t>
            </a:r>
            <a:r>
              <a:rPr sz="1000" b="1" spc="-40" dirty="0">
                <a:latin typeface="Trebuchet MS"/>
                <a:cs typeface="Trebuchet MS"/>
              </a:rPr>
              <a:t>normas  </a:t>
            </a:r>
            <a:r>
              <a:rPr sz="1000" b="1" spc="-55" dirty="0">
                <a:latin typeface="Trebuchet MS"/>
                <a:cs typeface="Trebuchet MS"/>
              </a:rPr>
              <a:t>éticas</a:t>
            </a:r>
            <a:endParaRPr sz="1000">
              <a:latin typeface="Trebuchet MS"/>
              <a:cs typeface="Trebuchet MS"/>
            </a:endParaRPr>
          </a:p>
          <a:p>
            <a:pPr marL="114300" indent="-101600">
              <a:lnSpc>
                <a:spcPct val="100000"/>
              </a:lnSpc>
              <a:spcBef>
                <a:spcPts val="265"/>
              </a:spcBef>
              <a:buClr>
                <a:srgbClr val="009999"/>
              </a:buClr>
              <a:buFont typeface="Arial"/>
              <a:buChar char="•"/>
              <a:tabLst>
                <a:tab pos="114300" algn="l"/>
              </a:tabLst>
            </a:pPr>
            <a:r>
              <a:rPr sz="1000" b="1" spc="-15" dirty="0">
                <a:latin typeface="Trebuchet MS"/>
                <a:cs typeface="Trebuchet MS"/>
              </a:rPr>
              <a:t>Modelos </a:t>
            </a:r>
            <a:r>
              <a:rPr sz="1000" b="1" spc="-55" dirty="0">
                <a:latin typeface="Trebuchet MS"/>
                <a:cs typeface="Trebuchet MS"/>
              </a:rPr>
              <a:t>de organización </a:t>
            </a:r>
            <a:r>
              <a:rPr sz="1000" b="1" spc="45" dirty="0">
                <a:latin typeface="Trebuchet MS"/>
                <a:cs typeface="Trebuchet MS"/>
              </a:rPr>
              <a:t>/</a:t>
            </a:r>
            <a:r>
              <a:rPr sz="1000" b="1" spc="-165" dirty="0">
                <a:latin typeface="Trebuchet MS"/>
                <a:cs typeface="Trebuchet MS"/>
              </a:rPr>
              <a:t> </a:t>
            </a:r>
            <a:r>
              <a:rPr sz="1000" b="1" spc="-60" dirty="0">
                <a:latin typeface="Trebuchet MS"/>
                <a:cs typeface="Trebuchet MS"/>
              </a:rPr>
              <a:t>remuneración</a:t>
            </a:r>
            <a:endParaRPr sz="1000">
              <a:latin typeface="Trebuchet MS"/>
              <a:cs typeface="Trebuchet MS"/>
            </a:endParaRPr>
          </a:p>
          <a:p>
            <a:pPr marL="114300" indent="-101600">
              <a:lnSpc>
                <a:spcPct val="100000"/>
              </a:lnSpc>
              <a:spcBef>
                <a:spcPts val="260"/>
              </a:spcBef>
              <a:buClr>
                <a:srgbClr val="009999"/>
              </a:buClr>
              <a:buFont typeface="Arial"/>
              <a:buChar char="•"/>
              <a:tabLst>
                <a:tab pos="114300" algn="l"/>
              </a:tabLst>
            </a:pPr>
            <a:r>
              <a:rPr sz="1000" b="1" spc="-65" dirty="0">
                <a:latin typeface="Trebuchet MS"/>
                <a:cs typeface="Trebuchet MS"/>
              </a:rPr>
              <a:t>Otros...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40</a:t>
            </a:fld>
            <a:endParaRPr sz="900">
              <a:latin typeface="Arial"/>
              <a:cs typeface="Arial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95630" y="1312671"/>
            <a:ext cx="77489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63980" marR="5080" indent="-1351915">
              <a:lnSpc>
                <a:spcPct val="100000"/>
              </a:lnSpc>
              <a:spcBef>
                <a:spcPts val="95"/>
              </a:spcBef>
            </a:pPr>
            <a:r>
              <a:rPr sz="2000" b="1" spc="-130" dirty="0">
                <a:latin typeface="Trebuchet MS"/>
                <a:cs typeface="Trebuchet MS"/>
              </a:rPr>
              <a:t>Los </a:t>
            </a:r>
            <a:r>
              <a:rPr sz="2000" b="1" spc="-95" dirty="0">
                <a:latin typeface="Trebuchet MS"/>
                <a:cs typeface="Trebuchet MS"/>
              </a:rPr>
              <a:t>riesgos </a:t>
            </a:r>
            <a:r>
              <a:rPr sz="2000" b="1" spc="-120" dirty="0">
                <a:latin typeface="Trebuchet MS"/>
                <a:cs typeface="Trebuchet MS"/>
              </a:rPr>
              <a:t>pueden </a:t>
            </a:r>
            <a:r>
              <a:rPr sz="2000" b="1" spc="-125" dirty="0">
                <a:latin typeface="Trebuchet MS"/>
                <a:cs typeface="Trebuchet MS"/>
              </a:rPr>
              <a:t>provenir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10" dirty="0">
                <a:latin typeface="Trebuchet MS"/>
                <a:cs typeface="Trebuchet MS"/>
              </a:rPr>
              <a:t>diversas </a:t>
            </a:r>
            <a:r>
              <a:rPr sz="2000" b="1" spc="-125" dirty="0">
                <a:latin typeface="Trebuchet MS"/>
                <a:cs typeface="Trebuchet MS"/>
              </a:rPr>
              <a:t>fuentes y </a:t>
            </a:r>
            <a:r>
              <a:rPr sz="2000" b="1" spc="-135" dirty="0">
                <a:latin typeface="Trebuchet MS"/>
                <a:cs typeface="Trebuchet MS"/>
              </a:rPr>
              <a:t>afectar </a:t>
            </a:r>
            <a:r>
              <a:rPr sz="2000" b="1" spc="-75" dirty="0">
                <a:latin typeface="Trebuchet MS"/>
                <a:cs typeface="Trebuchet MS"/>
              </a:rPr>
              <a:t>los </a:t>
            </a:r>
            <a:r>
              <a:rPr sz="2000" b="1" spc="-110" dirty="0">
                <a:latin typeface="Trebuchet MS"/>
                <a:cs typeface="Trebuchet MS"/>
              </a:rPr>
              <a:t>objetivos</a:t>
            </a:r>
            <a:r>
              <a:rPr sz="2000" b="1" spc="-365" dirty="0">
                <a:latin typeface="Trebuchet MS"/>
                <a:cs typeface="Trebuchet MS"/>
              </a:rPr>
              <a:t> </a:t>
            </a:r>
            <a:r>
              <a:rPr sz="2000" b="1" spc="-120" dirty="0">
                <a:latin typeface="Trebuchet MS"/>
                <a:cs typeface="Trebuchet MS"/>
              </a:rPr>
              <a:t>de  </a:t>
            </a:r>
            <a:r>
              <a:rPr sz="2000" b="1" spc="-100" dirty="0">
                <a:latin typeface="Trebuchet MS"/>
                <a:cs typeface="Trebuchet MS"/>
              </a:rPr>
              <a:t>negocios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00" dirty="0">
                <a:latin typeface="Trebuchet MS"/>
                <a:cs typeface="Trebuchet MS"/>
              </a:rPr>
              <a:t>distintos </a:t>
            </a:r>
            <a:r>
              <a:rPr sz="2000" b="1" spc="-114" dirty="0">
                <a:latin typeface="Trebuchet MS"/>
                <a:cs typeface="Trebuchet MS"/>
              </a:rPr>
              <a:t>niveles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90" dirty="0">
                <a:latin typeface="Trebuchet MS"/>
                <a:cs typeface="Trebuchet MS"/>
              </a:rPr>
              <a:t>la</a:t>
            </a:r>
            <a:r>
              <a:rPr sz="2000" b="1" spc="-355" dirty="0">
                <a:latin typeface="Trebuchet MS"/>
                <a:cs typeface="Trebuchet MS"/>
              </a:rPr>
              <a:t> </a:t>
            </a:r>
            <a:r>
              <a:rPr sz="2000" b="1" spc="-130" dirty="0">
                <a:latin typeface="Trebuchet MS"/>
                <a:cs typeface="Trebuchet MS"/>
              </a:rPr>
              <a:t>organización.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5507" y="3189351"/>
            <a:ext cx="1264920" cy="2180590"/>
          </a:xfrm>
          <a:custGeom>
            <a:avLst/>
            <a:gdLst/>
            <a:ahLst/>
            <a:cxnLst/>
            <a:rect l="l" t="t" r="r" b="b"/>
            <a:pathLst>
              <a:path w="1264920" h="2180590">
                <a:moveTo>
                  <a:pt x="1191767" y="0"/>
                </a:moveTo>
                <a:lnTo>
                  <a:pt x="73151" y="0"/>
                </a:lnTo>
                <a:lnTo>
                  <a:pt x="44684" y="5750"/>
                </a:lnTo>
                <a:lnTo>
                  <a:pt x="21431" y="21431"/>
                </a:lnTo>
                <a:lnTo>
                  <a:pt x="5750" y="44684"/>
                </a:lnTo>
                <a:lnTo>
                  <a:pt x="0" y="73151"/>
                </a:lnTo>
                <a:lnTo>
                  <a:pt x="0" y="2106930"/>
                </a:lnTo>
                <a:lnTo>
                  <a:pt x="5750" y="2135397"/>
                </a:lnTo>
                <a:lnTo>
                  <a:pt x="21431" y="2158650"/>
                </a:lnTo>
                <a:lnTo>
                  <a:pt x="44684" y="2174331"/>
                </a:lnTo>
                <a:lnTo>
                  <a:pt x="73151" y="2180082"/>
                </a:lnTo>
                <a:lnTo>
                  <a:pt x="1191767" y="2180082"/>
                </a:lnTo>
                <a:lnTo>
                  <a:pt x="1220235" y="2174331"/>
                </a:lnTo>
                <a:lnTo>
                  <a:pt x="1243488" y="2158650"/>
                </a:lnTo>
                <a:lnTo>
                  <a:pt x="1259169" y="2135397"/>
                </a:lnTo>
                <a:lnTo>
                  <a:pt x="1264919" y="2106930"/>
                </a:lnTo>
                <a:lnTo>
                  <a:pt x="1264919" y="73151"/>
                </a:lnTo>
                <a:lnTo>
                  <a:pt x="1259169" y="44684"/>
                </a:lnTo>
                <a:lnTo>
                  <a:pt x="1243488" y="21431"/>
                </a:lnTo>
                <a:lnTo>
                  <a:pt x="1220235" y="5750"/>
                </a:lnTo>
                <a:lnTo>
                  <a:pt x="1191767" y="0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46932" y="3162807"/>
            <a:ext cx="1322070" cy="2235200"/>
          </a:xfrm>
          <a:custGeom>
            <a:avLst/>
            <a:gdLst/>
            <a:ahLst/>
            <a:cxnLst/>
            <a:rect l="l" t="t" r="r" b="b"/>
            <a:pathLst>
              <a:path w="1322070" h="2235200">
                <a:moveTo>
                  <a:pt x="1290319" y="2209800"/>
                </a:moveTo>
                <a:lnTo>
                  <a:pt x="31876" y="2209800"/>
                </a:lnTo>
                <a:lnTo>
                  <a:pt x="45846" y="2222500"/>
                </a:lnTo>
                <a:lnTo>
                  <a:pt x="54609" y="2235200"/>
                </a:lnTo>
                <a:lnTo>
                  <a:pt x="1261237" y="2235200"/>
                </a:lnTo>
                <a:lnTo>
                  <a:pt x="1270380" y="2222500"/>
                </a:lnTo>
                <a:lnTo>
                  <a:pt x="1279525" y="2222500"/>
                </a:lnTo>
                <a:lnTo>
                  <a:pt x="1290319" y="2209800"/>
                </a:lnTo>
                <a:close/>
              </a:path>
              <a:path w="1322070" h="2235200">
                <a:moveTo>
                  <a:pt x="75183" y="2197100"/>
                </a:moveTo>
                <a:lnTo>
                  <a:pt x="19050" y="2197100"/>
                </a:lnTo>
                <a:lnTo>
                  <a:pt x="28066" y="2209800"/>
                </a:lnTo>
                <a:lnTo>
                  <a:pt x="81406" y="2209800"/>
                </a:lnTo>
                <a:lnTo>
                  <a:pt x="75183" y="2197100"/>
                </a:lnTo>
                <a:close/>
              </a:path>
              <a:path w="1322070" h="2235200">
                <a:moveTo>
                  <a:pt x="1321307" y="88900"/>
                </a:moveTo>
                <a:lnTo>
                  <a:pt x="1286382" y="88900"/>
                </a:lnTo>
                <a:lnTo>
                  <a:pt x="1287526" y="101600"/>
                </a:lnTo>
                <a:lnTo>
                  <a:pt x="1287779" y="101600"/>
                </a:lnTo>
                <a:lnTo>
                  <a:pt x="1287779" y="2133600"/>
                </a:lnTo>
                <a:lnTo>
                  <a:pt x="1287398" y="2146300"/>
                </a:lnTo>
                <a:lnTo>
                  <a:pt x="1286382" y="2159000"/>
                </a:lnTo>
                <a:lnTo>
                  <a:pt x="1284731" y="2159000"/>
                </a:lnTo>
                <a:lnTo>
                  <a:pt x="1282445" y="2171700"/>
                </a:lnTo>
                <a:lnTo>
                  <a:pt x="1276095" y="2171700"/>
                </a:lnTo>
                <a:lnTo>
                  <a:pt x="1267967" y="2184400"/>
                </a:lnTo>
                <a:lnTo>
                  <a:pt x="1257680" y="2197100"/>
                </a:lnTo>
                <a:lnTo>
                  <a:pt x="1246504" y="2197100"/>
                </a:lnTo>
                <a:lnTo>
                  <a:pt x="1240154" y="2209800"/>
                </a:lnTo>
                <a:lnTo>
                  <a:pt x="1292859" y="2209800"/>
                </a:lnTo>
                <a:lnTo>
                  <a:pt x="1305305" y="2197100"/>
                </a:lnTo>
                <a:lnTo>
                  <a:pt x="1310513" y="2184400"/>
                </a:lnTo>
                <a:lnTo>
                  <a:pt x="1314577" y="2184400"/>
                </a:lnTo>
                <a:lnTo>
                  <a:pt x="1318005" y="2171700"/>
                </a:lnTo>
                <a:lnTo>
                  <a:pt x="1320164" y="2159000"/>
                </a:lnTo>
                <a:lnTo>
                  <a:pt x="1321689" y="2146300"/>
                </a:lnTo>
                <a:lnTo>
                  <a:pt x="1322069" y="2133600"/>
                </a:lnTo>
                <a:lnTo>
                  <a:pt x="1322069" y="101600"/>
                </a:lnTo>
                <a:lnTo>
                  <a:pt x="1321307" y="88900"/>
                </a:lnTo>
                <a:close/>
              </a:path>
              <a:path w="1322070" h="2235200">
                <a:moveTo>
                  <a:pt x="34289" y="101600"/>
                </a:moveTo>
                <a:lnTo>
                  <a:pt x="0" y="101600"/>
                </a:lnTo>
                <a:lnTo>
                  <a:pt x="0" y="2146300"/>
                </a:lnTo>
                <a:lnTo>
                  <a:pt x="762" y="2146300"/>
                </a:lnTo>
                <a:lnTo>
                  <a:pt x="2412" y="2159000"/>
                </a:lnTo>
                <a:lnTo>
                  <a:pt x="4952" y="2171700"/>
                </a:lnTo>
                <a:lnTo>
                  <a:pt x="8635" y="2184400"/>
                </a:lnTo>
                <a:lnTo>
                  <a:pt x="12953" y="2184400"/>
                </a:lnTo>
                <a:lnTo>
                  <a:pt x="16637" y="2197100"/>
                </a:lnTo>
                <a:lnTo>
                  <a:pt x="63880" y="2197100"/>
                </a:lnTo>
                <a:lnTo>
                  <a:pt x="54101" y="2184400"/>
                </a:lnTo>
                <a:lnTo>
                  <a:pt x="45719" y="2171700"/>
                </a:lnTo>
                <a:lnTo>
                  <a:pt x="39369" y="2171700"/>
                </a:lnTo>
                <a:lnTo>
                  <a:pt x="37337" y="2159000"/>
                </a:lnTo>
                <a:lnTo>
                  <a:pt x="35687" y="2159000"/>
                </a:lnTo>
                <a:lnTo>
                  <a:pt x="34543" y="2146300"/>
                </a:lnTo>
                <a:lnTo>
                  <a:pt x="34289" y="2133600"/>
                </a:lnTo>
                <a:lnTo>
                  <a:pt x="34289" y="101600"/>
                </a:lnTo>
                <a:close/>
              </a:path>
              <a:path w="1322070" h="2235200">
                <a:moveTo>
                  <a:pt x="1246251" y="2184400"/>
                </a:moveTo>
                <a:lnTo>
                  <a:pt x="74294" y="2184400"/>
                </a:lnTo>
                <a:lnTo>
                  <a:pt x="79120" y="2197100"/>
                </a:lnTo>
                <a:lnTo>
                  <a:pt x="1241552" y="2197100"/>
                </a:lnTo>
                <a:lnTo>
                  <a:pt x="1246251" y="2184400"/>
                </a:lnTo>
                <a:close/>
              </a:path>
              <a:path w="1322070" h="2235200">
                <a:moveTo>
                  <a:pt x="75945" y="2171700"/>
                </a:moveTo>
                <a:lnTo>
                  <a:pt x="55117" y="2171700"/>
                </a:lnTo>
                <a:lnTo>
                  <a:pt x="62102" y="2184400"/>
                </a:lnTo>
                <a:lnTo>
                  <a:pt x="79120" y="2184400"/>
                </a:lnTo>
                <a:lnTo>
                  <a:pt x="75945" y="2171700"/>
                </a:lnTo>
                <a:close/>
              </a:path>
              <a:path w="1322070" h="2235200">
                <a:moveTo>
                  <a:pt x="1266443" y="2171700"/>
                </a:moveTo>
                <a:lnTo>
                  <a:pt x="1251712" y="2171700"/>
                </a:lnTo>
                <a:lnTo>
                  <a:pt x="1243076" y="2184400"/>
                </a:lnTo>
                <a:lnTo>
                  <a:pt x="1259839" y="2184400"/>
                </a:lnTo>
                <a:lnTo>
                  <a:pt x="1266443" y="2171700"/>
                </a:lnTo>
                <a:close/>
              </a:path>
              <a:path w="1322070" h="2235200">
                <a:moveTo>
                  <a:pt x="64388" y="2159000"/>
                </a:moveTo>
                <a:lnTo>
                  <a:pt x="49656" y="2159000"/>
                </a:lnTo>
                <a:lnTo>
                  <a:pt x="52069" y="2171700"/>
                </a:lnTo>
                <a:lnTo>
                  <a:pt x="70230" y="2171700"/>
                </a:lnTo>
                <a:lnTo>
                  <a:pt x="64388" y="2159000"/>
                </a:lnTo>
                <a:close/>
              </a:path>
              <a:path w="1322070" h="2235200">
                <a:moveTo>
                  <a:pt x="1271651" y="2159000"/>
                </a:moveTo>
                <a:lnTo>
                  <a:pt x="1258951" y="2159000"/>
                </a:lnTo>
                <a:lnTo>
                  <a:pt x="1256664" y="2171700"/>
                </a:lnTo>
                <a:lnTo>
                  <a:pt x="1269238" y="2171700"/>
                </a:lnTo>
                <a:lnTo>
                  <a:pt x="1271651" y="2159000"/>
                </a:lnTo>
                <a:close/>
              </a:path>
              <a:path w="1322070" h="2235200">
                <a:moveTo>
                  <a:pt x="58800" y="2146300"/>
                </a:moveTo>
                <a:lnTo>
                  <a:pt x="46735" y="2146300"/>
                </a:lnTo>
                <a:lnTo>
                  <a:pt x="48132" y="2159000"/>
                </a:lnTo>
                <a:lnTo>
                  <a:pt x="59943" y="2159000"/>
                </a:lnTo>
                <a:lnTo>
                  <a:pt x="58800" y="2146300"/>
                </a:lnTo>
                <a:close/>
              </a:path>
              <a:path w="1322070" h="2235200">
                <a:moveTo>
                  <a:pt x="1275079" y="2146300"/>
                </a:moveTo>
                <a:lnTo>
                  <a:pt x="1263777" y="2146300"/>
                </a:lnTo>
                <a:lnTo>
                  <a:pt x="1262506" y="2159000"/>
                </a:lnTo>
                <a:lnTo>
                  <a:pt x="1273555" y="2159000"/>
                </a:lnTo>
                <a:lnTo>
                  <a:pt x="1275079" y="2146300"/>
                </a:lnTo>
                <a:close/>
              </a:path>
              <a:path w="1322070" h="2235200">
                <a:moveTo>
                  <a:pt x="57150" y="101600"/>
                </a:moveTo>
                <a:lnTo>
                  <a:pt x="45719" y="101600"/>
                </a:lnTo>
                <a:lnTo>
                  <a:pt x="45846" y="2146300"/>
                </a:lnTo>
                <a:lnTo>
                  <a:pt x="57150" y="2146300"/>
                </a:lnTo>
                <a:lnTo>
                  <a:pt x="57150" y="101600"/>
                </a:lnTo>
                <a:close/>
              </a:path>
              <a:path w="1322070" h="2235200">
                <a:moveTo>
                  <a:pt x="1276350" y="101600"/>
                </a:moveTo>
                <a:lnTo>
                  <a:pt x="1264919" y="101600"/>
                </a:lnTo>
                <a:lnTo>
                  <a:pt x="1264919" y="2133600"/>
                </a:lnTo>
                <a:lnTo>
                  <a:pt x="1264539" y="2146300"/>
                </a:lnTo>
                <a:lnTo>
                  <a:pt x="1275968" y="2146300"/>
                </a:lnTo>
                <a:lnTo>
                  <a:pt x="1276350" y="2133600"/>
                </a:lnTo>
                <a:lnTo>
                  <a:pt x="1276350" y="101600"/>
                </a:lnTo>
                <a:close/>
              </a:path>
              <a:path w="1322070" h="2235200">
                <a:moveTo>
                  <a:pt x="45719" y="63500"/>
                </a:moveTo>
                <a:lnTo>
                  <a:pt x="7365" y="63500"/>
                </a:lnTo>
                <a:lnTo>
                  <a:pt x="4317" y="76200"/>
                </a:lnTo>
                <a:lnTo>
                  <a:pt x="1904" y="88900"/>
                </a:lnTo>
                <a:lnTo>
                  <a:pt x="380" y="101600"/>
                </a:lnTo>
                <a:lnTo>
                  <a:pt x="34670" y="101600"/>
                </a:lnTo>
                <a:lnTo>
                  <a:pt x="35687" y="88900"/>
                </a:lnTo>
                <a:lnTo>
                  <a:pt x="37464" y="88900"/>
                </a:lnTo>
                <a:lnTo>
                  <a:pt x="39623" y="76200"/>
                </a:lnTo>
                <a:lnTo>
                  <a:pt x="42544" y="76200"/>
                </a:lnTo>
                <a:lnTo>
                  <a:pt x="45719" y="63500"/>
                </a:lnTo>
                <a:close/>
              </a:path>
              <a:path w="1322070" h="2235200">
                <a:moveTo>
                  <a:pt x="59562" y="88900"/>
                </a:moveTo>
                <a:lnTo>
                  <a:pt x="46989" y="88900"/>
                </a:lnTo>
                <a:lnTo>
                  <a:pt x="46100" y="101600"/>
                </a:lnTo>
                <a:lnTo>
                  <a:pt x="58292" y="101600"/>
                </a:lnTo>
                <a:lnTo>
                  <a:pt x="59562" y="88900"/>
                </a:lnTo>
                <a:close/>
              </a:path>
              <a:path w="1322070" h="2235200">
                <a:moveTo>
                  <a:pt x="1274190" y="88900"/>
                </a:moveTo>
                <a:lnTo>
                  <a:pt x="1263395" y="88900"/>
                </a:lnTo>
                <a:lnTo>
                  <a:pt x="1264284" y="101600"/>
                </a:lnTo>
                <a:lnTo>
                  <a:pt x="1275333" y="101600"/>
                </a:lnTo>
                <a:lnTo>
                  <a:pt x="1274190" y="88900"/>
                </a:lnTo>
                <a:close/>
              </a:path>
              <a:path w="1322070" h="2235200">
                <a:moveTo>
                  <a:pt x="64388" y="76200"/>
                </a:moveTo>
                <a:lnTo>
                  <a:pt x="52831" y="76200"/>
                </a:lnTo>
                <a:lnTo>
                  <a:pt x="50418" y="88900"/>
                </a:lnTo>
                <a:lnTo>
                  <a:pt x="63118" y="88900"/>
                </a:lnTo>
                <a:lnTo>
                  <a:pt x="64388" y="76200"/>
                </a:lnTo>
                <a:close/>
              </a:path>
              <a:path w="1322070" h="2235200">
                <a:moveTo>
                  <a:pt x="1259839" y="63500"/>
                </a:moveTo>
                <a:lnTo>
                  <a:pt x="1244727" y="63500"/>
                </a:lnTo>
                <a:lnTo>
                  <a:pt x="1251712" y="76200"/>
                </a:lnTo>
                <a:lnTo>
                  <a:pt x="1258951" y="88900"/>
                </a:lnTo>
                <a:lnTo>
                  <a:pt x="1272285" y="88900"/>
                </a:lnTo>
                <a:lnTo>
                  <a:pt x="1270127" y="76200"/>
                </a:lnTo>
                <a:lnTo>
                  <a:pt x="1267840" y="76200"/>
                </a:lnTo>
                <a:lnTo>
                  <a:pt x="1259839" y="63500"/>
                </a:lnTo>
                <a:close/>
              </a:path>
              <a:path w="1322070" h="2235200">
                <a:moveTo>
                  <a:pt x="1308989" y="50800"/>
                </a:moveTo>
                <a:lnTo>
                  <a:pt x="1257934" y="50800"/>
                </a:lnTo>
                <a:lnTo>
                  <a:pt x="1267967" y="63500"/>
                </a:lnTo>
                <a:lnTo>
                  <a:pt x="1276603" y="63500"/>
                </a:lnTo>
                <a:lnTo>
                  <a:pt x="1279905" y="76200"/>
                </a:lnTo>
                <a:lnTo>
                  <a:pt x="1282572" y="76200"/>
                </a:lnTo>
                <a:lnTo>
                  <a:pt x="1284858" y="88900"/>
                </a:lnTo>
                <a:lnTo>
                  <a:pt x="1319656" y="88900"/>
                </a:lnTo>
                <a:lnTo>
                  <a:pt x="1317116" y="76200"/>
                </a:lnTo>
                <a:lnTo>
                  <a:pt x="1313560" y="63500"/>
                </a:lnTo>
                <a:lnTo>
                  <a:pt x="1308989" y="50800"/>
                </a:lnTo>
                <a:close/>
              </a:path>
              <a:path w="1322070" h="2235200">
                <a:moveTo>
                  <a:pt x="77469" y="63500"/>
                </a:moveTo>
                <a:lnTo>
                  <a:pt x="62229" y="63500"/>
                </a:lnTo>
                <a:lnTo>
                  <a:pt x="55117" y="76200"/>
                </a:lnTo>
                <a:lnTo>
                  <a:pt x="70357" y="76200"/>
                </a:lnTo>
                <a:lnTo>
                  <a:pt x="77469" y="63500"/>
                </a:lnTo>
                <a:close/>
              </a:path>
              <a:path w="1322070" h="2235200">
                <a:moveTo>
                  <a:pt x="64134" y="50800"/>
                </a:moveTo>
                <a:lnTo>
                  <a:pt x="16637" y="50800"/>
                </a:lnTo>
                <a:lnTo>
                  <a:pt x="11810" y="63500"/>
                </a:lnTo>
                <a:lnTo>
                  <a:pt x="54101" y="63500"/>
                </a:lnTo>
                <a:lnTo>
                  <a:pt x="64134" y="50800"/>
                </a:lnTo>
                <a:close/>
              </a:path>
              <a:path w="1322070" h="2235200">
                <a:moveTo>
                  <a:pt x="1247775" y="50800"/>
                </a:moveTo>
                <a:lnTo>
                  <a:pt x="75691" y="50800"/>
                </a:lnTo>
                <a:lnTo>
                  <a:pt x="70738" y="63500"/>
                </a:lnTo>
                <a:lnTo>
                  <a:pt x="1251330" y="63500"/>
                </a:lnTo>
                <a:lnTo>
                  <a:pt x="1247775" y="50800"/>
                </a:lnTo>
                <a:close/>
              </a:path>
              <a:path w="1322070" h="2235200">
                <a:moveTo>
                  <a:pt x="75818" y="38100"/>
                </a:moveTo>
                <a:lnTo>
                  <a:pt x="29082" y="38100"/>
                </a:lnTo>
                <a:lnTo>
                  <a:pt x="19050" y="50800"/>
                </a:lnTo>
                <a:lnTo>
                  <a:pt x="69850" y="50800"/>
                </a:lnTo>
                <a:lnTo>
                  <a:pt x="75818" y="38100"/>
                </a:lnTo>
                <a:close/>
              </a:path>
              <a:path w="1322070" h="2235200">
                <a:moveTo>
                  <a:pt x="1292987" y="38100"/>
                </a:moveTo>
                <a:lnTo>
                  <a:pt x="1247013" y="38100"/>
                </a:lnTo>
                <a:lnTo>
                  <a:pt x="1252727" y="50800"/>
                </a:lnTo>
                <a:lnTo>
                  <a:pt x="1303019" y="50800"/>
                </a:lnTo>
                <a:lnTo>
                  <a:pt x="1292987" y="38100"/>
                </a:lnTo>
                <a:close/>
              </a:path>
              <a:path w="1322070" h="2235200">
                <a:moveTo>
                  <a:pt x="1279525" y="25400"/>
                </a:moveTo>
                <a:lnTo>
                  <a:pt x="42671" y="25400"/>
                </a:lnTo>
                <a:lnTo>
                  <a:pt x="30479" y="38100"/>
                </a:lnTo>
                <a:lnTo>
                  <a:pt x="1290319" y="38100"/>
                </a:lnTo>
                <a:lnTo>
                  <a:pt x="1279525" y="25400"/>
                </a:lnTo>
                <a:close/>
              </a:path>
              <a:path w="1322070" h="2235200">
                <a:moveTo>
                  <a:pt x="1267967" y="12700"/>
                </a:moveTo>
                <a:lnTo>
                  <a:pt x="52069" y="12700"/>
                </a:lnTo>
                <a:lnTo>
                  <a:pt x="46100" y="25400"/>
                </a:lnTo>
                <a:lnTo>
                  <a:pt x="1276095" y="25400"/>
                </a:lnTo>
                <a:lnTo>
                  <a:pt x="1267967" y="12700"/>
                </a:lnTo>
                <a:close/>
              </a:path>
              <a:path w="1322070" h="2235200">
                <a:moveTo>
                  <a:pt x="1239646" y="0"/>
                </a:moveTo>
                <a:lnTo>
                  <a:pt x="89915" y="0"/>
                </a:lnTo>
                <a:lnTo>
                  <a:pt x="79755" y="12700"/>
                </a:lnTo>
                <a:lnTo>
                  <a:pt x="1249298" y="12700"/>
                </a:lnTo>
                <a:lnTo>
                  <a:pt x="123964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5610" y="3962780"/>
            <a:ext cx="1125474" cy="5623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5610" y="3962780"/>
            <a:ext cx="1125855" cy="562610"/>
          </a:xfrm>
          <a:custGeom>
            <a:avLst/>
            <a:gdLst/>
            <a:ahLst/>
            <a:cxnLst/>
            <a:rect l="l" t="t" r="r" b="b"/>
            <a:pathLst>
              <a:path w="1125854" h="562610">
                <a:moveTo>
                  <a:pt x="0" y="41021"/>
                </a:moveTo>
                <a:lnTo>
                  <a:pt x="3230" y="25074"/>
                </a:lnTo>
                <a:lnTo>
                  <a:pt x="12033" y="12033"/>
                </a:lnTo>
                <a:lnTo>
                  <a:pt x="25074" y="3230"/>
                </a:lnTo>
                <a:lnTo>
                  <a:pt x="41021" y="0"/>
                </a:lnTo>
                <a:lnTo>
                  <a:pt x="1084452" y="0"/>
                </a:lnTo>
                <a:lnTo>
                  <a:pt x="1100399" y="3230"/>
                </a:lnTo>
                <a:lnTo>
                  <a:pt x="1113440" y="12033"/>
                </a:lnTo>
                <a:lnTo>
                  <a:pt x="1122243" y="25074"/>
                </a:lnTo>
                <a:lnTo>
                  <a:pt x="1125474" y="41021"/>
                </a:lnTo>
                <a:lnTo>
                  <a:pt x="1125474" y="521335"/>
                </a:lnTo>
                <a:lnTo>
                  <a:pt x="1122243" y="537281"/>
                </a:lnTo>
                <a:lnTo>
                  <a:pt x="1113440" y="550322"/>
                </a:lnTo>
                <a:lnTo>
                  <a:pt x="1100399" y="559125"/>
                </a:lnTo>
                <a:lnTo>
                  <a:pt x="1084452" y="562356"/>
                </a:lnTo>
                <a:lnTo>
                  <a:pt x="41021" y="562356"/>
                </a:lnTo>
                <a:lnTo>
                  <a:pt x="25074" y="559125"/>
                </a:lnTo>
                <a:lnTo>
                  <a:pt x="12033" y="550322"/>
                </a:lnTo>
                <a:lnTo>
                  <a:pt x="3230" y="537281"/>
                </a:lnTo>
                <a:lnTo>
                  <a:pt x="0" y="521335"/>
                </a:lnTo>
                <a:lnTo>
                  <a:pt x="0" y="41021"/>
                </a:lnTo>
                <a:close/>
              </a:path>
            </a:pathLst>
          </a:custGeom>
          <a:ln w="9906">
            <a:solidFill>
              <a:srgbClr val="33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50564" y="3992879"/>
            <a:ext cx="1115695" cy="44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1285" marR="116839" algn="ctr">
              <a:lnSpc>
                <a:spcPct val="102499"/>
              </a:lnSpc>
              <a:spcBef>
                <a:spcPts val="95"/>
              </a:spcBef>
            </a:pPr>
            <a:r>
              <a:rPr sz="900" b="1" spc="10" dirty="0">
                <a:solidFill>
                  <a:srgbClr val="003300"/>
                </a:solidFill>
                <a:latin typeface="Arial"/>
                <a:cs typeface="Arial"/>
              </a:rPr>
              <a:t>Integridad de</a:t>
            </a:r>
            <a:r>
              <a:rPr sz="900" b="1" spc="-65" dirty="0">
                <a:solidFill>
                  <a:srgbClr val="003300"/>
                </a:solidFill>
                <a:latin typeface="Arial"/>
                <a:cs typeface="Arial"/>
              </a:rPr>
              <a:t> </a:t>
            </a:r>
            <a:r>
              <a:rPr sz="900" b="1" spc="10" dirty="0">
                <a:solidFill>
                  <a:srgbClr val="003300"/>
                </a:solidFill>
                <a:latin typeface="Arial"/>
                <a:cs typeface="Arial"/>
              </a:rPr>
              <a:t>la  Información  Financiera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5655" y="5188203"/>
            <a:ext cx="405130" cy="18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spc="10" dirty="0">
                <a:solidFill>
                  <a:srgbClr val="003300"/>
                </a:solidFill>
                <a:latin typeface="Arial"/>
                <a:cs typeface="Arial"/>
              </a:rPr>
              <a:t>COSO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45610" y="3329559"/>
            <a:ext cx="1125474" cy="5631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45610" y="3329559"/>
            <a:ext cx="1125855" cy="563245"/>
          </a:xfrm>
          <a:custGeom>
            <a:avLst/>
            <a:gdLst/>
            <a:ahLst/>
            <a:cxnLst/>
            <a:rect l="l" t="t" r="r" b="b"/>
            <a:pathLst>
              <a:path w="1125854" h="563245">
                <a:moveTo>
                  <a:pt x="0" y="41020"/>
                </a:moveTo>
                <a:lnTo>
                  <a:pt x="3230" y="25074"/>
                </a:lnTo>
                <a:lnTo>
                  <a:pt x="12033" y="12033"/>
                </a:lnTo>
                <a:lnTo>
                  <a:pt x="25074" y="3230"/>
                </a:lnTo>
                <a:lnTo>
                  <a:pt x="41021" y="0"/>
                </a:lnTo>
                <a:lnTo>
                  <a:pt x="1084452" y="0"/>
                </a:lnTo>
                <a:lnTo>
                  <a:pt x="1100399" y="3230"/>
                </a:lnTo>
                <a:lnTo>
                  <a:pt x="1113440" y="12033"/>
                </a:lnTo>
                <a:lnTo>
                  <a:pt x="1122243" y="25074"/>
                </a:lnTo>
                <a:lnTo>
                  <a:pt x="1125474" y="41020"/>
                </a:lnTo>
                <a:lnTo>
                  <a:pt x="1125474" y="522096"/>
                </a:lnTo>
                <a:lnTo>
                  <a:pt x="1122243" y="538043"/>
                </a:lnTo>
                <a:lnTo>
                  <a:pt x="1113440" y="551084"/>
                </a:lnTo>
                <a:lnTo>
                  <a:pt x="1100399" y="559887"/>
                </a:lnTo>
                <a:lnTo>
                  <a:pt x="1084452" y="563117"/>
                </a:lnTo>
                <a:lnTo>
                  <a:pt x="41021" y="563117"/>
                </a:lnTo>
                <a:lnTo>
                  <a:pt x="25074" y="559887"/>
                </a:lnTo>
                <a:lnTo>
                  <a:pt x="12033" y="551084"/>
                </a:lnTo>
                <a:lnTo>
                  <a:pt x="3230" y="538043"/>
                </a:lnTo>
                <a:lnTo>
                  <a:pt x="0" y="522096"/>
                </a:lnTo>
                <a:lnTo>
                  <a:pt x="0" y="41020"/>
                </a:lnTo>
                <a:close/>
              </a:path>
            </a:pathLst>
          </a:custGeom>
          <a:ln w="9906">
            <a:solidFill>
              <a:srgbClr val="33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750564" y="3359404"/>
            <a:ext cx="1115695" cy="44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130" marR="145415" indent="1270" algn="ctr">
              <a:lnSpc>
                <a:spcPct val="102499"/>
              </a:lnSpc>
              <a:spcBef>
                <a:spcPts val="95"/>
              </a:spcBef>
            </a:pPr>
            <a:r>
              <a:rPr sz="900" b="1" spc="10" dirty="0">
                <a:solidFill>
                  <a:srgbClr val="003300"/>
                </a:solidFill>
                <a:latin typeface="Arial"/>
                <a:cs typeface="Arial"/>
              </a:rPr>
              <a:t>Eficiencia y  Eficacia de</a:t>
            </a:r>
            <a:r>
              <a:rPr sz="900" b="1" spc="-80" dirty="0">
                <a:solidFill>
                  <a:srgbClr val="003300"/>
                </a:solidFill>
                <a:latin typeface="Arial"/>
                <a:cs typeface="Arial"/>
              </a:rPr>
              <a:t> </a:t>
            </a:r>
            <a:r>
              <a:rPr sz="900" b="1" spc="10" dirty="0">
                <a:solidFill>
                  <a:srgbClr val="003300"/>
                </a:solidFill>
                <a:latin typeface="Arial"/>
                <a:cs typeface="Arial"/>
              </a:rPr>
              <a:t>las  Operaciones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45610" y="4596003"/>
            <a:ext cx="1125474" cy="5623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45610" y="4596003"/>
            <a:ext cx="1125855" cy="562610"/>
          </a:xfrm>
          <a:custGeom>
            <a:avLst/>
            <a:gdLst/>
            <a:ahLst/>
            <a:cxnLst/>
            <a:rect l="l" t="t" r="r" b="b"/>
            <a:pathLst>
              <a:path w="1125854" h="562610">
                <a:moveTo>
                  <a:pt x="0" y="41021"/>
                </a:moveTo>
                <a:lnTo>
                  <a:pt x="3230" y="25074"/>
                </a:lnTo>
                <a:lnTo>
                  <a:pt x="12033" y="12033"/>
                </a:lnTo>
                <a:lnTo>
                  <a:pt x="25074" y="3230"/>
                </a:lnTo>
                <a:lnTo>
                  <a:pt x="41021" y="0"/>
                </a:lnTo>
                <a:lnTo>
                  <a:pt x="1084452" y="0"/>
                </a:lnTo>
                <a:lnTo>
                  <a:pt x="1100399" y="3230"/>
                </a:lnTo>
                <a:lnTo>
                  <a:pt x="1113440" y="12033"/>
                </a:lnTo>
                <a:lnTo>
                  <a:pt x="1122243" y="25074"/>
                </a:lnTo>
                <a:lnTo>
                  <a:pt x="1125474" y="41021"/>
                </a:lnTo>
                <a:lnTo>
                  <a:pt x="1125474" y="521335"/>
                </a:lnTo>
                <a:lnTo>
                  <a:pt x="1122243" y="537281"/>
                </a:lnTo>
                <a:lnTo>
                  <a:pt x="1113440" y="550322"/>
                </a:lnTo>
                <a:lnTo>
                  <a:pt x="1100399" y="559125"/>
                </a:lnTo>
                <a:lnTo>
                  <a:pt x="1084452" y="562356"/>
                </a:lnTo>
                <a:lnTo>
                  <a:pt x="41021" y="562356"/>
                </a:lnTo>
                <a:lnTo>
                  <a:pt x="25074" y="559125"/>
                </a:lnTo>
                <a:lnTo>
                  <a:pt x="12033" y="550322"/>
                </a:lnTo>
                <a:lnTo>
                  <a:pt x="3230" y="537281"/>
                </a:lnTo>
                <a:lnTo>
                  <a:pt x="0" y="521335"/>
                </a:lnTo>
                <a:lnTo>
                  <a:pt x="0" y="41021"/>
                </a:lnTo>
                <a:close/>
              </a:path>
            </a:pathLst>
          </a:custGeom>
          <a:ln w="9906">
            <a:solidFill>
              <a:srgbClr val="33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41928" y="4626102"/>
            <a:ext cx="1124585" cy="44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8740" algn="ctr">
              <a:lnSpc>
                <a:spcPct val="102600"/>
              </a:lnSpc>
              <a:spcBef>
                <a:spcPts val="95"/>
              </a:spcBef>
            </a:pPr>
            <a:r>
              <a:rPr sz="900" b="1" spc="10" dirty="0">
                <a:solidFill>
                  <a:srgbClr val="003300"/>
                </a:solidFill>
                <a:latin typeface="Arial"/>
                <a:cs typeface="Arial"/>
              </a:rPr>
              <a:t>Cumplimiento de  Leyes y  Regl</a:t>
            </a:r>
            <a:r>
              <a:rPr sz="900" b="1" spc="15" dirty="0">
                <a:solidFill>
                  <a:srgbClr val="003300"/>
                </a:solidFill>
                <a:latin typeface="Arial"/>
                <a:cs typeface="Arial"/>
              </a:rPr>
              <a:t>am</a:t>
            </a:r>
            <a:r>
              <a:rPr sz="900" b="1" spc="10" dirty="0">
                <a:solidFill>
                  <a:srgbClr val="003300"/>
                </a:solidFill>
                <a:latin typeface="Arial"/>
                <a:cs typeface="Arial"/>
              </a:rPr>
              <a:t>entaciones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07211" y="2514980"/>
            <a:ext cx="1405890" cy="422275"/>
          </a:xfrm>
          <a:custGeom>
            <a:avLst/>
            <a:gdLst/>
            <a:ahLst/>
            <a:cxnLst/>
            <a:rect l="l" t="t" r="r" b="b"/>
            <a:pathLst>
              <a:path w="1405889" h="422275">
                <a:moveTo>
                  <a:pt x="1335532" y="0"/>
                </a:moveTo>
                <a:lnTo>
                  <a:pt x="70357" y="0"/>
                </a:lnTo>
                <a:lnTo>
                  <a:pt x="42969" y="5528"/>
                </a:lnTo>
                <a:lnTo>
                  <a:pt x="20605" y="20605"/>
                </a:lnTo>
                <a:lnTo>
                  <a:pt x="5528" y="42969"/>
                </a:lnTo>
                <a:lnTo>
                  <a:pt x="0" y="70358"/>
                </a:lnTo>
                <a:lnTo>
                  <a:pt x="0" y="351790"/>
                </a:lnTo>
                <a:lnTo>
                  <a:pt x="5528" y="379178"/>
                </a:lnTo>
                <a:lnTo>
                  <a:pt x="20605" y="401542"/>
                </a:lnTo>
                <a:lnTo>
                  <a:pt x="42969" y="416619"/>
                </a:lnTo>
                <a:lnTo>
                  <a:pt x="70357" y="422148"/>
                </a:lnTo>
                <a:lnTo>
                  <a:pt x="1335532" y="422148"/>
                </a:lnTo>
                <a:lnTo>
                  <a:pt x="1362920" y="416619"/>
                </a:lnTo>
                <a:lnTo>
                  <a:pt x="1385284" y="401542"/>
                </a:lnTo>
                <a:lnTo>
                  <a:pt x="1400361" y="379178"/>
                </a:lnTo>
                <a:lnTo>
                  <a:pt x="1405889" y="351790"/>
                </a:lnTo>
                <a:lnTo>
                  <a:pt x="1405889" y="70358"/>
                </a:lnTo>
                <a:lnTo>
                  <a:pt x="1400361" y="42969"/>
                </a:lnTo>
                <a:lnTo>
                  <a:pt x="1385284" y="20605"/>
                </a:lnTo>
                <a:lnTo>
                  <a:pt x="1362920" y="5528"/>
                </a:lnTo>
                <a:lnTo>
                  <a:pt x="1335532" y="0"/>
                </a:lnTo>
                <a:close/>
              </a:path>
            </a:pathLst>
          </a:custGeom>
          <a:solidFill>
            <a:srgbClr val="CCE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8636" y="2486405"/>
            <a:ext cx="1463040" cy="479425"/>
          </a:xfrm>
          <a:custGeom>
            <a:avLst/>
            <a:gdLst/>
            <a:ahLst/>
            <a:cxnLst/>
            <a:rect l="l" t="t" r="r" b="b"/>
            <a:pathLst>
              <a:path w="1463039" h="479425">
                <a:moveTo>
                  <a:pt x="1364869" y="0"/>
                </a:moveTo>
                <a:lnTo>
                  <a:pt x="98170" y="0"/>
                </a:lnTo>
                <a:lnTo>
                  <a:pt x="88900" y="508"/>
                </a:lnTo>
                <a:lnTo>
                  <a:pt x="51815" y="11938"/>
                </a:lnTo>
                <a:lnTo>
                  <a:pt x="17144" y="43053"/>
                </a:lnTo>
                <a:lnTo>
                  <a:pt x="1904" y="79121"/>
                </a:lnTo>
                <a:lnTo>
                  <a:pt x="0" y="98171"/>
                </a:lnTo>
                <a:lnTo>
                  <a:pt x="0" y="381127"/>
                </a:lnTo>
                <a:lnTo>
                  <a:pt x="7746" y="418973"/>
                </a:lnTo>
                <a:lnTo>
                  <a:pt x="43052" y="462153"/>
                </a:lnTo>
                <a:lnTo>
                  <a:pt x="79120" y="477393"/>
                </a:lnTo>
                <a:lnTo>
                  <a:pt x="98170" y="479298"/>
                </a:lnTo>
                <a:lnTo>
                  <a:pt x="1364869" y="479298"/>
                </a:lnTo>
                <a:lnTo>
                  <a:pt x="1402714" y="471551"/>
                </a:lnTo>
                <a:lnTo>
                  <a:pt x="1410304" y="467868"/>
                </a:lnTo>
                <a:lnTo>
                  <a:pt x="98551" y="467868"/>
                </a:lnTo>
                <a:lnTo>
                  <a:pt x="90042" y="467360"/>
                </a:lnTo>
                <a:lnTo>
                  <a:pt x="49656" y="452755"/>
                </a:lnTo>
                <a:lnTo>
                  <a:pt x="21970" y="422148"/>
                </a:lnTo>
                <a:lnTo>
                  <a:pt x="11445" y="381127"/>
                </a:lnTo>
                <a:lnTo>
                  <a:pt x="11452" y="98171"/>
                </a:lnTo>
                <a:lnTo>
                  <a:pt x="22047" y="57150"/>
                </a:lnTo>
                <a:lnTo>
                  <a:pt x="49656" y="26543"/>
                </a:lnTo>
                <a:lnTo>
                  <a:pt x="90042" y="11938"/>
                </a:lnTo>
                <a:lnTo>
                  <a:pt x="98551" y="11430"/>
                </a:lnTo>
                <a:lnTo>
                  <a:pt x="1410304" y="11430"/>
                </a:lnTo>
                <a:lnTo>
                  <a:pt x="1402714" y="7747"/>
                </a:lnTo>
                <a:lnTo>
                  <a:pt x="1393697" y="4445"/>
                </a:lnTo>
                <a:lnTo>
                  <a:pt x="1384045" y="1905"/>
                </a:lnTo>
                <a:lnTo>
                  <a:pt x="1374266" y="508"/>
                </a:lnTo>
                <a:lnTo>
                  <a:pt x="1364869" y="0"/>
                </a:lnTo>
                <a:close/>
              </a:path>
              <a:path w="1463039" h="479425">
                <a:moveTo>
                  <a:pt x="1410304" y="11430"/>
                </a:moveTo>
                <a:lnTo>
                  <a:pt x="1364614" y="11430"/>
                </a:lnTo>
                <a:lnTo>
                  <a:pt x="1373124" y="11938"/>
                </a:lnTo>
                <a:lnTo>
                  <a:pt x="1381759" y="13208"/>
                </a:lnTo>
                <a:lnTo>
                  <a:pt x="1426083" y="36957"/>
                </a:lnTo>
                <a:lnTo>
                  <a:pt x="1447672" y="72898"/>
                </a:lnTo>
                <a:lnTo>
                  <a:pt x="1451594" y="381127"/>
                </a:lnTo>
                <a:lnTo>
                  <a:pt x="1451102" y="389382"/>
                </a:lnTo>
                <a:lnTo>
                  <a:pt x="1436496" y="429768"/>
                </a:lnTo>
                <a:lnTo>
                  <a:pt x="1405889" y="457327"/>
                </a:lnTo>
                <a:lnTo>
                  <a:pt x="1364614" y="467868"/>
                </a:lnTo>
                <a:lnTo>
                  <a:pt x="1410304" y="467868"/>
                </a:lnTo>
                <a:lnTo>
                  <a:pt x="1445768" y="436372"/>
                </a:lnTo>
                <a:lnTo>
                  <a:pt x="1461134" y="400304"/>
                </a:lnTo>
                <a:lnTo>
                  <a:pt x="1463039" y="381127"/>
                </a:lnTo>
                <a:lnTo>
                  <a:pt x="1463039" y="98171"/>
                </a:lnTo>
                <a:lnTo>
                  <a:pt x="1455293" y="60325"/>
                </a:lnTo>
                <a:lnTo>
                  <a:pt x="1420114" y="17272"/>
                </a:lnTo>
                <a:lnTo>
                  <a:pt x="1411351" y="11938"/>
                </a:lnTo>
                <a:lnTo>
                  <a:pt x="1410304" y="11430"/>
                </a:lnTo>
                <a:close/>
              </a:path>
              <a:path w="1463039" h="479425">
                <a:moveTo>
                  <a:pt x="1364361" y="22860"/>
                </a:moveTo>
                <a:lnTo>
                  <a:pt x="98805" y="22860"/>
                </a:lnTo>
                <a:lnTo>
                  <a:pt x="91185" y="23241"/>
                </a:lnTo>
                <a:lnTo>
                  <a:pt x="45084" y="45085"/>
                </a:lnTo>
                <a:lnTo>
                  <a:pt x="24383" y="83693"/>
                </a:lnTo>
                <a:lnTo>
                  <a:pt x="22885" y="381127"/>
                </a:lnTo>
                <a:lnTo>
                  <a:pt x="23240" y="388239"/>
                </a:lnTo>
                <a:lnTo>
                  <a:pt x="45084" y="434213"/>
                </a:lnTo>
                <a:lnTo>
                  <a:pt x="83692" y="454914"/>
                </a:lnTo>
                <a:lnTo>
                  <a:pt x="98805" y="456438"/>
                </a:lnTo>
                <a:lnTo>
                  <a:pt x="1364361" y="456438"/>
                </a:lnTo>
                <a:lnTo>
                  <a:pt x="1406778" y="443357"/>
                </a:lnTo>
                <a:lnTo>
                  <a:pt x="1427650" y="422148"/>
                </a:lnTo>
                <a:lnTo>
                  <a:pt x="99694" y="422148"/>
                </a:lnTo>
                <a:lnTo>
                  <a:pt x="94614" y="421894"/>
                </a:lnTo>
                <a:lnTo>
                  <a:pt x="62229" y="400304"/>
                </a:lnTo>
                <a:lnTo>
                  <a:pt x="57219" y="381127"/>
                </a:lnTo>
                <a:lnTo>
                  <a:pt x="57226" y="98171"/>
                </a:lnTo>
                <a:lnTo>
                  <a:pt x="76200" y="64008"/>
                </a:lnTo>
                <a:lnTo>
                  <a:pt x="99694" y="57150"/>
                </a:lnTo>
                <a:lnTo>
                  <a:pt x="1427639" y="57150"/>
                </a:lnTo>
                <a:lnTo>
                  <a:pt x="1427099" y="56261"/>
                </a:lnTo>
                <a:lnTo>
                  <a:pt x="1393697" y="28829"/>
                </a:lnTo>
                <a:lnTo>
                  <a:pt x="1371981" y="23241"/>
                </a:lnTo>
                <a:lnTo>
                  <a:pt x="1364361" y="22860"/>
                </a:lnTo>
                <a:close/>
              </a:path>
              <a:path w="1463039" h="479425">
                <a:moveTo>
                  <a:pt x="1427639" y="57150"/>
                </a:moveTo>
                <a:lnTo>
                  <a:pt x="1363471" y="57150"/>
                </a:lnTo>
                <a:lnTo>
                  <a:pt x="1368552" y="57404"/>
                </a:lnTo>
                <a:lnTo>
                  <a:pt x="1372743" y="58039"/>
                </a:lnTo>
                <a:lnTo>
                  <a:pt x="1402588" y="82677"/>
                </a:lnTo>
                <a:lnTo>
                  <a:pt x="1405820" y="381127"/>
                </a:lnTo>
                <a:lnTo>
                  <a:pt x="1405636" y="384810"/>
                </a:lnTo>
                <a:lnTo>
                  <a:pt x="1384045" y="417068"/>
                </a:lnTo>
                <a:lnTo>
                  <a:pt x="1363471" y="422148"/>
                </a:lnTo>
                <a:lnTo>
                  <a:pt x="1427650" y="422148"/>
                </a:lnTo>
                <a:lnTo>
                  <a:pt x="1440154" y="381127"/>
                </a:lnTo>
                <a:lnTo>
                  <a:pt x="1440148" y="98171"/>
                </a:lnTo>
                <a:lnTo>
                  <a:pt x="1431036" y="62738"/>
                </a:lnTo>
                <a:lnTo>
                  <a:pt x="1427639" y="571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60398" y="2555493"/>
            <a:ext cx="735965" cy="33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4290">
              <a:lnSpc>
                <a:spcPct val="101499"/>
              </a:lnSpc>
              <a:spcBef>
                <a:spcPts val="95"/>
              </a:spcBef>
            </a:pPr>
            <a:r>
              <a:rPr sz="1000" b="1" spc="5" dirty="0">
                <a:latin typeface="Arial"/>
                <a:cs typeface="Arial"/>
              </a:rPr>
              <a:t>Origen de  la</a:t>
            </a:r>
            <a:r>
              <a:rPr sz="1000" b="1" spc="-60" dirty="0">
                <a:latin typeface="Arial"/>
                <a:cs typeface="Arial"/>
              </a:rPr>
              <a:t> </a:t>
            </a:r>
            <a:r>
              <a:rPr sz="1000" b="1" spc="5" dirty="0">
                <a:latin typeface="Arial"/>
                <a:cs typeface="Arial"/>
              </a:rPr>
              <a:t>Amenaza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84729" y="3218307"/>
            <a:ext cx="773430" cy="9143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84729" y="3218307"/>
            <a:ext cx="773430" cy="914400"/>
          </a:xfrm>
          <a:custGeom>
            <a:avLst/>
            <a:gdLst/>
            <a:ahLst/>
            <a:cxnLst/>
            <a:rect l="l" t="t" r="r" b="b"/>
            <a:pathLst>
              <a:path w="773429" h="914400">
                <a:moveTo>
                  <a:pt x="303402" y="0"/>
                </a:moveTo>
                <a:lnTo>
                  <a:pt x="460501" y="257428"/>
                </a:lnTo>
                <a:lnTo>
                  <a:pt x="395604" y="287781"/>
                </a:lnTo>
                <a:lnTo>
                  <a:pt x="593597" y="508253"/>
                </a:lnTo>
                <a:lnTo>
                  <a:pt x="528700" y="545083"/>
                </a:lnTo>
                <a:lnTo>
                  <a:pt x="773430" y="914399"/>
                </a:lnTo>
                <a:lnTo>
                  <a:pt x="358520" y="631443"/>
                </a:lnTo>
                <a:lnTo>
                  <a:pt x="437641" y="592073"/>
                </a:lnTo>
                <a:lnTo>
                  <a:pt x="179831" y="410844"/>
                </a:lnTo>
                <a:lnTo>
                  <a:pt x="272160" y="354838"/>
                </a:lnTo>
                <a:lnTo>
                  <a:pt x="0" y="164718"/>
                </a:lnTo>
                <a:lnTo>
                  <a:pt x="303402" y="0"/>
                </a:lnTo>
                <a:close/>
              </a:path>
            </a:pathLst>
          </a:custGeom>
          <a:ln w="9906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50311" y="4307966"/>
            <a:ext cx="761111" cy="94259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50311" y="4307966"/>
            <a:ext cx="761365" cy="942975"/>
          </a:xfrm>
          <a:custGeom>
            <a:avLst/>
            <a:gdLst/>
            <a:ahLst/>
            <a:cxnLst/>
            <a:rect l="l" t="t" r="r" b="b"/>
            <a:pathLst>
              <a:path w="761364" h="942975">
                <a:moveTo>
                  <a:pt x="0" y="691768"/>
                </a:moveTo>
                <a:lnTo>
                  <a:pt x="207771" y="473074"/>
                </a:lnTo>
                <a:lnTo>
                  <a:pt x="253873" y="527938"/>
                </a:lnTo>
                <a:lnTo>
                  <a:pt x="415544" y="279272"/>
                </a:lnTo>
                <a:lnTo>
                  <a:pt x="467994" y="332485"/>
                </a:lnTo>
                <a:lnTo>
                  <a:pt x="761111" y="0"/>
                </a:lnTo>
                <a:lnTo>
                  <a:pt x="595502" y="474725"/>
                </a:lnTo>
                <a:lnTo>
                  <a:pt x="536955" y="408431"/>
                </a:lnTo>
                <a:lnTo>
                  <a:pt x="428879" y="704849"/>
                </a:lnTo>
                <a:lnTo>
                  <a:pt x="350774" y="629919"/>
                </a:lnTo>
                <a:lnTo>
                  <a:pt x="237744" y="942593"/>
                </a:lnTo>
                <a:lnTo>
                  <a:pt x="0" y="691768"/>
                </a:lnTo>
                <a:close/>
              </a:path>
            </a:pathLst>
          </a:custGeom>
          <a:ln w="95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088890" y="4357878"/>
            <a:ext cx="800100" cy="8966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088890" y="4357878"/>
            <a:ext cx="800100" cy="896619"/>
          </a:xfrm>
          <a:custGeom>
            <a:avLst/>
            <a:gdLst/>
            <a:ahLst/>
            <a:cxnLst/>
            <a:rect l="l" t="t" r="r" b="b"/>
            <a:pathLst>
              <a:path w="800100" h="896620">
                <a:moveTo>
                  <a:pt x="503047" y="896620"/>
                </a:moveTo>
                <a:lnTo>
                  <a:pt x="336676" y="645160"/>
                </a:lnTo>
                <a:lnTo>
                  <a:pt x="400304" y="612394"/>
                </a:lnTo>
                <a:lnTo>
                  <a:pt x="194563" y="399288"/>
                </a:lnTo>
                <a:lnTo>
                  <a:pt x="257937" y="360045"/>
                </a:lnTo>
                <a:lnTo>
                  <a:pt x="0" y="0"/>
                </a:lnTo>
                <a:lnTo>
                  <a:pt x="424814" y="267589"/>
                </a:lnTo>
                <a:lnTo>
                  <a:pt x="347218" y="309753"/>
                </a:lnTo>
                <a:lnTo>
                  <a:pt x="611377" y="481457"/>
                </a:lnTo>
                <a:lnTo>
                  <a:pt x="521208" y="540766"/>
                </a:lnTo>
                <a:lnTo>
                  <a:pt x="800100" y="720852"/>
                </a:lnTo>
                <a:lnTo>
                  <a:pt x="503047" y="896620"/>
                </a:lnTo>
                <a:close/>
              </a:path>
            </a:pathLst>
          </a:custGeom>
          <a:ln w="95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72507" y="3228085"/>
            <a:ext cx="771778" cy="9342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72507" y="3228085"/>
            <a:ext cx="772160" cy="934719"/>
          </a:xfrm>
          <a:custGeom>
            <a:avLst/>
            <a:gdLst/>
            <a:ahLst/>
            <a:cxnLst/>
            <a:rect l="l" t="t" r="r" b="b"/>
            <a:pathLst>
              <a:path w="772160" h="934720">
                <a:moveTo>
                  <a:pt x="771778" y="254380"/>
                </a:moveTo>
                <a:lnTo>
                  <a:pt x="560577" y="469900"/>
                </a:lnTo>
                <a:lnTo>
                  <a:pt x="515365" y="414274"/>
                </a:lnTo>
                <a:lnTo>
                  <a:pt x="349757" y="660400"/>
                </a:lnTo>
                <a:lnTo>
                  <a:pt x="298322" y="606425"/>
                </a:lnTo>
                <a:lnTo>
                  <a:pt x="0" y="934212"/>
                </a:lnTo>
                <a:lnTo>
                  <a:pt x="172973" y="462025"/>
                </a:lnTo>
                <a:lnTo>
                  <a:pt x="230377" y="529336"/>
                </a:lnTo>
                <a:lnTo>
                  <a:pt x="343153" y="234696"/>
                </a:lnTo>
                <a:lnTo>
                  <a:pt x="420115" y="310768"/>
                </a:lnTo>
                <a:lnTo>
                  <a:pt x="537971" y="0"/>
                </a:lnTo>
                <a:lnTo>
                  <a:pt x="771778" y="254380"/>
                </a:lnTo>
                <a:close/>
              </a:path>
            </a:pathLst>
          </a:custGeom>
          <a:ln w="9524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48553" y="2514980"/>
            <a:ext cx="1408430" cy="422275"/>
          </a:xfrm>
          <a:custGeom>
            <a:avLst/>
            <a:gdLst/>
            <a:ahLst/>
            <a:cxnLst/>
            <a:rect l="l" t="t" r="r" b="b"/>
            <a:pathLst>
              <a:path w="1408429" h="422275">
                <a:moveTo>
                  <a:pt x="1337818" y="0"/>
                </a:moveTo>
                <a:lnTo>
                  <a:pt x="70358" y="0"/>
                </a:lnTo>
                <a:lnTo>
                  <a:pt x="42969" y="5528"/>
                </a:lnTo>
                <a:lnTo>
                  <a:pt x="20605" y="20605"/>
                </a:lnTo>
                <a:lnTo>
                  <a:pt x="5528" y="42969"/>
                </a:lnTo>
                <a:lnTo>
                  <a:pt x="0" y="70358"/>
                </a:lnTo>
                <a:lnTo>
                  <a:pt x="0" y="351790"/>
                </a:lnTo>
                <a:lnTo>
                  <a:pt x="5528" y="379178"/>
                </a:lnTo>
                <a:lnTo>
                  <a:pt x="20605" y="401542"/>
                </a:lnTo>
                <a:lnTo>
                  <a:pt x="42969" y="416619"/>
                </a:lnTo>
                <a:lnTo>
                  <a:pt x="70358" y="422148"/>
                </a:lnTo>
                <a:lnTo>
                  <a:pt x="1337818" y="422148"/>
                </a:lnTo>
                <a:lnTo>
                  <a:pt x="1365206" y="416619"/>
                </a:lnTo>
                <a:lnTo>
                  <a:pt x="1387570" y="401542"/>
                </a:lnTo>
                <a:lnTo>
                  <a:pt x="1402647" y="379178"/>
                </a:lnTo>
                <a:lnTo>
                  <a:pt x="1408176" y="351790"/>
                </a:lnTo>
                <a:lnTo>
                  <a:pt x="1408176" y="70358"/>
                </a:lnTo>
                <a:lnTo>
                  <a:pt x="1402647" y="42969"/>
                </a:lnTo>
                <a:lnTo>
                  <a:pt x="1387570" y="20605"/>
                </a:lnTo>
                <a:lnTo>
                  <a:pt x="1365206" y="5528"/>
                </a:lnTo>
                <a:lnTo>
                  <a:pt x="1337818" y="0"/>
                </a:lnTo>
                <a:close/>
              </a:path>
            </a:pathLst>
          </a:custGeom>
          <a:solidFill>
            <a:srgbClr val="CCE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919978" y="2486405"/>
            <a:ext cx="1465580" cy="479425"/>
          </a:xfrm>
          <a:custGeom>
            <a:avLst/>
            <a:gdLst/>
            <a:ahLst/>
            <a:cxnLst/>
            <a:rect l="l" t="t" r="r" b="b"/>
            <a:pathLst>
              <a:path w="1465579" h="479425">
                <a:moveTo>
                  <a:pt x="1367154" y="0"/>
                </a:moveTo>
                <a:lnTo>
                  <a:pt x="98171" y="0"/>
                </a:lnTo>
                <a:lnTo>
                  <a:pt x="88900" y="508"/>
                </a:lnTo>
                <a:lnTo>
                  <a:pt x="51816" y="11938"/>
                </a:lnTo>
                <a:lnTo>
                  <a:pt x="17145" y="43053"/>
                </a:lnTo>
                <a:lnTo>
                  <a:pt x="1905" y="79121"/>
                </a:lnTo>
                <a:lnTo>
                  <a:pt x="0" y="98171"/>
                </a:lnTo>
                <a:lnTo>
                  <a:pt x="0" y="381127"/>
                </a:lnTo>
                <a:lnTo>
                  <a:pt x="7747" y="418973"/>
                </a:lnTo>
                <a:lnTo>
                  <a:pt x="43052" y="462153"/>
                </a:lnTo>
                <a:lnTo>
                  <a:pt x="79121" y="477393"/>
                </a:lnTo>
                <a:lnTo>
                  <a:pt x="98171" y="479298"/>
                </a:lnTo>
                <a:lnTo>
                  <a:pt x="1367154" y="479298"/>
                </a:lnTo>
                <a:lnTo>
                  <a:pt x="1405001" y="471551"/>
                </a:lnTo>
                <a:lnTo>
                  <a:pt x="1412590" y="467868"/>
                </a:lnTo>
                <a:lnTo>
                  <a:pt x="98551" y="467868"/>
                </a:lnTo>
                <a:lnTo>
                  <a:pt x="90043" y="467360"/>
                </a:lnTo>
                <a:lnTo>
                  <a:pt x="49657" y="452755"/>
                </a:lnTo>
                <a:lnTo>
                  <a:pt x="21971" y="422148"/>
                </a:lnTo>
                <a:lnTo>
                  <a:pt x="11445" y="381127"/>
                </a:lnTo>
                <a:lnTo>
                  <a:pt x="11452" y="98171"/>
                </a:lnTo>
                <a:lnTo>
                  <a:pt x="22047" y="57150"/>
                </a:lnTo>
                <a:lnTo>
                  <a:pt x="49657" y="26543"/>
                </a:lnTo>
                <a:lnTo>
                  <a:pt x="90043" y="11938"/>
                </a:lnTo>
                <a:lnTo>
                  <a:pt x="98551" y="11430"/>
                </a:lnTo>
                <a:lnTo>
                  <a:pt x="1412590" y="11430"/>
                </a:lnTo>
                <a:lnTo>
                  <a:pt x="1405001" y="7747"/>
                </a:lnTo>
                <a:lnTo>
                  <a:pt x="1395983" y="4445"/>
                </a:lnTo>
                <a:lnTo>
                  <a:pt x="1386331" y="1905"/>
                </a:lnTo>
                <a:lnTo>
                  <a:pt x="1376552" y="508"/>
                </a:lnTo>
                <a:lnTo>
                  <a:pt x="1367154" y="0"/>
                </a:lnTo>
                <a:close/>
              </a:path>
              <a:path w="1465579" h="479425">
                <a:moveTo>
                  <a:pt x="1412590" y="11430"/>
                </a:moveTo>
                <a:lnTo>
                  <a:pt x="1366901" y="11430"/>
                </a:lnTo>
                <a:lnTo>
                  <a:pt x="1375410" y="11938"/>
                </a:lnTo>
                <a:lnTo>
                  <a:pt x="1384046" y="13208"/>
                </a:lnTo>
                <a:lnTo>
                  <a:pt x="1428369" y="36957"/>
                </a:lnTo>
                <a:lnTo>
                  <a:pt x="1449958" y="72898"/>
                </a:lnTo>
                <a:lnTo>
                  <a:pt x="1453880" y="381127"/>
                </a:lnTo>
                <a:lnTo>
                  <a:pt x="1453388" y="389382"/>
                </a:lnTo>
                <a:lnTo>
                  <a:pt x="1438782" y="429768"/>
                </a:lnTo>
                <a:lnTo>
                  <a:pt x="1408176" y="457327"/>
                </a:lnTo>
                <a:lnTo>
                  <a:pt x="1366901" y="467868"/>
                </a:lnTo>
                <a:lnTo>
                  <a:pt x="1412590" y="467868"/>
                </a:lnTo>
                <a:lnTo>
                  <a:pt x="1448053" y="436372"/>
                </a:lnTo>
                <a:lnTo>
                  <a:pt x="1463421" y="400304"/>
                </a:lnTo>
                <a:lnTo>
                  <a:pt x="1465326" y="381127"/>
                </a:lnTo>
                <a:lnTo>
                  <a:pt x="1465326" y="98171"/>
                </a:lnTo>
                <a:lnTo>
                  <a:pt x="1457578" y="60325"/>
                </a:lnTo>
                <a:lnTo>
                  <a:pt x="1422400" y="17272"/>
                </a:lnTo>
                <a:lnTo>
                  <a:pt x="1413637" y="11938"/>
                </a:lnTo>
                <a:lnTo>
                  <a:pt x="1412590" y="11430"/>
                </a:lnTo>
                <a:close/>
              </a:path>
              <a:path w="1465579" h="479425">
                <a:moveTo>
                  <a:pt x="1366647" y="22860"/>
                </a:moveTo>
                <a:lnTo>
                  <a:pt x="98806" y="22860"/>
                </a:lnTo>
                <a:lnTo>
                  <a:pt x="91186" y="23241"/>
                </a:lnTo>
                <a:lnTo>
                  <a:pt x="45085" y="45085"/>
                </a:lnTo>
                <a:lnTo>
                  <a:pt x="24384" y="83693"/>
                </a:lnTo>
                <a:lnTo>
                  <a:pt x="22885" y="381127"/>
                </a:lnTo>
                <a:lnTo>
                  <a:pt x="23241" y="388239"/>
                </a:lnTo>
                <a:lnTo>
                  <a:pt x="45085" y="434213"/>
                </a:lnTo>
                <a:lnTo>
                  <a:pt x="83693" y="454914"/>
                </a:lnTo>
                <a:lnTo>
                  <a:pt x="98806" y="456438"/>
                </a:lnTo>
                <a:lnTo>
                  <a:pt x="1366647" y="456438"/>
                </a:lnTo>
                <a:lnTo>
                  <a:pt x="1409065" y="443357"/>
                </a:lnTo>
                <a:lnTo>
                  <a:pt x="1429936" y="422148"/>
                </a:lnTo>
                <a:lnTo>
                  <a:pt x="99695" y="422148"/>
                </a:lnTo>
                <a:lnTo>
                  <a:pt x="94614" y="421894"/>
                </a:lnTo>
                <a:lnTo>
                  <a:pt x="62230" y="400304"/>
                </a:lnTo>
                <a:lnTo>
                  <a:pt x="57219" y="381127"/>
                </a:lnTo>
                <a:lnTo>
                  <a:pt x="57226" y="98171"/>
                </a:lnTo>
                <a:lnTo>
                  <a:pt x="76200" y="64008"/>
                </a:lnTo>
                <a:lnTo>
                  <a:pt x="99695" y="57150"/>
                </a:lnTo>
                <a:lnTo>
                  <a:pt x="1429925" y="57150"/>
                </a:lnTo>
                <a:lnTo>
                  <a:pt x="1429385" y="56261"/>
                </a:lnTo>
                <a:lnTo>
                  <a:pt x="1395983" y="28829"/>
                </a:lnTo>
                <a:lnTo>
                  <a:pt x="1374267" y="23241"/>
                </a:lnTo>
                <a:lnTo>
                  <a:pt x="1366647" y="22860"/>
                </a:lnTo>
                <a:close/>
              </a:path>
              <a:path w="1465579" h="479425">
                <a:moveTo>
                  <a:pt x="1429925" y="57150"/>
                </a:moveTo>
                <a:lnTo>
                  <a:pt x="1365757" y="57150"/>
                </a:lnTo>
                <a:lnTo>
                  <a:pt x="1370838" y="57404"/>
                </a:lnTo>
                <a:lnTo>
                  <a:pt x="1375028" y="58039"/>
                </a:lnTo>
                <a:lnTo>
                  <a:pt x="1404874" y="82677"/>
                </a:lnTo>
                <a:lnTo>
                  <a:pt x="1408106" y="381127"/>
                </a:lnTo>
                <a:lnTo>
                  <a:pt x="1407922" y="384810"/>
                </a:lnTo>
                <a:lnTo>
                  <a:pt x="1386331" y="417068"/>
                </a:lnTo>
                <a:lnTo>
                  <a:pt x="1365757" y="422148"/>
                </a:lnTo>
                <a:lnTo>
                  <a:pt x="1429936" y="422148"/>
                </a:lnTo>
                <a:lnTo>
                  <a:pt x="1442440" y="381127"/>
                </a:lnTo>
                <a:lnTo>
                  <a:pt x="1442434" y="98171"/>
                </a:lnTo>
                <a:lnTo>
                  <a:pt x="1433322" y="62738"/>
                </a:lnTo>
                <a:lnTo>
                  <a:pt x="1429925" y="571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231635" y="2555493"/>
            <a:ext cx="842644" cy="33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">
              <a:lnSpc>
                <a:spcPct val="101499"/>
              </a:lnSpc>
              <a:spcBef>
                <a:spcPts val="95"/>
              </a:spcBef>
            </a:pPr>
            <a:r>
              <a:rPr sz="1000" b="1" spc="5" dirty="0">
                <a:latin typeface="Arial"/>
                <a:cs typeface="Arial"/>
              </a:rPr>
              <a:t>Efecto en la  Organización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448180" y="3288410"/>
            <a:ext cx="1125474" cy="6332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48180" y="3288410"/>
            <a:ext cx="1125855" cy="633730"/>
          </a:xfrm>
          <a:custGeom>
            <a:avLst/>
            <a:gdLst/>
            <a:ahLst/>
            <a:cxnLst/>
            <a:rect l="l" t="t" r="r" b="b"/>
            <a:pathLst>
              <a:path w="1125855" h="633729">
                <a:moveTo>
                  <a:pt x="0" y="316611"/>
                </a:moveTo>
                <a:lnTo>
                  <a:pt x="12980" y="248684"/>
                </a:lnTo>
                <a:lnTo>
                  <a:pt x="50090" y="185838"/>
                </a:lnTo>
                <a:lnTo>
                  <a:pt x="76834" y="156802"/>
                </a:lnTo>
                <a:lnTo>
                  <a:pt x="108581" y="129616"/>
                </a:lnTo>
                <a:lnTo>
                  <a:pt x="144987" y="104471"/>
                </a:lnTo>
                <a:lnTo>
                  <a:pt x="185708" y="81562"/>
                </a:lnTo>
                <a:lnTo>
                  <a:pt x="230401" y="61081"/>
                </a:lnTo>
                <a:lnTo>
                  <a:pt x="278722" y="43222"/>
                </a:lnTo>
                <a:lnTo>
                  <a:pt x="330329" y="28177"/>
                </a:lnTo>
                <a:lnTo>
                  <a:pt x="384877" y="16139"/>
                </a:lnTo>
                <a:lnTo>
                  <a:pt x="442023" y="7301"/>
                </a:lnTo>
                <a:lnTo>
                  <a:pt x="501424" y="1857"/>
                </a:lnTo>
                <a:lnTo>
                  <a:pt x="562737" y="0"/>
                </a:lnTo>
                <a:lnTo>
                  <a:pt x="624049" y="1857"/>
                </a:lnTo>
                <a:lnTo>
                  <a:pt x="683450" y="7301"/>
                </a:lnTo>
                <a:lnTo>
                  <a:pt x="740596" y="16139"/>
                </a:lnTo>
                <a:lnTo>
                  <a:pt x="795144" y="28177"/>
                </a:lnTo>
                <a:lnTo>
                  <a:pt x="846751" y="43222"/>
                </a:lnTo>
                <a:lnTo>
                  <a:pt x="895072" y="61081"/>
                </a:lnTo>
                <a:lnTo>
                  <a:pt x="939765" y="81562"/>
                </a:lnTo>
                <a:lnTo>
                  <a:pt x="980486" y="104471"/>
                </a:lnTo>
                <a:lnTo>
                  <a:pt x="1016892" y="129616"/>
                </a:lnTo>
                <a:lnTo>
                  <a:pt x="1048639" y="156802"/>
                </a:lnTo>
                <a:lnTo>
                  <a:pt x="1075383" y="185838"/>
                </a:lnTo>
                <a:lnTo>
                  <a:pt x="1112493" y="248684"/>
                </a:lnTo>
                <a:lnTo>
                  <a:pt x="1125474" y="316611"/>
                </a:lnTo>
                <a:lnTo>
                  <a:pt x="1122171" y="351112"/>
                </a:lnTo>
                <a:lnTo>
                  <a:pt x="1096783" y="416692"/>
                </a:lnTo>
                <a:lnTo>
                  <a:pt x="1048638" y="476419"/>
                </a:lnTo>
                <a:lnTo>
                  <a:pt x="1016892" y="503605"/>
                </a:lnTo>
                <a:lnTo>
                  <a:pt x="980486" y="528750"/>
                </a:lnTo>
                <a:lnTo>
                  <a:pt x="939765" y="551659"/>
                </a:lnTo>
                <a:lnTo>
                  <a:pt x="895072" y="572140"/>
                </a:lnTo>
                <a:lnTo>
                  <a:pt x="846751" y="589999"/>
                </a:lnTo>
                <a:lnTo>
                  <a:pt x="795144" y="605044"/>
                </a:lnTo>
                <a:lnTo>
                  <a:pt x="740596" y="617082"/>
                </a:lnTo>
                <a:lnTo>
                  <a:pt x="683450" y="625920"/>
                </a:lnTo>
                <a:lnTo>
                  <a:pt x="624049" y="631364"/>
                </a:lnTo>
                <a:lnTo>
                  <a:pt x="562737" y="633221"/>
                </a:lnTo>
                <a:lnTo>
                  <a:pt x="501424" y="631364"/>
                </a:lnTo>
                <a:lnTo>
                  <a:pt x="442023" y="625920"/>
                </a:lnTo>
                <a:lnTo>
                  <a:pt x="384877" y="617082"/>
                </a:lnTo>
                <a:lnTo>
                  <a:pt x="330329" y="605044"/>
                </a:lnTo>
                <a:lnTo>
                  <a:pt x="278722" y="589999"/>
                </a:lnTo>
                <a:lnTo>
                  <a:pt x="230401" y="572140"/>
                </a:lnTo>
                <a:lnTo>
                  <a:pt x="185708" y="551659"/>
                </a:lnTo>
                <a:lnTo>
                  <a:pt x="144987" y="528750"/>
                </a:lnTo>
                <a:lnTo>
                  <a:pt x="108581" y="503605"/>
                </a:lnTo>
                <a:lnTo>
                  <a:pt x="76835" y="476419"/>
                </a:lnTo>
                <a:lnTo>
                  <a:pt x="50090" y="447383"/>
                </a:lnTo>
                <a:lnTo>
                  <a:pt x="12980" y="384537"/>
                </a:lnTo>
                <a:lnTo>
                  <a:pt x="0" y="316611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718310" y="3496055"/>
            <a:ext cx="584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E</a:t>
            </a:r>
            <a:r>
              <a:rPr sz="1200" b="1" spc="-10" dirty="0">
                <a:latin typeface="Arial"/>
                <a:cs typeface="Arial"/>
              </a:rPr>
              <a:t>x</a:t>
            </a:r>
            <a:r>
              <a:rPr sz="1200" b="1" spc="-5" dirty="0">
                <a:latin typeface="Arial"/>
                <a:cs typeface="Arial"/>
              </a:rPr>
              <a:t>terna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518285" y="4836033"/>
            <a:ext cx="1125473" cy="63322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18285" y="4836033"/>
            <a:ext cx="1125855" cy="633730"/>
          </a:xfrm>
          <a:custGeom>
            <a:avLst/>
            <a:gdLst/>
            <a:ahLst/>
            <a:cxnLst/>
            <a:rect l="l" t="t" r="r" b="b"/>
            <a:pathLst>
              <a:path w="1125855" h="633729">
                <a:moveTo>
                  <a:pt x="0" y="316611"/>
                </a:moveTo>
                <a:lnTo>
                  <a:pt x="12980" y="248684"/>
                </a:lnTo>
                <a:lnTo>
                  <a:pt x="50090" y="185838"/>
                </a:lnTo>
                <a:lnTo>
                  <a:pt x="76834" y="156802"/>
                </a:lnTo>
                <a:lnTo>
                  <a:pt x="108581" y="129616"/>
                </a:lnTo>
                <a:lnTo>
                  <a:pt x="144987" y="104471"/>
                </a:lnTo>
                <a:lnTo>
                  <a:pt x="185708" y="81562"/>
                </a:lnTo>
                <a:lnTo>
                  <a:pt x="230401" y="61081"/>
                </a:lnTo>
                <a:lnTo>
                  <a:pt x="278722" y="43222"/>
                </a:lnTo>
                <a:lnTo>
                  <a:pt x="330329" y="28177"/>
                </a:lnTo>
                <a:lnTo>
                  <a:pt x="384877" y="16139"/>
                </a:lnTo>
                <a:lnTo>
                  <a:pt x="442023" y="7301"/>
                </a:lnTo>
                <a:lnTo>
                  <a:pt x="501424" y="1857"/>
                </a:lnTo>
                <a:lnTo>
                  <a:pt x="562737" y="0"/>
                </a:lnTo>
                <a:lnTo>
                  <a:pt x="624049" y="1857"/>
                </a:lnTo>
                <a:lnTo>
                  <a:pt x="683450" y="7301"/>
                </a:lnTo>
                <a:lnTo>
                  <a:pt x="740596" y="16139"/>
                </a:lnTo>
                <a:lnTo>
                  <a:pt x="795144" y="28177"/>
                </a:lnTo>
                <a:lnTo>
                  <a:pt x="846751" y="43222"/>
                </a:lnTo>
                <a:lnTo>
                  <a:pt x="895072" y="61081"/>
                </a:lnTo>
                <a:lnTo>
                  <a:pt x="939765" y="81562"/>
                </a:lnTo>
                <a:lnTo>
                  <a:pt x="980486" y="104471"/>
                </a:lnTo>
                <a:lnTo>
                  <a:pt x="1016892" y="129616"/>
                </a:lnTo>
                <a:lnTo>
                  <a:pt x="1048639" y="156802"/>
                </a:lnTo>
                <a:lnTo>
                  <a:pt x="1075383" y="185838"/>
                </a:lnTo>
                <a:lnTo>
                  <a:pt x="1112493" y="248684"/>
                </a:lnTo>
                <a:lnTo>
                  <a:pt x="1125473" y="316611"/>
                </a:lnTo>
                <a:lnTo>
                  <a:pt x="1122171" y="351112"/>
                </a:lnTo>
                <a:lnTo>
                  <a:pt x="1096783" y="416692"/>
                </a:lnTo>
                <a:lnTo>
                  <a:pt x="1048638" y="476419"/>
                </a:lnTo>
                <a:lnTo>
                  <a:pt x="1016892" y="503605"/>
                </a:lnTo>
                <a:lnTo>
                  <a:pt x="980486" y="528750"/>
                </a:lnTo>
                <a:lnTo>
                  <a:pt x="939765" y="551659"/>
                </a:lnTo>
                <a:lnTo>
                  <a:pt x="895072" y="572140"/>
                </a:lnTo>
                <a:lnTo>
                  <a:pt x="846751" y="589999"/>
                </a:lnTo>
                <a:lnTo>
                  <a:pt x="795144" y="605044"/>
                </a:lnTo>
                <a:lnTo>
                  <a:pt x="740596" y="617082"/>
                </a:lnTo>
                <a:lnTo>
                  <a:pt x="683450" y="625920"/>
                </a:lnTo>
                <a:lnTo>
                  <a:pt x="624049" y="631364"/>
                </a:lnTo>
                <a:lnTo>
                  <a:pt x="562737" y="633222"/>
                </a:lnTo>
                <a:lnTo>
                  <a:pt x="501424" y="631364"/>
                </a:lnTo>
                <a:lnTo>
                  <a:pt x="442023" y="625920"/>
                </a:lnTo>
                <a:lnTo>
                  <a:pt x="384877" y="617082"/>
                </a:lnTo>
                <a:lnTo>
                  <a:pt x="330329" y="605044"/>
                </a:lnTo>
                <a:lnTo>
                  <a:pt x="278722" y="589999"/>
                </a:lnTo>
                <a:lnTo>
                  <a:pt x="230401" y="572140"/>
                </a:lnTo>
                <a:lnTo>
                  <a:pt x="185708" y="551659"/>
                </a:lnTo>
                <a:lnTo>
                  <a:pt x="144987" y="528750"/>
                </a:lnTo>
                <a:lnTo>
                  <a:pt x="108581" y="503605"/>
                </a:lnTo>
                <a:lnTo>
                  <a:pt x="76835" y="476419"/>
                </a:lnTo>
                <a:lnTo>
                  <a:pt x="50090" y="447383"/>
                </a:lnTo>
                <a:lnTo>
                  <a:pt x="12980" y="384537"/>
                </a:lnTo>
                <a:lnTo>
                  <a:pt x="0" y="316611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724914" y="5043932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Inherente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20180" y="3218307"/>
            <a:ext cx="1125474" cy="63322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20180" y="3218307"/>
            <a:ext cx="1125855" cy="633730"/>
          </a:xfrm>
          <a:custGeom>
            <a:avLst/>
            <a:gdLst/>
            <a:ahLst/>
            <a:cxnLst/>
            <a:rect l="l" t="t" r="r" b="b"/>
            <a:pathLst>
              <a:path w="1125854" h="633729">
                <a:moveTo>
                  <a:pt x="0" y="316610"/>
                </a:moveTo>
                <a:lnTo>
                  <a:pt x="12980" y="248684"/>
                </a:lnTo>
                <a:lnTo>
                  <a:pt x="50090" y="185838"/>
                </a:lnTo>
                <a:lnTo>
                  <a:pt x="76834" y="156802"/>
                </a:lnTo>
                <a:lnTo>
                  <a:pt x="108581" y="129616"/>
                </a:lnTo>
                <a:lnTo>
                  <a:pt x="144987" y="104471"/>
                </a:lnTo>
                <a:lnTo>
                  <a:pt x="185708" y="81562"/>
                </a:lnTo>
                <a:lnTo>
                  <a:pt x="230401" y="61081"/>
                </a:lnTo>
                <a:lnTo>
                  <a:pt x="278722" y="43222"/>
                </a:lnTo>
                <a:lnTo>
                  <a:pt x="330329" y="28177"/>
                </a:lnTo>
                <a:lnTo>
                  <a:pt x="384877" y="16139"/>
                </a:lnTo>
                <a:lnTo>
                  <a:pt x="442023" y="7301"/>
                </a:lnTo>
                <a:lnTo>
                  <a:pt x="501424" y="1857"/>
                </a:lnTo>
                <a:lnTo>
                  <a:pt x="562737" y="0"/>
                </a:lnTo>
                <a:lnTo>
                  <a:pt x="624049" y="1857"/>
                </a:lnTo>
                <a:lnTo>
                  <a:pt x="683450" y="7301"/>
                </a:lnTo>
                <a:lnTo>
                  <a:pt x="740596" y="16139"/>
                </a:lnTo>
                <a:lnTo>
                  <a:pt x="795144" y="28177"/>
                </a:lnTo>
                <a:lnTo>
                  <a:pt x="846751" y="43222"/>
                </a:lnTo>
                <a:lnTo>
                  <a:pt x="895072" y="61081"/>
                </a:lnTo>
                <a:lnTo>
                  <a:pt x="939765" y="81562"/>
                </a:lnTo>
                <a:lnTo>
                  <a:pt x="980486" y="104471"/>
                </a:lnTo>
                <a:lnTo>
                  <a:pt x="1016892" y="129616"/>
                </a:lnTo>
                <a:lnTo>
                  <a:pt x="1048639" y="156802"/>
                </a:lnTo>
                <a:lnTo>
                  <a:pt x="1075383" y="185838"/>
                </a:lnTo>
                <a:lnTo>
                  <a:pt x="1112493" y="248684"/>
                </a:lnTo>
                <a:lnTo>
                  <a:pt x="1125474" y="316610"/>
                </a:lnTo>
                <a:lnTo>
                  <a:pt x="1122171" y="351112"/>
                </a:lnTo>
                <a:lnTo>
                  <a:pt x="1096783" y="416692"/>
                </a:lnTo>
                <a:lnTo>
                  <a:pt x="1048638" y="476419"/>
                </a:lnTo>
                <a:lnTo>
                  <a:pt x="1016892" y="503605"/>
                </a:lnTo>
                <a:lnTo>
                  <a:pt x="980486" y="528750"/>
                </a:lnTo>
                <a:lnTo>
                  <a:pt x="939765" y="551659"/>
                </a:lnTo>
                <a:lnTo>
                  <a:pt x="895072" y="572140"/>
                </a:lnTo>
                <a:lnTo>
                  <a:pt x="846751" y="589999"/>
                </a:lnTo>
                <a:lnTo>
                  <a:pt x="795144" y="605044"/>
                </a:lnTo>
                <a:lnTo>
                  <a:pt x="740596" y="617082"/>
                </a:lnTo>
                <a:lnTo>
                  <a:pt x="683450" y="625920"/>
                </a:lnTo>
                <a:lnTo>
                  <a:pt x="624049" y="631364"/>
                </a:lnTo>
                <a:lnTo>
                  <a:pt x="562737" y="633221"/>
                </a:lnTo>
                <a:lnTo>
                  <a:pt x="501424" y="631364"/>
                </a:lnTo>
                <a:lnTo>
                  <a:pt x="442023" y="625920"/>
                </a:lnTo>
                <a:lnTo>
                  <a:pt x="384877" y="617082"/>
                </a:lnTo>
                <a:lnTo>
                  <a:pt x="330329" y="605044"/>
                </a:lnTo>
                <a:lnTo>
                  <a:pt x="278722" y="589999"/>
                </a:lnTo>
                <a:lnTo>
                  <a:pt x="230401" y="572140"/>
                </a:lnTo>
                <a:lnTo>
                  <a:pt x="185708" y="551659"/>
                </a:lnTo>
                <a:lnTo>
                  <a:pt x="144987" y="528750"/>
                </a:lnTo>
                <a:lnTo>
                  <a:pt x="108581" y="503605"/>
                </a:lnTo>
                <a:lnTo>
                  <a:pt x="76835" y="476419"/>
                </a:lnTo>
                <a:lnTo>
                  <a:pt x="50090" y="447383"/>
                </a:lnTo>
                <a:lnTo>
                  <a:pt x="12980" y="384537"/>
                </a:lnTo>
                <a:lnTo>
                  <a:pt x="0" y="316610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248653" y="3426205"/>
            <a:ext cx="669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Empresa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512432" y="4062603"/>
            <a:ext cx="1125474" cy="6339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512432" y="4062603"/>
            <a:ext cx="1125855" cy="634365"/>
          </a:xfrm>
          <a:custGeom>
            <a:avLst/>
            <a:gdLst/>
            <a:ahLst/>
            <a:cxnLst/>
            <a:rect l="l" t="t" r="r" b="b"/>
            <a:pathLst>
              <a:path w="1125854" h="634364">
                <a:moveTo>
                  <a:pt x="0" y="316992"/>
                </a:moveTo>
                <a:lnTo>
                  <a:pt x="12980" y="248970"/>
                </a:lnTo>
                <a:lnTo>
                  <a:pt x="50090" y="186043"/>
                </a:lnTo>
                <a:lnTo>
                  <a:pt x="76835" y="156972"/>
                </a:lnTo>
                <a:lnTo>
                  <a:pt x="108581" y="129753"/>
                </a:lnTo>
                <a:lnTo>
                  <a:pt x="144987" y="104580"/>
                </a:lnTo>
                <a:lnTo>
                  <a:pt x="185708" y="81645"/>
                </a:lnTo>
                <a:lnTo>
                  <a:pt x="230401" y="61142"/>
                </a:lnTo>
                <a:lnTo>
                  <a:pt x="278722" y="43264"/>
                </a:lnTo>
                <a:lnTo>
                  <a:pt x="330329" y="28204"/>
                </a:lnTo>
                <a:lnTo>
                  <a:pt x="384877" y="16154"/>
                </a:lnTo>
                <a:lnTo>
                  <a:pt x="442023" y="7308"/>
                </a:lnTo>
                <a:lnTo>
                  <a:pt x="501424" y="1859"/>
                </a:lnTo>
                <a:lnTo>
                  <a:pt x="562737" y="0"/>
                </a:lnTo>
                <a:lnTo>
                  <a:pt x="624049" y="1859"/>
                </a:lnTo>
                <a:lnTo>
                  <a:pt x="683450" y="7308"/>
                </a:lnTo>
                <a:lnTo>
                  <a:pt x="740596" y="16154"/>
                </a:lnTo>
                <a:lnTo>
                  <a:pt x="795144" y="28204"/>
                </a:lnTo>
                <a:lnTo>
                  <a:pt x="846751" y="43264"/>
                </a:lnTo>
                <a:lnTo>
                  <a:pt x="895072" y="61142"/>
                </a:lnTo>
                <a:lnTo>
                  <a:pt x="939765" y="81645"/>
                </a:lnTo>
                <a:lnTo>
                  <a:pt x="980486" y="104580"/>
                </a:lnTo>
                <a:lnTo>
                  <a:pt x="1016892" y="129753"/>
                </a:lnTo>
                <a:lnTo>
                  <a:pt x="1048639" y="156972"/>
                </a:lnTo>
                <a:lnTo>
                  <a:pt x="1075383" y="186043"/>
                </a:lnTo>
                <a:lnTo>
                  <a:pt x="1112493" y="248970"/>
                </a:lnTo>
                <a:lnTo>
                  <a:pt x="1125474" y="316992"/>
                </a:lnTo>
                <a:lnTo>
                  <a:pt x="1122171" y="351542"/>
                </a:lnTo>
                <a:lnTo>
                  <a:pt x="1096783" y="417210"/>
                </a:lnTo>
                <a:lnTo>
                  <a:pt x="1048638" y="477012"/>
                </a:lnTo>
                <a:lnTo>
                  <a:pt x="1016892" y="504230"/>
                </a:lnTo>
                <a:lnTo>
                  <a:pt x="980486" y="529403"/>
                </a:lnTo>
                <a:lnTo>
                  <a:pt x="939765" y="552338"/>
                </a:lnTo>
                <a:lnTo>
                  <a:pt x="895072" y="572841"/>
                </a:lnTo>
                <a:lnTo>
                  <a:pt x="846751" y="590719"/>
                </a:lnTo>
                <a:lnTo>
                  <a:pt x="795144" y="605779"/>
                </a:lnTo>
                <a:lnTo>
                  <a:pt x="740596" y="617829"/>
                </a:lnTo>
                <a:lnTo>
                  <a:pt x="683450" y="626675"/>
                </a:lnTo>
                <a:lnTo>
                  <a:pt x="624049" y="632124"/>
                </a:lnTo>
                <a:lnTo>
                  <a:pt x="562737" y="633984"/>
                </a:lnTo>
                <a:lnTo>
                  <a:pt x="501424" y="632124"/>
                </a:lnTo>
                <a:lnTo>
                  <a:pt x="442023" y="626675"/>
                </a:lnTo>
                <a:lnTo>
                  <a:pt x="384877" y="617829"/>
                </a:lnTo>
                <a:lnTo>
                  <a:pt x="330329" y="605779"/>
                </a:lnTo>
                <a:lnTo>
                  <a:pt x="278722" y="590719"/>
                </a:lnTo>
                <a:lnTo>
                  <a:pt x="230401" y="572841"/>
                </a:lnTo>
                <a:lnTo>
                  <a:pt x="185708" y="552338"/>
                </a:lnTo>
                <a:lnTo>
                  <a:pt x="144987" y="529403"/>
                </a:lnTo>
                <a:lnTo>
                  <a:pt x="108581" y="504230"/>
                </a:lnTo>
                <a:lnTo>
                  <a:pt x="76834" y="477012"/>
                </a:lnTo>
                <a:lnTo>
                  <a:pt x="50090" y="447940"/>
                </a:lnTo>
                <a:lnTo>
                  <a:pt x="12980" y="385013"/>
                </a:lnTo>
                <a:lnTo>
                  <a:pt x="0" y="31699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720331" y="4270755"/>
            <a:ext cx="711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Procesos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090284" y="4836033"/>
            <a:ext cx="1125473" cy="63322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090284" y="4836033"/>
            <a:ext cx="1125855" cy="633730"/>
          </a:xfrm>
          <a:custGeom>
            <a:avLst/>
            <a:gdLst/>
            <a:ahLst/>
            <a:cxnLst/>
            <a:rect l="l" t="t" r="r" b="b"/>
            <a:pathLst>
              <a:path w="1125854" h="633729">
                <a:moveTo>
                  <a:pt x="0" y="316611"/>
                </a:moveTo>
                <a:lnTo>
                  <a:pt x="12980" y="248684"/>
                </a:lnTo>
                <a:lnTo>
                  <a:pt x="50090" y="185838"/>
                </a:lnTo>
                <a:lnTo>
                  <a:pt x="76834" y="156802"/>
                </a:lnTo>
                <a:lnTo>
                  <a:pt x="108581" y="129616"/>
                </a:lnTo>
                <a:lnTo>
                  <a:pt x="144987" y="104471"/>
                </a:lnTo>
                <a:lnTo>
                  <a:pt x="185708" y="81562"/>
                </a:lnTo>
                <a:lnTo>
                  <a:pt x="230401" y="61081"/>
                </a:lnTo>
                <a:lnTo>
                  <a:pt x="278722" y="43222"/>
                </a:lnTo>
                <a:lnTo>
                  <a:pt x="330329" y="28177"/>
                </a:lnTo>
                <a:lnTo>
                  <a:pt x="384877" y="16139"/>
                </a:lnTo>
                <a:lnTo>
                  <a:pt x="442023" y="7301"/>
                </a:lnTo>
                <a:lnTo>
                  <a:pt x="501424" y="1857"/>
                </a:lnTo>
                <a:lnTo>
                  <a:pt x="562737" y="0"/>
                </a:lnTo>
                <a:lnTo>
                  <a:pt x="624049" y="1857"/>
                </a:lnTo>
                <a:lnTo>
                  <a:pt x="683450" y="7301"/>
                </a:lnTo>
                <a:lnTo>
                  <a:pt x="740596" y="16139"/>
                </a:lnTo>
                <a:lnTo>
                  <a:pt x="795144" y="28177"/>
                </a:lnTo>
                <a:lnTo>
                  <a:pt x="846751" y="43222"/>
                </a:lnTo>
                <a:lnTo>
                  <a:pt x="895072" y="61081"/>
                </a:lnTo>
                <a:lnTo>
                  <a:pt x="939765" y="81562"/>
                </a:lnTo>
                <a:lnTo>
                  <a:pt x="980486" y="104471"/>
                </a:lnTo>
                <a:lnTo>
                  <a:pt x="1016892" y="129616"/>
                </a:lnTo>
                <a:lnTo>
                  <a:pt x="1048639" y="156802"/>
                </a:lnTo>
                <a:lnTo>
                  <a:pt x="1075383" y="185838"/>
                </a:lnTo>
                <a:lnTo>
                  <a:pt x="1112493" y="248684"/>
                </a:lnTo>
                <a:lnTo>
                  <a:pt x="1125473" y="316611"/>
                </a:lnTo>
                <a:lnTo>
                  <a:pt x="1122171" y="351112"/>
                </a:lnTo>
                <a:lnTo>
                  <a:pt x="1096783" y="416692"/>
                </a:lnTo>
                <a:lnTo>
                  <a:pt x="1048638" y="476419"/>
                </a:lnTo>
                <a:lnTo>
                  <a:pt x="1016892" y="503605"/>
                </a:lnTo>
                <a:lnTo>
                  <a:pt x="980486" y="528750"/>
                </a:lnTo>
                <a:lnTo>
                  <a:pt x="939765" y="551659"/>
                </a:lnTo>
                <a:lnTo>
                  <a:pt x="895072" y="572140"/>
                </a:lnTo>
                <a:lnTo>
                  <a:pt x="846751" y="589999"/>
                </a:lnTo>
                <a:lnTo>
                  <a:pt x="795144" y="605044"/>
                </a:lnTo>
                <a:lnTo>
                  <a:pt x="740596" y="617082"/>
                </a:lnTo>
                <a:lnTo>
                  <a:pt x="683450" y="625920"/>
                </a:lnTo>
                <a:lnTo>
                  <a:pt x="624049" y="631364"/>
                </a:lnTo>
                <a:lnTo>
                  <a:pt x="562737" y="633222"/>
                </a:lnTo>
                <a:lnTo>
                  <a:pt x="501424" y="631364"/>
                </a:lnTo>
                <a:lnTo>
                  <a:pt x="442023" y="625920"/>
                </a:lnTo>
                <a:lnTo>
                  <a:pt x="384877" y="617082"/>
                </a:lnTo>
                <a:lnTo>
                  <a:pt x="330329" y="605044"/>
                </a:lnTo>
                <a:lnTo>
                  <a:pt x="278722" y="589999"/>
                </a:lnTo>
                <a:lnTo>
                  <a:pt x="230401" y="572140"/>
                </a:lnTo>
                <a:lnTo>
                  <a:pt x="185708" y="551659"/>
                </a:lnTo>
                <a:lnTo>
                  <a:pt x="144987" y="528750"/>
                </a:lnTo>
                <a:lnTo>
                  <a:pt x="108581" y="503605"/>
                </a:lnTo>
                <a:lnTo>
                  <a:pt x="76835" y="476419"/>
                </a:lnTo>
                <a:lnTo>
                  <a:pt x="50090" y="447383"/>
                </a:lnTo>
                <a:lnTo>
                  <a:pt x="12980" y="384537"/>
                </a:lnTo>
                <a:lnTo>
                  <a:pt x="0" y="316611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212585" y="5043932"/>
            <a:ext cx="881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Arial"/>
                <a:cs typeface="Arial"/>
              </a:rPr>
              <a:t>Actividades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375026" y="4146422"/>
            <a:ext cx="1032510" cy="35725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75026" y="4146422"/>
            <a:ext cx="1032510" cy="357505"/>
          </a:xfrm>
          <a:custGeom>
            <a:avLst/>
            <a:gdLst/>
            <a:ahLst/>
            <a:cxnLst/>
            <a:rect l="l" t="t" r="r" b="b"/>
            <a:pathLst>
              <a:path w="1032510" h="357504">
                <a:moveTo>
                  <a:pt x="4572" y="11683"/>
                </a:moveTo>
                <a:lnTo>
                  <a:pt x="306070" y="0"/>
                </a:lnTo>
                <a:lnTo>
                  <a:pt x="300863" y="71500"/>
                </a:lnTo>
                <a:lnTo>
                  <a:pt x="590169" y="6222"/>
                </a:lnTo>
                <a:lnTo>
                  <a:pt x="590550" y="80771"/>
                </a:lnTo>
                <a:lnTo>
                  <a:pt x="1032510" y="47243"/>
                </a:lnTo>
                <a:lnTo>
                  <a:pt x="582549" y="271779"/>
                </a:lnTo>
                <a:lnTo>
                  <a:pt x="586994" y="183387"/>
                </a:lnTo>
                <a:lnTo>
                  <a:pt x="302768" y="320294"/>
                </a:lnTo>
                <a:lnTo>
                  <a:pt x="299085" y="212216"/>
                </a:lnTo>
                <a:lnTo>
                  <a:pt x="0" y="357250"/>
                </a:lnTo>
                <a:lnTo>
                  <a:pt x="4572" y="11683"/>
                </a:lnTo>
              </a:path>
            </a:pathLst>
          </a:custGeom>
          <a:ln w="95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75250" y="4101084"/>
            <a:ext cx="1073912" cy="37807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175250" y="4101084"/>
            <a:ext cx="1074420" cy="378460"/>
          </a:xfrm>
          <a:custGeom>
            <a:avLst/>
            <a:gdLst/>
            <a:ahLst/>
            <a:cxnLst/>
            <a:rect l="l" t="t" r="r" b="b"/>
            <a:pathLst>
              <a:path w="1074420" h="378460">
                <a:moveTo>
                  <a:pt x="995679" y="378079"/>
                </a:moveTo>
                <a:lnTo>
                  <a:pt x="698880" y="324612"/>
                </a:lnTo>
                <a:lnTo>
                  <a:pt x="719201" y="255905"/>
                </a:lnTo>
                <a:lnTo>
                  <a:pt x="423037" y="257429"/>
                </a:lnTo>
                <a:lnTo>
                  <a:pt x="438403" y="184531"/>
                </a:lnTo>
                <a:lnTo>
                  <a:pt x="0" y="122174"/>
                </a:lnTo>
                <a:lnTo>
                  <a:pt x="486917" y="0"/>
                </a:lnTo>
                <a:lnTo>
                  <a:pt x="463803" y="85217"/>
                </a:lnTo>
                <a:lnTo>
                  <a:pt x="770509" y="12954"/>
                </a:lnTo>
                <a:lnTo>
                  <a:pt x="751077" y="119126"/>
                </a:lnTo>
                <a:lnTo>
                  <a:pt x="1073912" y="41910"/>
                </a:lnTo>
                <a:lnTo>
                  <a:pt x="995679" y="378079"/>
                </a:lnTo>
              </a:path>
            </a:pathLst>
          </a:custGeom>
          <a:ln w="95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58415" y="2231388"/>
            <a:ext cx="6203950" cy="3502025"/>
          </a:xfrm>
          <a:custGeom>
            <a:avLst/>
            <a:gdLst/>
            <a:ahLst/>
            <a:cxnLst/>
            <a:rect l="l" t="t" r="r" b="b"/>
            <a:pathLst>
              <a:path w="6203950" h="3502025">
                <a:moveTo>
                  <a:pt x="6183530" y="3449169"/>
                </a:moveTo>
                <a:lnTo>
                  <a:pt x="6188741" y="3400908"/>
                </a:lnTo>
                <a:lnTo>
                  <a:pt x="6193163" y="3352694"/>
                </a:lnTo>
                <a:lnTo>
                  <a:pt x="6196802" y="3304533"/>
                </a:lnTo>
                <a:lnTo>
                  <a:pt x="6199661" y="3256434"/>
                </a:lnTo>
                <a:lnTo>
                  <a:pt x="6201745" y="3208404"/>
                </a:lnTo>
                <a:lnTo>
                  <a:pt x="6203058" y="3160449"/>
                </a:lnTo>
                <a:lnTo>
                  <a:pt x="6203604" y="3112577"/>
                </a:lnTo>
                <a:lnTo>
                  <a:pt x="6203389" y="3064796"/>
                </a:lnTo>
                <a:lnTo>
                  <a:pt x="6202415" y="3017112"/>
                </a:lnTo>
                <a:lnTo>
                  <a:pt x="6200687" y="2969533"/>
                </a:lnTo>
                <a:lnTo>
                  <a:pt x="6198211" y="2922066"/>
                </a:lnTo>
                <a:lnTo>
                  <a:pt x="6194989" y="2874719"/>
                </a:lnTo>
                <a:lnTo>
                  <a:pt x="6191026" y="2827498"/>
                </a:lnTo>
                <a:lnTo>
                  <a:pt x="6186327" y="2780412"/>
                </a:lnTo>
                <a:lnTo>
                  <a:pt x="6180896" y="2733466"/>
                </a:lnTo>
                <a:lnTo>
                  <a:pt x="6174737" y="2686669"/>
                </a:lnTo>
                <a:lnTo>
                  <a:pt x="6167855" y="2640028"/>
                </a:lnTo>
                <a:lnTo>
                  <a:pt x="6160253" y="2593550"/>
                </a:lnTo>
                <a:lnTo>
                  <a:pt x="6151937" y="2547242"/>
                </a:lnTo>
                <a:lnTo>
                  <a:pt x="6142910" y="2501112"/>
                </a:lnTo>
                <a:lnTo>
                  <a:pt x="6133177" y="2455166"/>
                </a:lnTo>
                <a:lnTo>
                  <a:pt x="6122742" y="2409413"/>
                </a:lnTo>
                <a:lnTo>
                  <a:pt x="6111609" y="2363859"/>
                </a:lnTo>
                <a:lnTo>
                  <a:pt x="6099783" y="2318512"/>
                </a:lnTo>
                <a:lnTo>
                  <a:pt x="6087268" y="2273379"/>
                </a:lnTo>
                <a:lnTo>
                  <a:pt x="6074068" y="2228468"/>
                </a:lnTo>
                <a:lnTo>
                  <a:pt x="6060188" y="2183784"/>
                </a:lnTo>
                <a:lnTo>
                  <a:pt x="6045632" y="2139337"/>
                </a:lnTo>
                <a:lnTo>
                  <a:pt x="6030404" y="2095133"/>
                </a:lnTo>
                <a:lnTo>
                  <a:pt x="6014508" y="2051178"/>
                </a:lnTo>
                <a:lnTo>
                  <a:pt x="5997950" y="2007482"/>
                </a:lnTo>
                <a:lnTo>
                  <a:pt x="5980733" y="1964051"/>
                </a:lnTo>
                <a:lnTo>
                  <a:pt x="5962861" y="1920891"/>
                </a:lnTo>
                <a:lnTo>
                  <a:pt x="5944339" y="1878011"/>
                </a:lnTo>
                <a:lnTo>
                  <a:pt x="5925171" y="1835418"/>
                </a:lnTo>
                <a:lnTo>
                  <a:pt x="5905361" y="1793119"/>
                </a:lnTo>
                <a:lnTo>
                  <a:pt x="5884915" y="1751121"/>
                </a:lnTo>
                <a:lnTo>
                  <a:pt x="5863835" y="1709432"/>
                </a:lnTo>
                <a:lnTo>
                  <a:pt x="5842126" y="1668058"/>
                </a:lnTo>
                <a:lnTo>
                  <a:pt x="5819794" y="1627008"/>
                </a:lnTo>
                <a:lnTo>
                  <a:pt x="5796841" y="1586288"/>
                </a:lnTo>
                <a:lnTo>
                  <a:pt x="5773273" y="1545906"/>
                </a:lnTo>
                <a:lnTo>
                  <a:pt x="5749093" y="1505868"/>
                </a:lnTo>
                <a:lnTo>
                  <a:pt x="5724306" y="1466183"/>
                </a:lnTo>
                <a:lnTo>
                  <a:pt x="5698916" y="1426857"/>
                </a:lnTo>
                <a:lnTo>
                  <a:pt x="5672928" y="1387898"/>
                </a:lnTo>
                <a:lnTo>
                  <a:pt x="5646345" y="1349313"/>
                </a:lnTo>
                <a:lnTo>
                  <a:pt x="5619173" y="1311109"/>
                </a:lnTo>
                <a:lnTo>
                  <a:pt x="5591416" y="1273294"/>
                </a:lnTo>
                <a:lnTo>
                  <a:pt x="5563077" y="1235875"/>
                </a:lnTo>
                <a:lnTo>
                  <a:pt x="5534161" y="1198858"/>
                </a:lnTo>
                <a:lnTo>
                  <a:pt x="5504672" y="1162252"/>
                </a:lnTo>
                <a:lnTo>
                  <a:pt x="5474615" y="1126064"/>
                </a:lnTo>
                <a:lnTo>
                  <a:pt x="5443995" y="1090301"/>
                </a:lnTo>
                <a:lnTo>
                  <a:pt x="5412814" y="1054970"/>
                </a:lnTo>
                <a:lnTo>
                  <a:pt x="5381078" y="1020078"/>
                </a:lnTo>
                <a:lnTo>
                  <a:pt x="5348791" y="985634"/>
                </a:lnTo>
                <a:lnTo>
                  <a:pt x="5315958" y="951643"/>
                </a:lnTo>
                <a:lnTo>
                  <a:pt x="5282582" y="918113"/>
                </a:lnTo>
                <a:lnTo>
                  <a:pt x="5248668" y="885052"/>
                </a:lnTo>
                <a:lnTo>
                  <a:pt x="5214220" y="852467"/>
                </a:lnTo>
                <a:lnTo>
                  <a:pt x="5179242" y="820366"/>
                </a:lnTo>
                <a:lnTo>
                  <a:pt x="5143740" y="788754"/>
                </a:lnTo>
                <a:lnTo>
                  <a:pt x="5107716" y="757640"/>
                </a:lnTo>
                <a:lnTo>
                  <a:pt x="5071176" y="727032"/>
                </a:lnTo>
                <a:lnTo>
                  <a:pt x="5034123" y="696935"/>
                </a:lnTo>
                <a:lnTo>
                  <a:pt x="4996563" y="667358"/>
                </a:lnTo>
                <a:lnTo>
                  <a:pt x="4958499" y="638308"/>
                </a:lnTo>
                <a:lnTo>
                  <a:pt x="4919936" y="609791"/>
                </a:lnTo>
                <a:lnTo>
                  <a:pt x="4880878" y="581816"/>
                </a:lnTo>
                <a:lnTo>
                  <a:pt x="4841329" y="554390"/>
                </a:lnTo>
                <a:lnTo>
                  <a:pt x="4801293" y="527520"/>
                </a:lnTo>
                <a:lnTo>
                  <a:pt x="4760776" y="501212"/>
                </a:lnTo>
                <a:lnTo>
                  <a:pt x="4719781" y="475475"/>
                </a:lnTo>
                <a:lnTo>
                  <a:pt x="4678312" y="450316"/>
                </a:lnTo>
                <a:lnTo>
                  <a:pt x="4636374" y="425742"/>
                </a:lnTo>
                <a:lnTo>
                  <a:pt x="4593971" y="401760"/>
                </a:lnTo>
                <a:lnTo>
                  <a:pt x="4551108" y="378378"/>
                </a:lnTo>
                <a:lnTo>
                  <a:pt x="4507789" y="355602"/>
                </a:lnTo>
                <a:lnTo>
                  <a:pt x="4464017" y="333440"/>
                </a:lnTo>
                <a:lnTo>
                  <a:pt x="4419798" y="311900"/>
                </a:lnTo>
                <a:lnTo>
                  <a:pt x="4375136" y="290988"/>
                </a:lnTo>
                <a:lnTo>
                  <a:pt x="4330035" y="270713"/>
                </a:lnTo>
                <a:lnTo>
                  <a:pt x="4284499" y="251080"/>
                </a:lnTo>
                <a:lnTo>
                  <a:pt x="4239193" y="232355"/>
                </a:lnTo>
                <a:lnTo>
                  <a:pt x="4193769" y="214378"/>
                </a:lnTo>
                <a:lnTo>
                  <a:pt x="4148235" y="197147"/>
                </a:lnTo>
                <a:lnTo>
                  <a:pt x="4102597" y="180659"/>
                </a:lnTo>
                <a:lnTo>
                  <a:pt x="4056863" y="164911"/>
                </a:lnTo>
                <a:lnTo>
                  <a:pt x="4011040" y="149900"/>
                </a:lnTo>
                <a:lnTo>
                  <a:pt x="3965135" y="135625"/>
                </a:lnTo>
                <a:lnTo>
                  <a:pt x="3919156" y="122080"/>
                </a:lnTo>
                <a:lnTo>
                  <a:pt x="3873109" y="109265"/>
                </a:lnTo>
                <a:lnTo>
                  <a:pt x="3827002" y="97176"/>
                </a:lnTo>
                <a:lnTo>
                  <a:pt x="3780842" y="85809"/>
                </a:lnTo>
                <a:lnTo>
                  <a:pt x="3734636" y="75164"/>
                </a:lnTo>
                <a:lnTo>
                  <a:pt x="3688391" y="65235"/>
                </a:lnTo>
                <a:lnTo>
                  <a:pt x="3642115" y="56022"/>
                </a:lnTo>
                <a:lnTo>
                  <a:pt x="3595815" y="47520"/>
                </a:lnTo>
                <a:lnTo>
                  <a:pt x="3549498" y="39728"/>
                </a:lnTo>
                <a:lnTo>
                  <a:pt x="3503171" y="32641"/>
                </a:lnTo>
                <a:lnTo>
                  <a:pt x="3456842" y="26259"/>
                </a:lnTo>
                <a:lnTo>
                  <a:pt x="3410517" y="20576"/>
                </a:lnTo>
                <a:lnTo>
                  <a:pt x="3364204" y="15592"/>
                </a:lnTo>
                <a:lnTo>
                  <a:pt x="3317910" y="11302"/>
                </a:lnTo>
                <a:lnTo>
                  <a:pt x="3271643" y="7705"/>
                </a:lnTo>
                <a:lnTo>
                  <a:pt x="3225408" y="4796"/>
                </a:lnTo>
                <a:lnTo>
                  <a:pt x="3179215" y="2575"/>
                </a:lnTo>
                <a:lnTo>
                  <a:pt x="3133069" y="1036"/>
                </a:lnTo>
                <a:lnTo>
                  <a:pt x="3086978" y="179"/>
                </a:lnTo>
                <a:lnTo>
                  <a:pt x="3040950" y="0"/>
                </a:lnTo>
                <a:lnTo>
                  <a:pt x="2994991" y="495"/>
                </a:lnTo>
                <a:lnTo>
                  <a:pt x="2949109" y="1663"/>
                </a:lnTo>
                <a:lnTo>
                  <a:pt x="2903310" y="3501"/>
                </a:lnTo>
                <a:lnTo>
                  <a:pt x="2857603" y="6005"/>
                </a:lnTo>
                <a:lnTo>
                  <a:pt x="2811994" y="9172"/>
                </a:lnTo>
                <a:lnTo>
                  <a:pt x="2766490" y="13001"/>
                </a:lnTo>
                <a:lnTo>
                  <a:pt x="2721099" y="17488"/>
                </a:lnTo>
                <a:lnTo>
                  <a:pt x="2675828" y="22631"/>
                </a:lnTo>
                <a:lnTo>
                  <a:pt x="2630684" y="28426"/>
                </a:lnTo>
                <a:lnTo>
                  <a:pt x="2585674" y="34870"/>
                </a:lnTo>
                <a:lnTo>
                  <a:pt x="2540806" y="41961"/>
                </a:lnTo>
                <a:lnTo>
                  <a:pt x="2496086" y="49697"/>
                </a:lnTo>
                <a:lnTo>
                  <a:pt x="2451523" y="58073"/>
                </a:lnTo>
                <a:lnTo>
                  <a:pt x="2407122" y="67088"/>
                </a:lnTo>
                <a:lnTo>
                  <a:pt x="2362892" y="76739"/>
                </a:lnTo>
                <a:lnTo>
                  <a:pt x="2318839" y="87022"/>
                </a:lnTo>
                <a:lnTo>
                  <a:pt x="2274971" y="97935"/>
                </a:lnTo>
                <a:lnTo>
                  <a:pt x="2231295" y="109475"/>
                </a:lnTo>
                <a:lnTo>
                  <a:pt x="2187818" y="121639"/>
                </a:lnTo>
                <a:lnTo>
                  <a:pt x="2144547" y="134425"/>
                </a:lnTo>
                <a:lnTo>
                  <a:pt x="2101490" y="147829"/>
                </a:lnTo>
                <a:lnTo>
                  <a:pt x="2058653" y="161849"/>
                </a:lnTo>
                <a:lnTo>
                  <a:pt x="2016045" y="176482"/>
                </a:lnTo>
                <a:lnTo>
                  <a:pt x="1973671" y="191725"/>
                </a:lnTo>
                <a:lnTo>
                  <a:pt x="1931540" y="207575"/>
                </a:lnTo>
                <a:lnTo>
                  <a:pt x="1889658" y="224029"/>
                </a:lnTo>
                <a:lnTo>
                  <a:pt x="1848034" y="241085"/>
                </a:lnTo>
                <a:lnTo>
                  <a:pt x="1806673" y="258740"/>
                </a:lnTo>
                <a:lnTo>
                  <a:pt x="1765583" y="276991"/>
                </a:lnTo>
                <a:lnTo>
                  <a:pt x="1724772" y="295835"/>
                </a:lnTo>
                <a:lnTo>
                  <a:pt x="1684246" y="315269"/>
                </a:lnTo>
                <a:lnTo>
                  <a:pt x="1644013" y="335291"/>
                </a:lnTo>
                <a:lnTo>
                  <a:pt x="1604079" y="355897"/>
                </a:lnTo>
                <a:lnTo>
                  <a:pt x="1564453" y="377085"/>
                </a:lnTo>
                <a:lnTo>
                  <a:pt x="1525142" y="398852"/>
                </a:lnTo>
                <a:lnTo>
                  <a:pt x="1486152" y="421195"/>
                </a:lnTo>
                <a:lnTo>
                  <a:pt x="1447490" y="444112"/>
                </a:lnTo>
                <a:lnTo>
                  <a:pt x="1409165" y="467598"/>
                </a:lnTo>
                <a:lnTo>
                  <a:pt x="1371183" y="491653"/>
                </a:lnTo>
                <a:lnTo>
                  <a:pt x="1333551" y="516272"/>
                </a:lnTo>
                <a:lnTo>
                  <a:pt x="1296277" y="541454"/>
                </a:lnTo>
                <a:lnTo>
                  <a:pt x="1259368" y="567194"/>
                </a:lnTo>
                <a:lnTo>
                  <a:pt x="1222830" y="593491"/>
                </a:lnTo>
                <a:lnTo>
                  <a:pt x="1186672" y="620341"/>
                </a:lnTo>
                <a:lnTo>
                  <a:pt x="1150900" y="647742"/>
                </a:lnTo>
                <a:lnTo>
                  <a:pt x="1115522" y="675691"/>
                </a:lnTo>
                <a:lnTo>
                  <a:pt x="1080545" y="704185"/>
                </a:lnTo>
                <a:lnTo>
                  <a:pt x="1045975" y="733221"/>
                </a:lnTo>
                <a:lnTo>
                  <a:pt x="1011821" y="762796"/>
                </a:lnTo>
                <a:lnTo>
                  <a:pt x="978089" y="792908"/>
                </a:lnTo>
                <a:lnTo>
                  <a:pt x="944787" y="823554"/>
                </a:lnTo>
                <a:lnTo>
                  <a:pt x="911922" y="854731"/>
                </a:lnTo>
                <a:lnTo>
                  <a:pt x="879500" y="886435"/>
                </a:lnTo>
                <a:lnTo>
                  <a:pt x="847530" y="918665"/>
                </a:lnTo>
                <a:lnTo>
                  <a:pt x="816018" y="951417"/>
                </a:lnTo>
                <a:lnTo>
                  <a:pt x="784972" y="984689"/>
                </a:lnTo>
                <a:lnTo>
                  <a:pt x="754399" y="1018477"/>
                </a:lnTo>
                <a:lnTo>
                  <a:pt x="724306" y="1052780"/>
                </a:lnTo>
                <a:lnTo>
                  <a:pt x="694700" y="1087593"/>
                </a:lnTo>
                <a:lnTo>
                  <a:pt x="665588" y="1122915"/>
                </a:lnTo>
                <a:lnTo>
                  <a:pt x="636978" y="1158742"/>
                </a:lnTo>
                <a:lnTo>
                  <a:pt x="608877" y="1195071"/>
                </a:lnTo>
                <a:lnTo>
                  <a:pt x="581292" y="1231901"/>
                </a:lnTo>
                <a:lnTo>
                  <a:pt x="554231" y="1269227"/>
                </a:lnTo>
                <a:lnTo>
                  <a:pt x="527699" y="1307048"/>
                </a:lnTo>
                <a:lnTo>
                  <a:pt x="501706" y="1345359"/>
                </a:lnTo>
                <a:lnTo>
                  <a:pt x="476257" y="1384160"/>
                </a:lnTo>
                <a:lnTo>
                  <a:pt x="451360" y="1423445"/>
                </a:lnTo>
                <a:lnTo>
                  <a:pt x="427023" y="1463214"/>
                </a:lnTo>
                <a:lnTo>
                  <a:pt x="403252" y="1503463"/>
                </a:lnTo>
                <a:lnTo>
                  <a:pt x="380055" y="1544188"/>
                </a:lnTo>
                <a:lnTo>
                  <a:pt x="357439" y="1585388"/>
                </a:lnTo>
                <a:lnTo>
                  <a:pt x="335410" y="1627060"/>
                </a:lnTo>
                <a:lnTo>
                  <a:pt x="313977" y="1669200"/>
                </a:lnTo>
                <a:lnTo>
                  <a:pt x="293147" y="1711806"/>
                </a:lnTo>
                <a:lnTo>
                  <a:pt x="272926" y="1754875"/>
                </a:lnTo>
                <a:lnTo>
                  <a:pt x="253322" y="1798404"/>
                </a:lnTo>
                <a:lnTo>
                  <a:pt x="234342" y="1842390"/>
                </a:lnTo>
                <a:lnTo>
                  <a:pt x="215299" y="1888593"/>
                </a:lnTo>
                <a:lnTo>
                  <a:pt x="197054" y="1935059"/>
                </a:lnTo>
                <a:lnTo>
                  <a:pt x="179608" y="1981779"/>
                </a:lnTo>
                <a:lnTo>
                  <a:pt x="162964" y="2028743"/>
                </a:lnTo>
                <a:lnTo>
                  <a:pt x="147121" y="2075940"/>
                </a:lnTo>
                <a:lnTo>
                  <a:pt x="132081" y="2123362"/>
                </a:lnTo>
                <a:lnTo>
                  <a:pt x="117846" y="2170998"/>
                </a:lnTo>
                <a:lnTo>
                  <a:pt x="104415" y="2218839"/>
                </a:lnTo>
                <a:lnTo>
                  <a:pt x="91792" y="2266873"/>
                </a:lnTo>
                <a:lnTo>
                  <a:pt x="79976" y="2315093"/>
                </a:lnTo>
                <a:lnTo>
                  <a:pt x="68968" y="2363486"/>
                </a:lnTo>
                <a:lnTo>
                  <a:pt x="58771" y="2412045"/>
                </a:lnTo>
                <a:lnTo>
                  <a:pt x="49385" y="2460758"/>
                </a:lnTo>
                <a:lnTo>
                  <a:pt x="40811" y="2509617"/>
                </a:lnTo>
                <a:lnTo>
                  <a:pt x="33050" y="2558610"/>
                </a:lnTo>
                <a:lnTo>
                  <a:pt x="26104" y="2607728"/>
                </a:lnTo>
                <a:lnTo>
                  <a:pt x="19974" y="2656962"/>
                </a:lnTo>
                <a:lnTo>
                  <a:pt x="14661" y="2706301"/>
                </a:lnTo>
                <a:lnTo>
                  <a:pt x="10165" y="2755735"/>
                </a:lnTo>
                <a:lnTo>
                  <a:pt x="6489" y="2805255"/>
                </a:lnTo>
                <a:lnTo>
                  <a:pt x="3633" y="2854851"/>
                </a:lnTo>
                <a:lnTo>
                  <a:pt x="1599" y="2904512"/>
                </a:lnTo>
                <a:lnTo>
                  <a:pt x="387" y="2954229"/>
                </a:lnTo>
                <a:lnTo>
                  <a:pt x="0" y="3003993"/>
                </a:lnTo>
                <a:lnTo>
                  <a:pt x="437" y="3053792"/>
                </a:lnTo>
                <a:lnTo>
                  <a:pt x="1700" y="3103617"/>
                </a:lnTo>
                <a:lnTo>
                  <a:pt x="3790" y="3153459"/>
                </a:lnTo>
                <a:lnTo>
                  <a:pt x="6709" y="3203307"/>
                </a:lnTo>
                <a:lnTo>
                  <a:pt x="10457" y="3253152"/>
                </a:lnTo>
                <a:lnTo>
                  <a:pt x="15036" y="3302983"/>
                </a:lnTo>
                <a:lnTo>
                  <a:pt x="20447" y="3352791"/>
                </a:lnTo>
                <a:lnTo>
                  <a:pt x="26691" y="3402565"/>
                </a:lnTo>
                <a:lnTo>
                  <a:pt x="33770" y="3452297"/>
                </a:lnTo>
                <a:lnTo>
                  <a:pt x="41683" y="3501975"/>
                </a:lnTo>
              </a:path>
            </a:pathLst>
          </a:custGeom>
          <a:ln w="57150">
            <a:solidFill>
              <a:srgbClr val="CCCC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41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5750" y="1011478"/>
            <a:ext cx="8572500" cy="199771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1550" b="1" spc="-55" dirty="0">
                <a:latin typeface="Trebuchet MS"/>
                <a:cs typeface="Trebuchet MS"/>
              </a:rPr>
              <a:t>Riesgos </a:t>
            </a:r>
            <a:r>
              <a:rPr sz="1550" b="1" spc="-65" dirty="0">
                <a:latin typeface="Trebuchet MS"/>
                <a:cs typeface="Trebuchet MS"/>
              </a:rPr>
              <a:t>según</a:t>
            </a:r>
            <a:r>
              <a:rPr sz="1550" b="1" spc="-215" dirty="0">
                <a:latin typeface="Trebuchet MS"/>
                <a:cs typeface="Trebuchet MS"/>
              </a:rPr>
              <a:t> </a:t>
            </a:r>
            <a:r>
              <a:rPr sz="1550" b="1" spc="-50" dirty="0">
                <a:latin typeface="Trebuchet MS"/>
                <a:cs typeface="Trebuchet MS"/>
              </a:rPr>
              <a:t>ORIGEN</a:t>
            </a:r>
            <a:endParaRPr sz="1550">
              <a:latin typeface="Trebuchet MS"/>
              <a:cs typeface="Trebuchet MS"/>
            </a:endParaRPr>
          </a:p>
          <a:p>
            <a:pPr marL="12700" marR="5080" algn="just">
              <a:lnSpc>
                <a:spcPct val="101299"/>
              </a:lnSpc>
              <a:spcBef>
                <a:spcPts val="750"/>
              </a:spcBef>
            </a:pPr>
            <a:r>
              <a:rPr sz="1550" spc="-105" dirty="0">
                <a:latin typeface="Arial"/>
                <a:cs typeface="Arial"/>
              </a:rPr>
              <a:t>Como </a:t>
            </a:r>
            <a:r>
              <a:rPr sz="1550" spc="-25" dirty="0">
                <a:latin typeface="Arial"/>
                <a:cs typeface="Arial"/>
              </a:rPr>
              <a:t>parte </a:t>
            </a:r>
            <a:r>
              <a:rPr sz="1550" spc="-65" dirty="0">
                <a:latin typeface="Arial"/>
                <a:cs typeface="Arial"/>
              </a:rPr>
              <a:t>de una </a:t>
            </a:r>
            <a:r>
              <a:rPr sz="1550" spc="-60" dirty="0">
                <a:latin typeface="Arial"/>
                <a:cs typeface="Arial"/>
              </a:rPr>
              <a:t>evaluación </a:t>
            </a:r>
            <a:r>
              <a:rPr sz="1550" spc="-65" dirty="0">
                <a:latin typeface="Arial"/>
                <a:cs typeface="Arial"/>
              </a:rPr>
              <a:t>de </a:t>
            </a:r>
            <a:r>
              <a:rPr sz="1550" spc="-80" dirty="0">
                <a:latin typeface="Arial"/>
                <a:cs typeface="Arial"/>
              </a:rPr>
              <a:t>riesgos </a:t>
            </a:r>
            <a:r>
              <a:rPr sz="1550" spc="-40" dirty="0">
                <a:latin typeface="Arial"/>
                <a:cs typeface="Arial"/>
              </a:rPr>
              <a:t>efectiva, </a:t>
            </a:r>
            <a:r>
              <a:rPr sz="1550" spc="-55" dirty="0">
                <a:latin typeface="Arial"/>
                <a:cs typeface="Arial"/>
              </a:rPr>
              <a:t>la </a:t>
            </a:r>
            <a:r>
              <a:rPr sz="1550" spc="-60" dirty="0">
                <a:latin typeface="Arial"/>
                <a:cs typeface="Arial"/>
              </a:rPr>
              <a:t>organización </a:t>
            </a:r>
            <a:r>
              <a:rPr sz="1550" spc="-65" dirty="0">
                <a:latin typeface="Arial"/>
                <a:cs typeface="Arial"/>
              </a:rPr>
              <a:t>debe </a:t>
            </a:r>
            <a:r>
              <a:rPr sz="1550" spc="-15" dirty="0">
                <a:latin typeface="Arial"/>
                <a:cs typeface="Arial"/>
              </a:rPr>
              <a:t>identificar </a:t>
            </a:r>
            <a:r>
              <a:rPr sz="1550" spc="-60" dirty="0">
                <a:latin typeface="Arial"/>
                <a:cs typeface="Arial"/>
              </a:rPr>
              <a:t>los </a:t>
            </a:r>
            <a:r>
              <a:rPr sz="1550" spc="-80" dirty="0">
                <a:latin typeface="Arial"/>
                <a:cs typeface="Arial"/>
              </a:rPr>
              <a:t>riesgos </a:t>
            </a:r>
            <a:r>
              <a:rPr sz="1550" spc="-30" dirty="0">
                <a:latin typeface="Arial"/>
                <a:cs typeface="Arial"/>
              </a:rPr>
              <a:t>internos </a:t>
            </a:r>
            <a:r>
              <a:rPr sz="1550" spc="-65" dirty="0">
                <a:latin typeface="Arial"/>
                <a:cs typeface="Arial"/>
              </a:rPr>
              <a:t>y  </a:t>
            </a:r>
            <a:r>
              <a:rPr sz="1550" spc="-50" dirty="0">
                <a:latin typeface="Arial"/>
                <a:cs typeface="Arial"/>
              </a:rPr>
              <a:t>externos </a:t>
            </a:r>
            <a:r>
              <a:rPr sz="1550" spc="-55" dirty="0">
                <a:latin typeface="Arial"/>
                <a:cs typeface="Arial"/>
              </a:rPr>
              <a:t>que </a:t>
            </a:r>
            <a:r>
              <a:rPr sz="1550" spc="-45" dirty="0">
                <a:latin typeface="Arial"/>
                <a:cs typeface="Arial"/>
              </a:rPr>
              <a:t>podrían </a:t>
            </a:r>
            <a:r>
              <a:rPr sz="1550" spc="-25" dirty="0">
                <a:latin typeface="Arial"/>
                <a:cs typeface="Arial"/>
              </a:rPr>
              <a:t>impedir </a:t>
            </a:r>
            <a:r>
              <a:rPr sz="1550" spc="-35" dirty="0">
                <a:latin typeface="Arial"/>
                <a:cs typeface="Arial"/>
              </a:rPr>
              <a:t>el logro </a:t>
            </a:r>
            <a:r>
              <a:rPr sz="1550" spc="-65" dirty="0">
                <a:latin typeface="Arial"/>
                <a:cs typeface="Arial"/>
              </a:rPr>
              <a:t>de los </a:t>
            </a:r>
            <a:r>
              <a:rPr sz="1550" spc="-35" dirty="0">
                <a:latin typeface="Arial"/>
                <a:cs typeface="Arial"/>
              </a:rPr>
              <a:t>objetivos </a:t>
            </a:r>
            <a:r>
              <a:rPr sz="1550" spc="-60" dirty="0">
                <a:latin typeface="Arial"/>
                <a:cs typeface="Arial"/>
              </a:rPr>
              <a:t>de </a:t>
            </a:r>
            <a:r>
              <a:rPr sz="1550" spc="-75" dirty="0">
                <a:latin typeface="Arial"/>
                <a:cs typeface="Arial"/>
              </a:rPr>
              <a:t>negocios </a:t>
            </a:r>
            <a:r>
              <a:rPr sz="1550" spc="-45" dirty="0">
                <a:latin typeface="Arial"/>
                <a:cs typeface="Arial"/>
              </a:rPr>
              <a:t>críticos: </a:t>
            </a:r>
            <a:r>
              <a:rPr sz="1550" i="1" spc="-60" dirty="0">
                <a:latin typeface="Trebuchet MS"/>
                <a:cs typeface="Trebuchet MS"/>
              </a:rPr>
              <a:t>Operaciones</a:t>
            </a:r>
            <a:r>
              <a:rPr sz="1550" spc="-60" dirty="0">
                <a:latin typeface="Arial"/>
                <a:cs typeface="Arial"/>
              </a:rPr>
              <a:t>, </a:t>
            </a:r>
            <a:r>
              <a:rPr sz="1550" i="1" spc="-65" dirty="0">
                <a:latin typeface="Trebuchet MS"/>
                <a:cs typeface="Trebuchet MS"/>
              </a:rPr>
              <a:t>Emisión </a:t>
            </a:r>
            <a:r>
              <a:rPr sz="1550" i="1" spc="-70" dirty="0">
                <a:latin typeface="Trebuchet MS"/>
                <a:cs typeface="Trebuchet MS"/>
              </a:rPr>
              <a:t>de </a:t>
            </a:r>
            <a:r>
              <a:rPr sz="1550" i="1" spc="325" dirty="0">
                <a:latin typeface="Trebuchet MS"/>
                <a:cs typeface="Trebuchet MS"/>
              </a:rPr>
              <a:t> </a:t>
            </a:r>
            <a:r>
              <a:rPr sz="1550" i="1" spc="-65" dirty="0">
                <a:latin typeface="Trebuchet MS"/>
                <a:cs typeface="Trebuchet MS"/>
              </a:rPr>
              <a:t>información </a:t>
            </a:r>
            <a:r>
              <a:rPr sz="1550" i="1" spc="-70" dirty="0">
                <a:latin typeface="Trebuchet MS"/>
                <a:cs typeface="Trebuchet MS"/>
              </a:rPr>
              <a:t>financiera</a:t>
            </a:r>
            <a:r>
              <a:rPr sz="1550" spc="-70" dirty="0">
                <a:latin typeface="Arial"/>
                <a:cs typeface="Arial"/>
              </a:rPr>
              <a:t>, </a:t>
            </a:r>
            <a:r>
              <a:rPr sz="1550" i="1" spc="-80" dirty="0">
                <a:latin typeface="Trebuchet MS"/>
                <a:cs typeface="Trebuchet MS"/>
              </a:rPr>
              <a:t>Cumplimiento</a:t>
            </a:r>
            <a:r>
              <a:rPr sz="1550" spc="-80" dirty="0">
                <a:latin typeface="Arial"/>
                <a:cs typeface="Arial"/>
              </a:rPr>
              <a:t>, </a:t>
            </a:r>
            <a:r>
              <a:rPr sz="1550" i="1" spc="-40" dirty="0">
                <a:latin typeface="Trebuchet MS"/>
                <a:cs typeface="Trebuchet MS"/>
              </a:rPr>
              <a:t>según</a:t>
            </a:r>
            <a:r>
              <a:rPr sz="1550" i="1" spc="-204" dirty="0">
                <a:latin typeface="Trebuchet MS"/>
                <a:cs typeface="Trebuchet MS"/>
              </a:rPr>
              <a:t> </a:t>
            </a:r>
            <a:r>
              <a:rPr sz="1550" i="1" spc="-50" dirty="0">
                <a:latin typeface="Trebuchet MS"/>
                <a:cs typeface="Trebuchet MS"/>
              </a:rPr>
              <a:t>COSO</a:t>
            </a:r>
            <a:r>
              <a:rPr sz="1550" spc="-50" dirty="0">
                <a:latin typeface="Arial"/>
                <a:cs typeface="Arial"/>
              </a:rPr>
              <a:t>.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1299"/>
              </a:lnSpc>
              <a:spcBef>
                <a:spcPts val="994"/>
              </a:spcBef>
            </a:pPr>
            <a:r>
              <a:rPr sz="1550" spc="-95" dirty="0">
                <a:latin typeface="Arial"/>
                <a:cs typeface="Arial"/>
              </a:rPr>
              <a:t>Además </a:t>
            </a:r>
            <a:r>
              <a:rPr sz="1550" spc="-60" dirty="0">
                <a:latin typeface="Arial"/>
                <a:cs typeface="Arial"/>
              </a:rPr>
              <a:t>de los </a:t>
            </a:r>
            <a:r>
              <a:rPr sz="1550" spc="-45" dirty="0">
                <a:latin typeface="Arial"/>
                <a:cs typeface="Arial"/>
              </a:rPr>
              <a:t>factores </a:t>
            </a:r>
            <a:r>
              <a:rPr sz="1550" spc="-30" dirty="0">
                <a:latin typeface="Arial"/>
                <a:cs typeface="Arial"/>
              </a:rPr>
              <a:t>internos </a:t>
            </a:r>
            <a:r>
              <a:rPr sz="1550" spc="-65" dirty="0">
                <a:latin typeface="Arial"/>
                <a:cs typeface="Arial"/>
              </a:rPr>
              <a:t>y </a:t>
            </a:r>
            <a:r>
              <a:rPr sz="1550" spc="-50" dirty="0">
                <a:latin typeface="Arial"/>
                <a:cs typeface="Arial"/>
              </a:rPr>
              <a:t>externos </a:t>
            </a:r>
            <a:r>
              <a:rPr sz="1550" spc="-65" dirty="0">
                <a:latin typeface="Arial"/>
                <a:cs typeface="Arial"/>
              </a:rPr>
              <a:t>de </a:t>
            </a:r>
            <a:r>
              <a:rPr sz="1550" spc="-60" dirty="0">
                <a:latin typeface="Arial"/>
                <a:cs typeface="Arial"/>
              </a:rPr>
              <a:t>riesgo, </a:t>
            </a:r>
            <a:r>
              <a:rPr sz="1550" spc="-55" dirty="0">
                <a:latin typeface="Arial"/>
                <a:cs typeface="Arial"/>
              </a:rPr>
              <a:t>existen </a:t>
            </a:r>
            <a:r>
              <a:rPr sz="1550" spc="-80" dirty="0">
                <a:latin typeface="Arial"/>
                <a:cs typeface="Arial"/>
              </a:rPr>
              <a:t>riesgos </a:t>
            </a:r>
            <a:r>
              <a:rPr sz="1550" spc="-45" dirty="0">
                <a:latin typeface="Arial"/>
                <a:cs typeface="Arial"/>
              </a:rPr>
              <a:t>inherentes </a:t>
            </a:r>
            <a:r>
              <a:rPr sz="1550" spc="-110" dirty="0">
                <a:latin typeface="Arial"/>
                <a:cs typeface="Arial"/>
              </a:rPr>
              <a:t>a </a:t>
            </a:r>
            <a:r>
              <a:rPr sz="1550" spc="-25" dirty="0">
                <a:latin typeface="Arial"/>
                <a:cs typeface="Arial"/>
              </a:rPr>
              <a:t>toda </a:t>
            </a:r>
            <a:r>
              <a:rPr sz="1550" spc="-40" dirty="0">
                <a:latin typeface="Arial"/>
                <a:cs typeface="Arial"/>
              </a:rPr>
              <a:t>actividad  </a:t>
            </a:r>
            <a:r>
              <a:rPr sz="1550" spc="-50" dirty="0">
                <a:latin typeface="Arial"/>
                <a:cs typeface="Arial"/>
              </a:rPr>
              <a:t>comercial,</a:t>
            </a:r>
            <a:r>
              <a:rPr sz="1550" spc="-105" dirty="0">
                <a:latin typeface="Arial"/>
                <a:cs typeface="Arial"/>
              </a:rPr>
              <a:t> </a:t>
            </a:r>
            <a:r>
              <a:rPr sz="1550" spc="-35" dirty="0">
                <a:latin typeface="Arial"/>
                <a:cs typeface="Arial"/>
              </a:rPr>
              <a:t>independientemente</a:t>
            </a:r>
            <a:r>
              <a:rPr sz="1550" spc="-114" dirty="0">
                <a:latin typeface="Arial"/>
                <a:cs typeface="Arial"/>
              </a:rPr>
              <a:t> </a:t>
            </a:r>
            <a:r>
              <a:rPr sz="1550" spc="-40" dirty="0">
                <a:latin typeface="Arial"/>
                <a:cs typeface="Arial"/>
              </a:rPr>
              <a:t>del</a:t>
            </a:r>
            <a:r>
              <a:rPr sz="1550" spc="-85" dirty="0">
                <a:latin typeface="Arial"/>
                <a:cs typeface="Arial"/>
              </a:rPr>
              <a:t> </a:t>
            </a:r>
            <a:r>
              <a:rPr sz="1550" spc="-10" dirty="0">
                <a:latin typeface="Arial"/>
                <a:cs typeface="Arial"/>
              </a:rPr>
              <a:t>rubro</a:t>
            </a:r>
            <a:r>
              <a:rPr sz="1550" spc="-90" dirty="0">
                <a:latin typeface="Arial"/>
                <a:cs typeface="Arial"/>
              </a:rPr>
              <a:t> </a:t>
            </a:r>
            <a:r>
              <a:rPr sz="1550" spc="-35" dirty="0">
                <a:latin typeface="Arial"/>
                <a:cs typeface="Arial"/>
              </a:rPr>
              <a:t>o</a:t>
            </a:r>
            <a:r>
              <a:rPr sz="1550" spc="-85" dirty="0">
                <a:latin typeface="Arial"/>
                <a:cs typeface="Arial"/>
              </a:rPr>
              <a:t> </a:t>
            </a:r>
            <a:r>
              <a:rPr sz="1550" spc="-50" dirty="0">
                <a:latin typeface="Arial"/>
                <a:cs typeface="Arial"/>
              </a:rPr>
              <a:t>la</a:t>
            </a:r>
            <a:r>
              <a:rPr sz="1550" spc="-90" dirty="0">
                <a:latin typeface="Arial"/>
                <a:cs typeface="Arial"/>
              </a:rPr>
              <a:t> </a:t>
            </a:r>
            <a:r>
              <a:rPr sz="1550" spc="-60" dirty="0">
                <a:latin typeface="Arial"/>
                <a:cs typeface="Arial"/>
              </a:rPr>
              <a:t>organización.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1454" y="3200780"/>
            <a:ext cx="8510905" cy="2884170"/>
          </a:xfrm>
          <a:custGeom>
            <a:avLst/>
            <a:gdLst/>
            <a:ahLst/>
            <a:cxnLst/>
            <a:rect l="l" t="t" r="r" b="b"/>
            <a:pathLst>
              <a:path w="8510905" h="2884170">
                <a:moveTo>
                  <a:pt x="8432292" y="0"/>
                </a:moveTo>
                <a:lnTo>
                  <a:pt x="78511" y="0"/>
                </a:lnTo>
                <a:lnTo>
                  <a:pt x="47952" y="6173"/>
                </a:lnTo>
                <a:lnTo>
                  <a:pt x="22996" y="23002"/>
                </a:lnTo>
                <a:lnTo>
                  <a:pt x="6170" y="47952"/>
                </a:lnTo>
                <a:lnTo>
                  <a:pt x="0" y="78486"/>
                </a:lnTo>
                <a:lnTo>
                  <a:pt x="0" y="2805658"/>
                </a:lnTo>
                <a:lnTo>
                  <a:pt x="6170" y="2836217"/>
                </a:lnTo>
                <a:lnTo>
                  <a:pt x="22996" y="2861173"/>
                </a:lnTo>
                <a:lnTo>
                  <a:pt x="47952" y="2877999"/>
                </a:lnTo>
                <a:lnTo>
                  <a:pt x="78511" y="2884170"/>
                </a:lnTo>
                <a:lnTo>
                  <a:pt x="8432292" y="2884170"/>
                </a:lnTo>
                <a:lnTo>
                  <a:pt x="8462825" y="2877999"/>
                </a:lnTo>
                <a:lnTo>
                  <a:pt x="8487775" y="2861173"/>
                </a:lnTo>
                <a:lnTo>
                  <a:pt x="8504604" y="2836217"/>
                </a:lnTo>
                <a:lnTo>
                  <a:pt x="8510778" y="2805658"/>
                </a:lnTo>
                <a:lnTo>
                  <a:pt x="8510778" y="78486"/>
                </a:lnTo>
                <a:lnTo>
                  <a:pt x="8504604" y="47952"/>
                </a:lnTo>
                <a:lnTo>
                  <a:pt x="8487775" y="23002"/>
                </a:lnTo>
                <a:lnTo>
                  <a:pt x="8462825" y="6173"/>
                </a:lnTo>
                <a:lnTo>
                  <a:pt x="8432292" y="0"/>
                </a:lnTo>
                <a:close/>
              </a:path>
            </a:pathLst>
          </a:custGeom>
          <a:solidFill>
            <a:srgbClr val="CCE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1454" y="3200780"/>
            <a:ext cx="8510905" cy="2884170"/>
          </a:xfrm>
          <a:custGeom>
            <a:avLst/>
            <a:gdLst/>
            <a:ahLst/>
            <a:cxnLst/>
            <a:rect l="l" t="t" r="r" b="b"/>
            <a:pathLst>
              <a:path w="8510905" h="2884170">
                <a:moveTo>
                  <a:pt x="0" y="78486"/>
                </a:moveTo>
                <a:lnTo>
                  <a:pt x="6170" y="47952"/>
                </a:lnTo>
                <a:lnTo>
                  <a:pt x="22996" y="23002"/>
                </a:lnTo>
                <a:lnTo>
                  <a:pt x="47952" y="6173"/>
                </a:lnTo>
                <a:lnTo>
                  <a:pt x="78511" y="0"/>
                </a:lnTo>
                <a:lnTo>
                  <a:pt x="8432292" y="0"/>
                </a:lnTo>
                <a:lnTo>
                  <a:pt x="8462825" y="6173"/>
                </a:lnTo>
                <a:lnTo>
                  <a:pt x="8487775" y="23002"/>
                </a:lnTo>
                <a:lnTo>
                  <a:pt x="8504604" y="47952"/>
                </a:lnTo>
                <a:lnTo>
                  <a:pt x="8510778" y="78486"/>
                </a:lnTo>
                <a:lnTo>
                  <a:pt x="8510778" y="2805658"/>
                </a:lnTo>
                <a:lnTo>
                  <a:pt x="8504604" y="2836217"/>
                </a:lnTo>
                <a:lnTo>
                  <a:pt x="8487775" y="2861173"/>
                </a:lnTo>
                <a:lnTo>
                  <a:pt x="8462825" y="2877999"/>
                </a:lnTo>
                <a:lnTo>
                  <a:pt x="8432292" y="2884170"/>
                </a:lnTo>
                <a:lnTo>
                  <a:pt x="78511" y="2884170"/>
                </a:lnTo>
                <a:lnTo>
                  <a:pt x="47952" y="2877999"/>
                </a:lnTo>
                <a:lnTo>
                  <a:pt x="22996" y="2861173"/>
                </a:lnTo>
                <a:lnTo>
                  <a:pt x="6170" y="2836217"/>
                </a:lnTo>
                <a:lnTo>
                  <a:pt x="0" y="2805658"/>
                </a:lnTo>
                <a:lnTo>
                  <a:pt x="0" y="78486"/>
                </a:lnTo>
                <a:close/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5241" y="5761228"/>
            <a:ext cx="19824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45" dirty="0">
                <a:latin typeface="Arial"/>
                <a:cs typeface="Arial"/>
              </a:rPr>
              <a:t>del </a:t>
            </a:r>
            <a:r>
              <a:rPr sz="1400" spc="-30" dirty="0">
                <a:latin typeface="Arial"/>
                <a:cs typeface="Arial"/>
              </a:rPr>
              <a:t>rubro </a:t>
            </a:r>
            <a:r>
              <a:rPr sz="1400" spc="-45" dirty="0">
                <a:latin typeface="Arial"/>
                <a:cs typeface="Arial"/>
              </a:rPr>
              <a:t>o </a:t>
            </a:r>
            <a:r>
              <a:rPr sz="1400" spc="-55" dirty="0">
                <a:latin typeface="Arial"/>
                <a:cs typeface="Arial"/>
              </a:rPr>
              <a:t>la</a:t>
            </a:r>
            <a:r>
              <a:rPr sz="1400" spc="-16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organización.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9554" y="5474208"/>
            <a:ext cx="844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30" dirty="0">
                <a:latin typeface="Arial"/>
                <a:cs typeface="Arial"/>
              </a:rPr>
              <a:t>/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07669" y="3243452"/>
          <a:ext cx="7976869" cy="2630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b="1" spc="-80" dirty="0">
                          <a:latin typeface="Trebuchet MS"/>
                          <a:cs typeface="Trebuchet MS"/>
                        </a:rPr>
                        <a:t>Categoría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b="1" spc="-80" dirty="0">
                          <a:latin typeface="Trebuchet MS"/>
                          <a:cs typeface="Trebuchet MS"/>
                        </a:rPr>
                        <a:t>Descripción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400" b="1" spc="-90" dirty="0">
                          <a:latin typeface="Trebuchet MS"/>
                          <a:cs typeface="Trebuchet MS"/>
                        </a:rPr>
                        <a:t>Ejemplo(s)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7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8620">
                        <a:lnSpc>
                          <a:spcPct val="100000"/>
                        </a:lnSpc>
                      </a:pPr>
                      <a:r>
                        <a:rPr sz="1400" b="1" spc="-95" dirty="0">
                          <a:latin typeface="Trebuchet MS"/>
                          <a:cs typeface="Trebuchet MS"/>
                        </a:rPr>
                        <a:t>Externos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367665">
                        <a:lnSpc>
                          <a:spcPct val="100000"/>
                        </a:lnSpc>
                      </a:pPr>
                      <a:r>
                        <a:rPr sz="1400" b="1" spc="-75" dirty="0">
                          <a:latin typeface="Trebuchet MS"/>
                          <a:cs typeface="Trebuchet MS"/>
                        </a:rPr>
                        <a:t>Internos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2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701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120" dirty="0">
                          <a:latin typeface="Arial"/>
                          <a:cs typeface="Arial"/>
                        </a:rPr>
                        <a:t>Riesgos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que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provienen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condiciones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del 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entorno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y sobre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los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que,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normalmente,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organización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no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puede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0" dirty="0">
                          <a:latin typeface="Arial"/>
                          <a:cs typeface="Arial"/>
                        </a:rPr>
                        <a:t>influir.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0805" marR="240029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400" spc="-120" dirty="0">
                          <a:latin typeface="Arial"/>
                          <a:cs typeface="Arial"/>
                        </a:rPr>
                        <a:t>Riesgos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que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provienen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decisiones 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tomadas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corporación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empleo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recursos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internos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externos.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2890" indent="-171450">
                        <a:lnSpc>
                          <a:spcPct val="100000"/>
                        </a:lnSpc>
                        <a:spcBef>
                          <a:spcPts val="215"/>
                        </a:spcBef>
                        <a:buChar char="•"/>
                        <a:tabLst>
                          <a:tab pos="297815" algn="l"/>
                          <a:tab pos="298450" algn="l"/>
                        </a:tabLst>
                      </a:pPr>
                      <a:r>
                        <a:rPr sz="1200" spc="-80" dirty="0">
                          <a:latin typeface="Arial"/>
                          <a:cs typeface="Arial"/>
                        </a:rPr>
                        <a:t>Cambios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economía </a:t>
                      </a:r>
                      <a:r>
                        <a:rPr sz="1200" spc="130" dirty="0">
                          <a:latin typeface="Arial"/>
                          <a:cs typeface="Arial"/>
                        </a:rPr>
                        <a:t>/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los</a:t>
                      </a:r>
                      <a:r>
                        <a:rPr sz="1200" spc="-2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mercados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62890" indent="-171450">
                        <a:lnSpc>
                          <a:spcPct val="100000"/>
                        </a:lnSpc>
                        <a:buChar char="•"/>
                        <a:tabLst>
                          <a:tab pos="297815" algn="l"/>
                          <a:tab pos="298450" algn="l"/>
                        </a:tabLst>
                      </a:pPr>
                      <a:r>
                        <a:rPr sz="1200" spc="-80" dirty="0">
                          <a:latin typeface="Arial"/>
                          <a:cs typeface="Arial"/>
                        </a:rPr>
                        <a:t>Cambios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entorno</a:t>
                      </a:r>
                      <a:r>
                        <a:rPr sz="12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competitivo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62890" indent="-171450">
                        <a:lnSpc>
                          <a:spcPct val="100000"/>
                        </a:lnSpc>
                        <a:buChar char="•"/>
                        <a:tabLst>
                          <a:tab pos="297815" algn="l"/>
                          <a:tab pos="298450" algn="l"/>
                        </a:tabLst>
                      </a:pPr>
                      <a:r>
                        <a:rPr sz="1200" spc="-80" dirty="0">
                          <a:latin typeface="Arial"/>
                          <a:cs typeface="Arial"/>
                        </a:rPr>
                        <a:t>Cambios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normativos </a:t>
                      </a:r>
                      <a:r>
                        <a:rPr sz="1200" spc="13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legislativos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62890" indent="-171450">
                        <a:lnSpc>
                          <a:spcPct val="100000"/>
                        </a:lnSpc>
                        <a:spcBef>
                          <a:spcPts val="1190"/>
                        </a:spcBef>
                        <a:buChar char="•"/>
                        <a:tabLst>
                          <a:tab pos="297815" algn="l"/>
                          <a:tab pos="298450" algn="l"/>
                        </a:tabLst>
                      </a:pPr>
                      <a:r>
                        <a:rPr sz="1200" spc="-70" dirty="0">
                          <a:latin typeface="Arial"/>
                          <a:cs typeface="Arial"/>
                        </a:rPr>
                        <a:t>Falta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ética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2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gerencia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62890" indent="-171450">
                        <a:lnSpc>
                          <a:spcPct val="100000"/>
                        </a:lnSpc>
                        <a:buChar char="•"/>
                        <a:tabLst>
                          <a:tab pos="297815" algn="l"/>
                          <a:tab pos="298450" algn="l"/>
                        </a:tabLst>
                      </a:pPr>
                      <a:r>
                        <a:rPr sz="1200" spc="-55" dirty="0">
                          <a:latin typeface="Arial"/>
                          <a:cs typeface="Arial"/>
                        </a:rPr>
                        <a:t>Procedimientos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inadecuados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contratación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62890" marR="64769" indent="-17145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297815" algn="l"/>
                          <a:tab pos="298450" algn="l"/>
                        </a:tabLst>
                      </a:pPr>
                      <a:r>
                        <a:rPr sz="1200" spc="-70" dirty="0">
                          <a:latin typeface="Arial"/>
                          <a:cs typeface="Arial"/>
                        </a:rPr>
                        <a:t>Falta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planificación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con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respecto 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los </a:t>
                      </a:r>
                      <a:r>
                        <a:rPr sz="1200" spc="-70" dirty="0">
                          <a:latin typeface="Arial"/>
                          <a:cs typeface="Arial"/>
                        </a:rPr>
                        <a:t>sistemas 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TI </a:t>
                      </a:r>
                      <a:r>
                        <a:rPr sz="1200" spc="13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recursos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539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245745">
                        <a:lnSpc>
                          <a:spcPct val="100000"/>
                        </a:lnSpc>
                      </a:pPr>
                      <a:r>
                        <a:rPr sz="1400" b="1" spc="-85" dirty="0">
                          <a:latin typeface="Trebuchet MS"/>
                          <a:cs typeface="Trebuchet MS"/>
                        </a:rPr>
                        <a:t>Inherentes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 marR="3282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20" dirty="0">
                          <a:latin typeface="Arial"/>
                          <a:cs typeface="Arial"/>
                        </a:rPr>
                        <a:t>Riesgos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que existen </a:t>
                      </a:r>
                      <a:r>
                        <a:rPr sz="1400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simple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hecho de 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dedicarse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una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determinada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actividad 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comercial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que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suelen ser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independientes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62890" marR="23495" indent="-171450">
                        <a:lnSpc>
                          <a:spcPct val="100000"/>
                        </a:lnSpc>
                        <a:spcBef>
                          <a:spcPts val="165"/>
                        </a:spcBef>
                        <a:buChar char="•"/>
                        <a:tabLst>
                          <a:tab pos="263525" algn="l"/>
                        </a:tabLst>
                      </a:pPr>
                      <a:r>
                        <a:rPr sz="1200" spc="-55" dirty="0">
                          <a:latin typeface="Arial"/>
                          <a:cs typeface="Arial"/>
                        </a:rPr>
                        <a:t>Reconocimiento </a:t>
                      </a:r>
                      <a:r>
                        <a:rPr sz="1200" spc="13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2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corte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transacciones de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venta 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dentro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ciclo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ingresos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262890" marR="59055" indent="-17145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263525" algn="l"/>
                        </a:tabLst>
                      </a:pPr>
                      <a:r>
                        <a:rPr sz="1200" spc="-95" dirty="0">
                          <a:latin typeface="Arial"/>
                          <a:cs typeface="Arial"/>
                        </a:rPr>
                        <a:t>Riesgo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general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fraude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1200" spc="-80" dirty="0">
                          <a:latin typeface="Arial"/>
                          <a:cs typeface="Arial"/>
                        </a:rPr>
                        <a:t>áreas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85" dirty="0">
                          <a:latin typeface="Arial"/>
                          <a:cs typeface="Arial"/>
                        </a:rPr>
                        <a:t>Compras  Cuentas </a:t>
                      </a:r>
                      <a:r>
                        <a:rPr sz="1200" spc="-25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5" dirty="0">
                          <a:latin typeface="Arial"/>
                          <a:cs typeface="Arial"/>
                        </a:rPr>
                        <a:t>Pagar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57859" y="3667064"/>
            <a:ext cx="268120" cy="403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3287" y="4339905"/>
            <a:ext cx="268120" cy="4045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3287" y="5169721"/>
            <a:ext cx="268120" cy="403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42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5750" y="1097491"/>
            <a:ext cx="8571865" cy="192023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550" b="1" spc="-60" dirty="0">
                <a:latin typeface="Trebuchet MS"/>
                <a:cs typeface="Trebuchet MS"/>
              </a:rPr>
              <a:t>Riesgos </a:t>
            </a:r>
            <a:r>
              <a:rPr sz="1550" b="1" spc="-65" dirty="0">
                <a:latin typeface="Trebuchet MS"/>
                <a:cs typeface="Trebuchet MS"/>
              </a:rPr>
              <a:t>según </a:t>
            </a:r>
            <a:r>
              <a:rPr sz="1550" b="1" spc="-90" dirty="0">
                <a:latin typeface="Trebuchet MS"/>
                <a:cs typeface="Trebuchet MS"/>
              </a:rPr>
              <a:t>el </a:t>
            </a:r>
            <a:r>
              <a:rPr sz="1550" b="1" spc="-75" dirty="0">
                <a:latin typeface="Trebuchet MS"/>
                <a:cs typeface="Trebuchet MS"/>
              </a:rPr>
              <a:t>NIVEL </a:t>
            </a:r>
            <a:r>
              <a:rPr sz="1550" b="1" spc="-65" dirty="0">
                <a:latin typeface="Trebuchet MS"/>
                <a:cs typeface="Trebuchet MS"/>
              </a:rPr>
              <a:t>DE</a:t>
            </a:r>
            <a:r>
              <a:rPr sz="1550" b="1" spc="-360" dirty="0">
                <a:latin typeface="Trebuchet MS"/>
                <a:cs typeface="Trebuchet MS"/>
              </a:rPr>
              <a:t> </a:t>
            </a:r>
            <a:r>
              <a:rPr sz="1550" b="1" spc="-114" dirty="0">
                <a:latin typeface="Trebuchet MS"/>
                <a:cs typeface="Trebuchet MS"/>
              </a:rPr>
              <a:t>LA </a:t>
            </a:r>
            <a:r>
              <a:rPr sz="1550" b="1" spc="-50" dirty="0">
                <a:latin typeface="Trebuchet MS"/>
                <a:cs typeface="Trebuchet MS"/>
              </a:rPr>
              <a:t>ORGANIZACION</a:t>
            </a: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500" spc="-140" dirty="0">
                <a:latin typeface="Arial"/>
                <a:cs typeface="Arial"/>
              </a:rPr>
              <a:t>Los </a:t>
            </a:r>
            <a:r>
              <a:rPr sz="1500" spc="-85" dirty="0">
                <a:latin typeface="Arial"/>
                <a:cs typeface="Arial"/>
              </a:rPr>
              <a:t>riesgos </a:t>
            </a:r>
            <a:r>
              <a:rPr sz="1500" spc="-70" dirty="0">
                <a:latin typeface="Arial"/>
                <a:cs typeface="Arial"/>
              </a:rPr>
              <a:t>pueden </a:t>
            </a:r>
            <a:r>
              <a:rPr sz="1500" spc="-50" dirty="0">
                <a:latin typeface="Arial"/>
                <a:cs typeface="Arial"/>
              </a:rPr>
              <a:t>variar </a:t>
            </a:r>
            <a:r>
              <a:rPr sz="1500" spc="-100" dirty="0">
                <a:latin typeface="Arial"/>
                <a:cs typeface="Arial"/>
              </a:rPr>
              <a:t>según </a:t>
            </a:r>
            <a:r>
              <a:rPr sz="1500" spc="-45" dirty="0">
                <a:latin typeface="Arial"/>
                <a:cs typeface="Arial"/>
              </a:rPr>
              <a:t>el </a:t>
            </a:r>
            <a:r>
              <a:rPr sz="1500" spc="-50" dirty="0">
                <a:latin typeface="Arial"/>
                <a:cs typeface="Arial"/>
              </a:rPr>
              <a:t>efecto </a:t>
            </a:r>
            <a:r>
              <a:rPr sz="1500" spc="-65" dirty="0">
                <a:latin typeface="Arial"/>
                <a:cs typeface="Arial"/>
              </a:rPr>
              <a:t>que </a:t>
            </a:r>
            <a:r>
              <a:rPr sz="1500" spc="-70" dirty="0">
                <a:latin typeface="Arial"/>
                <a:cs typeface="Arial"/>
              </a:rPr>
              <a:t>tengan en </a:t>
            </a:r>
            <a:r>
              <a:rPr sz="1500" spc="-55" dirty="0">
                <a:latin typeface="Arial"/>
                <a:cs typeface="Arial"/>
              </a:rPr>
              <a:t>determinados </a:t>
            </a:r>
            <a:r>
              <a:rPr sz="1500" spc="-70" dirty="0">
                <a:latin typeface="Arial"/>
                <a:cs typeface="Arial"/>
              </a:rPr>
              <a:t>niveles de </a:t>
            </a:r>
            <a:r>
              <a:rPr sz="1500" spc="-55" dirty="0">
                <a:latin typeface="Arial"/>
                <a:cs typeface="Arial"/>
              </a:rPr>
              <a:t>la</a:t>
            </a:r>
            <a:r>
              <a:rPr sz="1500" spc="-80" dirty="0">
                <a:latin typeface="Arial"/>
                <a:cs typeface="Arial"/>
              </a:rPr>
              <a:t> </a:t>
            </a:r>
            <a:r>
              <a:rPr sz="1500" spc="-70" dirty="0">
                <a:latin typeface="Arial"/>
                <a:cs typeface="Arial"/>
              </a:rPr>
              <a:t>organización.</a:t>
            </a:r>
            <a:endParaRPr sz="15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spcBef>
                <a:spcPts val="680"/>
              </a:spcBef>
              <a:buChar char="•"/>
              <a:tabLst>
                <a:tab pos="297815" algn="l"/>
                <a:tab pos="298450" algn="l"/>
              </a:tabLst>
            </a:pPr>
            <a:r>
              <a:rPr sz="1400" spc="-130" dirty="0">
                <a:latin typeface="Arial"/>
                <a:cs typeface="Arial"/>
              </a:rPr>
              <a:t>Los </a:t>
            </a:r>
            <a:r>
              <a:rPr sz="1400" spc="-80" dirty="0">
                <a:latin typeface="Arial"/>
                <a:cs typeface="Arial"/>
              </a:rPr>
              <a:t>riesgos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60" dirty="0">
                <a:latin typeface="Arial"/>
                <a:cs typeface="Arial"/>
              </a:rPr>
              <a:t>afectan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35" dirty="0">
                <a:latin typeface="Arial"/>
                <a:cs typeface="Arial"/>
              </a:rPr>
              <a:t>toda </a:t>
            </a:r>
            <a:r>
              <a:rPr sz="1400" spc="-55" dirty="0">
                <a:latin typeface="Arial"/>
                <a:cs typeface="Arial"/>
              </a:rPr>
              <a:t>la </a:t>
            </a:r>
            <a:r>
              <a:rPr sz="1400" spc="-75" dirty="0">
                <a:latin typeface="Arial"/>
                <a:cs typeface="Arial"/>
              </a:rPr>
              <a:t>empresa </a:t>
            </a:r>
            <a:r>
              <a:rPr sz="1400" spc="-85" dirty="0">
                <a:latin typeface="Arial"/>
                <a:cs typeface="Arial"/>
              </a:rPr>
              <a:t>son </a:t>
            </a:r>
            <a:r>
              <a:rPr sz="1400" spc="-105" dirty="0">
                <a:latin typeface="Arial"/>
                <a:cs typeface="Arial"/>
              </a:rPr>
              <a:t>más </a:t>
            </a:r>
            <a:r>
              <a:rPr sz="1400" spc="-55" dirty="0">
                <a:latin typeface="Arial"/>
                <a:cs typeface="Arial"/>
              </a:rPr>
              <a:t>amplios </a:t>
            </a:r>
            <a:r>
              <a:rPr sz="1400" spc="-70" dirty="0">
                <a:latin typeface="Arial"/>
                <a:cs typeface="Arial"/>
              </a:rPr>
              <a:t>y suponen consideraciones </a:t>
            </a:r>
            <a:r>
              <a:rPr sz="1400" spc="-75" dirty="0">
                <a:latin typeface="Arial"/>
                <a:cs typeface="Arial"/>
              </a:rPr>
              <a:t>macroeconómicas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105" dirty="0">
                <a:latin typeface="Arial"/>
                <a:cs typeface="Arial"/>
              </a:rPr>
              <a:t>más  </a:t>
            </a:r>
            <a:r>
              <a:rPr sz="1400" spc="-70" dirty="0">
                <a:latin typeface="Arial"/>
                <a:cs typeface="Arial"/>
              </a:rPr>
              <a:t>estratégicas.</a:t>
            </a:r>
            <a:endParaRPr sz="14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670"/>
              </a:spcBef>
              <a:buChar char="•"/>
              <a:tabLst>
                <a:tab pos="298450" algn="l"/>
              </a:tabLst>
            </a:pPr>
            <a:r>
              <a:rPr sz="1400" spc="-130" dirty="0">
                <a:latin typeface="Arial"/>
                <a:cs typeface="Arial"/>
              </a:rPr>
              <a:t>Los </a:t>
            </a:r>
            <a:r>
              <a:rPr sz="1400" spc="-80" dirty="0">
                <a:latin typeface="Arial"/>
                <a:cs typeface="Arial"/>
              </a:rPr>
              <a:t>riesgos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60" dirty="0">
                <a:latin typeface="Arial"/>
                <a:cs typeface="Arial"/>
              </a:rPr>
              <a:t>afectan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85" dirty="0">
                <a:latin typeface="Arial"/>
                <a:cs typeface="Arial"/>
              </a:rPr>
              <a:t>procesos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85" dirty="0">
                <a:latin typeface="Arial"/>
                <a:cs typeface="Arial"/>
              </a:rPr>
              <a:t>las </a:t>
            </a:r>
            <a:r>
              <a:rPr sz="1400" spc="-60" dirty="0">
                <a:latin typeface="Arial"/>
                <a:cs typeface="Arial"/>
              </a:rPr>
              <a:t>actividades </a:t>
            </a:r>
            <a:r>
              <a:rPr sz="1400" spc="-80" dirty="0">
                <a:latin typeface="Arial"/>
                <a:cs typeface="Arial"/>
              </a:rPr>
              <a:t>son </a:t>
            </a:r>
            <a:r>
              <a:rPr sz="1400" spc="-105" dirty="0">
                <a:latin typeface="Arial"/>
                <a:cs typeface="Arial"/>
              </a:rPr>
              <a:t>más </a:t>
            </a:r>
            <a:r>
              <a:rPr sz="1400" spc="-80" dirty="0">
                <a:latin typeface="Arial"/>
                <a:cs typeface="Arial"/>
              </a:rPr>
              <a:t>específicos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60" dirty="0">
                <a:latin typeface="Arial"/>
                <a:cs typeface="Arial"/>
              </a:rPr>
              <a:t>pueden </a:t>
            </a:r>
            <a:r>
              <a:rPr sz="1400" spc="-85" dirty="0">
                <a:latin typeface="Arial"/>
                <a:cs typeface="Arial"/>
              </a:rPr>
              <a:t>asociarse </a:t>
            </a:r>
            <a:r>
              <a:rPr sz="1400" spc="-70" dirty="0">
                <a:latin typeface="Arial"/>
                <a:cs typeface="Arial"/>
              </a:rPr>
              <a:t>con </a:t>
            </a:r>
            <a:r>
              <a:rPr sz="1400" spc="-60" dirty="0">
                <a:latin typeface="Arial"/>
                <a:cs typeface="Arial"/>
              </a:rPr>
              <a:t>actividades </a:t>
            </a:r>
            <a:r>
              <a:rPr sz="1400" spc="-65" dirty="0">
                <a:latin typeface="Arial"/>
                <a:cs typeface="Arial"/>
              </a:rPr>
              <a:t>de  </a:t>
            </a:r>
            <a:r>
              <a:rPr sz="1400" spc="-30" dirty="0">
                <a:latin typeface="Arial"/>
                <a:cs typeface="Arial"/>
              </a:rPr>
              <a:t>control </a:t>
            </a:r>
            <a:r>
              <a:rPr sz="1400" spc="-55" dirty="0">
                <a:latin typeface="Arial"/>
                <a:cs typeface="Arial"/>
              </a:rPr>
              <a:t>tangibles </a:t>
            </a:r>
            <a:r>
              <a:rPr sz="1400" spc="-30" dirty="0">
                <a:latin typeface="Arial"/>
                <a:cs typeface="Arial"/>
              </a:rPr>
              <a:t>dentro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5" dirty="0">
                <a:latin typeface="Arial"/>
                <a:cs typeface="Arial"/>
              </a:rPr>
              <a:t>un </a:t>
            </a:r>
            <a:r>
              <a:rPr sz="1400" spc="-70" dirty="0">
                <a:latin typeface="Arial"/>
                <a:cs typeface="Arial"/>
              </a:rPr>
              <a:t>proceso. </a:t>
            </a:r>
            <a:r>
              <a:rPr sz="1400" spc="-85" dirty="0">
                <a:latin typeface="Arial"/>
                <a:cs typeface="Arial"/>
              </a:rPr>
              <a:t>Siempre </a:t>
            </a:r>
            <a:r>
              <a:rPr sz="1400" spc="-65" dirty="0">
                <a:latin typeface="Arial"/>
                <a:cs typeface="Arial"/>
              </a:rPr>
              <a:t>deben </a:t>
            </a:r>
            <a:r>
              <a:rPr sz="1400" spc="-75" dirty="0">
                <a:latin typeface="Arial"/>
                <a:cs typeface="Arial"/>
              </a:rPr>
              <a:t>evaluarse </a:t>
            </a:r>
            <a:r>
              <a:rPr sz="1400" spc="-35" dirty="0">
                <a:latin typeface="Arial"/>
                <a:cs typeface="Arial"/>
              </a:rPr>
              <a:t>teniendo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60" dirty="0">
                <a:latin typeface="Arial"/>
                <a:cs typeface="Arial"/>
              </a:rPr>
              <a:t>cuenta </a:t>
            </a:r>
            <a:r>
              <a:rPr sz="1400" spc="-85" dirty="0">
                <a:latin typeface="Arial"/>
                <a:cs typeface="Arial"/>
              </a:rPr>
              <a:t>las </a:t>
            </a:r>
            <a:r>
              <a:rPr sz="1400" spc="-55" dirty="0">
                <a:latin typeface="Arial"/>
                <a:cs typeface="Arial"/>
              </a:rPr>
              <a:t>primeras </a:t>
            </a:r>
            <a:r>
              <a:rPr sz="1400" spc="-70" dirty="0">
                <a:latin typeface="Arial"/>
                <a:cs typeface="Arial"/>
              </a:rPr>
              <a:t>evaluaciones </a:t>
            </a:r>
            <a:r>
              <a:rPr sz="1400" spc="24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80" dirty="0">
                <a:latin typeface="Arial"/>
                <a:cs typeface="Arial"/>
              </a:rPr>
              <a:t>riesgos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60" dirty="0">
                <a:latin typeface="Arial"/>
                <a:cs typeface="Arial"/>
              </a:rPr>
              <a:t>afectan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35" dirty="0">
                <a:latin typeface="Arial"/>
                <a:cs typeface="Arial"/>
              </a:rPr>
              <a:t>toda </a:t>
            </a:r>
            <a:r>
              <a:rPr sz="1400" spc="-55" dirty="0">
                <a:latin typeface="Arial"/>
                <a:cs typeface="Arial"/>
              </a:rPr>
              <a:t>la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empresa.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2633" y="3526154"/>
            <a:ext cx="8210550" cy="2623185"/>
          </a:xfrm>
          <a:custGeom>
            <a:avLst/>
            <a:gdLst/>
            <a:ahLst/>
            <a:cxnLst/>
            <a:rect l="l" t="t" r="r" b="b"/>
            <a:pathLst>
              <a:path w="8210550" h="2623185">
                <a:moveTo>
                  <a:pt x="8139176" y="0"/>
                </a:moveTo>
                <a:lnTo>
                  <a:pt x="71399" y="0"/>
                </a:lnTo>
                <a:lnTo>
                  <a:pt x="43607" y="5615"/>
                </a:lnTo>
                <a:lnTo>
                  <a:pt x="20912" y="20923"/>
                </a:lnTo>
                <a:lnTo>
                  <a:pt x="5610" y="43612"/>
                </a:lnTo>
                <a:lnTo>
                  <a:pt x="0" y="71374"/>
                </a:lnTo>
                <a:lnTo>
                  <a:pt x="0" y="2551404"/>
                </a:lnTo>
                <a:lnTo>
                  <a:pt x="5610" y="2579196"/>
                </a:lnTo>
                <a:lnTo>
                  <a:pt x="20912" y="2601891"/>
                </a:lnTo>
                <a:lnTo>
                  <a:pt x="43607" y="2617193"/>
                </a:lnTo>
                <a:lnTo>
                  <a:pt x="71399" y="2622804"/>
                </a:lnTo>
                <a:lnTo>
                  <a:pt x="8139176" y="2622804"/>
                </a:lnTo>
                <a:lnTo>
                  <a:pt x="8166937" y="2617193"/>
                </a:lnTo>
                <a:lnTo>
                  <a:pt x="8189626" y="2601891"/>
                </a:lnTo>
                <a:lnTo>
                  <a:pt x="8204934" y="2579196"/>
                </a:lnTo>
                <a:lnTo>
                  <a:pt x="8210550" y="2551404"/>
                </a:lnTo>
                <a:lnTo>
                  <a:pt x="8210550" y="71374"/>
                </a:lnTo>
                <a:lnTo>
                  <a:pt x="8204934" y="43612"/>
                </a:lnTo>
                <a:lnTo>
                  <a:pt x="8189626" y="20923"/>
                </a:lnTo>
                <a:lnTo>
                  <a:pt x="8166937" y="5615"/>
                </a:lnTo>
                <a:lnTo>
                  <a:pt x="8139176" y="0"/>
                </a:lnTo>
                <a:close/>
              </a:path>
            </a:pathLst>
          </a:custGeom>
          <a:solidFill>
            <a:srgbClr val="CCE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2633" y="3526154"/>
            <a:ext cx="8210550" cy="2623185"/>
          </a:xfrm>
          <a:custGeom>
            <a:avLst/>
            <a:gdLst/>
            <a:ahLst/>
            <a:cxnLst/>
            <a:rect l="l" t="t" r="r" b="b"/>
            <a:pathLst>
              <a:path w="8210550" h="2623185">
                <a:moveTo>
                  <a:pt x="0" y="71374"/>
                </a:moveTo>
                <a:lnTo>
                  <a:pt x="5610" y="43612"/>
                </a:lnTo>
                <a:lnTo>
                  <a:pt x="20912" y="20923"/>
                </a:lnTo>
                <a:lnTo>
                  <a:pt x="43607" y="5615"/>
                </a:lnTo>
                <a:lnTo>
                  <a:pt x="71399" y="0"/>
                </a:lnTo>
                <a:lnTo>
                  <a:pt x="8139176" y="0"/>
                </a:lnTo>
                <a:lnTo>
                  <a:pt x="8166937" y="5615"/>
                </a:lnTo>
                <a:lnTo>
                  <a:pt x="8189626" y="20923"/>
                </a:lnTo>
                <a:lnTo>
                  <a:pt x="8204934" y="43612"/>
                </a:lnTo>
                <a:lnTo>
                  <a:pt x="8210550" y="71374"/>
                </a:lnTo>
                <a:lnTo>
                  <a:pt x="8210550" y="2551404"/>
                </a:lnTo>
                <a:lnTo>
                  <a:pt x="8204934" y="2579196"/>
                </a:lnTo>
                <a:lnTo>
                  <a:pt x="8189626" y="2601891"/>
                </a:lnTo>
                <a:lnTo>
                  <a:pt x="8166937" y="2617193"/>
                </a:lnTo>
                <a:lnTo>
                  <a:pt x="8139176" y="2622804"/>
                </a:lnTo>
                <a:lnTo>
                  <a:pt x="71399" y="2622804"/>
                </a:lnTo>
                <a:lnTo>
                  <a:pt x="43607" y="2617193"/>
                </a:lnTo>
                <a:lnTo>
                  <a:pt x="20912" y="2601891"/>
                </a:lnTo>
                <a:lnTo>
                  <a:pt x="5610" y="2579196"/>
                </a:lnTo>
                <a:lnTo>
                  <a:pt x="0" y="2551404"/>
                </a:lnTo>
                <a:lnTo>
                  <a:pt x="0" y="71374"/>
                </a:lnTo>
                <a:close/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48687" y="3901694"/>
            <a:ext cx="3473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955">
              <a:lnSpc>
                <a:spcPct val="100000"/>
              </a:lnSpc>
              <a:spcBef>
                <a:spcPts val="95"/>
              </a:spcBef>
            </a:pPr>
            <a:r>
              <a:rPr sz="1100" spc="-55" dirty="0">
                <a:latin typeface="Arial"/>
                <a:cs typeface="Arial"/>
              </a:rPr>
              <a:t>plazo  </a:t>
            </a:r>
            <a:r>
              <a:rPr sz="1100" spc="-5" dirty="0">
                <a:latin typeface="Arial"/>
                <a:cs typeface="Arial"/>
              </a:rPr>
              <a:t>té</a:t>
            </a:r>
            <a:r>
              <a:rPr sz="1100" spc="-1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de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53981" y="4772659"/>
            <a:ext cx="1466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95" dirty="0">
                <a:latin typeface="Arial"/>
                <a:cs typeface="Arial"/>
              </a:rPr>
              <a:t>a</a:t>
            </a:r>
            <a:r>
              <a:rPr sz="1100" spc="-125" dirty="0"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523745"/>
              </p:ext>
            </p:extLst>
          </p:nvPr>
        </p:nvGraphicFramePr>
        <p:xfrm>
          <a:off x="773430" y="3596259"/>
          <a:ext cx="8117076" cy="2392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8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4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80" dirty="0">
                          <a:latin typeface="Trebuchet MS"/>
                          <a:cs typeface="Trebuchet MS"/>
                        </a:rPr>
                        <a:t>Categoría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80" dirty="0">
                          <a:latin typeface="Trebuchet MS"/>
                          <a:cs typeface="Trebuchet MS"/>
                        </a:rPr>
                        <a:t>Descripción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b="1" spc="-90" dirty="0">
                          <a:latin typeface="Trebuchet MS"/>
                          <a:cs typeface="Trebuchet MS"/>
                        </a:rPr>
                        <a:t>Ejemplo(s)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33679">
                        <a:lnSpc>
                          <a:spcPct val="100000"/>
                        </a:lnSpc>
                      </a:pPr>
                      <a:r>
                        <a:rPr sz="1400" b="1" spc="-85" dirty="0">
                          <a:latin typeface="Trebuchet MS"/>
                          <a:cs typeface="Trebuchet MS"/>
                        </a:rPr>
                        <a:t>Empresa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8115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100" dirty="0">
                          <a:latin typeface="Arial"/>
                          <a:cs typeface="Arial"/>
                        </a:rPr>
                        <a:t>Riesgos </a:t>
                      </a:r>
                      <a:r>
                        <a:rPr sz="1200" spc="-90" dirty="0">
                          <a:latin typeface="Arial"/>
                          <a:cs typeface="Arial"/>
                        </a:rPr>
                        <a:t>más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amplios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que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afectan </a:t>
                      </a:r>
                      <a:r>
                        <a:rPr sz="1200" spc="-95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toda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organización. </a:t>
                      </a:r>
                      <a:r>
                        <a:rPr sz="1200" spc="-1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alta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gerencia </a:t>
                      </a:r>
                      <a:r>
                        <a:rPr sz="1200" spc="-75" dirty="0">
                          <a:latin typeface="Arial"/>
                          <a:cs typeface="Arial"/>
                        </a:rPr>
                        <a:t>asume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responsabilidad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2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remediarlos.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 indent="-104775">
                        <a:lnSpc>
                          <a:spcPct val="100000"/>
                        </a:lnSpc>
                        <a:spcBef>
                          <a:spcPts val="290"/>
                        </a:spcBef>
                        <a:buChar char="•"/>
                        <a:tabLst>
                          <a:tab pos="196215" algn="l"/>
                        </a:tabLst>
                      </a:pPr>
                      <a:r>
                        <a:rPr sz="1100" spc="-60" dirty="0">
                          <a:latin typeface="Arial"/>
                          <a:cs typeface="Arial"/>
                        </a:rPr>
                        <a:t>Falta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100" spc="-60" dirty="0">
                          <a:latin typeface="Arial"/>
                          <a:cs typeface="Arial"/>
                        </a:rPr>
                        <a:t>una 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estrategia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100" spc="-65" dirty="0">
                          <a:latin typeface="Arial"/>
                          <a:cs typeface="Arial"/>
                        </a:rPr>
                        <a:t>negocios </a:t>
                      </a:r>
                      <a:r>
                        <a:rPr sz="1100" spc="-9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1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largo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195580" indent="-104775">
                        <a:lnSpc>
                          <a:spcPct val="100000"/>
                        </a:lnSpc>
                        <a:buChar char="•"/>
                        <a:tabLst>
                          <a:tab pos="196215" algn="l"/>
                        </a:tabLst>
                      </a:pPr>
                      <a:r>
                        <a:rPr sz="1100" spc="-60" dirty="0">
                          <a:latin typeface="Arial"/>
                          <a:cs typeface="Arial"/>
                        </a:rPr>
                        <a:t>Supervisión 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insuficiente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parte 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comi  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auditoría 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o del</a:t>
                      </a:r>
                      <a:r>
                        <a:rPr sz="11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directorio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13360">
                        <a:lnSpc>
                          <a:spcPct val="100000"/>
                        </a:lnSpc>
                      </a:pPr>
                      <a:r>
                        <a:rPr sz="1400" b="1" spc="-85" dirty="0">
                          <a:latin typeface="Trebuchet MS"/>
                          <a:cs typeface="Trebuchet MS"/>
                        </a:rPr>
                        <a:t>Proceso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8699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200" spc="-100" dirty="0">
                          <a:latin typeface="Arial"/>
                          <a:cs typeface="Arial"/>
                        </a:rPr>
                        <a:t>Riesgos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específicos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procesamiento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una  </a:t>
                      </a:r>
                      <a:r>
                        <a:rPr sz="1200" spc="-40" dirty="0">
                          <a:latin typeface="Arial"/>
                          <a:cs typeface="Arial"/>
                        </a:rPr>
                        <a:t>determinada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transacción. </a:t>
                      </a:r>
                      <a:r>
                        <a:rPr sz="1200" spc="-1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solución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suele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quedar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en  </a:t>
                      </a:r>
                      <a:r>
                        <a:rPr sz="1200" spc="-70" dirty="0">
                          <a:latin typeface="Arial"/>
                          <a:cs typeface="Arial"/>
                        </a:rPr>
                        <a:t>manos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los </a:t>
                      </a:r>
                      <a:r>
                        <a:rPr sz="1200" spc="-65" dirty="0">
                          <a:latin typeface="Arial"/>
                          <a:cs typeface="Arial"/>
                        </a:rPr>
                        <a:t>responsables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55" dirty="0">
                          <a:latin typeface="Arial"/>
                          <a:cs typeface="Arial"/>
                        </a:rPr>
                        <a:t>los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70" dirty="0">
                          <a:latin typeface="Arial"/>
                          <a:cs typeface="Arial"/>
                        </a:rPr>
                        <a:t>procesos.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 indent="-101600">
                        <a:lnSpc>
                          <a:spcPct val="100000"/>
                        </a:lnSpc>
                        <a:spcBef>
                          <a:spcPts val="295"/>
                        </a:spcBef>
                        <a:buChar char="•"/>
                        <a:tabLst>
                          <a:tab pos="193040" algn="l"/>
                        </a:tabLst>
                      </a:pPr>
                      <a:r>
                        <a:rPr sz="1100" spc="-70" dirty="0">
                          <a:latin typeface="Arial"/>
                          <a:cs typeface="Arial"/>
                        </a:rPr>
                        <a:t>Grandes </a:t>
                      </a:r>
                      <a:r>
                        <a:rPr sz="1100" spc="-50" dirty="0">
                          <a:latin typeface="Arial"/>
                          <a:cs typeface="Arial"/>
                        </a:rPr>
                        <a:t>volúmenes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1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transacciones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92405" indent="-101600">
                        <a:lnSpc>
                          <a:spcPct val="100000"/>
                        </a:lnSpc>
                        <a:buChar char="•"/>
                        <a:tabLst>
                          <a:tab pos="193040" algn="l"/>
                        </a:tabLst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Complejidad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100" spc="-70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transacciones </a:t>
                      </a:r>
                      <a:r>
                        <a:rPr sz="1100" spc="-65" dirty="0">
                          <a:latin typeface="Arial"/>
                          <a:cs typeface="Arial"/>
                        </a:rPr>
                        <a:t>procesad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92405" indent="-101600">
                        <a:lnSpc>
                          <a:spcPct val="100000"/>
                        </a:lnSpc>
                        <a:buChar char="•"/>
                        <a:tabLst>
                          <a:tab pos="193040" algn="l"/>
                        </a:tabLst>
                      </a:pPr>
                      <a:r>
                        <a:rPr sz="1100" spc="-60" dirty="0">
                          <a:latin typeface="Arial"/>
                          <a:cs typeface="Arial"/>
                        </a:rPr>
                        <a:t>Grado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subjetividad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1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45" dirty="0">
                          <a:latin typeface="Arial"/>
                          <a:cs typeface="Arial"/>
                        </a:rPr>
                        <a:t>valuación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232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-75" dirty="0">
                          <a:latin typeface="Trebuchet MS"/>
                          <a:cs typeface="Trebuchet MS"/>
                        </a:rPr>
                        <a:t>Actividad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8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 marR="379730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200" spc="-100" dirty="0">
                          <a:latin typeface="Arial"/>
                          <a:cs typeface="Arial"/>
                        </a:rPr>
                        <a:t>Riesgos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provenientes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ejecución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200" spc="-90" dirty="0">
                          <a:latin typeface="Arial"/>
                          <a:cs typeface="Arial"/>
                        </a:rPr>
                        <a:t>pasos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1200" spc="-30" dirty="0">
                          <a:latin typeface="Arial"/>
                          <a:cs typeface="Arial"/>
                        </a:rPr>
                        <a:t>trabajo, </a:t>
                      </a:r>
                      <a:r>
                        <a:rPr sz="1200" spc="-60" dirty="0">
                          <a:latin typeface="Arial"/>
                          <a:cs typeface="Arial"/>
                        </a:rPr>
                        <a:t>tareas </a:t>
                      </a:r>
                      <a:r>
                        <a:rPr sz="1200" spc="-35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1200" spc="-50" dirty="0">
                          <a:latin typeface="Arial"/>
                          <a:cs typeface="Arial"/>
                        </a:rPr>
                        <a:t>actividades</a:t>
                      </a:r>
                      <a:r>
                        <a:rPr sz="12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5" dirty="0">
                          <a:latin typeface="Arial"/>
                          <a:cs typeface="Arial"/>
                        </a:rPr>
                        <a:t>particulares.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5580" indent="-104775">
                        <a:lnSpc>
                          <a:spcPct val="100000"/>
                        </a:lnSpc>
                        <a:spcBef>
                          <a:spcPts val="280"/>
                        </a:spcBef>
                        <a:buChar char="•"/>
                        <a:tabLst>
                          <a:tab pos="196215" algn="l"/>
                        </a:tabLst>
                      </a:pPr>
                      <a:r>
                        <a:rPr sz="1100" spc="-60" dirty="0">
                          <a:latin typeface="Arial"/>
                          <a:cs typeface="Arial"/>
                        </a:rPr>
                        <a:t>Falta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1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latin typeface="Arial"/>
                          <a:cs typeface="Arial"/>
                        </a:rPr>
                        <a:t>capacitación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195580" indent="-104775">
                        <a:lnSpc>
                          <a:spcPct val="100000"/>
                        </a:lnSpc>
                        <a:buChar char="•"/>
                        <a:tabLst>
                          <a:tab pos="196215" algn="l"/>
                        </a:tabLst>
                      </a:pPr>
                      <a:r>
                        <a:rPr sz="1100" spc="-60" dirty="0">
                          <a:latin typeface="Arial"/>
                          <a:cs typeface="Arial"/>
                        </a:rPr>
                        <a:t>Falta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políticas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1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procedimientos</a:t>
                      </a:r>
                      <a:endParaRPr sz="1100" dirty="0">
                        <a:latin typeface="Arial"/>
                        <a:cs typeface="Arial"/>
                      </a:endParaRPr>
                    </a:p>
                    <a:p>
                      <a:pPr marL="195580" marR="223520" indent="-104775">
                        <a:lnSpc>
                          <a:spcPct val="100000"/>
                        </a:lnSpc>
                        <a:buChar char="•"/>
                        <a:tabLst>
                          <a:tab pos="196215" algn="l"/>
                        </a:tabLst>
                      </a:pPr>
                      <a:r>
                        <a:rPr sz="1100" spc="-70" dirty="0">
                          <a:latin typeface="Arial"/>
                          <a:cs typeface="Arial"/>
                        </a:rPr>
                        <a:t>Funciones 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100" spc="-65" dirty="0">
                          <a:latin typeface="Arial"/>
                          <a:cs typeface="Arial"/>
                        </a:rPr>
                        <a:t>sistemas </a:t>
                      </a:r>
                      <a:r>
                        <a:rPr sz="1100" spc="-45" dirty="0">
                          <a:latin typeface="Arial"/>
                          <a:cs typeface="Arial"/>
                        </a:rPr>
                        <a:t>implementadas  </a:t>
                      </a:r>
                      <a:r>
                        <a:rPr sz="1100" spc="-50" dirty="0">
                          <a:latin typeface="Arial"/>
                          <a:cs typeface="Arial"/>
                        </a:rPr>
                        <a:t>inadecuadamente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633706" y="3965006"/>
            <a:ext cx="269646" cy="403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3706" y="4650806"/>
            <a:ext cx="269646" cy="403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3706" y="5354132"/>
            <a:ext cx="269646" cy="403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43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5750" y="1096568"/>
            <a:ext cx="8571865" cy="170624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600" b="1" spc="-70" dirty="0">
                <a:latin typeface="Trebuchet MS"/>
                <a:cs typeface="Trebuchet MS"/>
              </a:rPr>
              <a:t>Riesgo</a:t>
            </a:r>
            <a:r>
              <a:rPr sz="1600" b="1" spc="-140" dirty="0">
                <a:latin typeface="Trebuchet MS"/>
                <a:cs typeface="Trebuchet MS"/>
              </a:rPr>
              <a:t> </a:t>
            </a:r>
            <a:r>
              <a:rPr sz="1600" b="1" spc="-90" dirty="0">
                <a:latin typeface="Trebuchet MS"/>
                <a:cs typeface="Trebuchet MS"/>
              </a:rPr>
              <a:t>INHERENTE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600" spc="-70" dirty="0">
                <a:latin typeface="Arial"/>
                <a:cs typeface="Arial"/>
              </a:rPr>
              <a:t>Aquel que </a:t>
            </a:r>
            <a:r>
              <a:rPr sz="1600" spc="-65" dirty="0">
                <a:latin typeface="Arial"/>
                <a:cs typeface="Arial"/>
              </a:rPr>
              <a:t>existe </a:t>
            </a:r>
            <a:r>
              <a:rPr sz="1600" spc="-30" dirty="0">
                <a:latin typeface="Arial"/>
                <a:cs typeface="Arial"/>
              </a:rPr>
              <a:t>por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70" dirty="0">
                <a:latin typeface="Arial"/>
                <a:cs typeface="Arial"/>
              </a:rPr>
              <a:t>sólo </a:t>
            </a:r>
            <a:r>
              <a:rPr sz="1600" spc="-80" dirty="0">
                <a:latin typeface="Arial"/>
                <a:cs typeface="Arial"/>
              </a:rPr>
              <a:t>hecho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55" dirty="0">
                <a:latin typeface="Arial"/>
                <a:cs typeface="Arial"/>
              </a:rPr>
              <a:t>desarrolle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50" dirty="0">
                <a:latin typeface="Arial"/>
                <a:cs typeface="Arial"/>
              </a:rPr>
              <a:t>actividad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28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Negocio.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600" b="1" spc="-70" dirty="0">
                <a:latin typeface="Trebuchet MS"/>
                <a:cs typeface="Trebuchet MS"/>
              </a:rPr>
              <a:t>Riesgo</a:t>
            </a:r>
            <a:r>
              <a:rPr sz="1600" b="1" spc="-140" dirty="0">
                <a:latin typeface="Trebuchet MS"/>
                <a:cs typeface="Trebuchet MS"/>
              </a:rPr>
              <a:t> </a:t>
            </a:r>
            <a:r>
              <a:rPr sz="1600" b="1" spc="-75" dirty="0">
                <a:latin typeface="Trebuchet MS"/>
                <a:cs typeface="Trebuchet MS"/>
              </a:rPr>
              <a:t>RESIDUAL</a:t>
            </a:r>
            <a:endParaRPr sz="16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850"/>
              </a:spcBef>
            </a:pPr>
            <a:r>
              <a:rPr sz="1800" spc="-100" dirty="0">
                <a:latin typeface="Arial"/>
                <a:cs typeface="Arial"/>
              </a:rPr>
              <a:t>Describe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55" dirty="0">
                <a:latin typeface="Arial"/>
                <a:cs typeface="Arial"/>
              </a:rPr>
              <a:t>efecto </a:t>
            </a:r>
            <a:r>
              <a:rPr sz="1800" spc="-35" dirty="0">
                <a:latin typeface="Arial"/>
                <a:cs typeface="Arial"/>
              </a:rPr>
              <a:t>neto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85" dirty="0">
                <a:latin typeface="Arial"/>
                <a:cs typeface="Arial"/>
              </a:rPr>
              <a:t>riesgo </a:t>
            </a:r>
            <a:r>
              <a:rPr sz="1800" spc="-30" dirty="0">
                <a:latin typeface="Arial"/>
                <a:cs typeface="Arial"/>
              </a:rPr>
              <a:t>interno, </a:t>
            </a:r>
            <a:r>
              <a:rPr sz="1800" spc="-55" dirty="0">
                <a:latin typeface="Arial"/>
                <a:cs typeface="Arial"/>
              </a:rPr>
              <a:t>externo o </a:t>
            </a:r>
            <a:r>
              <a:rPr sz="1800" spc="-45" dirty="0">
                <a:latin typeface="Arial"/>
                <a:cs typeface="Arial"/>
              </a:rPr>
              <a:t>inherente </a:t>
            </a:r>
            <a:r>
              <a:rPr sz="1800" spc="-80" dirty="0">
                <a:latin typeface="Arial"/>
                <a:cs typeface="Arial"/>
              </a:rPr>
              <a:t>considerando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85" dirty="0">
                <a:latin typeface="Arial"/>
                <a:cs typeface="Arial"/>
              </a:rPr>
              <a:t>medidas  de </a:t>
            </a:r>
            <a:r>
              <a:rPr sz="1800" spc="-35" dirty="0">
                <a:latin typeface="Arial"/>
                <a:cs typeface="Arial"/>
              </a:rPr>
              <a:t>control </a:t>
            </a:r>
            <a:r>
              <a:rPr sz="1800" spc="-80" dirty="0">
                <a:latin typeface="Arial"/>
                <a:cs typeface="Arial"/>
              </a:rPr>
              <a:t>existentes, </a:t>
            </a:r>
            <a:r>
              <a:rPr sz="1800" spc="-75" dirty="0">
                <a:latin typeface="Arial"/>
                <a:cs typeface="Arial"/>
              </a:rPr>
              <a:t>que pueden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mitigarlo.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841" y="3097021"/>
            <a:ext cx="3411220" cy="255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" marR="5080" indent="-263525">
              <a:lnSpc>
                <a:spcPct val="101200"/>
              </a:lnSpc>
              <a:spcBef>
                <a:spcPts val="100"/>
              </a:spcBef>
              <a:buChar char="•"/>
              <a:tabLst>
                <a:tab pos="276225" algn="l"/>
                <a:tab pos="276860" algn="l"/>
              </a:tabLst>
            </a:pPr>
            <a:r>
              <a:rPr sz="1550" spc="-160" dirty="0">
                <a:latin typeface="Arial"/>
                <a:cs typeface="Arial"/>
              </a:rPr>
              <a:t>La </a:t>
            </a:r>
            <a:r>
              <a:rPr sz="1550" spc="-65" dirty="0">
                <a:latin typeface="Arial"/>
                <a:cs typeface="Arial"/>
              </a:rPr>
              <a:t>organización debe </a:t>
            </a:r>
            <a:r>
              <a:rPr sz="1550" spc="-35" dirty="0">
                <a:latin typeface="Arial"/>
                <a:cs typeface="Arial"/>
              </a:rPr>
              <a:t>decidir </a:t>
            </a:r>
            <a:r>
              <a:rPr sz="1550" spc="-75" dirty="0">
                <a:latin typeface="Arial"/>
                <a:cs typeface="Arial"/>
              </a:rPr>
              <a:t>si está  </a:t>
            </a:r>
            <a:r>
              <a:rPr sz="1550" spc="-65" dirty="0">
                <a:latin typeface="Arial"/>
                <a:cs typeface="Arial"/>
              </a:rPr>
              <a:t>dispuesta </a:t>
            </a:r>
            <a:r>
              <a:rPr sz="1550" spc="-110" dirty="0">
                <a:latin typeface="Arial"/>
                <a:cs typeface="Arial"/>
              </a:rPr>
              <a:t>a </a:t>
            </a:r>
            <a:r>
              <a:rPr sz="1550" spc="-20" dirty="0">
                <a:latin typeface="Arial"/>
                <a:cs typeface="Arial"/>
              </a:rPr>
              <a:t>tolerar </a:t>
            </a:r>
            <a:r>
              <a:rPr sz="1550" spc="-40" dirty="0">
                <a:latin typeface="Arial"/>
                <a:cs typeface="Arial"/>
              </a:rPr>
              <a:t>un </a:t>
            </a:r>
            <a:r>
              <a:rPr sz="1550" spc="-65" dirty="0">
                <a:latin typeface="Arial"/>
                <a:cs typeface="Arial"/>
              </a:rPr>
              <a:t>riesgo </a:t>
            </a:r>
            <a:r>
              <a:rPr sz="1550" spc="-50" dirty="0">
                <a:latin typeface="Arial"/>
                <a:cs typeface="Arial"/>
              </a:rPr>
              <a:t>residual</a:t>
            </a:r>
            <a:r>
              <a:rPr sz="1550" spc="-280" dirty="0">
                <a:latin typeface="Arial"/>
                <a:cs typeface="Arial"/>
              </a:rPr>
              <a:t> </a:t>
            </a:r>
            <a:r>
              <a:rPr sz="1550" spc="-35" dirty="0">
                <a:latin typeface="Arial"/>
                <a:cs typeface="Arial"/>
              </a:rPr>
              <a:t>o  </a:t>
            </a:r>
            <a:r>
              <a:rPr sz="1550" spc="-75" dirty="0">
                <a:latin typeface="Arial"/>
                <a:cs typeface="Arial"/>
              </a:rPr>
              <a:t>si </a:t>
            </a:r>
            <a:r>
              <a:rPr sz="1550" spc="-65" dirty="0">
                <a:latin typeface="Arial"/>
                <a:cs typeface="Arial"/>
              </a:rPr>
              <a:t>debe </a:t>
            </a:r>
            <a:r>
              <a:rPr sz="1550" spc="-20" dirty="0">
                <a:latin typeface="Arial"/>
                <a:cs typeface="Arial"/>
              </a:rPr>
              <a:t>tomar </a:t>
            </a:r>
            <a:r>
              <a:rPr sz="1550" spc="-45" dirty="0">
                <a:latin typeface="Arial"/>
                <a:cs typeface="Arial"/>
              </a:rPr>
              <a:t>otras </a:t>
            </a:r>
            <a:r>
              <a:rPr sz="1550" spc="-70" dirty="0">
                <a:latin typeface="Arial"/>
                <a:cs typeface="Arial"/>
              </a:rPr>
              <a:t>medidas para  </a:t>
            </a:r>
            <a:r>
              <a:rPr sz="1550" spc="-30" dirty="0">
                <a:latin typeface="Arial"/>
                <a:cs typeface="Arial"/>
              </a:rPr>
              <a:t>reducir </a:t>
            </a:r>
            <a:r>
              <a:rPr sz="1550" spc="-35" dirty="0">
                <a:latin typeface="Arial"/>
                <a:cs typeface="Arial"/>
              </a:rPr>
              <a:t>el </a:t>
            </a:r>
            <a:r>
              <a:rPr sz="1550" spc="-65" dirty="0">
                <a:latin typeface="Arial"/>
                <a:cs typeface="Arial"/>
              </a:rPr>
              <a:t>riesgo </a:t>
            </a:r>
            <a:r>
              <a:rPr sz="1550" spc="-110" dirty="0">
                <a:latin typeface="Arial"/>
                <a:cs typeface="Arial"/>
              </a:rPr>
              <a:t>a </a:t>
            </a:r>
            <a:r>
              <a:rPr sz="1550" spc="-65" dirty="0">
                <a:latin typeface="Arial"/>
                <a:cs typeface="Arial"/>
              </a:rPr>
              <a:t>niveles </a:t>
            </a:r>
            <a:r>
              <a:rPr sz="1550" spc="-70" dirty="0">
                <a:latin typeface="Arial"/>
                <a:cs typeface="Arial"/>
              </a:rPr>
              <a:t>aceptables  </a:t>
            </a:r>
            <a:r>
              <a:rPr sz="1550" spc="-100" dirty="0">
                <a:latin typeface="Arial"/>
                <a:cs typeface="Arial"/>
              </a:rPr>
              <a:t>(es </a:t>
            </a:r>
            <a:r>
              <a:rPr sz="1550" spc="-65" dirty="0">
                <a:latin typeface="Arial"/>
                <a:cs typeface="Arial"/>
              </a:rPr>
              <a:t>decir, </a:t>
            </a:r>
            <a:r>
              <a:rPr sz="1550" spc="-70" dirty="0">
                <a:latin typeface="Arial"/>
                <a:cs typeface="Arial"/>
              </a:rPr>
              <a:t>con </a:t>
            </a:r>
            <a:r>
              <a:rPr sz="1550" spc="-55" dirty="0">
                <a:latin typeface="Arial"/>
                <a:cs typeface="Arial"/>
              </a:rPr>
              <a:t>respecto </a:t>
            </a:r>
            <a:r>
              <a:rPr sz="1550" spc="-110" dirty="0">
                <a:latin typeface="Arial"/>
                <a:cs typeface="Arial"/>
              </a:rPr>
              <a:t>a </a:t>
            </a:r>
            <a:r>
              <a:rPr sz="1550" spc="-105" dirty="0">
                <a:latin typeface="Arial"/>
                <a:cs typeface="Arial"/>
              </a:rPr>
              <a:t>su </a:t>
            </a:r>
            <a:r>
              <a:rPr sz="1550" spc="-45" dirty="0">
                <a:latin typeface="Arial"/>
                <a:cs typeface="Arial"/>
              </a:rPr>
              <a:t>efecto </a:t>
            </a:r>
            <a:r>
              <a:rPr sz="1550" spc="-35" dirty="0">
                <a:latin typeface="Arial"/>
                <a:cs typeface="Arial"/>
              </a:rPr>
              <a:t>o  </a:t>
            </a:r>
            <a:r>
              <a:rPr sz="1550" spc="-40" dirty="0">
                <a:latin typeface="Arial"/>
                <a:cs typeface="Arial"/>
              </a:rPr>
              <a:t>probabilidad).</a:t>
            </a:r>
            <a:endParaRPr sz="1550">
              <a:latin typeface="Arial"/>
              <a:cs typeface="Arial"/>
            </a:endParaRPr>
          </a:p>
          <a:p>
            <a:pPr marL="276225" marR="80010" indent="-263525">
              <a:lnSpc>
                <a:spcPct val="101299"/>
              </a:lnSpc>
              <a:spcBef>
                <a:spcPts val="1095"/>
              </a:spcBef>
              <a:buChar char="•"/>
              <a:tabLst>
                <a:tab pos="276225" algn="l"/>
                <a:tab pos="276860" algn="l"/>
              </a:tabLst>
            </a:pPr>
            <a:r>
              <a:rPr sz="1550" spc="-135" dirty="0">
                <a:latin typeface="Arial"/>
                <a:cs typeface="Arial"/>
              </a:rPr>
              <a:t>Los </a:t>
            </a:r>
            <a:r>
              <a:rPr sz="1550" spc="-80" dirty="0">
                <a:latin typeface="Arial"/>
                <a:cs typeface="Arial"/>
              </a:rPr>
              <a:t>riesgos </a:t>
            </a:r>
            <a:r>
              <a:rPr sz="1550" spc="-65" dirty="0">
                <a:latin typeface="Arial"/>
                <a:cs typeface="Arial"/>
              </a:rPr>
              <a:t>residuales </a:t>
            </a:r>
            <a:r>
              <a:rPr sz="1550" spc="-80" dirty="0">
                <a:latin typeface="Arial"/>
                <a:cs typeface="Arial"/>
              </a:rPr>
              <a:t>son </a:t>
            </a:r>
            <a:r>
              <a:rPr sz="1550" spc="-20" dirty="0">
                <a:latin typeface="Arial"/>
                <a:cs typeface="Arial"/>
              </a:rPr>
              <a:t>objeto </a:t>
            </a:r>
            <a:r>
              <a:rPr sz="1550" spc="-65" dirty="0">
                <a:latin typeface="Arial"/>
                <a:cs typeface="Arial"/>
              </a:rPr>
              <a:t>de  </a:t>
            </a:r>
            <a:r>
              <a:rPr sz="1550" spc="-60" dirty="0">
                <a:latin typeface="Arial"/>
                <a:cs typeface="Arial"/>
              </a:rPr>
              <a:t>revisiones </a:t>
            </a:r>
            <a:r>
              <a:rPr sz="1550" spc="-55" dirty="0">
                <a:latin typeface="Arial"/>
                <a:cs typeface="Arial"/>
              </a:rPr>
              <a:t>periódicas </a:t>
            </a:r>
            <a:r>
              <a:rPr sz="1550" spc="-70" dirty="0">
                <a:latin typeface="Arial"/>
                <a:cs typeface="Arial"/>
              </a:rPr>
              <a:t>para</a:t>
            </a:r>
            <a:r>
              <a:rPr sz="1550" spc="-229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determinar  </a:t>
            </a:r>
            <a:r>
              <a:rPr sz="1550" spc="-75" dirty="0">
                <a:latin typeface="Arial"/>
                <a:cs typeface="Arial"/>
              </a:rPr>
              <a:t>si </a:t>
            </a:r>
            <a:r>
              <a:rPr sz="1550" spc="-60" dirty="0">
                <a:latin typeface="Arial"/>
                <a:cs typeface="Arial"/>
              </a:rPr>
              <a:t>deben </a:t>
            </a:r>
            <a:r>
              <a:rPr sz="1550" spc="-50" dirty="0">
                <a:latin typeface="Arial"/>
                <a:cs typeface="Arial"/>
              </a:rPr>
              <a:t>modificarse </a:t>
            </a:r>
            <a:r>
              <a:rPr sz="1550" spc="-60" dirty="0">
                <a:latin typeface="Arial"/>
                <a:cs typeface="Arial"/>
              </a:rPr>
              <a:t>los </a:t>
            </a:r>
            <a:r>
              <a:rPr sz="1550" spc="-40" dirty="0">
                <a:latin typeface="Arial"/>
                <a:cs typeface="Arial"/>
              </a:rPr>
              <a:t>perfiles </a:t>
            </a:r>
            <a:r>
              <a:rPr sz="1550" spc="-65" dirty="0">
                <a:latin typeface="Arial"/>
                <a:cs typeface="Arial"/>
              </a:rPr>
              <a:t>de  riesgo </a:t>
            </a:r>
            <a:r>
              <a:rPr sz="1550" spc="-35" dirty="0">
                <a:latin typeface="Arial"/>
                <a:cs typeface="Arial"/>
              </a:rPr>
              <a:t>o </a:t>
            </a:r>
            <a:r>
              <a:rPr sz="1550" spc="-50" dirty="0">
                <a:latin typeface="Arial"/>
                <a:cs typeface="Arial"/>
              </a:rPr>
              <a:t>la </a:t>
            </a:r>
            <a:r>
              <a:rPr sz="1550" spc="-30" dirty="0">
                <a:latin typeface="Arial"/>
                <a:cs typeface="Arial"/>
              </a:rPr>
              <a:t>arquitectura </a:t>
            </a:r>
            <a:r>
              <a:rPr sz="1550" spc="-65" dirty="0">
                <a:latin typeface="Arial"/>
                <a:cs typeface="Arial"/>
              </a:rPr>
              <a:t>de</a:t>
            </a:r>
            <a:r>
              <a:rPr sz="1550" spc="-285" dirty="0">
                <a:latin typeface="Arial"/>
                <a:cs typeface="Arial"/>
              </a:rPr>
              <a:t> </a:t>
            </a:r>
            <a:r>
              <a:rPr sz="1550" spc="-25" dirty="0">
                <a:latin typeface="Arial"/>
                <a:cs typeface="Arial"/>
              </a:rPr>
              <a:t>control.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51653" y="3568446"/>
            <a:ext cx="2674620" cy="2303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53178" y="5804153"/>
            <a:ext cx="2814955" cy="114300"/>
          </a:xfrm>
          <a:custGeom>
            <a:avLst/>
            <a:gdLst/>
            <a:ahLst/>
            <a:cxnLst/>
            <a:rect l="l" t="t" r="r" b="b"/>
            <a:pathLst>
              <a:path w="2814954" h="114300">
                <a:moveTo>
                  <a:pt x="2700528" y="0"/>
                </a:moveTo>
                <a:lnTo>
                  <a:pt x="2700528" y="114300"/>
                </a:lnTo>
                <a:lnTo>
                  <a:pt x="2776728" y="76200"/>
                </a:lnTo>
                <a:lnTo>
                  <a:pt x="2719578" y="76200"/>
                </a:lnTo>
                <a:lnTo>
                  <a:pt x="2719578" y="38100"/>
                </a:lnTo>
                <a:lnTo>
                  <a:pt x="2776728" y="38100"/>
                </a:lnTo>
                <a:lnTo>
                  <a:pt x="2700528" y="0"/>
                </a:lnTo>
                <a:close/>
              </a:path>
              <a:path w="2814954" h="114300">
                <a:moveTo>
                  <a:pt x="270052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2700528" y="76200"/>
                </a:lnTo>
                <a:lnTo>
                  <a:pt x="2700528" y="38100"/>
                </a:lnTo>
                <a:close/>
              </a:path>
              <a:path w="2814954" h="114300">
                <a:moveTo>
                  <a:pt x="2776728" y="38100"/>
                </a:moveTo>
                <a:lnTo>
                  <a:pt x="2719578" y="38100"/>
                </a:lnTo>
                <a:lnTo>
                  <a:pt x="2719578" y="76200"/>
                </a:lnTo>
                <a:lnTo>
                  <a:pt x="2776728" y="76200"/>
                </a:lnTo>
                <a:lnTo>
                  <a:pt x="2814828" y="57150"/>
                </a:lnTo>
                <a:lnTo>
                  <a:pt x="277672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96028" y="3400805"/>
            <a:ext cx="114300" cy="2460625"/>
          </a:xfrm>
          <a:custGeom>
            <a:avLst/>
            <a:gdLst/>
            <a:ahLst/>
            <a:cxnLst/>
            <a:rect l="l" t="t" r="r" b="b"/>
            <a:pathLst>
              <a:path w="114300" h="2460625">
                <a:moveTo>
                  <a:pt x="76200" y="95250"/>
                </a:moveTo>
                <a:lnTo>
                  <a:pt x="38100" y="95250"/>
                </a:lnTo>
                <a:lnTo>
                  <a:pt x="38100" y="2460498"/>
                </a:lnTo>
                <a:lnTo>
                  <a:pt x="76200" y="2460498"/>
                </a:lnTo>
                <a:lnTo>
                  <a:pt x="76200" y="95250"/>
                </a:lnTo>
                <a:close/>
              </a:path>
              <a:path w="114300" h="2460625">
                <a:moveTo>
                  <a:pt x="57150" y="0"/>
                </a:move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104775" y="95250"/>
                </a:lnTo>
                <a:lnTo>
                  <a:pt x="57150" y="0"/>
                </a:lnTo>
                <a:close/>
              </a:path>
              <a:path w="114300" h="2460625">
                <a:moveTo>
                  <a:pt x="104775" y="95250"/>
                </a:move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lnTo>
                  <a:pt x="104775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17946" y="5886196"/>
            <a:ext cx="605155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b="1" spc="-85" dirty="0">
                <a:latin typeface="Trebuchet MS"/>
                <a:cs typeface="Trebuchet MS"/>
              </a:rPr>
              <a:t>EFECTO</a:t>
            </a:r>
            <a:r>
              <a:rPr sz="1000" b="1" spc="-114" dirty="0">
                <a:latin typeface="Trebuchet MS"/>
                <a:cs typeface="Trebuchet MS"/>
              </a:rPr>
              <a:t> </a:t>
            </a:r>
            <a:r>
              <a:rPr sz="1000" b="1" spc="-60" dirty="0">
                <a:latin typeface="Trebuchet MS"/>
                <a:cs typeface="Trebuchet MS"/>
              </a:rPr>
              <a:t>($)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4514" y="4345438"/>
            <a:ext cx="154305" cy="10439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60"/>
              </a:lnSpc>
            </a:pPr>
            <a:r>
              <a:rPr sz="1000" b="1" spc="-35" dirty="0">
                <a:latin typeface="Trebuchet MS"/>
                <a:cs typeface="Trebuchet MS"/>
              </a:rPr>
              <a:t>PROBABILIDAD</a:t>
            </a:r>
            <a:r>
              <a:rPr sz="1000" b="1" spc="-95" dirty="0">
                <a:latin typeface="Trebuchet MS"/>
                <a:cs typeface="Trebuchet MS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(%)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97473" y="3147822"/>
            <a:ext cx="2321052" cy="1969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01896" y="2867405"/>
            <a:ext cx="3728085" cy="3305175"/>
          </a:xfrm>
          <a:custGeom>
            <a:avLst/>
            <a:gdLst/>
            <a:ahLst/>
            <a:cxnLst/>
            <a:rect l="l" t="t" r="r" b="b"/>
            <a:pathLst>
              <a:path w="3728084" h="3305175">
                <a:moveTo>
                  <a:pt x="0" y="89916"/>
                </a:moveTo>
                <a:lnTo>
                  <a:pt x="7066" y="54917"/>
                </a:lnTo>
                <a:lnTo>
                  <a:pt x="26336" y="26336"/>
                </a:lnTo>
                <a:lnTo>
                  <a:pt x="54917" y="7066"/>
                </a:lnTo>
                <a:lnTo>
                  <a:pt x="89915" y="0"/>
                </a:lnTo>
                <a:lnTo>
                  <a:pt x="3637787" y="0"/>
                </a:lnTo>
                <a:lnTo>
                  <a:pt x="3672786" y="7066"/>
                </a:lnTo>
                <a:lnTo>
                  <a:pt x="3701367" y="26336"/>
                </a:lnTo>
                <a:lnTo>
                  <a:pt x="3720637" y="54917"/>
                </a:lnTo>
                <a:lnTo>
                  <a:pt x="3727704" y="89916"/>
                </a:lnTo>
                <a:lnTo>
                  <a:pt x="3727704" y="3214839"/>
                </a:lnTo>
                <a:lnTo>
                  <a:pt x="3720637" y="3249854"/>
                </a:lnTo>
                <a:lnTo>
                  <a:pt x="3701367" y="3278447"/>
                </a:lnTo>
                <a:lnTo>
                  <a:pt x="3672786" y="3297725"/>
                </a:lnTo>
                <a:lnTo>
                  <a:pt x="3637787" y="3304794"/>
                </a:lnTo>
                <a:lnTo>
                  <a:pt x="89915" y="3304794"/>
                </a:lnTo>
                <a:lnTo>
                  <a:pt x="54917" y="3297725"/>
                </a:lnTo>
                <a:lnTo>
                  <a:pt x="26336" y="3278447"/>
                </a:lnTo>
                <a:lnTo>
                  <a:pt x="7066" y="3249854"/>
                </a:lnTo>
                <a:lnTo>
                  <a:pt x="0" y="3214839"/>
                </a:lnTo>
                <a:lnTo>
                  <a:pt x="0" y="89916"/>
                </a:lnTo>
                <a:close/>
              </a:path>
            </a:pathLst>
          </a:custGeom>
          <a:ln w="6096">
            <a:solidFill>
              <a:srgbClr val="00000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68006" y="3147822"/>
            <a:ext cx="350520" cy="351790"/>
          </a:xfrm>
          <a:custGeom>
            <a:avLst/>
            <a:gdLst/>
            <a:ahLst/>
            <a:cxnLst/>
            <a:rect l="l" t="t" r="r" b="b"/>
            <a:pathLst>
              <a:path w="350520" h="351789">
                <a:moveTo>
                  <a:pt x="175260" y="0"/>
                </a:moveTo>
                <a:lnTo>
                  <a:pt x="128675" y="6272"/>
                </a:lnTo>
                <a:lnTo>
                  <a:pt x="86811" y="23974"/>
                </a:lnTo>
                <a:lnTo>
                  <a:pt x="51339" y="51435"/>
                </a:lnTo>
                <a:lnTo>
                  <a:pt x="23932" y="86980"/>
                </a:lnTo>
                <a:lnTo>
                  <a:pt x="6261" y="128940"/>
                </a:lnTo>
                <a:lnTo>
                  <a:pt x="0" y="175640"/>
                </a:lnTo>
                <a:lnTo>
                  <a:pt x="6261" y="222341"/>
                </a:lnTo>
                <a:lnTo>
                  <a:pt x="23932" y="264301"/>
                </a:lnTo>
                <a:lnTo>
                  <a:pt x="51339" y="299846"/>
                </a:lnTo>
                <a:lnTo>
                  <a:pt x="86811" y="327307"/>
                </a:lnTo>
                <a:lnTo>
                  <a:pt x="128675" y="345009"/>
                </a:lnTo>
                <a:lnTo>
                  <a:pt x="175260" y="351281"/>
                </a:lnTo>
                <a:lnTo>
                  <a:pt x="221844" y="345009"/>
                </a:lnTo>
                <a:lnTo>
                  <a:pt x="263708" y="327307"/>
                </a:lnTo>
                <a:lnTo>
                  <a:pt x="299180" y="299846"/>
                </a:lnTo>
                <a:lnTo>
                  <a:pt x="326587" y="264301"/>
                </a:lnTo>
                <a:lnTo>
                  <a:pt x="344258" y="222341"/>
                </a:lnTo>
                <a:lnTo>
                  <a:pt x="350520" y="175640"/>
                </a:lnTo>
                <a:lnTo>
                  <a:pt x="344258" y="128940"/>
                </a:lnTo>
                <a:lnTo>
                  <a:pt x="326587" y="86980"/>
                </a:lnTo>
                <a:lnTo>
                  <a:pt x="299180" y="51435"/>
                </a:lnTo>
                <a:lnTo>
                  <a:pt x="263708" y="23974"/>
                </a:lnTo>
                <a:lnTo>
                  <a:pt x="221844" y="6272"/>
                </a:lnTo>
                <a:lnTo>
                  <a:pt x="1752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68006" y="3147822"/>
            <a:ext cx="350520" cy="351790"/>
          </a:xfrm>
          <a:custGeom>
            <a:avLst/>
            <a:gdLst/>
            <a:ahLst/>
            <a:cxnLst/>
            <a:rect l="l" t="t" r="r" b="b"/>
            <a:pathLst>
              <a:path w="350520" h="351789">
                <a:moveTo>
                  <a:pt x="0" y="175640"/>
                </a:moveTo>
                <a:lnTo>
                  <a:pt x="6261" y="128940"/>
                </a:lnTo>
                <a:lnTo>
                  <a:pt x="23932" y="86980"/>
                </a:lnTo>
                <a:lnTo>
                  <a:pt x="51339" y="51435"/>
                </a:lnTo>
                <a:lnTo>
                  <a:pt x="86811" y="23974"/>
                </a:lnTo>
                <a:lnTo>
                  <a:pt x="128675" y="6272"/>
                </a:lnTo>
                <a:lnTo>
                  <a:pt x="175260" y="0"/>
                </a:lnTo>
                <a:lnTo>
                  <a:pt x="221844" y="6272"/>
                </a:lnTo>
                <a:lnTo>
                  <a:pt x="263708" y="23974"/>
                </a:lnTo>
                <a:lnTo>
                  <a:pt x="299180" y="51435"/>
                </a:lnTo>
                <a:lnTo>
                  <a:pt x="326587" y="86980"/>
                </a:lnTo>
                <a:lnTo>
                  <a:pt x="344258" y="128940"/>
                </a:lnTo>
                <a:lnTo>
                  <a:pt x="350520" y="175640"/>
                </a:lnTo>
                <a:lnTo>
                  <a:pt x="344258" y="222341"/>
                </a:lnTo>
                <a:lnTo>
                  <a:pt x="326587" y="264301"/>
                </a:lnTo>
                <a:lnTo>
                  <a:pt x="299180" y="299846"/>
                </a:lnTo>
                <a:lnTo>
                  <a:pt x="263708" y="327307"/>
                </a:lnTo>
                <a:lnTo>
                  <a:pt x="221844" y="345009"/>
                </a:lnTo>
                <a:lnTo>
                  <a:pt x="175260" y="351281"/>
                </a:lnTo>
                <a:lnTo>
                  <a:pt x="128675" y="345009"/>
                </a:lnTo>
                <a:lnTo>
                  <a:pt x="86811" y="327307"/>
                </a:lnTo>
                <a:lnTo>
                  <a:pt x="51339" y="299846"/>
                </a:lnTo>
                <a:lnTo>
                  <a:pt x="23932" y="264301"/>
                </a:lnTo>
                <a:lnTo>
                  <a:pt x="6261" y="222341"/>
                </a:lnTo>
                <a:lnTo>
                  <a:pt x="0" y="175640"/>
                </a:lnTo>
                <a:close/>
              </a:path>
            </a:pathLst>
          </a:custGeom>
          <a:ln w="76200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768590" y="3155188"/>
            <a:ext cx="14986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55" dirty="0">
                <a:solidFill>
                  <a:srgbClr val="FF3300"/>
                </a:solidFill>
                <a:latin typeface="Trebuchet MS"/>
                <a:cs typeface="Trebuchet MS"/>
              </a:rPr>
              <a:t>C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44</a:t>
            </a:fld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93917" y="4015994"/>
            <a:ext cx="1484630" cy="644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01499"/>
              </a:lnSpc>
              <a:spcBef>
                <a:spcPts val="95"/>
              </a:spcBef>
            </a:pPr>
            <a:r>
              <a:rPr sz="1000" b="1" spc="-85" dirty="0">
                <a:latin typeface="Trebuchet MS"/>
                <a:cs typeface="Trebuchet MS"/>
              </a:rPr>
              <a:t>EFECTO </a:t>
            </a:r>
            <a:r>
              <a:rPr sz="1000" b="1" spc="-40" dirty="0">
                <a:latin typeface="Trebuchet MS"/>
                <a:cs typeface="Trebuchet MS"/>
              </a:rPr>
              <a:t>DE </a:t>
            </a:r>
            <a:r>
              <a:rPr sz="1000" b="1" spc="-60" dirty="0">
                <a:latin typeface="Trebuchet MS"/>
                <a:cs typeface="Trebuchet MS"/>
              </a:rPr>
              <a:t>LAS </a:t>
            </a:r>
            <a:r>
              <a:rPr sz="1000" b="1" dirty="0">
                <a:latin typeface="Trebuchet MS"/>
                <a:cs typeface="Trebuchet MS"/>
              </a:rPr>
              <a:t>MEDIDAS  </a:t>
            </a:r>
            <a:r>
              <a:rPr sz="1000" b="1" spc="-55" dirty="0">
                <a:latin typeface="Trebuchet MS"/>
                <a:cs typeface="Trebuchet MS"/>
              </a:rPr>
              <a:t>CORRECTIVAS </a:t>
            </a:r>
            <a:r>
              <a:rPr sz="1000" b="1" spc="-50" dirty="0">
                <a:latin typeface="Trebuchet MS"/>
                <a:cs typeface="Trebuchet MS"/>
              </a:rPr>
              <a:t>CONTRA</a:t>
            </a:r>
            <a:r>
              <a:rPr sz="1000" b="1" spc="-95" dirty="0">
                <a:latin typeface="Trebuchet MS"/>
                <a:cs typeface="Trebuchet MS"/>
              </a:rPr>
              <a:t> </a:t>
            </a:r>
            <a:r>
              <a:rPr sz="1000" b="1" spc="-65" dirty="0">
                <a:latin typeface="Trebuchet MS"/>
                <a:cs typeface="Trebuchet MS"/>
              </a:rPr>
              <a:t>LOS  </a:t>
            </a:r>
            <a:r>
              <a:rPr sz="1000" b="1" spc="-35" dirty="0">
                <a:latin typeface="Trebuchet MS"/>
                <a:cs typeface="Trebuchet MS"/>
              </a:rPr>
              <a:t>RIESGOS </a:t>
            </a:r>
            <a:r>
              <a:rPr sz="1000" b="1" spc="-55" dirty="0">
                <a:latin typeface="Trebuchet MS"/>
                <a:cs typeface="Trebuchet MS"/>
              </a:rPr>
              <a:t>(ES DECIR, </a:t>
            </a:r>
            <a:r>
              <a:rPr sz="1000" b="1" spc="-60" dirty="0">
                <a:latin typeface="Trebuchet MS"/>
                <a:cs typeface="Trebuchet MS"/>
              </a:rPr>
              <a:t>LOS  CONTROLES)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8197" y="5351271"/>
            <a:ext cx="1153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800000"/>
                </a:solidFill>
                <a:latin typeface="Trebuchet MS"/>
                <a:cs typeface="Trebuchet MS"/>
              </a:rPr>
              <a:t>RIESGO</a:t>
            </a:r>
            <a:r>
              <a:rPr sz="1200" b="1" spc="-140" dirty="0">
                <a:solidFill>
                  <a:srgbClr val="800000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800000"/>
                </a:solidFill>
                <a:latin typeface="Trebuchet MS"/>
                <a:cs typeface="Trebuchet MS"/>
              </a:rPr>
              <a:t>RESIDUAL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51044" y="3942027"/>
            <a:ext cx="177800" cy="11537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50" dirty="0">
                <a:solidFill>
                  <a:srgbClr val="800000"/>
                </a:solidFill>
                <a:latin typeface="Trebuchet MS"/>
                <a:cs typeface="Trebuchet MS"/>
              </a:rPr>
              <a:t>RIESGO</a:t>
            </a:r>
            <a:r>
              <a:rPr sz="1200" b="1" spc="-140" dirty="0">
                <a:solidFill>
                  <a:srgbClr val="800000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800000"/>
                </a:solidFill>
                <a:latin typeface="Trebuchet MS"/>
                <a:cs typeface="Trebuchet MS"/>
              </a:rPr>
              <a:t>RESIDUAL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9250" y="1905025"/>
            <a:ext cx="1158240" cy="520700"/>
          </a:xfrm>
          <a:custGeom>
            <a:avLst/>
            <a:gdLst/>
            <a:ahLst/>
            <a:cxnLst/>
            <a:rect l="l" t="t" r="r" b="b"/>
            <a:pathLst>
              <a:path w="1158240" h="520700">
                <a:moveTo>
                  <a:pt x="0" y="520293"/>
                </a:moveTo>
                <a:lnTo>
                  <a:pt x="1158036" y="520293"/>
                </a:lnTo>
                <a:lnTo>
                  <a:pt x="1158036" y="0"/>
                </a:lnTo>
                <a:lnTo>
                  <a:pt x="0" y="0"/>
                </a:lnTo>
                <a:lnTo>
                  <a:pt x="0" y="520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07236" y="1905025"/>
            <a:ext cx="1244600" cy="520700"/>
          </a:xfrm>
          <a:custGeom>
            <a:avLst/>
            <a:gdLst/>
            <a:ahLst/>
            <a:cxnLst/>
            <a:rect l="l" t="t" r="r" b="b"/>
            <a:pathLst>
              <a:path w="1244600" h="520700">
                <a:moveTo>
                  <a:pt x="0" y="520293"/>
                </a:moveTo>
                <a:lnTo>
                  <a:pt x="1244130" y="520293"/>
                </a:lnTo>
                <a:lnTo>
                  <a:pt x="1244130" y="0"/>
                </a:lnTo>
                <a:lnTo>
                  <a:pt x="0" y="0"/>
                </a:lnTo>
                <a:lnTo>
                  <a:pt x="0" y="520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51454" y="1905025"/>
            <a:ext cx="1502410" cy="520700"/>
          </a:xfrm>
          <a:custGeom>
            <a:avLst/>
            <a:gdLst/>
            <a:ahLst/>
            <a:cxnLst/>
            <a:rect l="l" t="t" r="r" b="b"/>
            <a:pathLst>
              <a:path w="1502410" h="520700">
                <a:moveTo>
                  <a:pt x="0" y="520293"/>
                </a:moveTo>
                <a:lnTo>
                  <a:pt x="1502409" y="520293"/>
                </a:lnTo>
                <a:lnTo>
                  <a:pt x="1502409" y="0"/>
                </a:lnTo>
                <a:lnTo>
                  <a:pt x="0" y="0"/>
                </a:lnTo>
                <a:lnTo>
                  <a:pt x="0" y="520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53865" y="1905025"/>
            <a:ext cx="1393825" cy="520700"/>
          </a:xfrm>
          <a:custGeom>
            <a:avLst/>
            <a:gdLst/>
            <a:ahLst/>
            <a:cxnLst/>
            <a:rect l="l" t="t" r="r" b="b"/>
            <a:pathLst>
              <a:path w="1393825" h="520700">
                <a:moveTo>
                  <a:pt x="0" y="520293"/>
                </a:moveTo>
                <a:lnTo>
                  <a:pt x="1393698" y="520293"/>
                </a:lnTo>
                <a:lnTo>
                  <a:pt x="1393698" y="0"/>
                </a:lnTo>
                <a:lnTo>
                  <a:pt x="0" y="0"/>
                </a:lnTo>
                <a:lnTo>
                  <a:pt x="0" y="520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47563" y="1905025"/>
            <a:ext cx="1459865" cy="520700"/>
          </a:xfrm>
          <a:custGeom>
            <a:avLst/>
            <a:gdLst/>
            <a:ahLst/>
            <a:cxnLst/>
            <a:rect l="l" t="t" r="r" b="b"/>
            <a:pathLst>
              <a:path w="1459865" h="520700">
                <a:moveTo>
                  <a:pt x="0" y="520293"/>
                </a:moveTo>
                <a:lnTo>
                  <a:pt x="1459357" y="520293"/>
                </a:lnTo>
                <a:lnTo>
                  <a:pt x="1459357" y="0"/>
                </a:lnTo>
                <a:lnTo>
                  <a:pt x="0" y="0"/>
                </a:lnTo>
                <a:lnTo>
                  <a:pt x="0" y="520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06919" y="1905025"/>
            <a:ext cx="1656080" cy="520700"/>
          </a:xfrm>
          <a:custGeom>
            <a:avLst/>
            <a:gdLst/>
            <a:ahLst/>
            <a:cxnLst/>
            <a:rect l="l" t="t" r="r" b="b"/>
            <a:pathLst>
              <a:path w="1656079" h="520700">
                <a:moveTo>
                  <a:pt x="0" y="520293"/>
                </a:moveTo>
                <a:lnTo>
                  <a:pt x="1656079" y="520293"/>
                </a:lnTo>
                <a:lnTo>
                  <a:pt x="1656079" y="0"/>
                </a:lnTo>
                <a:lnTo>
                  <a:pt x="0" y="0"/>
                </a:lnTo>
                <a:lnTo>
                  <a:pt x="0" y="5202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90" y="2000250"/>
            <a:ext cx="844296" cy="399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1841" y="2000250"/>
            <a:ext cx="472440" cy="399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14677" y="2000250"/>
            <a:ext cx="1044702" cy="399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79242" y="1893570"/>
            <a:ext cx="639318" cy="399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18153" y="1893570"/>
            <a:ext cx="462534" cy="3992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07614" y="2106929"/>
            <a:ext cx="1006601" cy="3992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93335" y="1893570"/>
            <a:ext cx="771143" cy="3992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2741" y="2106929"/>
            <a:ext cx="1091946" cy="3992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04915" y="2000250"/>
            <a:ext cx="1159764" cy="3992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06640" y="2000250"/>
            <a:ext cx="1072896" cy="3992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34962" y="1890712"/>
          <a:ext cx="8416922" cy="4578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9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7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0385"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4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Impacto</a:t>
                      </a:r>
                      <a:r>
                        <a:rPr sz="1400" b="1" spc="-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en: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4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Resultados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0" marR="346075" indent="7112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400" b="1" spc="-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Toma </a:t>
                      </a:r>
                      <a:r>
                        <a:rPr sz="14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 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decisio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3210" marR="249554" indent="18034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400" b="1" spc="-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Legal </a:t>
                      </a:r>
                      <a:r>
                        <a:rPr sz="1400" b="1" spc="5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/ 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egu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orio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8130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Operaciones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sz="14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Reputación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b="1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Muy</a:t>
                      </a:r>
                      <a:r>
                        <a:rPr sz="1400" b="1" spc="-1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Bajo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26670" algn="ctr">
                        <a:lnSpc>
                          <a:spcPct val="100000"/>
                        </a:lnSpc>
                      </a:pPr>
                      <a:r>
                        <a:rPr sz="900" spc="-55" dirty="0">
                          <a:latin typeface="Arial"/>
                          <a:cs typeface="Arial"/>
                        </a:rPr>
                        <a:t>Genera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pérdidas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entre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7940" algn="ctr">
                        <a:lnSpc>
                          <a:spcPct val="100000"/>
                        </a:lnSpc>
                      </a:pPr>
                      <a:r>
                        <a:rPr sz="900" spc="-45" dirty="0">
                          <a:latin typeface="Arial"/>
                          <a:cs typeface="Arial"/>
                        </a:rPr>
                        <a:t>$5.000 and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$10.000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 marR="96520" indent="-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900" spc="-100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acciones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requeridas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mitigar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riesgo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pueden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ser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delegadas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staff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compañía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 marR="18669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-80" dirty="0">
                          <a:latin typeface="Arial"/>
                          <a:cs typeface="Arial"/>
                        </a:rPr>
                        <a:t>Con 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pocas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demandas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legales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contra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compañía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 marR="14668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menor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que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no 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resulta percibido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9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clientes.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 marR="88900" indent="-635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menor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reputación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mercado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y en</a:t>
                      </a:r>
                      <a:r>
                        <a:rPr sz="9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 valor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marca.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Bajo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33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sz="900" spc="-55" dirty="0">
                          <a:latin typeface="Arial"/>
                          <a:cs typeface="Arial"/>
                        </a:rPr>
                        <a:t>Genera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pérdidas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entre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sz="900" spc="-45" dirty="0">
                          <a:latin typeface="Arial"/>
                          <a:cs typeface="Arial"/>
                        </a:rPr>
                        <a:t>$10.000 and</a:t>
                      </a:r>
                      <a:r>
                        <a:rPr sz="9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$50.000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2080" marR="97790" algn="ctr">
                        <a:lnSpc>
                          <a:spcPct val="100000"/>
                        </a:lnSpc>
                      </a:pPr>
                      <a:r>
                        <a:rPr sz="900" spc="-100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acciones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requeridas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mitigar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riesgo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pueden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ser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delegadas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Gerencia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Media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 marR="23812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55" dirty="0">
                          <a:latin typeface="Arial"/>
                          <a:cs typeface="Arial"/>
                        </a:rPr>
                        <a:t>Algunas</a:t>
                      </a:r>
                      <a:r>
                        <a:rPr sz="9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demandas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legales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contra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compañía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0" marR="12700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medio</a:t>
                      </a:r>
                      <a:r>
                        <a:rPr sz="9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percibido  parcialmente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clientes.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 marR="8890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medio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reputación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mercado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y en</a:t>
                      </a:r>
                      <a:r>
                        <a:rPr sz="9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 valor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marca.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marL="27940" algn="ctr">
                        <a:lnSpc>
                          <a:spcPct val="100000"/>
                        </a:lnSpc>
                      </a:pPr>
                      <a:r>
                        <a:rPr sz="1400" b="1" spc="-90" dirty="0">
                          <a:latin typeface="Trebuchet MS"/>
                          <a:cs typeface="Trebuchet MS"/>
                        </a:rPr>
                        <a:t>Severo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sz="900" spc="-55" dirty="0">
                          <a:latin typeface="Arial"/>
                          <a:cs typeface="Arial"/>
                        </a:rPr>
                        <a:t>Genera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pérdidas</a:t>
                      </a:r>
                      <a:r>
                        <a:rPr sz="9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entre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21920">
                        <a:lnSpc>
                          <a:spcPct val="100000"/>
                        </a:lnSpc>
                      </a:pPr>
                      <a:r>
                        <a:rPr sz="900" spc="-45" dirty="0">
                          <a:latin typeface="Arial"/>
                          <a:cs typeface="Arial"/>
                        </a:rPr>
                        <a:t>$50.000 and</a:t>
                      </a:r>
                      <a:r>
                        <a:rPr sz="900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$150.000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72415" marR="238760"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Muchas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demandas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legales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contra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compañía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 marR="113664" indent="-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mayor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percibido  parcialmente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clientes. 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Los 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KPIs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muestra 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cierta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caida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ante el</a:t>
                      </a:r>
                      <a:r>
                        <a:rPr sz="900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riesgo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 marR="99695" indent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alto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reputación 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mercado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y en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valor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marca. Pérdida de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mercado 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existente.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26670" algn="ctr">
                        <a:lnSpc>
                          <a:spcPct val="100000"/>
                        </a:lnSpc>
                      </a:pPr>
                      <a:r>
                        <a:rPr sz="1400" b="1" spc="-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Alto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6670" algn="ctr">
                        <a:lnSpc>
                          <a:spcPct val="100000"/>
                        </a:lnSpc>
                      </a:pPr>
                      <a:r>
                        <a:rPr sz="900" spc="-55" dirty="0">
                          <a:latin typeface="Arial"/>
                          <a:cs typeface="Arial"/>
                        </a:rPr>
                        <a:t>Genera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pérdidas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entre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7305"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$150.000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and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$450.000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2080" marR="97790" algn="ctr">
                        <a:lnSpc>
                          <a:spcPct val="100000"/>
                        </a:lnSpc>
                      </a:pPr>
                      <a:r>
                        <a:rPr sz="900" spc="-100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acciones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requeridas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mitigar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riesgo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pueden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ser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delegadas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Gerencia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Media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con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supervisión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Dirección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Ejecutiva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7165" marR="143510"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Muchísimas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demandas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legales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contra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compañía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114300" marR="83185" algn="ctr">
                        <a:lnSpc>
                          <a:spcPct val="100000"/>
                        </a:lnSpc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significativo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9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las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operaciones. 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Los 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KPIs 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se 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hallan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vulnerados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los  riesgos.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 marR="8890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significativo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reputación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mercado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y en</a:t>
                      </a:r>
                      <a:r>
                        <a:rPr sz="9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 valor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marca. 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Se 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encuentran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riesgo 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las 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alianzas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estratégicas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firma. 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Se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registran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pérdidas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posicionamiento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mercado.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6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99720" marR="216535" indent="-48260">
                        <a:lnSpc>
                          <a:spcPct val="100000"/>
                        </a:lnSpc>
                      </a:pPr>
                      <a:r>
                        <a:rPr sz="1400" b="1" spc="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Muy</a:t>
                      </a:r>
                      <a:r>
                        <a:rPr sz="1400" b="1" spc="-19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b="1" spc="-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Alto  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(Crítico)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2555" marR="86995" indent="129539">
                        <a:lnSpc>
                          <a:spcPct val="100000"/>
                        </a:lnSpc>
                      </a:pPr>
                      <a:r>
                        <a:rPr sz="900" spc="-55" dirty="0">
                          <a:latin typeface="Arial"/>
                          <a:cs typeface="Arial"/>
                        </a:rPr>
                        <a:t>Genera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pérdidas  superiores 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$450.000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210185" marR="176530" algn="ctr">
                        <a:lnSpc>
                          <a:spcPct val="100000"/>
                        </a:lnSpc>
                      </a:pPr>
                      <a:r>
                        <a:rPr sz="900" spc="-100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acciones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requeridas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mitigar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riesgo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deberán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ser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formuladas 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directamente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por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Dirección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Ejecutiva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1125" marR="78105" indent="-635" algn="ctr">
                        <a:lnSpc>
                          <a:spcPct val="100000"/>
                        </a:lnSpc>
                      </a:pPr>
                      <a:r>
                        <a:rPr sz="900" spc="-65" dirty="0">
                          <a:latin typeface="Arial"/>
                          <a:cs typeface="Arial"/>
                        </a:rPr>
                        <a:t>Demandas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legales  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masivas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que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colocan en  riesgo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supervivencia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corporación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0" marR="83820" indent="635" algn="ctr">
                        <a:lnSpc>
                          <a:spcPct val="100000"/>
                        </a:lnSpc>
                      </a:pPr>
                      <a:r>
                        <a:rPr sz="900" spc="-30" dirty="0">
                          <a:latin typeface="Arial"/>
                          <a:cs typeface="Arial"/>
                        </a:rPr>
                        <a:t>Impacto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catastrófico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900" spc="-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las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operaciones 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firma.</a:t>
                      </a:r>
                      <a:r>
                        <a:rPr sz="9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Se 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encuentra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riesgo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supervivencia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9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firma.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 marR="76200" indent="-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900" spc="-35" dirty="0">
                          <a:latin typeface="Arial"/>
                          <a:cs typeface="Arial"/>
                        </a:rPr>
                        <a:t>Quiebre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alianzas 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estratégicas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con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impacto</a:t>
                      </a:r>
                      <a:r>
                        <a:rPr sz="9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crítico 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reputación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mercado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y  en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 valor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marca.</a:t>
                      </a:r>
                      <a:r>
                        <a:rPr sz="90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Pérdida 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crítica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posicionamiento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en 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mercado.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377190" y="1035812"/>
            <a:ext cx="500697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55" dirty="0">
                <a:latin typeface="Trebuchet MS"/>
                <a:cs typeface="Trebuchet MS"/>
              </a:rPr>
              <a:t>¿Cómo </a:t>
            </a:r>
            <a:r>
              <a:rPr sz="1600" b="1" spc="-90" dirty="0">
                <a:latin typeface="Trebuchet MS"/>
                <a:cs typeface="Trebuchet MS"/>
              </a:rPr>
              <a:t>evaluar </a:t>
            </a:r>
            <a:r>
              <a:rPr sz="1600" b="1" spc="-75" dirty="0">
                <a:latin typeface="Trebuchet MS"/>
                <a:cs typeface="Trebuchet MS"/>
              </a:rPr>
              <a:t>riesgos </a:t>
            </a:r>
            <a:r>
              <a:rPr sz="1600" b="1" spc="-80" dirty="0">
                <a:latin typeface="Trebuchet MS"/>
                <a:cs typeface="Trebuchet MS"/>
              </a:rPr>
              <a:t>una </a:t>
            </a:r>
            <a:r>
              <a:rPr sz="1600" b="1" spc="-140" dirty="0">
                <a:latin typeface="Trebuchet MS"/>
                <a:cs typeface="Trebuchet MS"/>
              </a:rPr>
              <a:t>vez </a:t>
            </a:r>
            <a:r>
              <a:rPr sz="1600" b="1" spc="-85" dirty="0">
                <a:latin typeface="Trebuchet MS"/>
                <a:cs typeface="Trebuchet MS"/>
              </a:rPr>
              <a:t>identificados </a:t>
            </a:r>
            <a:r>
              <a:rPr sz="1600" b="1" spc="-95" dirty="0">
                <a:latin typeface="Trebuchet MS"/>
                <a:cs typeface="Trebuchet MS"/>
              </a:rPr>
              <a:t>y</a:t>
            </a:r>
            <a:r>
              <a:rPr sz="1600" b="1" spc="-340" dirty="0">
                <a:latin typeface="Trebuchet MS"/>
                <a:cs typeface="Trebuchet MS"/>
              </a:rPr>
              <a:t> </a:t>
            </a:r>
            <a:r>
              <a:rPr sz="1600" b="1" spc="-65" dirty="0">
                <a:latin typeface="Trebuchet MS"/>
                <a:cs typeface="Trebuchet MS"/>
              </a:rPr>
              <a:t>formulados?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spc="-65" dirty="0">
                <a:latin typeface="Arial"/>
                <a:cs typeface="Arial"/>
              </a:rPr>
              <a:t>1.	</a:t>
            </a:r>
            <a:r>
              <a:rPr sz="1600" spc="-40" dirty="0">
                <a:latin typeface="Arial"/>
                <a:cs typeface="Arial"/>
              </a:rPr>
              <a:t>Definir </a:t>
            </a:r>
            <a:r>
              <a:rPr sz="1600" spc="-35" dirty="0">
                <a:latin typeface="Arial"/>
                <a:cs typeface="Arial"/>
              </a:rPr>
              <a:t>criterios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35" dirty="0">
                <a:latin typeface="Arial"/>
                <a:cs typeface="Arial"/>
              </a:rPr>
              <a:t>Magnitud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0" dirty="0">
                <a:latin typeface="Arial"/>
                <a:cs typeface="Arial"/>
              </a:rPr>
              <a:t>Impacto</a:t>
            </a:r>
            <a:r>
              <a:rPr sz="1600" spc="-260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(MI).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04378" y="1674748"/>
            <a:ext cx="901319" cy="70332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45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77190" y="1282192"/>
            <a:ext cx="46609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600" spc="-65" dirty="0">
                <a:latin typeface="Arial"/>
                <a:cs typeface="Arial"/>
              </a:rPr>
              <a:t>2.	</a:t>
            </a:r>
            <a:r>
              <a:rPr sz="1600" spc="-40" dirty="0">
                <a:latin typeface="Arial"/>
                <a:cs typeface="Arial"/>
              </a:rPr>
              <a:t>Definir </a:t>
            </a:r>
            <a:r>
              <a:rPr sz="1600" spc="-35" dirty="0">
                <a:latin typeface="Arial"/>
                <a:cs typeface="Arial"/>
              </a:rPr>
              <a:t>criterios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Probabilidad </a:t>
            </a:r>
            <a:r>
              <a:rPr sz="1600" spc="-75" dirty="0">
                <a:latin typeface="Arial"/>
                <a:cs typeface="Arial"/>
              </a:rPr>
              <a:t>de Ocurrencia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114" dirty="0">
                <a:latin typeface="Arial"/>
                <a:cs typeface="Arial"/>
              </a:rPr>
              <a:t>(PO).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74078" y="1887473"/>
            <a:ext cx="901319" cy="7033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0200" y="2397188"/>
            <a:ext cx="2891790" cy="337820"/>
          </a:xfrm>
          <a:custGeom>
            <a:avLst/>
            <a:gdLst/>
            <a:ahLst/>
            <a:cxnLst/>
            <a:rect l="l" t="t" r="r" b="b"/>
            <a:pathLst>
              <a:path w="2891790" h="337819">
                <a:moveTo>
                  <a:pt x="0" y="337375"/>
                </a:moveTo>
                <a:lnTo>
                  <a:pt x="2891408" y="337375"/>
                </a:lnTo>
                <a:lnTo>
                  <a:pt x="2891408" y="0"/>
                </a:lnTo>
                <a:lnTo>
                  <a:pt x="0" y="0"/>
                </a:lnTo>
                <a:lnTo>
                  <a:pt x="0" y="337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1609" y="2397188"/>
            <a:ext cx="2785745" cy="337820"/>
          </a:xfrm>
          <a:custGeom>
            <a:avLst/>
            <a:gdLst/>
            <a:ahLst/>
            <a:cxnLst/>
            <a:rect l="l" t="t" r="r" b="b"/>
            <a:pathLst>
              <a:path w="2785745" h="337819">
                <a:moveTo>
                  <a:pt x="0" y="337375"/>
                </a:moveTo>
                <a:lnTo>
                  <a:pt x="2785491" y="337375"/>
                </a:lnTo>
                <a:lnTo>
                  <a:pt x="2785491" y="0"/>
                </a:lnTo>
                <a:lnTo>
                  <a:pt x="0" y="0"/>
                </a:lnTo>
                <a:lnTo>
                  <a:pt x="0" y="3373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93850" y="2734564"/>
            <a:ext cx="5697855" cy="0"/>
          </a:xfrm>
          <a:custGeom>
            <a:avLst/>
            <a:gdLst/>
            <a:ahLst/>
            <a:cxnLst/>
            <a:rect l="l" t="t" r="r" b="b"/>
            <a:pathLst>
              <a:path w="5697855">
                <a:moveTo>
                  <a:pt x="0" y="0"/>
                </a:moveTo>
                <a:lnTo>
                  <a:pt x="569747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91817" y="2377439"/>
            <a:ext cx="1503426" cy="4556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79598" y="2377439"/>
            <a:ext cx="566165" cy="4556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72967" y="2377439"/>
            <a:ext cx="1345692" cy="4556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76265" y="2377439"/>
            <a:ext cx="1435608" cy="4556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593850" y="2382837"/>
          <a:ext cx="5676265" cy="2524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5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50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Probabilidad de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Ocurrencia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Descripción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Improbable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Una vez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cada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años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Remota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Una vez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al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año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185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Ocasional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Una vez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por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trimestre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Probable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6285" marR="407034" indent="-3276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Mensual en</a:t>
                      </a:r>
                      <a:r>
                        <a:rPr sz="16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repetidas  oportunidades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Elevada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0" marR="422909" indent="-5708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Hasta con</a:t>
                      </a:r>
                      <a:r>
                        <a:rPr sz="16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frecuencia  semanal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46</a:t>
            </a:fld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2212" y="1592257"/>
            <a:ext cx="4996937" cy="40062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19697" y="5855970"/>
            <a:ext cx="2078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35" dirty="0">
                <a:latin typeface="Trebuchet MS"/>
                <a:cs typeface="Trebuchet MS"/>
              </a:rPr>
              <a:t>Zona </a:t>
            </a:r>
            <a:r>
              <a:rPr sz="1800" b="1" i="1" spc="-114" dirty="0">
                <a:latin typeface="Trebuchet MS"/>
                <a:cs typeface="Trebuchet MS"/>
              </a:rPr>
              <a:t>de </a:t>
            </a:r>
            <a:r>
              <a:rPr sz="1800" b="1" i="1" spc="-120" dirty="0">
                <a:latin typeface="Trebuchet MS"/>
                <a:cs typeface="Trebuchet MS"/>
              </a:rPr>
              <a:t>mayor</a:t>
            </a:r>
            <a:r>
              <a:rPr sz="1800" b="1" i="1" spc="-200" dirty="0">
                <a:latin typeface="Trebuchet MS"/>
                <a:cs typeface="Trebuchet MS"/>
              </a:rPr>
              <a:t> </a:t>
            </a:r>
            <a:r>
              <a:rPr sz="1800" b="1" i="1" spc="-110" dirty="0">
                <a:latin typeface="Trebuchet MS"/>
                <a:cs typeface="Trebuchet MS"/>
              </a:rPr>
              <a:t>riesgo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73985" y="5762647"/>
            <a:ext cx="762000" cy="4575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64585" y="5715000"/>
            <a:ext cx="628650" cy="476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29075" y="5781698"/>
            <a:ext cx="752475" cy="4099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4856" y="5820895"/>
            <a:ext cx="1019542" cy="2758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63667" y="5567171"/>
            <a:ext cx="1308353" cy="9273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801873" y="2279904"/>
            <a:ext cx="2631948" cy="22753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7190" y="1163319"/>
            <a:ext cx="8580120" cy="397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sz="1600" spc="-55" dirty="0">
                <a:latin typeface="Arial"/>
                <a:cs typeface="Arial"/>
              </a:rPr>
              <a:t>Construir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65" dirty="0">
                <a:latin typeface="Arial"/>
                <a:cs typeface="Arial"/>
              </a:rPr>
              <a:t>Mapa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130" dirty="0">
                <a:latin typeface="Arial"/>
                <a:cs typeface="Arial"/>
              </a:rPr>
              <a:t>Riesgos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65" dirty="0">
                <a:latin typeface="Arial"/>
                <a:cs typeface="Arial"/>
              </a:rPr>
              <a:t>evaluar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15" dirty="0">
                <a:latin typeface="Arial"/>
                <a:cs typeface="Arial"/>
              </a:rPr>
              <a:t>perfil </a:t>
            </a:r>
            <a:r>
              <a:rPr sz="1600" spc="-50" dirty="0">
                <a:latin typeface="Arial"/>
                <a:cs typeface="Arial"/>
              </a:rPr>
              <a:t>del</a:t>
            </a:r>
            <a:r>
              <a:rPr sz="1600" spc="-31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proceso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eriod" startAt="3"/>
            </a:pPr>
            <a:endParaRPr sz="2000">
              <a:latin typeface="Times New Roman"/>
              <a:cs typeface="Times New Roman"/>
            </a:endParaRPr>
          </a:p>
          <a:p>
            <a:pPr marL="5060950" marR="5080" algn="just">
              <a:lnSpc>
                <a:spcPct val="100000"/>
              </a:lnSpc>
            </a:pPr>
            <a:r>
              <a:rPr sz="1400" spc="-150" dirty="0">
                <a:latin typeface="Arial"/>
                <a:cs typeface="Arial"/>
              </a:rPr>
              <a:t>En </a:t>
            </a:r>
            <a:r>
              <a:rPr sz="1400" spc="-35" dirty="0">
                <a:latin typeface="Arial"/>
                <a:cs typeface="Arial"/>
              </a:rPr>
              <a:t>función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55" dirty="0">
                <a:latin typeface="Arial"/>
                <a:cs typeface="Arial"/>
              </a:rPr>
              <a:t>la </a:t>
            </a:r>
            <a:r>
              <a:rPr sz="1400" spc="-40" dirty="0">
                <a:latin typeface="Arial"/>
                <a:cs typeface="Arial"/>
              </a:rPr>
              <a:t>lectura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35" dirty="0">
                <a:latin typeface="Arial"/>
                <a:cs typeface="Arial"/>
              </a:rPr>
              <a:t>el </a:t>
            </a:r>
            <a:r>
              <a:rPr sz="1400" spc="-70" dirty="0">
                <a:latin typeface="Arial"/>
                <a:cs typeface="Arial"/>
              </a:rPr>
              <a:t>análisis de </a:t>
            </a:r>
            <a:r>
              <a:rPr sz="1400" spc="-65" dirty="0">
                <a:latin typeface="Arial"/>
                <a:cs typeface="Arial"/>
              </a:rPr>
              <a:t>los  </a:t>
            </a:r>
            <a:r>
              <a:rPr sz="1400" spc="-60" dirty="0">
                <a:latin typeface="Arial"/>
                <a:cs typeface="Arial"/>
              </a:rPr>
              <a:t>documentos </a:t>
            </a:r>
            <a:r>
              <a:rPr sz="1400" spc="-75" dirty="0">
                <a:latin typeface="Arial"/>
                <a:cs typeface="Arial"/>
              </a:rPr>
              <a:t>(procesos, </a:t>
            </a:r>
            <a:r>
              <a:rPr sz="1400" spc="-50" dirty="0">
                <a:latin typeface="Arial"/>
                <a:cs typeface="Arial"/>
              </a:rPr>
              <a:t>procedimientos,  políticas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65" dirty="0">
                <a:latin typeface="Arial"/>
                <a:cs typeface="Arial"/>
              </a:rPr>
              <a:t>normas) </a:t>
            </a:r>
            <a:r>
              <a:rPr sz="1400" spc="-55" dirty="0">
                <a:latin typeface="Arial"/>
                <a:cs typeface="Arial"/>
              </a:rPr>
              <a:t>extendidos </a:t>
            </a:r>
            <a:r>
              <a:rPr sz="1400" spc="-25" dirty="0">
                <a:latin typeface="Arial"/>
                <a:cs typeface="Arial"/>
              </a:rPr>
              <a:t>por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25" dirty="0">
                <a:latin typeface="Arial"/>
                <a:cs typeface="Arial"/>
              </a:rPr>
              <a:t>firma </a:t>
            </a:r>
            <a:r>
              <a:rPr sz="1400" spc="-170" dirty="0">
                <a:latin typeface="Arial"/>
                <a:cs typeface="Arial"/>
              </a:rPr>
              <a:t>XXX,  </a:t>
            </a:r>
            <a:r>
              <a:rPr sz="1400" spc="-50" dirty="0">
                <a:latin typeface="Arial"/>
                <a:cs typeface="Arial"/>
              </a:rPr>
              <a:t>resulta </a:t>
            </a:r>
            <a:r>
              <a:rPr sz="1400" spc="-55" dirty="0">
                <a:latin typeface="Arial"/>
                <a:cs typeface="Arial"/>
              </a:rPr>
              <a:t>posible </a:t>
            </a:r>
            <a:r>
              <a:rPr sz="1400" spc="-45" dirty="0">
                <a:latin typeface="Arial"/>
                <a:cs typeface="Arial"/>
              </a:rPr>
              <a:t>concluir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que:</a:t>
            </a:r>
            <a:endParaRPr sz="1400">
              <a:latin typeface="Arial"/>
              <a:cs typeface="Arial"/>
            </a:endParaRPr>
          </a:p>
          <a:p>
            <a:pPr marL="5060950" marR="5715" lvl="1" algn="just">
              <a:lnSpc>
                <a:spcPct val="100000"/>
              </a:lnSpc>
              <a:buChar char="•"/>
              <a:tabLst>
                <a:tab pos="5163820" algn="l"/>
              </a:tabLst>
            </a:pPr>
            <a:r>
              <a:rPr sz="1400" spc="-125" dirty="0">
                <a:latin typeface="Arial"/>
                <a:cs typeface="Arial"/>
              </a:rPr>
              <a:t>El </a:t>
            </a:r>
            <a:r>
              <a:rPr sz="1400" spc="-165" dirty="0">
                <a:latin typeface="Arial"/>
                <a:cs typeface="Arial"/>
              </a:rPr>
              <a:t>1% </a:t>
            </a:r>
            <a:r>
              <a:rPr sz="1400" spc="-55" dirty="0">
                <a:latin typeface="Arial"/>
                <a:cs typeface="Arial"/>
              </a:rPr>
              <a:t>(2)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75" dirty="0">
                <a:latin typeface="Arial"/>
                <a:cs typeface="Arial"/>
              </a:rPr>
              <a:t>riesgos </a:t>
            </a:r>
            <a:r>
              <a:rPr sz="1400" spc="-40" dirty="0">
                <a:latin typeface="Arial"/>
                <a:cs typeface="Arial"/>
              </a:rPr>
              <a:t>identificados </a:t>
            </a:r>
            <a:r>
              <a:rPr sz="1400" spc="-85" dirty="0">
                <a:latin typeface="Arial"/>
                <a:cs typeface="Arial"/>
              </a:rPr>
              <a:t>posee  </a:t>
            </a:r>
            <a:r>
              <a:rPr sz="1400" spc="-30" dirty="0">
                <a:latin typeface="Arial"/>
                <a:cs typeface="Arial"/>
              </a:rPr>
              <a:t>criticidad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5" dirty="0">
                <a:latin typeface="Arial"/>
                <a:cs typeface="Arial"/>
              </a:rPr>
              <a:t>“Crítico”</a:t>
            </a:r>
            <a:r>
              <a:rPr sz="1400" b="1" spc="-105" dirty="0">
                <a:latin typeface="Trebuchet MS"/>
                <a:cs typeface="Trebuchet MS"/>
              </a:rPr>
              <a:t>;</a:t>
            </a:r>
            <a:endParaRPr sz="1400">
              <a:latin typeface="Trebuchet MS"/>
              <a:cs typeface="Trebuchet MS"/>
            </a:endParaRPr>
          </a:p>
          <a:p>
            <a:pPr marL="5060950" lvl="1">
              <a:lnSpc>
                <a:spcPct val="100000"/>
              </a:lnSpc>
              <a:buChar char="•"/>
              <a:tabLst>
                <a:tab pos="5163820" algn="l"/>
              </a:tabLst>
            </a:pPr>
            <a:r>
              <a:rPr sz="1400" spc="-125" dirty="0">
                <a:latin typeface="Arial"/>
                <a:cs typeface="Arial"/>
              </a:rPr>
              <a:t>El </a:t>
            </a:r>
            <a:r>
              <a:rPr sz="1400" spc="-165" dirty="0">
                <a:latin typeface="Arial"/>
                <a:cs typeface="Arial"/>
              </a:rPr>
              <a:t>6% </a:t>
            </a:r>
            <a:r>
              <a:rPr sz="1400" spc="-55" dirty="0">
                <a:latin typeface="Arial"/>
                <a:cs typeface="Arial"/>
              </a:rPr>
              <a:t>(8)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75" dirty="0">
                <a:latin typeface="Arial"/>
                <a:cs typeface="Arial"/>
              </a:rPr>
              <a:t>riesgos </a:t>
            </a:r>
            <a:r>
              <a:rPr sz="1400" spc="-40" dirty="0">
                <a:latin typeface="Arial"/>
                <a:cs typeface="Arial"/>
              </a:rPr>
              <a:t>identificados</a:t>
            </a:r>
            <a:r>
              <a:rPr sz="1400" spc="28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posee</a:t>
            </a:r>
            <a:endParaRPr sz="1400">
              <a:latin typeface="Arial"/>
              <a:cs typeface="Arial"/>
            </a:endParaRPr>
          </a:p>
          <a:p>
            <a:pPr marL="5060950">
              <a:lnSpc>
                <a:spcPct val="100000"/>
              </a:lnSpc>
            </a:pPr>
            <a:r>
              <a:rPr sz="1400" spc="-35" dirty="0">
                <a:latin typeface="Arial"/>
                <a:cs typeface="Arial"/>
              </a:rPr>
              <a:t>criticidad </a:t>
            </a:r>
            <a:r>
              <a:rPr sz="1400" b="1" spc="-70" dirty="0">
                <a:latin typeface="Arial"/>
                <a:cs typeface="Arial"/>
              </a:rPr>
              <a:t>“Muy</a:t>
            </a:r>
            <a:r>
              <a:rPr sz="1400" b="1" spc="-90" dirty="0">
                <a:latin typeface="Arial"/>
                <a:cs typeface="Arial"/>
              </a:rPr>
              <a:t> Alta”</a:t>
            </a:r>
            <a:r>
              <a:rPr sz="1400" b="1" spc="-90" dirty="0">
                <a:latin typeface="Trebuchet MS"/>
                <a:cs typeface="Trebuchet MS"/>
              </a:rPr>
              <a:t>;</a:t>
            </a:r>
            <a:endParaRPr sz="1400">
              <a:latin typeface="Trebuchet MS"/>
              <a:cs typeface="Trebuchet MS"/>
            </a:endParaRPr>
          </a:p>
          <a:p>
            <a:pPr marL="5060950" marR="5080" lvl="1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5163820" algn="l"/>
              </a:tabLst>
            </a:pPr>
            <a:r>
              <a:rPr sz="1400" spc="-125" dirty="0">
                <a:latin typeface="Arial"/>
                <a:cs typeface="Arial"/>
              </a:rPr>
              <a:t>El </a:t>
            </a:r>
            <a:r>
              <a:rPr sz="1400" spc="-130" dirty="0">
                <a:latin typeface="Arial"/>
                <a:cs typeface="Arial"/>
              </a:rPr>
              <a:t>14% </a:t>
            </a:r>
            <a:r>
              <a:rPr sz="1400" spc="-60" dirty="0">
                <a:latin typeface="Arial"/>
                <a:cs typeface="Arial"/>
              </a:rPr>
              <a:t>(20) </a:t>
            </a:r>
            <a:r>
              <a:rPr sz="1400" spc="-65" dirty="0">
                <a:latin typeface="Arial"/>
                <a:cs typeface="Arial"/>
              </a:rPr>
              <a:t>de los </a:t>
            </a:r>
            <a:r>
              <a:rPr sz="1400" spc="-80" dirty="0">
                <a:latin typeface="Arial"/>
                <a:cs typeface="Arial"/>
              </a:rPr>
              <a:t>riesgos </a:t>
            </a:r>
            <a:r>
              <a:rPr sz="1400" spc="-40" dirty="0">
                <a:latin typeface="Arial"/>
                <a:cs typeface="Arial"/>
              </a:rPr>
              <a:t>identificados </a:t>
            </a:r>
            <a:r>
              <a:rPr sz="1400" spc="-85" dirty="0">
                <a:latin typeface="Arial"/>
                <a:cs typeface="Arial"/>
              </a:rPr>
              <a:t>posee  </a:t>
            </a:r>
            <a:r>
              <a:rPr sz="1400" spc="-30" dirty="0">
                <a:latin typeface="Arial"/>
                <a:cs typeface="Arial"/>
              </a:rPr>
              <a:t>criticidad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05" dirty="0">
                <a:latin typeface="Arial"/>
                <a:cs typeface="Arial"/>
              </a:rPr>
              <a:t>“Alta”</a:t>
            </a:r>
            <a:r>
              <a:rPr sz="1400" b="1" spc="-105" dirty="0">
                <a:latin typeface="Trebuchet MS"/>
                <a:cs typeface="Trebuchet MS"/>
              </a:rPr>
              <a:t>;</a:t>
            </a:r>
            <a:endParaRPr sz="1400">
              <a:latin typeface="Trebuchet MS"/>
              <a:cs typeface="Trebuchet MS"/>
            </a:endParaRPr>
          </a:p>
          <a:p>
            <a:pPr marL="5060950" marR="5080" lvl="1" algn="just">
              <a:lnSpc>
                <a:spcPct val="100000"/>
              </a:lnSpc>
              <a:buChar char="•"/>
              <a:tabLst>
                <a:tab pos="5163820" algn="l"/>
              </a:tabLst>
            </a:pPr>
            <a:r>
              <a:rPr sz="1400" spc="-125" dirty="0">
                <a:latin typeface="Arial"/>
                <a:cs typeface="Arial"/>
              </a:rPr>
              <a:t>El </a:t>
            </a:r>
            <a:r>
              <a:rPr sz="1400" spc="-130" dirty="0">
                <a:latin typeface="Arial"/>
                <a:cs typeface="Arial"/>
              </a:rPr>
              <a:t>25% </a:t>
            </a:r>
            <a:r>
              <a:rPr sz="1400" spc="-60" dirty="0">
                <a:latin typeface="Arial"/>
                <a:cs typeface="Arial"/>
              </a:rPr>
              <a:t>(30) </a:t>
            </a:r>
            <a:r>
              <a:rPr sz="1400" spc="-65" dirty="0">
                <a:latin typeface="Arial"/>
                <a:cs typeface="Arial"/>
              </a:rPr>
              <a:t>de los </a:t>
            </a:r>
            <a:r>
              <a:rPr sz="1400" spc="-80" dirty="0">
                <a:latin typeface="Arial"/>
                <a:cs typeface="Arial"/>
              </a:rPr>
              <a:t>riesgos </a:t>
            </a:r>
            <a:r>
              <a:rPr sz="1400" spc="-40" dirty="0">
                <a:latin typeface="Arial"/>
                <a:cs typeface="Arial"/>
              </a:rPr>
              <a:t>identificados </a:t>
            </a:r>
            <a:r>
              <a:rPr sz="1400" spc="-85" dirty="0">
                <a:latin typeface="Arial"/>
                <a:cs typeface="Arial"/>
              </a:rPr>
              <a:t>posee  </a:t>
            </a:r>
            <a:r>
              <a:rPr sz="1400" spc="-30" dirty="0">
                <a:latin typeface="Arial"/>
                <a:cs typeface="Arial"/>
              </a:rPr>
              <a:t>criticidad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80" dirty="0">
                <a:latin typeface="Arial"/>
                <a:cs typeface="Arial"/>
              </a:rPr>
              <a:t>“Media”</a:t>
            </a:r>
            <a:r>
              <a:rPr sz="1400" b="1" spc="-80" dirty="0">
                <a:latin typeface="Trebuchet MS"/>
                <a:cs typeface="Trebuchet MS"/>
              </a:rPr>
              <a:t>;</a:t>
            </a:r>
            <a:endParaRPr sz="1400">
              <a:latin typeface="Trebuchet MS"/>
              <a:cs typeface="Trebuchet MS"/>
            </a:endParaRPr>
          </a:p>
          <a:p>
            <a:pPr marL="5060950" marR="5080" lvl="1" algn="just">
              <a:lnSpc>
                <a:spcPct val="100000"/>
              </a:lnSpc>
              <a:buChar char="•"/>
              <a:tabLst>
                <a:tab pos="5163820" algn="l"/>
              </a:tabLst>
            </a:pPr>
            <a:r>
              <a:rPr sz="1400" spc="-125" dirty="0">
                <a:latin typeface="Arial"/>
                <a:cs typeface="Arial"/>
              </a:rPr>
              <a:t>El </a:t>
            </a:r>
            <a:r>
              <a:rPr sz="1400" spc="-130" dirty="0">
                <a:latin typeface="Arial"/>
                <a:cs typeface="Arial"/>
              </a:rPr>
              <a:t>27% </a:t>
            </a:r>
            <a:r>
              <a:rPr sz="1400" spc="-60" dirty="0">
                <a:latin typeface="Arial"/>
                <a:cs typeface="Arial"/>
              </a:rPr>
              <a:t>(34) </a:t>
            </a:r>
            <a:r>
              <a:rPr sz="1400" spc="-65" dirty="0">
                <a:latin typeface="Arial"/>
                <a:cs typeface="Arial"/>
              </a:rPr>
              <a:t>de los </a:t>
            </a:r>
            <a:r>
              <a:rPr sz="1400" spc="-80" dirty="0">
                <a:latin typeface="Arial"/>
                <a:cs typeface="Arial"/>
              </a:rPr>
              <a:t>riesgos </a:t>
            </a:r>
            <a:r>
              <a:rPr sz="1400" spc="-40" dirty="0">
                <a:latin typeface="Arial"/>
                <a:cs typeface="Arial"/>
              </a:rPr>
              <a:t>identificados </a:t>
            </a:r>
            <a:r>
              <a:rPr sz="1400" spc="-85" dirty="0">
                <a:latin typeface="Arial"/>
                <a:cs typeface="Arial"/>
              </a:rPr>
              <a:t>posee  </a:t>
            </a:r>
            <a:r>
              <a:rPr sz="1400" spc="-30" dirty="0">
                <a:latin typeface="Arial"/>
                <a:cs typeface="Arial"/>
              </a:rPr>
              <a:t>criticidad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14" dirty="0">
                <a:latin typeface="Arial"/>
                <a:cs typeface="Arial"/>
              </a:rPr>
              <a:t>“Baja”</a:t>
            </a:r>
            <a:r>
              <a:rPr sz="1400" b="1" spc="-114" dirty="0">
                <a:latin typeface="Trebuchet MS"/>
                <a:cs typeface="Trebuchet MS"/>
              </a:rPr>
              <a:t>;</a:t>
            </a:r>
            <a:endParaRPr sz="1400">
              <a:latin typeface="Trebuchet MS"/>
              <a:cs typeface="Trebuchet MS"/>
            </a:endParaRPr>
          </a:p>
          <a:p>
            <a:pPr marL="5060950" marR="5080" lvl="1" algn="just">
              <a:lnSpc>
                <a:spcPct val="100000"/>
              </a:lnSpc>
              <a:buChar char="•"/>
              <a:tabLst>
                <a:tab pos="5163820" algn="l"/>
              </a:tabLst>
            </a:pPr>
            <a:r>
              <a:rPr sz="1400" spc="-125" dirty="0">
                <a:latin typeface="Arial"/>
                <a:cs typeface="Arial"/>
              </a:rPr>
              <a:t>El </a:t>
            </a:r>
            <a:r>
              <a:rPr sz="1400" spc="-130" dirty="0">
                <a:latin typeface="Arial"/>
                <a:cs typeface="Arial"/>
              </a:rPr>
              <a:t>27% </a:t>
            </a:r>
            <a:r>
              <a:rPr sz="1400" spc="-60" dirty="0">
                <a:latin typeface="Arial"/>
                <a:cs typeface="Arial"/>
              </a:rPr>
              <a:t>(33) </a:t>
            </a:r>
            <a:r>
              <a:rPr sz="1400" spc="-65" dirty="0">
                <a:latin typeface="Arial"/>
                <a:cs typeface="Arial"/>
              </a:rPr>
              <a:t>de los </a:t>
            </a:r>
            <a:r>
              <a:rPr sz="1400" spc="-80" dirty="0">
                <a:latin typeface="Arial"/>
                <a:cs typeface="Arial"/>
              </a:rPr>
              <a:t>riesgos </a:t>
            </a:r>
            <a:r>
              <a:rPr sz="1400" spc="-40" dirty="0">
                <a:latin typeface="Arial"/>
                <a:cs typeface="Arial"/>
              </a:rPr>
              <a:t>identificados </a:t>
            </a:r>
            <a:r>
              <a:rPr sz="1400" spc="-85" dirty="0">
                <a:latin typeface="Arial"/>
                <a:cs typeface="Arial"/>
              </a:rPr>
              <a:t>posee  </a:t>
            </a:r>
            <a:r>
              <a:rPr sz="1400" spc="-30" dirty="0">
                <a:latin typeface="Arial"/>
                <a:cs typeface="Arial"/>
              </a:rPr>
              <a:t>criticidad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b="1" spc="-110" dirty="0">
                <a:latin typeface="Arial"/>
                <a:cs typeface="Arial"/>
              </a:rPr>
              <a:t>“Tolerable”</a:t>
            </a:r>
            <a:r>
              <a:rPr sz="1400" b="1" spc="-110" dirty="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08627" y="1582674"/>
            <a:ext cx="901446" cy="70332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47</a:t>
            </a:fld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5750" y="1378965"/>
            <a:ext cx="8415020" cy="187551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73990" marR="5080" indent="-1905">
              <a:lnSpc>
                <a:spcPts val="2590"/>
              </a:lnSpc>
              <a:spcBef>
                <a:spcPts val="425"/>
              </a:spcBef>
            </a:pPr>
            <a:r>
              <a:rPr lang="es-AR" sz="2400" b="1" spc="-95" dirty="0">
                <a:latin typeface="Trebuchet MS"/>
                <a:cs typeface="Trebuchet MS"/>
              </a:rPr>
              <a:t>Para los 4 riesgos definidos anteriormente, 2 de la vida diaria y dos de empresas, piense que controles implementaría. </a:t>
            </a:r>
          </a:p>
          <a:p>
            <a:pPr marL="173990" marR="5080" indent="-1905">
              <a:lnSpc>
                <a:spcPts val="2590"/>
              </a:lnSpc>
              <a:spcBef>
                <a:spcPts val="425"/>
              </a:spcBef>
            </a:pPr>
            <a:endParaRPr lang="es-AR" sz="2400" b="1" spc="-95" dirty="0">
              <a:latin typeface="Trebuchet MS"/>
              <a:cs typeface="Trebuchet MS"/>
            </a:endParaRPr>
          </a:p>
          <a:p>
            <a:pPr marL="173990" marR="5080" indent="-1905">
              <a:lnSpc>
                <a:spcPts val="2590"/>
              </a:lnSpc>
              <a:spcBef>
                <a:spcPts val="425"/>
              </a:spcBef>
            </a:pPr>
            <a:endParaRPr lang="es-AR" sz="2400" b="1" spc="-95" dirty="0">
              <a:latin typeface="Trebuchet MS"/>
              <a:cs typeface="Trebuchet MS"/>
            </a:endParaRPr>
          </a:p>
          <a:p>
            <a:pPr marL="173990" marR="5080" indent="-1905">
              <a:lnSpc>
                <a:spcPts val="2590"/>
              </a:lnSpc>
              <a:spcBef>
                <a:spcPts val="425"/>
              </a:spcBef>
            </a:pPr>
            <a:endParaRPr lang="es-AR" sz="2400" b="1" spc="-95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48</a:t>
            </a:fld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Antecedentes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conceptos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fundamentales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98564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704" y="1295400"/>
            <a:ext cx="8540750" cy="1295400"/>
          </a:xfrm>
          <a:custGeom>
            <a:avLst/>
            <a:gdLst/>
            <a:ahLst/>
            <a:cxnLst/>
            <a:rect l="l" t="t" r="r" b="b"/>
            <a:pathLst>
              <a:path w="8540750" h="1295400">
                <a:moveTo>
                  <a:pt x="0" y="74929"/>
                </a:moveTo>
                <a:lnTo>
                  <a:pt x="5885" y="45755"/>
                </a:lnTo>
                <a:lnTo>
                  <a:pt x="21934" y="21939"/>
                </a:lnTo>
                <a:lnTo>
                  <a:pt x="45739" y="5885"/>
                </a:lnTo>
                <a:lnTo>
                  <a:pt x="74891" y="0"/>
                </a:lnTo>
                <a:lnTo>
                  <a:pt x="8465566" y="0"/>
                </a:lnTo>
                <a:lnTo>
                  <a:pt x="8494740" y="5885"/>
                </a:lnTo>
                <a:lnTo>
                  <a:pt x="8518556" y="21939"/>
                </a:lnTo>
                <a:lnTo>
                  <a:pt x="8534610" y="45755"/>
                </a:lnTo>
                <a:lnTo>
                  <a:pt x="8540496" y="74929"/>
                </a:lnTo>
                <a:lnTo>
                  <a:pt x="8540496" y="1220470"/>
                </a:lnTo>
                <a:lnTo>
                  <a:pt x="8534610" y="1249644"/>
                </a:lnTo>
                <a:lnTo>
                  <a:pt x="8518556" y="1273460"/>
                </a:lnTo>
                <a:lnTo>
                  <a:pt x="8494740" y="1289514"/>
                </a:lnTo>
                <a:lnTo>
                  <a:pt x="8465566" y="1295400"/>
                </a:lnTo>
                <a:lnTo>
                  <a:pt x="74891" y="1295400"/>
                </a:lnTo>
                <a:lnTo>
                  <a:pt x="45739" y="1289514"/>
                </a:lnTo>
                <a:lnTo>
                  <a:pt x="21934" y="1273460"/>
                </a:lnTo>
                <a:lnTo>
                  <a:pt x="5885" y="1249644"/>
                </a:lnTo>
                <a:lnTo>
                  <a:pt x="0" y="1220470"/>
                </a:lnTo>
                <a:lnTo>
                  <a:pt x="0" y="7492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8684" y="2871216"/>
            <a:ext cx="468630" cy="573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3869" y="2875788"/>
            <a:ext cx="8059674" cy="5654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684" y="3236976"/>
            <a:ext cx="468630" cy="573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3869" y="3241548"/>
            <a:ext cx="6472428" cy="5654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8684" y="3602735"/>
            <a:ext cx="468630" cy="573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3869" y="3607308"/>
            <a:ext cx="8660130" cy="565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3869" y="3912108"/>
            <a:ext cx="3249930" cy="5654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8684" y="4273296"/>
            <a:ext cx="468630" cy="573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3869" y="4277867"/>
            <a:ext cx="5080254" cy="5654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85750" y="1442719"/>
            <a:ext cx="8665210" cy="328679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94640" marR="382270" algn="ctr">
              <a:lnSpc>
                <a:spcPts val="2160"/>
              </a:lnSpc>
              <a:spcBef>
                <a:spcPts val="370"/>
              </a:spcBef>
            </a:pPr>
            <a:r>
              <a:rPr sz="2000" b="1" spc="-114" dirty="0">
                <a:latin typeface="Trebuchet MS"/>
                <a:cs typeface="Trebuchet MS"/>
              </a:rPr>
              <a:t>Se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120" dirty="0">
                <a:latin typeface="Trebuchet MS"/>
                <a:cs typeface="Trebuchet MS"/>
              </a:rPr>
              <a:t>define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Control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80" dirty="0">
                <a:latin typeface="Trebuchet MS"/>
                <a:cs typeface="Trebuchet MS"/>
              </a:rPr>
              <a:t>a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85" dirty="0">
                <a:latin typeface="Trebuchet MS"/>
                <a:cs typeface="Trebuchet MS"/>
              </a:rPr>
              <a:t>toda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5" dirty="0">
                <a:latin typeface="Trebuchet MS"/>
                <a:cs typeface="Trebuchet MS"/>
              </a:rPr>
              <a:t>medida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90" dirty="0">
                <a:latin typeface="Trebuchet MS"/>
                <a:cs typeface="Trebuchet MS"/>
              </a:rPr>
              <a:t>tomada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para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mitigar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60" dirty="0">
                <a:latin typeface="Trebuchet MS"/>
                <a:cs typeface="Trebuchet MS"/>
              </a:rPr>
              <a:t>o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gestionar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b="1" spc="-120" dirty="0">
                <a:latin typeface="Trebuchet MS"/>
                <a:cs typeface="Trebuchet MS"/>
              </a:rPr>
              <a:t>el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riesgo</a:t>
            </a:r>
            <a:r>
              <a:rPr sz="2000" b="1" spc="-145" dirty="0">
                <a:latin typeface="Trebuchet MS"/>
                <a:cs typeface="Trebuchet MS"/>
              </a:rPr>
              <a:t> </a:t>
            </a:r>
            <a:r>
              <a:rPr sz="2000" b="1" spc="-125" dirty="0">
                <a:latin typeface="Trebuchet MS"/>
                <a:cs typeface="Trebuchet MS"/>
              </a:rPr>
              <a:t>y  </a:t>
            </a:r>
            <a:r>
              <a:rPr sz="2000" b="1" spc="-100" dirty="0">
                <a:latin typeface="Trebuchet MS"/>
                <a:cs typeface="Trebuchet MS"/>
              </a:rPr>
              <a:t>para </a:t>
            </a:r>
            <a:r>
              <a:rPr sz="2000" b="1" spc="-120" dirty="0">
                <a:latin typeface="Trebuchet MS"/>
                <a:cs typeface="Trebuchet MS"/>
              </a:rPr>
              <a:t>que </a:t>
            </a:r>
            <a:r>
              <a:rPr sz="2000" b="1" spc="-90" dirty="0">
                <a:latin typeface="Trebuchet MS"/>
                <a:cs typeface="Trebuchet MS"/>
              </a:rPr>
              <a:t>la </a:t>
            </a:r>
            <a:r>
              <a:rPr sz="2000" b="1" spc="-95" dirty="0">
                <a:latin typeface="Trebuchet MS"/>
                <a:cs typeface="Trebuchet MS"/>
              </a:rPr>
              <a:t>probabilidad </a:t>
            </a:r>
            <a:r>
              <a:rPr sz="2000" b="1" spc="-120" dirty="0">
                <a:latin typeface="Trebuchet MS"/>
                <a:cs typeface="Trebuchet MS"/>
              </a:rPr>
              <a:t>de que </a:t>
            </a:r>
            <a:r>
              <a:rPr sz="2000" b="1" spc="-110" dirty="0">
                <a:latin typeface="Trebuchet MS"/>
                <a:cs typeface="Trebuchet MS"/>
              </a:rPr>
              <a:t>un </a:t>
            </a:r>
            <a:r>
              <a:rPr sz="2000" b="1" spc="-80" dirty="0">
                <a:latin typeface="Trebuchet MS"/>
                <a:cs typeface="Trebuchet MS"/>
              </a:rPr>
              <a:t>negocio/ </a:t>
            </a:r>
            <a:r>
              <a:rPr sz="2000" b="1" spc="-110" dirty="0">
                <a:latin typeface="Trebuchet MS"/>
                <a:cs typeface="Trebuchet MS"/>
              </a:rPr>
              <a:t>proceso </a:t>
            </a:r>
            <a:r>
              <a:rPr sz="2000" b="1" spc="-105" dirty="0">
                <a:latin typeface="Trebuchet MS"/>
                <a:cs typeface="Trebuchet MS"/>
              </a:rPr>
              <a:t>logre </a:t>
            </a:r>
            <a:r>
              <a:rPr sz="2000" b="1" spc="-80" dirty="0">
                <a:latin typeface="Trebuchet MS"/>
                <a:cs typeface="Trebuchet MS"/>
              </a:rPr>
              <a:t>sus </a:t>
            </a:r>
            <a:r>
              <a:rPr sz="2000" b="1" spc="-105" dirty="0">
                <a:latin typeface="Trebuchet MS"/>
                <a:cs typeface="Trebuchet MS"/>
              </a:rPr>
              <a:t>metas </a:t>
            </a:r>
            <a:r>
              <a:rPr sz="2000" b="1" spc="-125" dirty="0">
                <a:latin typeface="Trebuchet MS"/>
                <a:cs typeface="Trebuchet MS"/>
              </a:rPr>
              <a:t>y  </a:t>
            </a:r>
            <a:r>
              <a:rPr sz="2000" b="1" spc="-110" dirty="0">
                <a:latin typeface="Trebuchet MS"/>
                <a:cs typeface="Trebuchet MS"/>
              </a:rPr>
              <a:t>objetivos </a:t>
            </a:r>
            <a:r>
              <a:rPr sz="2000" b="1" spc="-100" dirty="0">
                <a:latin typeface="Trebuchet MS"/>
                <a:cs typeface="Trebuchet MS"/>
              </a:rPr>
              <a:t>sea</a:t>
            </a:r>
            <a:r>
              <a:rPr sz="2000" b="1" spc="-185" dirty="0">
                <a:latin typeface="Trebuchet MS"/>
                <a:cs typeface="Trebuchet MS"/>
              </a:rPr>
              <a:t> </a:t>
            </a:r>
            <a:r>
              <a:rPr sz="2000" b="1" spc="-125" dirty="0">
                <a:latin typeface="Trebuchet MS"/>
                <a:cs typeface="Trebuchet MS"/>
              </a:rPr>
              <a:t>mayor.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009999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85" dirty="0" err="1">
                <a:latin typeface="Arial"/>
                <a:cs typeface="Arial"/>
              </a:rPr>
              <a:t>actividades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lang="es-AR" sz="2000" spc="-85" dirty="0">
                <a:latin typeface="Arial"/>
                <a:cs typeface="Arial"/>
              </a:rPr>
              <a:t>de </a:t>
            </a:r>
            <a:r>
              <a:rPr sz="2000" spc="-70" dirty="0" err="1">
                <a:latin typeface="Arial"/>
                <a:cs typeface="Arial"/>
              </a:rPr>
              <a:t>controles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ayudan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60" dirty="0">
                <a:latin typeface="Arial"/>
                <a:cs typeface="Arial"/>
              </a:rPr>
              <a:t>lograr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60" dirty="0">
                <a:latin typeface="Arial"/>
                <a:cs typeface="Arial"/>
              </a:rPr>
              <a:t>objetivos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40" dirty="0">
                <a:latin typeface="Arial"/>
                <a:cs typeface="Arial"/>
              </a:rPr>
              <a:t>mitigar 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spc="-40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riesgos.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009999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125" dirty="0">
                <a:latin typeface="Arial"/>
                <a:cs typeface="Arial"/>
              </a:rPr>
              <a:t>Pueden </a:t>
            </a:r>
            <a:r>
              <a:rPr sz="2000" spc="-95" dirty="0">
                <a:latin typeface="Arial"/>
                <a:cs typeface="Arial"/>
              </a:rPr>
              <a:t>clasificarse en </a:t>
            </a:r>
            <a:r>
              <a:rPr sz="2000" spc="-70" dirty="0">
                <a:latin typeface="Arial"/>
                <a:cs typeface="Arial"/>
              </a:rPr>
              <a:t>controles </a:t>
            </a:r>
            <a:r>
              <a:rPr sz="2000" spc="-120" dirty="0">
                <a:latin typeface="Arial"/>
                <a:cs typeface="Arial"/>
              </a:rPr>
              <a:t>clave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70" dirty="0">
                <a:latin typeface="Arial"/>
                <a:cs typeface="Arial"/>
              </a:rPr>
              <a:t>controles </a:t>
            </a:r>
            <a:r>
              <a:rPr sz="2000" spc="-65" dirty="0">
                <a:latin typeface="Arial"/>
                <a:cs typeface="Arial"/>
              </a:rPr>
              <a:t>no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25" dirty="0">
                <a:latin typeface="Arial"/>
                <a:cs typeface="Arial"/>
              </a:rPr>
              <a:t>claves.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009999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190" dirty="0">
                <a:latin typeface="Arial"/>
                <a:cs typeface="Arial"/>
              </a:rPr>
              <a:t>Los </a:t>
            </a:r>
            <a:r>
              <a:rPr sz="2000" spc="-110" dirty="0">
                <a:latin typeface="Arial"/>
                <a:cs typeface="Arial"/>
              </a:rPr>
              <a:t>riesgos </a:t>
            </a:r>
            <a:r>
              <a:rPr sz="2000" spc="-90" dirty="0">
                <a:latin typeface="Arial"/>
                <a:cs typeface="Arial"/>
              </a:rPr>
              <a:t>pueden </a:t>
            </a:r>
            <a:r>
              <a:rPr sz="2000" spc="-80" dirty="0">
                <a:latin typeface="Arial"/>
                <a:cs typeface="Arial"/>
              </a:rPr>
              <a:t>estar </a:t>
            </a:r>
            <a:r>
              <a:rPr sz="2000" spc="-70" dirty="0">
                <a:latin typeface="Arial"/>
                <a:cs typeface="Arial"/>
              </a:rPr>
              <a:t>controlados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00" dirty="0">
                <a:latin typeface="Arial"/>
                <a:cs typeface="Arial"/>
              </a:rPr>
              <a:t>manera </a:t>
            </a:r>
            <a:r>
              <a:rPr sz="2000" spc="-140" dirty="0">
                <a:latin typeface="Arial"/>
                <a:cs typeface="Arial"/>
              </a:rPr>
              <a:t>excesiva </a:t>
            </a:r>
            <a:r>
              <a:rPr sz="2000" spc="-60" dirty="0">
                <a:latin typeface="Arial"/>
                <a:cs typeface="Arial"/>
              </a:rPr>
              <a:t>o insuficiente </a:t>
            </a:r>
            <a:r>
              <a:rPr sz="2000" spc="-65" dirty="0">
                <a:latin typeface="Arial"/>
                <a:cs typeface="Arial"/>
              </a:rPr>
              <a:t>(relación  </a:t>
            </a:r>
            <a:r>
              <a:rPr sz="2000" spc="-55" dirty="0">
                <a:latin typeface="Arial"/>
                <a:cs typeface="Arial"/>
              </a:rPr>
              <a:t>costo/beneficio </a:t>
            </a:r>
            <a:r>
              <a:rPr sz="2000" spc="-60" dirty="0">
                <a:latin typeface="Arial"/>
                <a:cs typeface="Arial"/>
              </a:rPr>
              <a:t>del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control).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009999"/>
              </a:buClr>
              <a:buChar char="•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85" dirty="0">
                <a:latin typeface="Arial"/>
                <a:cs typeface="Arial"/>
              </a:rPr>
              <a:t>mismo </a:t>
            </a:r>
            <a:r>
              <a:rPr sz="2000" spc="-40" dirty="0">
                <a:latin typeface="Arial"/>
                <a:cs typeface="Arial"/>
              </a:rPr>
              <a:t>control </a:t>
            </a:r>
            <a:r>
              <a:rPr sz="2000" spc="-90" dirty="0">
                <a:latin typeface="Arial"/>
                <a:cs typeface="Arial"/>
              </a:rPr>
              <a:t>puede </a:t>
            </a:r>
            <a:r>
              <a:rPr sz="2000" spc="-40" dirty="0">
                <a:latin typeface="Arial"/>
                <a:cs typeface="Arial"/>
              </a:rPr>
              <a:t>mitigar </a:t>
            </a:r>
            <a:r>
              <a:rPr sz="2000" spc="-90" dirty="0">
                <a:latin typeface="Arial"/>
                <a:cs typeface="Arial"/>
              </a:rPr>
              <a:t>varios</a:t>
            </a:r>
            <a:r>
              <a:rPr sz="2000" spc="-170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riesgos.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49</a:t>
            </a:fld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43630" y="2381630"/>
            <a:ext cx="5186680" cy="463550"/>
          </a:xfrm>
          <a:custGeom>
            <a:avLst/>
            <a:gdLst/>
            <a:ahLst/>
            <a:cxnLst/>
            <a:rect l="l" t="t" r="r" b="b"/>
            <a:pathLst>
              <a:path w="5186680" h="463550">
                <a:moveTo>
                  <a:pt x="4717923" y="0"/>
                </a:moveTo>
                <a:lnTo>
                  <a:pt x="4717923" y="57912"/>
                </a:lnTo>
                <a:lnTo>
                  <a:pt x="0" y="57912"/>
                </a:lnTo>
                <a:lnTo>
                  <a:pt x="0" y="405384"/>
                </a:lnTo>
                <a:lnTo>
                  <a:pt x="4717923" y="405384"/>
                </a:lnTo>
                <a:lnTo>
                  <a:pt x="4717923" y="463296"/>
                </a:lnTo>
                <a:lnTo>
                  <a:pt x="5186172" y="231648"/>
                </a:lnTo>
                <a:lnTo>
                  <a:pt x="4717923" y="0"/>
                </a:lnTo>
                <a:close/>
              </a:path>
            </a:pathLst>
          </a:custGeom>
          <a:solidFill>
            <a:srgbClr val="F1F1F1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43630" y="2381630"/>
            <a:ext cx="5186680" cy="463550"/>
          </a:xfrm>
          <a:custGeom>
            <a:avLst/>
            <a:gdLst/>
            <a:ahLst/>
            <a:cxnLst/>
            <a:rect l="l" t="t" r="r" b="b"/>
            <a:pathLst>
              <a:path w="5186680" h="463550">
                <a:moveTo>
                  <a:pt x="0" y="57912"/>
                </a:moveTo>
                <a:lnTo>
                  <a:pt x="4717923" y="57912"/>
                </a:lnTo>
                <a:lnTo>
                  <a:pt x="4717923" y="0"/>
                </a:lnTo>
                <a:lnTo>
                  <a:pt x="5186172" y="231648"/>
                </a:lnTo>
                <a:lnTo>
                  <a:pt x="4717923" y="463296"/>
                </a:lnTo>
                <a:lnTo>
                  <a:pt x="4717923" y="405384"/>
                </a:lnTo>
                <a:lnTo>
                  <a:pt x="0" y="405384"/>
                </a:lnTo>
                <a:lnTo>
                  <a:pt x="0" y="57912"/>
                </a:lnTo>
                <a:close/>
              </a:path>
            </a:pathLst>
          </a:custGeom>
          <a:ln w="25146">
            <a:solidFill>
              <a:srgbClr val="D3D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24529" y="2407665"/>
            <a:ext cx="4079240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60"/>
              </a:spcBef>
            </a:pPr>
            <a:r>
              <a:rPr sz="1200" spc="-45" dirty="0">
                <a:latin typeface="Arial"/>
                <a:cs typeface="Arial"/>
              </a:rPr>
              <a:t>Autorización </a:t>
            </a:r>
            <a:r>
              <a:rPr sz="1200" spc="-60" dirty="0">
                <a:latin typeface="Arial"/>
                <a:cs typeface="Arial"/>
              </a:rPr>
              <a:t>para </a:t>
            </a:r>
            <a:r>
              <a:rPr sz="1200" spc="-55" dirty="0">
                <a:latin typeface="Arial"/>
                <a:cs typeface="Arial"/>
              </a:rPr>
              <a:t>que </a:t>
            </a:r>
            <a:r>
              <a:rPr sz="1200" spc="-50" dirty="0">
                <a:latin typeface="Arial"/>
                <a:cs typeface="Arial"/>
              </a:rPr>
              <a:t>alguien </a:t>
            </a:r>
            <a:r>
              <a:rPr sz="1200" spc="-55" dirty="0">
                <a:latin typeface="Arial"/>
                <a:cs typeface="Arial"/>
              </a:rPr>
              <a:t>que tenga </a:t>
            </a:r>
            <a:r>
              <a:rPr sz="1200" spc="-75" dirty="0">
                <a:latin typeface="Arial"/>
                <a:cs typeface="Arial"/>
              </a:rPr>
              <a:t>las </a:t>
            </a:r>
            <a:r>
              <a:rPr sz="1200" spc="-50" dirty="0">
                <a:latin typeface="Arial"/>
                <a:cs typeface="Arial"/>
              </a:rPr>
              <a:t>facultades </a:t>
            </a:r>
            <a:r>
              <a:rPr sz="1200" spc="-60" dirty="0">
                <a:latin typeface="Arial"/>
                <a:cs typeface="Arial"/>
              </a:rPr>
              <a:t>para hacer  una </a:t>
            </a:r>
            <a:r>
              <a:rPr sz="1200" spc="-40" dirty="0">
                <a:latin typeface="Arial"/>
                <a:cs typeface="Arial"/>
              </a:rPr>
              <a:t>tarea, </a:t>
            </a:r>
            <a:r>
              <a:rPr sz="1200" spc="-35" dirty="0">
                <a:latin typeface="Arial"/>
                <a:cs typeface="Arial"/>
              </a:rPr>
              <a:t>soportar </a:t>
            </a:r>
            <a:r>
              <a:rPr sz="1200" spc="-60" dirty="0">
                <a:latin typeface="Arial"/>
                <a:cs typeface="Arial"/>
              </a:rPr>
              <a:t>una </a:t>
            </a:r>
            <a:r>
              <a:rPr sz="1200" spc="-50" dirty="0">
                <a:latin typeface="Arial"/>
                <a:cs typeface="Arial"/>
              </a:rPr>
              <a:t>operación, </a:t>
            </a:r>
            <a:r>
              <a:rPr sz="1200" spc="-40" dirty="0">
                <a:latin typeface="Arial"/>
                <a:cs typeface="Arial"/>
              </a:rPr>
              <a:t>ejecute </a:t>
            </a:r>
            <a:r>
              <a:rPr sz="1200" spc="-60" dirty="0">
                <a:latin typeface="Arial"/>
                <a:cs typeface="Arial"/>
              </a:rPr>
              <a:t>una</a:t>
            </a:r>
            <a:r>
              <a:rPr sz="1200" spc="-19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transacción.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3752" y="2314194"/>
            <a:ext cx="2113026" cy="583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10105" y="2370582"/>
            <a:ext cx="1020318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23950" y="2354579"/>
            <a:ext cx="1992630" cy="463550"/>
          </a:xfrm>
          <a:custGeom>
            <a:avLst/>
            <a:gdLst/>
            <a:ahLst/>
            <a:cxnLst/>
            <a:rect l="l" t="t" r="r" b="b"/>
            <a:pathLst>
              <a:path w="1992630" h="463550">
                <a:moveTo>
                  <a:pt x="1827530" y="0"/>
                </a:moveTo>
                <a:lnTo>
                  <a:pt x="165100" y="0"/>
                </a:lnTo>
                <a:lnTo>
                  <a:pt x="100828" y="6064"/>
                </a:lnTo>
                <a:lnTo>
                  <a:pt x="48350" y="22606"/>
                </a:lnTo>
                <a:lnTo>
                  <a:pt x="12972" y="47148"/>
                </a:lnTo>
                <a:lnTo>
                  <a:pt x="0" y="77216"/>
                </a:lnTo>
                <a:lnTo>
                  <a:pt x="0" y="386080"/>
                </a:lnTo>
                <a:lnTo>
                  <a:pt x="12972" y="416147"/>
                </a:lnTo>
                <a:lnTo>
                  <a:pt x="48350" y="440690"/>
                </a:lnTo>
                <a:lnTo>
                  <a:pt x="100828" y="457231"/>
                </a:lnTo>
                <a:lnTo>
                  <a:pt x="165100" y="463296"/>
                </a:lnTo>
                <a:lnTo>
                  <a:pt x="1827530" y="463296"/>
                </a:lnTo>
                <a:lnTo>
                  <a:pt x="1891795" y="457231"/>
                </a:lnTo>
                <a:lnTo>
                  <a:pt x="1944274" y="440690"/>
                </a:lnTo>
                <a:lnTo>
                  <a:pt x="1979656" y="416147"/>
                </a:lnTo>
                <a:lnTo>
                  <a:pt x="1992630" y="386080"/>
                </a:lnTo>
                <a:lnTo>
                  <a:pt x="1992630" y="77216"/>
                </a:lnTo>
                <a:lnTo>
                  <a:pt x="1979656" y="47148"/>
                </a:lnTo>
                <a:lnTo>
                  <a:pt x="1944274" y="22606"/>
                </a:lnTo>
                <a:lnTo>
                  <a:pt x="1891795" y="6064"/>
                </a:lnTo>
                <a:lnTo>
                  <a:pt x="1827530" y="0"/>
                </a:lnTo>
                <a:close/>
              </a:path>
            </a:pathLst>
          </a:custGeom>
          <a:solidFill>
            <a:srgbClr val="8099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23950" y="2354579"/>
            <a:ext cx="1992630" cy="463550"/>
          </a:xfrm>
          <a:custGeom>
            <a:avLst/>
            <a:gdLst/>
            <a:ahLst/>
            <a:cxnLst/>
            <a:rect l="l" t="t" r="r" b="b"/>
            <a:pathLst>
              <a:path w="1992630" h="463550">
                <a:moveTo>
                  <a:pt x="0" y="77216"/>
                </a:moveTo>
                <a:lnTo>
                  <a:pt x="12972" y="47148"/>
                </a:lnTo>
                <a:lnTo>
                  <a:pt x="48350" y="22606"/>
                </a:lnTo>
                <a:lnTo>
                  <a:pt x="100828" y="6064"/>
                </a:lnTo>
                <a:lnTo>
                  <a:pt x="165100" y="0"/>
                </a:lnTo>
                <a:lnTo>
                  <a:pt x="1827530" y="0"/>
                </a:lnTo>
                <a:lnTo>
                  <a:pt x="1891795" y="6064"/>
                </a:lnTo>
                <a:lnTo>
                  <a:pt x="1944274" y="22606"/>
                </a:lnTo>
                <a:lnTo>
                  <a:pt x="1979656" y="47148"/>
                </a:lnTo>
                <a:lnTo>
                  <a:pt x="1992630" y="77216"/>
                </a:lnTo>
                <a:lnTo>
                  <a:pt x="1992630" y="386080"/>
                </a:lnTo>
                <a:lnTo>
                  <a:pt x="1979656" y="416147"/>
                </a:lnTo>
                <a:lnTo>
                  <a:pt x="1944274" y="440690"/>
                </a:lnTo>
                <a:lnTo>
                  <a:pt x="1891795" y="457231"/>
                </a:lnTo>
                <a:lnTo>
                  <a:pt x="1827530" y="463296"/>
                </a:lnTo>
                <a:lnTo>
                  <a:pt x="165100" y="463296"/>
                </a:lnTo>
                <a:lnTo>
                  <a:pt x="100828" y="457231"/>
                </a:lnTo>
                <a:lnTo>
                  <a:pt x="48350" y="440689"/>
                </a:lnTo>
                <a:lnTo>
                  <a:pt x="12972" y="416147"/>
                </a:lnTo>
                <a:lnTo>
                  <a:pt x="0" y="386080"/>
                </a:lnTo>
                <a:lnTo>
                  <a:pt x="0" y="7721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60473" y="2426461"/>
            <a:ext cx="7200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latin typeface="Trebuchet MS"/>
                <a:cs typeface="Trebuchet MS"/>
              </a:rPr>
              <a:t>Ap</a:t>
            </a:r>
            <a:r>
              <a:rPr sz="1600" b="1" spc="-80" dirty="0">
                <a:latin typeface="Trebuchet MS"/>
                <a:cs typeface="Trebuchet MS"/>
              </a:rPr>
              <a:t>r</a:t>
            </a:r>
            <a:r>
              <a:rPr sz="1600" b="1" spc="-75" dirty="0">
                <a:latin typeface="Trebuchet MS"/>
                <a:cs typeface="Trebuchet MS"/>
              </a:rPr>
              <a:t>obar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43630" y="2841879"/>
            <a:ext cx="5186680" cy="462280"/>
          </a:xfrm>
          <a:custGeom>
            <a:avLst/>
            <a:gdLst/>
            <a:ahLst/>
            <a:cxnLst/>
            <a:rect l="l" t="t" r="r" b="b"/>
            <a:pathLst>
              <a:path w="5186680" h="462279">
                <a:moveTo>
                  <a:pt x="4717923" y="0"/>
                </a:moveTo>
                <a:lnTo>
                  <a:pt x="4717923" y="57658"/>
                </a:lnTo>
                <a:lnTo>
                  <a:pt x="0" y="57658"/>
                </a:lnTo>
                <a:lnTo>
                  <a:pt x="0" y="403987"/>
                </a:lnTo>
                <a:lnTo>
                  <a:pt x="4717923" y="403987"/>
                </a:lnTo>
                <a:lnTo>
                  <a:pt x="4717923" y="461772"/>
                </a:lnTo>
                <a:lnTo>
                  <a:pt x="5186172" y="230886"/>
                </a:lnTo>
                <a:lnTo>
                  <a:pt x="4717923" y="0"/>
                </a:lnTo>
                <a:close/>
              </a:path>
            </a:pathLst>
          </a:custGeom>
          <a:solidFill>
            <a:srgbClr val="F1F1F1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43630" y="2841879"/>
            <a:ext cx="5186680" cy="462280"/>
          </a:xfrm>
          <a:custGeom>
            <a:avLst/>
            <a:gdLst/>
            <a:ahLst/>
            <a:cxnLst/>
            <a:rect l="l" t="t" r="r" b="b"/>
            <a:pathLst>
              <a:path w="5186680" h="462279">
                <a:moveTo>
                  <a:pt x="0" y="57658"/>
                </a:moveTo>
                <a:lnTo>
                  <a:pt x="4717923" y="57658"/>
                </a:lnTo>
                <a:lnTo>
                  <a:pt x="4717923" y="0"/>
                </a:lnTo>
                <a:lnTo>
                  <a:pt x="5186172" y="230886"/>
                </a:lnTo>
                <a:lnTo>
                  <a:pt x="4717923" y="461772"/>
                </a:lnTo>
                <a:lnTo>
                  <a:pt x="4717923" y="403987"/>
                </a:lnTo>
                <a:lnTo>
                  <a:pt x="0" y="403987"/>
                </a:lnTo>
                <a:lnTo>
                  <a:pt x="0" y="57658"/>
                </a:lnTo>
                <a:close/>
              </a:path>
            </a:pathLst>
          </a:custGeom>
          <a:ln w="25146">
            <a:solidFill>
              <a:srgbClr val="D3D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73476" y="2867405"/>
            <a:ext cx="4205605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91440" marR="5080" indent="-79375">
              <a:lnSpc>
                <a:spcPts val="1300"/>
              </a:lnSpc>
              <a:spcBef>
                <a:spcPts val="260"/>
              </a:spcBef>
            </a:pPr>
            <a:r>
              <a:rPr sz="1200" spc="-55" dirty="0">
                <a:latin typeface="Arial"/>
                <a:cs typeface="Arial"/>
              </a:rPr>
              <a:t>Computar </a:t>
            </a:r>
            <a:r>
              <a:rPr sz="1200" spc="-35" dirty="0">
                <a:latin typeface="Arial"/>
                <a:cs typeface="Arial"/>
              </a:rPr>
              <a:t>o </a:t>
            </a:r>
            <a:r>
              <a:rPr sz="1200" spc="-40" dirty="0">
                <a:latin typeface="Arial"/>
                <a:cs typeface="Arial"/>
              </a:rPr>
              <a:t>volver </a:t>
            </a:r>
            <a:r>
              <a:rPr sz="1200" spc="-95" dirty="0">
                <a:latin typeface="Arial"/>
                <a:cs typeface="Arial"/>
              </a:rPr>
              <a:t>a </a:t>
            </a:r>
            <a:r>
              <a:rPr sz="1200" spc="-40" dirty="0">
                <a:latin typeface="Arial"/>
                <a:cs typeface="Arial"/>
              </a:rPr>
              <a:t>computar un </a:t>
            </a:r>
            <a:r>
              <a:rPr sz="1200" spc="-25" dirty="0">
                <a:latin typeface="Arial"/>
                <a:cs typeface="Arial"/>
              </a:rPr>
              <a:t>monto </a:t>
            </a:r>
            <a:r>
              <a:rPr sz="1200" spc="-55" dirty="0">
                <a:latin typeface="Arial"/>
                <a:cs typeface="Arial"/>
              </a:rPr>
              <a:t>que </a:t>
            </a:r>
            <a:r>
              <a:rPr sz="1200" spc="-40" dirty="0">
                <a:latin typeface="Arial"/>
                <a:cs typeface="Arial"/>
              </a:rPr>
              <a:t>resulta </a:t>
            </a:r>
            <a:r>
              <a:rPr sz="1200" spc="-60" dirty="0">
                <a:latin typeface="Arial"/>
                <a:cs typeface="Arial"/>
              </a:rPr>
              <a:t>de </a:t>
            </a:r>
            <a:r>
              <a:rPr sz="1200" spc="-30" dirty="0">
                <a:latin typeface="Arial"/>
                <a:cs typeface="Arial"/>
              </a:rPr>
              <a:t>otros</a:t>
            </a:r>
            <a:r>
              <a:rPr sz="1200" spc="-2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datos  </a:t>
            </a:r>
            <a:r>
              <a:rPr sz="1200" spc="-40" dirty="0">
                <a:latin typeface="Arial"/>
                <a:cs typeface="Arial"/>
              </a:rPr>
              <a:t>obtenidos </a:t>
            </a:r>
            <a:r>
              <a:rPr sz="1200" spc="-55" dirty="0">
                <a:latin typeface="Arial"/>
                <a:cs typeface="Arial"/>
              </a:rPr>
              <a:t>en </a:t>
            </a:r>
            <a:r>
              <a:rPr sz="1200" spc="-35" dirty="0">
                <a:latin typeface="Arial"/>
                <a:cs typeface="Arial"/>
              </a:rPr>
              <a:t>el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proceso.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63752" y="2801111"/>
            <a:ext cx="2113026" cy="5821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19250" y="2857500"/>
            <a:ext cx="1002030" cy="5090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23950" y="2841498"/>
            <a:ext cx="1992630" cy="462280"/>
          </a:xfrm>
          <a:custGeom>
            <a:avLst/>
            <a:gdLst/>
            <a:ahLst/>
            <a:cxnLst/>
            <a:rect l="l" t="t" r="r" b="b"/>
            <a:pathLst>
              <a:path w="1992630" h="462279">
                <a:moveTo>
                  <a:pt x="1827530" y="0"/>
                </a:moveTo>
                <a:lnTo>
                  <a:pt x="165100" y="0"/>
                </a:lnTo>
                <a:lnTo>
                  <a:pt x="100828" y="6042"/>
                </a:lnTo>
                <a:lnTo>
                  <a:pt x="48350" y="22526"/>
                </a:lnTo>
                <a:lnTo>
                  <a:pt x="12972" y="46988"/>
                </a:lnTo>
                <a:lnTo>
                  <a:pt x="0" y="76962"/>
                </a:lnTo>
                <a:lnTo>
                  <a:pt x="0" y="384810"/>
                </a:lnTo>
                <a:lnTo>
                  <a:pt x="12972" y="414783"/>
                </a:lnTo>
                <a:lnTo>
                  <a:pt x="48350" y="439245"/>
                </a:lnTo>
                <a:lnTo>
                  <a:pt x="100828" y="455729"/>
                </a:lnTo>
                <a:lnTo>
                  <a:pt x="165100" y="461772"/>
                </a:lnTo>
                <a:lnTo>
                  <a:pt x="1827530" y="461772"/>
                </a:lnTo>
                <a:lnTo>
                  <a:pt x="1891795" y="455729"/>
                </a:lnTo>
                <a:lnTo>
                  <a:pt x="1944274" y="439245"/>
                </a:lnTo>
                <a:lnTo>
                  <a:pt x="1979656" y="414783"/>
                </a:lnTo>
                <a:lnTo>
                  <a:pt x="1992630" y="384810"/>
                </a:lnTo>
                <a:lnTo>
                  <a:pt x="1992630" y="76962"/>
                </a:lnTo>
                <a:lnTo>
                  <a:pt x="1979656" y="46988"/>
                </a:lnTo>
                <a:lnTo>
                  <a:pt x="1944274" y="22526"/>
                </a:lnTo>
                <a:lnTo>
                  <a:pt x="1891795" y="6042"/>
                </a:lnTo>
                <a:lnTo>
                  <a:pt x="1827530" y="0"/>
                </a:lnTo>
                <a:close/>
              </a:path>
            </a:pathLst>
          </a:custGeom>
          <a:solidFill>
            <a:srgbClr val="8099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23950" y="2841498"/>
            <a:ext cx="1992630" cy="462280"/>
          </a:xfrm>
          <a:custGeom>
            <a:avLst/>
            <a:gdLst/>
            <a:ahLst/>
            <a:cxnLst/>
            <a:rect l="l" t="t" r="r" b="b"/>
            <a:pathLst>
              <a:path w="1992630" h="462279">
                <a:moveTo>
                  <a:pt x="0" y="76962"/>
                </a:moveTo>
                <a:lnTo>
                  <a:pt x="12972" y="46988"/>
                </a:lnTo>
                <a:lnTo>
                  <a:pt x="48350" y="22526"/>
                </a:lnTo>
                <a:lnTo>
                  <a:pt x="100828" y="6042"/>
                </a:lnTo>
                <a:lnTo>
                  <a:pt x="165100" y="0"/>
                </a:lnTo>
                <a:lnTo>
                  <a:pt x="1827530" y="0"/>
                </a:lnTo>
                <a:lnTo>
                  <a:pt x="1891795" y="6042"/>
                </a:lnTo>
                <a:lnTo>
                  <a:pt x="1944274" y="22526"/>
                </a:lnTo>
                <a:lnTo>
                  <a:pt x="1979656" y="46988"/>
                </a:lnTo>
                <a:lnTo>
                  <a:pt x="1992630" y="76962"/>
                </a:lnTo>
                <a:lnTo>
                  <a:pt x="1992630" y="384810"/>
                </a:lnTo>
                <a:lnTo>
                  <a:pt x="1979656" y="414783"/>
                </a:lnTo>
                <a:lnTo>
                  <a:pt x="1944274" y="439245"/>
                </a:lnTo>
                <a:lnTo>
                  <a:pt x="1891795" y="455729"/>
                </a:lnTo>
                <a:lnTo>
                  <a:pt x="1827530" y="461772"/>
                </a:lnTo>
                <a:lnTo>
                  <a:pt x="165100" y="461772"/>
                </a:lnTo>
                <a:lnTo>
                  <a:pt x="100828" y="455729"/>
                </a:lnTo>
                <a:lnTo>
                  <a:pt x="48350" y="439245"/>
                </a:lnTo>
                <a:lnTo>
                  <a:pt x="12972" y="414783"/>
                </a:lnTo>
                <a:lnTo>
                  <a:pt x="0" y="384810"/>
                </a:lnTo>
                <a:lnTo>
                  <a:pt x="0" y="7696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69617" y="2913125"/>
            <a:ext cx="7004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0" dirty="0">
                <a:latin typeface="Trebuchet MS"/>
                <a:cs typeface="Trebuchet MS"/>
              </a:rPr>
              <a:t>Calcular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26104" y="3338703"/>
            <a:ext cx="5186680" cy="464184"/>
          </a:xfrm>
          <a:custGeom>
            <a:avLst/>
            <a:gdLst/>
            <a:ahLst/>
            <a:cxnLst/>
            <a:rect l="l" t="t" r="r" b="b"/>
            <a:pathLst>
              <a:path w="5186680" h="464185">
                <a:moveTo>
                  <a:pt x="4717923" y="0"/>
                </a:moveTo>
                <a:lnTo>
                  <a:pt x="4717923" y="58038"/>
                </a:lnTo>
                <a:lnTo>
                  <a:pt x="0" y="58038"/>
                </a:lnTo>
                <a:lnTo>
                  <a:pt x="0" y="406019"/>
                </a:lnTo>
                <a:lnTo>
                  <a:pt x="4717923" y="406019"/>
                </a:lnTo>
                <a:lnTo>
                  <a:pt x="4717923" y="464058"/>
                </a:lnTo>
                <a:lnTo>
                  <a:pt x="5186172" y="232029"/>
                </a:lnTo>
                <a:lnTo>
                  <a:pt x="4717923" y="0"/>
                </a:lnTo>
                <a:close/>
              </a:path>
            </a:pathLst>
          </a:custGeom>
          <a:solidFill>
            <a:srgbClr val="F1F1F1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26104" y="3338703"/>
            <a:ext cx="5186680" cy="464184"/>
          </a:xfrm>
          <a:custGeom>
            <a:avLst/>
            <a:gdLst/>
            <a:ahLst/>
            <a:cxnLst/>
            <a:rect l="l" t="t" r="r" b="b"/>
            <a:pathLst>
              <a:path w="5186680" h="464185">
                <a:moveTo>
                  <a:pt x="0" y="58038"/>
                </a:moveTo>
                <a:lnTo>
                  <a:pt x="4717923" y="58038"/>
                </a:lnTo>
                <a:lnTo>
                  <a:pt x="4717923" y="0"/>
                </a:lnTo>
                <a:lnTo>
                  <a:pt x="5186172" y="232029"/>
                </a:lnTo>
                <a:lnTo>
                  <a:pt x="4717923" y="464058"/>
                </a:lnTo>
                <a:lnTo>
                  <a:pt x="4717923" y="406019"/>
                </a:lnTo>
                <a:lnTo>
                  <a:pt x="0" y="406019"/>
                </a:lnTo>
                <a:lnTo>
                  <a:pt x="0" y="58038"/>
                </a:lnTo>
                <a:close/>
              </a:path>
            </a:pathLst>
          </a:custGeom>
          <a:ln w="25146">
            <a:solidFill>
              <a:srgbClr val="D3D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07004" y="3365246"/>
            <a:ext cx="3864610" cy="3733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60"/>
              </a:spcBef>
            </a:pPr>
            <a:r>
              <a:rPr sz="1200" spc="-65" dirty="0">
                <a:latin typeface="Arial"/>
                <a:cs typeface="Arial"/>
              </a:rPr>
              <a:t>Preservar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la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información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fuente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o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el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resultado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del</a:t>
            </a:r>
            <a:r>
              <a:rPr sz="1200" spc="-6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trabajo,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que  respalde </a:t>
            </a:r>
            <a:r>
              <a:rPr sz="1200" spc="-35" dirty="0">
                <a:latin typeface="Arial"/>
                <a:cs typeface="Arial"/>
              </a:rPr>
              <a:t>o </a:t>
            </a:r>
            <a:r>
              <a:rPr sz="1200" spc="-55" dirty="0">
                <a:latin typeface="Arial"/>
                <a:cs typeface="Arial"/>
              </a:rPr>
              <a:t>sirva </a:t>
            </a:r>
            <a:r>
              <a:rPr sz="1200" spc="-60" dirty="0">
                <a:latin typeface="Arial"/>
                <a:cs typeface="Arial"/>
              </a:rPr>
              <a:t>de </a:t>
            </a:r>
            <a:r>
              <a:rPr sz="1200" spc="-45" dirty="0">
                <a:latin typeface="Arial"/>
                <a:cs typeface="Arial"/>
              </a:rPr>
              <a:t>referencia </a:t>
            </a:r>
            <a:r>
              <a:rPr sz="1200" spc="-95" dirty="0">
                <a:latin typeface="Arial"/>
                <a:cs typeface="Arial"/>
              </a:rPr>
              <a:t>a </a:t>
            </a:r>
            <a:r>
              <a:rPr sz="1200" spc="-50" dirty="0">
                <a:latin typeface="Arial"/>
                <a:cs typeface="Arial"/>
              </a:rPr>
              <a:t>opiniones </a:t>
            </a:r>
            <a:r>
              <a:rPr sz="1200" spc="-35" dirty="0">
                <a:latin typeface="Arial"/>
                <a:cs typeface="Arial"/>
              </a:rPr>
              <a:t>o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acciones.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46225" y="3284220"/>
            <a:ext cx="2111502" cy="5836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15033" y="3340608"/>
            <a:ext cx="1373886" cy="5090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06424" y="3324605"/>
            <a:ext cx="1991360" cy="463550"/>
          </a:xfrm>
          <a:custGeom>
            <a:avLst/>
            <a:gdLst/>
            <a:ahLst/>
            <a:cxnLst/>
            <a:rect l="l" t="t" r="r" b="b"/>
            <a:pathLst>
              <a:path w="1991360" h="463550">
                <a:moveTo>
                  <a:pt x="1826133" y="0"/>
                </a:moveTo>
                <a:lnTo>
                  <a:pt x="164972" y="0"/>
                </a:lnTo>
                <a:lnTo>
                  <a:pt x="100748" y="6064"/>
                </a:lnTo>
                <a:lnTo>
                  <a:pt x="48310" y="22606"/>
                </a:lnTo>
                <a:lnTo>
                  <a:pt x="12961" y="47148"/>
                </a:lnTo>
                <a:lnTo>
                  <a:pt x="0" y="77216"/>
                </a:lnTo>
                <a:lnTo>
                  <a:pt x="0" y="386080"/>
                </a:lnTo>
                <a:lnTo>
                  <a:pt x="12961" y="416147"/>
                </a:lnTo>
                <a:lnTo>
                  <a:pt x="48310" y="440690"/>
                </a:lnTo>
                <a:lnTo>
                  <a:pt x="100748" y="457231"/>
                </a:lnTo>
                <a:lnTo>
                  <a:pt x="164972" y="463296"/>
                </a:lnTo>
                <a:lnTo>
                  <a:pt x="1826133" y="463296"/>
                </a:lnTo>
                <a:lnTo>
                  <a:pt x="1890379" y="457231"/>
                </a:lnTo>
                <a:lnTo>
                  <a:pt x="1942814" y="440690"/>
                </a:lnTo>
                <a:lnTo>
                  <a:pt x="1978152" y="416147"/>
                </a:lnTo>
                <a:lnTo>
                  <a:pt x="1991106" y="386080"/>
                </a:lnTo>
                <a:lnTo>
                  <a:pt x="1991106" y="77216"/>
                </a:lnTo>
                <a:lnTo>
                  <a:pt x="1978152" y="47148"/>
                </a:lnTo>
                <a:lnTo>
                  <a:pt x="1942814" y="22606"/>
                </a:lnTo>
                <a:lnTo>
                  <a:pt x="1890379" y="6064"/>
                </a:lnTo>
                <a:lnTo>
                  <a:pt x="1826133" y="0"/>
                </a:lnTo>
                <a:close/>
              </a:path>
            </a:pathLst>
          </a:custGeom>
          <a:solidFill>
            <a:srgbClr val="8099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06424" y="3324605"/>
            <a:ext cx="1991360" cy="463550"/>
          </a:xfrm>
          <a:custGeom>
            <a:avLst/>
            <a:gdLst/>
            <a:ahLst/>
            <a:cxnLst/>
            <a:rect l="l" t="t" r="r" b="b"/>
            <a:pathLst>
              <a:path w="1991360" h="463550">
                <a:moveTo>
                  <a:pt x="0" y="77216"/>
                </a:moveTo>
                <a:lnTo>
                  <a:pt x="12961" y="47148"/>
                </a:lnTo>
                <a:lnTo>
                  <a:pt x="48310" y="22606"/>
                </a:lnTo>
                <a:lnTo>
                  <a:pt x="100748" y="6064"/>
                </a:lnTo>
                <a:lnTo>
                  <a:pt x="164972" y="0"/>
                </a:lnTo>
                <a:lnTo>
                  <a:pt x="1826133" y="0"/>
                </a:lnTo>
                <a:lnTo>
                  <a:pt x="1890379" y="6064"/>
                </a:lnTo>
                <a:lnTo>
                  <a:pt x="1942814" y="22606"/>
                </a:lnTo>
                <a:lnTo>
                  <a:pt x="1978152" y="47148"/>
                </a:lnTo>
                <a:lnTo>
                  <a:pt x="1991106" y="77216"/>
                </a:lnTo>
                <a:lnTo>
                  <a:pt x="1991106" y="386080"/>
                </a:lnTo>
                <a:lnTo>
                  <a:pt x="1978152" y="416147"/>
                </a:lnTo>
                <a:lnTo>
                  <a:pt x="1942814" y="440690"/>
                </a:lnTo>
                <a:lnTo>
                  <a:pt x="1890379" y="457231"/>
                </a:lnTo>
                <a:lnTo>
                  <a:pt x="1826133" y="463296"/>
                </a:lnTo>
                <a:lnTo>
                  <a:pt x="164972" y="463296"/>
                </a:lnTo>
                <a:lnTo>
                  <a:pt x="100748" y="457231"/>
                </a:lnTo>
                <a:lnTo>
                  <a:pt x="48310" y="440690"/>
                </a:lnTo>
                <a:lnTo>
                  <a:pt x="12961" y="416147"/>
                </a:lnTo>
                <a:lnTo>
                  <a:pt x="0" y="386080"/>
                </a:lnTo>
                <a:lnTo>
                  <a:pt x="0" y="7721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565402" y="3396488"/>
            <a:ext cx="10731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latin typeface="Trebuchet MS"/>
                <a:cs typeface="Trebuchet MS"/>
              </a:rPr>
              <a:t>Docume</a:t>
            </a:r>
            <a:r>
              <a:rPr sz="1600" b="1" spc="-105" dirty="0">
                <a:latin typeface="Trebuchet MS"/>
                <a:cs typeface="Trebuchet MS"/>
              </a:rPr>
              <a:t>n</a:t>
            </a:r>
            <a:r>
              <a:rPr sz="1600" b="1" spc="-100" dirty="0">
                <a:latin typeface="Trebuchet MS"/>
                <a:cs typeface="Trebuchet MS"/>
              </a:rPr>
              <a:t>t</a:t>
            </a:r>
            <a:r>
              <a:rPr sz="1600" b="1" spc="-90" dirty="0">
                <a:latin typeface="Trebuchet MS"/>
                <a:cs typeface="Trebuchet MS"/>
              </a:rPr>
              <a:t>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126104" y="3826383"/>
            <a:ext cx="5186680" cy="462280"/>
          </a:xfrm>
          <a:custGeom>
            <a:avLst/>
            <a:gdLst/>
            <a:ahLst/>
            <a:cxnLst/>
            <a:rect l="l" t="t" r="r" b="b"/>
            <a:pathLst>
              <a:path w="5186680" h="462279">
                <a:moveTo>
                  <a:pt x="4717923" y="0"/>
                </a:moveTo>
                <a:lnTo>
                  <a:pt x="4717923" y="57658"/>
                </a:lnTo>
                <a:lnTo>
                  <a:pt x="0" y="57658"/>
                </a:lnTo>
                <a:lnTo>
                  <a:pt x="0" y="403987"/>
                </a:lnTo>
                <a:lnTo>
                  <a:pt x="4717923" y="403987"/>
                </a:lnTo>
                <a:lnTo>
                  <a:pt x="4717923" y="461772"/>
                </a:lnTo>
                <a:lnTo>
                  <a:pt x="5186172" y="230886"/>
                </a:lnTo>
                <a:lnTo>
                  <a:pt x="4717923" y="0"/>
                </a:lnTo>
                <a:close/>
              </a:path>
            </a:pathLst>
          </a:custGeom>
          <a:solidFill>
            <a:srgbClr val="F1F1F1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26104" y="3826383"/>
            <a:ext cx="5186680" cy="462280"/>
          </a:xfrm>
          <a:custGeom>
            <a:avLst/>
            <a:gdLst/>
            <a:ahLst/>
            <a:cxnLst/>
            <a:rect l="l" t="t" r="r" b="b"/>
            <a:pathLst>
              <a:path w="5186680" h="462279">
                <a:moveTo>
                  <a:pt x="0" y="57658"/>
                </a:moveTo>
                <a:lnTo>
                  <a:pt x="4717923" y="57658"/>
                </a:lnTo>
                <a:lnTo>
                  <a:pt x="4717923" y="0"/>
                </a:lnTo>
                <a:lnTo>
                  <a:pt x="5186172" y="230886"/>
                </a:lnTo>
                <a:lnTo>
                  <a:pt x="4717923" y="461772"/>
                </a:lnTo>
                <a:lnTo>
                  <a:pt x="4717923" y="403987"/>
                </a:lnTo>
                <a:lnTo>
                  <a:pt x="0" y="403987"/>
                </a:lnTo>
                <a:lnTo>
                  <a:pt x="0" y="57658"/>
                </a:lnTo>
                <a:close/>
              </a:path>
            </a:pathLst>
          </a:custGeom>
          <a:ln w="25146">
            <a:solidFill>
              <a:srgbClr val="D3D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155950" y="3933952"/>
            <a:ext cx="2832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5" dirty="0">
                <a:latin typeface="Arial"/>
                <a:cs typeface="Arial"/>
              </a:rPr>
              <a:t>Verificar </a:t>
            </a:r>
            <a:r>
              <a:rPr sz="1200" spc="-55" dirty="0">
                <a:latin typeface="Arial"/>
                <a:cs typeface="Arial"/>
              </a:rPr>
              <a:t>que existe </a:t>
            </a:r>
            <a:r>
              <a:rPr sz="1200" spc="-35" dirty="0">
                <a:latin typeface="Arial"/>
                <a:cs typeface="Arial"/>
              </a:rPr>
              <a:t>o </a:t>
            </a:r>
            <a:r>
              <a:rPr sz="1200" spc="-105" dirty="0">
                <a:latin typeface="Arial"/>
                <a:cs typeface="Arial"/>
              </a:rPr>
              <a:t>se </a:t>
            </a:r>
            <a:r>
              <a:rPr sz="1200" spc="-55" dirty="0">
                <a:latin typeface="Arial"/>
                <a:cs typeface="Arial"/>
              </a:rPr>
              <a:t>presenta </a:t>
            </a:r>
            <a:r>
              <a:rPr sz="1200" spc="-40" dirty="0">
                <a:latin typeface="Arial"/>
                <a:cs typeface="Arial"/>
              </a:rPr>
              <a:t>un</a:t>
            </a:r>
            <a:r>
              <a:rPr sz="1200" spc="-100" dirty="0">
                <a:latin typeface="Arial"/>
                <a:cs typeface="Arial"/>
              </a:rPr>
              <a:t> </a:t>
            </a:r>
            <a:r>
              <a:rPr sz="1200" spc="-15" dirty="0">
                <a:latin typeface="Arial"/>
                <a:cs typeface="Arial"/>
              </a:rPr>
              <a:t>atributo.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46225" y="3785615"/>
            <a:ext cx="2111502" cy="5821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45336" y="3841241"/>
            <a:ext cx="1113282" cy="5090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06424" y="3826002"/>
            <a:ext cx="1991360" cy="462280"/>
          </a:xfrm>
          <a:custGeom>
            <a:avLst/>
            <a:gdLst/>
            <a:ahLst/>
            <a:cxnLst/>
            <a:rect l="l" t="t" r="r" b="b"/>
            <a:pathLst>
              <a:path w="1991360" h="462279">
                <a:moveTo>
                  <a:pt x="1826133" y="0"/>
                </a:moveTo>
                <a:lnTo>
                  <a:pt x="164972" y="0"/>
                </a:lnTo>
                <a:lnTo>
                  <a:pt x="100748" y="6042"/>
                </a:lnTo>
                <a:lnTo>
                  <a:pt x="48310" y="22526"/>
                </a:lnTo>
                <a:lnTo>
                  <a:pt x="12961" y="46988"/>
                </a:lnTo>
                <a:lnTo>
                  <a:pt x="0" y="76962"/>
                </a:lnTo>
                <a:lnTo>
                  <a:pt x="0" y="384810"/>
                </a:lnTo>
                <a:lnTo>
                  <a:pt x="12961" y="414783"/>
                </a:lnTo>
                <a:lnTo>
                  <a:pt x="48310" y="439245"/>
                </a:lnTo>
                <a:lnTo>
                  <a:pt x="100748" y="455729"/>
                </a:lnTo>
                <a:lnTo>
                  <a:pt x="164972" y="461772"/>
                </a:lnTo>
                <a:lnTo>
                  <a:pt x="1826133" y="461772"/>
                </a:lnTo>
                <a:lnTo>
                  <a:pt x="1890379" y="455729"/>
                </a:lnTo>
                <a:lnTo>
                  <a:pt x="1942814" y="439245"/>
                </a:lnTo>
                <a:lnTo>
                  <a:pt x="1978152" y="414783"/>
                </a:lnTo>
                <a:lnTo>
                  <a:pt x="1991106" y="384810"/>
                </a:lnTo>
                <a:lnTo>
                  <a:pt x="1991106" y="76962"/>
                </a:lnTo>
                <a:lnTo>
                  <a:pt x="1978152" y="46988"/>
                </a:lnTo>
                <a:lnTo>
                  <a:pt x="1942814" y="22526"/>
                </a:lnTo>
                <a:lnTo>
                  <a:pt x="1890379" y="6042"/>
                </a:lnTo>
                <a:lnTo>
                  <a:pt x="1826133" y="0"/>
                </a:lnTo>
                <a:close/>
              </a:path>
            </a:pathLst>
          </a:custGeom>
          <a:solidFill>
            <a:srgbClr val="8099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106424" y="3826002"/>
            <a:ext cx="1991360" cy="462280"/>
          </a:xfrm>
          <a:custGeom>
            <a:avLst/>
            <a:gdLst/>
            <a:ahLst/>
            <a:cxnLst/>
            <a:rect l="l" t="t" r="r" b="b"/>
            <a:pathLst>
              <a:path w="1991360" h="462279">
                <a:moveTo>
                  <a:pt x="0" y="76962"/>
                </a:moveTo>
                <a:lnTo>
                  <a:pt x="12961" y="46988"/>
                </a:lnTo>
                <a:lnTo>
                  <a:pt x="48310" y="22526"/>
                </a:lnTo>
                <a:lnTo>
                  <a:pt x="100748" y="6042"/>
                </a:lnTo>
                <a:lnTo>
                  <a:pt x="164972" y="0"/>
                </a:lnTo>
                <a:lnTo>
                  <a:pt x="1826133" y="0"/>
                </a:lnTo>
                <a:lnTo>
                  <a:pt x="1890379" y="6042"/>
                </a:lnTo>
                <a:lnTo>
                  <a:pt x="1942814" y="22526"/>
                </a:lnTo>
                <a:lnTo>
                  <a:pt x="1978152" y="46988"/>
                </a:lnTo>
                <a:lnTo>
                  <a:pt x="1991106" y="76962"/>
                </a:lnTo>
                <a:lnTo>
                  <a:pt x="1991106" y="384810"/>
                </a:lnTo>
                <a:lnTo>
                  <a:pt x="1978152" y="414783"/>
                </a:lnTo>
                <a:lnTo>
                  <a:pt x="1942814" y="439245"/>
                </a:lnTo>
                <a:lnTo>
                  <a:pt x="1890379" y="455729"/>
                </a:lnTo>
                <a:lnTo>
                  <a:pt x="1826133" y="461772"/>
                </a:lnTo>
                <a:lnTo>
                  <a:pt x="164972" y="461772"/>
                </a:lnTo>
                <a:lnTo>
                  <a:pt x="100748" y="455729"/>
                </a:lnTo>
                <a:lnTo>
                  <a:pt x="48310" y="439245"/>
                </a:lnTo>
                <a:lnTo>
                  <a:pt x="12961" y="414783"/>
                </a:lnTo>
                <a:lnTo>
                  <a:pt x="0" y="384810"/>
                </a:lnTo>
                <a:lnTo>
                  <a:pt x="0" y="76962"/>
                </a:lnTo>
                <a:close/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695704" y="3897376"/>
            <a:ext cx="8134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45" dirty="0">
                <a:latin typeface="Trebuchet MS"/>
                <a:cs typeface="Trebuchet MS"/>
              </a:rPr>
              <a:t>E</a:t>
            </a:r>
            <a:r>
              <a:rPr sz="1600" b="1" spc="-165" dirty="0">
                <a:latin typeface="Trebuchet MS"/>
                <a:cs typeface="Trebuchet MS"/>
              </a:rPr>
              <a:t>x</a:t>
            </a:r>
            <a:r>
              <a:rPr sz="1600" b="1" spc="-75" dirty="0">
                <a:latin typeface="Trebuchet MS"/>
                <a:cs typeface="Trebuchet MS"/>
              </a:rPr>
              <a:t>ami</a:t>
            </a:r>
            <a:r>
              <a:rPr sz="1600" b="1" spc="-90" dirty="0">
                <a:latin typeface="Trebuchet MS"/>
                <a:cs typeface="Trebuchet MS"/>
              </a:rPr>
              <a:t>nar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143630" y="4321683"/>
            <a:ext cx="5186680" cy="463550"/>
          </a:xfrm>
          <a:custGeom>
            <a:avLst/>
            <a:gdLst/>
            <a:ahLst/>
            <a:cxnLst/>
            <a:rect l="l" t="t" r="r" b="b"/>
            <a:pathLst>
              <a:path w="5186680" h="463550">
                <a:moveTo>
                  <a:pt x="4717923" y="0"/>
                </a:moveTo>
                <a:lnTo>
                  <a:pt x="4717923" y="57912"/>
                </a:lnTo>
                <a:lnTo>
                  <a:pt x="0" y="57912"/>
                </a:lnTo>
                <a:lnTo>
                  <a:pt x="0" y="405384"/>
                </a:lnTo>
                <a:lnTo>
                  <a:pt x="4717923" y="405384"/>
                </a:lnTo>
                <a:lnTo>
                  <a:pt x="4717923" y="463296"/>
                </a:lnTo>
                <a:lnTo>
                  <a:pt x="5186172" y="231648"/>
                </a:lnTo>
                <a:lnTo>
                  <a:pt x="4717923" y="0"/>
                </a:lnTo>
                <a:close/>
              </a:path>
            </a:pathLst>
          </a:custGeom>
          <a:solidFill>
            <a:srgbClr val="F1F1F1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43630" y="4321683"/>
            <a:ext cx="5186680" cy="463550"/>
          </a:xfrm>
          <a:custGeom>
            <a:avLst/>
            <a:gdLst/>
            <a:ahLst/>
            <a:cxnLst/>
            <a:rect l="l" t="t" r="r" b="b"/>
            <a:pathLst>
              <a:path w="5186680" h="463550">
                <a:moveTo>
                  <a:pt x="0" y="57912"/>
                </a:moveTo>
                <a:lnTo>
                  <a:pt x="4717923" y="57912"/>
                </a:lnTo>
                <a:lnTo>
                  <a:pt x="4717923" y="0"/>
                </a:lnTo>
                <a:lnTo>
                  <a:pt x="5186172" y="231648"/>
                </a:lnTo>
                <a:lnTo>
                  <a:pt x="4717923" y="463296"/>
                </a:lnTo>
                <a:lnTo>
                  <a:pt x="4717923" y="405384"/>
                </a:lnTo>
                <a:lnTo>
                  <a:pt x="0" y="405384"/>
                </a:lnTo>
                <a:lnTo>
                  <a:pt x="0" y="57912"/>
                </a:lnTo>
                <a:close/>
              </a:path>
            </a:pathLst>
          </a:custGeom>
          <a:ln w="25146">
            <a:solidFill>
              <a:srgbClr val="D3D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224529" y="4347971"/>
            <a:ext cx="4201795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59"/>
              </a:spcBef>
            </a:pPr>
            <a:r>
              <a:rPr sz="1200" spc="-80" dirty="0">
                <a:latin typeface="Arial"/>
                <a:cs typeface="Arial"/>
              </a:rPr>
              <a:t>Realizar </a:t>
            </a:r>
            <a:r>
              <a:rPr sz="1200" spc="-65" dirty="0">
                <a:latin typeface="Arial"/>
                <a:cs typeface="Arial"/>
              </a:rPr>
              <a:t>comparaciones </a:t>
            </a:r>
            <a:r>
              <a:rPr sz="1200" spc="-25" dirty="0">
                <a:latin typeface="Arial"/>
                <a:cs typeface="Arial"/>
              </a:rPr>
              <a:t>entre </a:t>
            </a:r>
            <a:r>
              <a:rPr sz="1200" spc="-75" dirty="0">
                <a:latin typeface="Arial"/>
                <a:cs typeface="Arial"/>
              </a:rPr>
              <a:t>dos </a:t>
            </a:r>
            <a:r>
              <a:rPr sz="1200" spc="-25" dirty="0">
                <a:latin typeface="Arial"/>
                <a:cs typeface="Arial"/>
              </a:rPr>
              <a:t>atributos </a:t>
            </a:r>
            <a:r>
              <a:rPr sz="1200" spc="-40" dirty="0">
                <a:latin typeface="Arial"/>
                <a:cs typeface="Arial"/>
              </a:rPr>
              <a:t>diferentes </a:t>
            </a:r>
            <a:r>
              <a:rPr sz="1200" spc="-60" dirty="0">
                <a:latin typeface="Arial"/>
                <a:cs typeface="Arial"/>
              </a:rPr>
              <a:t>para </a:t>
            </a:r>
            <a:r>
              <a:rPr sz="1200" spc="-30" dirty="0">
                <a:latin typeface="Arial"/>
                <a:cs typeface="Arial"/>
              </a:rPr>
              <a:t>verificar  </a:t>
            </a:r>
            <a:r>
              <a:rPr sz="1200" spc="-55" dirty="0">
                <a:latin typeface="Arial"/>
                <a:cs typeface="Arial"/>
              </a:rPr>
              <a:t>que</a:t>
            </a:r>
            <a:r>
              <a:rPr sz="1200" spc="-7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coincidan.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63752" y="4280915"/>
            <a:ext cx="2113026" cy="583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40763" y="4337303"/>
            <a:ext cx="1159002" cy="5090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23950" y="4321302"/>
            <a:ext cx="1992630" cy="463550"/>
          </a:xfrm>
          <a:custGeom>
            <a:avLst/>
            <a:gdLst/>
            <a:ahLst/>
            <a:cxnLst/>
            <a:rect l="l" t="t" r="r" b="b"/>
            <a:pathLst>
              <a:path w="1992630" h="463550">
                <a:moveTo>
                  <a:pt x="1827530" y="0"/>
                </a:moveTo>
                <a:lnTo>
                  <a:pt x="165100" y="0"/>
                </a:lnTo>
                <a:lnTo>
                  <a:pt x="100828" y="6064"/>
                </a:lnTo>
                <a:lnTo>
                  <a:pt x="48350" y="22606"/>
                </a:lnTo>
                <a:lnTo>
                  <a:pt x="12972" y="47148"/>
                </a:lnTo>
                <a:lnTo>
                  <a:pt x="0" y="77216"/>
                </a:lnTo>
                <a:lnTo>
                  <a:pt x="0" y="386080"/>
                </a:lnTo>
                <a:lnTo>
                  <a:pt x="12972" y="416147"/>
                </a:lnTo>
                <a:lnTo>
                  <a:pt x="48350" y="440690"/>
                </a:lnTo>
                <a:lnTo>
                  <a:pt x="100828" y="457231"/>
                </a:lnTo>
                <a:lnTo>
                  <a:pt x="165100" y="463296"/>
                </a:lnTo>
                <a:lnTo>
                  <a:pt x="1827530" y="463296"/>
                </a:lnTo>
                <a:lnTo>
                  <a:pt x="1891795" y="457231"/>
                </a:lnTo>
                <a:lnTo>
                  <a:pt x="1944274" y="440690"/>
                </a:lnTo>
                <a:lnTo>
                  <a:pt x="1979656" y="416147"/>
                </a:lnTo>
                <a:lnTo>
                  <a:pt x="1992630" y="386080"/>
                </a:lnTo>
                <a:lnTo>
                  <a:pt x="1992630" y="77216"/>
                </a:lnTo>
                <a:lnTo>
                  <a:pt x="1979656" y="47148"/>
                </a:lnTo>
                <a:lnTo>
                  <a:pt x="1944274" y="22606"/>
                </a:lnTo>
                <a:lnTo>
                  <a:pt x="1891795" y="6064"/>
                </a:lnTo>
                <a:lnTo>
                  <a:pt x="1827530" y="0"/>
                </a:lnTo>
                <a:close/>
              </a:path>
            </a:pathLst>
          </a:custGeom>
          <a:solidFill>
            <a:srgbClr val="8099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23950" y="4321302"/>
            <a:ext cx="1992630" cy="463550"/>
          </a:xfrm>
          <a:custGeom>
            <a:avLst/>
            <a:gdLst/>
            <a:ahLst/>
            <a:cxnLst/>
            <a:rect l="l" t="t" r="r" b="b"/>
            <a:pathLst>
              <a:path w="1992630" h="463550">
                <a:moveTo>
                  <a:pt x="0" y="77216"/>
                </a:moveTo>
                <a:lnTo>
                  <a:pt x="12972" y="47148"/>
                </a:lnTo>
                <a:lnTo>
                  <a:pt x="48350" y="22606"/>
                </a:lnTo>
                <a:lnTo>
                  <a:pt x="100828" y="6064"/>
                </a:lnTo>
                <a:lnTo>
                  <a:pt x="165100" y="0"/>
                </a:lnTo>
                <a:lnTo>
                  <a:pt x="1827530" y="0"/>
                </a:lnTo>
                <a:lnTo>
                  <a:pt x="1891795" y="6064"/>
                </a:lnTo>
                <a:lnTo>
                  <a:pt x="1944274" y="22606"/>
                </a:lnTo>
                <a:lnTo>
                  <a:pt x="1979656" y="47148"/>
                </a:lnTo>
                <a:lnTo>
                  <a:pt x="1992630" y="77216"/>
                </a:lnTo>
                <a:lnTo>
                  <a:pt x="1992630" y="386080"/>
                </a:lnTo>
                <a:lnTo>
                  <a:pt x="1979656" y="416147"/>
                </a:lnTo>
                <a:lnTo>
                  <a:pt x="1944274" y="440690"/>
                </a:lnTo>
                <a:lnTo>
                  <a:pt x="1891795" y="457231"/>
                </a:lnTo>
                <a:lnTo>
                  <a:pt x="1827530" y="463296"/>
                </a:lnTo>
                <a:lnTo>
                  <a:pt x="165100" y="463296"/>
                </a:lnTo>
                <a:lnTo>
                  <a:pt x="100828" y="457231"/>
                </a:lnTo>
                <a:lnTo>
                  <a:pt x="48350" y="440690"/>
                </a:lnTo>
                <a:lnTo>
                  <a:pt x="12972" y="416147"/>
                </a:lnTo>
                <a:lnTo>
                  <a:pt x="0" y="386080"/>
                </a:lnTo>
                <a:lnTo>
                  <a:pt x="0" y="7721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691132" y="4393691"/>
            <a:ext cx="85788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latin typeface="Trebuchet MS"/>
                <a:cs typeface="Trebuchet MS"/>
              </a:rPr>
              <a:t>Comparar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143630" y="4810886"/>
            <a:ext cx="5179060" cy="462280"/>
          </a:xfrm>
          <a:custGeom>
            <a:avLst/>
            <a:gdLst/>
            <a:ahLst/>
            <a:cxnLst/>
            <a:rect l="l" t="t" r="r" b="b"/>
            <a:pathLst>
              <a:path w="5179059" h="462279">
                <a:moveTo>
                  <a:pt x="4710938" y="0"/>
                </a:moveTo>
                <a:lnTo>
                  <a:pt x="4710938" y="57657"/>
                </a:lnTo>
                <a:lnTo>
                  <a:pt x="0" y="57657"/>
                </a:lnTo>
                <a:lnTo>
                  <a:pt x="0" y="403987"/>
                </a:lnTo>
                <a:lnTo>
                  <a:pt x="4710938" y="403987"/>
                </a:lnTo>
                <a:lnTo>
                  <a:pt x="4710938" y="461772"/>
                </a:lnTo>
                <a:lnTo>
                  <a:pt x="5178552" y="230886"/>
                </a:lnTo>
                <a:lnTo>
                  <a:pt x="4710938" y="0"/>
                </a:lnTo>
                <a:close/>
              </a:path>
            </a:pathLst>
          </a:custGeom>
          <a:solidFill>
            <a:srgbClr val="F1F1F1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143630" y="4810886"/>
            <a:ext cx="5179060" cy="462280"/>
          </a:xfrm>
          <a:custGeom>
            <a:avLst/>
            <a:gdLst/>
            <a:ahLst/>
            <a:cxnLst/>
            <a:rect l="l" t="t" r="r" b="b"/>
            <a:pathLst>
              <a:path w="5179059" h="462279">
                <a:moveTo>
                  <a:pt x="0" y="57657"/>
                </a:moveTo>
                <a:lnTo>
                  <a:pt x="4710938" y="57657"/>
                </a:lnTo>
                <a:lnTo>
                  <a:pt x="4710938" y="0"/>
                </a:lnTo>
                <a:lnTo>
                  <a:pt x="5178552" y="230886"/>
                </a:lnTo>
                <a:lnTo>
                  <a:pt x="4710938" y="461772"/>
                </a:lnTo>
                <a:lnTo>
                  <a:pt x="4710938" y="403987"/>
                </a:lnTo>
                <a:lnTo>
                  <a:pt x="0" y="403987"/>
                </a:lnTo>
                <a:lnTo>
                  <a:pt x="0" y="57657"/>
                </a:lnTo>
                <a:close/>
              </a:path>
            </a:pathLst>
          </a:custGeom>
          <a:ln w="25146">
            <a:solidFill>
              <a:srgbClr val="D3D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173476" y="4836159"/>
            <a:ext cx="3784600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259"/>
              </a:spcBef>
            </a:pPr>
            <a:r>
              <a:rPr sz="1200" spc="-65" dirty="0">
                <a:latin typeface="Arial"/>
                <a:cs typeface="Arial"/>
              </a:rPr>
              <a:t>Proveer </a:t>
            </a:r>
            <a:r>
              <a:rPr sz="1200" spc="-40" dirty="0">
                <a:latin typeface="Arial"/>
                <a:cs typeface="Arial"/>
              </a:rPr>
              <a:t>dirección </a:t>
            </a:r>
            <a:r>
              <a:rPr sz="1200" spc="-60" dirty="0">
                <a:latin typeface="Arial"/>
                <a:cs typeface="Arial"/>
              </a:rPr>
              <a:t>y </a:t>
            </a:r>
            <a:r>
              <a:rPr sz="1200" spc="-50" dirty="0">
                <a:latin typeface="Arial"/>
                <a:cs typeface="Arial"/>
              </a:rPr>
              <a:t>supervisión </a:t>
            </a:r>
            <a:r>
              <a:rPr sz="1200" spc="-60" dirty="0">
                <a:latin typeface="Arial"/>
                <a:cs typeface="Arial"/>
              </a:rPr>
              <a:t>para </a:t>
            </a:r>
            <a:r>
              <a:rPr sz="1200" spc="-65" dirty="0">
                <a:latin typeface="Arial"/>
                <a:cs typeface="Arial"/>
              </a:rPr>
              <a:t>asegurar </a:t>
            </a:r>
            <a:r>
              <a:rPr sz="1200" spc="-55" dirty="0">
                <a:latin typeface="Arial"/>
                <a:cs typeface="Arial"/>
              </a:rPr>
              <a:t>que </a:t>
            </a:r>
            <a:r>
              <a:rPr sz="1200" spc="-105" dirty="0">
                <a:latin typeface="Arial"/>
                <a:cs typeface="Arial"/>
              </a:rPr>
              <a:t>se </a:t>
            </a:r>
            <a:r>
              <a:rPr sz="1200" spc="-40" dirty="0">
                <a:latin typeface="Arial"/>
                <a:cs typeface="Arial"/>
              </a:rPr>
              <a:t>lleven </a:t>
            </a:r>
            <a:r>
              <a:rPr sz="1200" spc="-95" dirty="0">
                <a:latin typeface="Arial"/>
                <a:cs typeface="Arial"/>
              </a:rPr>
              <a:t>a  </a:t>
            </a:r>
            <a:r>
              <a:rPr sz="1200" spc="-70" dirty="0">
                <a:latin typeface="Arial"/>
                <a:cs typeface="Arial"/>
              </a:rPr>
              <a:t>cabo </a:t>
            </a:r>
            <a:r>
              <a:rPr sz="1200" spc="-75" dirty="0">
                <a:latin typeface="Arial"/>
                <a:cs typeface="Arial"/>
              </a:rPr>
              <a:t>las </a:t>
            </a:r>
            <a:r>
              <a:rPr sz="1200" spc="-70" dirty="0">
                <a:latin typeface="Arial"/>
                <a:cs typeface="Arial"/>
              </a:rPr>
              <a:t>acciones </a:t>
            </a:r>
            <a:r>
              <a:rPr sz="1200" spc="-60" dirty="0">
                <a:latin typeface="Arial"/>
                <a:cs typeface="Arial"/>
              </a:rPr>
              <a:t>y tareas de </a:t>
            </a:r>
            <a:r>
              <a:rPr sz="1200" spc="-55" dirty="0">
                <a:latin typeface="Arial"/>
                <a:cs typeface="Arial"/>
              </a:rPr>
              <a:t>acuerdo </a:t>
            </a:r>
            <a:r>
              <a:rPr sz="1200" spc="-95" dirty="0">
                <a:latin typeface="Arial"/>
                <a:cs typeface="Arial"/>
              </a:rPr>
              <a:t>a </a:t>
            </a:r>
            <a:r>
              <a:rPr sz="1200" spc="-15" dirty="0">
                <a:latin typeface="Arial"/>
                <a:cs typeface="Arial"/>
              </a:rPr>
              <a:t>lo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estipulado.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63752" y="4770120"/>
            <a:ext cx="2113026" cy="5821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11808" y="4825746"/>
            <a:ext cx="1216914" cy="5090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123950" y="4810505"/>
            <a:ext cx="1992630" cy="462280"/>
          </a:xfrm>
          <a:custGeom>
            <a:avLst/>
            <a:gdLst/>
            <a:ahLst/>
            <a:cxnLst/>
            <a:rect l="l" t="t" r="r" b="b"/>
            <a:pathLst>
              <a:path w="1992630" h="462279">
                <a:moveTo>
                  <a:pt x="1827530" y="0"/>
                </a:moveTo>
                <a:lnTo>
                  <a:pt x="165100" y="0"/>
                </a:lnTo>
                <a:lnTo>
                  <a:pt x="100828" y="6042"/>
                </a:lnTo>
                <a:lnTo>
                  <a:pt x="48350" y="22526"/>
                </a:lnTo>
                <a:lnTo>
                  <a:pt x="12972" y="46988"/>
                </a:lnTo>
                <a:lnTo>
                  <a:pt x="0" y="76962"/>
                </a:lnTo>
                <a:lnTo>
                  <a:pt x="0" y="384810"/>
                </a:lnTo>
                <a:lnTo>
                  <a:pt x="12972" y="414783"/>
                </a:lnTo>
                <a:lnTo>
                  <a:pt x="48350" y="439245"/>
                </a:lnTo>
                <a:lnTo>
                  <a:pt x="100828" y="455729"/>
                </a:lnTo>
                <a:lnTo>
                  <a:pt x="165100" y="461772"/>
                </a:lnTo>
                <a:lnTo>
                  <a:pt x="1827530" y="461772"/>
                </a:lnTo>
                <a:lnTo>
                  <a:pt x="1891795" y="455729"/>
                </a:lnTo>
                <a:lnTo>
                  <a:pt x="1944274" y="439245"/>
                </a:lnTo>
                <a:lnTo>
                  <a:pt x="1979656" y="414783"/>
                </a:lnTo>
                <a:lnTo>
                  <a:pt x="1992630" y="384810"/>
                </a:lnTo>
                <a:lnTo>
                  <a:pt x="1992630" y="76962"/>
                </a:lnTo>
                <a:lnTo>
                  <a:pt x="1979656" y="46988"/>
                </a:lnTo>
                <a:lnTo>
                  <a:pt x="1944274" y="22526"/>
                </a:lnTo>
                <a:lnTo>
                  <a:pt x="1891795" y="6042"/>
                </a:lnTo>
                <a:lnTo>
                  <a:pt x="1827530" y="0"/>
                </a:lnTo>
                <a:close/>
              </a:path>
            </a:pathLst>
          </a:custGeom>
          <a:solidFill>
            <a:srgbClr val="8099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123950" y="4810505"/>
            <a:ext cx="1992630" cy="462280"/>
          </a:xfrm>
          <a:custGeom>
            <a:avLst/>
            <a:gdLst/>
            <a:ahLst/>
            <a:cxnLst/>
            <a:rect l="l" t="t" r="r" b="b"/>
            <a:pathLst>
              <a:path w="1992630" h="462279">
                <a:moveTo>
                  <a:pt x="0" y="76962"/>
                </a:moveTo>
                <a:lnTo>
                  <a:pt x="12972" y="46988"/>
                </a:lnTo>
                <a:lnTo>
                  <a:pt x="48350" y="22526"/>
                </a:lnTo>
                <a:lnTo>
                  <a:pt x="100828" y="6042"/>
                </a:lnTo>
                <a:lnTo>
                  <a:pt x="165100" y="0"/>
                </a:lnTo>
                <a:lnTo>
                  <a:pt x="1827530" y="0"/>
                </a:lnTo>
                <a:lnTo>
                  <a:pt x="1891795" y="6042"/>
                </a:lnTo>
                <a:lnTo>
                  <a:pt x="1944274" y="22526"/>
                </a:lnTo>
                <a:lnTo>
                  <a:pt x="1979656" y="46988"/>
                </a:lnTo>
                <a:lnTo>
                  <a:pt x="1992630" y="76962"/>
                </a:lnTo>
                <a:lnTo>
                  <a:pt x="1992630" y="384810"/>
                </a:lnTo>
                <a:lnTo>
                  <a:pt x="1979656" y="414783"/>
                </a:lnTo>
                <a:lnTo>
                  <a:pt x="1944274" y="439245"/>
                </a:lnTo>
                <a:lnTo>
                  <a:pt x="1891795" y="455729"/>
                </a:lnTo>
                <a:lnTo>
                  <a:pt x="1827530" y="461772"/>
                </a:lnTo>
                <a:lnTo>
                  <a:pt x="165100" y="461772"/>
                </a:lnTo>
                <a:lnTo>
                  <a:pt x="100828" y="455729"/>
                </a:lnTo>
                <a:lnTo>
                  <a:pt x="48350" y="439245"/>
                </a:lnTo>
                <a:lnTo>
                  <a:pt x="12972" y="414783"/>
                </a:lnTo>
                <a:lnTo>
                  <a:pt x="0" y="384810"/>
                </a:lnTo>
                <a:lnTo>
                  <a:pt x="0" y="7696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662176" y="4881879"/>
            <a:ext cx="915669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latin typeface="Trebuchet MS"/>
                <a:cs typeface="Trebuchet MS"/>
              </a:rPr>
              <a:t>Supervisar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126104" y="5306186"/>
            <a:ext cx="5213985" cy="463550"/>
          </a:xfrm>
          <a:custGeom>
            <a:avLst/>
            <a:gdLst/>
            <a:ahLst/>
            <a:cxnLst/>
            <a:rect l="l" t="t" r="r" b="b"/>
            <a:pathLst>
              <a:path w="5213984" h="463550">
                <a:moveTo>
                  <a:pt x="4742815" y="0"/>
                </a:moveTo>
                <a:lnTo>
                  <a:pt x="4742815" y="57912"/>
                </a:lnTo>
                <a:lnTo>
                  <a:pt x="0" y="57912"/>
                </a:lnTo>
                <a:lnTo>
                  <a:pt x="0" y="405384"/>
                </a:lnTo>
                <a:lnTo>
                  <a:pt x="4742815" y="405384"/>
                </a:lnTo>
                <a:lnTo>
                  <a:pt x="4742815" y="463296"/>
                </a:lnTo>
                <a:lnTo>
                  <a:pt x="5213604" y="231647"/>
                </a:lnTo>
                <a:lnTo>
                  <a:pt x="4742815" y="0"/>
                </a:lnTo>
                <a:close/>
              </a:path>
            </a:pathLst>
          </a:custGeom>
          <a:solidFill>
            <a:srgbClr val="F1F1F1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26104" y="5306186"/>
            <a:ext cx="5213985" cy="463550"/>
          </a:xfrm>
          <a:custGeom>
            <a:avLst/>
            <a:gdLst/>
            <a:ahLst/>
            <a:cxnLst/>
            <a:rect l="l" t="t" r="r" b="b"/>
            <a:pathLst>
              <a:path w="5213984" h="463550">
                <a:moveTo>
                  <a:pt x="0" y="57912"/>
                </a:moveTo>
                <a:lnTo>
                  <a:pt x="4742815" y="57912"/>
                </a:lnTo>
                <a:lnTo>
                  <a:pt x="4742815" y="0"/>
                </a:lnTo>
                <a:lnTo>
                  <a:pt x="5213604" y="231647"/>
                </a:lnTo>
                <a:lnTo>
                  <a:pt x="4742815" y="463296"/>
                </a:lnTo>
                <a:lnTo>
                  <a:pt x="4742815" y="405384"/>
                </a:lnTo>
                <a:lnTo>
                  <a:pt x="0" y="405384"/>
                </a:lnTo>
                <a:lnTo>
                  <a:pt x="0" y="57912"/>
                </a:lnTo>
                <a:close/>
              </a:path>
            </a:pathLst>
          </a:custGeom>
          <a:ln w="25146">
            <a:solidFill>
              <a:srgbClr val="D3D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242055" y="5414517"/>
            <a:ext cx="2238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latin typeface="Arial"/>
                <a:cs typeface="Arial"/>
              </a:rPr>
              <a:t>No </a:t>
            </a:r>
            <a:r>
              <a:rPr sz="1200" spc="-5" dirty="0">
                <a:latin typeface="Arial"/>
                <a:cs typeface="Arial"/>
              </a:rPr>
              <a:t>permitir </a:t>
            </a:r>
            <a:r>
              <a:rPr sz="1200" spc="-60" dirty="0">
                <a:latin typeface="Arial"/>
                <a:cs typeface="Arial"/>
              </a:rPr>
              <a:t>una acción</a:t>
            </a:r>
            <a:r>
              <a:rPr sz="1200" spc="-15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inaceptable.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046225" y="5265420"/>
            <a:ext cx="2111502" cy="5836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531619" y="5321808"/>
            <a:ext cx="1139952" cy="5090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06424" y="5305805"/>
            <a:ext cx="1991360" cy="463550"/>
          </a:xfrm>
          <a:custGeom>
            <a:avLst/>
            <a:gdLst/>
            <a:ahLst/>
            <a:cxnLst/>
            <a:rect l="l" t="t" r="r" b="b"/>
            <a:pathLst>
              <a:path w="1991360" h="463550">
                <a:moveTo>
                  <a:pt x="1826133" y="0"/>
                </a:moveTo>
                <a:lnTo>
                  <a:pt x="164972" y="0"/>
                </a:lnTo>
                <a:lnTo>
                  <a:pt x="100748" y="6064"/>
                </a:lnTo>
                <a:lnTo>
                  <a:pt x="48310" y="22606"/>
                </a:lnTo>
                <a:lnTo>
                  <a:pt x="12961" y="47148"/>
                </a:lnTo>
                <a:lnTo>
                  <a:pt x="0" y="77216"/>
                </a:lnTo>
                <a:lnTo>
                  <a:pt x="0" y="386080"/>
                </a:lnTo>
                <a:lnTo>
                  <a:pt x="12961" y="416136"/>
                </a:lnTo>
                <a:lnTo>
                  <a:pt x="48310" y="440680"/>
                </a:lnTo>
                <a:lnTo>
                  <a:pt x="100748" y="457228"/>
                </a:lnTo>
                <a:lnTo>
                  <a:pt x="164972" y="463296"/>
                </a:lnTo>
                <a:lnTo>
                  <a:pt x="1826133" y="463296"/>
                </a:lnTo>
                <a:lnTo>
                  <a:pt x="1890379" y="457228"/>
                </a:lnTo>
                <a:lnTo>
                  <a:pt x="1942814" y="440680"/>
                </a:lnTo>
                <a:lnTo>
                  <a:pt x="1978152" y="416136"/>
                </a:lnTo>
                <a:lnTo>
                  <a:pt x="1991106" y="386080"/>
                </a:lnTo>
                <a:lnTo>
                  <a:pt x="1991106" y="77216"/>
                </a:lnTo>
                <a:lnTo>
                  <a:pt x="1978152" y="47148"/>
                </a:lnTo>
                <a:lnTo>
                  <a:pt x="1942814" y="22606"/>
                </a:lnTo>
                <a:lnTo>
                  <a:pt x="1890379" y="6064"/>
                </a:lnTo>
                <a:lnTo>
                  <a:pt x="1826133" y="0"/>
                </a:lnTo>
                <a:close/>
              </a:path>
            </a:pathLst>
          </a:custGeom>
          <a:solidFill>
            <a:srgbClr val="8099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106424" y="5305805"/>
            <a:ext cx="1991360" cy="463550"/>
          </a:xfrm>
          <a:custGeom>
            <a:avLst/>
            <a:gdLst/>
            <a:ahLst/>
            <a:cxnLst/>
            <a:rect l="l" t="t" r="r" b="b"/>
            <a:pathLst>
              <a:path w="1991360" h="463550">
                <a:moveTo>
                  <a:pt x="0" y="77216"/>
                </a:moveTo>
                <a:lnTo>
                  <a:pt x="12961" y="47148"/>
                </a:lnTo>
                <a:lnTo>
                  <a:pt x="48310" y="22606"/>
                </a:lnTo>
                <a:lnTo>
                  <a:pt x="100748" y="6064"/>
                </a:lnTo>
                <a:lnTo>
                  <a:pt x="164972" y="0"/>
                </a:lnTo>
                <a:lnTo>
                  <a:pt x="1826133" y="0"/>
                </a:lnTo>
                <a:lnTo>
                  <a:pt x="1890379" y="6064"/>
                </a:lnTo>
                <a:lnTo>
                  <a:pt x="1942814" y="22606"/>
                </a:lnTo>
                <a:lnTo>
                  <a:pt x="1978152" y="47148"/>
                </a:lnTo>
                <a:lnTo>
                  <a:pt x="1991106" y="77216"/>
                </a:lnTo>
                <a:lnTo>
                  <a:pt x="1991106" y="386080"/>
                </a:lnTo>
                <a:lnTo>
                  <a:pt x="1978152" y="416136"/>
                </a:lnTo>
                <a:lnTo>
                  <a:pt x="1942814" y="440680"/>
                </a:lnTo>
                <a:lnTo>
                  <a:pt x="1890379" y="457228"/>
                </a:lnTo>
                <a:lnTo>
                  <a:pt x="1826133" y="463296"/>
                </a:lnTo>
                <a:lnTo>
                  <a:pt x="164972" y="463296"/>
                </a:lnTo>
                <a:lnTo>
                  <a:pt x="100748" y="457228"/>
                </a:lnTo>
                <a:lnTo>
                  <a:pt x="48310" y="440680"/>
                </a:lnTo>
                <a:lnTo>
                  <a:pt x="12961" y="416136"/>
                </a:lnTo>
                <a:lnTo>
                  <a:pt x="0" y="386080"/>
                </a:lnTo>
                <a:lnTo>
                  <a:pt x="0" y="77216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681988" y="5377941"/>
            <a:ext cx="8401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10" dirty="0">
                <a:latin typeface="Trebuchet MS"/>
                <a:cs typeface="Trebuchet MS"/>
              </a:rPr>
              <a:t>R</a:t>
            </a:r>
            <a:r>
              <a:rPr sz="1600" b="1" spc="-100" dirty="0">
                <a:latin typeface="Trebuchet MS"/>
                <a:cs typeface="Trebuchet MS"/>
              </a:rPr>
              <a:t>e</a:t>
            </a:r>
            <a:r>
              <a:rPr sz="1600" b="1" spc="-90" dirty="0">
                <a:latin typeface="Trebuchet MS"/>
                <a:cs typeface="Trebuchet MS"/>
              </a:rPr>
              <a:t>s</a:t>
            </a:r>
            <a:r>
              <a:rPr sz="1600" b="1" spc="-95" dirty="0">
                <a:latin typeface="Trebuchet MS"/>
                <a:cs typeface="Trebuchet MS"/>
              </a:rPr>
              <a:t>tri</a:t>
            </a:r>
            <a:r>
              <a:rPr sz="1600" b="1" spc="-85" dirty="0">
                <a:latin typeface="Trebuchet MS"/>
                <a:cs typeface="Trebuchet MS"/>
              </a:rPr>
              <a:t>ngir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126104" y="5807583"/>
            <a:ext cx="5199380" cy="462280"/>
          </a:xfrm>
          <a:custGeom>
            <a:avLst/>
            <a:gdLst/>
            <a:ahLst/>
            <a:cxnLst/>
            <a:rect l="l" t="t" r="r" b="b"/>
            <a:pathLst>
              <a:path w="5199380" h="462279">
                <a:moveTo>
                  <a:pt x="4729734" y="0"/>
                </a:moveTo>
                <a:lnTo>
                  <a:pt x="4729734" y="57721"/>
                </a:lnTo>
                <a:lnTo>
                  <a:pt x="0" y="57721"/>
                </a:lnTo>
                <a:lnTo>
                  <a:pt x="0" y="404050"/>
                </a:lnTo>
                <a:lnTo>
                  <a:pt x="4729734" y="404050"/>
                </a:lnTo>
                <a:lnTo>
                  <a:pt x="4729734" y="461771"/>
                </a:lnTo>
                <a:lnTo>
                  <a:pt x="5199126" y="230885"/>
                </a:lnTo>
                <a:lnTo>
                  <a:pt x="4729734" y="0"/>
                </a:lnTo>
                <a:close/>
              </a:path>
            </a:pathLst>
          </a:custGeom>
          <a:solidFill>
            <a:srgbClr val="F1F1F1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126104" y="5807583"/>
            <a:ext cx="5199380" cy="462280"/>
          </a:xfrm>
          <a:custGeom>
            <a:avLst/>
            <a:gdLst/>
            <a:ahLst/>
            <a:cxnLst/>
            <a:rect l="l" t="t" r="r" b="b"/>
            <a:pathLst>
              <a:path w="5199380" h="462279">
                <a:moveTo>
                  <a:pt x="0" y="57721"/>
                </a:moveTo>
                <a:lnTo>
                  <a:pt x="4729734" y="57721"/>
                </a:lnTo>
                <a:lnTo>
                  <a:pt x="4729734" y="0"/>
                </a:lnTo>
                <a:lnTo>
                  <a:pt x="5199126" y="230885"/>
                </a:lnTo>
                <a:lnTo>
                  <a:pt x="4729734" y="461771"/>
                </a:lnTo>
                <a:lnTo>
                  <a:pt x="4729734" y="404050"/>
                </a:lnTo>
                <a:lnTo>
                  <a:pt x="0" y="404050"/>
                </a:lnTo>
                <a:lnTo>
                  <a:pt x="0" y="57721"/>
                </a:lnTo>
                <a:close/>
              </a:path>
            </a:pathLst>
          </a:custGeom>
          <a:ln w="25146">
            <a:solidFill>
              <a:srgbClr val="D3D7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7678903" y="5883909"/>
            <a:ext cx="19621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25" dirty="0">
                <a:latin typeface="Arial"/>
                <a:cs typeface="Arial"/>
              </a:rPr>
              <a:t>ión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155950" y="5833109"/>
            <a:ext cx="4535170" cy="3733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91440" marR="5080" indent="-79375">
              <a:lnSpc>
                <a:spcPts val="1300"/>
              </a:lnSpc>
              <a:spcBef>
                <a:spcPts val="259"/>
              </a:spcBef>
            </a:pPr>
            <a:r>
              <a:rPr sz="1200" spc="-80" dirty="0">
                <a:latin typeface="Arial"/>
                <a:cs typeface="Arial"/>
              </a:rPr>
              <a:t>Separar </a:t>
            </a:r>
            <a:r>
              <a:rPr sz="1200" spc="-50" dirty="0">
                <a:latin typeface="Arial"/>
                <a:cs typeface="Arial"/>
              </a:rPr>
              <a:t>funciones </a:t>
            </a:r>
            <a:r>
              <a:rPr sz="1200" spc="-35" dirty="0">
                <a:latin typeface="Arial"/>
                <a:cs typeface="Arial"/>
              </a:rPr>
              <a:t>o </a:t>
            </a:r>
            <a:r>
              <a:rPr sz="1200" spc="-60" dirty="0">
                <a:latin typeface="Arial"/>
                <a:cs typeface="Arial"/>
              </a:rPr>
              <a:t>tareas </a:t>
            </a:r>
            <a:r>
              <a:rPr sz="1200" spc="-45" dirty="0">
                <a:latin typeface="Arial"/>
                <a:cs typeface="Arial"/>
              </a:rPr>
              <a:t>incompatibles </a:t>
            </a:r>
            <a:r>
              <a:rPr sz="1200" spc="-55" dirty="0">
                <a:latin typeface="Arial"/>
                <a:cs typeface="Arial"/>
              </a:rPr>
              <a:t>que </a:t>
            </a:r>
            <a:r>
              <a:rPr sz="1200" spc="-60" dirty="0">
                <a:latin typeface="Arial"/>
                <a:cs typeface="Arial"/>
              </a:rPr>
              <a:t>puedan </a:t>
            </a:r>
            <a:r>
              <a:rPr sz="1200" spc="-45" dirty="0">
                <a:latin typeface="Arial"/>
                <a:cs typeface="Arial"/>
              </a:rPr>
              <a:t>dar </a:t>
            </a:r>
            <a:r>
              <a:rPr sz="1200" spc="-50" dirty="0">
                <a:latin typeface="Arial"/>
                <a:cs typeface="Arial"/>
              </a:rPr>
              <a:t>lugar </a:t>
            </a:r>
            <a:r>
              <a:rPr sz="1200" spc="-95" dirty="0">
                <a:latin typeface="Arial"/>
                <a:cs typeface="Arial"/>
              </a:rPr>
              <a:t>a </a:t>
            </a:r>
            <a:r>
              <a:rPr sz="1200" spc="-60" dirty="0">
                <a:latin typeface="Arial"/>
                <a:cs typeface="Arial"/>
              </a:rPr>
              <a:t>una </a:t>
            </a:r>
            <a:r>
              <a:rPr sz="1200" spc="-95" dirty="0">
                <a:latin typeface="Arial"/>
                <a:cs typeface="Arial"/>
              </a:rPr>
              <a:t>acc  </a:t>
            </a:r>
            <a:r>
              <a:rPr sz="1200" spc="-65" dirty="0">
                <a:latin typeface="Arial"/>
                <a:cs typeface="Arial"/>
              </a:rPr>
              <a:t>indeseada </a:t>
            </a:r>
            <a:r>
              <a:rPr sz="1200" spc="-35" dirty="0">
                <a:latin typeface="Arial"/>
                <a:cs typeface="Arial"/>
              </a:rPr>
              <a:t>o </a:t>
            </a:r>
            <a:r>
              <a:rPr sz="1200" spc="-40" dirty="0">
                <a:latin typeface="Arial"/>
                <a:cs typeface="Arial"/>
              </a:rPr>
              <a:t>indebida, </a:t>
            </a:r>
            <a:r>
              <a:rPr sz="1200" spc="-85" dirty="0">
                <a:latin typeface="Arial"/>
                <a:cs typeface="Arial"/>
              </a:rPr>
              <a:t>ya </a:t>
            </a:r>
            <a:r>
              <a:rPr sz="1200" spc="-105" dirty="0">
                <a:latin typeface="Arial"/>
                <a:cs typeface="Arial"/>
              </a:rPr>
              <a:t>sea </a:t>
            </a:r>
            <a:r>
              <a:rPr sz="1200" spc="-55" dirty="0">
                <a:latin typeface="Arial"/>
                <a:cs typeface="Arial"/>
              </a:rPr>
              <a:t>en </a:t>
            </a:r>
            <a:r>
              <a:rPr sz="1200" spc="-35" dirty="0">
                <a:latin typeface="Arial"/>
                <a:cs typeface="Arial"/>
              </a:rPr>
              <a:t>forma intencional o</a:t>
            </a:r>
            <a:r>
              <a:rPr sz="1200" spc="-1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no.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046225" y="5766815"/>
            <a:ext cx="2111502" cy="58216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572005" y="5822441"/>
            <a:ext cx="1059180" cy="50901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106424" y="5807202"/>
            <a:ext cx="1991360" cy="462280"/>
          </a:xfrm>
          <a:custGeom>
            <a:avLst/>
            <a:gdLst/>
            <a:ahLst/>
            <a:cxnLst/>
            <a:rect l="l" t="t" r="r" b="b"/>
            <a:pathLst>
              <a:path w="1991360" h="462279">
                <a:moveTo>
                  <a:pt x="1826133" y="0"/>
                </a:moveTo>
                <a:lnTo>
                  <a:pt x="164972" y="0"/>
                </a:lnTo>
                <a:lnTo>
                  <a:pt x="100748" y="6047"/>
                </a:lnTo>
                <a:lnTo>
                  <a:pt x="48310" y="22540"/>
                </a:lnTo>
                <a:lnTo>
                  <a:pt x="12961" y="47004"/>
                </a:lnTo>
                <a:lnTo>
                  <a:pt x="0" y="76962"/>
                </a:lnTo>
                <a:lnTo>
                  <a:pt x="0" y="384810"/>
                </a:lnTo>
                <a:lnTo>
                  <a:pt x="12961" y="414767"/>
                </a:lnTo>
                <a:lnTo>
                  <a:pt x="48310" y="439231"/>
                </a:lnTo>
                <a:lnTo>
                  <a:pt x="100748" y="455724"/>
                </a:lnTo>
                <a:lnTo>
                  <a:pt x="164972" y="461772"/>
                </a:lnTo>
                <a:lnTo>
                  <a:pt x="1826133" y="461772"/>
                </a:lnTo>
                <a:lnTo>
                  <a:pt x="1890379" y="455724"/>
                </a:lnTo>
                <a:lnTo>
                  <a:pt x="1942814" y="439231"/>
                </a:lnTo>
                <a:lnTo>
                  <a:pt x="1978152" y="414767"/>
                </a:lnTo>
                <a:lnTo>
                  <a:pt x="1991106" y="384810"/>
                </a:lnTo>
                <a:lnTo>
                  <a:pt x="1991106" y="76962"/>
                </a:lnTo>
                <a:lnTo>
                  <a:pt x="1978152" y="47004"/>
                </a:lnTo>
                <a:lnTo>
                  <a:pt x="1942814" y="22540"/>
                </a:lnTo>
                <a:lnTo>
                  <a:pt x="1890379" y="6047"/>
                </a:lnTo>
                <a:lnTo>
                  <a:pt x="1826133" y="0"/>
                </a:lnTo>
                <a:close/>
              </a:path>
            </a:pathLst>
          </a:custGeom>
          <a:solidFill>
            <a:srgbClr val="8099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106424" y="5807202"/>
            <a:ext cx="1991360" cy="462280"/>
          </a:xfrm>
          <a:custGeom>
            <a:avLst/>
            <a:gdLst/>
            <a:ahLst/>
            <a:cxnLst/>
            <a:rect l="l" t="t" r="r" b="b"/>
            <a:pathLst>
              <a:path w="1991360" h="462279">
                <a:moveTo>
                  <a:pt x="0" y="76962"/>
                </a:moveTo>
                <a:lnTo>
                  <a:pt x="12961" y="47004"/>
                </a:lnTo>
                <a:lnTo>
                  <a:pt x="48310" y="22540"/>
                </a:lnTo>
                <a:lnTo>
                  <a:pt x="100748" y="6047"/>
                </a:lnTo>
                <a:lnTo>
                  <a:pt x="164972" y="0"/>
                </a:lnTo>
                <a:lnTo>
                  <a:pt x="1826133" y="0"/>
                </a:lnTo>
                <a:lnTo>
                  <a:pt x="1890379" y="6047"/>
                </a:lnTo>
                <a:lnTo>
                  <a:pt x="1942814" y="22540"/>
                </a:lnTo>
                <a:lnTo>
                  <a:pt x="1978152" y="47004"/>
                </a:lnTo>
                <a:lnTo>
                  <a:pt x="1991106" y="76962"/>
                </a:lnTo>
                <a:lnTo>
                  <a:pt x="1991106" y="384810"/>
                </a:lnTo>
                <a:lnTo>
                  <a:pt x="1978152" y="414767"/>
                </a:lnTo>
                <a:lnTo>
                  <a:pt x="1942814" y="439231"/>
                </a:lnTo>
                <a:lnTo>
                  <a:pt x="1890379" y="455724"/>
                </a:lnTo>
                <a:lnTo>
                  <a:pt x="1826133" y="461772"/>
                </a:lnTo>
                <a:lnTo>
                  <a:pt x="164972" y="461772"/>
                </a:lnTo>
                <a:lnTo>
                  <a:pt x="100748" y="455724"/>
                </a:lnTo>
                <a:lnTo>
                  <a:pt x="48310" y="439231"/>
                </a:lnTo>
                <a:lnTo>
                  <a:pt x="12961" y="414767"/>
                </a:lnTo>
                <a:lnTo>
                  <a:pt x="0" y="384810"/>
                </a:lnTo>
                <a:lnTo>
                  <a:pt x="0" y="7696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722373" y="5878829"/>
            <a:ext cx="7588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latin typeface="Trebuchet MS"/>
                <a:cs typeface="Trebuchet MS"/>
              </a:rPr>
              <a:t>Seg</a:t>
            </a:r>
            <a:r>
              <a:rPr sz="1600" b="1" spc="-95" dirty="0">
                <a:latin typeface="Trebuchet MS"/>
                <a:cs typeface="Trebuchet MS"/>
              </a:rPr>
              <a:t>r</a:t>
            </a:r>
            <a:r>
              <a:rPr sz="1600" b="1" spc="-90" dirty="0">
                <a:latin typeface="Trebuchet MS"/>
                <a:cs typeface="Trebuchet MS"/>
              </a:rPr>
              <a:t>e</a:t>
            </a:r>
            <a:r>
              <a:rPr sz="1600" b="1" spc="-105" dirty="0">
                <a:latin typeface="Trebuchet MS"/>
                <a:cs typeface="Trebuchet MS"/>
              </a:rPr>
              <a:t>g</a:t>
            </a:r>
            <a:r>
              <a:rPr sz="1600" b="1" spc="-90" dirty="0">
                <a:latin typeface="Trebuchet MS"/>
                <a:cs typeface="Trebuchet MS"/>
              </a:rPr>
              <a:t>ar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839456" y="2368295"/>
            <a:ext cx="1000125" cy="3969385"/>
          </a:xfrm>
          <a:custGeom>
            <a:avLst/>
            <a:gdLst/>
            <a:ahLst/>
            <a:cxnLst/>
            <a:rect l="l" t="t" r="r" b="b"/>
            <a:pathLst>
              <a:path w="1000125" h="3969385">
                <a:moveTo>
                  <a:pt x="0" y="3969258"/>
                </a:moveTo>
                <a:lnTo>
                  <a:pt x="999744" y="3969258"/>
                </a:lnTo>
                <a:lnTo>
                  <a:pt x="999744" y="0"/>
                </a:lnTo>
                <a:lnTo>
                  <a:pt x="0" y="0"/>
                </a:lnTo>
                <a:lnTo>
                  <a:pt x="0" y="39692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231140" y="1112519"/>
            <a:ext cx="8648065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>
              <a:lnSpc>
                <a:spcPct val="100000"/>
              </a:lnSpc>
              <a:spcBef>
                <a:spcPts val="100"/>
              </a:spcBef>
            </a:pPr>
            <a:r>
              <a:rPr sz="1600" spc="-145" dirty="0">
                <a:latin typeface="Arial"/>
                <a:cs typeface="Arial"/>
              </a:rPr>
              <a:t>Son </a:t>
            </a:r>
            <a:r>
              <a:rPr sz="1600" b="1" spc="-95" dirty="0">
                <a:latin typeface="Trebuchet MS"/>
                <a:cs typeface="Trebuchet MS"/>
              </a:rPr>
              <a:t>procedimientos específicos </a:t>
            </a:r>
            <a:r>
              <a:rPr sz="1600" spc="-75" dirty="0">
                <a:latin typeface="Arial"/>
                <a:cs typeface="Arial"/>
              </a:rPr>
              <a:t>establecidos como </a:t>
            </a:r>
            <a:r>
              <a:rPr sz="1600" spc="-55" dirty="0">
                <a:latin typeface="Arial"/>
                <a:cs typeface="Arial"/>
              </a:rPr>
              <a:t>un </a:t>
            </a:r>
            <a:r>
              <a:rPr sz="1600" spc="-80" dirty="0">
                <a:latin typeface="Arial"/>
                <a:cs typeface="Arial"/>
              </a:rPr>
              <a:t>reaseguro para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40" dirty="0">
                <a:latin typeface="Arial"/>
                <a:cs typeface="Arial"/>
              </a:rPr>
              <a:t>cumplimiento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45" dirty="0">
                <a:latin typeface="Arial"/>
                <a:cs typeface="Arial"/>
              </a:rPr>
              <a:t>objetivos,  </a:t>
            </a:r>
            <a:r>
              <a:rPr sz="1600" spc="-55" dirty="0">
                <a:latin typeface="Arial"/>
                <a:cs typeface="Arial"/>
              </a:rPr>
              <a:t>orientados </a:t>
            </a:r>
            <a:r>
              <a:rPr sz="1600" spc="-40" dirty="0">
                <a:latin typeface="Arial"/>
                <a:cs typeface="Arial"/>
              </a:rPr>
              <a:t>primordialmente </a:t>
            </a:r>
            <a:r>
              <a:rPr sz="1600" spc="-85" dirty="0">
                <a:latin typeface="Arial"/>
                <a:cs typeface="Arial"/>
              </a:rPr>
              <a:t>hacia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65" dirty="0">
                <a:latin typeface="Arial"/>
                <a:cs typeface="Arial"/>
              </a:rPr>
              <a:t>prevención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0" dirty="0">
                <a:latin typeface="Arial"/>
                <a:cs typeface="Arial"/>
              </a:rPr>
              <a:t>mitigación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los</a:t>
            </a:r>
            <a:r>
              <a:rPr sz="1600" spc="-275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riesgos.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600" spc="-175" dirty="0">
                <a:latin typeface="Arial"/>
                <a:cs typeface="Arial"/>
              </a:rPr>
              <a:t>Las </a:t>
            </a:r>
            <a:r>
              <a:rPr sz="1600" spc="-70" dirty="0">
                <a:latin typeface="Arial"/>
                <a:cs typeface="Arial"/>
              </a:rPr>
              <a:t>actividades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30" dirty="0">
                <a:latin typeface="Arial"/>
                <a:cs typeface="Arial"/>
              </a:rPr>
              <a:t>control </a:t>
            </a:r>
            <a:r>
              <a:rPr sz="1600" b="1" spc="-85" dirty="0">
                <a:latin typeface="Trebuchet MS"/>
                <a:cs typeface="Trebuchet MS"/>
              </a:rPr>
              <a:t>se </a:t>
            </a:r>
            <a:r>
              <a:rPr sz="1600" b="1" spc="-114" dirty="0">
                <a:latin typeface="Trebuchet MS"/>
                <a:cs typeface="Trebuchet MS"/>
              </a:rPr>
              <a:t>ejecutan </a:t>
            </a:r>
            <a:r>
              <a:rPr sz="1600" b="1" spc="-105" dirty="0">
                <a:latin typeface="Trebuchet MS"/>
                <a:cs typeface="Trebuchet MS"/>
              </a:rPr>
              <a:t>en </a:t>
            </a:r>
            <a:r>
              <a:rPr sz="1600" b="1" spc="-65" dirty="0">
                <a:latin typeface="Trebuchet MS"/>
                <a:cs typeface="Trebuchet MS"/>
              </a:rPr>
              <a:t>todos </a:t>
            </a:r>
            <a:r>
              <a:rPr sz="1600" b="1" spc="-60" dirty="0">
                <a:latin typeface="Trebuchet MS"/>
                <a:cs typeface="Trebuchet MS"/>
              </a:rPr>
              <a:t>los </a:t>
            </a:r>
            <a:r>
              <a:rPr sz="1600" b="1" spc="-95" dirty="0">
                <a:latin typeface="Trebuchet MS"/>
                <a:cs typeface="Trebuchet MS"/>
              </a:rPr>
              <a:t>niveles de </a:t>
            </a:r>
            <a:r>
              <a:rPr sz="1600" b="1" spc="-70" dirty="0">
                <a:latin typeface="Trebuchet MS"/>
                <a:cs typeface="Trebuchet MS"/>
              </a:rPr>
              <a:t>la </a:t>
            </a:r>
            <a:r>
              <a:rPr sz="1600" b="1" spc="-95" dirty="0">
                <a:latin typeface="Trebuchet MS"/>
                <a:cs typeface="Trebuchet MS"/>
              </a:rPr>
              <a:t>organización </a:t>
            </a:r>
            <a:r>
              <a:rPr sz="1600" spc="-75" dirty="0">
                <a:latin typeface="Arial"/>
                <a:cs typeface="Arial"/>
              </a:rPr>
              <a:t>y en </a:t>
            </a:r>
            <a:r>
              <a:rPr sz="1600" spc="-114" dirty="0">
                <a:latin typeface="Arial"/>
                <a:cs typeface="Arial"/>
              </a:rPr>
              <a:t>cada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100" dirty="0">
                <a:latin typeface="Arial"/>
                <a:cs typeface="Arial"/>
              </a:rPr>
              <a:t>las  </a:t>
            </a:r>
            <a:r>
              <a:rPr sz="1600" spc="-85" dirty="0">
                <a:latin typeface="Arial"/>
                <a:cs typeface="Arial"/>
              </a:rPr>
              <a:t>etapas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gestión.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50</a:t>
            </a:fld>
            <a:endParaRPr sz="900">
              <a:latin typeface="Arial"/>
              <a:cs typeface="Arial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37412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109471"/>
            <a:ext cx="8064500" cy="3865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70" dirty="0">
                <a:latin typeface="Trebuchet MS"/>
                <a:cs typeface="Trebuchet MS"/>
              </a:rPr>
              <a:t>¿Qué </a:t>
            </a:r>
            <a:r>
              <a:rPr sz="2000" b="1" spc="-105" dirty="0">
                <a:latin typeface="Trebuchet MS"/>
                <a:cs typeface="Trebuchet MS"/>
              </a:rPr>
              <a:t>es </a:t>
            </a:r>
            <a:r>
              <a:rPr sz="2000" b="1" spc="-110" dirty="0">
                <a:latin typeface="Trebuchet MS"/>
                <a:cs typeface="Trebuchet MS"/>
              </a:rPr>
              <a:t>un </a:t>
            </a:r>
            <a:r>
              <a:rPr sz="2000" b="1" spc="-114" dirty="0">
                <a:latin typeface="Trebuchet MS"/>
                <a:cs typeface="Trebuchet MS"/>
              </a:rPr>
              <a:t>buen</a:t>
            </a:r>
            <a:r>
              <a:rPr sz="2000" b="1" spc="-295" dirty="0">
                <a:latin typeface="Trebuchet MS"/>
                <a:cs typeface="Trebuchet MS"/>
              </a:rPr>
              <a:t> </a:t>
            </a:r>
            <a:r>
              <a:rPr sz="2000" b="1" spc="-95" dirty="0">
                <a:latin typeface="Trebuchet MS"/>
                <a:cs typeface="Trebuchet MS"/>
              </a:rPr>
              <a:t>Control?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20" dirty="0">
                <a:latin typeface="Arial"/>
                <a:cs typeface="Arial"/>
              </a:rPr>
              <a:t>La </a:t>
            </a:r>
            <a:r>
              <a:rPr sz="2000" b="1" spc="-120" dirty="0">
                <a:latin typeface="Trebuchet MS"/>
                <a:cs typeface="Trebuchet MS"/>
              </a:rPr>
              <a:t>descripción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un </a:t>
            </a:r>
            <a:r>
              <a:rPr sz="2000" spc="-85" dirty="0">
                <a:latin typeface="Arial"/>
                <a:cs typeface="Arial"/>
              </a:rPr>
              <a:t>buen </a:t>
            </a:r>
            <a:r>
              <a:rPr sz="2000" spc="-40" dirty="0">
                <a:latin typeface="Arial"/>
                <a:cs typeface="Arial"/>
              </a:rPr>
              <a:t>control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80" dirty="0">
                <a:latin typeface="Arial"/>
                <a:cs typeface="Arial"/>
              </a:rPr>
              <a:t>aquella </a:t>
            </a:r>
            <a:r>
              <a:rPr sz="2000" spc="-85" dirty="0">
                <a:latin typeface="Arial"/>
                <a:cs typeface="Arial"/>
              </a:rPr>
              <a:t>que</a:t>
            </a:r>
            <a:r>
              <a:rPr sz="2000" spc="-40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claramente: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Clr>
                <a:srgbClr val="3A9FFF"/>
              </a:buClr>
              <a:buChar char="•"/>
              <a:tabLst>
                <a:tab pos="297815" algn="l"/>
                <a:tab pos="298450" algn="l"/>
              </a:tabLst>
            </a:pPr>
            <a:r>
              <a:rPr sz="2000" spc="-120" dirty="0">
                <a:latin typeface="Arial"/>
                <a:cs typeface="Arial"/>
              </a:rPr>
              <a:t>Cumple </a:t>
            </a:r>
            <a:r>
              <a:rPr sz="2000" spc="-105" dirty="0">
                <a:latin typeface="Arial"/>
                <a:cs typeface="Arial"/>
              </a:rPr>
              <a:t>con </a:t>
            </a:r>
            <a:r>
              <a:rPr sz="2000" spc="-95" dirty="0">
                <a:latin typeface="Arial"/>
                <a:cs typeface="Arial"/>
              </a:rPr>
              <a:t>los </a:t>
            </a:r>
            <a:r>
              <a:rPr sz="2000" spc="-80" dirty="0">
                <a:latin typeface="Arial"/>
                <a:cs typeface="Arial"/>
              </a:rPr>
              <a:t>Objetivos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Control.</a:t>
            </a:r>
            <a:endParaRPr sz="20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spcBef>
                <a:spcPts val="480"/>
              </a:spcBef>
              <a:buClr>
                <a:srgbClr val="3A9FFF"/>
              </a:buClr>
              <a:buChar char="•"/>
              <a:tabLst>
                <a:tab pos="297815" algn="l"/>
                <a:tab pos="298450" algn="l"/>
              </a:tabLst>
            </a:pPr>
            <a:r>
              <a:rPr sz="2000" spc="-35" dirty="0">
                <a:latin typeface="Arial"/>
                <a:cs typeface="Arial"/>
              </a:rPr>
              <a:t>Mitiga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155" dirty="0">
                <a:latin typeface="Arial"/>
                <a:cs typeface="Arial"/>
              </a:rPr>
              <a:t>Riesgo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45" dirty="0">
                <a:latin typeface="Arial"/>
                <a:cs typeface="Arial"/>
              </a:rPr>
              <a:t>Estados </a:t>
            </a:r>
            <a:r>
              <a:rPr sz="2000" spc="-105" dirty="0">
                <a:latin typeface="Arial"/>
                <a:cs typeface="Arial"/>
              </a:rPr>
              <a:t>Financieros, </a:t>
            </a:r>
            <a:r>
              <a:rPr sz="2000" spc="-95" dirty="0">
                <a:latin typeface="Arial"/>
                <a:cs typeface="Arial"/>
              </a:rPr>
              <a:t>de operaciones </a:t>
            </a:r>
            <a:r>
              <a:rPr sz="2000" spc="-60" dirty="0">
                <a:latin typeface="Arial"/>
                <a:cs typeface="Arial"/>
              </a:rPr>
              <a:t>o </a:t>
            </a:r>
            <a:r>
              <a:rPr sz="2000" spc="-50" dirty="0">
                <a:latin typeface="Arial"/>
                <a:cs typeface="Arial"/>
              </a:rPr>
              <a:t>cumplimiento  regulatorio.</a:t>
            </a: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480"/>
              </a:spcBef>
              <a:buClr>
                <a:srgbClr val="3A9FFF"/>
              </a:buClr>
              <a:buChar char="•"/>
              <a:tabLst>
                <a:tab pos="297815" algn="l"/>
                <a:tab pos="298450" algn="l"/>
              </a:tabLst>
            </a:pPr>
            <a:r>
              <a:rPr sz="2000" spc="-95" dirty="0">
                <a:latin typeface="Arial"/>
                <a:cs typeface="Arial"/>
              </a:rPr>
              <a:t>Direcciona </a:t>
            </a:r>
            <a:r>
              <a:rPr sz="2000" spc="-85" dirty="0">
                <a:latin typeface="Arial"/>
                <a:cs typeface="Arial"/>
              </a:rPr>
              <a:t>todas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80" dirty="0">
                <a:latin typeface="Arial"/>
                <a:cs typeface="Arial"/>
              </a:rPr>
              <a:t>afirmaciones </a:t>
            </a:r>
            <a:r>
              <a:rPr sz="2000" spc="-85" dirty="0">
                <a:latin typeface="Arial"/>
                <a:cs typeface="Arial"/>
              </a:rPr>
              <a:t>relevantes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45" dirty="0">
                <a:latin typeface="Arial"/>
                <a:cs typeface="Arial"/>
              </a:rPr>
              <a:t>Estados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Financieros.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 marR="76835">
              <a:lnSpc>
                <a:spcPct val="100000"/>
              </a:lnSpc>
            </a:pPr>
            <a:r>
              <a:rPr sz="2000" spc="-130" dirty="0">
                <a:latin typeface="Arial"/>
                <a:cs typeface="Arial"/>
              </a:rPr>
              <a:t>Una </a:t>
            </a:r>
            <a:r>
              <a:rPr sz="2000" spc="-100" dirty="0">
                <a:latin typeface="Arial"/>
                <a:cs typeface="Arial"/>
              </a:rPr>
              <a:t>buena </a:t>
            </a:r>
            <a:r>
              <a:rPr sz="2000" spc="-80" dirty="0">
                <a:latin typeface="Arial"/>
                <a:cs typeface="Arial"/>
              </a:rPr>
              <a:t>descripción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40" dirty="0">
                <a:latin typeface="Arial"/>
                <a:cs typeface="Arial"/>
              </a:rPr>
              <a:t>control </a:t>
            </a:r>
            <a:r>
              <a:rPr sz="2000" spc="-90" dirty="0">
                <a:latin typeface="Arial"/>
                <a:cs typeface="Arial"/>
              </a:rPr>
              <a:t>debería </a:t>
            </a:r>
            <a:r>
              <a:rPr sz="2000" spc="-110" dirty="0">
                <a:latin typeface="Arial"/>
                <a:cs typeface="Arial"/>
              </a:rPr>
              <a:t>ser </a:t>
            </a:r>
            <a:r>
              <a:rPr sz="2000" spc="-95" dirty="0">
                <a:latin typeface="Arial"/>
                <a:cs typeface="Arial"/>
              </a:rPr>
              <a:t>adecuadamente </a:t>
            </a:r>
            <a:r>
              <a:rPr sz="2000" spc="-65" dirty="0">
                <a:latin typeface="Arial"/>
                <a:cs typeface="Arial"/>
              </a:rPr>
              <a:t>estructurada </a:t>
            </a:r>
            <a:r>
              <a:rPr sz="2000" spc="-100" dirty="0">
                <a:latin typeface="Arial"/>
                <a:cs typeface="Arial"/>
              </a:rPr>
              <a:t>y  </a:t>
            </a:r>
            <a:r>
              <a:rPr sz="2000" spc="-85" dirty="0">
                <a:latin typeface="Arial"/>
                <a:cs typeface="Arial"/>
              </a:rPr>
              <a:t>redactada.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258" y="64146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lang="es-AR" sz="1000" spc="40" dirty="0" err="1"/>
              <a:t>Mag</a:t>
            </a:r>
            <a:r>
              <a:rPr lang="es-AR" sz="1000" spc="40" dirty="0"/>
              <a:t>.</a:t>
            </a:r>
            <a:r>
              <a:rPr lang="es-AR" sz="1000" spc="-30" dirty="0"/>
              <a:t> </a:t>
            </a:r>
            <a:r>
              <a:rPr lang="es-AR" sz="1000" spc="-5" dirty="0"/>
              <a:t>Javier F. Klus </a:t>
            </a:r>
            <a:r>
              <a:rPr lang="es-AR" sz="1000" spc="-30" dirty="0"/>
              <a:t>(jklus@uade.edu.ar)</a:t>
            </a:r>
            <a:endParaRPr sz="10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2707" y="6427883"/>
            <a:ext cx="1778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z="900" spc="-5" dirty="0">
                <a:solidFill>
                  <a:srgbClr val="00338D"/>
                </a:solidFill>
                <a:latin typeface="Arial"/>
                <a:cs typeface="Arial"/>
              </a:rPr>
              <a:t>51</a:t>
            </a:fld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61899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75" dirty="0">
                <a:latin typeface="Arial"/>
                <a:cs typeface="Arial"/>
              </a:rPr>
              <a:t>Antecedentes </a:t>
            </a:r>
            <a:r>
              <a:rPr sz="1800" b="0" spc="-90" dirty="0">
                <a:latin typeface="Arial"/>
                <a:cs typeface="Arial"/>
              </a:rPr>
              <a:t>y </a:t>
            </a:r>
            <a:r>
              <a:rPr sz="1800" b="0" spc="-80" dirty="0">
                <a:latin typeface="Arial"/>
                <a:cs typeface="Arial"/>
              </a:rPr>
              <a:t>conceptos </a:t>
            </a:r>
            <a:r>
              <a:rPr sz="1800" b="0" spc="-65" dirty="0">
                <a:latin typeface="Arial"/>
                <a:cs typeface="Arial"/>
              </a:rPr>
              <a:t>fundamentales</a:t>
            </a:r>
            <a:r>
              <a:rPr sz="1800" b="0" spc="-60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1361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115" y="2294382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5115" y="4123182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5115" y="543382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2541" y="193801"/>
            <a:ext cx="8349615" cy="610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Pautas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implementación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controles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considerar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0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50" dirty="0">
                <a:latin typeface="Arial"/>
                <a:cs typeface="Arial"/>
              </a:rPr>
              <a:t>Formación de </a:t>
            </a:r>
            <a:r>
              <a:rPr sz="3200" spc="-105" dirty="0">
                <a:latin typeface="Arial"/>
                <a:cs typeface="Arial"/>
              </a:rPr>
              <a:t>un </a:t>
            </a:r>
            <a:r>
              <a:rPr sz="3200" spc="-60" dirty="0">
                <a:latin typeface="Arial"/>
                <a:cs typeface="Arial"/>
              </a:rPr>
              <a:t>“ambiente </a:t>
            </a:r>
            <a:r>
              <a:rPr sz="3200" spc="-150" dirty="0">
                <a:latin typeface="Arial"/>
                <a:cs typeface="Arial"/>
              </a:rPr>
              <a:t>de</a:t>
            </a:r>
            <a:r>
              <a:rPr sz="3200" spc="-3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control”.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95" dirty="0">
                <a:latin typeface="Trebuchet MS"/>
                <a:cs typeface="Trebuchet MS"/>
              </a:rPr>
              <a:t>Ninguna </a:t>
            </a:r>
            <a:r>
              <a:rPr sz="2200" b="1" spc="-120" dirty="0">
                <a:latin typeface="Trebuchet MS"/>
                <a:cs typeface="Trebuchet MS"/>
              </a:rPr>
              <a:t>operación </a:t>
            </a:r>
            <a:r>
              <a:rPr sz="2200" b="1" spc="-114" dirty="0">
                <a:latin typeface="Trebuchet MS"/>
                <a:cs typeface="Trebuchet MS"/>
              </a:rPr>
              <a:t>importante </a:t>
            </a:r>
            <a:r>
              <a:rPr sz="2200" b="1" spc="-120" dirty="0">
                <a:latin typeface="Trebuchet MS"/>
                <a:cs typeface="Trebuchet MS"/>
              </a:rPr>
              <a:t>queda </a:t>
            </a:r>
            <a:r>
              <a:rPr sz="2200" b="1" spc="-105" dirty="0">
                <a:latin typeface="Trebuchet MS"/>
                <a:cs typeface="Trebuchet MS"/>
              </a:rPr>
              <a:t>sin</a:t>
            </a:r>
            <a:r>
              <a:rPr sz="2200" b="1" spc="-430" dirty="0">
                <a:latin typeface="Trebuchet MS"/>
                <a:cs typeface="Trebuchet MS"/>
              </a:rPr>
              <a:t> </a:t>
            </a:r>
            <a:r>
              <a:rPr sz="2200" b="1" spc="-135" dirty="0">
                <a:latin typeface="Trebuchet MS"/>
                <a:cs typeface="Trebuchet MS"/>
              </a:rPr>
              <a:t>controlar.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25" dirty="0">
                <a:latin typeface="Arial"/>
                <a:cs typeface="Arial"/>
              </a:rPr>
              <a:t>Evitar </a:t>
            </a:r>
            <a:r>
              <a:rPr sz="3200" spc="-150" dirty="0">
                <a:latin typeface="Arial"/>
                <a:cs typeface="Arial"/>
              </a:rPr>
              <a:t>“zonas </a:t>
            </a:r>
            <a:r>
              <a:rPr sz="3200" spc="-105" dirty="0">
                <a:latin typeface="Arial"/>
                <a:cs typeface="Arial"/>
              </a:rPr>
              <a:t>disputadas” </a:t>
            </a:r>
            <a:r>
              <a:rPr sz="3200" spc="-95" dirty="0">
                <a:latin typeface="Arial"/>
                <a:cs typeface="Arial"/>
              </a:rPr>
              <a:t>o </a:t>
            </a:r>
            <a:r>
              <a:rPr sz="3200" spc="-35" dirty="0">
                <a:latin typeface="Arial"/>
                <a:cs typeface="Arial"/>
              </a:rPr>
              <a:t>“tierras </a:t>
            </a:r>
            <a:r>
              <a:rPr sz="3200" spc="-150" dirty="0">
                <a:latin typeface="Arial"/>
                <a:cs typeface="Arial"/>
              </a:rPr>
              <a:t>de</a:t>
            </a:r>
            <a:r>
              <a:rPr sz="3200" spc="-450" dirty="0">
                <a:latin typeface="Arial"/>
                <a:cs typeface="Arial"/>
              </a:rPr>
              <a:t> </a:t>
            </a:r>
            <a:r>
              <a:rPr sz="3200" spc="-70" dirty="0">
                <a:latin typeface="Arial"/>
                <a:cs typeface="Arial"/>
              </a:rPr>
              <a:t>nadie”.</a:t>
            </a:r>
            <a:endParaRPr sz="3200">
              <a:latin typeface="Arial"/>
              <a:cs typeface="Arial"/>
            </a:endParaRPr>
          </a:p>
          <a:p>
            <a:pPr marL="355600" marR="469265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14" dirty="0">
                <a:latin typeface="Trebuchet MS"/>
                <a:cs typeface="Trebuchet MS"/>
              </a:rPr>
              <a:t>Deben </a:t>
            </a:r>
            <a:r>
              <a:rPr sz="2200" b="1" spc="-125" dirty="0">
                <a:latin typeface="Trebuchet MS"/>
                <a:cs typeface="Trebuchet MS"/>
              </a:rPr>
              <a:t>estar </a:t>
            </a:r>
            <a:r>
              <a:rPr sz="2200" b="1" spc="-135" dirty="0">
                <a:latin typeface="Trebuchet MS"/>
                <a:cs typeface="Trebuchet MS"/>
              </a:rPr>
              <a:t>claramente </a:t>
            </a:r>
            <a:r>
              <a:rPr sz="2200" b="1" spc="-120" dirty="0">
                <a:latin typeface="Trebuchet MS"/>
                <a:cs typeface="Trebuchet MS"/>
              </a:rPr>
              <a:t>definidas: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55" dirty="0">
                <a:latin typeface="Arial"/>
                <a:cs typeface="Arial"/>
              </a:rPr>
              <a:t>estructura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35" dirty="0">
                <a:latin typeface="Arial"/>
                <a:cs typeface="Arial"/>
              </a:rPr>
              <a:t>las áreas </a:t>
            </a:r>
            <a:r>
              <a:rPr sz="2200" spc="-105" dirty="0">
                <a:latin typeface="Arial"/>
                <a:cs typeface="Arial"/>
              </a:rPr>
              <a:t>de  </a:t>
            </a:r>
            <a:r>
              <a:rPr sz="2200" spc="-65" dirty="0">
                <a:latin typeface="Arial"/>
                <a:cs typeface="Arial"/>
              </a:rPr>
              <a:t>autoridad/responsabilidad </a:t>
            </a:r>
            <a:r>
              <a:rPr sz="2200" spc="-145" dirty="0">
                <a:latin typeface="Arial"/>
                <a:cs typeface="Arial"/>
              </a:rPr>
              <a:t>asignadas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145" dirty="0">
                <a:latin typeface="Arial"/>
                <a:cs typeface="Arial"/>
              </a:rPr>
              <a:t>cada </a:t>
            </a:r>
            <a:r>
              <a:rPr sz="2200" spc="-80" dirty="0">
                <a:latin typeface="Arial"/>
                <a:cs typeface="Arial"/>
              </a:rPr>
              <a:t>sector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95" dirty="0">
                <a:latin typeface="Arial"/>
                <a:cs typeface="Arial"/>
              </a:rPr>
              <a:t>relaciones  </a:t>
            </a:r>
            <a:r>
              <a:rPr sz="2200" spc="-145" dirty="0">
                <a:latin typeface="Arial"/>
                <a:cs typeface="Arial"/>
              </a:rPr>
              <a:t>asesoras, </a:t>
            </a:r>
            <a:r>
              <a:rPr sz="2200" spc="-85" dirty="0">
                <a:latin typeface="Arial"/>
                <a:cs typeface="Arial"/>
              </a:rPr>
              <a:t>funcionales, </a:t>
            </a:r>
            <a:r>
              <a:rPr sz="2200" spc="-90" dirty="0">
                <a:latin typeface="Arial"/>
                <a:cs typeface="Arial"/>
              </a:rPr>
              <a:t>jerárquicas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190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control</a:t>
            </a:r>
            <a:r>
              <a:rPr sz="2200" b="1" spc="-50" dirty="0"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50" dirty="0">
                <a:latin typeface="Arial"/>
                <a:cs typeface="Arial"/>
              </a:rPr>
              <a:t>Formalización de </a:t>
            </a:r>
            <a:r>
              <a:rPr sz="3200" spc="-145" dirty="0">
                <a:latin typeface="Arial"/>
                <a:cs typeface="Arial"/>
              </a:rPr>
              <a:t>operaciones </a:t>
            </a:r>
            <a:r>
              <a:rPr sz="3200" spc="-55" dirty="0">
                <a:latin typeface="Arial"/>
                <a:cs typeface="Arial"/>
              </a:rPr>
              <a:t>por</a:t>
            </a:r>
            <a:r>
              <a:rPr sz="3200" spc="-180" dirty="0">
                <a:latin typeface="Arial"/>
                <a:cs typeface="Arial"/>
              </a:rPr>
              <a:t> </a:t>
            </a:r>
            <a:r>
              <a:rPr sz="3200" spc="-95" dirty="0">
                <a:latin typeface="Arial"/>
                <a:cs typeface="Arial"/>
              </a:rPr>
              <a:t>escrito.</a:t>
            </a:r>
            <a:endParaRPr sz="3200">
              <a:latin typeface="Arial"/>
              <a:cs typeface="Arial"/>
            </a:endParaRPr>
          </a:p>
          <a:p>
            <a:pPr marL="360680" indent="-34798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60680" algn="l"/>
                <a:tab pos="361315" algn="l"/>
              </a:tabLst>
            </a:pPr>
            <a:r>
              <a:rPr sz="2200" b="1" spc="-125" dirty="0">
                <a:latin typeface="Trebuchet MS"/>
                <a:cs typeface="Trebuchet MS"/>
              </a:rPr>
              <a:t>Es </a:t>
            </a:r>
            <a:r>
              <a:rPr sz="2200" b="1" spc="-150" dirty="0">
                <a:latin typeface="Trebuchet MS"/>
                <a:cs typeface="Trebuchet MS"/>
              </a:rPr>
              <a:t>mejor </a:t>
            </a:r>
            <a:r>
              <a:rPr sz="2200" b="1" spc="-140" dirty="0">
                <a:latin typeface="Trebuchet MS"/>
                <a:cs typeface="Trebuchet MS"/>
              </a:rPr>
              <a:t>tener </a:t>
            </a:r>
            <a:r>
              <a:rPr sz="2200" b="1" spc="-110" dirty="0">
                <a:latin typeface="Trebuchet MS"/>
                <a:cs typeface="Trebuchet MS"/>
              </a:rPr>
              <a:t>manuales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-125" dirty="0">
                <a:latin typeface="Trebuchet MS"/>
                <a:cs typeface="Trebuchet MS"/>
              </a:rPr>
              <a:t>funciones </a:t>
            </a:r>
            <a:r>
              <a:rPr sz="2200" b="1" spc="-135" dirty="0">
                <a:latin typeface="Trebuchet MS"/>
                <a:cs typeface="Trebuchet MS"/>
              </a:rPr>
              <a:t>y 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r>
              <a:rPr sz="2200" b="1" spc="-445" dirty="0">
                <a:latin typeface="Trebuchet MS"/>
                <a:cs typeface="Trebuchet MS"/>
              </a:rPr>
              <a:t> </a:t>
            </a:r>
            <a:r>
              <a:rPr sz="2200" b="1" spc="-125" dirty="0">
                <a:latin typeface="Trebuchet MS"/>
                <a:cs typeface="Trebuchet MS"/>
              </a:rPr>
              <a:t>procedimientos.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>
              <a:latin typeface="Times New Roman"/>
              <a:cs typeface="Times New Roman"/>
            </a:endParaRPr>
          </a:p>
          <a:p>
            <a:pPr marL="279400" marR="5080" indent="107314">
              <a:lnSpc>
                <a:spcPct val="100000"/>
              </a:lnSpc>
            </a:pPr>
            <a:r>
              <a:rPr sz="3200" spc="-70" dirty="0">
                <a:latin typeface="Arial"/>
                <a:cs typeface="Arial"/>
              </a:rPr>
              <a:t>Utilizar </a:t>
            </a:r>
            <a:r>
              <a:rPr sz="3200" spc="-75" dirty="0">
                <a:latin typeface="Arial"/>
                <a:cs typeface="Arial"/>
              </a:rPr>
              <a:t>formularios </a:t>
            </a:r>
            <a:r>
              <a:rPr sz="3200" spc="-145" dirty="0">
                <a:latin typeface="Arial"/>
                <a:cs typeface="Arial"/>
              </a:rPr>
              <a:t>para </a:t>
            </a:r>
            <a:r>
              <a:rPr sz="3200" spc="-105" dirty="0">
                <a:latin typeface="Arial"/>
                <a:cs typeface="Arial"/>
              </a:rPr>
              <a:t>documentar  </a:t>
            </a:r>
            <a:r>
              <a:rPr sz="3200" spc="-145" dirty="0">
                <a:latin typeface="Arial"/>
                <a:cs typeface="Arial"/>
              </a:rPr>
              <a:t>operaciones </a:t>
            </a:r>
            <a:r>
              <a:rPr sz="3200" spc="-65" dirty="0">
                <a:latin typeface="Arial"/>
                <a:cs typeface="Arial"/>
              </a:rPr>
              <a:t>(tener </a:t>
            </a:r>
            <a:r>
              <a:rPr sz="3200" spc="-114" dirty="0">
                <a:latin typeface="Arial"/>
                <a:cs typeface="Arial"/>
              </a:rPr>
              <a:t>documentación </a:t>
            </a:r>
            <a:r>
              <a:rPr sz="3200" spc="-150" dirty="0">
                <a:latin typeface="Arial"/>
                <a:cs typeface="Arial"/>
              </a:rPr>
              <a:t>de</a:t>
            </a:r>
            <a:r>
              <a:rPr sz="3200" spc="-305" dirty="0">
                <a:latin typeface="Arial"/>
                <a:cs typeface="Arial"/>
              </a:rPr>
              <a:t> </a:t>
            </a:r>
            <a:r>
              <a:rPr sz="3200" spc="-120" dirty="0">
                <a:latin typeface="Arial"/>
                <a:cs typeface="Arial"/>
              </a:rPr>
              <a:t>respaldo).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52</a:t>
            </a:fld>
            <a:endParaRPr spc="-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9067" y="1074165"/>
            <a:ext cx="25025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0705" algn="l"/>
                <a:tab pos="2072005" algn="l"/>
              </a:tabLst>
            </a:pPr>
            <a:r>
              <a:rPr sz="3200" spc="-155" dirty="0">
                <a:latin typeface="Arial"/>
                <a:cs typeface="Arial"/>
              </a:rPr>
              <a:t>y	</a:t>
            </a:r>
            <a:r>
              <a:rPr sz="3200" spc="-140" dirty="0">
                <a:latin typeface="Arial"/>
                <a:cs typeface="Arial"/>
              </a:rPr>
              <a:t>nivele</a:t>
            </a:r>
            <a:r>
              <a:rPr sz="3200" spc="-155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4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6258" y="193801"/>
            <a:ext cx="5996305" cy="188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Pautas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implementación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controles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considerar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265430" marR="367665" indent="107314">
              <a:lnSpc>
                <a:spcPct val="100000"/>
              </a:lnSpc>
              <a:tabLst>
                <a:tab pos="2821305" algn="l"/>
                <a:tab pos="3601085" algn="l"/>
              </a:tabLst>
            </a:pPr>
            <a:r>
              <a:rPr sz="3200" spc="-85" dirty="0">
                <a:latin typeface="Arial"/>
                <a:cs typeface="Arial"/>
              </a:rPr>
              <a:t>Au</a:t>
            </a:r>
            <a:r>
              <a:rPr sz="3200" spc="-30" dirty="0">
                <a:latin typeface="Arial"/>
                <a:cs typeface="Arial"/>
              </a:rPr>
              <a:t>t</a:t>
            </a:r>
            <a:r>
              <a:rPr sz="3200" spc="-120" dirty="0">
                <a:latin typeface="Arial"/>
                <a:cs typeface="Arial"/>
              </a:rPr>
              <a:t>orizació</a:t>
            </a:r>
            <a:r>
              <a:rPr sz="3200" spc="-145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50" dirty="0">
                <a:latin typeface="Arial"/>
                <a:cs typeface="Arial"/>
              </a:rPr>
              <a:t>d</a:t>
            </a:r>
            <a:r>
              <a:rPr sz="3200" spc="-145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14" dirty="0">
                <a:latin typeface="Arial"/>
                <a:cs typeface="Arial"/>
              </a:rPr>
              <a:t>operacio</a:t>
            </a:r>
            <a:r>
              <a:rPr sz="3200" spc="-125" dirty="0">
                <a:latin typeface="Arial"/>
                <a:cs typeface="Arial"/>
              </a:rPr>
              <a:t>n</a:t>
            </a:r>
            <a:r>
              <a:rPr sz="3200" spc="-210" dirty="0">
                <a:latin typeface="Arial"/>
                <a:cs typeface="Arial"/>
              </a:rPr>
              <a:t>es  </a:t>
            </a:r>
            <a:r>
              <a:rPr sz="3200" spc="-100" dirty="0">
                <a:latin typeface="Arial"/>
                <a:cs typeface="Arial"/>
              </a:rPr>
              <a:t>autorización.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5115" y="3193542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2541" y="2057145"/>
            <a:ext cx="8486140" cy="3348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239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25" dirty="0">
                <a:latin typeface="Trebuchet MS"/>
                <a:cs typeface="Trebuchet MS"/>
              </a:rPr>
              <a:t>Contar </a:t>
            </a:r>
            <a:r>
              <a:rPr sz="2200" b="1" spc="-130" dirty="0">
                <a:latin typeface="Trebuchet MS"/>
                <a:cs typeface="Trebuchet MS"/>
              </a:rPr>
              <a:t>con </a:t>
            </a:r>
            <a:r>
              <a:rPr sz="2200" b="1" spc="-110" dirty="0">
                <a:latin typeface="Trebuchet MS"/>
                <a:cs typeface="Trebuchet MS"/>
              </a:rPr>
              <a:t>esquemas </a:t>
            </a:r>
            <a:r>
              <a:rPr sz="2200" b="1" spc="-130" dirty="0">
                <a:latin typeface="Trebuchet MS"/>
                <a:cs typeface="Trebuchet MS"/>
              </a:rPr>
              <a:t>de autorización de operaciones,</a:t>
            </a:r>
            <a:r>
              <a:rPr sz="2200" b="1" spc="-434" dirty="0">
                <a:latin typeface="Trebuchet MS"/>
                <a:cs typeface="Trebuchet MS"/>
              </a:rPr>
              <a:t> </a:t>
            </a:r>
            <a:r>
              <a:rPr sz="2200" b="1" spc="-110" dirty="0">
                <a:latin typeface="Trebuchet MS"/>
                <a:cs typeface="Trebuchet MS"/>
              </a:rPr>
              <a:t>definidos  </a:t>
            </a:r>
            <a:r>
              <a:rPr sz="2200" b="1" spc="-105" dirty="0">
                <a:latin typeface="Trebuchet MS"/>
                <a:cs typeface="Trebuchet MS"/>
              </a:rPr>
              <a:t>según </a:t>
            </a:r>
            <a:r>
              <a:rPr sz="2200" b="1" spc="-114" dirty="0">
                <a:latin typeface="Trebuchet MS"/>
                <a:cs typeface="Trebuchet MS"/>
              </a:rPr>
              <a:t>materialidad </a:t>
            </a:r>
            <a:r>
              <a:rPr sz="2200" b="1" spc="-135" dirty="0">
                <a:latin typeface="Trebuchet MS"/>
                <a:cs typeface="Trebuchet MS"/>
              </a:rPr>
              <a:t>y</a:t>
            </a:r>
            <a:r>
              <a:rPr sz="2200" b="1" spc="-315" dirty="0">
                <a:latin typeface="Trebuchet MS"/>
                <a:cs typeface="Trebuchet MS"/>
              </a:rPr>
              <a:t> </a:t>
            </a:r>
            <a:r>
              <a:rPr sz="2200" b="1" spc="-145" dirty="0">
                <a:latin typeface="Trebuchet MS"/>
                <a:cs typeface="Trebuchet MS"/>
              </a:rPr>
              <a:t>criticidad.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70" dirty="0">
                <a:latin typeface="Arial"/>
                <a:cs typeface="Arial"/>
              </a:rPr>
              <a:t>Establecer </a:t>
            </a:r>
            <a:r>
              <a:rPr sz="3200" spc="-204" dirty="0">
                <a:latin typeface="Arial"/>
                <a:cs typeface="Arial"/>
              </a:rPr>
              <a:t>esquemas </a:t>
            </a:r>
            <a:r>
              <a:rPr sz="3200" spc="-145" dirty="0">
                <a:latin typeface="Arial"/>
                <a:cs typeface="Arial"/>
              </a:rPr>
              <a:t>de </a:t>
            </a:r>
            <a:r>
              <a:rPr sz="3200" spc="-155" dirty="0">
                <a:latin typeface="Arial"/>
                <a:cs typeface="Arial"/>
              </a:rPr>
              <a:t>separación </a:t>
            </a:r>
            <a:r>
              <a:rPr sz="3200" spc="-150" dirty="0">
                <a:latin typeface="Arial"/>
                <a:cs typeface="Arial"/>
              </a:rPr>
              <a:t>de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120" dirty="0">
                <a:latin typeface="Arial"/>
                <a:cs typeface="Arial"/>
              </a:rPr>
              <a:t>funciones</a:t>
            </a:r>
            <a:endParaRPr sz="3200">
              <a:latin typeface="Arial"/>
              <a:cs typeface="Arial"/>
            </a:endParaRPr>
          </a:p>
          <a:p>
            <a:pPr marL="279400">
              <a:lnSpc>
                <a:spcPct val="100000"/>
              </a:lnSpc>
            </a:pPr>
            <a:r>
              <a:rPr sz="3200" spc="345" dirty="0">
                <a:latin typeface="Arial"/>
                <a:cs typeface="Arial"/>
              </a:rPr>
              <a:t>/</a:t>
            </a:r>
            <a:r>
              <a:rPr sz="3200" spc="-360" dirty="0">
                <a:latin typeface="Arial"/>
                <a:cs typeface="Arial"/>
              </a:rPr>
              <a:t> </a:t>
            </a:r>
            <a:r>
              <a:rPr sz="3200" spc="-95" dirty="0">
                <a:latin typeface="Arial"/>
                <a:cs typeface="Arial"/>
              </a:rPr>
              <a:t>Control </a:t>
            </a:r>
            <a:r>
              <a:rPr sz="3200" spc="-155" dirty="0">
                <a:latin typeface="Arial"/>
                <a:cs typeface="Arial"/>
              </a:rPr>
              <a:t>cruzado </a:t>
            </a:r>
            <a:r>
              <a:rPr sz="3200" spc="-55" dirty="0">
                <a:latin typeface="Arial"/>
                <a:cs typeface="Arial"/>
              </a:rPr>
              <a:t>por </a:t>
            </a:r>
            <a:r>
              <a:rPr sz="3200" spc="-120" dirty="0">
                <a:latin typeface="Arial"/>
                <a:cs typeface="Arial"/>
              </a:rPr>
              <a:t>oposición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125" dirty="0">
                <a:latin typeface="Arial"/>
                <a:cs typeface="Arial"/>
              </a:rPr>
              <a:t>intereses.</a:t>
            </a:r>
            <a:endParaRPr sz="3200">
              <a:latin typeface="Arial"/>
              <a:cs typeface="Arial"/>
            </a:endParaRPr>
          </a:p>
          <a:p>
            <a:pPr marL="355600" marR="9525" indent="-342900">
              <a:lnSpc>
                <a:spcPct val="100000"/>
              </a:lnSpc>
              <a:spcBef>
                <a:spcPts val="7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45" dirty="0">
                <a:latin typeface="Trebuchet MS"/>
                <a:cs typeface="Trebuchet MS"/>
              </a:rPr>
              <a:t>El </a:t>
            </a:r>
            <a:r>
              <a:rPr sz="2200" b="1" spc="-120" dirty="0">
                <a:latin typeface="Trebuchet MS"/>
                <a:cs typeface="Trebuchet MS"/>
              </a:rPr>
              <a:t>procesamiento completo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-110" dirty="0">
                <a:latin typeface="Trebuchet MS"/>
                <a:cs typeface="Trebuchet MS"/>
              </a:rPr>
              <a:t>una </a:t>
            </a:r>
            <a:r>
              <a:rPr sz="2200" b="1" spc="-120" dirty="0">
                <a:latin typeface="Trebuchet MS"/>
                <a:cs typeface="Trebuchet MS"/>
              </a:rPr>
              <a:t>operación </a:t>
            </a:r>
            <a:r>
              <a:rPr sz="2200" b="1" spc="-130" dirty="0">
                <a:latin typeface="Trebuchet MS"/>
                <a:cs typeface="Trebuchet MS"/>
              </a:rPr>
              <a:t>debe ser </a:t>
            </a:r>
            <a:r>
              <a:rPr sz="2200" b="1" spc="-120" dirty="0">
                <a:latin typeface="Trebuchet MS"/>
                <a:cs typeface="Trebuchet MS"/>
              </a:rPr>
              <a:t>tarea 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r>
              <a:rPr sz="2200" b="1" spc="-480" dirty="0">
                <a:latin typeface="Trebuchet MS"/>
                <a:cs typeface="Trebuchet MS"/>
              </a:rPr>
              <a:t> </a:t>
            </a:r>
            <a:r>
              <a:rPr sz="2200" b="1" spc="-110" dirty="0">
                <a:latin typeface="Trebuchet MS"/>
                <a:cs typeface="Trebuchet MS"/>
              </a:rPr>
              <a:t>varios  </a:t>
            </a:r>
            <a:r>
              <a:rPr sz="2200" b="1" spc="-135" dirty="0">
                <a:latin typeface="Trebuchet MS"/>
                <a:cs typeface="Trebuchet MS"/>
              </a:rPr>
              <a:t>sectores. </a:t>
            </a:r>
            <a:r>
              <a:rPr sz="2200" b="1" spc="-120" dirty="0">
                <a:latin typeface="Trebuchet MS"/>
                <a:cs typeface="Trebuchet MS"/>
              </a:rPr>
              <a:t>Quién registra </a:t>
            </a:r>
            <a:r>
              <a:rPr sz="2200" b="1" spc="-90" dirty="0">
                <a:latin typeface="Trebuchet MS"/>
                <a:cs typeface="Trebuchet MS"/>
              </a:rPr>
              <a:t>no </a:t>
            </a:r>
            <a:r>
              <a:rPr sz="2200" b="1" spc="-140" dirty="0">
                <a:latin typeface="Trebuchet MS"/>
                <a:cs typeface="Trebuchet MS"/>
              </a:rPr>
              <a:t>maneja </a:t>
            </a:r>
            <a:r>
              <a:rPr sz="2200" b="1" spc="-135" dirty="0">
                <a:latin typeface="Trebuchet MS"/>
                <a:cs typeface="Trebuchet MS"/>
              </a:rPr>
              <a:t>dinero; </a:t>
            </a:r>
            <a:r>
              <a:rPr sz="2200" b="1" spc="-125" dirty="0">
                <a:latin typeface="Trebuchet MS"/>
                <a:cs typeface="Trebuchet MS"/>
              </a:rPr>
              <a:t>quién </a:t>
            </a:r>
            <a:r>
              <a:rPr sz="2200" b="1" spc="-140" dirty="0">
                <a:latin typeface="Trebuchet MS"/>
                <a:cs typeface="Trebuchet MS"/>
              </a:rPr>
              <a:t>maneja </a:t>
            </a:r>
            <a:r>
              <a:rPr sz="2200" b="1" spc="-120" dirty="0">
                <a:latin typeface="Trebuchet MS"/>
                <a:cs typeface="Trebuchet MS"/>
              </a:rPr>
              <a:t>dinero </a:t>
            </a:r>
            <a:r>
              <a:rPr sz="2200" b="1" spc="-90" dirty="0">
                <a:latin typeface="Trebuchet MS"/>
                <a:cs typeface="Trebuchet MS"/>
              </a:rPr>
              <a:t>no  </a:t>
            </a:r>
            <a:r>
              <a:rPr sz="2200" b="1" spc="-140" dirty="0">
                <a:latin typeface="Trebuchet MS"/>
                <a:cs typeface="Trebuchet MS"/>
              </a:rPr>
              <a:t>maneja</a:t>
            </a:r>
            <a:r>
              <a:rPr sz="2200" b="1" spc="-175" dirty="0">
                <a:latin typeface="Trebuchet MS"/>
                <a:cs typeface="Trebuchet MS"/>
              </a:rPr>
              <a:t> </a:t>
            </a:r>
            <a:r>
              <a:rPr sz="2200" b="1" spc="-120" dirty="0">
                <a:latin typeface="Trebuchet MS"/>
                <a:cs typeface="Trebuchet MS"/>
              </a:rPr>
              <a:t>bienes</a:t>
            </a:r>
            <a:endParaRPr sz="2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30" dirty="0">
                <a:latin typeface="Trebuchet MS"/>
                <a:cs typeface="Trebuchet MS"/>
              </a:rPr>
              <a:t>Pre-numeración </a:t>
            </a:r>
            <a:r>
              <a:rPr sz="2200" b="1" spc="-140" dirty="0">
                <a:latin typeface="Trebuchet MS"/>
                <a:cs typeface="Trebuchet MS"/>
              </a:rPr>
              <a:t>(e </a:t>
            </a:r>
            <a:r>
              <a:rPr sz="2200" b="1" spc="-114" dirty="0">
                <a:latin typeface="Trebuchet MS"/>
                <a:cs typeface="Trebuchet MS"/>
              </a:rPr>
              <a:t>impresión)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-80" dirty="0">
                <a:latin typeface="Trebuchet MS"/>
                <a:cs typeface="Trebuchet MS"/>
              </a:rPr>
              <a:t>los </a:t>
            </a:r>
            <a:r>
              <a:rPr sz="2200" b="1" spc="-110" dirty="0">
                <a:latin typeface="Trebuchet MS"/>
                <a:cs typeface="Trebuchet MS"/>
              </a:rPr>
              <a:t>formularios</a:t>
            </a:r>
            <a:r>
              <a:rPr sz="2200" b="1" spc="-420" dirty="0">
                <a:latin typeface="Trebuchet MS"/>
                <a:cs typeface="Trebuchet MS"/>
              </a:rPr>
              <a:t> </a:t>
            </a:r>
            <a:r>
              <a:rPr sz="2200" b="1" spc="-120" dirty="0">
                <a:latin typeface="Trebuchet MS"/>
                <a:cs typeface="Trebuchet MS"/>
              </a:rPr>
              <a:t>utilizados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115" y="270586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5115" y="468706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2541" y="193801"/>
            <a:ext cx="8575040" cy="6035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Pautas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implementación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controles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considerar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25" dirty="0">
                <a:latin typeface="Arial"/>
                <a:cs typeface="Arial"/>
              </a:rPr>
              <a:t>Evitar </a:t>
            </a:r>
            <a:r>
              <a:rPr sz="3200" spc="-60" dirty="0">
                <a:latin typeface="Arial"/>
                <a:cs typeface="Arial"/>
              </a:rPr>
              <a:t>“salteos”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95" dirty="0">
                <a:latin typeface="Arial"/>
                <a:cs typeface="Arial"/>
              </a:rPr>
              <a:t>número o </a:t>
            </a:r>
            <a:r>
              <a:rPr sz="3200" spc="-165" dirty="0">
                <a:latin typeface="Arial"/>
                <a:cs typeface="Arial"/>
              </a:rPr>
              <a:t>asignación</a:t>
            </a:r>
            <a:r>
              <a:rPr sz="3200" spc="-365" dirty="0">
                <a:latin typeface="Arial"/>
                <a:cs typeface="Arial"/>
              </a:rPr>
              <a:t> </a:t>
            </a:r>
            <a:r>
              <a:rPr sz="3200" spc="-40" dirty="0">
                <a:latin typeface="Arial"/>
                <a:cs typeface="Arial"/>
              </a:rPr>
              <a:t>múltiple.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45" dirty="0">
                <a:latin typeface="Trebuchet MS"/>
                <a:cs typeface="Trebuchet MS"/>
              </a:rPr>
              <a:t>Hacer </a:t>
            </a:r>
            <a:r>
              <a:rPr sz="2200" b="1" spc="-125" dirty="0">
                <a:latin typeface="Trebuchet MS"/>
                <a:cs typeface="Trebuchet MS"/>
              </a:rPr>
              <a:t>difícil </a:t>
            </a:r>
            <a:r>
              <a:rPr sz="2200" b="1" spc="-100" dirty="0">
                <a:latin typeface="Trebuchet MS"/>
                <a:cs typeface="Trebuchet MS"/>
              </a:rPr>
              <a:t>la </a:t>
            </a:r>
            <a:r>
              <a:rPr sz="2200" b="1" spc="-114" dirty="0">
                <a:latin typeface="Trebuchet MS"/>
                <a:cs typeface="Trebuchet MS"/>
              </a:rPr>
              <a:t>sustitución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-100" dirty="0">
                <a:latin typeface="Trebuchet MS"/>
                <a:cs typeface="Trebuchet MS"/>
              </a:rPr>
              <a:t>uno </a:t>
            </a:r>
            <a:r>
              <a:rPr sz="2200" b="1" spc="-110" dirty="0">
                <a:latin typeface="Trebuchet MS"/>
                <a:cs typeface="Trebuchet MS"/>
              </a:rPr>
              <a:t>por</a:t>
            </a:r>
            <a:r>
              <a:rPr sz="2200" b="1" spc="-495" dirty="0">
                <a:latin typeface="Trebuchet MS"/>
                <a:cs typeface="Trebuchet MS"/>
              </a:rPr>
              <a:t> </a:t>
            </a:r>
            <a:r>
              <a:rPr sz="2200" b="1" spc="-125" dirty="0">
                <a:latin typeface="Trebuchet MS"/>
                <a:cs typeface="Trebuchet MS"/>
              </a:rPr>
              <a:t>otro;</a:t>
            </a:r>
            <a:endParaRPr sz="2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45" dirty="0">
                <a:latin typeface="Trebuchet MS"/>
                <a:cs typeface="Trebuchet MS"/>
              </a:rPr>
              <a:t>Hacer </a:t>
            </a:r>
            <a:r>
              <a:rPr sz="2200" b="1" spc="-130" dirty="0">
                <a:latin typeface="Trebuchet MS"/>
                <a:cs typeface="Trebuchet MS"/>
              </a:rPr>
              <a:t>fáciles </a:t>
            </a:r>
            <a:r>
              <a:rPr sz="2200" b="1" spc="-85" dirty="0">
                <a:latin typeface="Trebuchet MS"/>
                <a:cs typeface="Trebuchet MS"/>
              </a:rPr>
              <a:t>los </a:t>
            </a:r>
            <a:r>
              <a:rPr sz="2200" b="1" spc="-125" dirty="0">
                <a:latin typeface="Trebuchet MS"/>
                <a:cs typeface="Trebuchet MS"/>
              </a:rPr>
              <a:t>controles </a:t>
            </a:r>
            <a:r>
              <a:rPr sz="2200" b="1" spc="-130" dirty="0">
                <a:latin typeface="Trebuchet MS"/>
                <a:cs typeface="Trebuchet MS"/>
              </a:rPr>
              <a:t>de número-fecha </a:t>
            </a:r>
            <a:r>
              <a:rPr sz="2200" b="1" spc="-135" dirty="0">
                <a:latin typeface="Trebuchet MS"/>
                <a:cs typeface="Trebuchet MS"/>
              </a:rPr>
              <a:t>y 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r>
              <a:rPr sz="2200" b="1" spc="-400" dirty="0">
                <a:latin typeface="Trebuchet MS"/>
                <a:cs typeface="Trebuchet MS"/>
              </a:rPr>
              <a:t> </a:t>
            </a:r>
            <a:r>
              <a:rPr sz="2200" b="1" spc="-120" dirty="0">
                <a:latin typeface="Trebuchet MS"/>
                <a:cs typeface="Trebuchet MS"/>
              </a:rPr>
              <a:t>seguimiento.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marL="279400" marR="6985" indent="107314">
              <a:lnSpc>
                <a:spcPct val="100000"/>
              </a:lnSpc>
            </a:pPr>
            <a:r>
              <a:rPr sz="3200" spc="-95" dirty="0">
                <a:latin typeface="Arial"/>
                <a:cs typeface="Arial"/>
              </a:rPr>
              <a:t>Control numérico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75" dirty="0">
                <a:latin typeface="Arial"/>
                <a:cs typeface="Arial"/>
              </a:rPr>
              <a:t>formularios </a:t>
            </a:r>
            <a:r>
              <a:rPr sz="3200" spc="-150" dirty="0">
                <a:latin typeface="Arial"/>
                <a:cs typeface="Arial"/>
              </a:rPr>
              <a:t>en </a:t>
            </a:r>
            <a:r>
              <a:rPr sz="3200" spc="-195" dirty="0">
                <a:latin typeface="Arial"/>
                <a:cs typeface="Arial"/>
              </a:rPr>
              <a:t>las </a:t>
            </a:r>
            <a:r>
              <a:rPr sz="3200" spc="-85" dirty="0">
                <a:latin typeface="Arial"/>
                <a:cs typeface="Arial"/>
              </a:rPr>
              <a:t>distintas  </a:t>
            </a:r>
            <a:r>
              <a:rPr sz="3200" spc="-200" dirty="0">
                <a:latin typeface="Arial"/>
                <a:cs typeface="Arial"/>
              </a:rPr>
              <a:t>áreas</a:t>
            </a:r>
            <a:r>
              <a:rPr sz="3200" spc="-165" dirty="0">
                <a:latin typeface="Arial"/>
                <a:cs typeface="Arial"/>
              </a:rPr>
              <a:t> </a:t>
            </a:r>
            <a:r>
              <a:rPr sz="3200" spc="-114" dirty="0">
                <a:latin typeface="Arial"/>
                <a:cs typeface="Arial"/>
              </a:rPr>
              <a:t>receptoras.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25" dirty="0">
                <a:latin typeface="Trebuchet MS"/>
                <a:cs typeface="Trebuchet MS"/>
              </a:rPr>
              <a:t>Se </a:t>
            </a:r>
            <a:r>
              <a:rPr sz="2200" b="1" spc="-130" dirty="0">
                <a:latin typeface="Trebuchet MS"/>
                <a:cs typeface="Trebuchet MS"/>
              </a:rPr>
              <a:t>debe </a:t>
            </a:r>
            <a:r>
              <a:rPr sz="2200" b="1" spc="-120" dirty="0">
                <a:latin typeface="Trebuchet MS"/>
                <a:cs typeface="Trebuchet MS"/>
              </a:rPr>
              <a:t>controlar </a:t>
            </a:r>
            <a:r>
              <a:rPr sz="2200" b="1" spc="-100" dirty="0">
                <a:latin typeface="Trebuchet MS"/>
                <a:cs typeface="Trebuchet MS"/>
              </a:rPr>
              <a:t>la </a:t>
            </a:r>
            <a:r>
              <a:rPr sz="2200" b="1" spc="-120" dirty="0">
                <a:latin typeface="Trebuchet MS"/>
                <a:cs typeface="Trebuchet MS"/>
              </a:rPr>
              <a:t>continuidad </a:t>
            </a:r>
            <a:r>
              <a:rPr sz="2200" b="1" spc="-135" dirty="0">
                <a:latin typeface="Trebuchet MS"/>
                <a:cs typeface="Trebuchet MS"/>
              </a:rPr>
              <a:t>de </a:t>
            </a:r>
            <a:r>
              <a:rPr sz="2200" b="1" spc="-100" dirty="0">
                <a:latin typeface="Trebuchet MS"/>
                <a:cs typeface="Trebuchet MS"/>
              </a:rPr>
              <a:t>la </a:t>
            </a:r>
            <a:r>
              <a:rPr sz="2200" b="1" spc="-130" dirty="0">
                <a:latin typeface="Trebuchet MS"/>
                <a:cs typeface="Trebuchet MS"/>
              </a:rPr>
              <a:t>numeración </a:t>
            </a:r>
            <a:r>
              <a:rPr sz="2200" b="1" spc="-135" dirty="0">
                <a:latin typeface="Trebuchet MS"/>
                <a:cs typeface="Trebuchet MS"/>
              </a:rPr>
              <a:t>y </a:t>
            </a:r>
            <a:r>
              <a:rPr sz="2200" b="1" spc="-130" dirty="0">
                <a:latin typeface="Trebuchet MS"/>
                <a:cs typeface="Trebuchet MS"/>
              </a:rPr>
              <a:t>que </a:t>
            </a:r>
            <a:r>
              <a:rPr sz="2200" b="1" spc="-114" dirty="0">
                <a:latin typeface="Trebuchet MS"/>
                <a:cs typeface="Trebuchet MS"/>
              </a:rPr>
              <a:t>se hayan  </a:t>
            </a:r>
            <a:r>
              <a:rPr sz="2200" b="1" spc="-130" dirty="0">
                <a:latin typeface="Trebuchet MS"/>
                <a:cs typeface="Trebuchet MS"/>
              </a:rPr>
              <a:t>recibido </a:t>
            </a:r>
            <a:r>
              <a:rPr sz="2200" b="1" spc="-110" dirty="0">
                <a:latin typeface="Trebuchet MS"/>
                <a:cs typeface="Trebuchet MS"/>
              </a:rPr>
              <a:t>todos. </a:t>
            </a:r>
            <a:r>
              <a:rPr sz="2200" b="1" spc="-120" dirty="0">
                <a:latin typeface="Trebuchet MS"/>
                <a:cs typeface="Trebuchet MS"/>
              </a:rPr>
              <a:t>Control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-125" dirty="0">
                <a:latin typeface="Trebuchet MS"/>
                <a:cs typeface="Trebuchet MS"/>
              </a:rPr>
              <a:t>correlatividad</a:t>
            </a:r>
            <a:r>
              <a:rPr sz="2200" b="1" spc="-300" dirty="0">
                <a:latin typeface="Trebuchet MS"/>
                <a:cs typeface="Trebuchet MS"/>
              </a:rPr>
              <a:t> </a:t>
            </a:r>
            <a:r>
              <a:rPr sz="2200" b="1" spc="-130" dirty="0">
                <a:latin typeface="Trebuchet MS"/>
                <a:cs typeface="Trebuchet MS"/>
              </a:rPr>
              <a:t>numérico-cronológico.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marL="279400" marR="5080" indent="107314">
              <a:lnSpc>
                <a:spcPct val="100000"/>
              </a:lnSpc>
            </a:pPr>
            <a:r>
              <a:rPr sz="3200" spc="-175" dirty="0">
                <a:latin typeface="Arial"/>
                <a:cs typeface="Arial"/>
              </a:rPr>
              <a:t>Existencia </a:t>
            </a:r>
            <a:r>
              <a:rPr sz="3200" spc="-145" dirty="0">
                <a:latin typeface="Arial"/>
                <a:cs typeface="Arial"/>
              </a:rPr>
              <a:t>de </a:t>
            </a:r>
            <a:r>
              <a:rPr sz="3200" spc="-195" dirty="0">
                <a:latin typeface="Arial"/>
                <a:cs typeface="Arial"/>
              </a:rPr>
              <a:t>las </a:t>
            </a:r>
            <a:r>
              <a:rPr sz="3200" spc="-120" dirty="0">
                <a:latin typeface="Arial"/>
                <a:cs typeface="Arial"/>
              </a:rPr>
              <a:t>funciones </a:t>
            </a:r>
            <a:r>
              <a:rPr sz="3200" spc="-114" dirty="0">
                <a:latin typeface="Arial"/>
                <a:cs typeface="Arial"/>
              </a:rPr>
              <a:t>operativas,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40" dirty="0">
                <a:latin typeface="Arial"/>
                <a:cs typeface="Arial"/>
              </a:rPr>
              <a:t>control  </a:t>
            </a:r>
            <a:r>
              <a:rPr sz="3200" spc="-155" dirty="0">
                <a:latin typeface="Arial"/>
                <a:cs typeface="Arial"/>
              </a:rPr>
              <a:t>y </a:t>
            </a:r>
            <a:r>
              <a:rPr sz="3200" spc="-150" dirty="0">
                <a:latin typeface="Arial"/>
                <a:cs typeface="Arial"/>
              </a:rPr>
              <a:t>de</a:t>
            </a:r>
            <a:r>
              <a:rPr sz="3200" spc="-175" dirty="0">
                <a:latin typeface="Arial"/>
                <a:cs typeface="Arial"/>
              </a:rPr>
              <a:t> </a:t>
            </a:r>
            <a:r>
              <a:rPr sz="3200" spc="-130" dirty="0">
                <a:latin typeface="Arial"/>
                <a:cs typeface="Arial"/>
              </a:rPr>
              <a:t>asesoramiento.</a:t>
            </a:r>
            <a:endParaRPr sz="320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  <a:tab pos="819785" algn="l"/>
                <a:tab pos="2136775" algn="l"/>
                <a:tab pos="2476500" algn="l"/>
                <a:tab pos="3222625" algn="l"/>
                <a:tab pos="3712845" algn="l"/>
                <a:tab pos="4559300" algn="l"/>
                <a:tab pos="4896485" algn="l"/>
                <a:tab pos="5883910" algn="l"/>
                <a:tab pos="6274435" algn="l"/>
                <a:tab pos="7604759" algn="l"/>
                <a:tab pos="8260080" algn="l"/>
              </a:tabLst>
            </a:pPr>
            <a:r>
              <a:rPr sz="2200" b="1" spc="-40" dirty="0">
                <a:latin typeface="Trebuchet MS"/>
                <a:cs typeface="Trebuchet MS"/>
              </a:rPr>
              <a:t>No	</a:t>
            </a:r>
            <a:r>
              <a:rPr sz="2200" b="1" spc="-125" dirty="0">
                <a:latin typeface="Trebuchet MS"/>
                <a:cs typeface="Trebuchet MS"/>
              </a:rPr>
              <a:t>desvi</a:t>
            </a:r>
            <a:r>
              <a:rPr sz="2200" b="1" spc="-120" dirty="0">
                <a:latin typeface="Trebuchet MS"/>
                <a:cs typeface="Trebuchet MS"/>
              </a:rPr>
              <a:t>rtuar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35" dirty="0">
                <a:latin typeface="Trebuchet MS"/>
                <a:cs typeface="Trebuchet MS"/>
              </a:rPr>
              <a:t>el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30" dirty="0">
                <a:latin typeface="Trebuchet MS"/>
                <a:cs typeface="Trebuchet MS"/>
              </a:rPr>
              <a:t>perfil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20" dirty="0">
                <a:latin typeface="Trebuchet MS"/>
                <a:cs typeface="Trebuchet MS"/>
              </a:rPr>
              <a:t>del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30" dirty="0">
                <a:latin typeface="Trebuchet MS"/>
                <a:cs typeface="Trebuchet MS"/>
              </a:rPr>
              <a:t>sector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20" dirty="0">
                <a:latin typeface="Trebuchet MS"/>
                <a:cs typeface="Trebuchet MS"/>
              </a:rPr>
              <a:t>a</a:t>
            </a:r>
            <a:r>
              <a:rPr sz="2200" b="1" spc="-70" dirty="0">
                <a:latin typeface="Trebuchet MS"/>
                <a:cs typeface="Trebuchet MS"/>
              </a:rPr>
              <a:t>l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05" dirty="0">
                <a:latin typeface="Trebuchet MS"/>
                <a:cs typeface="Trebuchet MS"/>
              </a:rPr>
              <a:t>dis</a:t>
            </a:r>
            <a:r>
              <a:rPr sz="2200" b="1" spc="-145" dirty="0">
                <a:latin typeface="Trebuchet MS"/>
                <a:cs typeface="Trebuchet MS"/>
              </a:rPr>
              <a:t>e</a:t>
            </a:r>
            <a:r>
              <a:rPr sz="2200" b="1" spc="-120" dirty="0">
                <a:latin typeface="Trebuchet MS"/>
                <a:cs typeface="Trebuchet MS"/>
              </a:rPr>
              <a:t>ñar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85" dirty="0">
                <a:latin typeface="Trebuchet MS"/>
                <a:cs typeface="Trebuchet MS"/>
              </a:rPr>
              <a:t>s</a:t>
            </a:r>
            <a:r>
              <a:rPr sz="2200" b="1" spc="-110" dirty="0">
                <a:latin typeface="Trebuchet MS"/>
                <a:cs typeface="Trebuchet MS"/>
              </a:rPr>
              <a:t>u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35" dirty="0">
                <a:latin typeface="Trebuchet MS"/>
                <a:cs typeface="Trebuchet MS"/>
              </a:rPr>
              <a:t>estructur</a:t>
            </a:r>
            <a:r>
              <a:rPr sz="2200" b="1" spc="-145" dirty="0">
                <a:latin typeface="Trebuchet MS"/>
                <a:cs typeface="Trebuchet MS"/>
              </a:rPr>
              <a:t>a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10" dirty="0">
                <a:latin typeface="Trebuchet MS"/>
                <a:cs typeface="Trebuchet MS"/>
              </a:rPr>
              <a:t>para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70" dirty="0">
                <a:latin typeface="Trebuchet MS"/>
                <a:cs typeface="Trebuchet MS"/>
              </a:rPr>
              <a:t>no  </a:t>
            </a:r>
            <a:r>
              <a:rPr sz="2200" b="1" spc="-110" dirty="0">
                <a:latin typeface="Trebuchet MS"/>
                <a:cs typeface="Trebuchet MS"/>
              </a:rPr>
              <a:t>dañar </a:t>
            </a:r>
            <a:r>
              <a:rPr sz="2200" b="1" spc="-100" dirty="0">
                <a:latin typeface="Trebuchet MS"/>
                <a:cs typeface="Trebuchet MS"/>
              </a:rPr>
              <a:t>su </a:t>
            </a:r>
            <a:r>
              <a:rPr sz="2200" b="1" spc="-140" dirty="0">
                <a:latin typeface="Trebuchet MS"/>
                <a:cs typeface="Trebuchet MS"/>
              </a:rPr>
              <a:t>eficacia </a:t>
            </a:r>
            <a:r>
              <a:rPr sz="2200" b="1" spc="-135" dirty="0">
                <a:latin typeface="Trebuchet MS"/>
                <a:cs typeface="Trebuchet MS"/>
              </a:rPr>
              <a:t>y</a:t>
            </a:r>
            <a:r>
              <a:rPr sz="2200" b="1" spc="-330" dirty="0">
                <a:latin typeface="Trebuchet MS"/>
                <a:cs typeface="Trebuchet MS"/>
              </a:rPr>
              <a:t> </a:t>
            </a:r>
            <a:r>
              <a:rPr sz="2200" b="1" spc="-150" dirty="0">
                <a:latin typeface="Trebuchet MS"/>
                <a:cs typeface="Trebuchet MS"/>
              </a:rPr>
              <a:t>eficiencia.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115" y="3041142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5115" y="453466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2541" y="193801"/>
            <a:ext cx="8574405" cy="539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Pautas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implementación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controles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considerar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70" dirty="0">
                <a:latin typeface="Arial"/>
                <a:cs typeface="Arial"/>
              </a:rPr>
              <a:t>Dependencia </a:t>
            </a:r>
            <a:r>
              <a:rPr sz="3200" spc="-50" dirty="0">
                <a:latin typeface="Arial"/>
                <a:cs typeface="Arial"/>
              </a:rPr>
              <a:t>entre </a:t>
            </a:r>
            <a:r>
              <a:rPr sz="3200" spc="-140" dirty="0">
                <a:latin typeface="Arial"/>
                <a:cs typeface="Arial"/>
              </a:rPr>
              <a:t>los</a:t>
            </a:r>
            <a:r>
              <a:rPr sz="3200" spc="-250" dirty="0">
                <a:latin typeface="Arial"/>
                <a:cs typeface="Arial"/>
              </a:rPr>
              <a:t> </a:t>
            </a:r>
            <a:r>
              <a:rPr sz="3200" spc="-150" dirty="0">
                <a:latin typeface="Arial"/>
                <a:cs typeface="Arial"/>
              </a:rPr>
              <a:t>sectores.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40" dirty="0">
                <a:latin typeface="Trebuchet MS"/>
                <a:cs typeface="Trebuchet MS"/>
              </a:rPr>
              <a:t>Los </a:t>
            </a:r>
            <a:r>
              <a:rPr sz="2200" b="1" spc="-125" dirty="0">
                <a:latin typeface="Trebuchet MS"/>
                <a:cs typeface="Trebuchet MS"/>
              </a:rPr>
              <a:t>sectores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-120" dirty="0">
                <a:latin typeface="Trebuchet MS"/>
                <a:cs typeface="Trebuchet MS"/>
              </a:rPr>
              <a:t>control </a:t>
            </a:r>
            <a:r>
              <a:rPr sz="2200" b="1" spc="-130" dirty="0">
                <a:latin typeface="Trebuchet MS"/>
                <a:cs typeface="Trebuchet MS"/>
              </a:rPr>
              <a:t>deben </a:t>
            </a:r>
            <a:r>
              <a:rPr sz="2200" b="1" spc="-135" dirty="0">
                <a:latin typeface="Trebuchet MS"/>
                <a:cs typeface="Trebuchet MS"/>
              </a:rPr>
              <a:t>depender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-85" dirty="0">
                <a:latin typeface="Trebuchet MS"/>
                <a:cs typeface="Trebuchet MS"/>
              </a:rPr>
              <a:t>los </a:t>
            </a:r>
            <a:r>
              <a:rPr sz="2200" b="1" spc="-120" dirty="0">
                <a:latin typeface="Trebuchet MS"/>
                <a:cs typeface="Trebuchet MS"/>
              </a:rPr>
              <a:t>niveles </a:t>
            </a:r>
            <a:r>
              <a:rPr sz="2200" b="1" spc="-90" dirty="0">
                <a:latin typeface="Trebuchet MS"/>
                <a:cs typeface="Trebuchet MS"/>
              </a:rPr>
              <a:t>más altos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-105" dirty="0">
                <a:latin typeface="Trebuchet MS"/>
                <a:cs typeface="Trebuchet MS"/>
              </a:rPr>
              <a:t>la  </a:t>
            </a:r>
            <a:r>
              <a:rPr sz="2200" b="1" spc="-135" dirty="0">
                <a:latin typeface="Trebuchet MS"/>
                <a:cs typeface="Trebuchet MS"/>
              </a:rPr>
              <a:t>organización;</a:t>
            </a:r>
            <a:endParaRPr sz="2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50" dirty="0">
                <a:latin typeface="Trebuchet MS"/>
                <a:cs typeface="Trebuchet MS"/>
              </a:rPr>
              <a:t>El </a:t>
            </a:r>
            <a:r>
              <a:rPr sz="2200" b="1" spc="-130" dirty="0">
                <a:latin typeface="Trebuchet MS"/>
                <a:cs typeface="Trebuchet MS"/>
              </a:rPr>
              <a:t>sector que </a:t>
            </a:r>
            <a:r>
              <a:rPr sz="2200" b="1" spc="-120" dirty="0">
                <a:latin typeface="Trebuchet MS"/>
                <a:cs typeface="Trebuchet MS"/>
              </a:rPr>
              <a:t>controla </a:t>
            </a:r>
            <a:r>
              <a:rPr sz="2200" b="1" spc="-90" dirty="0">
                <a:latin typeface="Trebuchet MS"/>
                <a:cs typeface="Trebuchet MS"/>
              </a:rPr>
              <a:t>no </a:t>
            </a:r>
            <a:r>
              <a:rPr sz="2200" b="1" spc="-130" dirty="0">
                <a:latin typeface="Trebuchet MS"/>
                <a:cs typeface="Trebuchet MS"/>
              </a:rPr>
              <a:t>debe depender </a:t>
            </a:r>
            <a:r>
              <a:rPr sz="2200" b="1" spc="-120" dirty="0">
                <a:latin typeface="Trebuchet MS"/>
                <a:cs typeface="Trebuchet MS"/>
              </a:rPr>
              <a:t>del</a:t>
            </a:r>
            <a:r>
              <a:rPr sz="2200" b="1" spc="-455" dirty="0">
                <a:latin typeface="Trebuchet MS"/>
                <a:cs typeface="Trebuchet MS"/>
              </a:rPr>
              <a:t> </a:t>
            </a:r>
            <a:r>
              <a:rPr sz="2200" b="1" spc="-120" dirty="0">
                <a:latin typeface="Trebuchet MS"/>
                <a:cs typeface="Trebuchet MS"/>
              </a:rPr>
              <a:t>controlado.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70" dirty="0">
                <a:latin typeface="Arial"/>
                <a:cs typeface="Arial"/>
              </a:rPr>
              <a:t>Custodia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140" dirty="0">
                <a:latin typeface="Arial"/>
                <a:cs typeface="Arial"/>
              </a:rPr>
              <a:t>los </a:t>
            </a:r>
            <a:r>
              <a:rPr sz="3200" spc="-75" dirty="0">
                <a:latin typeface="Arial"/>
                <a:cs typeface="Arial"/>
              </a:rPr>
              <a:t>formularios </a:t>
            </a:r>
            <a:r>
              <a:rPr sz="3200" spc="-150" dirty="0">
                <a:latin typeface="Arial"/>
                <a:cs typeface="Arial"/>
              </a:rPr>
              <a:t>sin</a:t>
            </a:r>
            <a:r>
              <a:rPr sz="3200" spc="-225" dirty="0">
                <a:latin typeface="Arial"/>
                <a:cs typeface="Arial"/>
              </a:rPr>
              <a:t> </a:t>
            </a:r>
            <a:r>
              <a:rPr sz="3200" spc="-55" dirty="0">
                <a:latin typeface="Arial"/>
                <a:cs typeface="Arial"/>
              </a:rPr>
              <a:t>utilizar.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40" dirty="0">
                <a:latin typeface="Trebuchet MS"/>
                <a:cs typeface="Trebuchet MS"/>
              </a:rPr>
              <a:t>Los </a:t>
            </a:r>
            <a:r>
              <a:rPr sz="2200" b="1" spc="-110" dirty="0">
                <a:latin typeface="Trebuchet MS"/>
                <a:cs typeface="Trebuchet MS"/>
              </a:rPr>
              <a:t>formularios </a:t>
            </a:r>
            <a:r>
              <a:rPr sz="2200" b="1" spc="-105" dirty="0">
                <a:latin typeface="Trebuchet MS"/>
                <a:cs typeface="Trebuchet MS"/>
              </a:rPr>
              <a:t>sin </a:t>
            </a:r>
            <a:r>
              <a:rPr sz="2200" b="1" spc="-145" dirty="0">
                <a:latin typeface="Trebuchet MS"/>
                <a:cs typeface="Trebuchet MS"/>
              </a:rPr>
              <a:t>utilizar </a:t>
            </a:r>
            <a:r>
              <a:rPr sz="2200" b="1" spc="-125" dirty="0">
                <a:latin typeface="Trebuchet MS"/>
                <a:cs typeface="Trebuchet MS"/>
              </a:rPr>
              <a:t>deben </a:t>
            </a:r>
            <a:r>
              <a:rPr sz="2200" b="1" spc="-130" dirty="0">
                <a:latin typeface="Trebuchet MS"/>
                <a:cs typeface="Trebuchet MS"/>
              </a:rPr>
              <a:t>ser </a:t>
            </a:r>
            <a:r>
              <a:rPr sz="2200" b="1" spc="-100" dirty="0">
                <a:latin typeface="Trebuchet MS"/>
                <a:cs typeface="Trebuchet MS"/>
              </a:rPr>
              <a:t>guardados </a:t>
            </a:r>
            <a:r>
              <a:rPr sz="2200" b="1" spc="-140" dirty="0">
                <a:latin typeface="Trebuchet MS"/>
                <a:cs typeface="Trebuchet MS"/>
              </a:rPr>
              <a:t>en </a:t>
            </a:r>
            <a:r>
              <a:rPr sz="2200" b="1" spc="-125" dirty="0">
                <a:latin typeface="Trebuchet MS"/>
                <a:cs typeface="Trebuchet MS"/>
              </a:rPr>
              <a:t>un </a:t>
            </a:r>
            <a:r>
              <a:rPr sz="2200" b="1" spc="-110" dirty="0">
                <a:latin typeface="Trebuchet MS"/>
                <a:cs typeface="Trebuchet MS"/>
              </a:rPr>
              <a:t>lugar </a:t>
            </a:r>
            <a:r>
              <a:rPr sz="2200" b="1" spc="-135" dirty="0">
                <a:latin typeface="Trebuchet MS"/>
                <a:cs typeface="Trebuchet MS"/>
              </a:rPr>
              <a:t>cerrado y  </a:t>
            </a:r>
            <a:r>
              <a:rPr sz="2200" b="1" spc="-105" dirty="0">
                <a:latin typeface="Trebuchet MS"/>
                <a:cs typeface="Trebuchet MS"/>
              </a:rPr>
              <a:t>custodiado </a:t>
            </a:r>
            <a:r>
              <a:rPr sz="2200" b="1" spc="-110" dirty="0">
                <a:latin typeface="Trebuchet MS"/>
                <a:cs typeface="Trebuchet MS"/>
              </a:rPr>
              <a:t>por alguien </a:t>
            </a:r>
            <a:r>
              <a:rPr sz="2200" b="1" spc="-135" dirty="0">
                <a:latin typeface="Trebuchet MS"/>
                <a:cs typeface="Trebuchet MS"/>
              </a:rPr>
              <a:t>que </a:t>
            </a:r>
            <a:r>
              <a:rPr sz="2200" b="1" spc="-95" dirty="0">
                <a:latin typeface="Trebuchet MS"/>
                <a:cs typeface="Trebuchet MS"/>
              </a:rPr>
              <a:t>no </a:t>
            </a:r>
            <a:r>
              <a:rPr sz="2200" b="1" spc="-150" dirty="0">
                <a:latin typeface="Trebuchet MS"/>
                <a:cs typeface="Trebuchet MS"/>
              </a:rPr>
              <a:t>maneje</a:t>
            </a:r>
            <a:r>
              <a:rPr sz="2200" b="1" spc="-484" dirty="0">
                <a:latin typeface="Trebuchet MS"/>
                <a:cs typeface="Trebuchet MS"/>
              </a:rPr>
              <a:t> </a:t>
            </a:r>
            <a:r>
              <a:rPr sz="2200" b="1" spc="-110" dirty="0">
                <a:latin typeface="Trebuchet MS"/>
                <a:cs typeface="Trebuchet MS"/>
              </a:rPr>
              <a:t>fondos.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45" dirty="0">
                <a:latin typeface="Arial"/>
                <a:cs typeface="Arial"/>
              </a:rPr>
              <a:t>Rotación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135" dirty="0">
                <a:latin typeface="Arial"/>
                <a:cs typeface="Arial"/>
              </a:rPr>
              <a:t>personal </a:t>
            </a:r>
            <a:r>
              <a:rPr sz="3200" spc="-150" dirty="0">
                <a:latin typeface="Arial"/>
                <a:cs typeface="Arial"/>
              </a:rPr>
              <a:t>de </a:t>
            </a:r>
            <a:r>
              <a:rPr sz="3200" spc="-200" dirty="0">
                <a:latin typeface="Arial"/>
                <a:cs typeface="Arial"/>
              </a:rPr>
              <a:t>áreas</a:t>
            </a:r>
            <a:r>
              <a:rPr sz="3200" spc="-190" dirty="0">
                <a:latin typeface="Arial"/>
                <a:cs typeface="Arial"/>
              </a:rPr>
              <a:t> </a:t>
            </a:r>
            <a:r>
              <a:rPr sz="3200" spc="-175" dirty="0">
                <a:latin typeface="Arial"/>
                <a:cs typeface="Arial"/>
              </a:rPr>
              <a:t>sensibles.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10" dirty="0">
                <a:latin typeface="Trebuchet MS"/>
                <a:cs typeface="Trebuchet MS"/>
              </a:rPr>
              <a:t>Rotación </a:t>
            </a:r>
            <a:r>
              <a:rPr sz="2200" b="1" spc="-125" dirty="0">
                <a:latin typeface="Trebuchet MS"/>
                <a:cs typeface="Trebuchet MS"/>
              </a:rPr>
              <a:t>interna </a:t>
            </a:r>
            <a:r>
              <a:rPr sz="2200" b="1" spc="-110" dirty="0">
                <a:latin typeface="Trebuchet MS"/>
                <a:cs typeface="Trebuchet MS"/>
              </a:rPr>
              <a:t>para </a:t>
            </a:r>
            <a:r>
              <a:rPr sz="2200" b="1" spc="-130" dirty="0">
                <a:latin typeface="Trebuchet MS"/>
                <a:cs typeface="Trebuchet MS"/>
              </a:rPr>
              <a:t>evitar </a:t>
            </a:r>
            <a:r>
              <a:rPr sz="2200" b="1" spc="-100" dirty="0">
                <a:latin typeface="Trebuchet MS"/>
                <a:cs typeface="Trebuchet MS"/>
              </a:rPr>
              <a:t>desvíos </a:t>
            </a:r>
            <a:r>
              <a:rPr sz="2200" b="1" spc="-140" dirty="0">
                <a:latin typeface="Trebuchet MS"/>
                <a:cs typeface="Trebuchet MS"/>
              </a:rPr>
              <a:t>en </a:t>
            </a:r>
            <a:r>
              <a:rPr sz="2200" b="1" spc="-90" dirty="0">
                <a:latin typeface="Trebuchet MS"/>
                <a:cs typeface="Trebuchet MS"/>
              </a:rPr>
              <a:t>sus</a:t>
            </a:r>
            <a:r>
              <a:rPr sz="2200" b="1" spc="-490" dirty="0">
                <a:latin typeface="Trebuchet MS"/>
                <a:cs typeface="Trebuchet MS"/>
              </a:rPr>
              <a:t> </a:t>
            </a:r>
            <a:r>
              <a:rPr sz="2200" b="1" spc="-125" dirty="0">
                <a:latin typeface="Trebuchet MS"/>
                <a:cs typeface="Trebuchet MS"/>
              </a:rPr>
              <a:t>funciones</a:t>
            </a:r>
            <a:endParaRPr sz="2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25" dirty="0">
                <a:latin typeface="Trebuchet MS"/>
                <a:cs typeface="Trebuchet MS"/>
              </a:rPr>
              <a:t>Problema: </a:t>
            </a:r>
            <a:r>
              <a:rPr sz="2200" b="1" spc="-90" dirty="0">
                <a:latin typeface="Trebuchet MS"/>
                <a:cs typeface="Trebuchet MS"/>
              </a:rPr>
              <a:t>no </a:t>
            </a:r>
            <a:r>
              <a:rPr sz="2200" b="1" spc="-114" dirty="0">
                <a:latin typeface="Trebuchet MS"/>
                <a:cs typeface="Trebuchet MS"/>
              </a:rPr>
              <a:t>se </a:t>
            </a:r>
            <a:r>
              <a:rPr sz="2200" b="1" spc="-105" dirty="0">
                <a:latin typeface="Trebuchet MS"/>
                <a:cs typeface="Trebuchet MS"/>
              </a:rPr>
              <a:t>va </a:t>
            </a:r>
            <a:r>
              <a:rPr sz="2200" b="1" spc="-85" dirty="0">
                <a:latin typeface="Trebuchet MS"/>
                <a:cs typeface="Trebuchet MS"/>
              </a:rPr>
              <a:t>a </a:t>
            </a:r>
            <a:r>
              <a:rPr sz="2200" b="1" spc="-140" dirty="0">
                <a:latin typeface="Trebuchet MS"/>
                <a:cs typeface="Trebuchet MS"/>
              </a:rPr>
              <a:t>tener </a:t>
            </a:r>
            <a:r>
              <a:rPr sz="2200" b="1" spc="-110" dirty="0">
                <a:latin typeface="Trebuchet MS"/>
                <a:cs typeface="Trebuchet MS"/>
              </a:rPr>
              <a:t>personal</a:t>
            </a:r>
            <a:r>
              <a:rPr sz="2200" b="1" spc="-500" dirty="0">
                <a:latin typeface="Trebuchet MS"/>
                <a:cs typeface="Trebuchet MS"/>
              </a:rPr>
              <a:t> </a:t>
            </a:r>
            <a:r>
              <a:rPr sz="2200" b="1" spc="-135" dirty="0">
                <a:latin typeface="Trebuchet MS"/>
                <a:cs typeface="Trebuchet MS"/>
              </a:rPr>
              <a:t>especializado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55</a:t>
            </a:fld>
            <a:endParaRPr spc="-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85115" y="1212341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115" y="3041142"/>
            <a:ext cx="279654" cy="284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2541" y="193801"/>
            <a:ext cx="8572500" cy="3565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26034">
              <a:lnSpc>
                <a:spcPct val="100000"/>
              </a:lnSpc>
              <a:spcBef>
                <a:spcPts val="15"/>
              </a:spcBef>
            </a:pP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Pautas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implementación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controles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clave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considerar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70" dirty="0">
                <a:latin typeface="Arial"/>
                <a:cs typeface="Arial"/>
              </a:rPr>
              <a:t>Registraciones </a:t>
            </a:r>
            <a:r>
              <a:rPr sz="3200" spc="-165" dirty="0">
                <a:latin typeface="Arial"/>
                <a:cs typeface="Arial"/>
              </a:rPr>
              <a:t>claras, </a:t>
            </a:r>
            <a:r>
              <a:rPr sz="3200" spc="-204" dirty="0">
                <a:latin typeface="Arial"/>
                <a:cs typeface="Arial"/>
              </a:rPr>
              <a:t>adecuadas </a:t>
            </a:r>
            <a:r>
              <a:rPr sz="3200" spc="-155" dirty="0">
                <a:latin typeface="Arial"/>
                <a:cs typeface="Arial"/>
              </a:rPr>
              <a:t>y </a:t>
            </a:r>
            <a:r>
              <a:rPr sz="3200" spc="-114" dirty="0">
                <a:latin typeface="Arial"/>
                <a:cs typeface="Arial"/>
              </a:rPr>
              <a:t>al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50" dirty="0">
                <a:latin typeface="Arial"/>
                <a:cs typeface="Arial"/>
              </a:rPr>
              <a:t>día.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30" dirty="0">
                <a:latin typeface="Trebuchet MS"/>
                <a:cs typeface="Trebuchet MS"/>
              </a:rPr>
              <a:t>Evitar</a:t>
            </a:r>
            <a:r>
              <a:rPr sz="2200" b="1" spc="-165" dirty="0">
                <a:latin typeface="Trebuchet MS"/>
                <a:cs typeface="Trebuchet MS"/>
              </a:rPr>
              <a:t> </a:t>
            </a:r>
            <a:r>
              <a:rPr sz="2200" b="1" spc="-110" dirty="0">
                <a:latin typeface="Trebuchet MS"/>
                <a:cs typeface="Trebuchet MS"/>
              </a:rPr>
              <a:t>agrupar</a:t>
            </a:r>
            <a:r>
              <a:rPr sz="2200" b="1" spc="-175" dirty="0">
                <a:latin typeface="Trebuchet MS"/>
                <a:cs typeface="Trebuchet MS"/>
              </a:rPr>
              <a:t> </a:t>
            </a:r>
            <a:r>
              <a:rPr sz="2200" b="1" spc="-120" dirty="0">
                <a:latin typeface="Trebuchet MS"/>
                <a:cs typeface="Trebuchet MS"/>
              </a:rPr>
              <a:t>operaciones</a:t>
            </a:r>
            <a:r>
              <a:rPr sz="2200" b="1" spc="-165" dirty="0">
                <a:latin typeface="Trebuchet MS"/>
                <a:cs typeface="Trebuchet MS"/>
              </a:rPr>
              <a:t> </a:t>
            </a:r>
            <a:r>
              <a:rPr sz="2200" b="1" spc="-110" dirty="0">
                <a:latin typeface="Trebuchet MS"/>
                <a:cs typeface="Trebuchet MS"/>
              </a:rPr>
              <a:t>para</a:t>
            </a:r>
            <a:r>
              <a:rPr sz="2200" b="1" spc="-165" dirty="0">
                <a:latin typeface="Trebuchet MS"/>
                <a:cs typeface="Trebuchet MS"/>
              </a:rPr>
              <a:t> </a:t>
            </a:r>
            <a:r>
              <a:rPr sz="2200" b="1" spc="-114" dirty="0">
                <a:latin typeface="Trebuchet MS"/>
                <a:cs typeface="Trebuchet MS"/>
              </a:rPr>
              <a:t>registrarlas</a:t>
            </a:r>
            <a:r>
              <a:rPr sz="2200" b="1" spc="-145" dirty="0">
                <a:latin typeface="Trebuchet MS"/>
                <a:cs typeface="Trebuchet MS"/>
              </a:rPr>
              <a:t> </a:t>
            </a:r>
            <a:r>
              <a:rPr sz="2200" b="1" spc="-140" dirty="0">
                <a:latin typeface="Trebuchet MS"/>
                <a:cs typeface="Trebuchet MS"/>
              </a:rPr>
              <a:t>en</a:t>
            </a:r>
            <a:r>
              <a:rPr sz="2200" b="1" spc="-165" dirty="0">
                <a:latin typeface="Trebuchet MS"/>
                <a:cs typeface="Trebuchet MS"/>
              </a:rPr>
              <a:t> </a:t>
            </a:r>
            <a:r>
              <a:rPr sz="2200" b="1" spc="-120" dirty="0">
                <a:latin typeface="Trebuchet MS"/>
                <a:cs typeface="Trebuchet MS"/>
              </a:rPr>
              <a:t>un</a:t>
            </a:r>
            <a:r>
              <a:rPr sz="2200" b="1" spc="-175" dirty="0">
                <a:latin typeface="Trebuchet MS"/>
                <a:cs typeface="Trebuchet MS"/>
              </a:rPr>
              <a:t> </a:t>
            </a:r>
            <a:r>
              <a:rPr sz="2200" b="1" spc="-125" dirty="0">
                <a:latin typeface="Trebuchet MS"/>
                <a:cs typeface="Trebuchet MS"/>
              </a:rPr>
              <a:t>único</a:t>
            </a:r>
            <a:r>
              <a:rPr sz="2200" b="1" spc="-175" dirty="0">
                <a:latin typeface="Trebuchet MS"/>
                <a:cs typeface="Trebuchet MS"/>
              </a:rPr>
              <a:t> </a:t>
            </a:r>
            <a:r>
              <a:rPr sz="2200" b="1" spc="-105" dirty="0">
                <a:latin typeface="Trebuchet MS"/>
                <a:cs typeface="Trebuchet MS"/>
              </a:rPr>
              <a:t>asiento</a:t>
            </a:r>
            <a:r>
              <a:rPr sz="2200" b="1" spc="-165" dirty="0">
                <a:latin typeface="Trebuchet MS"/>
                <a:cs typeface="Trebuchet MS"/>
              </a:rPr>
              <a:t> </a:t>
            </a:r>
            <a:r>
              <a:rPr sz="2200" b="1" spc="-110" dirty="0">
                <a:latin typeface="Trebuchet MS"/>
                <a:cs typeface="Trebuchet MS"/>
              </a:rPr>
              <a:t>diario</a:t>
            </a:r>
            <a:endParaRPr sz="22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25" dirty="0">
                <a:latin typeface="Trebuchet MS"/>
                <a:cs typeface="Trebuchet MS"/>
              </a:rPr>
              <a:t>Contar </a:t>
            </a:r>
            <a:r>
              <a:rPr sz="2200" b="1" spc="-130" dirty="0">
                <a:latin typeface="Trebuchet MS"/>
                <a:cs typeface="Trebuchet MS"/>
              </a:rPr>
              <a:t>con </a:t>
            </a:r>
            <a:r>
              <a:rPr sz="2200" b="1" spc="-125" dirty="0">
                <a:latin typeface="Trebuchet MS"/>
                <a:cs typeface="Trebuchet MS"/>
              </a:rPr>
              <a:t>un </a:t>
            </a:r>
            <a:r>
              <a:rPr sz="2200" b="1" spc="-110" dirty="0">
                <a:latin typeface="Trebuchet MS"/>
                <a:cs typeface="Trebuchet MS"/>
              </a:rPr>
              <a:t>plan </a:t>
            </a:r>
            <a:r>
              <a:rPr sz="2200" b="1" spc="-130" dirty="0">
                <a:latin typeface="Trebuchet MS"/>
                <a:cs typeface="Trebuchet MS"/>
              </a:rPr>
              <a:t>de cuentas de </a:t>
            </a:r>
            <a:r>
              <a:rPr sz="2200" b="1" spc="-135" dirty="0">
                <a:latin typeface="Trebuchet MS"/>
                <a:cs typeface="Trebuchet MS"/>
              </a:rPr>
              <a:t>acuerdo </a:t>
            </a:r>
            <a:r>
              <a:rPr sz="2200" b="1" spc="-85" dirty="0">
                <a:latin typeface="Trebuchet MS"/>
                <a:cs typeface="Trebuchet MS"/>
              </a:rPr>
              <a:t>a </a:t>
            </a:r>
            <a:r>
              <a:rPr sz="2200" b="1" spc="-90" dirty="0">
                <a:latin typeface="Trebuchet MS"/>
                <a:cs typeface="Trebuchet MS"/>
              </a:rPr>
              <a:t>las </a:t>
            </a:r>
            <a:r>
              <a:rPr sz="2200" b="1" spc="-125" dirty="0">
                <a:latin typeface="Trebuchet MS"/>
                <a:cs typeface="Trebuchet MS"/>
              </a:rPr>
              <a:t>necesidades </a:t>
            </a:r>
            <a:r>
              <a:rPr sz="2200" b="1" spc="-135" dirty="0">
                <a:latin typeface="Trebuchet MS"/>
                <a:cs typeface="Trebuchet MS"/>
              </a:rPr>
              <a:t>y que  facilite el</a:t>
            </a:r>
            <a:r>
              <a:rPr sz="2200" b="1" spc="-195" dirty="0">
                <a:latin typeface="Trebuchet MS"/>
                <a:cs typeface="Trebuchet MS"/>
              </a:rPr>
              <a:t> </a:t>
            </a:r>
            <a:r>
              <a:rPr sz="2200" b="1" spc="-135" dirty="0">
                <a:latin typeface="Trebuchet MS"/>
                <a:cs typeface="Trebuchet MS"/>
              </a:rPr>
              <a:t>control.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2200">
              <a:latin typeface="Times New Roman"/>
              <a:cs typeface="Times New Roman"/>
            </a:endParaRPr>
          </a:p>
          <a:p>
            <a:pPr marL="386715">
              <a:lnSpc>
                <a:spcPct val="100000"/>
              </a:lnSpc>
            </a:pPr>
            <a:r>
              <a:rPr sz="3200" spc="-165" dirty="0">
                <a:latin typeface="Arial"/>
                <a:cs typeface="Arial"/>
              </a:rPr>
              <a:t>Mecanismos </a:t>
            </a:r>
            <a:r>
              <a:rPr sz="3200" spc="-145" dirty="0">
                <a:latin typeface="Arial"/>
                <a:cs typeface="Arial"/>
              </a:rPr>
              <a:t>para </a:t>
            </a:r>
            <a:r>
              <a:rPr sz="3200" spc="-114" dirty="0">
                <a:latin typeface="Arial"/>
                <a:cs typeface="Arial"/>
              </a:rPr>
              <a:t>gestionar </a:t>
            </a:r>
            <a:r>
              <a:rPr sz="3200" spc="-150" dirty="0">
                <a:latin typeface="Arial"/>
                <a:cs typeface="Arial"/>
              </a:rPr>
              <a:t>reclamos de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spc="-110" dirty="0">
                <a:latin typeface="Arial"/>
                <a:cs typeface="Arial"/>
              </a:rPr>
              <a:t>clientes.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5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sz="2200" b="1" spc="-130" dirty="0">
                <a:latin typeface="Trebuchet MS"/>
                <a:cs typeface="Trebuchet MS"/>
              </a:rPr>
              <a:t>Poner </a:t>
            </a:r>
            <a:r>
              <a:rPr sz="2200" b="1" spc="-180" dirty="0">
                <a:latin typeface="Trebuchet MS"/>
                <a:cs typeface="Trebuchet MS"/>
              </a:rPr>
              <a:t>0800 </a:t>
            </a:r>
            <a:r>
              <a:rPr sz="2200" b="1" spc="-110" dirty="0">
                <a:latin typeface="Trebuchet MS"/>
                <a:cs typeface="Trebuchet MS"/>
              </a:rPr>
              <a:t>para </a:t>
            </a:r>
            <a:r>
              <a:rPr sz="2200" b="1" spc="-135" dirty="0">
                <a:latin typeface="Trebuchet MS"/>
                <a:cs typeface="Trebuchet MS"/>
              </a:rPr>
              <a:t>clientes y </a:t>
            </a:r>
            <a:r>
              <a:rPr sz="2200" b="1" spc="-120" dirty="0">
                <a:latin typeface="Trebuchet MS"/>
                <a:cs typeface="Trebuchet MS"/>
              </a:rPr>
              <a:t>un </a:t>
            </a:r>
            <a:r>
              <a:rPr sz="2200" b="1" spc="-110" dirty="0">
                <a:latin typeface="Trebuchet MS"/>
                <a:cs typeface="Trebuchet MS"/>
              </a:rPr>
              <a:t>libro 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r>
              <a:rPr sz="2200" b="1" spc="-440" dirty="0">
                <a:latin typeface="Trebuchet MS"/>
                <a:cs typeface="Trebuchet MS"/>
              </a:rPr>
              <a:t> </a:t>
            </a:r>
            <a:r>
              <a:rPr sz="2200" b="1" spc="-145" dirty="0">
                <a:latin typeface="Trebuchet MS"/>
                <a:cs typeface="Trebuchet MS"/>
              </a:rPr>
              <a:t>quejas.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56</a:t>
            </a:fld>
            <a:endParaRPr spc="-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5877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30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0" dirty="0">
                <a:latin typeface="Arial"/>
                <a:cs typeface="Arial"/>
              </a:rPr>
              <a:t>Rediseño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5" dirty="0">
                <a:latin typeface="Arial"/>
                <a:cs typeface="Arial"/>
              </a:rPr>
              <a:t>procesos </a:t>
            </a:r>
            <a:r>
              <a:rPr sz="1800" b="0" spc="-90" dirty="0">
                <a:latin typeface="Arial"/>
                <a:cs typeface="Arial"/>
              </a:rPr>
              <a:t>y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Benchmarking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19400" y="2286000"/>
            <a:ext cx="3657600" cy="3657600"/>
          </a:xfrm>
          <a:custGeom>
            <a:avLst/>
            <a:gdLst/>
            <a:ahLst/>
            <a:cxnLst/>
            <a:rect l="l" t="t" r="r" b="b"/>
            <a:pathLst>
              <a:path w="3657600" h="3657600">
                <a:moveTo>
                  <a:pt x="0" y="1828800"/>
                </a:moveTo>
                <a:lnTo>
                  <a:pt x="616" y="1780850"/>
                </a:lnTo>
                <a:lnTo>
                  <a:pt x="2455" y="1733204"/>
                </a:lnTo>
                <a:lnTo>
                  <a:pt x="5502" y="1685878"/>
                </a:lnTo>
                <a:lnTo>
                  <a:pt x="9741" y="1638886"/>
                </a:lnTo>
                <a:lnTo>
                  <a:pt x="15158" y="1592244"/>
                </a:lnTo>
                <a:lnTo>
                  <a:pt x="21737" y="1545966"/>
                </a:lnTo>
                <a:lnTo>
                  <a:pt x="29463" y="1500067"/>
                </a:lnTo>
                <a:lnTo>
                  <a:pt x="38322" y="1454563"/>
                </a:lnTo>
                <a:lnTo>
                  <a:pt x="48299" y="1409468"/>
                </a:lnTo>
                <a:lnTo>
                  <a:pt x="59377" y="1364799"/>
                </a:lnTo>
                <a:lnTo>
                  <a:pt x="71543" y="1320568"/>
                </a:lnTo>
                <a:lnTo>
                  <a:pt x="84781" y="1276793"/>
                </a:lnTo>
                <a:lnTo>
                  <a:pt x="99076" y="1233488"/>
                </a:lnTo>
                <a:lnTo>
                  <a:pt x="114412" y="1190667"/>
                </a:lnTo>
                <a:lnTo>
                  <a:pt x="130776" y="1148346"/>
                </a:lnTo>
                <a:lnTo>
                  <a:pt x="148152" y="1106540"/>
                </a:lnTo>
                <a:lnTo>
                  <a:pt x="166524" y="1065265"/>
                </a:lnTo>
                <a:lnTo>
                  <a:pt x="185879" y="1024534"/>
                </a:lnTo>
                <a:lnTo>
                  <a:pt x="206200" y="984364"/>
                </a:lnTo>
                <a:lnTo>
                  <a:pt x="227472" y="944768"/>
                </a:lnTo>
                <a:lnTo>
                  <a:pt x="249681" y="905763"/>
                </a:lnTo>
                <a:lnTo>
                  <a:pt x="272812" y="867364"/>
                </a:lnTo>
                <a:lnTo>
                  <a:pt x="296850" y="829585"/>
                </a:lnTo>
                <a:lnTo>
                  <a:pt x="321778" y="792441"/>
                </a:lnTo>
                <a:lnTo>
                  <a:pt x="347583" y="755948"/>
                </a:lnTo>
                <a:lnTo>
                  <a:pt x="374250" y="720120"/>
                </a:lnTo>
                <a:lnTo>
                  <a:pt x="401762" y="684973"/>
                </a:lnTo>
                <a:lnTo>
                  <a:pt x="430106" y="650522"/>
                </a:lnTo>
                <a:lnTo>
                  <a:pt x="459266" y="616781"/>
                </a:lnTo>
                <a:lnTo>
                  <a:pt x="489227" y="583766"/>
                </a:lnTo>
                <a:lnTo>
                  <a:pt x="519974" y="551492"/>
                </a:lnTo>
                <a:lnTo>
                  <a:pt x="551492" y="519974"/>
                </a:lnTo>
                <a:lnTo>
                  <a:pt x="583766" y="489227"/>
                </a:lnTo>
                <a:lnTo>
                  <a:pt x="616781" y="459266"/>
                </a:lnTo>
                <a:lnTo>
                  <a:pt x="650522" y="430106"/>
                </a:lnTo>
                <a:lnTo>
                  <a:pt x="684973" y="401762"/>
                </a:lnTo>
                <a:lnTo>
                  <a:pt x="720120" y="374250"/>
                </a:lnTo>
                <a:lnTo>
                  <a:pt x="755948" y="347583"/>
                </a:lnTo>
                <a:lnTo>
                  <a:pt x="792441" y="321778"/>
                </a:lnTo>
                <a:lnTo>
                  <a:pt x="829585" y="296850"/>
                </a:lnTo>
                <a:lnTo>
                  <a:pt x="867364" y="272812"/>
                </a:lnTo>
                <a:lnTo>
                  <a:pt x="905764" y="249682"/>
                </a:lnTo>
                <a:lnTo>
                  <a:pt x="944768" y="227472"/>
                </a:lnTo>
                <a:lnTo>
                  <a:pt x="984364" y="206200"/>
                </a:lnTo>
                <a:lnTo>
                  <a:pt x="1024534" y="185879"/>
                </a:lnTo>
                <a:lnTo>
                  <a:pt x="1065265" y="166524"/>
                </a:lnTo>
                <a:lnTo>
                  <a:pt x="1106540" y="148152"/>
                </a:lnTo>
                <a:lnTo>
                  <a:pt x="1148346" y="130776"/>
                </a:lnTo>
                <a:lnTo>
                  <a:pt x="1190667" y="114412"/>
                </a:lnTo>
                <a:lnTo>
                  <a:pt x="1233488" y="99076"/>
                </a:lnTo>
                <a:lnTo>
                  <a:pt x="1276793" y="84781"/>
                </a:lnTo>
                <a:lnTo>
                  <a:pt x="1320568" y="71543"/>
                </a:lnTo>
                <a:lnTo>
                  <a:pt x="1364799" y="59377"/>
                </a:lnTo>
                <a:lnTo>
                  <a:pt x="1409468" y="48299"/>
                </a:lnTo>
                <a:lnTo>
                  <a:pt x="1454563" y="38322"/>
                </a:lnTo>
                <a:lnTo>
                  <a:pt x="1500067" y="29463"/>
                </a:lnTo>
                <a:lnTo>
                  <a:pt x="1545966" y="21737"/>
                </a:lnTo>
                <a:lnTo>
                  <a:pt x="1592244" y="15158"/>
                </a:lnTo>
                <a:lnTo>
                  <a:pt x="1638886" y="9741"/>
                </a:lnTo>
                <a:lnTo>
                  <a:pt x="1685878" y="5502"/>
                </a:lnTo>
                <a:lnTo>
                  <a:pt x="1733204" y="2455"/>
                </a:lnTo>
                <a:lnTo>
                  <a:pt x="1780850" y="616"/>
                </a:lnTo>
                <a:lnTo>
                  <a:pt x="1828800" y="0"/>
                </a:lnTo>
                <a:lnTo>
                  <a:pt x="1876749" y="616"/>
                </a:lnTo>
                <a:lnTo>
                  <a:pt x="1924395" y="2455"/>
                </a:lnTo>
                <a:lnTo>
                  <a:pt x="1971721" y="5502"/>
                </a:lnTo>
                <a:lnTo>
                  <a:pt x="2018713" y="9741"/>
                </a:lnTo>
                <a:lnTo>
                  <a:pt x="2065355" y="15158"/>
                </a:lnTo>
                <a:lnTo>
                  <a:pt x="2111633" y="21737"/>
                </a:lnTo>
                <a:lnTo>
                  <a:pt x="2157532" y="29463"/>
                </a:lnTo>
                <a:lnTo>
                  <a:pt x="2203036" y="38322"/>
                </a:lnTo>
                <a:lnTo>
                  <a:pt x="2248131" y="48299"/>
                </a:lnTo>
                <a:lnTo>
                  <a:pt x="2292800" y="59377"/>
                </a:lnTo>
                <a:lnTo>
                  <a:pt x="2337031" y="71543"/>
                </a:lnTo>
                <a:lnTo>
                  <a:pt x="2380806" y="84781"/>
                </a:lnTo>
                <a:lnTo>
                  <a:pt x="2424111" y="99076"/>
                </a:lnTo>
                <a:lnTo>
                  <a:pt x="2466932" y="114412"/>
                </a:lnTo>
                <a:lnTo>
                  <a:pt x="2509253" y="130776"/>
                </a:lnTo>
                <a:lnTo>
                  <a:pt x="2551059" y="148152"/>
                </a:lnTo>
                <a:lnTo>
                  <a:pt x="2592334" y="166524"/>
                </a:lnTo>
                <a:lnTo>
                  <a:pt x="2633065" y="185879"/>
                </a:lnTo>
                <a:lnTo>
                  <a:pt x="2673235" y="206200"/>
                </a:lnTo>
                <a:lnTo>
                  <a:pt x="2712831" y="227472"/>
                </a:lnTo>
                <a:lnTo>
                  <a:pt x="2751836" y="249682"/>
                </a:lnTo>
                <a:lnTo>
                  <a:pt x="2790235" y="272812"/>
                </a:lnTo>
                <a:lnTo>
                  <a:pt x="2828014" y="296850"/>
                </a:lnTo>
                <a:lnTo>
                  <a:pt x="2865158" y="321778"/>
                </a:lnTo>
                <a:lnTo>
                  <a:pt x="2901651" y="347583"/>
                </a:lnTo>
                <a:lnTo>
                  <a:pt x="2937479" y="374250"/>
                </a:lnTo>
                <a:lnTo>
                  <a:pt x="2972626" y="401762"/>
                </a:lnTo>
                <a:lnTo>
                  <a:pt x="3007077" y="430106"/>
                </a:lnTo>
                <a:lnTo>
                  <a:pt x="3040818" y="459266"/>
                </a:lnTo>
                <a:lnTo>
                  <a:pt x="3073833" y="489227"/>
                </a:lnTo>
                <a:lnTo>
                  <a:pt x="3106107" y="519974"/>
                </a:lnTo>
                <a:lnTo>
                  <a:pt x="3137625" y="551492"/>
                </a:lnTo>
                <a:lnTo>
                  <a:pt x="3168372" y="583766"/>
                </a:lnTo>
                <a:lnTo>
                  <a:pt x="3198333" y="616781"/>
                </a:lnTo>
                <a:lnTo>
                  <a:pt x="3227493" y="650522"/>
                </a:lnTo>
                <a:lnTo>
                  <a:pt x="3255837" y="684973"/>
                </a:lnTo>
                <a:lnTo>
                  <a:pt x="3283349" y="720120"/>
                </a:lnTo>
                <a:lnTo>
                  <a:pt x="3310016" y="755948"/>
                </a:lnTo>
                <a:lnTo>
                  <a:pt x="3335821" y="792441"/>
                </a:lnTo>
                <a:lnTo>
                  <a:pt x="3360749" y="829585"/>
                </a:lnTo>
                <a:lnTo>
                  <a:pt x="3384787" y="867364"/>
                </a:lnTo>
                <a:lnTo>
                  <a:pt x="3407917" y="905764"/>
                </a:lnTo>
                <a:lnTo>
                  <a:pt x="3430127" y="944768"/>
                </a:lnTo>
                <a:lnTo>
                  <a:pt x="3451399" y="984364"/>
                </a:lnTo>
                <a:lnTo>
                  <a:pt x="3471720" y="1024534"/>
                </a:lnTo>
                <a:lnTo>
                  <a:pt x="3491075" y="1065265"/>
                </a:lnTo>
                <a:lnTo>
                  <a:pt x="3509447" y="1106540"/>
                </a:lnTo>
                <a:lnTo>
                  <a:pt x="3526823" y="1148346"/>
                </a:lnTo>
                <a:lnTo>
                  <a:pt x="3543187" y="1190667"/>
                </a:lnTo>
                <a:lnTo>
                  <a:pt x="3558523" y="1233488"/>
                </a:lnTo>
                <a:lnTo>
                  <a:pt x="3572818" y="1276793"/>
                </a:lnTo>
                <a:lnTo>
                  <a:pt x="3586056" y="1320568"/>
                </a:lnTo>
                <a:lnTo>
                  <a:pt x="3598222" y="1364799"/>
                </a:lnTo>
                <a:lnTo>
                  <a:pt x="3609300" y="1409468"/>
                </a:lnTo>
                <a:lnTo>
                  <a:pt x="3619277" y="1454563"/>
                </a:lnTo>
                <a:lnTo>
                  <a:pt x="3628136" y="1500067"/>
                </a:lnTo>
                <a:lnTo>
                  <a:pt x="3635862" y="1545966"/>
                </a:lnTo>
                <a:lnTo>
                  <a:pt x="3642441" y="1592244"/>
                </a:lnTo>
                <a:lnTo>
                  <a:pt x="3647858" y="1638886"/>
                </a:lnTo>
                <a:lnTo>
                  <a:pt x="3652097" y="1685878"/>
                </a:lnTo>
                <a:lnTo>
                  <a:pt x="3655144" y="1733204"/>
                </a:lnTo>
                <a:lnTo>
                  <a:pt x="3656983" y="1780850"/>
                </a:lnTo>
                <a:lnTo>
                  <a:pt x="3657600" y="1828800"/>
                </a:lnTo>
                <a:lnTo>
                  <a:pt x="3656983" y="1876749"/>
                </a:lnTo>
                <a:lnTo>
                  <a:pt x="3655144" y="1924395"/>
                </a:lnTo>
                <a:lnTo>
                  <a:pt x="3652097" y="1971721"/>
                </a:lnTo>
                <a:lnTo>
                  <a:pt x="3647858" y="2018713"/>
                </a:lnTo>
                <a:lnTo>
                  <a:pt x="3642441" y="2065355"/>
                </a:lnTo>
                <a:lnTo>
                  <a:pt x="3635862" y="2111633"/>
                </a:lnTo>
                <a:lnTo>
                  <a:pt x="3628136" y="2157532"/>
                </a:lnTo>
                <a:lnTo>
                  <a:pt x="3619277" y="2203036"/>
                </a:lnTo>
                <a:lnTo>
                  <a:pt x="3609300" y="2248131"/>
                </a:lnTo>
                <a:lnTo>
                  <a:pt x="3598222" y="2292800"/>
                </a:lnTo>
                <a:lnTo>
                  <a:pt x="3586056" y="2337031"/>
                </a:lnTo>
                <a:lnTo>
                  <a:pt x="3572818" y="2380806"/>
                </a:lnTo>
                <a:lnTo>
                  <a:pt x="3558523" y="2424111"/>
                </a:lnTo>
                <a:lnTo>
                  <a:pt x="3543187" y="2466932"/>
                </a:lnTo>
                <a:lnTo>
                  <a:pt x="3526823" y="2509253"/>
                </a:lnTo>
                <a:lnTo>
                  <a:pt x="3509447" y="2551059"/>
                </a:lnTo>
                <a:lnTo>
                  <a:pt x="3491075" y="2592334"/>
                </a:lnTo>
                <a:lnTo>
                  <a:pt x="3471720" y="2633065"/>
                </a:lnTo>
                <a:lnTo>
                  <a:pt x="3451399" y="2673235"/>
                </a:lnTo>
                <a:lnTo>
                  <a:pt x="3430127" y="2712831"/>
                </a:lnTo>
                <a:lnTo>
                  <a:pt x="3407917" y="2751836"/>
                </a:lnTo>
                <a:lnTo>
                  <a:pt x="3384787" y="2790235"/>
                </a:lnTo>
                <a:lnTo>
                  <a:pt x="3360749" y="2828014"/>
                </a:lnTo>
                <a:lnTo>
                  <a:pt x="3335821" y="2865158"/>
                </a:lnTo>
                <a:lnTo>
                  <a:pt x="3310016" y="2901651"/>
                </a:lnTo>
                <a:lnTo>
                  <a:pt x="3283349" y="2937479"/>
                </a:lnTo>
                <a:lnTo>
                  <a:pt x="3255837" y="2972626"/>
                </a:lnTo>
                <a:lnTo>
                  <a:pt x="3227493" y="3007077"/>
                </a:lnTo>
                <a:lnTo>
                  <a:pt x="3198333" y="3040818"/>
                </a:lnTo>
                <a:lnTo>
                  <a:pt x="3168372" y="3073833"/>
                </a:lnTo>
                <a:lnTo>
                  <a:pt x="3137625" y="3106107"/>
                </a:lnTo>
                <a:lnTo>
                  <a:pt x="3106107" y="3137625"/>
                </a:lnTo>
                <a:lnTo>
                  <a:pt x="3073833" y="3168372"/>
                </a:lnTo>
                <a:lnTo>
                  <a:pt x="3040818" y="3198333"/>
                </a:lnTo>
                <a:lnTo>
                  <a:pt x="3007077" y="3227493"/>
                </a:lnTo>
                <a:lnTo>
                  <a:pt x="2972626" y="3255837"/>
                </a:lnTo>
                <a:lnTo>
                  <a:pt x="2937479" y="3283349"/>
                </a:lnTo>
                <a:lnTo>
                  <a:pt x="2901651" y="3310016"/>
                </a:lnTo>
                <a:lnTo>
                  <a:pt x="2865158" y="3335821"/>
                </a:lnTo>
                <a:lnTo>
                  <a:pt x="2828014" y="3360749"/>
                </a:lnTo>
                <a:lnTo>
                  <a:pt x="2790235" y="3384787"/>
                </a:lnTo>
                <a:lnTo>
                  <a:pt x="2751835" y="3407918"/>
                </a:lnTo>
                <a:lnTo>
                  <a:pt x="2712831" y="3430127"/>
                </a:lnTo>
                <a:lnTo>
                  <a:pt x="2673235" y="3451399"/>
                </a:lnTo>
                <a:lnTo>
                  <a:pt x="2633065" y="3471720"/>
                </a:lnTo>
                <a:lnTo>
                  <a:pt x="2592334" y="3491075"/>
                </a:lnTo>
                <a:lnTo>
                  <a:pt x="2551059" y="3509447"/>
                </a:lnTo>
                <a:lnTo>
                  <a:pt x="2509253" y="3526823"/>
                </a:lnTo>
                <a:lnTo>
                  <a:pt x="2466932" y="3543187"/>
                </a:lnTo>
                <a:lnTo>
                  <a:pt x="2424111" y="3558523"/>
                </a:lnTo>
                <a:lnTo>
                  <a:pt x="2380806" y="3572818"/>
                </a:lnTo>
                <a:lnTo>
                  <a:pt x="2337031" y="3586056"/>
                </a:lnTo>
                <a:lnTo>
                  <a:pt x="2292800" y="3598222"/>
                </a:lnTo>
                <a:lnTo>
                  <a:pt x="2248131" y="3609300"/>
                </a:lnTo>
                <a:lnTo>
                  <a:pt x="2203036" y="3619277"/>
                </a:lnTo>
                <a:lnTo>
                  <a:pt x="2157532" y="3628136"/>
                </a:lnTo>
                <a:lnTo>
                  <a:pt x="2111633" y="3635862"/>
                </a:lnTo>
                <a:lnTo>
                  <a:pt x="2065355" y="3642441"/>
                </a:lnTo>
                <a:lnTo>
                  <a:pt x="2018713" y="3647858"/>
                </a:lnTo>
                <a:lnTo>
                  <a:pt x="1971721" y="3652097"/>
                </a:lnTo>
                <a:lnTo>
                  <a:pt x="1924395" y="3655144"/>
                </a:lnTo>
                <a:lnTo>
                  <a:pt x="1876749" y="3656983"/>
                </a:lnTo>
                <a:lnTo>
                  <a:pt x="1828800" y="3657600"/>
                </a:lnTo>
                <a:lnTo>
                  <a:pt x="1780850" y="3656983"/>
                </a:lnTo>
                <a:lnTo>
                  <a:pt x="1733204" y="3655144"/>
                </a:lnTo>
                <a:lnTo>
                  <a:pt x="1685878" y="3652097"/>
                </a:lnTo>
                <a:lnTo>
                  <a:pt x="1638886" y="3647858"/>
                </a:lnTo>
                <a:lnTo>
                  <a:pt x="1592244" y="3642441"/>
                </a:lnTo>
                <a:lnTo>
                  <a:pt x="1545966" y="3635862"/>
                </a:lnTo>
                <a:lnTo>
                  <a:pt x="1500067" y="3628136"/>
                </a:lnTo>
                <a:lnTo>
                  <a:pt x="1454563" y="3619277"/>
                </a:lnTo>
                <a:lnTo>
                  <a:pt x="1409468" y="3609300"/>
                </a:lnTo>
                <a:lnTo>
                  <a:pt x="1364799" y="3598222"/>
                </a:lnTo>
                <a:lnTo>
                  <a:pt x="1320568" y="3586056"/>
                </a:lnTo>
                <a:lnTo>
                  <a:pt x="1276793" y="3572818"/>
                </a:lnTo>
                <a:lnTo>
                  <a:pt x="1233488" y="3558523"/>
                </a:lnTo>
                <a:lnTo>
                  <a:pt x="1190667" y="3543187"/>
                </a:lnTo>
                <a:lnTo>
                  <a:pt x="1148346" y="3526823"/>
                </a:lnTo>
                <a:lnTo>
                  <a:pt x="1106540" y="3509447"/>
                </a:lnTo>
                <a:lnTo>
                  <a:pt x="1065265" y="3491075"/>
                </a:lnTo>
                <a:lnTo>
                  <a:pt x="1024534" y="3471720"/>
                </a:lnTo>
                <a:lnTo>
                  <a:pt x="984364" y="3451399"/>
                </a:lnTo>
                <a:lnTo>
                  <a:pt x="944768" y="3430127"/>
                </a:lnTo>
                <a:lnTo>
                  <a:pt x="905763" y="3407918"/>
                </a:lnTo>
                <a:lnTo>
                  <a:pt x="867364" y="3384787"/>
                </a:lnTo>
                <a:lnTo>
                  <a:pt x="829585" y="3360749"/>
                </a:lnTo>
                <a:lnTo>
                  <a:pt x="792441" y="3335821"/>
                </a:lnTo>
                <a:lnTo>
                  <a:pt x="755948" y="3310016"/>
                </a:lnTo>
                <a:lnTo>
                  <a:pt x="720120" y="3283349"/>
                </a:lnTo>
                <a:lnTo>
                  <a:pt x="684973" y="3255837"/>
                </a:lnTo>
                <a:lnTo>
                  <a:pt x="650522" y="3227493"/>
                </a:lnTo>
                <a:lnTo>
                  <a:pt x="616781" y="3198333"/>
                </a:lnTo>
                <a:lnTo>
                  <a:pt x="583766" y="3168372"/>
                </a:lnTo>
                <a:lnTo>
                  <a:pt x="551492" y="3137625"/>
                </a:lnTo>
                <a:lnTo>
                  <a:pt x="519974" y="3106107"/>
                </a:lnTo>
                <a:lnTo>
                  <a:pt x="489227" y="3073833"/>
                </a:lnTo>
                <a:lnTo>
                  <a:pt x="459266" y="3040818"/>
                </a:lnTo>
                <a:lnTo>
                  <a:pt x="430106" y="3007077"/>
                </a:lnTo>
                <a:lnTo>
                  <a:pt x="401762" y="2972626"/>
                </a:lnTo>
                <a:lnTo>
                  <a:pt x="374250" y="2937479"/>
                </a:lnTo>
                <a:lnTo>
                  <a:pt x="347583" y="2901651"/>
                </a:lnTo>
                <a:lnTo>
                  <a:pt x="321778" y="2865158"/>
                </a:lnTo>
                <a:lnTo>
                  <a:pt x="296850" y="2828014"/>
                </a:lnTo>
                <a:lnTo>
                  <a:pt x="272812" y="2790235"/>
                </a:lnTo>
                <a:lnTo>
                  <a:pt x="249682" y="2751835"/>
                </a:lnTo>
                <a:lnTo>
                  <a:pt x="227472" y="2712831"/>
                </a:lnTo>
                <a:lnTo>
                  <a:pt x="206200" y="2673235"/>
                </a:lnTo>
                <a:lnTo>
                  <a:pt x="185879" y="2633065"/>
                </a:lnTo>
                <a:lnTo>
                  <a:pt x="166524" y="2592334"/>
                </a:lnTo>
                <a:lnTo>
                  <a:pt x="148152" y="2551059"/>
                </a:lnTo>
                <a:lnTo>
                  <a:pt x="130776" y="2509253"/>
                </a:lnTo>
                <a:lnTo>
                  <a:pt x="114412" y="2466932"/>
                </a:lnTo>
                <a:lnTo>
                  <a:pt x="99076" y="2424111"/>
                </a:lnTo>
                <a:lnTo>
                  <a:pt x="84781" y="2380806"/>
                </a:lnTo>
                <a:lnTo>
                  <a:pt x="71543" y="2337031"/>
                </a:lnTo>
                <a:lnTo>
                  <a:pt x="59377" y="2292800"/>
                </a:lnTo>
                <a:lnTo>
                  <a:pt x="48299" y="2248131"/>
                </a:lnTo>
                <a:lnTo>
                  <a:pt x="38322" y="2203036"/>
                </a:lnTo>
                <a:lnTo>
                  <a:pt x="29464" y="2157532"/>
                </a:lnTo>
                <a:lnTo>
                  <a:pt x="21737" y="2111633"/>
                </a:lnTo>
                <a:lnTo>
                  <a:pt x="15158" y="2065355"/>
                </a:lnTo>
                <a:lnTo>
                  <a:pt x="9741" y="2018713"/>
                </a:lnTo>
                <a:lnTo>
                  <a:pt x="5502" y="1971721"/>
                </a:lnTo>
                <a:lnTo>
                  <a:pt x="2455" y="1924395"/>
                </a:lnTo>
                <a:lnTo>
                  <a:pt x="616" y="1876749"/>
                </a:lnTo>
                <a:lnTo>
                  <a:pt x="0" y="1828800"/>
                </a:lnTo>
                <a:close/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30117" y="1886711"/>
            <a:ext cx="2836163" cy="8549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4276" y="1969770"/>
            <a:ext cx="325374" cy="454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45764" y="2213610"/>
            <a:ext cx="2423160" cy="4541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30117" y="5620511"/>
            <a:ext cx="2836163" cy="8542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34078" y="5703570"/>
            <a:ext cx="445770" cy="4541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95878" y="5947409"/>
            <a:ext cx="2122931" cy="4541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09923" y="5743194"/>
            <a:ext cx="18776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spc="-40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Evaluar el</a:t>
            </a:r>
            <a:r>
              <a:rPr sz="16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desempeño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11317" y="3048761"/>
            <a:ext cx="2836164" cy="8542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48805" y="3131820"/>
            <a:ext cx="379475" cy="4541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78246" y="3375659"/>
            <a:ext cx="1720596" cy="4541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92546" y="3170936"/>
            <a:ext cx="14744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Definir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16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alcance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11317" y="4458461"/>
            <a:ext cx="2836164" cy="8542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21373" y="4541520"/>
            <a:ext cx="433577" cy="4541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23738" y="4785359"/>
            <a:ext cx="2230373" cy="4541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38038" y="4581144"/>
            <a:ext cx="198373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Documentar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1600" b="1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proceso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48917" y="4458461"/>
            <a:ext cx="2836163" cy="8542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80310" y="4541520"/>
            <a:ext cx="391668" cy="4541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66494" y="4785359"/>
            <a:ext cx="2018537" cy="4541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80539" y="4581144"/>
            <a:ext cx="177101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Rediseñar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16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proceso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48917" y="3048761"/>
            <a:ext cx="2836163" cy="85420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52877" y="3131820"/>
            <a:ext cx="445769" cy="4541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77517" y="3375659"/>
            <a:ext cx="2398013" cy="45415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591310" y="3170936"/>
            <a:ext cx="21526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600" b="1" spc="-40" dirty="0">
                <a:solidFill>
                  <a:srgbClr val="FFFFFF"/>
                </a:solidFill>
                <a:latin typeface="Trebuchet MS"/>
                <a:cs typeface="Trebuchet MS"/>
              </a:rPr>
              <a:t>VI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Implementar </a:t>
            </a:r>
            <a:r>
              <a:rPr sz="1600" b="1" spc="-60" dirty="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sz="1600" b="1" spc="-2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Trebuchet MS"/>
                <a:cs typeface="Trebuchet MS"/>
              </a:rPr>
              <a:t>cambios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22884" y="1098422"/>
            <a:ext cx="8616696" cy="2286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22884" y="1098422"/>
            <a:ext cx="8616950" cy="228600"/>
          </a:xfrm>
          <a:custGeom>
            <a:avLst/>
            <a:gdLst/>
            <a:ahLst/>
            <a:cxnLst/>
            <a:rect l="l" t="t" r="r" b="b"/>
            <a:pathLst>
              <a:path w="8616950" h="228600">
                <a:moveTo>
                  <a:pt x="0" y="0"/>
                </a:moveTo>
                <a:lnTo>
                  <a:pt x="8489569" y="0"/>
                </a:lnTo>
                <a:lnTo>
                  <a:pt x="8616696" y="114300"/>
                </a:lnTo>
                <a:lnTo>
                  <a:pt x="8489569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2692" y="1047750"/>
            <a:ext cx="802386" cy="39928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09244" y="1047750"/>
            <a:ext cx="323088" cy="39928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32688" y="1047750"/>
            <a:ext cx="878586" cy="39928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13916" y="1047750"/>
            <a:ext cx="423672" cy="39928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37182" y="1047750"/>
            <a:ext cx="891540" cy="39928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530601" y="1047750"/>
            <a:ext cx="294894" cy="399288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586227" y="1047750"/>
            <a:ext cx="945641" cy="39928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292602" y="1047750"/>
            <a:ext cx="284988" cy="39928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80232" y="1047750"/>
            <a:ext cx="314706" cy="39928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55670" y="1047750"/>
            <a:ext cx="286512" cy="39928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541776" y="1047750"/>
            <a:ext cx="388620" cy="39928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731514" y="1047750"/>
            <a:ext cx="614934" cy="399288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47565" y="1047750"/>
            <a:ext cx="598932" cy="39928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507229" y="1047750"/>
            <a:ext cx="294894" cy="39928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96595" y="1068191"/>
            <a:ext cx="8656320" cy="145478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204"/>
              </a:spcBef>
            </a:pPr>
            <a:r>
              <a:rPr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Análisis </a:t>
            </a:r>
            <a:r>
              <a:rPr sz="1400" b="1" spc="-85" dirty="0">
                <a:solidFill>
                  <a:srgbClr val="FFFFFF"/>
                </a:solidFill>
                <a:latin typeface="Trebuchet MS"/>
                <a:cs typeface="Trebuchet MS"/>
              </a:rPr>
              <a:t>y rediseño de </a:t>
            </a:r>
            <a:r>
              <a:rPr sz="1400" b="1" spc="-75" dirty="0">
                <a:solidFill>
                  <a:srgbClr val="FFFFFF"/>
                </a:solidFill>
                <a:latin typeface="Trebuchet MS"/>
                <a:cs typeface="Trebuchet MS"/>
              </a:rPr>
              <a:t>procesos </a:t>
            </a:r>
            <a:r>
              <a:rPr sz="1400" b="1" spc="-100" dirty="0">
                <a:solidFill>
                  <a:srgbClr val="FFFFFF"/>
                </a:solidFill>
                <a:latin typeface="Trebuchet MS"/>
                <a:cs typeface="Trebuchet MS"/>
              </a:rPr>
              <a:t>(Krajewski, </a:t>
            </a:r>
            <a:r>
              <a:rPr sz="1400" b="1" spc="-165" dirty="0">
                <a:solidFill>
                  <a:srgbClr val="FFFFFF"/>
                </a:solidFill>
                <a:latin typeface="Trebuchet MS"/>
                <a:cs typeface="Trebuchet MS"/>
              </a:rPr>
              <a:t>L. </a:t>
            </a:r>
            <a:r>
              <a:rPr sz="1400" b="1" spc="-95" dirty="0">
                <a:solidFill>
                  <a:srgbClr val="FFFFFF"/>
                </a:solidFill>
                <a:latin typeface="Trebuchet MS"/>
                <a:cs typeface="Trebuchet MS"/>
              </a:rPr>
              <a:t>et </a:t>
            </a:r>
            <a:r>
              <a:rPr sz="1400" b="1" spc="-114" dirty="0">
                <a:solidFill>
                  <a:srgbClr val="FFFFFF"/>
                </a:solidFill>
                <a:latin typeface="Trebuchet MS"/>
                <a:cs typeface="Trebuchet MS"/>
              </a:rPr>
              <a:t>alter,</a:t>
            </a:r>
            <a:r>
              <a:rPr sz="14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2008)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40"/>
              </a:spcBef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65" dirty="0">
                <a:latin typeface="Arial"/>
                <a:cs typeface="Arial"/>
              </a:rPr>
              <a:t>documentación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70" dirty="0">
                <a:latin typeface="Arial"/>
                <a:cs typeface="Arial"/>
              </a:rPr>
              <a:t>comprensión </a:t>
            </a:r>
            <a:r>
              <a:rPr sz="1800" spc="-55" dirty="0">
                <a:latin typeface="Arial"/>
                <a:cs typeface="Arial"/>
              </a:rPr>
              <a:t>detallada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cómo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75" dirty="0">
                <a:latin typeface="Arial"/>
                <a:cs typeface="Arial"/>
              </a:rPr>
              <a:t>realiza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35" dirty="0">
                <a:latin typeface="Arial"/>
                <a:cs typeface="Arial"/>
              </a:rPr>
              <a:t>trabajo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cómo </a:t>
            </a:r>
            <a:r>
              <a:rPr sz="1800" spc="-75" dirty="0">
                <a:latin typeface="Arial"/>
                <a:cs typeface="Arial"/>
              </a:rPr>
              <a:t>puede  </a:t>
            </a:r>
            <a:r>
              <a:rPr sz="1800" spc="-80" dirty="0">
                <a:latin typeface="Arial"/>
                <a:cs typeface="Arial"/>
              </a:rPr>
              <a:t>rediseñarse.</a:t>
            </a:r>
            <a:endParaRPr sz="1800">
              <a:latin typeface="Arial"/>
              <a:cs typeface="Arial"/>
            </a:endParaRPr>
          </a:p>
          <a:p>
            <a:pPr marL="247015" algn="ctr">
              <a:lnSpc>
                <a:spcPct val="100000"/>
              </a:lnSpc>
              <a:spcBef>
                <a:spcPts val="1165"/>
              </a:spcBef>
            </a:pPr>
            <a:r>
              <a:rPr sz="1600" b="1" spc="-2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1600">
              <a:latin typeface="Trebuchet MS"/>
              <a:cs typeface="Trebuchet MS"/>
            </a:endParaRPr>
          </a:p>
          <a:p>
            <a:pPr marL="248285" algn="ctr">
              <a:lnSpc>
                <a:spcPct val="100000"/>
              </a:lnSpc>
            </a:pP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Identificar</a:t>
            </a:r>
            <a:r>
              <a:rPr sz="16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FFFFFF"/>
                </a:solidFill>
                <a:latin typeface="Trebuchet MS"/>
                <a:cs typeface="Trebuchet MS"/>
              </a:rPr>
              <a:t>oportunidades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57</a:t>
            </a:fld>
            <a:endParaRPr spc="-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427545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29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0" dirty="0">
                <a:latin typeface="Arial"/>
                <a:cs typeface="Arial"/>
              </a:rPr>
              <a:t>Rediseño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105" dirty="0">
                <a:latin typeface="Arial"/>
                <a:cs typeface="Arial"/>
              </a:rPr>
              <a:t>procesos </a:t>
            </a:r>
            <a:r>
              <a:rPr sz="1800" b="0" spc="-90" dirty="0">
                <a:latin typeface="Arial"/>
                <a:cs typeface="Arial"/>
              </a:rPr>
              <a:t>y Benchmarking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spc="-80" dirty="0"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" y="1573149"/>
            <a:ext cx="190500" cy="1958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3840" y="2511932"/>
            <a:ext cx="190500" cy="1958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3840" y="3785996"/>
            <a:ext cx="190500" cy="1958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9176" y="1473708"/>
            <a:ext cx="8242300" cy="290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200" spc="-100" dirty="0">
                <a:latin typeface="Arial"/>
                <a:cs typeface="Arial"/>
              </a:rPr>
              <a:t>Analizar los </a:t>
            </a:r>
            <a:r>
              <a:rPr sz="2200" spc="-120" dirty="0">
                <a:latin typeface="Arial"/>
                <a:cs typeface="Arial"/>
              </a:rPr>
              <a:t>procesos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0" dirty="0">
                <a:latin typeface="Arial"/>
                <a:cs typeface="Arial"/>
              </a:rPr>
              <a:t>otras </a:t>
            </a:r>
            <a:r>
              <a:rPr sz="2200" spc="-130" dirty="0">
                <a:latin typeface="Arial"/>
                <a:cs typeface="Arial"/>
              </a:rPr>
              <a:t>compañías </a:t>
            </a:r>
            <a:r>
              <a:rPr sz="2200" spc="-100" dirty="0">
                <a:latin typeface="Arial"/>
                <a:cs typeface="Arial"/>
              </a:rPr>
              <a:t>para </a:t>
            </a:r>
            <a:r>
              <a:rPr sz="2200" spc="-120" dirty="0">
                <a:latin typeface="Arial"/>
                <a:cs typeface="Arial"/>
              </a:rPr>
              <a:t>saber </a:t>
            </a:r>
            <a:r>
              <a:rPr sz="2200" spc="-85" dirty="0">
                <a:latin typeface="Arial"/>
                <a:cs typeface="Arial"/>
              </a:rPr>
              <a:t>dónde </a:t>
            </a:r>
            <a:r>
              <a:rPr sz="2200" spc="-105" dirty="0">
                <a:latin typeface="Arial"/>
                <a:cs typeface="Arial"/>
              </a:rPr>
              <a:t>están  </a:t>
            </a:r>
            <a:r>
              <a:rPr sz="2200" spc="-120" dirty="0">
                <a:latin typeface="Arial"/>
                <a:cs typeface="Arial"/>
              </a:rPr>
              <a:t>paradas,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90" dirty="0">
                <a:latin typeface="Arial"/>
                <a:cs typeface="Arial"/>
              </a:rPr>
              <a:t>conocer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80" dirty="0">
                <a:latin typeface="Arial"/>
                <a:cs typeface="Arial"/>
              </a:rPr>
              <a:t>mejores </a:t>
            </a:r>
            <a:r>
              <a:rPr sz="2200" spc="-95" dirty="0">
                <a:latin typeface="Arial"/>
                <a:cs typeface="Arial"/>
              </a:rPr>
              <a:t>prácticas </a:t>
            </a:r>
            <a:r>
              <a:rPr sz="2200" spc="-60" dirty="0">
                <a:latin typeface="Arial"/>
                <a:cs typeface="Arial"/>
              </a:rPr>
              <a:t>del</a:t>
            </a:r>
            <a:r>
              <a:rPr sz="2200" spc="-240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momento.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200" spc="-140" dirty="0">
                <a:latin typeface="Arial"/>
                <a:cs typeface="Arial"/>
              </a:rPr>
              <a:t>Proceso </a:t>
            </a:r>
            <a:r>
              <a:rPr sz="2200" spc="-80" dirty="0">
                <a:latin typeface="Arial"/>
                <a:cs typeface="Arial"/>
              </a:rPr>
              <a:t>sistemático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50" dirty="0">
                <a:latin typeface="Arial"/>
                <a:cs typeface="Arial"/>
              </a:rPr>
              <a:t>continuo, </a:t>
            </a:r>
            <a:r>
              <a:rPr sz="2200" spc="-55" dirty="0">
                <a:latin typeface="Arial"/>
                <a:cs typeface="Arial"/>
              </a:rPr>
              <a:t>utilizado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14" dirty="0">
                <a:latin typeface="Arial"/>
                <a:cs typeface="Arial"/>
              </a:rPr>
              <a:t>organizaciones </a:t>
            </a:r>
            <a:r>
              <a:rPr sz="2200" spc="-100" dirty="0">
                <a:latin typeface="Arial"/>
                <a:cs typeface="Arial"/>
              </a:rPr>
              <a:t>para  </a:t>
            </a:r>
            <a:r>
              <a:rPr sz="2200" spc="-90" dirty="0">
                <a:latin typeface="Arial"/>
                <a:cs typeface="Arial"/>
              </a:rPr>
              <a:t>evaluar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14" dirty="0">
                <a:latin typeface="Arial"/>
                <a:cs typeface="Arial"/>
              </a:rPr>
              <a:t>desempeño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70" dirty="0">
                <a:latin typeface="Arial"/>
                <a:cs typeface="Arial"/>
              </a:rPr>
              <a:t>otras </a:t>
            </a:r>
            <a:r>
              <a:rPr sz="2200" spc="-105" dirty="0">
                <a:latin typeface="Arial"/>
                <a:cs typeface="Arial"/>
              </a:rPr>
              <a:t>unidades </a:t>
            </a:r>
            <a:r>
              <a:rPr sz="2200" spc="-100" dirty="0">
                <a:latin typeface="Arial"/>
                <a:cs typeface="Arial"/>
              </a:rPr>
              <a:t>de negocio </a:t>
            </a:r>
            <a:r>
              <a:rPr sz="2200" spc="-165" dirty="0">
                <a:latin typeface="Arial"/>
                <a:cs typeface="Arial"/>
              </a:rPr>
              <a:t>más </a:t>
            </a:r>
            <a:r>
              <a:rPr sz="2200" spc="-110" dirty="0">
                <a:latin typeface="Arial"/>
                <a:cs typeface="Arial"/>
              </a:rPr>
              <a:t>exitosas </a:t>
            </a:r>
            <a:r>
              <a:rPr sz="2200" spc="-105" dirty="0">
                <a:latin typeface="Arial"/>
                <a:cs typeface="Arial"/>
              </a:rPr>
              <a:t>y  </a:t>
            </a:r>
            <a:r>
              <a:rPr sz="2200" spc="-60" dirty="0">
                <a:latin typeface="Arial"/>
                <a:cs typeface="Arial"/>
              </a:rPr>
              <a:t>poder </a:t>
            </a:r>
            <a:r>
              <a:rPr sz="2200" spc="-45" dirty="0">
                <a:latin typeface="Arial"/>
                <a:cs typeface="Arial"/>
              </a:rPr>
              <a:t>cotejarlo </a:t>
            </a:r>
            <a:r>
              <a:rPr sz="2200" spc="-100" dirty="0">
                <a:latin typeface="Arial"/>
                <a:cs typeface="Arial"/>
              </a:rPr>
              <a:t>con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300" dirty="0"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propio.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200" spc="-125" dirty="0">
                <a:latin typeface="Arial"/>
                <a:cs typeface="Arial"/>
              </a:rPr>
              <a:t>Un </a:t>
            </a:r>
            <a:r>
              <a:rPr sz="2200" spc="-90" dirty="0">
                <a:latin typeface="Arial"/>
                <a:cs typeface="Arial"/>
              </a:rPr>
              <a:t>buen </a:t>
            </a:r>
            <a:r>
              <a:rPr sz="2200" spc="-100" dirty="0">
                <a:latin typeface="Arial"/>
                <a:cs typeface="Arial"/>
              </a:rPr>
              <a:t>benchmark </a:t>
            </a:r>
            <a:r>
              <a:rPr sz="2200" spc="-105" dirty="0">
                <a:latin typeface="Arial"/>
                <a:cs typeface="Arial"/>
              </a:rPr>
              <a:t>debe </a:t>
            </a:r>
            <a:r>
              <a:rPr sz="2200" spc="-35" dirty="0">
                <a:latin typeface="Arial"/>
                <a:cs typeface="Arial"/>
              </a:rPr>
              <a:t>tener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cuenta la </a:t>
            </a:r>
            <a:r>
              <a:rPr sz="2200" spc="-40" dirty="0">
                <a:latin typeface="Arial"/>
                <a:cs typeface="Arial"/>
              </a:rPr>
              <a:t>mejor </a:t>
            </a:r>
            <a:r>
              <a:rPr sz="2200" spc="-75" dirty="0">
                <a:latin typeface="Arial"/>
                <a:cs typeface="Arial"/>
              </a:rPr>
              <a:t>práctica. </a:t>
            </a:r>
            <a:r>
              <a:rPr sz="2200" spc="-185" dirty="0">
                <a:latin typeface="Arial"/>
                <a:cs typeface="Arial"/>
              </a:rPr>
              <a:t>De </a:t>
            </a:r>
            <a:r>
              <a:rPr sz="2200" spc="-30" dirty="0">
                <a:latin typeface="Arial"/>
                <a:cs typeface="Arial"/>
              </a:rPr>
              <a:t>lo  </a:t>
            </a:r>
            <a:r>
              <a:rPr sz="2200" spc="-45" dirty="0">
                <a:latin typeface="Arial"/>
                <a:cs typeface="Arial"/>
              </a:rPr>
              <a:t>contrario, </a:t>
            </a:r>
            <a:r>
              <a:rPr sz="2200" spc="-105" dirty="0">
                <a:latin typeface="Arial"/>
                <a:cs typeface="Arial"/>
              </a:rPr>
              <a:t>está </a:t>
            </a:r>
            <a:r>
              <a:rPr sz="2200" spc="-80" dirty="0">
                <a:latin typeface="Arial"/>
                <a:cs typeface="Arial"/>
              </a:rPr>
              <a:t>mal</a:t>
            </a:r>
            <a:r>
              <a:rPr sz="2200" spc="-22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hecho.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3840" y="4724780"/>
            <a:ext cx="190500" cy="1958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9176" y="4625847"/>
            <a:ext cx="369570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65" dirty="0">
                <a:latin typeface="Arial"/>
                <a:cs typeface="Arial"/>
              </a:rPr>
              <a:t>Hay </a:t>
            </a:r>
            <a:r>
              <a:rPr sz="2200" spc="-55" dirty="0">
                <a:latin typeface="Arial"/>
                <a:cs typeface="Arial"/>
              </a:rPr>
              <a:t>tres </a:t>
            </a:r>
            <a:r>
              <a:rPr sz="2200" spc="-45" dirty="0">
                <a:latin typeface="Arial"/>
                <a:cs typeface="Arial"/>
              </a:rPr>
              <a:t>tipos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20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benchmarking: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2979" y="1143380"/>
            <a:ext cx="8538972" cy="268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2786" y="1112519"/>
            <a:ext cx="1934718" cy="399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88235" y="1112519"/>
            <a:ext cx="1584198" cy="399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33166" y="1112519"/>
            <a:ext cx="849630" cy="3992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43528" y="1112519"/>
            <a:ext cx="944118" cy="3992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1591" y="1146556"/>
            <a:ext cx="43815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Rediseñar </a:t>
            </a:r>
            <a:r>
              <a:rPr sz="1400" b="1" spc="-90" dirty="0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proceso 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| </a:t>
            </a:r>
            <a:r>
              <a:rPr sz="1400" b="1" spc="-45" dirty="0">
                <a:solidFill>
                  <a:srgbClr val="FFFFFF"/>
                </a:solidFill>
                <a:latin typeface="Trebuchet MS"/>
                <a:cs typeface="Trebuchet MS"/>
              </a:rPr>
              <a:t>BENCHMARKING </a:t>
            </a:r>
            <a:r>
              <a:rPr sz="1400" b="1" spc="-90" dirty="0">
                <a:solidFill>
                  <a:srgbClr val="FFFFFF"/>
                </a:solidFill>
                <a:latin typeface="Trebuchet MS"/>
                <a:cs typeface="Trebuchet MS"/>
              </a:rPr>
              <a:t>(Casinelli, </a:t>
            </a:r>
            <a:r>
              <a:rPr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H.</a:t>
            </a:r>
            <a:r>
              <a:rPr sz="1400" b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2000)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30317" y="4723638"/>
            <a:ext cx="3979164" cy="164211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15785" y="4789932"/>
            <a:ext cx="8089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58</a:t>
            </a:fld>
            <a:endParaRPr spc="-5" dirty="0"/>
          </a:p>
        </p:txBody>
      </p:sp>
      <p:sp>
        <p:nvSpPr>
          <p:cNvPr id="18" name="object 18"/>
          <p:cNvSpPr txBox="1"/>
          <p:nvPr/>
        </p:nvSpPr>
        <p:spPr>
          <a:xfrm>
            <a:off x="6158229" y="5297932"/>
            <a:ext cx="1322705" cy="83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Competitivo</a:t>
            </a:r>
            <a:endParaRPr sz="20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1600"/>
              </a:spcBef>
            </a:pP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Funcional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28765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34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/>
          <p:nvPr/>
        </p:nvSpPr>
        <p:spPr>
          <a:xfrm>
            <a:off x="466090" y="2037079"/>
            <a:ext cx="114300" cy="124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6090" y="2549144"/>
            <a:ext cx="114300" cy="124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6090" y="3061207"/>
            <a:ext cx="114300" cy="124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1426" y="2993898"/>
            <a:ext cx="3145790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</a:pPr>
            <a:r>
              <a:rPr sz="1400" spc="-85" dirty="0">
                <a:latin typeface="Arial"/>
                <a:cs typeface="Arial"/>
              </a:rPr>
              <a:t>Conocer </a:t>
            </a:r>
            <a:r>
              <a:rPr sz="1400" spc="-45" dirty="0">
                <a:latin typeface="Arial"/>
                <a:cs typeface="Arial"/>
              </a:rPr>
              <a:t>bien </a:t>
            </a:r>
            <a:r>
              <a:rPr sz="1400" spc="-65" dirty="0">
                <a:latin typeface="Arial"/>
                <a:cs typeface="Arial"/>
              </a:rPr>
              <a:t>cómo </a:t>
            </a:r>
            <a:r>
              <a:rPr sz="1400" spc="-125" dirty="0">
                <a:latin typeface="Arial"/>
                <a:cs typeface="Arial"/>
              </a:rPr>
              <a:t>se </a:t>
            </a:r>
            <a:r>
              <a:rPr sz="1400" spc="-65" dirty="0">
                <a:latin typeface="Arial"/>
                <a:cs typeface="Arial"/>
              </a:rPr>
              <a:t>realiza </a:t>
            </a:r>
            <a:r>
              <a:rPr sz="1400" spc="-40" dirty="0">
                <a:latin typeface="Arial"/>
                <a:cs typeface="Arial"/>
              </a:rPr>
              <a:t>el </a:t>
            </a:r>
            <a:r>
              <a:rPr sz="1400" spc="-70" dirty="0">
                <a:latin typeface="Arial"/>
                <a:cs typeface="Arial"/>
              </a:rPr>
              <a:t>proceso </a:t>
            </a:r>
            <a:r>
              <a:rPr sz="1400" spc="-65" dirty="0">
                <a:latin typeface="Arial"/>
                <a:cs typeface="Arial"/>
              </a:rPr>
              <a:t>en  </a:t>
            </a:r>
            <a:r>
              <a:rPr sz="1400" spc="-55" dirty="0">
                <a:latin typeface="Arial"/>
                <a:cs typeface="Arial"/>
              </a:rPr>
              <a:t>nuestra </a:t>
            </a:r>
            <a:r>
              <a:rPr sz="1400" spc="-70" dirty="0">
                <a:latin typeface="Arial"/>
                <a:cs typeface="Arial"/>
              </a:rPr>
              <a:t>organización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6090" y="3573271"/>
            <a:ext cx="114300" cy="1242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1426" y="3505961"/>
            <a:ext cx="345884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</a:pPr>
            <a:r>
              <a:rPr sz="1400" spc="-70" dirty="0">
                <a:latin typeface="Arial"/>
                <a:cs typeface="Arial"/>
              </a:rPr>
              <a:t>Claridad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45" dirty="0">
                <a:latin typeface="Arial"/>
                <a:cs typeface="Arial"/>
              </a:rPr>
              <a:t>relación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qué </a:t>
            </a:r>
            <a:r>
              <a:rPr sz="1400" spc="-40" dirty="0">
                <a:latin typeface="Arial"/>
                <a:cs typeface="Arial"/>
              </a:rPr>
              <a:t>información </a:t>
            </a:r>
            <a:r>
              <a:rPr sz="1400" spc="-85" dirty="0">
                <a:latin typeface="Arial"/>
                <a:cs typeface="Arial"/>
              </a:rPr>
              <a:t>vamos </a:t>
            </a:r>
            <a:r>
              <a:rPr sz="1400" spc="-110" dirty="0">
                <a:latin typeface="Arial"/>
                <a:cs typeface="Arial"/>
              </a:rPr>
              <a:t>a  </a:t>
            </a:r>
            <a:r>
              <a:rPr sz="1400" spc="-25" dirty="0">
                <a:latin typeface="Arial"/>
                <a:cs typeface="Arial"/>
              </a:rPr>
              <a:t>requerir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55" dirty="0">
                <a:latin typeface="Arial"/>
                <a:cs typeface="Arial"/>
              </a:rPr>
              <a:t>nuestros </a:t>
            </a:r>
            <a:r>
              <a:rPr sz="1400" spc="-30" dirty="0">
                <a:latin typeface="Arial"/>
                <a:cs typeface="Arial"/>
              </a:rPr>
              <a:t>interlocutores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6090" y="4085335"/>
            <a:ext cx="114300" cy="124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1426" y="4018279"/>
            <a:ext cx="299656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</a:pPr>
            <a:r>
              <a:rPr sz="1400" spc="-75" dirty="0">
                <a:latin typeface="Arial"/>
                <a:cs typeface="Arial"/>
              </a:rPr>
              <a:t>No </a:t>
            </a:r>
            <a:r>
              <a:rPr sz="1400" spc="-25" dirty="0">
                <a:latin typeface="Arial"/>
                <a:cs typeface="Arial"/>
              </a:rPr>
              <a:t>requerir </a:t>
            </a:r>
            <a:r>
              <a:rPr sz="1400" spc="-40" dirty="0">
                <a:latin typeface="Arial"/>
                <a:cs typeface="Arial"/>
              </a:rPr>
              <a:t>información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55" dirty="0">
                <a:latin typeface="Arial"/>
                <a:cs typeface="Arial"/>
              </a:rPr>
              <a:t>nosotros </a:t>
            </a:r>
            <a:r>
              <a:rPr sz="1400" spc="-50" dirty="0">
                <a:latin typeface="Arial"/>
                <a:cs typeface="Arial"/>
              </a:rPr>
              <a:t>no  </a:t>
            </a:r>
            <a:r>
              <a:rPr sz="1400" spc="-70" dirty="0">
                <a:latin typeface="Arial"/>
                <a:cs typeface="Arial"/>
              </a:rPr>
              <a:t>estaríamos dispuestos </a:t>
            </a:r>
            <a:r>
              <a:rPr sz="1400" spc="-110" dirty="0">
                <a:latin typeface="Arial"/>
                <a:cs typeface="Arial"/>
              </a:rPr>
              <a:t>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brindar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6090" y="4597400"/>
            <a:ext cx="114300" cy="124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1426" y="4530344"/>
            <a:ext cx="337502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</a:pPr>
            <a:r>
              <a:rPr sz="1400" spc="-35" dirty="0">
                <a:latin typeface="Arial"/>
                <a:cs typeface="Arial"/>
              </a:rPr>
              <a:t>Definir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55" dirty="0">
                <a:latin typeface="Arial"/>
                <a:cs typeface="Arial"/>
              </a:rPr>
              <a:t>roles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95" dirty="0">
                <a:latin typeface="Arial"/>
                <a:cs typeface="Arial"/>
              </a:rPr>
              <a:t>cada </a:t>
            </a:r>
            <a:r>
              <a:rPr sz="1400" spc="-30" dirty="0">
                <a:latin typeface="Arial"/>
                <a:cs typeface="Arial"/>
              </a:rPr>
              <a:t>integrante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5" dirty="0">
                <a:latin typeface="Arial"/>
                <a:cs typeface="Arial"/>
              </a:rPr>
              <a:t>nuestro  equipo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6090" y="5109464"/>
            <a:ext cx="114300" cy="124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41426" y="5042408"/>
            <a:ext cx="3448050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</a:pPr>
            <a:r>
              <a:rPr sz="1400" spc="-35" dirty="0">
                <a:latin typeface="Arial"/>
                <a:cs typeface="Arial"/>
              </a:rPr>
              <a:t>Definir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55" dirty="0">
                <a:latin typeface="Arial"/>
                <a:cs typeface="Arial"/>
              </a:rPr>
              <a:t>resultados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95" dirty="0">
                <a:latin typeface="Arial"/>
                <a:cs typeface="Arial"/>
              </a:rPr>
              <a:t>deseamos </a:t>
            </a:r>
            <a:r>
              <a:rPr sz="1400" spc="-75" dirty="0">
                <a:latin typeface="Arial"/>
                <a:cs typeface="Arial"/>
              </a:rPr>
              <a:t>alcanzar </a:t>
            </a:r>
            <a:r>
              <a:rPr sz="1400" spc="-50" dirty="0">
                <a:latin typeface="Arial"/>
                <a:cs typeface="Arial"/>
              </a:rPr>
              <a:t>al  </a:t>
            </a:r>
            <a:r>
              <a:rPr sz="1400" spc="-25" dirty="0">
                <a:latin typeface="Arial"/>
                <a:cs typeface="Arial"/>
              </a:rPr>
              <a:t>terminar </a:t>
            </a:r>
            <a:r>
              <a:rPr sz="1400" spc="-40" dirty="0">
                <a:latin typeface="Arial"/>
                <a:cs typeface="Arial"/>
              </a:rPr>
              <a:t>el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estudio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6090" y="5621528"/>
            <a:ext cx="114300" cy="124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1426" y="5554471"/>
            <a:ext cx="322897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</a:pPr>
            <a:r>
              <a:rPr sz="1400" spc="-55" dirty="0">
                <a:latin typeface="Arial"/>
                <a:cs typeface="Arial"/>
              </a:rPr>
              <a:t>Honrar </a:t>
            </a:r>
            <a:r>
              <a:rPr sz="1400" spc="-40" dirty="0">
                <a:latin typeface="Arial"/>
                <a:cs typeface="Arial"/>
              </a:rPr>
              <a:t>el </a:t>
            </a:r>
            <a:r>
              <a:rPr sz="1400" spc="-55" dirty="0">
                <a:latin typeface="Arial"/>
                <a:cs typeface="Arial"/>
              </a:rPr>
              <a:t>compromiso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5" dirty="0">
                <a:latin typeface="Arial"/>
                <a:cs typeface="Arial"/>
              </a:rPr>
              <a:t>confidencialidad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e  </a:t>
            </a:r>
            <a:r>
              <a:rPr sz="1400" spc="-35" dirty="0">
                <a:latin typeface="Arial"/>
                <a:cs typeface="Arial"/>
              </a:rPr>
              <a:t>intercambio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1426" y="1969769"/>
            <a:ext cx="413956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  <a:tabLst>
                <a:tab pos="3991610" algn="l"/>
              </a:tabLst>
            </a:pPr>
            <a:r>
              <a:rPr sz="1400" spc="-25" dirty="0">
                <a:latin typeface="Arial"/>
                <a:cs typeface="Arial"/>
              </a:rPr>
              <a:t>Actitud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d</a:t>
            </a:r>
            <a:r>
              <a:rPr sz="1400" spc="-65" dirty="0">
                <a:latin typeface="Arial"/>
                <a:cs typeface="Arial"/>
              </a:rPr>
              <a:t>e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110" dirty="0">
                <a:latin typeface="Arial"/>
                <a:cs typeface="Arial"/>
              </a:rPr>
              <a:t>ca</a:t>
            </a:r>
            <a:r>
              <a:rPr sz="1400" spc="-40" dirty="0">
                <a:latin typeface="Arial"/>
                <a:cs typeface="Arial"/>
              </a:rPr>
              <a:t>nd</a:t>
            </a:r>
            <a:r>
              <a:rPr sz="1400" spc="-25" dirty="0">
                <a:latin typeface="Arial"/>
                <a:cs typeface="Arial"/>
              </a:rPr>
              <a:t>i</a:t>
            </a:r>
            <a:r>
              <a:rPr sz="1400" spc="-100" dirty="0">
                <a:latin typeface="Arial"/>
                <a:cs typeface="Arial"/>
              </a:rPr>
              <a:t>de</a:t>
            </a:r>
            <a:r>
              <a:rPr sz="1400" spc="-90" dirty="0">
                <a:latin typeface="Arial"/>
                <a:cs typeface="Arial"/>
              </a:rPr>
              <a:t>z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25" dirty="0">
                <a:latin typeface="Arial"/>
                <a:cs typeface="Arial"/>
              </a:rPr>
              <a:t>apertu</a:t>
            </a:r>
            <a:r>
              <a:rPr sz="1400" spc="-30" dirty="0">
                <a:latin typeface="Arial"/>
                <a:cs typeface="Arial"/>
              </a:rPr>
              <a:t>r</a:t>
            </a:r>
            <a:r>
              <a:rPr sz="1400" spc="-110" dirty="0">
                <a:latin typeface="Arial"/>
                <a:cs typeface="Arial"/>
              </a:rPr>
              <a:t>a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(Cond</a:t>
            </a:r>
            <a:r>
              <a:rPr sz="1400" spc="-45" dirty="0">
                <a:latin typeface="Arial"/>
                <a:cs typeface="Arial"/>
              </a:rPr>
              <a:t>i</a:t>
            </a:r>
            <a:r>
              <a:rPr sz="1400" spc="-50" dirty="0">
                <a:latin typeface="Arial"/>
                <a:cs typeface="Arial"/>
              </a:rPr>
              <a:t>ción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básic</a:t>
            </a:r>
            <a:r>
              <a:rPr sz="1400" spc="-100" dirty="0">
                <a:latin typeface="Arial"/>
                <a:cs typeface="Arial"/>
              </a:rPr>
              <a:t>a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Arial"/>
                <a:cs typeface="Arial"/>
              </a:rPr>
              <a:t>1.  </a:t>
            </a:r>
            <a:r>
              <a:rPr sz="1400" spc="-65" dirty="0">
                <a:latin typeface="Arial"/>
                <a:cs typeface="Arial"/>
              </a:rPr>
              <a:t>para </a:t>
            </a:r>
            <a:r>
              <a:rPr sz="1400" spc="-40" dirty="0">
                <a:latin typeface="Arial"/>
                <a:cs typeface="Arial"/>
              </a:rPr>
              <a:t>potenciar el</a:t>
            </a:r>
            <a:r>
              <a:rPr sz="1400" spc="-100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aprendizaje)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08879" y="1969769"/>
            <a:ext cx="3360420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</a:pPr>
            <a:r>
              <a:rPr sz="1400" spc="-30" dirty="0">
                <a:latin typeface="Arial"/>
                <a:cs typeface="Arial"/>
              </a:rPr>
              <a:t>Identificar </a:t>
            </a:r>
            <a:r>
              <a:rPr sz="1400" spc="-70" dirty="0">
                <a:latin typeface="Arial"/>
                <a:cs typeface="Arial"/>
              </a:rPr>
              <a:t>y seleccionar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80" dirty="0">
                <a:latin typeface="Arial"/>
                <a:cs typeface="Arial"/>
              </a:rPr>
              <a:t>procesos </a:t>
            </a:r>
            <a:r>
              <a:rPr sz="1400" spc="-65" dirty="0">
                <a:latin typeface="Arial"/>
                <a:cs typeface="Arial"/>
              </a:rPr>
              <a:t>sobre los  </a:t>
            </a:r>
            <a:r>
              <a:rPr sz="1400" spc="-85" dirty="0">
                <a:latin typeface="Arial"/>
                <a:cs typeface="Arial"/>
              </a:rPr>
              <a:t>cuales </a:t>
            </a:r>
            <a:r>
              <a:rPr sz="1400" spc="-55" dirty="0">
                <a:latin typeface="Arial"/>
                <a:cs typeface="Arial"/>
              </a:rPr>
              <a:t>realizar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benchmarking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1426" y="2481833"/>
            <a:ext cx="413956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1340"/>
              </a:lnSpc>
              <a:spcBef>
                <a:spcPts val="425"/>
              </a:spcBef>
              <a:tabLst>
                <a:tab pos="3991610" algn="l"/>
              </a:tabLst>
            </a:pPr>
            <a:r>
              <a:rPr sz="1400" spc="-135" dirty="0">
                <a:latin typeface="Arial"/>
                <a:cs typeface="Arial"/>
              </a:rPr>
              <a:t>Cl</a:t>
            </a:r>
            <a:r>
              <a:rPr sz="1400" spc="-50" dirty="0">
                <a:latin typeface="Arial"/>
                <a:cs typeface="Arial"/>
              </a:rPr>
              <a:t>aridad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en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rel</a:t>
            </a:r>
            <a:r>
              <a:rPr sz="1400" spc="-110" dirty="0">
                <a:latin typeface="Arial"/>
                <a:cs typeface="Arial"/>
              </a:rPr>
              <a:t>ac</a:t>
            </a:r>
            <a:r>
              <a:rPr sz="1400" spc="-30" dirty="0">
                <a:latin typeface="Arial"/>
                <a:cs typeface="Arial"/>
              </a:rPr>
              <a:t>ión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110" dirty="0">
                <a:latin typeface="Arial"/>
                <a:cs typeface="Arial"/>
              </a:rPr>
              <a:t>a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cuáles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son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los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15" dirty="0">
                <a:latin typeface="Arial"/>
                <a:cs typeface="Arial"/>
              </a:rPr>
              <a:t>moti</a:t>
            </a:r>
            <a:r>
              <a:rPr sz="1400" spc="-25" dirty="0">
                <a:latin typeface="Arial"/>
                <a:cs typeface="Arial"/>
              </a:rPr>
              <a:t>v</a:t>
            </a:r>
            <a:r>
              <a:rPr sz="1400" spc="-110" dirty="0">
                <a:latin typeface="Arial"/>
                <a:cs typeface="Arial"/>
              </a:rPr>
              <a:t>o</a:t>
            </a:r>
            <a:r>
              <a:rPr sz="1400" spc="-95" dirty="0">
                <a:latin typeface="Arial"/>
                <a:cs typeface="Arial"/>
              </a:rPr>
              <a:t>s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0" dirty="0">
                <a:latin typeface="Arial"/>
                <a:cs typeface="Arial"/>
              </a:rPr>
              <a:t>2.  </a:t>
            </a:r>
            <a:r>
              <a:rPr sz="1400" spc="-65" dirty="0">
                <a:latin typeface="Arial"/>
                <a:cs typeface="Arial"/>
              </a:rPr>
              <a:t>para </a:t>
            </a:r>
            <a:r>
              <a:rPr sz="1400" spc="-55" dirty="0">
                <a:latin typeface="Arial"/>
                <a:cs typeface="Arial"/>
              </a:rPr>
              <a:t>realizar </a:t>
            </a:r>
            <a:r>
              <a:rPr sz="1400" spc="-40" dirty="0">
                <a:latin typeface="Arial"/>
                <a:cs typeface="Arial"/>
              </a:rPr>
              <a:t>el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benchmarking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08879" y="2481833"/>
            <a:ext cx="25412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latin typeface="Arial"/>
                <a:cs typeface="Arial"/>
              </a:rPr>
              <a:t>Armar un </a:t>
            </a:r>
            <a:r>
              <a:rPr sz="1400" spc="-45" dirty="0">
                <a:latin typeface="Arial"/>
                <a:cs typeface="Arial"/>
              </a:rPr>
              <a:t>equipo </a:t>
            </a:r>
            <a:r>
              <a:rPr sz="1400" spc="-70" dirty="0">
                <a:latin typeface="Arial"/>
                <a:cs typeface="Arial"/>
              </a:rPr>
              <a:t>de</a:t>
            </a:r>
            <a:r>
              <a:rPr sz="1400" spc="-14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benchmarking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20844" y="2823210"/>
            <a:ext cx="327723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0355" marR="5080" indent="-288290">
              <a:lnSpc>
                <a:spcPts val="1340"/>
              </a:lnSpc>
              <a:spcBef>
                <a:spcPts val="425"/>
              </a:spcBef>
              <a:tabLst>
                <a:tab pos="300355" algn="l"/>
              </a:tabLst>
            </a:pPr>
            <a:r>
              <a:rPr sz="1400" spc="-60" dirty="0">
                <a:latin typeface="Arial"/>
                <a:cs typeface="Arial"/>
              </a:rPr>
              <a:t>3.	</a:t>
            </a:r>
            <a:r>
              <a:rPr sz="1400" spc="-30" dirty="0">
                <a:latin typeface="Arial"/>
                <a:cs typeface="Arial"/>
              </a:rPr>
              <a:t>Identificar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45" dirty="0">
                <a:latin typeface="Arial"/>
                <a:cs typeface="Arial"/>
              </a:rPr>
              <a:t>elegir </a:t>
            </a:r>
            <a:r>
              <a:rPr sz="1400" spc="-65" dirty="0">
                <a:latin typeface="Arial"/>
                <a:cs typeface="Arial"/>
              </a:rPr>
              <a:t>con </a:t>
            </a:r>
            <a:r>
              <a:rPr sz="1400" spc="-70" dirty="0">
                <a:latin typeface="Arial"/>
                <a:cs typeface="Arial"/>
              </a:rPr>
              <a:t>quiénes </a:t>
            </a:r>
            <a:r>
              <a:rPr sz="1400" spc="-55" dirty="0">
                <a:latin typeface="Arial"/>
                <a:cs typeface="Arial"/>
              </a:rPr>
              <a:t>realizar </a:t>
            </a:r>
            <a:r>
              <a:rPr sz="1400" spc="-40" dirty="0">
                <a:latin typeface="Arial"/>
                <a:cs typeface="Arial"/>
              </a:rPr>
              <a:t>el  </a:t>
            </a:r>
            <a:r>
              <a:rPr sz="1400" spc="-65" dirty="0">
                <a:latin typeface="Arial"/>
                <a:cs typeface="Arial"/>
              </a:rPr>
              <a:t>benchmarking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20844" y="3335273"/>
            <a:ext cx="365632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0355" algn="l"/>
              </a:tabLst>
            </a:pPr>
            <a:r>
              <a:rPr sz="1400" spc="-60" dirty="0">
                <a:latin typeface="Arial"/>
                <a:cs typeface="Arial"/>
              </a:rPr>
              <a:t>4.	</a:t>
            </a:r>
            <a:r>
              <a:rPr sz="1400" spc="-55" dirty="0">
                <a:latin typeface="Arial"/>
                <a:cs typeface="Arial"/>
              </a:rPr>
              <a:t>Planificar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45" dirty="0">
                <a:latin typeface="Arial"/>
                <a:cs typeface="Arial"/>
              </a:rPr>
              <a:t>visita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40" dirty="0">
                <a:latin typeface="Arial"/>
                <a:cs typeface="Arial"/>
              </a:rPr>
              <a:t>información </a:t>
            </a:r>
            <a:r>
              <a:rPr sz="1400" spc="-110" dirty="0">
                <a:latin typeface="Arial"/>
                <a:cs typeface="Arial"/>
              </a:rPr>
              <a:t>a</a:t>
            </a:r>
            <a:r>
              <a:rPr sz="1400" spc="-19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recopilar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20844" y="3676650"/>
            <a:ext cx="36302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0355" algn="l"/>
              </a:tabLst>
            </a:pPr>
            <a:r>
              <a:rPr sz="1400" spc="-60" dirty="0">
                <a:latin typeface="Arial"/>
                <a:cs typeface="Arial"/>
              </a:rPr>
              <a:t>5.	</a:t>
            </a:r>
            <a:r>
              <a:rPr sz="1400" spc="-85" dirty="0">
                <a:latin typeface="Arial"/>
                <a:cs typeface="Arial"/>
              </a:rPr>
              <a:t>Realizar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45" dirty="0">
                <a:latin typeface="Arial"/>
                <a:cs typeface="Arial"/>
              </a:rPr>
              <a:t>visita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45" dirty="0">
                <a:latin typeface="Arial"/>
                <a:cs typeface="Arial"/>
              </a:rPr>
              <a:t>relevar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40" dirty="0">
                <a:latin typeface="Arial"/>
                <a:cs typeface="Arial"/>
              </a:rPr>
              <a:t>información</a:t>
            </a:r>
            <a:r>
              <a:rPr sz="1400" spc="-110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clave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20844" y="4018279"/>
            <a:ext cx="363918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0355" marR="5080" indent="-288290">
              <a:lnSpc>
                <a:spcPts val="1340"/>
              </a:lnSpc>
              <a:spcBef>
                <a:spcPts val="425"/>
              </a:spcBef>
              <a:tabLst>
                <a:tab pos="300355" algn="l"/>
              </a:tabLst>
            </a:pPr>
            <a:r>
              <a:rPr sz="1400" spc="-60" dirty="0">
                <a:latin typeface="Arial"/>
                <a:cs typeface="Arial"/>
              </a:rPr>
              <a:t>6.	</a:t>
            </a:r>
            <a:r>
              <a:rPr sz="1400" spc="-65" dirty="0">
                <a:latin typeface="Arial"/>
                <a:cs typeface="Arial"/>
              </a:rPr>
              <a:t>Analizar </a:t>
            </a:r>
            <a:r>
              <a:rPr sz="1400" spc="-40" dirty="0">
                <a:latin typeface="Arial"/>
                <a:cs typeface="Arial"/>
              </a:rPr>
              <a:t>críticamente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40" dirty="0">
                <a:latin typeface="Arial"/>
                <a:cs typeface="Arial"/>
              </a:rPr>
              <a:t>sintetizar </a:t>
            </a:r>
            <a:r>
              <a:rPr sz="1400" spc="-20" dirty="0">
                <a:latin typeface="Arial"/>
                <a:cs typeface="Arial"/>
              </a:rPr>
              <a:t>lo</a:t>
            </a:r>
            <a:r>
              <a:rPr sz="1400" spc="-114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aprendido 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70" dirty="0">
                <a:latin typeface="Arial"/>
                <a:cs typeface="Arial"/>
              </a:rPr>
              <a:t>la(s)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visita(s)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20844" y="4530344"/>
            <a:ext cx="3509645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0355" marR="5080" indent="-288290">
              <a:lnSpc>
                <a:spcPts val="1340"/>
              </a:lnSpc>
              <a:spcBef>
                <a:spcPts val="425"/>
              </a:spcBef>
              <a:tabLst>
                <a:tab pos="300355" algn="l"/>
              </a:tabLst>
            </a:pPr>
            <a:r>
              <a:rPr sz="1400" spc="-60" dirty="0">
                <a:latin typeface="Arial"/>
                <a:cs typeface="Arial"/>
              </a:rPr>
              <a:t>7.	</a:t>
            </a:r>
            <a:r>
              <a:rPr sz="1400" spc="-50" dirty="0">
                <a:latin typeface="Arial"/>
                <a:cs typeface="Arial"/>
              </a:rPr>
              <a:t>Adaptar </a:t>
            </a:r>
            <a:r>
              <a:rPr sz="1400" spc="-65" dirty="0">
                <a:latin typeface="Arial"/>
                <a:cs typeface="Arial"/>
              </a:rPr>
              <a:t>los aprendizajes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90" dirty="0">
                <a:latin typeface="Arial"/>
                <a:cs typeface="Arial"/>
              </a:rPr>
              <a:t>las </a:t>
            </a:r>
            <a:r>
              <a:rPr sz="1400" spc="-85" dirty="0">
                <a:latin typeface="Arial"/>
                <a:cs typeface="Arial"/>
              </a:rPr>
              <a:t>necesidades </a:t>
            </a:r>
            <a:r>
              <a:rPr sz="1400" spc="-70" dirty="0">
                <a:latin typeface="Arial"/>
                <a:cs typeface="Arial"/>
              </a:rPr>
              <a:t>y  </a:t>
            </a:r>
            <a:r>
              <a:rPr sz="1400" spc="-65" dirty="0">
                <a:latin typeface="Arial"/>
                <a:cs typeface="Arial"/>
              </a:rPr>
              <a:t>realidades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55" dirty="0">
                <a:latin typeface="Arial"/>
                <a:cs typeface="Arial"/>
              </a:rPr>
              <a:t>nuestra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compañía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20844" y="5042408"/>
            <a:ext cx="3134360" cy="409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00355" marR="5080" indent="-288290">
              <a:lnSpc>
                <a:spcPts val="1340"/>
              </a:lnSpc>
              <a:spcBef>
                <a:spcPts val="425"/>
              </a:spcBef>
              <a:tabLst>
                <a:tab pos="300355" algn="l"/>
              </a:tabLst>
            </a:pPr>
            <a:r>
              <a:rPr sz="1400" spc="-60" dirty="0">
                <a:latin typeface="Arial"/>
                <a:cs typeface="Arial"/>
              </a:rPr>
              <a:t>8.	</a:t>
            </a:r>
            <a:r>
              <a:rPr sz="1400" spc="-55" dirty="0">
                <a:latin typeface="Arial"/>
                <a:cs typeface="Arial"/>
              </a:rPr>
              <a:t>Planificar </a:t>
            </a:r>
            <a:r>
              <a:rPr sz="1400" spc="-40" dirty="0">
                <a:latin typeface="Arial"/>
                <a:cs typeface="Arial"/>
              </a:rPr>
              <a:t>el diseño/mejora </a:t>
            </a:r>
            <a:r>
              <a:rPr sz="1400" spc="-45" dirty="0">
                <a:latin typeface="Arial"/>
                <a:cs typeface="Arial"/>
              </a:rPr>
              <a:t>del </a:t>
            </a:r>
            <a:r>
              <a:rPr sz="1400" spc="-70" dirty="0">
                <a:latin typeface="Arial"/>
                <a:cs typeface="Arial"/>
              </a:rPr>
              <a:t>proceso  </a:t>
            </a:r>
            <a:r>
              <a:rPr sz="1400" spc="-40" dirty="0">
                <a:latin typeface="Arial"/>
                <a:cs typeface="Arial"/>
              </a:rPr>
              <a:t>incorporado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20844" y="5554471"/>
            <a:ext cx="3237865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95"/>
              </a:spcBef>
              <a:buAutoNum type="arabicPeriod" startAt="9"/>
              <a:tabLst>
                <a:tab pos="300355" algn="l"/>
                <a:tab pos="300990" algn="l"/>
              </a:tabLst>
            </a:pPr>
            <a:r>
              <a:rPr sz="1400" spc="-40" dirty="0">
                <a:latin typeface="Arial"/>
                <a:cs typeface="Arial"/>
              </a:rPr>
              <a:t>Implementar </a:t>
            </a:r>
            <a:r>
              <a:rPr sz="1400" spc="-85" dirty="0">
                <a:latin typeface="Arial"/>
                <a:cs typeface="Arial"/>
              </a:rPr>
              <a:t>las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mejoras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9"/>
            </a:pPr>
            <a:endParaRPr sz="1150">
              <a:latin typeface="Times New Roman"/>
              <a:cs typeface="Times New Roman"/>
            </a:endParaRPr>
          </a:p>
          <a:p>
            <a:pPr marL="300355" marR="5080" indent="-287655">
              <a:lnSpc>
                <a:spcPct val="80000"/>
              </a:lnSpc>
              <a:spcBef>
                <a:spcPts val="5"/>
              </a:spcBef>
              <a:buAutoNum type="arabicPeriod" startAt="9"/>
              <a:tabLst>
                <a:tab pos="300990" algn="l"/>
              </a:tabLst>
            </a:pPr>
            <a:r>
              <a:rPr sz="1400" spc="-75" dirty="0">
                <a:latin typeface="Arial"/>
                <a:cs typeface="Arial"/>
              </a:rPr>
              <a:t>Asegurar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40" dirty="0">
                <a:latin typeface="Arial"/>
                <a:cs typeface="Arial"/>
              </a:rPr>
              <a:t>mejora continua </a:t>
            </a:r>
            <a:r>
              <a:rPr sz="1400" spc="-45" dirty="0">
                <a:latin typeface="Arial"/>
                <a:cs typeface="Arial"/>
              </a:rPr>
              <a:t>del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proceso  </a:t>
            </a:r>
            <a:r>
              <a:rPr sz="1400" spc="-65" dirty="0">
                <a:latin typeface="Arial"/>
                <a:cs typeface="Arial"/>
              </a:rPr>
              <a:t>rediseñado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2979" y="1143380"/>
            <a:ext cx="8538972" cy="268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2786" y="1112519"/>
            <a:ext cx="1934718" cy="399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88235" y="1112519"/>
            <a:ext cx="3800094" cy="399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49061" y="1112519"/>
            <a:ext cx="1248917" cy="3992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58711" y="1112519"/>
            <a:ext cx="739902" cy="3992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86258" y="500126"/>
            <a:ext cx="711136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Rediseño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procesos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Benchmarking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 marL="179705" marR="5080" indent="-161925">
              <a:lnSpc>
                <a:spcPct val="225800"/>
              </a:lnSpc>
              <a:spcBef>
                <a:spcPts val="815"/>
              </a:spcBef>
              <a:tabLst>
                <a:tab pos="4446905" algn="l"/>
              </a:tabLst>
            </a:pP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Rediseñar </a:t>
            </a:r>
            <a:r>
              <a:rPr sz="1400" b="1" spc="-90" dirty="0">
                <a:solidFill>
                  <a:srgbClr val="FFFFFF"/>
                </a:solidFill>
                <a:latin typeface="Trebuchet MS"/>
                <a:cs typeface="Trebuchet MS"/>
              </a:rPr>
              <a:t>el </a:t>
            </a: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proceso </a:t>
            </a:r>
            <a:r>
              <a:rPr sz="1400" b="1" spc="-160" dirty="0">
                <a:solidFill>
                  <a:srgbClr val="FFFFFF"/>
                </a:solidFill>
                <a:latin typeface="Trebuchet MS"/>
                <a:cs typeface="Trebuchet MS"/>
              </a:rPr>
              <a:t>| </a:t>
            </a:r>
            <a:r>
              <a:rPr sz="1400" b="1" spc="-45" dirty="0">
                <a:solidFill>
                  <a:srgbClr val="FFFFFF"/>
                </a:solidFill>
                <a:latin typeface="Trebuchet MS"/>
                <a:cs typeface="Trebuchet MS"/>
              </a:rPr>
              <a:t>BENCHMARKING </a:t>
            </a:r>
            <a:r>
              <a:rPr sz="1400" b="1" spc="-50" dirty="0">
                <a:solidFill>
                  <a:srgbClr val="FFFFFF"/>
                </a:solidFill>
                <a:latin typeface="Trebuchet MS"/>
                <a:cs typeface="Trebuchet MS"/>
              </a:rPr>
              <a:t>(KPMG, </a:t>
            </a:r>
            <a:r>
              <a:rPr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sz="1400" b="1" spc="-90" dirty="0">
                <a:solidFill>
                  <a:srgbClr val="FFFFFF"/>
                </a:solidFill>
                <a:latin typeface="Trebuchet MS"/>
                <a:cs typeface="Trebuchet MS"/>
              </a:rPr>
              <a:t>Performance </a:t>
            </a: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Improvement, </a:t>
            </a:r>
            <a:r>
              <a:rPr sz="1400" b="1" spc="-110" dirty="0">
                <a:solidFill>
                  <a:srgbClr val="FFFFFF"/>
                </a:solidFill>
                <a:latin typeface="Trebuchet MS"/>
                <a:cs typeface="Trebuchet MS"/>
              </a:rPr>
              <a:t>2008)  </a:t>
            </a:r>
            <a:r>
              <a:rPr sz="1400" b="1" spc="-70" dirty="0">
                <a:latin typeface="Trebuchet MS"/>
                <a:cs typeface="Trebuchet MS"/>
              </a:rPr>
              <a:t>Aspectos</a:t>
            </a:r>
            <a:r>
              <a:rPr sz="1400" b="1" spc="-95" dirty="0">
                <a:latin typeface="Trebuchet MS"/>
                <a:cs typeface="Trebuchet MS"/>
              </a:rPr>
              <a:t> </a:t>
            </a:r>
            <a:r>
              <a:rPr sz="1400" b="1" spc="-60" dirty="0">
                <a:latin typeface="Trebuchet MS"/>
                <a:cs typeface="Trebuchet MS"/>
              </a:rPr>
              <a:t>a</a:t>
            </a:r>
            <a:r>
              <a:rPr sz="1400" b="1" spc="-100" dirty="0">
                <a:latin typeface="Trebuchet MS"/>
                <a:cs typeface="Trebuchet MS"/>
              </a:rPr>
              <a:t> </a:t>
            </a:r>
            <a:r>
              <a:rPr sz="1400" b="1" spc="-85" dirty="0">
                <a:latin typeface="Trebuchet MS"/>
                <a:cs typeface="Trebuchet MS"/>
              </a:rPr>
              <a:t>considerar	</a:t>
            </a:r>
            <a:r>
              <a:rPr sz="1400" b="1" spc="-60" dirty="0">
                <a:latin typeface="Trebuchet MS"/>
                <a:cs typeface="Trebuchet MS"/>
              </a:rPr>
              <a:t>Pasos </a:t>
            </a:r>
            <a:r>
              <a:rPr sz="1400" b="1" spc="-70" dirty="0">
                <a:latin typeface="Trebuchet MS"/>
                <a:cs typeface="Trebuchet MS"/>
              </a:rPr>
              <a:t>para </a:t>
            </a:r>
            <a:r>
              <a:rPr sz="1400" b="1" spc="-95" dirty="0">
                <a:latin typeface="Trebuchet MS"/>
                <a:cs typeface="Trebuchet MS"/>
              </a:rPr>
              <a:t>realizar </a:t>
            </a:r>
            <a:r>
              <a:rPr sz="1400" b="1" spc="-90" dirty="0">
                <a:latin typeface="Trebuchet MS"/>
                <a:cs typeface="Trebuchet MS"/>
              </a:rPr>
              <a:t>el</a:t>
            </a:r>
            <a:r>
              <a:rPr sz="1400" b="1" spc="-204" dirty="0">
                <a:latin typeface="Trebuchet MS"/>
                <a:cs typeface="Trebuchet MS"/>
              </a:rPr>
              <a:t> </a:t>
            </a:r>
            <a:r>
              <a:rPr sz="1400" b="1" spc="-85" dirty="0">
                <a:latin typeface="Trebuchet MS"/>
                <a:cs typeface="Trebuchet MS"/>
              </a:rPr>
              <a:t>benchmarking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59</a:t>
            </a:fld>
            <a:endParaRPr spc="-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4988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30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55" dirty="0">
                <a:latin typeface="Arial"/>
                <a:cs typeface="Arial"/>
              </a:rPr>
              <a:t>BPM </a:t>
            </a:r>
            <a:r>
              <a:rPr sz="1800" b="0" spc="-65" dirty="0">
                <a:latin typeface="Arial"/>
                <a:cs typeface="Arial"/>
              </a:rPr>
              <a:t>(</a:t>
            </a:r>
            <a:r>
              <a:rPr sz="1800" b="0" i="1" spc="-65" dirty="0">
                <a:latin typeface="Trebuchet MS"/>
                <a:cs typeface="Trebuchet MS"/>
              </a:rPr>
              <a:t>Business </a:t>
            </a:r>
            <a:r>
              <a:rPr sz="1800" b="0" i="1" spc="-70" dirty="0">
                <a:latin typeface="Trebuchet MS"/>
                <a:cs typeface="Trebuchet MS"/>
              </a:rPr>
              <a:t>Process</a:t>
            </a:r>
            <a:r>
              <a:rPr sz="1800" b="0" i="1" spc="-175" dirty="0">
                <a:latin typeface="Trebuchet MS"/>
                <a:cs typeface="Trebuchet MS"/>
              </a:rPr>
              <a:t> </a:t>
            </a:r>
            <a:r>
              <a:rPr sz="1800" b="0" i="1" spc="-45" dirty="0">
                <a:latin typeface="Trebuchet MS"/>
                <a:cs typeface="Trebuchet MS"/>
              </a:rPr>
              <a:t>Management</a:t>
            </a:r>
            <a:r>
              <a:rPr sz="1800" b="0" spc="-4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" y="1723644"/>
            <a:ext cx="152400" cy="160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3840" y="3863340"/>
            <a:ext cx="152400" cy="1600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1140" y="1081786"/>
            <a:ext cx="6320155" cy="5193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75" dirty="0">
                <a:latin typeface="Trebuchet MS"/>
                <a:cs typeface="Trebuchet MS"/>
              </a:rPr>
              <a:t>¿Qué </a:t>
            </a:r>
            <a:r>
              <a:rPr sz="2200" b="1" spc="-114" dirty="0">
                <a:latin typeface="Trebuchet MS"/>
                <a:cs typeface="Trebuchet MS"/>
              </a:rPr>
              <a:t>es</a:t>
            </a:r>
            <a:r>
              <a:rPr sz="2200" b="1" spc="-254" dirty="0">
                <a:latin typeface="Trebuchet MS"/>
                <a:cs typeface="Trebuchet MS"/>
              </a:rPr>
              <a:t> </a:t>
            </a:r>
            <a:r>
              <a:rPr sz="2200" b="1" spc="35" dirty="0">
                <a:latin typeface="Trebuchet MS"/>
                <a:cs typeface="Trebuchet MS"/>
              </a:rPr>
              <a:t>BPM?</a:t>
            </a:r>
            <a:endParaRPr sz="2200">
              <a:latin typeface="Trebuchet MS"/>
              <a:cs typeface="Trebuchet MS"/>
            </a:endParaRPr>
          </a:p>
          <a:p>
            <a:pPr marL="300355" marR="5715" algn="just">
              <a:lnSpc>
                <a:spcPct val="100000"/>
              </a:lnSpc>
              <a:spcBef>
                <a:spcPts val="1755"/>
              </a:spcBef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65" dirty="0">
                <a:latin typeface="Arial"/>
                <a:cs typeface="Arial"/>
              </a:rPr>
              <a:t>denomina </a:t>
            </a:r>
            <a:r>
              <a:rPr sz="1800" spc="-155" dirty="0">
                <a:latin typeface="Arial"/>
                <a:cs typeface="Arial"/>
              </a:rPr>
              <a:t>BPM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b="1" spc="-85" dirty="0">
                <a:latin typeface="Trebuchet MS"/>
                <a:cs typeface="Trebuchet MS"/>
              </a:rPr>
              <a:t>metodología </a:t>
            </a:r>
            <a:r>
              <a:rPr sz="1800" b="1" spc="-105" dirty="0">
                <a:latin typeface="Trebuchet MS"/>
                <a:cs typeface="Trebuchet MS"/>
              </a:rPr>
              <a:t>empresarial </a:t>
            </a:r>
            <a:r>
              <a:rPr sz="1800" spc="-85" dirty="0">
                <a:latin typeface="Arial"/>
                <a:cs typeface="Arial"/>
              </a:rPr>
              <a:t>cuyo </a:t>
            </a:r>
            <a:r>
              <a:rPr sz="1800" spc="-30" dirty="0">
                <a:latin typeface="Arial"/>
                <a:cs typeface="Arial"/>
              </a:rPr>
              <a:t>objetivo  </a:t>
            </a:r>
            <a:r>
              <a:rPr sz="1800" spc="-155" dirty="0">
                <a:latin typeface="Arial"/>
                <a:cs typeface="Arial"/>
              </a:rPr>
              <a:t>es </a:t>
            </a:r>
            <a:r>
              <a:rPr sz="18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mejorar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 </a:t>
            </a:r>
            <a:r>
              <a:rPr sz="18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eficiencia </a:t>
            </a:r>
            <a:r>
              <a:rPr sz="1800" i="1" u="heavy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 </a:t>
            </a:r>
            <a:r>
              <a:rPr sz="18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través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8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 </a:t>
            </a:r>
            <a:r>
              <a:rPr sz="18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gestión </a:t>
            </a:r>
            <a:r>
              <a:rPr sz="18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sistemática </a:t>
            </a:r>
            <a:r>
              <a:rPr sz="18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800" i="1" spc="-100" dirty="0">
                <a:latin typeface="Trebuchet MS"/>
                <a:cs typeface="Trebuchet MS"/>
              </a:rPr>
              <a:t> </a:t>
            </a:r>
            <a:r>
              <a:rPr sz="18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procesos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8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negocio,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 </a:t>
            </a:r>
            <a:r>
              <a:rPr sz="1800" i="1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 </a:t>
            </a:r>
            <a:r>
              <a:rPr sz="18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deben </a:t>
            </a:r>
            <a:r>
              <a:rPr sz="18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modelar, automatizar, </a:t>
            </a:r>
            <a:r>
              <a:rPr sz="1800" i="1" spc="-105" dirty="0">
                <a:latin typeface="Trebuchet MS"/>
                <a:cs typeface="Trebuchet MS"/>
              </a:rPr>
              <a:t>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integrar </a:t>
            </a:r>
            <a:r>
              <a:rPr sz="18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monitorizar </a:t>
            </a:r>
            <a:r>
              <a:rPr sz="18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</a:t>
            </a:r>
            <a:r>
              <a:rPr sz="18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optimizar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forma </a:t>
            </a:r>
            <a:r>
              <a:rPr sz="18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continua</a:t>
            </a:r>
            <a:r>
              <a:rPr sz="1800" spc="-80" dirty="0">
                <a:latin typeface="Arial"/>
                <a:cs typeface="Arial"/>
              </a:rPr>
              <a:t>. </a:t>
            </a:r>
            <a:r>
              <a:rPr sz="1800" spc="-135" dirty="0">
                <a:latin typeface="Arial"/>
                <a:cs typeface="Arial"/>
              </a:rPr>
              <a:t>Para </a:t>
            </a:r>
            <a:r>
              <a:rPr sz="1800" spc="-70" dirty="0">
                <a:latin typeface="Arial"/>
                <a:cs typeface="Arial"/>
              </a:rPr>
              <a:t>esto </a:t>
            </a:r>
            <a:r>
              <a:rPr sz="1800" spc="-160" dirty="0">
                <a:latin typeface="Arial"/>
                <a:cs typeface="Arial"/>
              </a:rPr>
              <a:t>es  </a:t>
            </a:r>
            <a:r>
              <a:rPr sz="1800" spc="-85" dirty="0">
                <a:latin typeface="Arial"/>
                <a:cs typeface="Arial"/>
              </a:rPr>
              <a:t>necesario </a:t>
            </a:r>
            <a:r>
              <a:rPr sz="1800" spc="-45" dirty="0">
                <a:latin typeface="Arial"/>
                <a:cs typeface="Arial"/>
              </a:rPr>
              <a:t>contar </a:t>
            </a:r>
            <a:r>
              <a:rPr sz="1800" spc="-85" dirty="0">
                <a:latin typeface="Arial"/>
                <a:cs typeface="Arial"/>
              </a:rPr>
              <a:t>con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35" dirty="0">
                <a:latin typeface="Arial"/>
                <a:cs typeface="Arial"/>
              </a:rPr>
              <a:t>conjunto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métodos, herramientas </a:t>
            </a:r>
            <a:r>
              <a:rPr sz="1800" spc="-90" dirty="0">
                <a:latin typeface="Arial"/>
                <a:cs typeface="Arial"/>
              </a:rPr>
              <a:t>y  </a:t>
            </a:r>
            <a:r>
              <a:rPr sz="1800" spc="-80" dirty="0">
                <a:latin typeface="Arial"/>
                <a:cs typeface="Arial"/>
              </a:rPr>
              <a:t>tecnologías </a:t>
            </a:r>
            <a:r>
              <a:rPr sz="1800" spc="-60" dirty="0">
                <a:latin typeface="Arial"/>
                <a:cs typeface="Arial"/>
              </a:rPr>
              <a:t>utilizados </a:t>
            </a:r>
            <a:r>
              <a:rPr sz="1800" spc="-80" dirty="0">
                <a:latin typeface="Arial"/>
                <a:cs typeface="Arial"/>
              </a:rPr>
              <a:t>para </a:t>
            </a:r>
            <a:r>
              <a:rPr sz="1800" spc="-75" dirty="0">
                <a:latin typeface="Arial"/>
                <a:cs typeface="Arial"/>
              </a:rPr>
              <a:t>diseñar, </a:t>
            </a:r>
            <a:r>
              <a:rPr sz="1800" spc="-55" dirty="0">
                <a:latin typeface="Arial"/>
                <a:cs typeface="Arial"/>
              </a:rPr>
              <a:t>representar, </a:t>
            </a:r>
            <a:r>
              <a:rPr sz="1800" spc="-80" dirty="0">
                <a:latin typeface="Arial"/>
                <a:cs typeface="Arial"/>
              </a:rPr>
              <a:t>analizar </a:t>
            </a:r>
            <a:r>
              <a:rPr sz="1800" spc="-90" dirty="0">
                <a:latin typeface="Arial"/>
                <a:cs typeface="Arial"/>
              </a:rPr>
              <a:t>y  </a:t>
            </a:r>
            <a:r>
              <a:rPr sz="1800" spc="-30" dirty="0">
                <a:latin typeface="Arial"/>
                <a:cs typeface="Arial"/>
              </a:rPr>
              <a:t>controlar </a:t>
            </a:r>
            <a:r>
              <a:rPr sz="1800" spc="-105" dirty="0">
                <a:latin typeface="Arial"/>
                <a:cs typeface="Arial"/>
              </a:rPr>
              <a:t>procesos </a:t>
            </a:r>
            <a:r>
              <a:rPr sz="1800" spc="-85" dirty="0">
                <a:latin typeface="Arial"/>
                <a:cs typeface="Arial"/>
              </a:rPr>
              <a:t>de negocio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operacionales.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800" spc="-145" dirty="0">
                <a:latin typeface="Arial"/>
                <a:cs typeface="Arial"/>
              </a:rPr>
              <a:t>Esta </a:t>
            </a:r>
            <a:r>
              <a:rPr sz="1800" spc="-45" dirty="0">
                <a:latin typeface="Arial"/>
                <a:cs typeface="Arial"/>
              </a:rPr>
              <a:t>principalmente </a:t>
            </a:r>
            <a:r>
              <a:rPr sz="1800" spc="-55" dirty="0">
                <a:latin typeface="Arial"/>
                <a:cs typeface="Arial"/>
              </a:rPr>
              <a:t>centrado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en:</a:t>
            </a:r>
            <a:endParaRPr sz="1800">
              <a:latin typeface="Arial"/>
              <a:cs typeface="Arial"/>
            </a:endParaRPr>
          </a:p>
          <a:p>
            <a:pPr marL="725805" indent="-255904">
              <a:lnSpc>
                <a:spcPct val="100000"/>
              </a:lnSpc>
              <a:buFont typeface="Arial"/>
              <a:buChar char="•"/>
              <a:tabLst>
                <a:tab pos="725805" algn="l"/>
                <a:tab pos="726440" algn="l"/>
              </a:tabLst>
            </a:pPr>
            <a:r>
              <a:rPr sz="1800" b="1" spc="-70" dirty="0">
                <a:latin typeface="Trebuchet MS"/>
                <a:cs typeface="Trebuchet MS"/>
              </a:rPr>
              <a:t>Mejorar </a:t>
            </a:r>
            <a:r>
              <a:rPr sz="1800" b="1" spc="-114" dirty="0">
                <a:latin typeface="Trebuchet MS"/>
                <a:cs typeface="Trebuchet MS"/>
              </a:rPr>
              <a:t>el </a:t>
            </a:r>
            <a:r>
              <a:rPr sz="1800" b="1" spc="-105" dirty="0">
                <a:latin typeface="Trebuchet MS"/>
                <a:cs typeface="Trebuchet MS"/>
              </a:rPr>
              <a:t>rendimiento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105" dirty="0">
                <a:latin typeface="Arial"/>
                <a:cs typeface="Arial"/>
              </a:rPr>
              <a:t>procesos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</a:t>
            </a:r>
            <a:r>
              <a:rPr sz="1800" spc="-204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compañía.</a:t>
            </a:r>
            <a:endParaRPr sz="1800">
              <a:latin typeface="Arial"/>
              <a:cs typeface="Arial"/>
            </a:endParaRPr>
          </a:p>
          <a:p>
            <a:pPr marL="725805" marR="5080" indent="-255904" algn="just">
              <a:lnSpc>
                <a:spcPct val="100000"/>
              </a:lnSpc>
              <a:buChar char="•"/>
              <a:tabLst>
                <a:tab pos="726440" algn="l"/>
              </a:tabLst>
            </a:pPr>
            <a:r>
              <a:rPr sz="1800" spc="-75" dirty="0">
                <a:latin typeface="Arial"/>
                <a:cs typeface="Arial"/>
              </a:rPr>
              <a:t>Fomentar </a:t>
            </a:r>
            <a:r>
              <a:rPr sz="1800" spc="-105" dirty="0">
                <a:latin typeface="Arial"/>
                <a:cs typeface="Arial"/>
              </a:rPr>
              <a:t>procesos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negocio </a:t>
            </a:r>
            <a:r>
              <a:rPr sz="1800" b="1" spc="-120" dirty="0">
                <a:latin typeface="Trebuchet MS"/>
                <a:cs typeface="Trebuchet MS"/>
              </a:rPr>
              <a:t>efectivos, </a:t>
            </a:r>
            <a:r>
              <a:rPr sz="1800" b="1" spc="-90" dirty="0">
                <a:latin typeface="Trebuchet MS"/>
                <a:cs typeface="Trebuchet MS"/>
              </a:rPr>
              <a:t>ágiles </a:t>
            </a:r>
            <a:r>
              <a:rPr sz="1800" b="1" spc="-110" dirty="0">
                <a:latin typeface="Trebuchet MS"/>
                <a:cs typeface="Trebuchet MS"/>
              </a:rPr>
              <a:t>y  </a:t>
            </a:r>
            <a:r>
              <a:rPr sz="1800" b="1" spc="-95" dirty="0">
                <a:latin typeface="Trebuchet MS"/>
                <a:cs typeface="Trebuchet MS"/>
              </a:rPr>
              <a:t>transparentes</a:t>
            </a:r>
            <a:r>
              <a:rPr sz="1800" spc="-9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725805" marR="6985" indent="-255904" algn="just">
              <a:lnSpc>
                <a:spcPct val="100000"/>
              </a:lnSpc>
              <a:buChar char="•"/>
              <a:tabLst>
                <a:tab pos="726440" algn="l"/>
              </a:tabLst>
            </a:pPr>
            <a:r>
              <a:rPr sz="1800" spc="-25" dirty="0">
                <a:latin typeface="Arial"/>
                <a:cs typeface="Arial"/>
              </a:rPr>
              <a:t>Mejorar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b="1" spc="-105" dirty="0">
                <a:latin typeface="Trebuchet MS"/>
                <a:cs typeface="Trebuchet MS"/>
              </a:rPr>
              <a:t>velocidad </a:t>
            </a:r>
            <a:r>
              <a:rPr sz="1800" b="1" spc="-110" dirty="0">
                <a:latin typeface="Trebuchet MS"/>
                <a:cs typeface="Trebuchet MS"/>
              </a:rPr>
              <a:t>y </a:t>
            </a:r>
            <a:r>
              <a:rPr sz="1800" b="1" spc="-85" dirty="0">
                <a:latin typeface="Trebuchet MS"/>
                <a:cs typeface="Trebuchet MS"/>
              </a:rPr>
              <a:t>agilidad </a:t>
            </a:r>
            <a:r>
              <a:rPr sz="1800" spc="-85" dirty="0">
                <a:latin typeface="Arial"/>
                <a:cs typeface="Arial"/>
              </a:rPr>
              <a:t>con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90" dirty="0">
                <a:latin typeface="Arial"/>
                <a:cs typeface="Arial"/>
              </a:rPr>
              <a:t>organizaciones  </a:t>
            </a:r>
            <a:r>
              <a:rPr sz="1800" spc="-55" dirty="0">
                <a:latin typeface="Arial"/>
                <a:cs typeface="Arial"/>
              </a:rPr>
              <a:t>mejoran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35" dirty="0">
                <a:latin typeface="Arial"/>
                <a:cs typeface="Arial"/>
              </a:rPr>
              <a:t>rendimiento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20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negocio.</a:t>
            </a:r>
            <a:endParaRPr sz="1800">
              <a:latin typeface="Arial"/>
              <a:cs typeface="Arial"/>
            </a:endParaRPr>
          </a:p>
          <a:p>
            <a:pPr marL="725805" marR="5080" indent="-255904" algn="just">
              <a:lnSpc>
                <a:spcPct val="100000"/>
              </a:lnSpc>
              <a:buChar char="•"/>
              <a:tabLst>
                <a:tab pos="726440" algn="l"/>
              </a:tabLst>
            </a:pPr>
            <a:r>
              <a:rPr sz="1800" spc="-155" dirty="0">
                <a:latin typeface="Arial"/>
                <a:cs typeface="Arial"/>
              </a:rPr>
              <a:t>BPM </a:t>
            </a:r>
            <a:r>
              <a:rPr sz="1800" spc="-70" dirty="0">
                <a:latin typeface="Arial"/>
                <a:cs typeface="Arial"/>
              </a:rPr>
              <a:t>combina </a:t>
            </a:r>
            <a:r>
              <a:rPr sz="1800" spc="-60" dirty="0">
                <a:latin typeface="Arial"/>
                <a:cs typeface="Arial"/>
              </a:rPr>
              <a:t>métodos </a:t>
            </a:r>
            <a:r>
              <a:rPr sz="1800" spc="-114" dirty="0">
                <a:latin typeface="Arial"/>
                <a:cs typeface="Arial"/>
              </a:rPr>
              <a:t>ya </a:t>
            </a:r>
            <a:r>
              <a:rPr sz="1800" spc="-75" dirty="0">
                <a:latin typeface="Arial"/>
                <a:cs typeface="Arial"/>
              </a:rPr>
              <a:t>probados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establecidos </a:t>
            </a:r>
            <a:r>
              <a:rPr sz="1800" spc="-75" dirty="0">
                <a:latin typeface="Arial"/>
                <a:cs typeface="Arial"/>
              </a:rPr>
              <a:t>de  </a:t>
            </a:r>
            <a:r>
              <a:rPr sz="1800" spc="-65" dirty="0">
                <a:latin typeface="Arial"/>
                <a:cs typeface="Arial"/>
              </a:rPr>
              <a:t>gestión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proyectos </a:t>
            </a:r>
            <a:r>
              <a:rPr sz="1800" spc="-75" dirty="0">
                <a:latin typeface="Arial"/>
                <a:cs typeface="Arial"/>
              </a:rPr>
              <a:t>(</a:t>
            </a:r>
            <a:r>
              <a:rPr sz="1800" b="1" spc="-75" dirty="0">
                <a:latin typeface="Trebuchet MS"/>
                <a:cs typeface="Trebuchet MS"/>
              </a:rPr>
              <a:t>metodología</a:t>
            </a:r>
            <a:r>
              <a:rPr sz="1800" spc="-75" dirty="0">
                <a:latin typeface="Arial"/>
                <a:cs typeface="Arial"/>
              </a:rPr>
              <a:t>), </a:t>
            </a:r>
            <a:r>
              <a:rPr sz="1800" spc="-85" dirty="0">
                <a:latin typeface="Arial"/>
                <a:cs typeface="Arial"/>
              </a:rPr>
              <a:t>con una </a:t>
            </a:r>
            <a:r>
              <a:rPr sz="1800" spc="-90" dirty="0">
                <a:latin typeface="Arial"/>
                <a:cs typeface="Arial"/>
              </a:rPr>
              <a:t>nueva </a:t>
            </a:r>
            <a:r>
              <a:rPr sz="1800" spc="-114" dirty="0">
                <a:latin typeface="Arial"/>
                <a:cs typeface="Arial"/>
              </a:rPr>
              <a:t>clase 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herramientas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45" dirty="0">
                <a:latin typeface="Arial"/>
                <a:cs typeface="Arial"/>
              </a:rPr>
              <a:t>software </a:t>
            </a:r>
            <a:r>
              <a:rPr sz="1800" spc="-70" dirty="0">
                <a:latin typeface="Arial"/>
                <a:cs typeface="Arial"/>
              </a:rPr>
              <a:t>empresarial</a:t>
            </a:r>
            <a:r>
              <a:rPr sz="1800" spc="-15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(</a:t>
            </a:r>
            <a:r>
              <a:rPr sz="1800" b="1" spc="-85" dirty="0">
                <a:latin typeface="Trebuchet MS"/>
                <a:cs typeface="Trebuchet MS"/>
              </a:rPr>
              <a:t>tecnología</a:t>
            </a:r>
            <a:r>
              <a:rPr sz="1800" spc="-85" dirty="0">
                <a:latin typeface="Arial"/>
                <a:cs typeface="Arial"/>
              </a:rPr>
              <a:t>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0" y="1524000"/>
            <a:ext cx="1799844" cy="1799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72478" y="3976878"/>
            <a:ext cx="1890522" cy="18905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lang="es-AR" b="1" spc="-10" dirty="0">
                <a:latin typeface="Arial"/>
                <a:cs typeface="Arial"/>
              </a:rPr>
              <a:t>-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(jklus@uade.edu.ar)- </a:t>
            </a:r>
            <a:endParaRPr spc="-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60</a:t>
            </a:fld>
            <a:endParaRPr spc="-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4988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30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55" dirty="0">
                <a:latin typeface="Arial"/>
                <a:cs typeface="Arial"/>
              </a:rPr>
              <a:t>BPM </a:t>
            </a:r>
            <a:r>
              <a:rPr sz="1800" b="0" spc="-65" dirty="0">
                <a:latin typeface="Arial"/>
                <a:cs typeface="Arial"/>
              </a:rPr>
              <a:t>(</a:t>
            </a:r>
            <a:r>
              <a:rPr sz="1800" b="0" i="1" spc="-65" dirty="0">
                <a:latin typeface="Trebuchet MS"/>
                <a:cs typeface="Trebuchet MS"/>
              </a:rPr>
              <a:t>Business </a:t>
            </a:r>
            <a:r>
              <a:rPr sz="1800" b="0" i="1" spc="-70" dirty="0">
                <a:latin typeface="Trebuchet MS"/>
                <a:cs typeface="Trebuchet MS"/>
              </a:rPr>
              <a:t>Process</a:t>
            </a:r>
            <a:r>
              <a:rPr sz="1800" b="0" i="1" spc="-175" dirty="0">
                <a:latin typeface="Trebuchet MS"/>
                <a:cs typeface="Trebuchet MS"/>
              </a:rPr>
              <a:t> </a:t>
            </a:r>
            <a:r>
              <a:rPr sz="1800" b="0" i="1" spc="-45" dirty="0">
                <a:latin typeface="Trebuchet MS"/>
                <a:cs typeface="Trebuchet MS"/>
              </a:rPr>
              <a:t>Management</a:t>
            </a:r>
            <a:r>
              <a:rPr sz="1800" b="0" spc="-4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081786"/>
            <a:ext cx="210312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20" dirty="0">
                <a:latin typeface="Trebuchet MS"/>
                <a:cs typeface="Trebuchet MS"/>
              </a:rPr>
              <a:t>Objetivos 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r>
              <a:rPr sz="2200" b="1" spc="-290" dirty="0">
                <a:latin typeface="Trebuchet MS"/>
                <a:cs typeface="Trebuchet MS"/>
              </a:rPr>
              <a:t> </a:t>
            </a:r>
            <a:r>
              <a:rPr sz="2200" b="1" spc="30" dirty="0">
                <a:latin typeface="Trebuchet MS"/>
                <a:cs typeface="Trebuchet MS"/>
              </a:rPr>
              <a:t>BPM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354" y="1714500"/>
            <a:ext cx="4330700" cy="2730500"/>
          </a:xfrm>
          <a:custGeom>
            <a:avLst/>
            <a:gdLst/>
            <a:ahLst/>
            <a:cxnLst/>
            <a:rect l="l" t="t" r="r" b="b"/>
            <a:pathLst>
              <a:path w="4330700" h="2730500">
                <a:moveTo>
                  <a:pt x="0" y="2730246"/>
                </a:moveTo>
                <a:lnTo>
                  <a:pt x="4330446" y="2730246"/>
                </a:lnTo>
                <a:lnTo>
                  <a:pt x="4330446" y="0"/>
                </a:lnTo>
                <a:lnTo>
                  <a:pt x="0" y="0"/>
                </a:lnTo>
                <a:lnTo>
                  <a:pt x="0" y="2730246"/>
                </a:lnTo>
                <a:close/>
              </a:path>
            </a:pathLst>
          </a:custGeom>
          <a:solidFill>
            <a:srgbClr val="2171FF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3840" y="1742185"/>
            <a:ext cx="4171950" cy="729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FFFF"/>
                </a:solidFill>
                <a:latin typeface="Trebuchet MS"/>
                <a:cs typeface="Trebuchet MS"/>
              </a:rPr>
              <a:t>Efectividad </a:t>
            </a:r>
            <a:r>
              <a:rPr sz="1800" b="1" spc="-10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1800" b="1" spc="-70" dirty="0">
                <a:solidFill>
                  <a:srgbClr val="FFFFFF"/>
                </a:solidFill>
                <a:latin typeface="Trebuchet MS"/>
                <a:cs typeface="Trebuchet MS"/>
              </a:rPr>
              <a:t>los</a:t>
            </a:r>
            <a:r>
              <a:rPr sz="18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FFFFFF"/>
                </a:solidFill>
                <a:latin typeface="Trebuchet MS"/>
                <a:cs typeface="Trebuchet MS"/>
              </a:rPr>
              <a:t>procesos: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BPM</a:t>
            </a:r>
            <a:r>
              <a:rPr sz="140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25" dirty="0">
                <a:solidFill>
                  <a:srgbClr val="FFFFFF"/>
                </a:solidFill>
                <a:latin typeface="Arial"/>
                <a:cs typeface="Arial"/>
              </a:rPr>
              <a:t>se 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esfuerza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400" b="1" spc="-100" dirty="0">
                <a:solidFill>
                  <a:srgbClr val="FFFFFF"/>
                </a:solidFill>
                <a:latin typeface="Trebuchet MS"/>
                <a:cs typeface="Trebuchet MS"/>
              </a:rPr>
              <a:t>maximizar </a:t>
            </a:r>
            <a:r>
              <a:rPr sz="1400" b="1" spc="-70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400" b="1" spc="-90" dirty="0">
                <a:solidFill>
                  <a:srgbClr val="FFFFFF"/>
                </a:solidFill>
                <a:latin typeface="Trebuchet MS"/>
                <a:cs typeface="Trebuchet MS"/>
              </a:rPr>
              <a:t>efectividad </a:t>
            </a:r>
            <a:r>
              <a:rPr sz="1400" b="1" spc="-85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1400" b="1" spc="-55" dirty="0">
                <a:solidFill>
                  <a:srgbClr val="FFFFFF"/>
                </a:solidFill>
                <a:latin typeface="Trebuchet MS"/>
                <a:cs typeface="Trebuchet MS"/>
              </a:rPr>
              <a:t>los  </a:t>
            </a:r>
            <a:r>
              <a:rPr sz="1400" b="1" spc="-75" dirty="0">
                <a:solidFill>
                  <a:srgbClr val="FFFFFF"/>
                </a:solidFill>
                <a:latin typeface="Trebuchet MS"/>
                <a:cs typeface="Trebuchet MS"/>
              </a:rPr>
              <a:t>procesos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de negocio de 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siguientes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maneras: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840" y="2446274"/>
            <a:ext cx="417195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715" indent="-171450">
              <a:lnSpc>
                <a:spcPct val="100000"/>
              </a:lnSpc>
              <a:spcBef>
                <a:spcPts val="95"/>
              </a:spcBef>
              <a:buChar char="•"/>
              <a:tabLst>
                <a:tab pos="184150" algn="l"/>
              </a:tabLst>
            </a:pP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Determina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óptimo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para 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las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condiciones  actuales.</a:t>
            </a:r>
            <a:endParaRPr sz="1400">
              <a:latin typeface="Arial"/>
              <a:cs typeface="Arial"/>
            </a:endParaRPr>
          </a:p>
          <a:p>
            <a:pPr marL="184150" marR="5080" indent="-171450">
              <a:lnSpc>
                <a:spcPct val="100000"/>
              </a:lnSpc>
              <a:buChar char="•"/>
              <a:tabLst>
                <a:tab pos="184150" algn="l"/>
              </a:tabLst>
            </a:pP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Hace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funcionar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tan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efectivamente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como 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sea 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posible.</a:t>
            </a:r>
            <a:endParaRPr sz="1400">
              <a:latin typeface="Arial"/>
              <a:cs typeface="Arial"/>
            </a:endParaRPr>
          </a:p>
          <a:p>
            <a:pPr marL="184150" marR="5080" indent="-171450">
              <a:lnSpc>
                <a:spcPct val="100000"/>
              </a:lnSpc>
              <a:buChar char="•"/>
              <a:tabLst>
                <a:tab pos="184150" algn="l"/>
                <a:tab pos="967740" algn="l"/>
                <a:tab pos="1852930" algn="l"/>
                <a:tab pos="2062480" algn="l"/>
                <a:tab pos="2863215" algn="l"/>
                <a:tab pos="3175635" algn="l"/>
                <a:tab pos="3720465" algn="l"/>
                <a:tab pos="4032250" algn="l"/>
              </a:tabLst>
            </a:pPr>
            <a:r>
              <a:rPr sz="1400" spc="-25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spc="-15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il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decis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io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les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busc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la 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eficiencia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continua.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840" y="3726433"/>
            <a:ext cx="417258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BPM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permite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1400" b="1" spc="-80" dirty="0">
                <a:solidFill>
                  <a:srgbClr val="FFFFFF"/>
                </a:solidFill>
                <a:latin typeface="Trebuchet MS"/>
                <a:cs typeface="Trebuchet MS"/>
              </a:rPr>
              <a:t>cambio </a:t>
            </a:r>
            <a:r>
              <a:rPr sz="1400" b="1" spc="-90" dirty="0">
                <a:solidFill>
                  <a:srgbClr val="FFFFFF"/>
                </a:solidFill>
                <a:latin typeface="Trebuchet MS"/>
                <a:cs typeface="Trebuchet MS"/>
              </a:rPr>
              <a:t>directamente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tanto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haciendo  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más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eficientes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procesos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existentes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como 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desarrollando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unos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nuevos.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000" y="1714500"/>
            <a:ext cx="4292600" cy="2730500"/>
          </a:xfrm>
          <a:custGeom>
            <a:avLst/>
            <a:gdLst/>
            <a:ahLst/>
            <a:cxnLst/>
            <a:rect l="l" t="t" r="r" b="b"/>
            <a:pathLst>
              <a:path w="4292600" h="2730500">
                <a:moveTo>
                  <a:pt x="0" y="2730246"/>
                </a:moveTo>
                <a:lnTo>
                  <a:pt x="4292346" y="2730246"/>
                </a:lnTo>
                <a:lnTo>
                  <a:pt x="4292346" y="0"/>
                </a:lnTo>
                <a:lnTo>
                  <a:pt x="0" y="0"/>
                </a:lnTo>
                <a:lnTo>
                  <a:pt x="0" y="2730246"/>
                </a:lnTo>
                <a:close/>
              </a:path>
            </a:pathLst>
          </a:custGeom>
          <a:solidFill>
            <a:srgbClr val="00256A">
              <a:alpha val="83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650994" y="1848865"/>
            <a:ext cx="1338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FFFFFF"/>
                </a:solidFill>
                <a:latin typeface="Trebuchet MS"/>
                <a:cs typeface="Trebuchet MS"/>
              </a:rPr>
              <a:t>Optimización: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715" indent="-171450" algn="just">
              <a:lnSpc>
                <a:spcPct val="99900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pc="-70" dirty="0"/>
              <a:t>Supervisión</a:t>
            </a:r>
            <a:r>
              <a:rPr spc="245" dirty="0"/>
              <a:t> </a:t>
            </a:r>
            <a:r>
              <a:rPr spc="-65" dirty="0"/>
              <a:t>en </a:t>
            </a:r>
            <a:r>
              <a:rPr spc="-25" dirty="0"/>
              <a:t>tiempo </a:t>
            </a:r>
            <a:r>
              <a:rPr spc="-50" dirty="0"/>
              <a:t>real </a:t>
            </a:r>
            <a:r>
              <a:rPr spc="-5" dirty="0">
                <a:latin typeface="Wingdings"/>
                <a:cs typeface="Wingdings"/>
              </a:rPr>
              <a:t>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120" dirty="0"/>
              <a:t>BPM  </a:t>
            </a:r>
            <a:r>
              <a:rPr spc="-50" dirty="0"/>
              <a:t>proporciona  </a:t>
            </a:r>
            <a:r>
              <a:rPr spc="-40" dirty="0"/>
              <a:t>visibilidad del </a:t>
            </a:r>
            <a:r>
              <a:rPr spc="-65" dirty="0"/>
              <a:t>estado </a:t>
            </a:r>
            <a:r>
              <a:rPr spc="-70" dirty="0"/>
              <a:t>de </a:t>
            </a:r>
            <a:r>
              <a:rPr spc="-65" dirty="0"/>
              <a:t>los </a:t>
            </a:r>
            <a:r>
              <a:rPr spc="-80" dirty="0"/>
              <a:t>procesos </a:t>
            </a:r>
            <a:r>
              <a:rPr spc="-65" dirty="0"/>
              <a:t>actuales </a:t>
            </a:r>
            <a:r>
              <a:rPr spc="-70" dirty="0"/>
              <a:t>y </a:t>
            </a:r>
            <a:r>
              <a:rPr spc="-55" dirty="0"/>
              <a:t>extrae  </a:t>
            </a:r>
            <a:r>
              <a:rPr spc="-85" dirty="0"/>
              <a:t>las </a:t>
            </a:r>
            <a:r>
              <a:rPr spc="-55" dirty="0"/>
              <a:t>métricas </a:t>
            </a:r>
            <a:r>
              <a:rPr spc="-75" dirty="0"/>
              <a:t>clave, </a:t>
            </a:r>
            <a:r>
              <a:rPr spc="-35" dirty="0"/>
              <a:t>importantes </a:t>
            </a:r>
            <a:r>
              <a:rPr spc="-65" dirty="0"/>
              <a:t>en </a:t>
            </a:r>
            <a:r>
              <a:rPr spc="-20" dirty="0"/>
              <a:t>lo </a:t>
            </a:r>
            <a:r>
              <a:rPr spc="-60" dirty="0"/>
              <a:t>que </a:t>
            </a:r>
            <a:r>
              <a:rPr spc="-110" dirty="0"/>
              <a:t>ese </a:t>
            </a:r>
            <a:r>
              <a:rPr spc="-75" dirty="0"/>
              <a:t>proceso  </a:t>
            </a:r>
            <a:r>
              <a:rPr spc="-60" dirty="0"/>
              <a:t>afecta </a:t>
            </a:r>
            <a:r>
              <a:rPr spc="-110" dirty="0"/>
              <a:t>a </a:t>
            </a:r>
            <a:r>
              <a:rPr spc="-55" dirty="0"/>
              <a:t>la </a:t>
            </a:r>
            <a:r>
              <a:rPr spc="-75" dirty="0"/>
              <a:t>empresa. </a:t>
            </a:r>
            <a:r>
              <a:rPr spc="-120" dirty="0"/>
              <a:t>De </a:t>
            </a:r>
            <a:r>
              <a:rPr spc="-75" dirty="0"/>
              <a:t>esta </a:t>
            </a:r>
            <a:r>
              <a:rPr spc="-40" dirty="0"/>
              <a:t>forma, </a:t>
            </a:r>
            <a:r>
              <a:rPr b="1" spc="-90" dirty="0">
                <a:latin typeface="Trebuchet MS"/>
                <a:cs typeface="Trebuchet MS"/>
              </a:rPr>
              <a:t>puede </a:t>
            </a:r>
            <a:r>
              <a:rPr b="1" spc="-110" dirty="0">
                <a:latin typeface="Trebuchet MS"/>
                <a:cs typeface="Trebuchet MS"/>
              </a:rPr>
              <a:t>juzgar </a:t>
            </a:r>
            <a:r>
              <a:rPr b="1" spc="-70" dirty="0">
                <a:latin typeface="Trebuchet MS"/>
                <a:cs typeface="Trebuchet MS"/>
              </a:rPr>
              <a:t>la  </a:t>
            </a:r>
            <a:r>
              <a:rPr b="1" spc="-90" dirty="0">
                <a:latin typeface="Trebuchet MS"/>
                <a:cs typeface="Trebuchet MS"/>
              </a:rPr>
              <a:t>efectividad </a:t>
            </a:r>
            <a:r>
              <a:rPr b="1" spc="-85" dirty="0">
                <a:latin typeface="Trebuchet MS"/>
                <a:cs typeface="Trebuchet MS"/>
              </a:rPr>
              <a:t>de </a:t>
            </a:r>
            <a:r>
              <a:rPr b="1" spc="-60" dirty="0">
                <a:latin typeface="Trebuchet MS"/>
                <a:cs typeface="Trebuchet MS"/>
              </a:rPr>
              <a:t>sus </a:t>
            </a:r>
            <a:r>
              <a:rPr b="1" spc="-80" dirty="0">
                <a:latin typeface="Trebuchet MS"/>
                <a:cs typeface="Trebuchet MS"/>
              </a:rPr>
              <a:t>procesos </a:t>
            </a:r>
            <a:r>
              <a:rPr b="1" spc="-90" dirty="0">
                <a:latin typeface="Trebuchet MS"/>
                <a:cs typeface="Trebuchet MS"/>
              </a:rPr>
              <a:t>ahora, </a:t>
            </a:r>
            <a:r>
              <a:rPr spc="-70" dirty="0"/>
              <a:t>y </a:t>
            </a:r>
            <a:r>
              <a:rPr spc="-60" dirty="0"/>
              <a:t>diseñar </a:t>
            </a:r>
            <a:r>
              <a:rPr spc="-90" dirty="0"/>
              <a:t>después  </a:t>
            </a:r>
            <a:r>
              <a:rPr spc="-85" dirty="0"/>
              <a:t>procesos </a:t>
            </a:r>
            <a:r>
              <a:rPr spc="-60" dirty="0"/>
              <a:t>que </a:t>
            </a:r>
            <a:r>
              <a:rPr spc="-50" dirty="0"/>
              <a:t>mejorarán </a:t>
            </a:r>
            <a:r>
              <a:rPr spc="-35" dirty="0"/>
              <a:t>el </a:t>
            </a:r>
            <a:r>
              <a:rPr spc="-30" dirty="0"/>
              <a:t>rendimiento </a:t>
            </a:r>
            <a:r>
              <a:rPr spc="-25" dirty="0"/>
              <a:t>frente </a:t>
            </a:r>
            <a:r>
              <a:rPr spc="-110" dirty="0"/>
              <a:t>a </a:t>
            </a:r>
            <a:r>
              <a:rPr spc="-90" dirty="0"/>
              <a:t>estas  </a:t>
            </a:r>
            <a:r>
              <a:rPr spc="-55" dirty="0"/>
              <a:t>métricas.</a:t>
            </a:r>
          </a:p>
          <a:p>
            <a:pPr marL="184150" marR="5080" indent="-171450" algn="just">
              <a:lnSpc>
                <a:spcPct val="99700"/>
              </a:lnSpc>
              <a:spcBef>
                <a:spcPts val="15"/>
              </a:spcBef>
              <a:buChar char="•"/>
              <a:tabLst>
                <a:tab pos="184150" algn="l"/>
              </a:tabLst>
            </a:pPr>
            <a:r>
              <a:rPr spc="-70" dirty="0"/>
              <a:t>Análisis</a:t>
            </a:r>
            <a:r>
              <a:rPr spc="245" dirty="0"/>
              <a:t> </a:t>
            </a:r>
            <a:r>
              <a:rPr spc="-65" dirty="0"/>
              <a:t>de </a:t>
            </a:r>
            <a:r>
              <a:rPr spc="-10" dirty="0"/>
              <a:t>futuro </a:t>
            </a:r>
            <a:r>
              <a:rPr spc="-5" dirty="0">
                <a:latin typeface="Wingdings"/>
                <a:cs typeface="Wingdings"/>
              </a:rPr>
              <a:t>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120" dirty="0"/>
              <a:t>Con  </a:t>
            </a:r>
            <a:r>
              <a:rPr spc="-100" dirty="0"/>
              <a:t>BPM, </a:t>
            </a:r>
            <a:r>
              <a:rPr b="1" spc="-90" dirty="0">
                <a:latin typeface="Trebuchet MS"/>
                <a:cs typeface="Trebuchet MS"/>
              </a:rPr>
              <a:t>puede </a:t>
            </a:r>
            <a:r>
              <a:rPr b="1" spc="-70" dirty="0">
                <a:latin typeface="Trebuchet MS"/>
                <a:cs typeface="Trebuchet MS"/>
              </a:rPr>
              <a:t>simular </a:t>
            </a:r>
            <a:r>
              <a:rPr b="1" spc="-95" dirty="0">
                <a:latin typeface="Trebuchet MS"/>
                <a:cs typeface="Trebuchet MS"/>
              </a:rPr>
              <a:t>el  </a:t>
            </a:r>
            <a:r>
              <a:rPr b="1" spc="-85" dirty="0">
                <a:latin typeface="Trebuchet MS"/>
                <a:cs typeface="Trebuchet MS"/>
              </a:rPr>
              <a:t>rendimiento de </a:t>
            </a:r>
            <a:r>
              <a:rPr b="1" spc="-55" dirty="0">
                <a:latin typeface="Trebuchet MS"/>
                <a:cs typeface="Trebuchet MS"/>
              </a:rPr>
              <a:t>los </a:t>
            </a:r>
            <a:r>
              <a:rPr b="1" spc="-75" dirty="0">
                <a:latin typeface="Trebuchet MS"/>
                <a:cs typeface="Trebuchet MS"/>
              </a:rPr>
              <a:t>procesos </a:t>
            </a:r>
            <a:r>
              <a:rPr b="1" spc="-80" dirty="0">
                <a:latin typeface="Trebuchet MS"/>
                <a:cs typeface="Trebuchet MS"/>
              </a:rPr>
              <a:t>antes </a:t>
            </a:r>
            <a:r>
              <a:rPr b="1" spc="-90" dirty="0">
                <a:latin typeface="Trebuchet MS"/>
                <a:cs typeface="Trebuchet MS"/>
              </a:rPr>
              <a:t>de  </a:t>
            </a:r>
            <a:r>
              <a:rPr b="1" spc="-75" dirty="0">
                <a:latin typeface="Trebuchet MS"/>
                <a:cs typeface="Trebuchet MS"/>
              </a:rPr>
              <a:t>implementarlos</a:t>
            </a:r>
            <a:r>
              <a:rPr spc="-75" dirty="0"/>
              <a:t>.</a:t>
            </a:r>
          </a:p>
        </p:txBody>
      </p:sp>
      <p:sp>
        <p:nvSpPr>
          <p:cNvPr id="12" name="object 12"/>
          <p:cNvSpPr/>
          <p:nvPr/>
        </p:nvSpPr>
        <p:spPr>
          <a:xfrm>
            <a:off x="165354" y="4520184"/>
            <a:ext cx="8699500" cy="1499870"/>
          </a:xfrm>
          <a:custGeom>
            <a:avLst/>
            <a:gdLst/>
            <a:ahLst/>
            <a:cxnLst/>
            <a:rect l="l" t="t" r="r" b="b"/>
            <a:pathLst>
              <a:path w="8699500" h="1499870">
                <a:moveTo>
                  <a:pt x="0" y="1499615"/>
                </a:moveTo>
                <a:lnTo>
                  <a:pt x="8698992" y="1499615"/>
                </a:lnTo>
                <a:lnTo>
                  <a:pt x="8698992" y="0"/>
                </a:lnTo>
                <a:lnTo>
                  <a:pt x="0" y="0"/>
                </a:lnTo>
                <a:lnTo>
                  <a:pt x="0" y="1499615"/>
                </a:lnTo>
                <a:close/>
              </a:path>
            </a:pathLst>
          </a:custGeom>
          <a:solidFill>
            <a:srgbClr val="00AFEF">
              <a:alpha val="6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3840" y="4679442"/>
            <a:ext cx="8542020" cy="115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latin typeface="Trebuchet MS"/>
                <a:cs typeface="Trebuchet MS"/>
              </a:rPr>
              <a:t>Automatización:</a:t>
            </a: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20"/>
              </a:spcBef>
            </a:pPr>
            <a:r>
              <a:rPr sz="1400" spc="-120" dirty="0">
                <a:latin typeface="Arial"/>
                <a:cs typeface="Arial"/>
              </a:rPr>
              <a:t>Con </a:t>
            </a:r>
            <a:r>
              <a:rPr sz="1400" spc="-100" dirty="0">
                <a:latin typeface="Arial"/>
                <a:cs typeface="Arial"/>
              </a:rPr>
              <a:t>BPM, </a:t>
            </a:r>
            <a:r>
              <a:rPr sz="1400" spc="-65" dirty="0">
                <a:latin typeface="Arial"/>
                <a:cs typeface="Arial"/>
              </a:rPr>
              <a:t>puede </a:t>
            </a:r>
            <a:r>
              <a:rPr sz="1400" b="1" spc="-85" dirty="0">
                <a:latin typeface="Trebuchet MS"/>
                <a:cs typeface="Trebuchet MS"/>
              </a:rPr>
              <a:t>automatizar </a:t>
            </a:r>
            <a:r>
              <a:rPr sz="1400" b="1" spc="-70" dirty="0">
                <a:latin typeface="Trebuchet MS"/>
                <a:cs typeface="Trebuchet MS"/>
              </a:rPr>
              <a:t>la </a:t>
            </a:r>
            <a:r>
              <a:rPr sz="1400" b="1" spc="-105" dirty="0">
                <a:latin typeface="Trebuchet MS"/>
                <a:cs typeface="Trebuchet MS"/>
              </a:rPr>
              <a:t>ejecución </a:t>
            </a:r>
            <a:r>
              <a:rPr sz="1400" b="1" spc="-85" dirty="0">
                <a:latin typeface="Trebuchet MS"/>
                <a:cs typeface="Trebuchet MS"/>
              </a:rPr>
              <a:t>de </a:t>
            </a:r>
            <a:r>
              <a:rPr sz="1400" b="1" spc="-80" dirty="0">
                <a:latin typeface="Trebuchet MS"/>
                <a:cs typeface="Trebuchet MS"/>
              </a:rPr>
              <a:t>muchas tareas </a:t>
            </a:r>
            <a:r>
              <a:rPr sz="1400" b="1" spc="-85" dirty="0">
                <a:latin typeface="Trebuchet MS"/>
                <a:cs typeface="Trebuchet MS"/>
              </a:rPr>
              <a:t>de </a:t>
            </a:r>
            <a:r>
              <a:rPr sz="1400" b="1" spc="-75" dirty="0">
                <a:latin typeface="Trebuchet MS"/>
                <a:cs typeface="Trebuchet MS"/>
              </a:rPr>
              <a:t>procesos </a:t>
            </a:r>
            <a:r>
              <a:rPr sz="1400" spc="-60" dirty="0">
                <a:latin typeface="Arial"/>
                <a:cs typeface="Arial"/>
              </a:rPr>
              <a:t>que pueden </a:t>
            </a:r>
            <a:r>
              <a:rPr sz="1400" spc="-55" dirty="0">
                <a:latin typeface="Arial"/>
                <a:cs typeface="Arial"/>
              </a:rPr>
              <a:t>haber </a:t>
            </a:r>
            <a:r>
              <a:rPr sz="1400" spc="-60" dirty="0">
                <a:latin typeface="Arial"/>
                <a:cs typeface="Arial"/>
              </a:rPr>
              <a:t>sido </a:t>
            </a:r>
            <a:r>
              <a:rPr sz="1400" spc="-55" dirty="0">
                <a:latin typeface="Arial"/>
                <a:cs typeface="Arial"/>
              </a:rPr>
              <a:t>controladas  </a:t>
            </a:r>
            <a:r>
              <a:rPr sz="1400" spc="-30" dirty="0">
                <a:latin typeface="Arial"/>
                <a:cs typeface="Arial"/>
              </a:rPr>
              <a:t>anteriormente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40" dirty="0">
                <a:latin typeface="Arial"/>
                <a:cs typeface="Arial"/>
              </a:rPr>
              <a:t>forma </a:t>
            </a:r>
            <a:r>
              <a:rPr sz="1400" spc="-60" dirty="0">
                <a:latin typeface="Arial"/>
                <a:cs typeface="Arial"/>
              </a:rPr>
              <a:t>manual. </a:t>
            </a:r>
            <a:r>
              <a:rPr sz="1400" spc="-120" dirty="0">
                <a:latin typeface="Arial"/>
                <a:cs typeface="Arial"/>
              </a:rPr>
              <a:t>Para </a:t>
            </a:r>
            <a:r>
              <a:rPr sz="1400" spc="-35" dirty="0">
                <a:latin typeface="Arial"/>
                <a:cs typeface="Arial"/>
              </a:rPr>
              <a:t>ello, </a:t>
            </a:r>
            <a:r>
              <a:rPr sz="1400" spc="-65" dirty="0">
                <a:latin typeface="Arial"/>
                <a:cs typeface="Arial"/>
              </a:rPr>
              <a:t>puede </a:t>
            </a:r>
            <a:r>
              <a:rPr sz="1400" spc="-50" dirty="0">
                <a:latin typeface="Arial"/>
                <a:cs typeface="Arial"/>
              </a:rPr>
              <a:t>combinar </a:t>
            </a:r>
            <a:r>
              <a:rPr sz="1400" spc="-65" dirty="0">
                <a:latin typeface="Arial"/>
                <a:cs typeface="Arial"/>
              </a:rPr>
              <a:t>servicios </a:t>
            </a:r>
            <a:r>
              <a:rPr sz="1400" spc="-80" dirty="0">
                <a:latin typeface="Arial"/>
                <a:cs typeface="Arial"/>
              </a:rPr>
              <a:t>nuevos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105" dirty="0">
                <a:latin typeface="Arial"/>
                <a:cs typeface="Arial"/>
              </a:rPr>
              <a:t>ya </a:t>
            </a:r>
            <a:r>
              <a:rPr sz="1400" spc="-60" dirty="0">
                <a:latin typeface="Arial"/>
                <a:cs typeface="Arial"/>
              </a:rPr>
              <a:t>existentes. </a:t>
            </a:r>
            <a:r>
              <a:rPr sz="1400" spc="-120" dirty="0">
                <a:latin typeface="Arial"/>
                <a:cs typeface="Arial"/>
              </a:rPr>
              <a:t>Para </a:t>
            </a:r>
            <a:r>
              <a:rPr sz="1400" spc="-65" dirty="0">
                <a:latin typeface="Arial"/>
                <a:cs typeface="Arial"/>
              </a:rPr>
              <a:t>tareas </a:t>
            </a:r>
            <a:r>
              <a:rPr sz="1400" spc="-60" dirty="0">
                <a:latin typeface="Arial"/>
                <a:cs typeface="Arial"/>
              </a:rPr>
              <a:t>que </a:t>
            </a:r>
            <a:r>
              <a:rPr sz="1400" spc="-70" dirty="0">
                <a:latin typeface="Arial"/>
                <a:cs typeface="Arial"/>
              </a:rPr>
              <a:t>aún  </a:t>
            </a:r>
            <a:r>
              <a:rPr sz="1400" spc="-45" dirty="0">
                <a:latin typeface="Arial"/>
                <a:cs typeface="Arial"/>
              </a:rPr>
              <a:t>requieren </a:t>
            </a:r>
            <a:r>
              <a:rPr sz="1400" spc="-30" dirty="0">
                <a:latin typeface="Arial"/>
                <a:cs typeface="Arial"/>
              </a:rPr>
              <a:t>control </a:t>
            </a:r>
            <a:r>
              <a:rPr sz="1400" spc="-60" dirty="0">
                <a:latin typeface="Arial"/>
                <a:cs typeface="Arial"/>
              </a:rPr>
              <a:t>manual, </a:t>
            </a:r>
            <a:r>
              <a:rPr sz="1400" spc="-120" dirty="0">
                <a:latin typeface="Arial"/>
                <a:cs typeface="Arial"/>
              </a:rPr>
              <a:t>BPM</a:t>
            </a:r>
            <a:r>
              <a:rPr sz="1400" spc="14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coordinará </a:t>
            </a:r>
            <a:r>
              <a:rPr sz="1400" spc="-35" dirty="0">
                <a:latin typeface="Arial"/>
                <a:cs typeface="Arial"/>
              </a:rPr>
              <a:t>el </a:t>
            </a:r>
            <a:r>
              <a:rPr sz="1400" spc="-10" dirty="0">
                <a:latin typeface="Arial"/>
                <a:cs typeface="Arial"/>
              </a:rPr>
              <a:t>flujo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30" dirty="0">
                <a:latin typeface="Arial"/>
                <a:cs typeface="Arial"/>
              </a:rPr>
              <a:t>trabajo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30" dirty="0">
                <a:latin typeface="Arial"/>
                <a:cs typeface="Arial"/>
              </a:rPr>
              <a:t>dirigirá </a:t>
            </a:r>
            <a:r>
              <a:rPr sz="1400" spc="-55" dirty="0">
                <a:latin typeface="Arial"/>
                <a:cs typeface="Arial"/>
              </a:rPr>
              <a:t>la </a:t>
            </a:r>
            <a:r>
              <a:rPr sz="1400" spc="-70" dirty="0">
                <a:latin typeface="Arial"/>
                <a:cs typeface="Arial"/>
              </a:rPr>
              <a:t>acción </a:t>
            </a:r>
            <a:r>
              <a:rPr sz="1400" spc="-50" dirty="0">
                <a:latin typeface="Arial"/>
                <a:cs typeface="Arial"/>
              </a:rPr>
              <a:t>al </a:t>
            </a:r>
            <a:r>
              <a:rPr sz="1400" spc="-20" dirty="0">
                <a:latin typeface="Arial"/>
                <a:cs typeface="Arial"/>
              </a:rPr>
              <a:t>notificar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85" dirty="0">
                <a:latin typeface="Arial"/>
                <a:cs typeface="Arial"/>
              </a:rPr>
              <a:t>las </a:t>
            </a:r>
            <a:r>
              <a:rPr sz="1400" spc="-80" dirty="0">
                <a:latin typeface="Arial"/>
                <a:cs typeface="Arial"/>
              </a:rPr>
              <a:t>personas </a:t>
            </a:r>
            <a:r>
              <a:rPr sz="1400" spc="-70" dirty="0">
                <a:latin typeface="Arial"/>
                <a:cs typeface="Arial"/>
              </a:rPr>
              <a:t>y  </a:t>
            </a:r>
            <a:r>
              <a:rPr sz="1400" spc="-60" dirty="0">
                <a:latin typeface="Arial"/>
                <a:cs typeface="Arial"/>
              </a:rPr>
              <a:t>presentarles </a:t>
            </a:r>
            <a:r>
              <a:rPr sz="1400" spc="-55" dirty="0">
                <a:latin typeface="Arial"/>
                <a:cs typeface="Arial"/>
              </a:rPr>
              <a:t>la </a:t>
            </a:r>
            <a:r>
              <a:rPr sz="1400" spc="-45" dirty="0">
                <a:latin typeface="Arial"/>
                <a:cs typeface="Arial"/>
              </a:rPr>
              <a:t>información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70" dirty="0">
                <a:latin typeface="Arial"/>
                <a:cs typeface="Arial"/>
              </a:rPr>
              <a:t>necesitan </a:t>
            </a:r>
            <a:r>
              <a:rPr sz="1400" spc="-75" dirty="0">
                <a:latin typeface="Arial"/>
                <a:cs typeface="Arial"/>
              </a:rPr>
              <a:t>para </a:t>
            </a:r>
            <a:r>
              <a:rPr sz="1400" spc="-55" dirty="0">
                <a:latin typeface="Arial"/>
                <a:cs typeface="Arial"/>
              </a:rPr>
              <a:t>realizar </a:t>
            </a:r>
            <a:r>
              <a:rPr sz="1400" spc="-105" dirty="0">
                <a:latin typeface="Arial"/>
                <a:cs typeface="Arial"/>
              </a:rPr>
              <a:t>su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trabajo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61326" y="152400"/>
            <a:ext cx="1277874" cy="1277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61</a:t>
            </a:fld>
            <a:endParaRPr spc="-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4988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30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55" dirty="0">
                <a:latin typeface="Arial"/>
                <a:cs typeface="Arial"/>
              </a:rPr>
              <a:t>BPM </a:t>
            </a:r>
            <a:r>
              <a:rPr sz="1800" b="0" spc="-65" dirty="0">
                <a:latin typeface="Arial"/>
                <a:cs typeface="Arial"/>
              </a:rPr>
              <a:t>(</a:t>
            </a:r>
            <a:r>
              <a:rPr sz="1800" b="0" i="1" spc="-65" dirty="0">
                <a:latin typeface="Trebuchet MS"/>
                <a:cs typeface="Trebuchet MS"/>
              </a:rPr>
              <a:t>Business </a:t>
            </a:r>
            <a:r>
              <a:rPr sz="1800" b="0" i="1" spc="-70" dirty="0">
                <a:latin typeface="Trebuchet MS"/>
                <a:cs typeface="Trebuchet MS"/>
              </a:rPr>
              <a:t>Process</a:t>
            </a:r>
            <a:r>
              <a:rPr sz="1800" b="0" i="1" spc="-175" dirty="0">
                <a:latin typeface="Trebuchet MS"/>
                <a:cs typeface="Trebuchet MS"/>
              </a:rPr>
              <a:t> </a:t>
            </a:r>
            <a:r>
              <a:rPr sz="1800" b="0" i="1" spc="-45" dirty="0">
                <a:latin typeface="Trebuchet MS"/>
                <a:cs typeface="Trebuchet MS"/>
              </a:rPr>
              <a:t>Management</a:t>
            </a:r>
            <a:r>
              <a:rPr sz="1800" b="0" spc="-4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081786"/>
            <a:ext cx="296037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20" dirty="0">
                <a:latin typeface="Trebuchet MS"/>
                <a:cs typeface="Trebuchet MS"/>
              </a:rPr>
              <a:t>Objetivos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30" dirty="0">
                <a:latin typeface="Trebuchet MS"/>
                <a:cs typeface="Trebuchet MS"/>
              </a:rPr>
              <a:t>BPM</a:t>
            </a:r>
            <a:r>
              <a:rPr sz="2200" b="1" spc="-300" dirty="0">
                <a:latin typeface="Trebuchet MS"/>
                <a:cs typeface="Trebuchet MS"/>
              </a:rPr>
              <a:t> </a:t>
            </a:r>
            <a:r>
              <a:rPr sz="2200" b="1" spc="-140" dirty="0">
                <a:latin typeface="Trebuchet MS"/>
                <a:cs typeface="Trebuchet MS"/>
              </a:rPr>
              <a:t>(Cont.)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354" y="1714500"/>
            <a:ext cx="4330700" cy="2730500"/>
          </a:xfrm>
          <a:custGeom>
            <a:avLst/>
            <a:gdLst/>
            <a:ahLst/>
            <a:cxnLst/>
            <a:rect l="l" t="t" r="r" b="b"/>
            <a:pathLst>
              <a:path w="4330700" h="2730500">
                <a:moveTo>
                  <a:pt x="0" y="2730246"/>
                </a:moveTo>
                <a:lnTo>
                  <a:pt x="4330446" y="2730246"/>
                </a:lnTo>
                <a:lnTo>
                  <a:pt x="4330446" y="0"/>
                </a:lnTo>
                <a:lnTo>
                  <a:pt x="0" y="0"/>
                </a:lnTo>
                <a:lnTo>
                  <a:pt x="0" y="2730246"/>
                </a:lnTo>
                <a:close/>
              </a:path>
            </a:pathLst>
          </a:custGeom>
          <a:solidFill>
            <a:srgbClr val="00AF50">
              <a:alpha val="7882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3840" y="2168905"/>
            <a:ext cx="4172585" cy="1156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Gobierno, </a:t>
            </a:r>
            <a:r>
              <a:rPr sz="1800" b="1" spc="-105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1800" b="1" spc="-110" dirty="0">
                <a:solidFill>
                  <a:srgbClr val="FFFFFF"/>
                </a:solidFill>
                <a:latin typeface="Trebuchet MS"/>
                <a:cs typeface="Trebuchet MS"/>
              </a:rPr>
              <a:t>y </a:t>
            </a:r>
            <a:r>
              <a:rPr sz="1800" b="1" spc="-145" dirty="0">
                <a:solidFill>
                  <a:srgbClr val="FFFFFF"/>
                </a:solidFill>
                <a:latin typeface="Trebuchet MS"/>
                <a:cs typeface="Trebuchet MS"/>
              </a:rPr>
              <a:t>Toma </a:t>
            </a:r>
            <a:r>
              <a:rPr sz="1800" b="1" spc="-10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800" b="1" spc="-25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FFFFFF"/>
                </a:solidFill>
                <a:latin typeface="Trebuchet MS"/>
                <a:cs typeface="Trebuchet MS"/>
              </a:rPr>
              <a:t>Decisiones:</a:t>
            </a:r>
            <a:endParaRPr sz="18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  <a:spcBef>
                <a:spcPts val="20"/>
              </a:spcBef>
            </a:pP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BPM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otorga 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Directores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de negocio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control directo 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sobre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ciertos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puntos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cambio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control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referente  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cómo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sistemas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información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facilitan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la gestión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de  los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procesos.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3840" y="3513073"/>
            <a:ext cx="4173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Directores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tienen 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acceso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libre 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datos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sobre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el 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rendimiento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procesos.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2000" y="1714500"/>
            <a:ext cx="4292600" cy="2730500"/>
          </a:xfrm>
          <a:custGeom>
            <a:avLst/>
            <a:gdLst/>
            <a:ahLst/>
            <a:cxnLst/>
            <a:rect l="l" t="t" r="r" b="b"/>
            <a:pathLst>
              <a:path w="4292600" h="2730500">
                <a:moveTo>
                  <a:pt x="0" y="2730246"/>
                </a:moveTo>
                <a:lnTo>
                  <a:pt x="4292346" y="2730246"/>
                </a:lnTo>
                <a:lnTo>
                  <a:pt x="4292346" y="0"/>
                </a:lnTo>
                <a:lnTo>
                  <a:pt x="0" y="0"/>
                </a:lnTo>
                <a:lnTo>
                  <a:pt x="0" y="2730246"/>
                </a:lnTo>
                <a:close/>
              </a:path>
            </a:pathLst>
          </a:custGeom>
          <a:solidFill>
            <a:srgbClr val="0D0D0D">
              <a:alpha val="83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50994" y="1955546"/>
            <a:ext cx="17837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0" dirty="0">
                <a:solidFill>
                  <a:srgbClr val="FFFFFF"/>
                </a:solidFill>
                <a:latin typeface="Trebuchet MS"/>
                <a:cs typeface="Trebuchet MS"/>
              </a:rPr>
              <a:t>Desarrollo</a:t>
            </a:r>
            <a:r>
              <a:rPr sz="1800" b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95" dirty="0">
                <a:solidFill>
                  <a:srgbClr val="FFFFFF"/>
                </a:solidFill>
                <a:latin typeface="Trebuchet MS"/>
                <a:cs typeface="Trebuchet MS"/>
              </a:rPr>
              <a:t>Rápido: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0994" y="2232913"/>
            <a:ext cx="413448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184150" algn="l"/>
              </a:tabLst>
            </a:pP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BPM</a:t>
            </a:r>
            <a:r>
              <a:rPr sz="140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es 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mucho 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más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rápido 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nada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haya 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experimentado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antes. </a:t>
            </a:r>
            <a:r>
              <a:rPr sz="1400" spc="-140" dirty="0">
                <a:solidFill>
                  <a:srgbClr val="FFFFFF"/>
                </a:solidFill>
                <a:latin typeface="Arial"/>
                <a:cs typeface="Arial"/>
              </a:rPr>
              <a:t>Le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permite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detectar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cambio 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cuando 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sz="140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produce,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interpretar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el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impacto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ese 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cambio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400" spc="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desarrollar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una 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comprensión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compartida 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sobre cómo debe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responder la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organización.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0994" y="3513073"/>
            <a:ext cx="11366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"/>
              </a:spcBef>
              <a:buChar char="•"/>
              <a:tabLst>
                <a:tab pos="184150" algn="l"/>
                <a:tab pos="995044" algn="l"/>
              </a:tabLst>
            </a:pP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em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á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45885" y="3513073"/>
            <a:ext cx="28397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5320" algn="l"/>
                <a:tab pos="1621155" algn="l"/>
                <a:tab pos="1892935" algn="l"/>
              </a:tabLst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ece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ll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mple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me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2444" y="3726433"/>
            <a:ext cx="3962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soluciones 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más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rápido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lo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que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la actualidad 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es 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posible.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5354" y="4520184"/>
            <a:ext cx="8699500" cy="1499870"/>
          </a:xfrm>
          <a:custGeom>
            <a:avLst/>
            <a:gdLst/>
            <a:ahLst/>
            <a:cxnLst/>
            <a:rect l="l" t="t" r="r" b="b"/>
            <a:pathLst>
              <a:path w="8699500" h="1499870">
                <a:moveTo>
                  <a:pt x="0" y="1499615"/>
                </a:moveTo>
                <a:lnTo>
                  <a:pt x="8698992" y="1499615"/>
                </a:lnTo>
                <a:lnTo>
                  <a:pt x="8698992" y="0"/>
                </a:lnTo>
                <a:lnTo>
                  <a:pt x="0" y="0"/>
                </a:lnTo>
                <a:lnTo>
                  <a:pt x="0" y="1499615"/>
                </a:lnTo>
                <a:close/>
              </a:path>
            </a:pathLst>
          </a:custGeom>
          <a:solidFill>
            <a:srgbClr val="D9D9D9">
              <a:alpha val="6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43840" y="4786121"/>
            <a:ext cx="8540750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0" dirty="0">
                <a:latin typeface="Trebuchet MS"/>
                <a:cs typeface="Trebuchet MS"/>
              </a:rPr>
              <a:t>Integración: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400" spc="-55" dirty="0">
                <a:latin typeface="Arial"/>
                <a:cs typeface="Arial"/>
              </a:rPr>
              <a:t>Permite </a:t>
            </a:r>
            <a:r>
              <a:rPr sz="1400" spc="-25" dirty="0">
                <a:latin typeface="Arial"/>
                <a:cs typeface="Arial"/>
              </a:rPr>
              <a:t>incluir </a:t>
            </a:r>
            <a:r>
              <a:rPr sz="1400" spc="-65" dirty="0">
                <a:latin typeface="Arial"/>
                <a:cs typeface="Arial"/>
              </a:rPr>
              <a:t>en los </a:t>
            </a:r>
            <a:r>
              <a:rPr sz="1400" spc="-85" dirty="0">
                <a:latin typeface="Arial"/>
                <a:cs typeface="Arial"/>
              </a:rPr>
              <a:t>procesos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65" dirty="0">
                <a:latin typeface="Arial"/>
                <a:cs typeface="Arial"/>
              </a:rPr>
              <a:t>negocio </a:t>
            </a:r>
            <a:r>
              <a:rPr sz="1400" spc="-45" dirty="0">
                <a:latin typeface="Arial"/>
                <a:cs typeface="Arial"/>
              </a:rPr>
              <a:t>cualquier </a:t>
            </a:r>
            <a:r>
              <a:rPr sz="1400" spc="-75" dirty="0">
                <a:latin typeface="Arial"/>
                <a:cs typeface="Arial"/>
              </a:rPr>
              <a:t>sistema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40" dirty="0">
                <a:latin typeface="Arial"/>
                <a:cs typeface="Arial"/>
              </a:rPr>
              <a:t>información, </a:t>
            </a:r>
            <a:r>
              <a:rPr sz="1400" spc="-70" dirty="0">
                <a:latin typeface="Arial"/>
                <a:cs typeface="Arial"/>
              </a:rPr>
              <a:t>sistema de </a:t>
            </a:r>
            <a:r>
              <a:rPr sz="1400" spc="-30" dirty="0">
                <a:latin typeface="Arial"/>
                <a:cs typeface="Arial"/>
              </a:rPr>
              <a:t>control, fuente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60" dirty="0">
                <a:latin typeface="Arial"/>
                <a:cs typeface="Arial"/>
              </a:rPr>
              <a:t>datos </a:t>
            </a:r>
            <a:r>
              <a:rPr sz="1400" spc="-45" dirty="0">
                <a:latin typeface="Arial"/>
                <a:cs typeface="Arial"/>
              </a:rPr>
              <a:t>o  cualquier </a:t>
            </a:r>
            <a:r>
              <a:rPr sz="1400" spc="-25" dirty="0">
                <a:latin typeface="Arial"/>
                <a:cs typeface="Arial"/>
              </a:rPr>
              <a:t>otra </a:t>
            </a:r>
            <a:r>
              <a:rPr sz="1400" spc="-55" dirty="0">
                <a:latin typeface="Arial"/>
                <a:cs typeface="Arial"/>
              </a:rPr>
              <a:t>tecnología. </a:t>
            </a:r>
            <a:r>
              <a:rPr sz="1400" spc="-150" dirty="0">
                <a:latin typeface="Arial"/>
                <a:cs typeface="Arial"/>
              </a:rPr>
              <a:t>La </a:t>
            </a:r>
            <a:r>
              <a:rPr sz="1400" spc="-35" dirty="0">
                <a:latin typeface="Arial"/>
                <a:cs typeface="Arial"/>
              </a:rPr>
              <a:t>arquitectura </a:t>
            </a:r>
            <a:r>
              <a:rPr sz="1400" spc="-45" dirty="0">
                <a:latin typeface="Arial"/>
                <a:cs typeface="Arial"/>
              </a:rPr>
              <a:t>orientada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servicios </a:t>
            </a:r>
            <a:r>
              <a:rPr sz="1400" spc="-140" dirty="0">
                <a:latin typeface="Arial"/>
                <a:cs typeface="Arial"/>
              </a:rPr>
              <a:t>(SOA) </a:t>
            </a:r>
            <a:r>
              <a:rPr sz="1400" spc="-20" dirty="0">
                <a:latin typeface="Arial"/>
                <a:cs typeface="Arial"/>
              </a:rPr>
              <a:t>lo </a:t>
            </a:r>
            <a:r>
              <a:rPr sz="1400" spc="-90" dirty="0">
                <a:latin typeface="Arial"/>
                <a:cs typeface="Arial"/>
              </a:rPr>
              <a:t>hace </a:t>
            </a:r>
            <a:r>
              <a:rPr sz="1400" spc="-105" dirty="0">
                <a:latin typeface="Arial"/>
                <a:cs typeface="Arial"/>
              </a:rPr>
              <a:t>más </a:t>
            </a:r>
            <a:r>
              <a:rPr sz="1400" spc="-45" dirty="0">
                <a:latin typeface="Arial"/>
                <a:cs typeface="Arial"/>
              </a:rPr>
              <a:t>rápido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40" dirty="0">
                <a:latin typeface="Arial"/>
                <a:cs typeface="Arial"/>
              </a:rPr>
              <a:t>fácil </a:t>
            </a:r>
            <a:r>
              <a:rPr sz="1400" spc="-65" dirty="0">
                <a:latin typeface="Arial"/>
                <a:cs typeface="Arial"/>
              </a:rPr>
              <a:t>que</a:t>
            </a:r>
            <a:r>
              <a:rPr sz="1400" spc="-19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nunca.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30" dirty="0">
                <a:latin typeface="Trebuchet MS"/>
                <a:cs typeface="Trebuchet MS"/>
              </a:rPr>
              <a:t>No</a:t>
            </a:r>
            <a:r>
              <a:rPr sz="1400" b="1" spc="-110" dirty="0">
                <a:latin typeface="Trebuchet MS"/>
                <a:cs typeface="Trebuchet MS"/>
              </a:rPr>
              <a:t> </a:t>
            </a:r>
            <a:r>
              <a:rPr sz="1400" b="1" spc="-80" dirty="0">
                <a:latin typeface="Trebuchet MS"/>
                <a:cs typeface="Trebuchet MS"/>
              </a:rPr>
              <a:t>es</a:t>
            </a:r>
            <a:r>
              <a:rPr sz="1400" b="1" spc="-100" dirty="0">
                <a:latin typeface="Trebuchet MS"/>
                <a:cs typeface="Trebuchet MS"/>
              </a:rPr>
              <a:t> </a:t>
            </a:r>
            <a:r>
              <a:rPr sz="1400" b="1" spc="-85" dirty="0">
                <a:latin typeface="Trebuchet MS"/>
                <a:cs typeface="Trebuchet MS"/>
              </a:rPr>
              <a:t>necesario</a:t>
            </a:r>
            <a:r>
              <a:rPr sz="1400" b="1" spc="-114" dirty="0">
                <a:latin typeface="Trebuchet MS"/>
                <a:cs typeface="Trebuchet MS"/>
              </a:rPr>
              <a:t> </a:t>
            </a:r>
            <a:r>
              <a:rPr sz="1400" b="1" spc="-90" dirty="0">
                <a:latin typeface="Trebuchet MS"/>
                <a:cs typeface="Trebuchet MS"/>
              </a:rPr>
              <a:t>desprenderse</a:t>
            </a:r>
            <a:r>
              <a:rPr sz="1400" b="1" spc="-95" dirty="0">
                <a:latin typeface="Trebuchet MS"/>
                <a:cs typeface="Trebuchet MS"/>
              </a:rPr>
              <a:t> </a:t>
            </a:r>
            <a:r>
              <a:rPr sz="1400" b="1" spc="-85" dirty="0">
                <a:latin typeface="Trebuchet MS"/>
                <a:cs typeface="Trebuchet MS"/>
              </a:rPr>
              <a:t>de</a:t>
            </a:r>
            <a:r>
              <a:rPr sz="1400" b="1" spc="-120" dirty="0">
                <a:latin typeface="Trebuchet MS"/>
                <a:cs typeface="Trebuchet MS"/>
              </a:rPr>
              <a:t> </a:t>
            </a:r>
            <a:r>
              <a:rPr sz="1400" b="1" spc="-60" dirty="0">
                <a:latin typeface="Trebuchet MS"/>
                <a:cs typeface="Trebuchet MS"/>
              </a:rPr>
              <a:t>las</a:t>
            </a:r>
            <a:r>
              <a:rPr sz="1400" b="1" spc="-100" dirty="0">
                <a:latin typeface="Trebuchet MS"/>
                <a:cs typeface="Trebuchet MS"/>
              </a:rPr>
              <a:t> </a:t>
            </a:r>
            <a:r>
              <a:rPr sz="1400" b="1" spc="-85" dirty="0">
                <a:latin typeface="Trebuchet MS"/>
                <a:cs typeface="Trebuchet MS"/>
              </a:rPr>
              <a:t>inversiones</a:t>
            </a:r>
            <a:r>
              <a:rPr sz="1400" b="1" spc="-90" dirty="0">
                <a:latin typeface="Trebuchet MS"/>
                <a:cs typeface="Trebuchet MS"/>
              </a:rPr>
              <a:t> ya</a:t>
            </a:r>
            <a:r>
              <a:rPr sz="1400" b="1" spc="-100" dirty="0">
                <a:latin typeface="Trebuchet MS"/>
                <a:cs typeface="Trebuchet MS"/>
              </a:rPr>
              <a:t> </a:t>
            </a:r>
            <a:r>
              <a:rPr sz="1400" b="1" spc="-95" dirty="0">
                <a:latin typeface="Trebuchet MS"/>
                <a:cs typeface="Trebuchet MS"/>
              </a:rPr>
              <a:t>realizadas;</a:t>
            </a:r>
            <a:r>
              <a:rPr sz="1400" b="1" spc="-90" dirty="0">
                <a:latin typeface="Trebuchet MS"/>
                <a:cs typeface="Trebuchet MS"/>
              </a:rPr>
              <a:t> </a:t>
            </a:r>
            <a:r>
              <a:rPr sz="1400" b="1" spc="-60" dirty="0">
                <a:latin typeface="Trebuchet MS"/>
                <a:cs typeface="Trebuchet MS"/>
              </a:rPr>
              <a:t>todo</a:t>
            </a:r>
            <a:r>
              <a:rPr sz="1400" b="1" spc="-110" dirty="0">
                <a:latin typeface="Trebuchet MS"/>
                <a:cs typeface="Trebuchet MS"/>
              </a:rPr>
              <a:t> </a:t>
            </a:r>
            <a:r>
              <a:rPr sz="1400" b="1" spc="-75" dirty="0">
                <a:latin typeface="Trebuchet MS"/>
                <a:cs typeface="Trebuchet MS"/>
              </a:rPr>
              <a:t>se</a:t>
            </a:r>
            <a:r>
              <a:rPr sz="1400" b="1" spc="-105" dirty="0">
                <a:latin typeface="Trebuchet MS"/>
                <a:cs typeface="Trebuchet MS"/>
              </a:rPr>
              <a:t> </a:t>
            </a:r>
            <a:r>
              <a:rPr sz="1400" b="1" spc="-90" dirty="0">
                <a:latin typeface="Trebuchet MS"/>
                <a:cs typeface="Trebuchet MS"/>
              </a:rPr>
              <a:t>puede</a:t>
            </a:r>
            <a:r>
              <a:rPr sz="1400" b="1" spc="-114" dirty="0">
                <a:latin typeface="Trebuchet MS"/>
                <a:cs typeface="Trebuchet MS"/>
              </a:rPr>
              <a:t> reutilizar.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678673" y="252984"/>
            <a:ext cx="1165098" cy="1165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62</a:t>
            </a:fld>
            <a:endParaRPr spc="-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4988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30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55" dirty="0">
                <a:latin typeface="Arial"/>
                <a:cs typeface="Arial"/>
              </a:rPr>
              <a:t>BPM </a:t>
            </a:r>
            <a:r>
              <a:rPr sz="1800" b="0" spc="-65" dirty="0">
                <a:latin typeface="Arial"/>
                <a:cs typeface="Arial"/>
              </a:rPr>
              <a:t>(</a:t>
            </a:r>
            <a:r>
              <a:rPr sz="1800" b="0" i="1" spc="-65" dirty="0">
                <a:latin typeface="Trebuchet MS"/>
                <a:cs typeface="Trebuchet MS"/>
              </a:rPr>
              <a:t>Business </a:t>
            </a:r>
            <a:r>
              <a:rPr sz="1800" b="0" i="1" spc="-70" dirty="0">
                <a:latin typeface="Trebuchet MS"/>
                <a:cs typeface="Trebuchet MS"/>
              </a:rPr>
              <a:t>Process</a:t>
            </a:r>
            <a:r>
              <a:rPr sz="1800" b="0" i="1" spc="-175" dirty="0">
                <a:latin typeface="Trebuchet MS"/>
                <a:cs typeface="Trebuchet MS"/>
              </a:rPr>
              <a:t> </a:t>
            </a:r>
            <a:r>
              <a:rPr sz="1800" b="0" i="1" spc="-45" dirty="0">
                <a:latin typeface="Trebuchet MS"/>
                <a:cs typeface="Trebuchet MS"/>
              </a:rPr>
              <a:t>Management</a:t>
            </a:r>
            <a:r>
              <a:rPr sz="1800" b="0" spc="-4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081786"/>
            <a:ext cx="304546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20" dirty="0">
                <a:latin typeface="Trebuchet MS"/>
                <a:cs typeface="Trebuchet MS"/>
              </a:rPr>
              <a:t>Beneficios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30" dirty="0">
                <a:latin typeface="Trebuchet MS"/>
                <a:cs typeface="Trebuchet MS"/>
              </a:rPr>
              <a:t>BPM</a:t>
            </a:r>
            <a:r>
              <a:rPr sz="2200" b="1" spc="-290" dirty="0">
                <a:latin typeface="Trebuchet MS"/>
                <a:cs typeface="Trebuchet MS"/>
              </a:rPr>
              <a:t> </a:t>
            </a:r>
            <a:r>
              <a:rPr sz="2200" b="1" spc="-140" dirty="0">
                <a:latin typeface="Trebuchet MS"/>
                <a:cs typeface="Trebuchet MS"/>
              </a:rPr>
              <a:t>(Cont.)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354" y="1552955"/>
            <a:ext cx="7309484" cy="4772025"/>
          </a:xfrm>
          <a:custGeom>
            <a:avLst/>
            <a:gdLst/>
            <a:ahLst/>
            <a:cxnLst/>
            <a:rect l="l" t="t" r="r" b="b"/>
            <a:pathLst>
              <a:path w="7309484" h="4772025">
                <a:moveTo>
                  <a:pt x="6168009" y="0"/>
                </a:moveTo>
                <a:lnTo>
                  <a:pt x="0" y="0"/>
                </a:lnTo>
                <a:lnTo>
                  <a:pt x="0" y="4771644"/>
                </a:lnTo>
                <a:lnTo>
                  <a:pt x="6168009" y="4771644"/>
                </a:lnTo>
                <a:lnTo>
                  <a:pt x="7309104" y="2385822"/>
                </a:lnTo>
                <a:lnTo>
                  <a:pt x="6168009" y="0"/>
                </a:lnTo>
                <a:close/>
              </a:path>
            </a:pathLst>
          </a:custGeom>
          <a:solidFill>
            <a:srgbClr val="2171FF">
              <a:alpha val="4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3840" y="1674622"/>
            <a:ext cx="6534150" cy="450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55" dirty="0">
                <a:latin typeface="Arial"/>
                <a:cs typeface="Arial"/>
              </a:rPr>
              <a:t>Las </a:t>
            </a:r>
            <a:r>
              <a:rPr sz="1400" b="1" spc="-75" dirty="0">
                <a:latin typeface="Trebuchet MS"/>
                <a:cs typeface="Trebuchet MS"/>
              </a:rPr>
              <a:t>propuestas </a:t>
            </a:r>
            <a:r>
              <a:rPr sz="1400" b="1" spc="-85" dirty="0">
                <a:latin typeface="Trebuchet MS"/>
                <a:cs typeface="Trebuchet MS"/>
              </a:rPr>
              <a:t>de </a:t>
            </a:r>
            <a:r>
              <a:rPr sz="1400" b="1" spc="-75" dirty="0">
                <a:latin typeface="Trebuchet MS"/>
                <a:cs typeface="Trebuchet MS"/>
              </a:rPr>
              <a:t>valor </a:t>
            </a:r>
            <a:r>
              <a:rPr sz="1400" b="1" spc="-85" dirty="0">
                <a:latin typeface="Trebuchet MS"/>
                <a:cs typeface="Trebuchet MS"/>
              </a:rPr>
              <a:t>de </a:t>
            </a:r>
            <a:r>
              <a:rPr sz="1400" b="1" spc="15" dirty="0">
                <a:latin typeface="Trebuchet MS"/>
                <a:cs typeface="Trebuchet MS"/>
              </a:rPr>
              <a:t>BPM </a:t>
            </a:r>
            <a:r>
              <a:rPr sz="1400" spc="-85" dirty="0">
                <a:latin typeface="Arial"/>
                <a:cs typeface="Arial"/>
              </a:rPr>
              <a:t>son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75" dirty="0">
                <a:latin typeface="Arial"/>
                <a:cs typeface="Arial"/>
              </a:rPr>
              <a:t>gran</a:t>
            </a:r>
            <a:r>
              <a:rPr sz="1400" spc="-200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alcance: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184150" marR="58928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400" b="1" spc="-85" dirty="0">
                <a:latin typeface="Trebuchet MS"/>
                <a:cs typeface="Trebuchet MS"/>
              </a:rPr>
              <a:t>Automatización: </a:t>
            </a:r>
            <a:r>
              <a:rPr sz="1400" spc="-65" dirty="0">
                <a:latin typeface="Arial"/>
                <a:cs typeface="Arial"/>
              </a:rPr>
              <a:t>mayor </a:t>
            </a:r>
            <a:r>
              <a:rPr sz="1400" spc="-40" dirty="0">
                <a:latin typeface="Arial"/>
                <a:cs typeface="Arial"/>
              </a:rPr>
              <a:t>productividad, </a:t>
            </a:r>
            <a:r>
              <a:rPr sz="1400" spc="-65" dirty="0">
                <a:latin typeface="Arial"/>
                <a:cs typeface="Arial"/>
              </a:rPr>
              <a:t>coherencia, </a:t>
            </a:r>
            <a:r>
              <a:rPr sz="1400" spc="-55" dirty="0">
                <a:latin typeface="Arial"/>
                <a:cs typeface="Arial"/>
              </a:rPr>
              <a:t>reducción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50" dirty="0">
                <a:latin typeface="Arial"/>
                <a:cs typeface="Arial"/>
              </a:rPr>
              <a:t>errores, </a:t>
            </a:r>
            <a:r>
              <a:rPr sz="1400" spc="-65" dirty="0">
                <a:latin typeface="Arial"/>
                <a:cs typeface="Arial"/>
              </a:rPr>
              <a:t>mayor  satisfacción </a:t>
            </a:r>
            <a:r>
              <a:rPr sz="1400" spc="-45" dirty="0">
                <a:latin typeface="Arial"/>
                <a:cs typeface="Arial"/>
              </a:rPr>
              <a:t>del </a:t>
            </a:r>
            <a:r>
              <a:rPr sz="1400" spc="-40" dirty="0">
                <a:latin typeface="Arial"/>
                <a:cs typeface="Arial"/>
              </a:rPr>
              <a:t>cliente </a:t>
            </a:r>
            <a:r>
              <a:rPr sz="1400" spc="-70" dirty="0">
                <a:latin typeface="Arial"/>
                <a:cs typeface="Arial"/>
              </a:rPr>
              <a:t>y</a:t>
            </a:r>
            <a:r>
              <a:rPr sz="1400" spc="-10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conformidad.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184150" marR="59055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400" b="1" spc="-70" dirty="0">
                <a:latin typeface="Trebuchet MS"/>
                <a:cs typeface="Trebuchet MS"/>
              </a:rPr>
              <a:t>Agilidad: </a:t>
            </a:r>
            <a:r>
              <a:rPr sz="1400" spc="-45" dirty="0">
                <a:latin typeface="Arial"/>
                <a:cs typeface="Arial"/>
              </a:rPr>
              <a:t>tiempos </a:t>
            </a:r>
            <a:r>
              <a:rPr sz="1400" spc="-105" dirty="0">
                <a:latin typeface="Arial"/>
                <a:cs typeface="Arial"/>
              </a:rPr>
              <a:t>más </a:t>
            </a:r>
            <a:r>
              <a:rPr sz="1400" spc="-60" dirty="0">
                <a:latin typeface="Arial"/>
                <a:cs typeface="Arial"/>
              </a:rPr>
              <a:t>rápidos </a:t>
            </a:r>
            <a:r>
              <a:rPr sz="1400" spc="-70" dirty="0">
                <a:latin typeface="Arial"/>
                <a:cs typeface="Arial"/>
              </a:rPr>
              <a:t>de respuesta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60" dirty="0">
                <a:latin typeface="Arial"/>
                <a:cs typeface="Arial"/>
              </a:rPr>
              <a:t>problemas, </a:t>
            </a:r>
            <a:r>
              <a:rPr sz="1400" spc="-45" dirty="0">
                <a:latin typeface="Arial"/>
                <a:cs typeface="Arial"/>
              </a:rPr>
              <a:t>tiempos </a:t>
            </a:r>
            <a:r>
              <a:rPr sz="1400" spc="-105" dirty="0">
                <a:latin typeface="Arial"/>
                <a:cs typeface="Arial"/>
              </a:rPr>
              <a:t>más </a:t>
            </a:r>
            <a:r>
              <a:rPr sz="1400" spc="-60" dirty="0">
                <a:latin typeface="Arial"/>
                <a:cs typeface="Arial"/>
              </a:rPr>
              <a:t>rápidos </a:t>
            </a:r>
            <a:r>
              <a:rPr sz="1400" spc="-75" dirty="0">
                <a:latin typeface="Arial"/>
                <a:cs typeface="Arial"/>
              </a:rPr>
              <a:t>para  </a:t>
            </a:r>
            <a:r>
              <a:rPr sz="1400" spc="-50" dirty="0">
                <a:latin typeface="Arial"/>
                <a:cs typeface="Arial"/>
              </a:rPr>
              <a:t>desarrollar </a:t>
            </a:r>
            <a:r>
              <a:rPr sz="1400" spc="-70" dirty="0">
                <a:latin typeface="Arial"/>
                <a:cs typeface="Arial"/>
              </a:rPr>
              <a:t>soluciones y </a:t>
            </a:r>
            <a:r>
              <a:rPr sz="1400" spc="-75" dirty="0">
                <a:latin typeface="Arial"/>
                <a:cs typeface="Arial"/>
              </a:rPr>
              <a:t>para </a:t>
            </a:r>
            <a:r>
              <a:rPr sz="1400" spc="-55" dirty="0">
                <a:latin typeface="Arial"/>
                <a:cs typeface="Arial"/>
              </a:rPr>
              <a:t>responder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0" dirty="0">
                <a:latin typeface="Arial"/>
                <a:cs typeface="Arial"/>
              </a:rPr>
              <a:t>forma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inmediata.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400" b="1" spc="-95" dirty="0">
                <a:latin typeface="Trebuchet MS"/>
                <a:cs typeface="Trebuchet MS"/>
              </a:rPr>
              <a:t>Flexibilidad: </a:t>
            </a:r>
            <a:r>
              <a:rPr sz="1400" spc="-55" dirty="0">
                <a:latin typeface="Arial"/>
                <a:cs typeface="Arial"/>
              </a:rPr>
              <a:t>combinación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90" dirty="0">
                <a:latin typeface="Arial"/>
                <a:cs typeface="Arial"/>
              </a:rPr>
              <a:t>escala, </a:t>
            </a:r>
            <a:r>
              <a:rPr sz="1400" spc="-85" dirty="0">
                <a:latin typeface="Arial"/>
                <a:cs typeface="Arial"/>
              </a:rPr>
              <a:t>alcance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80" dirty="0">
                <a:latin typeface="Arial"/>
                <a:cs typeface="Arial"/>
              </a:rPr>
              <a:t>capacidad </a:t>
            </a:r>
            <a:r>
              <a:rPr sz="1400" spc="-65" dirty="0">
                <a:latin typeface="Arial"/>
                <a:cs typeface="Arial"/>
              </a:rPr>
              <a:t>de los </a:t>
            </a:r>
            <a:r>
              <a:rPr sz="1400" spc="-85" dirty="0">
                <a:latin typeface="Arial"/>
                <a:cs typeface="Arial"/>
              </a:rPr>
              <a:t>sistemas </a:t>
            </a:r>
            <a:r>
              <a:rPr sz="1400" spc="-65" dirty="0">
                <a:latin typeface="Arial"/>
                <a:cs typeface="Arial"/>
              </a:rPr>
              <a:t>de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información</a:t>
            </a:r>
            <a:endParaRPr sz="1400">
              <a:latin typeface="Arial"/>
              <a:cs typeface="Arial"/>
            </a:endParaRPr>
          </a:p>
          <a:p>
            <a:pPr marL="184150">
              <a:lnSpc>
                <a:spcPct val="100000"/>
              </a:lnSpc>
            </a:pPr>
            <a:r>
              <a:rPr sz="1400" spc="-50" dirty="0">
                <a:latin typeface="Arial"/>
                <a:cs typeface="Arial"/>
              </a:rPr>
              <a:t>tradicionales </a:t>
            </a:r>
            <a:r>
              <a:rPr sz="1400" spc="-70" dirty="0">
                <a:latin typeface="Arial"/>
                <a:cs typeface="Arial"/>
              </a:rPr>
              <a:t>con </a:t>
            </a:r>
            <a:r>
              <a:rPr sz="1400" spc="-50" dirty="0">
                <a:latin typeface="Arial"/>
                <a:cs typeface="Arial"/>
              </a:rPr>
              <a:t>la agilidad, </a:t>
            </a:r>
            <a:r>
              <a:rPr sz="1400" spc="-35" dirty="0">
                <a:latin typeface="Arial"/>
                <a:cs typeface="Arial"/>
              </a:rPr>
              <a:t>flexibilidad </a:t>
            </a:r>
            <a:r>
              <a:rPr sz="1400" spc="-85" dirty="0">
                <a:latin typeface="Arial"/>
                <a:cs typeface="Arial"/>
              </a:rPr>
              <a:t>e </a:t>
            </a:r>
            <a:r>
              <a:rPr sz="1400" spc="-55" dirty="0">
                <a:latin typeface="Arial"/>
                <a:cs typeface="Arial"/>
              </a:rPr>
              <a:t>innovación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85" dirty="0">
                <a:latin typeface="Arial"/>
                <a:cs typeface="Arial"/>
              </a:rPr>
              <a:t>las </a:t>
            </a:r>
            <a:r>
              <a:rPr sz="1400" spc="-65" dirty="0">
                <a:latin typeface="Arial"/>
                <a:cs typeface="Arial"/>
              </a:rPr>
              <a:t>modernas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tecnologías.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184150" marR="36830" indent="-171450" algn="just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400" b="1" spc="-75" dirty="0">
                <a:latin typeface="Trebuchet MS"/>
                <a:cs typeface="Trebuchet MS"/>
              </a:rPr>
              <a:t>Visibilidad: </a:t>
            </a:r>
            <a:r>
              <a:rPr sz="1400" spc="-55" dirty="0">
                <a:latin typeface="Arial"/>
                <a:cs typeface="Arial"/>
              </a:rPr>
              <a:t>realizar </a:t>
            </a:r>
            <a:r>
              <a:rPr sz="1400" spc="-40" dirty="0">
                <a:latin typeface="Arial"/>
                <a:cs typeface="Arial"/>
              </a:rPr>
              <a:t>el </a:t>
            </a:r>
            <a:r>
              <a:rPr sz="1400" spc="-55" dirty="0">
                <a:latin typeface="Arial"/>
                <a:cs typeface="Arial"/>
              </a:rPr>
              <a:t>seguimiento </a:t>
            </a:r>
            <a:r>
              <a:rPr sz="1400" spc="-70" dirty="0">
                <a:latin typeface="Arial"/>
                <a:cs typeface="Arial"/>
              </a:rPr>
              <a:t>de transacciones </a:t>
            </a:r>
            <a:r>
              <a:rPr sz="1400" spc="-65" dirty="0">
                <a:latin typeface="Arial"/>
                <a:cs typeface="Arial"/>
              </a:rPr>
              <a:t>empresariales </a:t>
            </a:r>
            <a:r>
              <a:rPr sz="1400" spc="-50" dirty="0">
                <a:latin typeface="Arial"/>
                <a:cs typeface="Arial"/>
              </a:rPr>
              <a:t>individuales </a:t>
            </a:r>
            <a:r>
              <a:rPr sz="1400" spc="-60" dirty="0">
                <a:latin typeface="Arial"/>
                <a:cs typeface="Arial"/>
              </a:rPr>
              <a:t>(incluso 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25" dirty="0">
                <a:latin typeface="Arial"/>
                <a:cs typeface="Arial"/>
              </a:rPr>
              <a:t>tiempo </a:t>
            </a:r>
            <a:r>
              <a:rPr sz="1400" spc="-45" dirty="0">
                <a:latin typeface="Arial"/>
                <a:cs typeface="Arial"/>
              </a:rPr>
              <a:t>real) </a:t>
            </a:r>
            <a:r>
              <a:rPr sz="1400" spc="-25" dirty="0">
                <a:latin typeface="Arial"/>
                <a:cs typeface="Arial"/>
              </a:rPr>
              <a:t>por </a:t>
            </a:r>
            <a:r>
              <a:rPr sz="1400" spc="-20" dirty="0">
                <a:latin typeface="Arial"/>
                <a:cs typeface="Arial"/>
              </a:rPr>
              <a:t>todo </a:t>
            </a:r>
            <a:r>
              <a:rPr sz="1400" spc="-40" dirty="0">
                <a:latin typeface="Arial"/>
                <a:cs typeface="Arial"/>
              </a:rPr>
              <a:t>el </a:t>
            </a:r>
            <a:r>
              <a:rPr sz="1400" spc="-75" dirty="0">
                <a:latin typeface="Arial"/>
                <a:cs typeface="Arial"/>
              </a:rPr>
              <a:t>proceso, </a:t>
            </a:r>
            <a:r>
              <a:rPr sz="1400" spc="-50" dirty="0">
                <a:latin typeface="Arial"/>
                <a:cs typeface="Arial"/>
              </a:rPr>
              <a:t>penetrando </a:t>
            </a:r>
            <a:r>
              <a:rPr sz="1400" spc="-65" dirty="0">
                <a:latin typeface="Arial"/>
                <a:cs typeface="Arial"/>
              </a:rPr>
              <a:t>en los </a:t>
            </a:r>
            <a:r>
              <a:rPr sz="1400" spc="-85" dirty="0">
                <a:latin typeface="Arial"/>
                <a:cs typeface="Arial"/>
              </a:rPr>
              <a:t>subprocesos, acercándose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los  </a:t>
            </a:r>
            <a:r>
              <a:rPr sz="1400" spc="-85" dirty="0">
                <a:latin typeface="Arial"/>
                <a:cs typeface="Arial"/>
              </a:rPr>
              <a:t>procesos </a:t>
            </a:r>
            <a:r>
              <a:rPr sz="1400" spc="-55" dirty="0">
                <a:latin typeface="Arial"/>
                <a:cs typeface="Arial"/>
              </a:rPr>
              <a:t>principales,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50" dirty="0">
                <a:latin typeface="Arial"/>
                <a:cs typeface="Arial"/>
              </a:rPr>
              <a:t>viendo </a:t>
            </a:r>
            <a:r>
              <a:rPr sz="1400" spc="-40" dirty="0">
                <a:latin typeface="Arial"/>
                <a:cs typeface="Arial"/>
              </a:rPr>
              <a:t>el </a:t>
            </a:r>
            <a:r>
              <a:rPr sz="1400" spc="-75" dirty="0">
                <a:latin typeface="Arial"/>
                <a:cs typeface="Arial"/>
              </a:rPr>
              <a:t>proceso </a:t>
            </a:r>
            <a:r>
              <a:rPr sz="1400" spc="-90" dirty="0">
                <a:latin typeface="Arial"/>
                <a:cs typeface="Arial"/>
              </a:rPr>
              <a:t>desde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65" dirty="0">
                <a:latin typeface="Arial"/>
                <a:cs typeface="Arial"/>
              </a:rPr>
              <a:t>perspectiva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50" dirty="0">
                <a:latin typeface="Arial"/>
                <a:cs typeface="Arial"/>
              </a:rPr>
              <a:t>un </a:t>
            </a:r>
            <a:r>
              <a:rPr sz="1400" spc="-15" dirty="0">
                <a:latin typeface="Arial"/>
                <a:cs typeface="Arial"/>
              </a:rPr>
              <a:t>rol </a:t>
            </a:r>
            <a:r>
              <a:rPr sz="1400" spc="-65" dirty="0">
                <a:latin typeface="Arial"/>
                <a:cs typeface="Arial"/>
              </a:rPr>
              <a:t>en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particular.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400" b="1" spc="-85" dirty="0">
                <a:latin typeface="Trebuchet MS"/>
                <a:cs typeface="Trebuchet MS"/>
              </a:rPr>
              <a:t>Colaboración: </a:t>
            </a:r>
            <a:r>
              <a:rPr sz="1400" spc="-45" dirty="0">
                <a:latin typeface="Arial"/>
                <a:cs typeface="Arial"/>
              </a:rPr>
              <a:t>alineamiento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40" dirty="0">
                <a:latin typeface="Arial"/>
                <a:cs typeface="Arial"/>
              </a:rPr>
              <a:t>participación, </a:t>
            </a:r>
            <a:r>
              <a:rPr sz="1400" spc="-60" dirty="0">
                <a:latin typeface="Arial"/>
                <a:cs typeface="Arial"/>
              </a:rPr>
              <a:t>especialmente </a:t>
            </a:r>
            <a:r>
              <a:rPr sz="1400" spc="-30" dirty="0">
                <a:latin typeface="Arial"/>
                <a:cs typeface="Arial"/>
              </a:rPr>
              <a:t>entre </a:t>
            </a:r>
            <a:r>
              <a:rPr sz="1400" spc="-110" dirty="0">
                <a:latin typeface="Arial"/>
                <a:cs typeface="Arial"/>
              </a:rPr>
              <a:t>TI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40" dirty="0">
                <a:latin typeface="Arial"/>
                <a:cs typeface="Arial"/>
              </a:rPr>
              <a:t>el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negocio.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450">
              <a:latin typeface="Times New Roman"/>
              <a:cs typeface="Times New Roman"/>
            </a:endParaRPr>
          </a:p>
          <a:p>
            <a:pPr marL="184150" marR="18415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400" b="1" spc="-80" dirty="0">
                <a:latin typeface="Trebuchet MS"/>
                <a:cs typeface="Trebuchet MS"/>
              </a:rPr>
              <a:t>Gobierno: </a:t>
            </a:r>
            <a:r>
              <a:rPr sz="1400" spc="-50" dirty="0">
                <a:latin typeface="Arial"/>
                <a:cs typeface="Arial"/>
              </a:rPr>
              <a:t>un </a:t>
            </a:r>
            <a:r>
              <a:rPr sz="1400" spc="-45" dirty="0">
                <a:latin typeface="Arial"/>
                <a:cs typeface="Arial"/>
              </a:rPr>
              <a:t>modelo </a:t>
            </a:r>
            <a:r>
              <a:rPr sz="1400" spc="-20" dirty="0">
                <a:latin typeface="Arial"/>
                <a:cs typeface="Arial"/>
              </a:rPr>
              <a:t>fuerte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30" dirty="0">
                <a:latin typeface="Arial"/>
                <a:cs typeface="Arial"/>
              </a:rPr>
              <a:t>control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60" dirty="0">
                <a:latin typeface="Arial"/>
                <a:cs typeface="Arial"/>
              </a:rPr>
              <a:t>cambio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55" dirty="0">
                <a:latin typeface="Arial"/>
                <a:cs typeface="Arial"/>
              </a:rPr>
              <a:t>la gestión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75" dirty="0">
                <a:latin typeface="Arial"/>
                <a:cs typeface="Arial"/>
              </a:rPr>
              <a:t>crea confianza </a:t>
            </a:r>
            <a:r>
              <a:rPr sz="1400" spc="-65" dirty="0">
                <a:latin typeface="Arial"/>
                <a:cs typeface="Arial"/>
              </a:rPr>
              <a:t>en los  </a:t>
            </a:r>
            <a:r>
              <a:rPr sz="1400" spc="-55" dirty="0">
                <a:latin typeface="Arial"/>
                <a:cs typeface="Arial"/>
              </a:rPr>
              <a:t>clientes, </a:t>
            </a:r>
            <a:r>
              <a:rPr sz="1400" spc="-80" dirty="0">
                <a:latin typeface="Arial"/>
                <a:cs typeface="Arial"/>
              </a:rPr>
              <a:t>socios, </a:t>
            </a:r>
            <a:r>
              <a:rPr sz="1400" spc="-65" dirty="0">
                <a:latin typeface="Arial"/>
                <a:cs typeface="Arial"/>
              </a:rPr>
              <a:t>proveedores, reguladores </a:t>
            </a:r>
            <a:r>
              <a:rPr sz="1400" spc="-70" dirty="0">
                <a:latin typeface="Arial"/>
                <a:cs typeface="Arial"/>
              </a:rPr>
              <a:t>y accionistas. </a:t>
            </a:r>
            <a:r>
              <a:rPr sz="1400" spc="-120" dirty="0">
                <a:latin typeface="Arial"/>
                <a:cs typeface="Arial"/>
              </a:rPr>
              <a:t>BPM </a:t>
            </a:r>
            <a:r>
              <a:rPr sz="1400" spc="-70" dirty="0">
                <a:latin typeface="Arial"/>
                <a:cs typeface="Arial"/>
              </a:rPr>
              <a:t>garantiza </a:t>
            </a:r>
            <a:r>
              <a:rPr sz="1400" spc="-40" dirty="0">
                <a:latin typeface="Arial"/>
                <a:cs typeface="Arial"/>
              </a:rPr>
              <a:t>el </a:t>
            </a:r>
            <a:r>
              <a:rPr sz="1400" spc="-55" dirty="0">
                <a:latin typeface="Arial"/>
                <a:cs typeface="Arial"/>
              </a:rPr>
              <a:t>seguimiento 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85" dirty="0">
                <a:latin typeface="Arial"/>
                <a:cs typeface="Arial"/>
              </a:rPr>
              <a:t>las </a:t>
            </a:r>
            <a:r>
              <a:rPr sz="1400" spc="-55" dirty="0">
                <a:latin typeface="Arial"/>
                <a:cs typeface="Arial"/>
              </a:rPr>
              <a:t>políticas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0" dirty="0">
                <a:latin typeface="Arial"/>
                <a:cs typeface="Arial"/>
              </a:rPr>
              <a:t>utilización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40" dirty="0">
                <a:latin typeface="Arial"/>
                <a:cs typeface="Arial"/>
              </a:rPr>
              <a:t>reutilización,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50" dirty="0">
                <a:latin typeface="Arial"/>
                <a:cs typeface="Arial"/>
              </a:rPr>
              <a:t>proporciona </a:t>
            </a:r>
            <a:r>
              <a:rPr sz="1400" spc="-55" dirty="0">
                <a:latin typeface="Arial"/>
                <a:cs typeface="Arial"/>
              </a:rPr>
              <a:t>supervisión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85" dirty="0">
                <a:latin typeface="Arial"/>
                <a:cs typeface="Arial"/>
              </a:rPr>
              <a:t>las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tareas</a:t>
            </a:r>
            <a:endParaRPr sz="1400">
              <a:latin typeface="Arial"/>
              <a:cs typeface="Arial"/>
            </a:endParaRPr>
          </a:p>
          <a:p>
            <a:pPr marL="184150">
              <a:lnSpc>
                <a:spcPct val="100000"/>
              </a:lnSpc>
            </a:pP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45" dirty="0">
                <a:latin typeface="Arial"/>
                <a:cs typeface="Arial"/>
              </a:rPr>
              <a:t>del </a:t>
            </a:r>
            <a:r>
              <a:rPr sz="1400" spc="-10" dirty="0">
                <a:latin typeface="Arial"/>
                <a:cs typeface="Arial"/>
              </a:rPr>
              <a:t>flujo </a:t>
            </a:r>
            <a:r>
              <a:rPr sz="1400" spc="-70" dirty="0">
                <a:latin typeface="Arial"/>
                <a:cs typeface="Arial"/>
              </a:rPr>
              <a:t>de</a:t>
            </a:r>
            <a:r>
              <a:rPr sz="1400" spc="-16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trabajo.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74457" y="2599182"/>
            <a:ext cx="1669541" cy="1892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25411" y="1524000"/>
            <a:ext cx="970788" cy="1004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919721" y="4268723"/>
            <a:ext cx="1767077" cy="20032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63</a:t>
            </a:fld>
            <a:endParaRPr spc="-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34988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55" dirty="0">
                <a:solidFill>
                  <a:srgbClr val="FFFFFF"/>
                </a:solidFill>
                <a:latin typeface="Arial"/>
                <a:cs typeface="Arial"/>
              </a:rPr>
              <a:t>BPM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800" i="1" spc="-65" dirty="0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sz="1800" i="1" spc="-70" dirty="0">
                <a:solidFill>
                  <a:srgbClr val="FFFFFF"/>
                </a:solidFill>
                <a:latin typeface="Trebuchet MS"/>
                <a:cs typeface="Trebuchet MS"/>
              </a:rPr>
              <a:t>Process</a:t>
            </a:r>
            <a:r>
              <a:rPr sz="1800" i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i="1" spc="-45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081786"/>
            <a:ext cx="27717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10" dirty="0">
                <a:latin typeface="Trebuchet MS"/>
                <a:cs typeface="Trebuchet MS"/>
              </a:rPr>
              <a:t>Etapas </a:t>
            </a:r>
            <a:r>
              <a:rPr sz="2200" b="1" spc="-120" dirty="0">
                <a:latin typeface="Trebuchet MS"/>
                <a:cs typeface="Trebuchet MS"/>
              </a:rPr>
              <a:t>del </a:t>
            </a:r>
            <a:r>
              <a:rPr sz="2200" b="1" spc="-145" dirty="0">
                <a:latin typeface="Trebuchet MS"/>
                <a:cs typeface="Trebuchet MS"/>
              </a:rPr>
              <a:t>ciclo 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r>
              <a:rPr sz="2200" b="1" spc="-345" dirty="0">
                <a:latin typeface="Trebuchet MS"/>
                <a:cs typeface="Trebuchet MS"/>
              </a:rPr>
              <a:t> </a:t>
            </a:r>
            <a:r>
              <a:rPr sz="2200" b="1" spc="30" dirty="0">
                <a:latin typeface="Trebuchet MS"/>
                <a:cs typeface="Trebuchet MS"/>
              </a:rPr>
              <a:t>BPM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2930" y="1685738"/>
            <a:ext cx="8016597" cy="4674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lang="es-AR" b="1" spc="-10" dirty="0">
                <a:latin typeface="Arial"/>
                <a:cs typeface="Arial"/>
              </a:rPr>
              <a:t> -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r>
              <a:rPr spc="-30" dirty="0"/>
              <a:t>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64</a:t>
            </a:fld>
            <a:endParaRPr spc="-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6258" y="193801"/>
            <a:ext cx="34988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55" dirty="0">
                <a:solidFill>
                  <a:srgbClr val="FFFFFF"/>
                </a:solidFill>
                <a:latin typeface="Arial"/>
                <a:cs typeface="Arial"/>
              </a:rPr>
              <a:t>BPM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800" i="1" spc="-65" dirty="0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sz="1800" i="1" spc="-70" dirty="0">
                <a:solidFill>
                  <a:srgbClr val="FFFFFF"/>
                </a:solidFill>
                <a:latin typeface="Trebuchet MS"/>
                <a:cs typeface="Trebuchet MS"/>
              </a:rPr>
              <a:t>Process</a:t>
            </a:r>
            <a:r>
              <a:rPr sz="1800" i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i="1" spc="-45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081786"/>
            <a:ext cx="373316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75" dirty="0">
                <a:latin typeface="Trebuchet MS"/>
                <a:cs typeface="Trebuchet MS"/>
              </a:rPr>
              <a:t>BPD </a:t>
            </a:r>
            <a:r>
              <a:rPr sz="2200" b="1" spc="-105" dirty="0">
                <a:latin typeface="Trebuchet MS"/>
                <a:cs typeface="Trebuchet MS"/>
              </a:rPr>
              <a:t>(Business </a:t>
            </a:r>
            <a:r>
              <a:rPr sz="2200" b="1" spc="-125" dirty="0">
                <a:latin typeface="Trebuchet MS"/>
                <a:cs typeface="Trebuchet MS"/>
              </a:rPr>
              <a:t>Process</a:t>
            </a:r>
            <a:r>
              <a:rPr sz="2200" b="1" spc="-355" dirty="0">
                <a:latin typeface="Trebuchet MS"/>
                <a:cs typeface="Trebuchet MS"/>
              </a:rPr>
              <a:t> </a:t>
            </a:r>
            <a:r>
              <a:rPr sz="2200" b="1" spc="-100" dirty="0">
                <a:latin typeface="Trebuchet MS"/>
                <a:cs typeface="Trebuchet MS"/>
              </a:rPr>
              <a:t>Diagram)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5399" y="1597992"/>
            <a:ext cx="8305540" cy="46193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65</a:t>
            </a:fld>
            <a:endParaRPr spc="-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34988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0" dirty="0"/>
              <a:t>Control </a:t>
            </a:r>
            <a:r>
              <a:rPr spc="-100" dirty="0"/>
              <a:t>Interno</a:t>
            </a:r>
            <a:r>
              <a:rPr spc="-305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55" dirty="0">
                <a:latin typeface="Arial"/>
                <a:cs typeface="Arial"/>
              </a:rPr>
              <a:t>BPM </a:t>
            </a:r>
            <a:r>
              <a:rPr sz="1800" b="0" spc="-65" dirty="0">
                <a:latin typeface="Arial"/>
                <a:cs typeface="Arial"/>
              </a:rPr>
              <a:t>(</a:t>
            </a:r>
            <a:r>
              <a:rPr sz="1800" b="0" i="1" spc="-65" dirty="0">
                <a:latin typeface="Trebuchet MS"/>
                <a:cs typeface="Trebuchet MS"/>
              </a:rPr>
              <a:t>Business </a:t>
            </a:r>
            <a:r>
              <a:rPr sz="1800" b="0" i="1" spc="-70" dirty="0">
                <a:latin typeface="Trebuchet MS"/>
                <a:cs typeface="Trebuchet MS"/>
              </a:rPr>
              <a:t>Process</a:t>
            </a:r>
            <a:r>
              <a:rPr sz="1800" b="0" i="1" spc="-175" dirty="0">
                <a:latin typeface="Trebuchet MS"/>
                <a:cs typeface="Trebuchet MS"/>
              </a:rPr>
              <a:t> </a:t>
            </a:r>
            <a:r>
              <a:rPr sz="1800" b="0" i="1" spc="-45" dirty="0">
                <a:latin typeface="Trebuchet MS"/>
                <a:cs typeface="Trebuchet MS"/>
              </a:rPr>
              <a:t>Management</a:t>
            </a:r>
            <a:r>
              <a:rPr sz="1800" b="0" spc="-45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49017" y="1219516"/>
            <a:ext cx="5664163" cy="50469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0" y="968883"/>
            <a:ext cx="913638" cy="6742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66</a:t>
            </a:fld>
            <a:endParaRPr spc="-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349885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10" dirty="0">
                <a:solidFill>
                  <a:srgbClr val="FFFFFF"/>
                </a:solidFill>
                <a:latin typeface="Trebuchet MS"/>
                <a:cs typeface="Trebuchet MS"/>
              </a:rPr>
              <a:t>Control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Interno</a:t>
            </a:r>
            <a:r>
              <a:rPr sz="2000" b="1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55" dirty="0">
                <a:solidFill>
                  <a:srgbClr val="FFFFFF"/>
                </a:solidFill>
                <a:latin typeface="Arial"/>
                <a:cs typeface="Arial"/>
              </a:rPr>
              <a:t>BPM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800" i="1" spc="-65" dirty="0">
                <a:solidFill>
                  <a:srgbClr val="FFFFFF"/>
                </a:solidFill>
                <a:latin typeface="Trebuchet MS"/>
                <a:cs typeface="Trebuchet MS"/>
              </a:rPr>
              <a:t>Business </a:t>
            </a:r>
            <a:r>
              <a:rPr sz="1800" i="1" spc="-70" dirty="0">
                <a:solidFill>
                  <a:srgbClr val="FFFFFF"/>
                </a:solidFill>
                <a:latin typeface="Trebuchet MS"/>
                <a:cs typeface="Trebuchet MS"/>
              </a:rPr>
              <a:t>Process</a:t>
            </a:r>
            <a:r>
              <a:rPr sz="1800" i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i="1" spc="-45" dirty="0">
                <a:solidFill>
                  <a:srgbClr val="FFFFFF"/>
                </a:solidFill>
                <a:latin typeface="Trebuchet MS"/>
                <a:cs typeface="Trebuchet MS"/>
              </a:rPr>
              <a:t>Management</a:t>
            </a:r>
            <a:r>
              <a:rPr sz="1800" spc="-4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081786"/>
            <a:ext cx="246888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125" dirty="0">
                <a:latin typeface="Trebuchet MS"/>
                <a:cs typeface="Trebuchet MS"/>
              </a:rPr>
              <a:t>Tipos </a:t>
            </a:r>
            <a:r>
              <a:rPr sz="2200" b="1" spc="-130" dirty="0">
                <a:latin typeface="Trebuchet MS"/>
                <a:cs typeface="Trebuchet MS"/>
              </a:rPr>
              <a:t>de </a:t>
            </a:r>
            <a:r>
              <a:rPr sz="2200" b="1" spc="30" dirty="0">
                <a:latin typeface="Trebuchet MS"/>
                <a:cs typeface="Trebuchet MS"/>
              </a:rPr>
              <a:t>BPM</a:t>
            </a:r>
            <a:r>
              <a:rPr sz="2200" b="1" spc="-300" dirty="0">
                <a:latin typeface="Trebuchet MS"/>
                <a:cs typeface="Trebuchet MS"/>
              </a:rPr>
              <a:t> </a:t>
            </a:r>
            <a:r>
              <a:rPr sz="2200" b="1" spc="-140" dirty="0">
                <a:latin typeface="Trebuchet MS"/>
                <a:cs typeface="Trebuchet MS"/>
              </a:rPr>
              <a:t>(Cont.)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5270" y="1510283"/>
            <a:ext cx="8615934" cy="4960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67</a:t>
            </a:fld>
            <a:endParaRPr spc="-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62125" y="919733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125" dirty="0">
                <a:solidFill>
                  <a:srgbClr val="00338D"/>
                </a:solidFill>
              </a:rPr>
              <a:t>Síntesis</a:t>
            </a:r>
            <a:endParaRPr sz="2600"/>
          </a:p>
        </p:txBody>
      </p:sp>
      <p:sp>
        <p:nvSpPr>
          <p:cNvPr id="5" name="object 5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19271" y="1247647"/>
            <a:ext cx="5041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00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6342" y="193801"/>
            <a:ext cx="8641080" cy="6033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30" dirty="0">
                <a:latin typeface="Arial"/>
                <a:cs typeface="Arial"/>
              </a:rPr>
              <a:t>analizamos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60" dirty="0">
                <a:latin typeface="Arial"/>
                <a:cs typeface="Arial"/>
              </a:rPr>
              <a:t>procedimiento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75" dirty="0">
                <a:latin typeface="Arial"/>
                <a:cs typeface="Arial"/>
              </a:rPr>
              <a:t>controles </a:t>
            </a:r>
            <a:r>
              <a:rPr sz="2400" spc="-105" dirty="0">
                <a:latin typeface="Arial"/>
                <a:cs typeface="Arial"/>
              </a:rPr>
              <a:t>de  </a:t>
            </a:r>
            <a:r>
              <a:rPr sz="2400" spc="-135" dirty="0">
                <a:latin typeface="Arial"/>
                <a:cs typeface="Arial"/>
              </a:rPr>
              <a:t>Ventas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55" dirty="0">
                <a:latin typeface="Arial"/>
                <a:cs typeface="Arial"/>
              </a:rPr>
              <a:t>Cuentas </a:t>
            </a:r>
            <a:r>
              <a:rPr sz="2400" spc="-40" dirty="0">
                <a:latin typeface="Arial"/>
                <a:cs typeface="Arial"/>
              </a:rPr>
              <a:t>por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Cobrar;</a:t>
            </a:r>
            <a:endParaRPr sz="240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30" dirty="0">
                <a:latin typeface="Arial"/>
                <a:cs typeface="Arial"/>
              </a:rPr>
              <a:t>analizamos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60" dirty="0">
                <a:latin typeface="Arial"/>
                <a:cs typeface="Arial"/>
              </a:rPr>
              <a:t>procedimiento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75" dirty="0">
                <a:latin typeface="Arial"/>
                <a:cs typeface="Arial"/>
              </a:rPr>
              <a:t>controles </a:t>
            </a:r>
            <a:r>
              <a:rPr sz="2400" spc="-105" dirty="0">
                <a:latin typeface="Arial"/>
                <a:cs typeface="Arial"/>
              </a:rPr>
              <a:t>de  </a:t>
            </a:r>
            <a:r>
              <a:rPr sz="2400" spc="-160" dirty="0">
                <a:latin typeface="Arial"/>
                <a:cs typeface="Arial"/>
              </a:rPr>
              <a:t>Cobranzas;</a:t>
            </a:r>
            <a:endParaRPr sz="2400">
              <a:latin typeface="Arial"/>
              <a:cs typeface="Arial"/>
            </a:endParaRPr>
          </a:p>
          <a:p>
            <a:pPr marL="279400" marR="635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90" dirty="0">
                <a:latin typeface="Arial"/>
                <a:cs typeface="Arial"/>
              </a:rPr>
              <a:t>Definimos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85" dirty="0">
                <a:latin typeface="Arial"/>
                <a:cs typeface="Arial"/>
              </a:rPr>
              <a:t>concepto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90" dirty="0">
                <a:latin typeface="Arial"/>
                <a:cs typeface="Arial"/>
              </a:rPr>
              <a:t>significado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110" dirty="0">
                <a:latin typeface="Arial"/>
                <a:cs typeface="Arial"/>
              </a:rPr>
              <a:t>Gestión de </a:t>
            </a:r>
            <a:r>
              <a:rPr sz="2400" spc="-195" dirty="0">
                <a:latin typeface="Arial"/>
                <a:cs typeface="Arial"/>
              </a:rPr>
              <a:t>Riesgos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70" dirty="0">
                <a:latin typeface="Arial"/>
                <a:cs typeface="Arial"/>
              </a:rPr>
              <a:t>el  </a:t>
            </a:r>
            <a:r>
              <a:rPr sz="2400" spc="-75" dirty="0">
                <a:latin typeface="Arial"/>
                <a:cs typeface="Arial"/>
              </a:rPr>
              <a:t>Control </a:t>
            </a:r>
            <a:r>
              <a:rPr sz="2400" spc="-40" dirty="0">
                <a:latin typeface="Arial"/>
                <a:cs typeface="Arial"/>
              </a:rPr>
              <a:t>Interno</a:t>
            </a:r>
            <a:r>
              <a:rPr sz="2400" spc="58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14" dirty="0">
                <a:latin typeface="Arial"/>
                <a:cs typeface="Arial"/>
              </a:rPr>
              <a:t>organizaciones,  </a:t>
            </a:r>
            <a:r>
              <a:rPr sz="2400" spc="-90" dirty="0">
                <a:latin typeface="Arial"/>
                <a:cs typeface="Arial"/>
              </a:rPr>
              <a:t>estableciendo  </a:t>
            </a:r>
            <a:r>
              <a:rPr sz="2400" spc="-114" dirty="0">
                <a:latin typeface="Arial"/>
                <a:cs typeface="Arial"/>
              </a:rPr>
              <a:t>pautas  mínimas</a:t>
            </a:r>
            <a:r>
              <a:rPr sz="2400" spc="434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40" dirty="0">
                <a:latin typeface="Arial"/>
                <a:cs typeface="Arial"/>
              </a:rPr>
              <a:t>tener 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90" dirty="0">
                <a:latin typeface="Arial"/>
                <a:cs typeface="Arial"/>
              </a:rPr>
              <a:t>cuenta  </a:t>
            </a:r>
            <a:r>
              <a:rPr sz="2400" spc="-110" dirty="0">
                <a:latin typeface="Arial"/>
                <a:cs typeface="Arial"/>
              </a:rPr>
              <a:t>para </a:t>
            </a:r>
            <a:r>
              <a:rPr sz="2400" spc="-70" dirty="0">
                <a:latin typeface="Arial"/>
                <a:cs typeface="Arial"/>
              </a:rPr>
              <a:t>todos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75" dirty="0">
                <a:latin typeface="Arial"/>
                <a:cs typeface="Arial"/>
              </a:rPr>
              <a:t>procedimientos  </a:t>
            </a:r>
            <a:r>
              <a:rPr sz="2400" spc="-120" dirty="0">
                <a:latin typeface="Arial"/>
                <a:cs typeface="Arial"/>
              </a:rPr>
              <a:t>analizados;</a:t>
            </a:r>
            <a:endParaRPr sz="2400">
              <a:latin typeface="Arial"/>
              <a:cs typeface="Arial"/>
            </a:endParaRPr>
          </a:p>
          <a:p>
            <a:pPr marL="279400" marR="6985" indent="-26670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80" dirty="0">
                <a:latin typeface="Arial"/>
                <a:cs typeface="Arial"/>
              </a:rPr>
              <a:t>metodología </a:t>
            </a:r>
            <a:r>
              <a:rPr sz="2400" spc="-100" dirty="0">
                <a:latin typeface="Arial"/>
                <a:cs typeface="Arial"/>
              </a:rPr>
              <a:t>sistemática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0" dirty="0">
                <a:latin typeface="Arial"/>
                <a:cs typeface="Arial"/>
              </a:rPr>
              <a:t>Análisis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45" dirty="0">
                <a:latin typeface="Arial"/>
                <a:cs typeface="Arial"/>
              </a:rPr>
              <a:t>Re-diseño </a:t>
            </a:r>
            <a:r>
              <a:rPr sz="2400" spc="-120" dirty="0">
                <a:latin typeface="Arial"/>
                <a:cs typeface="Arial"/>
              </a:rPr>
              <a:t>de  </a:t>
            </a:r>
            <a:r>
              <a:rPr sz="2400" spc="-125" dirty="0">
                <a:latin typeface="Arial"/>
                <a:cs typeface="Arial"/>
              </a:rPr>
              <a:t>procesos;</a:t>
            </a:r>
            <a:endParaRPr sz="2400">
              <a:latin typeface="Arial"/>
              <a:cs typeface="Arial"/>
            </a:endParaRPr>
          </a:p>
          <a:p>
            <a:pPr marL="279400" marR="5715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30" dirty="0">
                <a:latin typeface="Arial"/>
                <a:cs typeface="Arial"/>
              </a:rPr>
              <a:t>Conceptualizamos </a:t>
            </a:r>
            <a:r>
              <a:rPr sz="2400" spc="-100" dirty="0">
                <a:latin typeface="Arial"/>
                <a:cs typeface="Arial"/>
              </a:rPr>
              <a:t>qué </a:t>
            </a:r>
            <a:r>
              <a:rPr sz="2400" spc="-95" dirty="0">
                <a:latin typeface="Arial"/>
                <a:cs typeface="Arial"/>
              </a:rPr>
              <a:t>significa </a:t>
            </a:r>
            <a:r>
              <a:rPr sz="2400" spc="-70" dirty="0">
                <a:latin typeface="Arial"/>
                <a:cs typeface="Arial"/>
              </a:rPr>
              <a:t>“Benchmarking”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75" dirty="0">
                <a:latin typeface="Arial"/>
                <a:cs typeface="Arial"/>
              </a:rPr>
              <a:t>su </a:t>
            </a:r>
            <a:r>
              <a:rPr sz="2400" spc="-65" dirty="0">
                <a:latin typeface="Arial"/>
                <a:cs typeface="Arial"/>
              </a:rPr>
              <a:t>impacto </a:t>
            </a:r>
            <a:r>
              <a:rPr sz="2400" spc="-110" dirty="0">
                <a:latin typeface="Arial"/>
                <a:cs typeface="Arial"/>
              </a:rPr>
              <a:t>en </a:t>
            </a:r>
            <a:r>
              <a:rPr sz="2400" spc="-85" dirty="0">
                <a:latin typeface="Arial"/>
                <a:cs typeface="Arial"/>
              </a:rPr>
              <a:t>la  gestión.</a:t>
            </a:r>
            <a:endParaRPr sz="2400">
              <a:latin typeface="Arial"/>
              <a:cs typeface="Arial"/>
            </a:endParaRPr>
          </a:p>
          <a:p>
            <a:pPr marL="279400" marR="635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114" dirty="0">
                <a:latin typeface="Arial"/>
                <a:cs typeface="Arial"/>
              </a:rPr>
              <a:t>y</a:t>
            </a:r>
            <a:r>
              <a:rPr sz="2400" spc="434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analizamos </a:t>
            </a:r>
            <a:r>
              <a:rPr sz="2400" spc="-110" dirty="0">
                <a:latin typeface="Arial"/>
                <a:cs typeface="Arial"/>
              </a:rPr>
              <a:t>sobre </a:t>
            </a:r>
            <a:r>
              <a:rPr sz="2400" spc="-105" dirty="0">
                <a:latin typeface="Arial"/>
                <a:cs typeface="Arial"/>
              </a:rPr>
              <a:t>conceptos </a:t>
            </a:r>
            <a:r>
              <a:rPr sz="2400" spc="-85" dirty="0">
                <a:latin typeface="Arial"/>
                <a:cs typeface="Arial"/>
              </a:rPr>
              <a:t>fundamentales </a:t>
            </a:r>
            <a:r>
              <a:rPr sz="2400" spc="-114" dirty="0">
                <a:latin typeface="Arial"/>
                <a:cs typeface="Arial"/>
              </a:rPr>
              <a:t>de  soluciones </a:t>
            </a:r>
            <a:r>
              <a:rPr sz="2400" spc="-105" dirty="0">
                <a:latin typeface="Arial"/>
                <a:cs typeface="Arial"/>
              </a:rPr>
              <a:t>tecnológicas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04" dirty="0">
                <a:latin typeface="Arial"/>
                <a:cs typeface="Arial"/>
              </a:rPr>
              <a:t>BPM </a:t>
            </a:r>
            <a:r>
              <a:rPr sz="2400" spc="-85" dirty="0">
                <a:latin typeface="Arial"/>
                <a:cs typeface="Arial"/>
              </a:rPr>
              <a:t>(</a:t>
            </a:r>
            <a:r>
              <a:rPr sz="2400" i="1" spc="-85" dirty="0">
                <a:latin typeface="Trebuchet MS"/>
                <a:cs typeface="Trebuchet MS"/>
              </a:rPr>
              <a:t>Business </a:t>
            </a:r>
            <a:r>
              <a:rPr sz="2400" i="1" spc="-90" dirty="0">
                <a:latin typeface="Trebuchet MS"/>
                <a:cs typeface="Trebuchet MS"/>
              </a:rPr>
              <a:t>Process</a:t>
            </a:r>
            <a:r>
              <a:rPr sz="2400" i="1" spc="-260" dirty="0">
                <a:latin typeface="Trebuchet MS"/>
                <a:cs typeface="Trebuchet MS"/>
              </a:rPr>
              <a:t> </a:t>
            </a:r>
            <a:r>
              <a:rPr sz="2400" i="1" spc="-60" dirty="0">
                <a:latin typeface="Trebuchet MS"/>
                <a:cs typeface="Trebuchet MS"/>
              </a:rPr>
              <a:t>Management</a:t>
            </a:r>
            <a:r>
              <a:rPr sz="2400" spc="-60" dirty="0">
                <a:latin typeface="Arial"/>
                <a:cs typeface="Arial"/>
              </a:rPr>
              <a:t>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69</a:t>
            </a:fld>
            <a:endParaRPr spc="-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6342" y="193801"/>
            <a:ext cx="8038465" cy="6139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r>
              <a:rPr sz="20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295" dirty="0">
                <a:latin typeface="Arial"/>
                <a:cs typeface="Arial"/>
              </a:rPr>
              <a:t>En </a:t>
            </a:r>
            <a:r>
              <a:rPr sz="2800" spc="-75" dirty="0">
                <a:latin typeface="Arial"/>
                <a:cs typeface="Arial"/>
              </a:rPr>
              <a:t>el </a:t>
            </a:r>
            <a:r>
              <a:rPr sz="2800" spc="-50" dirty="0">
                <a:latin typeface="Arial"/>
                <a:cs typeface="Arial"/>
              </a:rPr>
              <a:t>circuito </a:t>
            </a:r>
            <a:r>
              <a:rPr sz="2800" spc="-130" dirty="0">
                <a:latin typeface="Arial"/>
                <a:cs typeface="Arial"/>
              </a:rPr>
              <a:t>de </a:t>
            </a:r>
            <a:r>
              <a:rPr sz="2800" spc="-155" dirty="0">
                <a:latin typeface="Arial"/>
                <a:cs typeface="Arial"/>
              </a:rPr>
              <a:t>Ventas </a:t>
            </a:r>
            <a:r>
              <a:rPr sz="2800" spc="-135" dirty="0">
                <a:latin typeface="Arial"/>
                <a:cs typeface="Arial"/>
              </a:rPr>
              <a:t>y </a:t>
            </a:r>
            <a:r>
              <a:rPr sz="2800" spc="-180" dirty="0">
                <a:latin typeface="Arial"/>
                <a:cs typeface="Arial"/>
              </a:rPr>
              <a:t>Cuentas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160" dirty="0">
                <a:latin typeface="Arial"/>
                <a:cs typeface="Arial"/>
              </a:rPr>
              <a:t> </a:t>
            </a:r>
            <a:r>
              <a:rPr sz="2800" spc="-245" dirty="0">
                <a:latin typeface="Arial"/>
                <a:cs typeface="Arial"/>
              </a:rPr>
              <a:t>Cobrar…</a:t>
            </a:r>
            <a:endParaRPr sz="28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 </a:t>
            </a:r>
            <a:r>
              <a:rPr sz="2400" spc="-65" dirty="0">
                <a:latin typeface="Arial"/>
                <a:cs typeface="Arial"/>
              </a:rPr>
              <a:t>el departamento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contaduría?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155" dirty="0">
                <a:latin typeface="Arial"/>
                <a:cs typeface="Arial"/>
              </a:rPr>
              <a:t>¿Quién </a:t>
            </a:r>
            <a:r>
              <a:rPr sz="2400" spc="-85" dirty="0">
                <a:latin typeface="Arial"/>
                <a:cs typeface="Arial"/>
              </a:rPr>
              <a:t>recibe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35" dirty="0">
                <a:latin typeface="Arial"/>
                <a:cs typeface="Arial"/>
              </a:rPr>
              <a:t>firma </a:t>
            </a:r>
            <a:r>
              <a:rPr sz="2400" spc="-65" dirty="0">
                <a:latin typeface="Arial"/>
                <a:cs typeface="Arial"/>
              </a:rPr>
              <a:t>el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remito?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 </a:t>
            </a:r>
            <a:r>
              <a:rPr sz="2400" spc="-65" dirty="0">
                <a:latin typeface="Arial"/>
                <a:cs typeface="Arial"/>
              </a:rPr>
              <a:t>el</a:t>
            </a:r>
            <a:r>
              <a:rPr sz="2400" spc="-100" dirty="0">
                <a:latin typeface="Arial"/>
                <a:cs typeface="Arial"/>
              </a:rPr>
              <a:t> vendedor?</a:t>
            </a:r>
            <a:endParaRPr sz="24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 </a:t>
            </a:r>
            <a:r>
              <a:rPr sz="2400" spc="-90" dirty="0">
                <a:latin typeface="Arial"/>
                <a:cs typeface="Arial"/>
              </a:rPr>
              <a:t>expedición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65" dirty="0">
                <a:latin typeface="Arial"/>
                <a:cs typeface="Arial"/>
              </a:rPr>
              <a:t>el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repartidor?</a:t>
            </a:r>
            <a:endParaRPr sz="2400">
              <a:latin typeface="Arial"/>
              <a:cs typeface="Arial"/>
            </a:endParaRPr>
          </a:p>
          <a:p>
            <a:pPr marL="736600" marR="508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30" dirty="0">
                <a:latin typeface="Arial"/>
                <a:cs typeface="Arial"/>
              </a:rPr>
              <a:t>control </a:t>
            </a:r>
            <a:r>
              <a:rPr sz="2400" spc="-100" dirty="0">
                <a:latin typeface="Arial"/>
                <a:cs typeface="Arial"/>
              </a:rPr>
              <a:t>realiza </a:t>
            </a:r>
            <a:r>
              <a:rPr sz="2400" spc="-70" dirty="0">
                <a:latin typeface="Arial"/>
                <a:cs typeface="Arial"/>
              </a:rPr>
              <a:t>administración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5" dirty="0">
                <a:latin typeface="Arial"/>
                <a:cs typeface="Arial"/>
              </a:rPr>
              <a:t>ventas? </a:t>
            </a:r>
            <a:r>
              <a:rPr sz="2400" spc="-195" dirty="0">
                <a:latin typeface="Arial"/>
                <a:cs typeface="Arial"/>
              </a:rPr>
              <a:t>¿Por </a:t>
            </a:r>
            <a:r>
              <a:rPr sz="2400" spc="-100" dirty="0">
                <a:latin typeface="Arial"/>
                <a:cs typeface="Arial"/>
              </a:rPr>
              <a:t>qué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lo  </a:t>
            </a:r>
            <a:r>
              <a:rPr sz="2400" spc="-170" dirty="0">
                <a:latin typeface="Arial"/>
                <a:cs typeface="Arial"/>
              </a:rPr>
              <a:t>hace?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Wingdings"/>
              <a:buChar char=""/>
            </a:pPr>
            <a:endParaRPr sz="2350">
              <a:latin typeface="Times New Roman"/>
              <a:cs typeface="Times New Roman"/>
            </a:endParaRPr>
          </a:p>
          <a:p>
            <a:pPr marL="313690" indent="-266700">
              <a:lnSpc>
                <a:spcPct val="100000"/>
              </a:lnSpc>
              <a:buFont typeface="Wingdings"/>
              <a:buChar char=""/>
              <a:tabLst>
                <a:tab pos="314325" algn="l"/>
              </a:tabLst>
            </a:pPr>
            <a:r>
              <a:rPr sz="2800" spc="-295" dirty="0">
                <a:latin typeface="Arial"/>
                <a:cs typeface="Arial"/>
              </a:rPr>
              <a:t>En </a:t>
            </a:r>
            <a:r>
              <a:rPr sz="2800" spc="-75" dirty="0">
                <a:latin typeface="Arial"/>
                <a:cs typeface="Arial"/>
              </a:rPr>
              <a:t>el </a:t>
            </a:r>
            <a:r>
              <a:rPr sz="2800" spc="-50" dirty="0">
                <a:latin typeface="Arial"/>
                <a:cs typeface="Arial"/>
              </a:rPr>
              <a:t>circuito </a:t>
            </a:r>
            <a:r>
              <a:rPr sz="2800" spc="-130" dirty="0">
                <a:latin typeface="Arial"/>
                <a:cs typeface="Arial"/>
              </a:rPr>
              <a:t>de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204" dirty="0">
                <a:latin typeface="Arial"/>
                <a:cs typeface="Arial"/>
              </a:rPr>
              <a:t>Cobranzas</a:t>
            </a:r>
            <a:endParaRPr sz="2800">
              <a:latin typeface="Arial"/>
              <a:cs typeface="Arial"/>
            </a:endParaRPr>
          </a:p>
          <a:p>
            <a:pPr marL="77089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71525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 </a:t>
            </a:r>
            <a:r>
              <a:rPr sz="2400" spc="-65" dirty="0">
                <a:latin typeface="Arial"/>
                <a:cs typeface="Arial"/>
              </a:rPr>
              <a:t>el departamento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contaduría?</a:t>
            </a:r>
            <a:endParaRPr sz="2400">
              <a:latin typeface="Arial"/>
              <a:cs typeface="Arial"/>
            </a:endParaRPr>
          </a:p>
          <a:p>
            <a:pPr marL="770890" lvl="1" indent="-266700">
              <a:lnSpc>
                <a:spcPct val="100000"/>
              </a:lnSpc>
              <a:buFont typeface="Wingdings"/>
              <a:buChar char=""/>
              <a:tabLst>
                <a:tab pos="771525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 </a:t>
            </a:r>
            <a:r>
              <a:rPr sz="2400" spc="-65" dirty="0">
                <a:latin typeface="Arial"/>
                <a:cs typeface="Arial"/>
              </a:rPr>
              <a:t>el departamento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tesorería?</a:t>
            </a:r>
            <a:endParaRPr sz="2400">
              <a:latin typeface="Arial"/>
              <a:cs typeface="Arial"/>
            </a:endParaRPr>
          </a:p>
          <a:p>
            <a:pPr marL="770890" lvl="1" indent="-266700">
              <a:lnSpc>
                <a:spcPct val="100000"/>
              </a:lnSpc>
              <a:buFont typeface="Wingdings"/>
              <a:buChar char=""/>
              <a:tabLst>
                <a:tab pos="771525" algn="l"/>
              </a:tabLst>
            </a:pPr>
            <a:r>
              <a:rPr sz="2400" spc="-210" dirty="0">
                <a:latin typeface="Arial"/>
                <a:cs typeface="Arial"/>
              </a:rPr>
              <a:t>¿Qué </a:t>
            </a:r>
            <a:r>
              <a:rPr sz="2400" spc="-100" dirty="0">
                <a:latin typeface="Arial"/>
                <a:cs typeface="Arial"/>
              </a:rPr>
              <a:t>tareas realiza </a:t>
            </a:r>
            <a:r>
              <a:rPr sz="2400" spc="-65" dirty="0">
                <a:latin typeface="Arial"/>
                <a:cs typeface="Arial"/>
              </a:rPr>
              <a:t>el departamento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cobranzas?</a:t>
            </a:r>
            <a:endParaRPr sz="2400">
              <a:latin typeface="Arial"/>
              <a:cs typeface="Arial"/>
            </a:endParaRPr>
          </a:p>
          <a:p>
            <a:pPr marL="770890" lvl="1" indent="-266700">
              <a:lnSpc>
                <a:spcPct val="100000"/>
              </a:lnSpc>
              <a:buFont typeface="Wingdings"/>
              <a:buChar char=""/>
              <a:tabLst>
                <a:tab pos="771525" algn="l"/>
              </a:tabLst>
            </a:pPr>
            <a:r>
              <a:rPr sz="2400" spc="-155" dirty="0">
                <a:latin typeface="Arial"/>
                <a:cs typeface="Arial"/>
              </a:rPr>
              <a:t>¿Quién </a:t>
            </a:r>
            <a:r>
              <a:rPr sz="2400" spc="-45" dirty="0">
                <a:latin typeface="Arial"/>
                <a:cs typeface="Arial"/>
              </a:rPr>
              <a:t>emite </a:t>
            </a:r>
            <a:r>
              <a:rPr sz="2400" spc="-65" dirty="0">
                <a:latin typeface="Arial"/>
                <a:cs typeface="Arial"/>
              </a:rPr>
              <a:t>el </a:t>
            </a:r>
            <a:r>
              <a:rPr sz="2400" spc="-75" dirty="0">
                <a:latin typeface="Arial"/>
                <a:cs typeface="Arial"/>
              </a:rPr>
              <a:t>recibo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oficial?</a:t>
            </a:r>
            <a:endParaRPr sz="2400">
              <a:latin typeface="Arial"/>
              <a:cs typeface="Arial"/>
            </a:endParaRPr>
          </a:p>
          <a:p>
            <a:pPr marL="770890" lvl="1" indent="-266700">
              <a:lnSpc>
                <a:spcPct val="100000"/>
              </a:lnSpc>
              <a:buFont typeface="Wingdings"/>
              <a:buChar char=""/>
              <a:tabLst>
                <a:tab pos="771525" algn="l"/>
              </a:tabLst>
            </a:pPr>
            <a:r>
              <a:rPr sz="2400" spc="-155" dirty="0">
                <a:latin typeface="Arial"/>
                <a:cs typeface="Arial"/>
              </a:rPr>
              <a:t>¿Quién </a:t>
            </a:r>
            <a:r>
              <a:rPr sz="2400" spc="-45" dirty="0">
                <a:latin typeface="Arial"/>
                <a:cs typeface="Arial"/>
              </a:rPr>
              <a:t>emite </a:t>
            </a:r>
            <a:r>
              <a:rPr sz="2400" spc="-85" dirty="0">
                <a:latin typeface="Arial"/>
                <a:cs typeface="Arial"/>
              </a:rPr>
              <a:t>la </a:t>
            </a:r>
            <a:r>
              <a:rPr sz="2400" spc="-55" dirty="0">
                <a:latin typeface="Arial"/>
                <a:cs typeface="Arial"/>
              </a:rPr>
              <a:t>partida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31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ingresos?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70</a:t>
            </a:fld>
            <a:endParaRPr spc="-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6342" y="193801"/>
            <a:ext cx="8641715" cy="5847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r>
              <a:rPr sz="2000" b="1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145" dirty="0">
                <a:latin typeface="Arial"/>
                <a:cs typeface="Arial"/>
              </a:rPr>
              <a:t>Normas generales </a:t>
            </a:r>
            <a:r>
              <a:rPr sz="2800" spc="-130" dirty="0">
                <a:latin typeface="Arial"/>
                <a:cs typeface="Arial"/>
              </a:rPr>
              <a:t>de </a:t>
            </a:r>
            <a:r>
              <a:rPr sz="2800" spc="-75" dirty="0">
                <a:latin typeface="Arial"/>
                <a:cs typeface="Arial"/>
              </a:rPr>
              <a:t>implantación </a:t>
            </a:r>
            <a:r>
              <a:rPr sz="2800" spc="-130" dirty="0">
                <a:latin typeface="Arial"/>
                <a:cs typeface="Arial"/>
              </a:rPr>
              <a:t>de </a:t>
            </a:r>
            <a:r>
              <a:rPr sz="2800" spc="-90" dirty="0">
                <a:latin typeface="Arial"/>
                <a:cs typeface="Arial"/>
              </a:rPr>
              <a:t>un </a:t>
            </a:r>
            <a:r>
              <a:rPr sz="2800" spc="-35" dirty="0">
                <a:latin typeface="Arial"/>
                <a:cs typeface="Arial"/>
              </a:rPr>
              <a:t>control</a:t>
            </a:r>
            <a:r>
              <a:rPr sz="2800" spc="-33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interno</a:t>
            </a:r>
            <a:endParaRPr sz="2800">
              <a:latin typeface="Arial"/>
              <a:cs typeface="Arial"/>
            </a:endParaRPr>
          </a:p>
          <a:p>
            <a:pPr marL="736600" lvl="1" indent="-26670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736600" algn="l"/>
              </a:tabLst>
            </a:pPr>
            <a:r>
              <a:rPr sz="2400" spc="-90" dirty="0">
                <a:latin typeface="Arial"/>
                <a:cs typeface="Arial"/>
              </a:rPr>
              <a:t>Nombre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80" dirty="0">
                <a:latin typeface="Arial"/>
                <a:cs typeface="Arial"/>
              </a:rPr>
              <a:t>explique </a:t>
            </a:r>
            <a:r>
              <a:rPr sz="2400" spc="-60" dirty="0">
                <a:latin typeface="Arial"/>
                <a:cs typeface="Arial"/>
              </a:rPr>
              <a:t>tres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45" dirty="0">
                <a:latin typeface="Arial"/>
                <a:cs typeface="Arial"/>
              </a:rPr>
              <a:t>las</a:t>
            </a:r>
            <a:r>
              <a:rPr sz="2400" spc="-31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normas</a:t>
            </a:r>
            <a:endParaRPr sz="2400">
              <a:latin typeface="Arial"/>
              <a:cs typeface="Arial"/>
            </a:endParaRPr>
          </a:p>
          <a:p>
            <a:pPr marL="736600" marR="33020" lvl="1" indent="-266700">
              <a:lnSpc>
                <a:spcPct val="100000"/>
              </a:lnSpc>
              <a:buFont typeface="Wingdings"/>
              <a:buChar char=""/>
              <a:tabLst>
                <a:tab pos="736600" algn="l"/>
              </a:tabLst>
            </a:pPr>
            <a:r>
              <a:rPr sz="2400" spc="-204" dirty="0">
                <a:latin typeface="Arial"/>
                <a:cs typeface="Arial"/>
              </a:rPr>
              <a:t>Dé </a:t>
            </a:r>
            <a:r>
              <a:rPr sz="2400" spc="-90" dirty="0">
                <a:latin typeface="Arial"/>
                <a:cs typeface="Arial"/>
              </a:rPr>
              <a:t>ejemplos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0" dirty="0">
                <a:latin typeface="Arial"/>
                <a:cs typeface="Arial"/>
              </a:rPr>
              <a:t>problemas que </a:t>
            </a:r>
            <a:r>
              <a:rPr sz="2400" spc="-105" dirty="0">
                <a:latin typeface="Arial"/>
                <a:cs typeface="Arial"/>
              </a:rPr>
              <a:t>pueden </a:t>
            </a:r>
            <a:r>
              <a:rPr sz="2400" spc="-125" dirty="0">
                <a:latin typeface="Arial"/>
                <a:cs typeface="Arial"/>
              </a:rPr>
              <a:t>suceder </a:t>
            </a:r>
            <a:r>
              <a:rPr sz="2400" spc="-40" dirty="0">
                <a:latin typeface="Arial"/>
                <a:cs typeface="Arial"/>
              </a:rPr>
              <a:t>por </a:t>
            </a:r>
            <a:r>
              <a:rPr sz="2400" spc="-75" dirty="0">
                <a:latin typeface="Arial"/>
                <a:cs typeface="Arial"/>
              </a:rPr>
              <a:t>no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tenerlas  </a:t>
            </a:r>
            <a:r>
              <a:rPr sz="2400" spc="-90" dirty="0">
                <a:latin typeface="Arial"/>
                <a:cs typeface="Arial"/>
              </a:rPr>
              <a:t>implementadas</a:t>
            </a:r>
            <a:endParaRPr sz="2400">
              <a:latin typeface="Arial"/>
              <a:cs typeface="Arial"/>
            </a:endParaRPr>
          </a:p>
          <a:p>
            <a:pPr marL="279400" marR="5715" indent="-266700">
              <a:lnSpc>
                <a:spcPts val="3360"/>
              </a:lnSpc>
              <a:spcBef>
                <a:spcPts val="90"/>
              </a:spcBef>
              <a:buFont typeface="Wingdings"/>
              <a:buChar char=""/>
              <a:tabLst>
                <a:tab pos="279400" algn="l"/>
                <a:tab pos="1710689" algn="l"/>
                <a:tab pos="2166620" algn="l"/>
                <a:tab pos="4197985" algn="l"/>
                <a:tab pos="6031865" algn="l"/>
                <a:tab pos="6599555" algn="l"/>
                <a:tab pos="7853045" algn="l"/>
                <a:tab pos="8217534" algn="l"/>
              </a:tabLst>
            </a:pPr>
            <a:r>
              <a:rPr sz="2800" spc="-170" dirty="0">
                <a:latin typeface="Arial"/>
                <a:cs typeface="Arial"/>
              </a:rPr>
              <a:t>Expl</a:t>
            </a:r>
            <a:r>
              <a:rPr sz="2800" spc="-90" dirty="0">
                <a:latin typeface="Arial"/>
                <a:cs typeface="Arial"/>
              </a:rPr>
              <a:t>i</a:t>
            </a:r>
            <a:r>
              <a:rPr sz="2800" spc="-120" dirty="0">
                <a:latin typeface="Arial"/>
                <a:cs typeface="Arial"/>
              </a:rPr>
              <a:t>qu</a:t>
            </a:r>
            <a:r>
              <a:rPr sz="2800" spc="-114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70" dirty="0">
                <a:latin typeface="Arial"/>
                <a:cs typeface="Arial"/>
              </a:rPr>
              <a:t>l</a:t>
            </a:r>
            <a:r>
              <a:rPr sz="2800" spc="-140" dirty="0">
                <a:latin typeface="Arial"/>
                <a:cs typeface="Arial"/>
              </a:rPr>
              <a:t>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55" dirty="0">
                <a:latin typeface="Arial"/>
                <a:cs typeface="Arial"/>
              </a:rPr>
              <a:t>m</a:t>
            </a:r>
            <a:r>
              <a:rPr sz="2800" spc="-120" dirty="0">
                <a:latin typeface="Arial"/>
                <a:cs typeface="Arial"/>
              </a:rPr>
              <a:t>e</a:t>
            </a:r>
            <a:r>
              <a:rPr sz="2800" spc="-25" dirty="0">
                <a:latin typeface="Arial"/>
                <a:cs typeface="Arial"/>
              </a:rPr>
              <a:t>todol</a:t>
            </a:r>
            <a:r>
              <a:rPr sz="2800" spc="-45" dirty="0">
                <a:latin typeface="Arial"/>
                <a:cs typeface="Arial"/>
              </a:rPr>
              <a:t>o</a:t>
            </a:r>
            <a:r>
              <a:rPr sz="2800" spc="-250" dirty="0">
                <a:latin typeface="Arial"/>
                <a:cs typeface="Arial"/>
              </a:rPr>
              <a:t>g</a:t>
            </a:r>
            <a:r>
              <a:rPr sz="2800" spc="-140" dirty="0">
                <a:latin typeface="Arial"/>
                <a:cs typeface="Arial"/>
              </a:rPr>
              <a:t>í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sist</a:t>
            </a:r>
            <a:r>
              <a:rPr sz="2800" spc="-170" dirty="0">
                <a:latin typeface="Arial"/>
                <a:cs typeface="Arial"/>
              </a:rPr>
              <a:t>e</a:t>
            </a:r>
            <a:r>
              <a:rPr sz="2800" spc="-190" dirty="0">
                <a:latin typeface="Arial"/>
                <a:cs typeface="Arial"/>
              </a:rPr>
              <a:t>m</a:t>
            </a:r>
            <a:r>
              <a:rPr sz="2800" spc="-140" dirty="0">
                <a:latin typeface="Arial"/>
                <a:cs typeface="Arial"/>
              </a:rPr>
              <a:t>á</a:t>
            </a:r>
            <a:r>
              <a:rPr sz="2800" spc="-65" dirty="0">
                <a:latin typeface="Arial"/>
                <a:cs typeface="Arial"/>
              </a:rPr>
              <a:t>tica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0" dirty="0">
                <a:latin typeface="Arial"/>
                <a:cs typeface="Arial"/>
              </a:rPr>
              <a:t>d</a:t>
            </a:r>
            <a:r>
              <a:rPr sz="2800" spc="-12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50" dirty="0">
                <a:latin typeface="Arial"/>
                <a:cs typeface="Arial"/>
              </a:rPr>
              <a:t>aná</a:t>
            </a:r>
            <a:r>
              <a:rPr sz="2800" spc="-75" dirty="0">
                <a:latin typeface="Arial"/>
                <a:cs typeface="Arial"/>
              </a:rPr>
              <a:t>l</a:t>
            </a:r>
            <a:r>
              <a:rPr sz="2800" spc="-105" dirty="0">
                <a:latin typeface="Arial"/>
                <a:cs typeface="Arial"/>
              </a:rPr>
              <a:t>is</a:t>
            </a:r>
            <a:r>
              <a:rPr sz="2800" spc="-75" dirty="0">
                <a:latin typeface="Arial"/>
                <a:cs typeface="Arial"/>
              </a:rPr>
              <a:t>i</a:t>
            </a:r>
            <a:r>
              <a:rPr sz="2800" spc="-30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5" dirty="0">
                <a:latin typeface="Arial"/>
                <a:cs typeface="Arial"/>
              </a:rPr>
              <a:t>y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45" dirty="0">
                <a:latin typeface="Arial"/>
                <a:cs typeface="Arial"/>
              </a:rPr>
              <a:t>r</a:t>
            </a:r>
            <a:r>
              <a:rPr sz="2800" spc="-80" dirty="0">
                <a:latin typeface="Arial"/>
                <a:cs typeface="Arial"/>
              </a:rPr>
              <a:t>e</a:t>
            </a:r>
            <a:r>
              <a:rPr sz="2800" spc="-70" dirty="0">
                <a:latin typeface="Arial"/>
                <a:cs typeface="Arial"/>
              </a:rPr>
              <a:t>-  </a:t>
            </a:r>
            <a:r>
              <a:rPr sz="2800" spc="-125" dirty="0">
                <a:latin typeface="Arial"/>
                <a:cs typeface="Arial"/>
              </a:rPr>
              <a:t>diseño </a:t>
            </a:r>
            <a:r>
              <a:rPr sz="2800" spc="-130" dirty="0">
                <a:latin typeface="Arial"/>
                <a:cs typeface="Arial"/>
              </a:rPr>
              <a:t>de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procesos.</a:t>
            </a:r>
            <a:endParaRPr sz="2800">
              <a:latin typeface="Arial"/>
              <a:cs typeface="Arial"/>
            </a:endParaRPr>
          </a:p>
          <a:p>
            <a:pPr marL="279400" indent="-266700">
              <a:lnSpc>
                <a:spcPts val="325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140" dirty="0">
                <a:latin typeface="Arial"/>
                <a:cs typeface="Arial"/>
              </a:rPr>
              <a:t>Explique </a:t>
            </a:r>
            <a:r>
              <a:rPr sz="2800" spc="-75" dirty="0">
                <a:latin typeface="Arial"/>
                <a:cs typeface="Arial"/>
              </a:rPr>
              <a:t>el </a:t>
            </a:r>
            <a:r>
              <a:rPr sz="2800" spc="-100" dirty="0">
                <a:latin typeface="Arial"/>
                <a:cs typeface="Arial"/>
              </a:rPr>
              <a:t>concepto </a:t>
            </a:r>
            <a:r>
              <a:rPr sz="2800" spc="-125" dirty="0">
                <a:latin typeface="Arial"/>
                <a:cs typeface="Arial"/>
              </a:rPr>
              <a:t>de </a:t>
            </a:r>
            <a:r>
              <a:rPr sz="2800" spc="-130" dirty="0">
                <a:latin typeface="Arial"/>
                <a:cs typeface="Arial"/>
              </a:rPr>
              <a:t>Benchmarking. </a:t>
            </a:r>
            <a:r>
              <a:rPr sz="2800" spc="-245" dirty="0">
                <a:latin typeface="Arial"/>
                <a:cs typeface="Arial"/>
              </a:rPr>
              <a:t>¿Cuáles </a:t>
            </a:r>
            <a:r>
              <a:rPr sz="2800" spc="-160" dirty="0">
                <a:latin typeface="Arial"/>
                <a:cs typeface="Arial"/>
              </a:rPr>
              <a:t>son</a:t>
            </a:r>
            <a:r>
              <a:rPr sz="2800" spc="-27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los</a:t>
            </a:r>
            <a:endParaRPr sz="2800">
              <a:latin typeface="Arial"/>
              <a:cs typeface="Arial"/>
            </a:endParaRPr>
          </a:p>
          <a:p>
            <a:pPr marL="279400" marR="6350">
              <a:lnSpc>
                <a:spcPct val="100000"/>
              </a:lnSpc>
              <a:spcBef>
                <a:spcPts val="5"/>
              </a:spcBef>
              <a:tabLst>
                <a:tab pos="1691639" algn="l"/>
                <a:tab pos="2578735" algn="l"/>
                <a:tab pos="3113405" algn="l"/>
                <a:tab pos="5357495" algn="l"/>
                <a:tab pos="6079490" algn="l"/>
                <a:tab pos="6795770" algn="l"/>
              </a:tabLst>
            </a:pPr>
            <a:r>
              <a:rPr sz="2800" spc="-25" dirty="0">
                <a:latin typeface="Arial"/>
                <a:cs typeface="Arial"/>
              </a:rPr>
              <a:t>distin</a:t>
            </a:r>
            <a:r>
              <a:rPr sz="2800" spc="-30" dirty="0">
                <a:latin typeface="Arial"/>
                <a:cs typeface="Arial"/>
              </a:rPr>
              <a:t>t</a:t>
            </a:r>
            <a:r>
              <a:rPr sz="2800" spc="-210" dirty="0">
                <a:latin typeface="Arial"/>
                <a:cs typeface="Arial"/>
              </a:rPr>
              <a:t>o</a:t>
            </a:r>
            <a:r>
              <a:rPr sz="2800" spc="-18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60" dirty="0">
                <a:latin typeface="Arial"/>
                <a:cs typeface="Arial"/>
              </a:rPr>
              <a:t>tipos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0" dirty="0">
                <a:latin typeface="Arial"/>
                <a:cs typeface="Arial"/>
              </a:rPr>
              <a:t>d</a:t>
            </a:r>
            <a:r>
              <a:rPr sz="2800" spc="-12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5" dirty="0">
                <a:latin typeface="Arial"/>
                <a:cs typeface="Arial"/>
              </a:rPr>
              <a:t>Benchmarking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20" dirty="0">
                <a:latin typeface="Arial"/>
                <a:cs typeface="Arial"/>
              </a:rPr>
              <a:t>qu</a:t>
            </a:r>
            <a:r>
              <a:rPr sz="2800" spc="-114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5" dirty="0">
                <a:latin typeface="Arial"/>
                <a:cs typeface="Arial"/>
              </a:rPr>
              <a:t>un</a:t>
            </a:r>
            <a:r>
              <a:rPr sz="2800" spc="-130" dirty="0">
                <a:latin typeface="Arial"/>
                <a:cs typeface="Arial"/>
              </a:rPr>
              <a:t>a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90" dirty="0">
                <a:latin typeface="Arial"/>
                <a:cs typeface="Arial"/>
              </a:rPr>
              <a:t>or</a:t>
            </a:r>
            <a:r>
              <a:rPr sz="2800" spc="-125" dirty="0">
                <a:latin typeface="Arial"/>
                <a:cs typeface="Arial"/>
              </a:rPr>
              <a:t>g</a:t>
            </a:r>
            <a:r>
              <a:rPr sz="2800" spc="-140" dirty="0">
                <a:latin typeface="Arial"/>
                <a:cs typeface="Arial"/>
              </a:rPr>
              <a:t>ani</a:t>
            </a:r>
            <a:r>
              <a:rPr sz="2800" spc="-180" dirty="0">
                <a:latin typeface="Arial"/>
                <a:cs typeface="Arial"/>
              </a:rPr>
              <a:t>z</a:t>
            </a:r>
            <a:r>
              <a:rPr sz="2800" spc="-114" dirty="0">
                <a:latin typeface="Arial"/>
                <a:cs typeface="Arial"/>
              </a:rPr>
              <a:t>aci</a:t>
            </a:r>
            <a:r>
              <a:rPr sz="2800" spc="-165" dirty="0">
                <a:latin typeface="Arial"/>
                <a:cs typeface="Arial"/>
              </a:rPr>
              <a:t>ó</a:t>
            </a:r>
            <a:r>
              <a:rPr sz="2800" spc="-60" dirty="0">
                <a:latin typeface="Arial"/>
                <a:cs typeface="Arial"/>
              </a:rPr>
              <a:t>n  </a:t>
            </a:r>
            <a:r>
              <a:rPr sz="2800" spc="-125" dirty="0">
                <a:latin typeface="Arial"/>
                <a:cs typeface="Arial"/>
              </a:rPr>
              <a:t>puede </a:t>
            </a:r>
            <a:r>
              <a:rPr sz="2800" spc="-100" dirty="0">
                <a:latin typeface="Arial"/>
                <a:cs typeface="Arial"/>
              </a:rPr>
              <a:t>ejecutar?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Ejemplifique.</a:t>
            </a:r>
            <a:endParaRPr sz="2800">
              <a:latin typeface="Arial"/>
              <a:cs typeface="Arial"/>
            </a:endParaRPr>
          </a:p>
          <a:p>
            <a:pPr marL="279400" marR="635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  <a:tab pos="1770380" algn="l"/>
                <a:tab pos="2585720" algn="l"/>
                <a:tab pos="3164840" algn="l"/>
                <a:tab pos="4200525" algn="l"/>
                <a:tab pos="5368925" algn="l"/>
                <a:tab pos="6147435" algn="l"/>
                <a:tab pos="6877684" algn="l"/>
                <a:tab pos="8465820" algn="l"/>
              </a:tabLst>
            </a:pPr>
            <a:r>
              <a:rPr sz="2800" spc="-170" dirty="0">
                <a:latin typeface="Arial"/>
                <a:cs typeface="Arial"/>
              </a:rPr>
              <a:t>Expl</a:t>
            </a:r>
            <a:r>
              <a:rPr sz="2800" spc="-90" dirty="0">
                <a:latin typeface="Arial"/>
                <a:cs typeface="Arial"/>
              </a:rPr>
              <a:t>i</a:t>
            </a:r>
            <a:r>
              <a:rPr sz="2800" spc="-120" dirty="0">
                <a:latin typeface="Arial"/>
                <a:cs typeface="Arial"/>
              </a:rPr>
              <a:t>qu</a:t>
            </a:r>
            <a:r>
              <a:rPr sz="2800" spc="-114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14" dirty="0">
                <a:latin typeface="Arial"/>
                <a:cs typeface="Arial"/>
              </a:rPr>
              <a:t>qué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54" dirty="0">
                <a:latin typeface="Arial"/>
                <a:cs typeface="Arial"/>
              </a:rPr>
              <a:t>e</a:t>
            </a:r>
            <a:r>
              <a:rPr sz="2800" spc="-22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95" dirty="0">
                <a:latin typeface="Arial"/>
                <a:cs typeface="Arial"/>
              </a:rPr>
              <a:t>BPM,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30" dirty="0">
                <a:latin typeface="Arial"/>
                <a:cs typeface="Arial"/>
              </a:rPr>
              <a:t>cuál</a:t>
            </a:r>
            <a:r>
              <a:rPr sz="2800" spc="-170" dirty="0">
                <a:latin typeface="Arial"/>
                <a:cs typeface="Arial"/>
              </a:rPr>
              <a:t>e</a:t>
            </a:r>
            <a:r>
              <a:rPr sz="2800" spc="-30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160" dirty="0">
                <a:latin typeface="Arial"/>
                <a:cs typeface="Arial"/>
              </a:rPr>
              <a:t>so</a:t>
            </a:r>
            <a:r>
              <a:rPr sz="2800" spc="-165" dirty="0">
                <a:latin typeface="Arial"/>
                <a:cs typeface="Arial"/>
              </a:rPr>
              <a:t>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245" dirty="0">
                <a:latin typeface="Arial"/>
                <a:cs typeface="Arial"/>
              </a:rPr>
              <a:t>su</a:t>
            </a:r>
            <a:r>
              <a:rPr sz="2800" spc="-22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40" dirty="0">
                <a:latin typeface="Arial"/>
                <a:cs typeface="Arial"/>
              </a:rPr>
              <a:t>objeti</a:t>
            </a:r>
            <a:r>
              <a:rPr sz="2800" spc="-55" dirty="0">
                <a:latin typeface="Arial"/>
                <a:cs typeface="Arial"/>
              </a:rPr>
              <a:t>v</a:t>
            </a:r>
            <a:r>
              <a:rPr sz="2800" spc="-210" dirty="0">
                <a:latin typeface="Arial"/>
                <a:cs typeface="Arial"/>
              </a:rPr>
              <a:t>o</a:t>
            </a:r>
            <a:r>
              <a:rPr sz="2800" spc="-18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95" dirty="0">
                <a:latin typeface="Arial"/>
                <a:cs typeface="Arial"/>
              </a:rPr>
              <a:t>y  </a:t>
            </a:r>
            <a:r>
              <a:rPr sz="2800" spc="-105" dirty="0">
                <a:latin typeface="Arial"/>
                <a:cs typeface="Arial"/>
              </a:rPr>
              <a:t>beneficios </a:t>
            </a:r>
            <a:r>
              <a:rPr sz="2800" spc="-125" dirty="0">
                <a:latin typeface="Arial"/>
                <a:cs typeface="Arial"/>
              </a:rPr>
              <a:t>para </a:t>
            </a:r>
            <a:r>
              <a:rPr sz="2800" spc="-100" dirty="0">
                <a:latin typeface="Arial"/>
                <a:cs typeface="Arial"/>
              </a:rPr>
              <a:t>la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organización.</a:t>
            </a:r>
            <a:endParaRPr sz="2800">
              <a:latin typeface="Arial"/>
              <a:cs typeface="Arial"/>
            </a:endParaRPr>
          </a:p>
          <a:p>
            <a:pPr marL="279400" indent="-266700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800" spc="-160" dirty="0">
                <a:latin typeface="Arial"/>
                <a:cs typeface="Arial"/>
              </a:rPr>
              <a:t>Describa </a:t>
            </a:r>
            <a:r>
              <a:rPr sz="2800" spc="-170" dirty="0">
                <a:latin typeface="Arial"/>
                <a:cs typeface="Arial"/>
              </a:rPr>
              <a:t>las </a:t>
            </a:r>
            <a:r>
              <a:rPr sz="2800" spc="-190" dirty="0">
                <a:latin typeface="Arial"/>
                <a:cs typeface="Arial"/>
              </a:rPr>
              <a:t>fases </a:t>
            </a:r>
            <a:r>
              <a:rPr sz="2800" spc="-80" dirty="0">
                <a:latin typeface="Arial"/>
                <a:cs typeface="Arial"/>
              </a:rPr>
              <a:t>del </a:t>
            </a:r>
            <a:r>
              <a:rPr sz="2800" spc="-100" dirty="0">
                <a:latin typeface="Arial"/>
                <a:cs typeface="Arial"/>
              </a:rPr>
              <a:t>ciclo </a:t>
            </a:r>
            <a:r>
              <a:rPr sz="2800" spc="-130" dirty="0">
                <a:latin typeface="Arial"/>
                <a:cs typeface="Arial"/>
              </a:rPr>
              <a:t>de </a:t>
            </a:r>
            <a:r>
              <a:rPr sz="2800" spc="-80" dirty="0">
                <a:latin typeface="Arial"/>
                <a:cs typeface="Arial"/>
              </a:rPr>
              <a:t>implementación </a:t>
            </a:r>
            <a:r>
              <a:rPr sz="2800" spc="-130" dirty="0">
                <a:latin typeface="Arial"/>
                <a:cs typeface="Arial"/>
              </a:rPr>
              <a:t>de</a:t>
            </a:r>
            <a:r>
              <a:rPr sz="2800" spc="-240" dirty="0">
                <a:latin typeface="Arial"/>
                <a:cs typeface="Arial"/>
              </a:rPr>
              <a:t> </a:t>
            </a:r>
            <a:r>
              <a:rPr sz="2800" spc="-195" dirty="0">
                <a:latin typeface="Arial"/>
                <a:cs typeface="Arial"/>
              </a:rPr>
              <a:t>BPM.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71</a:t>
            </a:fld>
            <a:endParaRPr spc="-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5750" y="21602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0" dirty="0"/>
              <a:t>¿Dudas?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3000" spc="-105" dirty="0"/>
              <a:t>¿Consultas?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7954</Words>
  <Application>Microsoft Office PowerPoint</Application>
  <PresentationFormat>Presentación en pantalla (4:3)</PresentationFormat>
  <Paragraphs>938</Paragraphs>
  <Slides>72</Slides>
  <Notes>0</Notes>
  <HiddenSlides>11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72</vt:i4>
      </vt:variant>
    </vt:vector>
  </HeadingPairs>
  <TitlesOfParts>
    <vt:vector size="78" baseType="lpstr">
      <vt:lpstr>Arial</vt:lpstr>
      <vt:lpstr>Calibri</vt:lpstr>
      <vt:lpstr>Times New Roman</vt:lpstr>
      <vt:lpstr>Trebuchet MS</vt:lpstr>
      <vt:lpstr>Wingdings</vt:lpstr>
      <vt:lpstr>Office Theme</vt:lpstr>
      <vt:lpstr>Sistemas de  Información</vt:lpstr>
      <vt:lpstr>Presentación de PowerPoint</vt:lpstr>
      <vt:lpstr>Presentación de PowerPoint</vt:lpstr>
      <vt:lpstr>Ventas:</vt:lpstr>
      <vt:lpstr>I – Ventas y Cuentas a Cobrar (Cont.) Visión de alto nivel del procedimiento (Cont.)</vt:lpstr>
      <vt:lpstr>I – Ventas y Cuentas a Cobrar (Cont.) Visión de alto nivel del procedimiento (Cont.)</vt:lpstr>
      <vt:lpstr>Presentación de PowerPoint</vt:lpstr>
      <vt:lpstr>Presentación de PowerPoint</vt:lpstr>
      <vt:lpstr>Presentación de PowerPoint</vt:lpstr>
      <vt:lpstr>I – Ventas y Cuentas a Cobrar (Cont.) Módulo I: Recepción y aprobación del pedido (Cont.)</vt:lpstr>
      <vt:lpstr>Presentación de PowerPoint</vt:lpstr>
      <vt:lpstr>Presentación de PowerPoint</vt:lpstr>
      <vt:lpstr>I – Ventas y Cuentas a Cobrar (Cont.) Módulo II: Despacho y entrega de la mercadería</vt:lpstr>
      <vt:lpstr>Presentación de PowerPoint</vt:lpstr>
      <vt:lpstr>Presentación de PowerPoint</vt:lpstr>
      <vt:lpstr>I – Ventas y Cuentas a Cobrar (Cont.) Módulo III: Facturación, Registración y Control / Seguimiento y Control de Pedidos (Cont.)</vt:lpstr>
      <vt:lpstr>I – Ventas y Cuentas a Cobrar (Cont.) Módulo III: Facturación, Registración y Control / Seguimiento y Control de Pedidos (Cont.)</vt:lpstr>
      <vt:lpstr>Presentación de PowerPoint</vt:lpstr>
      <vt:lpstr>Cobranzas</vt:lpstr>
      <vt:lpstr>Cobranzas:</vt:lpstr>
      <vt:lpstr>II – Cobranzas (Cont.) Visión de alto nivel del procedimiento (Cont.)</vt:lpstr>
      <vt:lpstr>II – Cobranzas (Cont.)</vt:lpstr>
      <vt:lpstr>Presentación de PowerPoint</vt:lpstr>
      <vt:lpstr>II – Cobranzas (Cont.) Módulo Ia: Cobranza mediante cobradores (Cont.)</vt:lpstr>
      <vt:lpstr>II – Cobranzas (Cont.)</vt:lpstr>
      <vt:lpstr>Presentación de PowerPoint</vt:lpstr>
      <vt:lpstr>II – Cobranzas (Cont.) Módulo Ib: Cobranza por correspondencia (Cont.)</vt:lpstr>
      <vt:lpstr>Presentación de PowerPoint</vt:lpstr>
      <vt:lpstr>Presentación de PowerPoint</vt:lpstr>
      <vt:lpstr>Presentación de PowerPoint</vt:lpstr>
      <vt:lpstr>II – Cobranzas (Cont.) Módulo III: Control y registración de la operación (Cont.)</vt:lpstr>
      <vt:lpstr>II – Cobranzas (Cont.) Introducción de Tecnología en el proceso de Cobranzas</vt:lpstr>
      <vt:lpstr>Control Interno</vt:lpstr>
      <vt:lpstr>Antecedentes: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III – Control Interno (Cont.) Antecedentes y conceptos fundamentales (Cont.)</vt:lpstr>
      <vt:lpstr>III – Control Interno (Cont.) Antecedentes y conceptos fundamentales (Cont.)</vt:lpstr>
      <vt:lpstr>III – Control Interno (Cont.) Antecedentes y conceptos fundamentales (Cont.)</vt:lpstr>
      <vt:lpstr>III – Control Interno (Cont.) Antecedentes y conceptos fundamentales (Cont.)</vt:lpstr>
      <vt:lpstr>III – Control Interno (Cont.) Antecedentes y conceptos fundamentales (Cont.)</vt:lpstr>
      <vt:lpstr>III – Control Interno (Cont.) Antecedentes y conceptos fundamentales (Cont.)</vt:lpstr>
      <vt:lpstr>III – Control Interno (Cont.) Antecedentes y conceptos fundamentales (Cont.)</vt:lpstr>
      <vt:lpstr>III – Control Interno (Cont.) Antecedentes y conceptos fundamentales (Cont.)</vt:lpstr>
      <vt:lpstr>Presentación de PowerPoint</vt:lpstr>
      <vt:lpstr>III – Control Interno (Cont.) Antecedentes y conceptos fundamentales (Cont.)</vt:lpstr>
      <vt:lpstr>III – Control Interno (Cont.) Antecedentes y conceptos fundamentales (Cont.)</vt:lpstr>
      <vt:lpstr>III – Control Interno (Cont.) Antecedentes y conceptos fundamentales (Cont.)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III – Control Interno (Cont.) Rediseño de procesos y Benchmarking</vt:lpstr>
      <vt:lpstr>III – Control Interno (Cont.) Rediseño de procesos y Benchmarking (Cont.)</vt:lpstr>
      <vt:lpstr>III – Control Interno (Cont.)</vt:lpstr>
      <vt:lpstr>III – Control Interno (Cont.) BPM (Business Process Management)</vt:lpstr>
      <vt:lpstr>III – Control Interno (Cont.) BPM (Business Process Management)</vt:lpstr>
      <vt:lpstr>III – Control Interno (Cont.) BPM (Business Process Management)</vt:lpstr>
      <vt:lpstr>III – Control Interno (Cont.) BPM (Business Process Management)</vt:lpstr>
      <vt:lpstr>Presentación de PowerPoint</vt:lpstr>
      <vt:lpstr>Presentación de PowerPoint</vt:lpstr>
      <vt:lpstr>III – Control Interno (Cont.) BPM (Business Process Management)</vt:lpstr>
      <vt:lpstr>Presentación de PowerPoint</vt:lpstr>
      <vt:lpstr>Síntesis</vt:lpstr>
      <vt:lpstr>Presentación de PowerPoint</vt:lpstr>
      <vt:lpstr>Presentación de PowerPoint</vt:lpstr>
      <vt:lpstr>Presentación de PowerPoint</vt:lpstr>
      <vt:lpstr>¿Dudas? ¿Consultas?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Klus Javier Fernando</cp:lastModifiedBy>
  <cp:revision>10</cp:revision>
  <dcterms:created xsi:type="dcterms:W3CDTF">2019-08-14T13:20:14Z</dcterms:created>
  <dcterms:modified xsi:type="dcterms:W3CDTF">2021-08-31T11:58:29Z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2019-08-14T00:00:00Z</vt:filetime>
  </property>
</Properties>
</file>