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5" r:id="rId33"/>
    <p:sldId id="306" r:id="rId34"/>
    <p:sldId id="307" r:id="rId35"/>
  </p:sldIdLst>
  <p:sldSz cx="9144000" cy="6858000" type="screen4x3"/>
  <p:notesSz cx="9144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6258" y="193801"/>
            <a:ext cx="472122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193801"/>
            <a:ext cx="472122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959" y="1077213"/>
            <a:ext cx="8530081" cy="1864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495" dirty="0">
                <a:latin typeface="Arial"/>
                <a:cs typeface="Arial"/>
              </a:rPr>
              <a:t>Sistemas </a:t>
            </a:r>
            <a:r>
              <a:rPr sz="5400" i="1" spc="-400" dirty="0">
                <a:latin typeface="Arial"/>
                <a:cs typeface="Arial"/>
              </a:rPr>
              <a:t>de  </a:t>
            </a:r>
            <a:r>
              <a:rPr sz="5400" i="1" spc="-340" dirty="0">
                <a:latin typeface="Arial"/>
                <a:cs typeface="Arial"/>
              </a:rPr>
              <a:t>Información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1908048"/>
            <a:ext cx="1607058" cy="676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298192"/>
            <a:ext cx="3822954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572511"/>
            <a:ext cx="1740408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1974341"/>
            <a:ext cx="3488690" cy="196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55" dirty="0">
                <a:solidFill>
                  <a:srgbClr val="FFFFFF"/>
                </a:solidFill>
                <a:latin typeface="Arial"/>
                <a:cs typeface="Arial"/>
              </a:rPr>
              <a:t>Unidad </a:t>
            </a:r>
            <a:r>
              <a:rPr sz="2400" b="1" i="1" spc="-1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i="1" spc="-155" dirty="0">
                <a:solidFill>
                  <a:srgbClr val="FFFFFF"/>
                </a:solidFill>
                <a:latin typeface="Arial"/>
                <a:cs typeface="Arial"/>
              </a:rPr>
              <a:t>Adquisición y </a:t>
            </a:r>
            <a:r>
              <a:rPr sz="1800" b="1" i="1" spc="-125" dirty="0">
                <a:solidFill>
                  <a:srgbClr val="FFFFFF"/>
                </a:solidFill>
                <a:latin typeface="Arial"/>
                <a:cs typeface="Arial"/>
              </a:rPr>
              <a:t>Desarrollo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i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1" spc="-17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1" spc="-114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Mag. </a:t>
            </a:r>
            <a:r>
              <a:rPr lang="es-AR"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Javier F. Klus</a:t>
            </a:r>
            <a:endParaRPr lang="es-AR"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jklus@uade.edu.ar</a:t>
            </a:r>
            <a:endParaRPr lang="es-AR"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r>
              <a:rPr lang="es-AR"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1824989"/>
            <a:ext cx="3157727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1878075"/>
            <a:ext cx="28555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70" dirty="0">
                <a:solidFill>
                  <a:srgbClr val="003186"/>
                </a:solidFill>
                <a:latin typeface="Trebuchet MS"/>
                <a:cs typeface="Trebuchet MS"/>
              </a:rPr>
              <a:t>Análisis </a:t>
            </a: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estructurado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600" b="1" spc="-28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Sistemas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1774317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1774317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7111" y="1867662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2323719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solidFill>
                  <a:srgbClr val="FFFFFF"/>
                </a:solidFill>
                <a:latin typeface="Trebuchet MS"/>
                <a:cs typeface="Trebuchet MS"/>
              </a:rPr>
              <a:t>Contenido </a:t>
            </a:r>
            <a:r>
              <a:rPr sz="3000" b="1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00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35" dirty="0">
                <a:solidFill>
                  <a:srgbClr val="FFFFFF"/>
                </a:solidFill>
                <a:latin typeface="Trebuchet MS"/>
                <a:cs typeface="Trebuchet MS"/>
              </a:rPr>
              <a:t>la  sesión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2298395"/>
            <a:ext cx="290068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Conceptos,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componentes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204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ventajas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Diagrama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110" dirty="0">
                <a:solidFill>
                  <a:srgbClr val="003186"/>
                </a:solidFill>
                <a:latin typeface="Trebuchet MS"/>
                <a:cs typeface="Trebuchet MS"/>
              </a:rPr>
              <a:t>Flujo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r>
              <a:rPr sz="1400" b="1" spc="-19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(DFD)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1855" y="2938780"/>
            <a:ext cx="213741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Análisis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105" dirty="0">
                <a:solidFill>
                  <a:srgbClr val="003186"/>
                </a:solidFill>
                <a:latin typeface="Trebuchet MS"/>
                <a:cs typeface="Trebuchet MS"/>
              </a:rPr>
              <a:t>Flujo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9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Simbología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Reglas</a:t>
            </a:r>
            <a:r>
              <a:rPr sz="1400" b="1" spc="-11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Generales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Requerimientos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Diccionario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3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0427" y="56963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0427" y="56963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62728" y="5790184"/>
            <a:ext cx="243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69204" y="62426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46953" y="5765291"/>
            <a:ext cx="966977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97829" y="5818123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Síntesis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93640" y="6343903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1.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Resumen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preguntas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repaso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5523" y="310134"/>
            <a:ext cx="2737866" cy="7528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6653" y="363219"/>
            <a:ext cx="2390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105" dirty="0">
                <a:solidFill>
                  <a:srgbClr val="003186"/>
                </a:solidFill>
                <a:latin typeface="Trebuchet MS"/>
                <a:cs typeface="Trebuchet MS"/>
              </a:rPr>
              <a:t>Ciclo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vida </a:t>
            </a: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Sistemas</a:t>
            </a:r>
            <a:r>
              <a:rPr sz="1600" b="1" spc="-30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Información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24425" y="381381"/>
            <a:ext cx="486409" cy="549910"/>
          </a:xfrm>
          <a:custGeom>
            <a:avLst/>
            <a:gdLst/>
            <a:ahLst/>
            <a:cxnLst/>
            <a:rect l="l" t="t" r="r" b="b"/>
            <a:pathLst>
              <a:path w="486410" h="549910">
                <a:moveTo>
                  <a:pt x="486155" y="0"/>
                </a:moveTo>
                <a:lnTo>
                  <a:pt x="121538" y="0"/>
                </a:lnTo>
                <a:lnTo>
                  <a:pt x="0" y="549402"/>
                </a:lnTo>
                <a:lnTo>
                  <a:pt x="364616" y="549402"/>
                </a:lnTo>
                <a:lnTo>
                  <a:pt x="486155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24425" y="381381"/>
            <a:ext cx="486409" cy="549910"/>
          </a:xfrm>
          <a:custGeom>
            <a:avLst/>
            <a:gdLst/>
            <a:ahLst/>
            <a:cxnLst/>
            <a:rect l="l" t="t" r="r" b="b"/>
            <a:pathLst>
              <a:path w="486410" h="549910">
                <a:moveTo>
                  <a:pt x="0" y="549402"/>
                </a:moveTo>
                <a:lnTo>
                  <a:pt x="121538" y="0"/>
                </a:lnTo>
                <a:lnTo>
                  <a:pt x="486155" y="0"/>
                </a:lnTo>
                <a:lnTo>
                  <a:pt x="364616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20385" y="4747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66157" y="9307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94402" y="904594"/>
            <a:ext cx="306133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4"/>
              </a:spcBef>
              <a:buAutoNum type="arabicPeriod"/>
              <a:tabLst>
                <a:tab pos="241300" algn="l"/>
              </a:tabLst>
            </a:pP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Ciclo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Vida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1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003186"/>
                </a:solidFill>
                <a:latin typeface="Trebuchet MS"/>
                <a:cs typeface="Trebuchet MS"/>
              </a:rPr>
              <a:t>SI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35" dirty="0">
                <a:solidFill>
                  <a:srgbClr val="003186"/>
                </a:solidFill>
                <a:latin typeface="Trebuchet MS"/>
                <a:cs typeface="Trebuchet MS"/>
              </a:rPr>
              <a:t>Métodos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adquisición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soluciones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38903" y="4191380"/>
            <a:ext cx="487045" cy="549910"/>
          </a:xfrm>
          <a:custGeom>
            <a:avLst/>
            <a:gdLst/>
            <a:ahLst/>
            <a:cxnLst/>
            <a:rect l="l" t="t" r="r" b="b"/>
            <a:pathLst>
              <a:path w="487045" h="549910">
                <a:moveTo>
                  <a:pt x="486918" y="0"/>
                </a:moveTo>
                <a:lnTo>
                  <a:pt x="121666" y="0"/>
                </a:lnTo>
                <a:lnTo>
                  <a:pt x="0" y="549402"/>
                </a:lnTo>
                <a:lnTo>
                  <a:pt x="365125" y="549402"/>
                </a:lnTo>
                <a:lnTo>
                  <a:pt x="48691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38903" y="4191380"/>
            <a:ext cx="487045" cy="549910"/>
          </a:xfrm>
          <a:custGeom>
            <a:avLst/>
            <a:gdLst/>
            <a:ahLst/>
            <a:cxnLst/>
            <a:rect l="l" t="t" r="r" b="b"/>
            <a:pathLst>
              <a:path w="487045" h="549910">
                <a:moveTo>
                  <a:pt x="0" y="549402"/>
                </a:moveTo>
                <a:lnTo>
                  <a:pt x="121666" y="0"/>
                </a:lnTo>
                <a:lnTo>
                  <a:pt x="486918" y="0"/>
                </a:lnTo>
                <a:lnTo>
                  <a:pt x="365125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067553" y="4284979"/>
            <a:ext cx="229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67680" y="4750689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45429" y="4137659"/>
            <a:ext cx="3509010" cy="7528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495797" y="4191000"/>
            <a:ext cx="31648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Evaluación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Sistemas </a:t>
            </a: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600" b="1" spc="-28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Tecnologías 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70" dirty="0">
                <a:solidFill>
                  <a:srgbClr val="003186"/>
                </a:solidFill>
                <a:latin typeface="Trebuchet MS"/>
                <a:cs typeface="Trebuchet MS"/>
              </a:rPr>
              <a:t>la</a:t>
            </a:r>
            <a:r>
              <a:rPr sz="1600" b="1" spc="-16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Información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1861" y="4731867"/>
            <a:ext cx="339217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Proceso 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adquisición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selección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8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003186"/>
                </a:solidFill>
                <a:latin typeface="Trebuchet MS"/>
                <a:cs typeface="Trebuchet MS"/>
              </a:rPr>
              <a:t>SI/TI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110" dirty="0">
                <a:solidFill>
                  <a:srgbClr val="003186"/>
                </a:solidFill>
                <a:latin typeface="Trebuchet MS"/>
                <a:cs typeface="Trebuchet MS"/>
              </a:rPr>
              <a:t>Tercerización</a:t>
            </a:r>
            <a:r>
              <a:rPr sz="1400" b="1" spc="-10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(Outsourcing)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2594" y="4649723"/>
            <a:ext cx="3235960" cy="172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3465"/>
              </a:lnSpc>
              <a:spcBef>
                <a:spcPts val="100"/>
              </a:spcBef>
            </a:pPr>
            <a:r>
              <a:rPr sz="3000" b="1" spc="-4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ts val="3225"/>
              </a:lnSpc>
            </a:pPr>
            <a:r>
              <a:rPr sz="2800" b="1" spc="-175" dirty="0">
                <a:solidFill>
                  <a:srgbClr val="00338D"/>
                </a:solidFill>
                <a:latin typeface="Trebuchet MS"/>
                <a:cs typeface="Trebuchet MS"/>
              </a:rPr>
              <a:t>Ciclo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800" b="1" spc="-135" dirty="0">
                <a:solidFill>
                  <a:srgbClr val="00338D"/>
                </a:solidFill>
                <a:latin typeface="Trebuchet MS"/>
                <a:cs typeface="Trebuchet MS"/>
              </a:rPr>
              <a:t>vida</a:t>
            </a:r>
            <a:r>
              <a:rPr sz="2800" b="1" spc="-3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endParaRPr sz="2800">
              <a:latin typeface="Trebuchet MS"/>
              <a:cs typeface="Trebuchet MS"/>
            </a:endParaRPr>
          </a:p>
          <a:p>
            <a:pPr marL="266700" marR="1159510" indent="1270" algn="ctr">
              <a:lnSpc>
                <a:spcPct val="100000"/>
              </a:lnSpc>
            </a:pPr>
            <a:r>
              <a:rPr sz="2800" b="1" spc="-130" dirty="0">
                <a:solidFill>
                  <a:srgbClr val="00338D"/>
                </a:solidFill>
                <a:latin typeface="Trebuchet MS"/>
                <a:cs typeface="Trebuchet MS"/>
              </a:rPr>
              <a:t>Sistemas 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de  </a:t>
            </a:r>
            <a:r>
              <a:rPr sz="2800" b="1" spc="-120" dirty="0">
                <a:solidFill>
                  <a:srgbClr val="00338D"/>
                </a:solidFill>
                <a:latin typeface="Trebuchet MS"/>
                <a:cs typeface="Trebuchet MS"/>
              </a:rPr>
              <a:t>Informa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ción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6678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Etapas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Ciclo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Vida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20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14" y="1905000"/>
            <a:ext cx="3886562" cy="38389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93870" y="1094994"/>
            <a:ext cx="4536948" cy="53157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2795" y="1114806"/>
            <a:ext cx="25260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65" dirty="0">
                <a:latin typeface="Trebuchet MS"/>
                <a:cs typeface="Trebuchet MS"/>
              </a:rPr>
              <a:t>Ciclo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14" dirty="0">
                <a:latin typeface="Trebuchet MS"/>
                <a:cs typeface="Trebuchet MS"/>
              </a:rPr>
              <a:t>Vida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85" dirty="0">
                <a:latin typeface="Trebuchet MS"/>
                <a:cs typeface="Trebuchet MS"/>
              </a:rPr>
              <a:t> </a:t>
            </a:r>
            <a:r>
              <a:rPr sz="2600" b="1" spc="-70" dirty="0">
                <a:latin typeface="Trebuchet MS"/>
                <a:cs typeface="Trebuchet MS"/>
              </a:rPr>
              <a:t>SI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lang="es-AR" spc="-5" dirty="0"/>
              <a:t>Javier F. Klus</a:t>
            </a:r>
            <a:r>
              <a:rPr spc="-40" dirty="0"/>
              <a:t> </a:t>
            </a:r>
            <a:r>
              <a:rPr spc="-30" dirty="0"/>
              <a:t>(</a:t>
            </a:r>
            <a:r>
              <a:rPr lang="es-AR" spc="-30" dirty="0" err="1"/>
              <a:t>jklus</a:t>
            </a:r>
            <a:r>
              <a:rPr spc="-30" dirty="0"/>
              <a:t>@uade.edu.ar)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297688" y="6092952"/>
            <a:ext cx="13481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10" dirty="0">
                <a:latin typeface="Arial"/>
                <a:cs typeface="Arial"/>
              </a:rPr>
              <a:t>Fuente: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110" dirty="0">
                <a:latin typeface="Arial"/>
                <a:cs typeface="Arial"/>
              </a:rPr>
              <a:t>O’Brien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7242809" cy="5270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10" dirty="0">
                <a:latin typeface="Trebuchet MS"/>
                <a:cs typeface="Trebuchet MS"/>
              </a:rPr>
              <a:t>Investigación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Char char="•"/>
              <a:tabLst>
                <a:tab pos="298450" algn="l"/>
                <a:tab pos="299085" algn="l"/>
              </a:tabLst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75" dirty="0">
                <a:latin typeface="Arial"/>
                <a:cs typeface="Arial"/>
              </a:rPr>
              <a:t>deben </a:t>
            </a:r>
            <a:r>
              <a:rPr sz="1800" spc="-65" dirty="0">
                <a:latin typeface="Arial"/>
                <a:cs typeface="Arial"/>
              </a:rPr>
              <a:t>responder </a:t>
            </a:r>
            <a:r>
              <a:rPr sz="1800" spc="-80" dirty="0">
                <a:latin typeface="Arial"/>
                <a:cs typeface="Arial"/>
              </a:rPr>
              <a:t>preguntas </a:t>
            </a:r>
            <a:r>
              <a:rPr sz="1800" spc="-70" dirty="0">
                <a:latin typeface="Arial"/>
                <a:cs typeface="Arial"/>
              </a:rPr>
              <a:t>como: </a:t>
            </a:r>
            <a:r>
              <a:rPr sz="1800" spc="-160" dirty="0">
                <a:latin typeface="Arial"/>
                <a:cs typeface="Arial"/>
              </a:rPr>
              <a:t>¿Qué </a:t>
            </a:r>
            <a:r>
              <a:rPr sz="1800" spc="-100" dirty="0">
                <a:latin typeface="Arial"/>
                <a:cs typeface="Arial"/>
              </a:rPr>
              <a:t>esta </a:t>
            </a:r>
            <a:r>
              <a:rPr sz="1800" spc="-110" dirty="0">
                <a:latin typeface="Arial"/>
                <a:cs typeface="Arial"/>
              </a:rPr>
              <a:t>causando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21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problema?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800" spc="-165" dirty="0">
                <a:latin typeface="Arial"/>
                <a:cs typeface="Arial"/>
              </a:rPr>
              <a:t>¿Cuál </a:t>
            </a:r>
            <a:r>
              <a:rPr sz="1800" spc="-85" dirty="0">
                <a:latin typeface="Arial"/>
                <a:cs typeface="Arial"/>
              </a:rPr>
              <a:t>seria una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solución?</a:t>
            </a:r>
            <a:endParaRPr sz="18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0" dirty="0">
                <a:latin typeface="Arial"/>
                <a:cs typeface="Arial"/>
              </a:rPr>
              <a:t>Requiere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85" dirty="0">
                <a:latin typeface="Arial"/>
                <a:cs typeface="Arial"/>
              </a:rPr>
              <a:t>análisis </a:t>
            </a:r>
            <a:r>
              <a:rPr sz="1800" spc="-50" dirty="0">
                <a:latin typeface="Arial"/>
                <a:cs typeface="Arial"/>
              </a:rPr>
              <a:t>detallado: </a:t>
            </a:r>
            <a:r>
              <a:rPr sz="1800" spc="-70" dirty="0">
                <a:latin typeface="Arial"/>
                <a:cs typeface="Arial"/>
              </a:rPr>
              <a:t>investigar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necesidades </a:t>
            </a:r>
            <a:r>
              <a:rPr sz="1800" spc="-75" dirty="0">
                <a:latin typeface="Arial"/>
                <a:cs typeface="Arial"/>
              </a:rPr>
              <a:t>de 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85" dirty="0">
                <a:latin typeface="Arial"/>
                <a:cs typeface="Arial"/>
              </a:rPr>
              <a:t>usuarios </a:t>
            </a:r>
            <a:r>
              <a:rPr sz="1800" spc="-70" dirty="0">
                <a:latin typeface="Arial"/>
                <a:cs typeface="Arial"/>
              </a:rPr>
              <a:t>potenciales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40" dirty="0">
                <a:latin typeface="Arial"/>
                <a:cs typeface="Arial"/>
              </a:rPr>
              <a:t>determinar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50" dirty="0">
                <a:latin typeface="Arial"/>
                <a:cs typeface="Arial"/>
              </a:rPr>
              <a:t>requerimientos </a:t>
            </a:r>
            <a:r>
              <a:rPr sz="1800" spc="-80" dirty="0">
                <a:latin typeface="Arial"/>
                <a:cs typeface="Arial"/>
              </a:rPr>
              <a:t>de  </a:t>
            </a:r>
            <a:r>
              <a:rPr sz="1800" spc="-90" dirty="0">
                <a:latin typeface="Arial"/>
                <a:cs typeface="Arial"/>
              </a:rPr>
              <a:t>recursos, </a:t>
            </a:r>
            <a:r>
              <a:rPr sz="1800" spc="-100" dirty="0">
                <a:latin typeface="Arial"/>
                <a:cs typeface="Arial"/>
              </a:rPr>
              <a:t>costos, </a:t>
            </a:r>
            <a:r>
              <a:rPr sz="1800" spc="-70" dirty="0">
                <a:latin typeface="Arial"/>
                <a:cs typeface="Arial"/>
              </a:rPr>
              <a:t>beneficios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35" dirty="0">
                <a:latin typeface="Arial"/>
                <a:cs typeface="Arial"/>
              </a:rPr>
              <a:t>factibilidad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60" dirty="0">
                <a:latin typeface="Arial"/>
                <a:cs typeface="Arial"/>
              </a:rPr>
              <a:t>proyecto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propuesto.</a:t>
            </a:r>
            <a:endParaRPr sz="18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spc="-75" dirty="0">
                <a:latin typeface="Arial"/>
                <a:cs typeface="Arial"/>
              </a:rPr>
              <a:t>Al </a:t>
            </a:r>
            <a:r>
              <a:rPr sz="1800" spc="-30" dirty="0">
                <a:latin typeface="Arial"/>
                <a:cs typeface="Arial"/>
              </a:rPr>
              <a:t>reunir </a:t>
            </a:r>
            <a:r>
              <a:rPr sz="1800" spc="-80" dirty="0">
                <a:latin typeface="Arial"/>
                <a:cs typeface="Arial"/>
              </a:rPr>
              <a:t>datos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55" dirty="0">
                <a:latin typeface="Arial"/>
                <a:cs typeface="Arial"/>
              </a:rPr>
              <a:t>estudio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40" dirty="0">
                <a:latin typeface="Arial"/>
                <a:cs typeface="Arial"/>
              </a:rPr>
              <a:t>factibilidad,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45" dirty="0">
                <a:latin typeface="Arial"/>
                <a:cs typeface="Arial"/>
              </a:rPr>
              <a:t>utilizan </a:t>
            </a:r>
            <a:r>
              <a:rPr sz="1800" spc="-90" dirty="0">
                <a:latin typeface="Arial"/>
                <a:cs typeface="Arial"/>
              </a:rPr>
              <a:t>diversos  </a:t>
            </a:r>
            <a:r>
              <a:rPr sz="1800" spc="-70" dirty="0">
                <a:latin typeface="Arial"/>
                <a:cs typeface="Arial"/>
              </a:rPr>
              <a:t>métodos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recolección </a:t>
            </a:r>
            <a:r>
              <a:rPr sz="1800" spc="-80" dirty="0">
                <a:latin typeface="Arial"/>
                <a:cs typeface="Arial"/>
              </a:rPr>
              <a:t>de datos </a:t>
            </a:r>
            <a:r>
              <a:rPr sz="1800" spc="-70" dirty="0">
                <a:latin typeface="Arial"/>
                <a:cs typeface="Arial"/>
              </a:rPr>
              <a:t>como: entrevistas, </a:t>
            </a:r>
            <a:r>
              <a:rPr sz="1800" spc="-65" dirty="0">
                <a:latin typeface="Arial"/>
                <a:cs typeface="Arial"/>
              </a:rPr>
              <a:t>cuestionarios, </a:t>
            </a:r>
            <a:r>
              <a:rPr sz="1800" spc="-90" dirty="0">
                <a:latin typeface="Arial"/>
                <a:cs typeface="Arial"/>
              </a:rPr>
              <a:t>análisis 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documentos, </a:t>
            </a:r>
            <a:r>
              <a:rPr sz="1800" spc="-60" dirty="0">
                <a:latin typeface="Arial"/>
                <a:cs typeface="Arial"/>
              </a:rPr>
              <a:t>etc. </a:t>
            </a: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90" dirty="0">
                <a:latin typeface="Arial"/>
                <a:cs typeface="Arial"/>
              </a:rPr>
              <a:t>evalúan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85" dirty="0">
                <a:latin typeface="Arial"/>
                <a:cs typeface="Arial"/>
              </a:rPr>
              <a:t>soluciones </a:t>
            </a:r>
            <a:r>
              <a:rPr sz="1800" spc="-60" dirty="0">
                <a:latin typeface="Arial"/>
                <a:cs typeface="Arial"/>
              </a:rPr>
              <a:t>alternativas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60" dirty="0">
                <a:latin typeface="Arial"/>
                <a:cs typeface="Arial"/>
              </a:rPr>
              <a:t>proponen 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35" dirty="0">
                <a:latin typeface="Arial"/>
                <a:cs typeface="Arial"/>
              </a:rPr>
              <a:t>más </a:t>
            </a:r>
            <a:r>
              <a:rPr sz="1800" spc="-55" dirty="0">
                <a:latin typeface="Arial"/>
                <a:cs typeface="Arial"/>
              </a:rPr>
              <a:t>factibles. </a:t>
            </a: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35" dirty="0">
                <a:latin typeface="Arial"/>
                <a:cs typeface="Arial"/>
              </a:rPr>
              <a:t>factibilidad </a:t>
            </a:r>
            <a:r>
              <a:rPr sz="1800" spc="-80" dirty="0">
                <a:latin typeface="Arial"/>
                <a:cs typeface="Arial"/>
              </a:rPr>
              <a:t>puede </a:t>
            </a:r>
            <a:r>
              <a:rPr sz="1800" spc="-100" dirty="0">
                <a:latin typeface="Arial"/>
                <a:cs typeface="Arial"/>
              </a:rPr>
              <a:t>evaluarse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90" dirty="0">
                <a:latin typeface="Arial"/>
                <a:cs typeface="Arial"/>
              </a:rPr>
              <a:t>4</a:t>
            </a:r>
            <a:r>
              <a:rPr sz="1800" spc="-28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categorías:</a:t>
            </a:r>
            <a:endParaRPr sz="18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756285" algn="l"/>
              </a:tabLst>
            </a:pPr>
            <a:r>
              <a:rPr sz="1600" b="1" spc="-100" dirty="0">
                <a:latin typeface="Trebuchet MS"/>
                <a:cs typeface="Trebuchet MS"/>
              </a:rPr>
              <a:t>Factibilidad </a:t>
            </a:r>
            <a:r>
              <a:rPr sz="1600" b="1" spc="-90" dirty="0">
                <a:latin typeface="Trebuchet MS"/>
                <a:cs typeface="Trebuchet MS"/>
              </a:rPr>
              <a:t>Organizacional</a:t>
            </a:r>
            <a:r>
              <a:rPr sz="1600" spc="-90" dirty="0">
                <a:latin typeface="Arial"/>
                <a:cs typeface="Arial"/>
              </a:rPr>
              <a:t>: </a:t>
            </a:r>
            <a:r>
              <a:rPr sz="1600" spc="-45" dirty="0">
                <a:latin typeface="Arial"/>
                <a:cs typeface="Arial"/>
              </a:rPr>
              <a:t>determina </a:t>
            </a:r>
            <a:r>
              <a:rPr sz="1600" spc="-70" dirty="0">
                <a:latin typeface="Arial"/>
                <a:cs typeface="Arial"/>
              </a:rPr>
              <a:t>qué </a:t>
            </a:r>
            <a:r>
              <a:rPr sz="1600" spc="-35" dirty="0">
                <a:latin typeface="Arial"/>
                <a:cs typeface="Arial"/>
              </a:rPr>
              <a:t>tan </a:t>
            </a:r>
            <a:r>
              <a:rPr sz="1600" spc="-50" dirty="0">
                <a:latin typeface="Arial"/>
                <a:cs typeface="Arial"/>
              </a:rPr>
              <a:t>bien </a:t>
            </a:r>
            <a:r>
              <a:rPr sz="1600" spc="-80" dirty="0">
                <a:latin typeface="Arial"/>
                <a:cs typeface="Arial"/>
              </a:rPr>
              <a:t>respalda </a:t>
            </a:r>
            <a:r>
              <a:rPr sz="1600" spc="-100" dirty="0">
                <a:latin typeface="Arial"/>
                <a:cs typeface="Arial"/>
              </a:rPr>
              <a:t>las </a:t>
            </a:r>
            <a:r>
              <a:rPr sz="1600" spc="-65" dirty="0">
                <a:latin typeface="Arial"/>
                <a:cs typeface="Arial"/>
              </a:rPr>
              <a:t>solución </a:t>
            </a:r>
            <a:r>
              <a:rPr sz="1600" spc="-70" dirty="0">
                <a:latin typeface="Arial"/>
                <a:cs typeface="Arial"/>
              </a:rPr>
              <a:t>los  </a:t>
            </a:r>
            <a:r>
              <a:rPr sz="1600" spc="-45" dirty="0">
                <a:latin typeface="Arial"/>
                <a:cs typeface="Arial"/>
              </a:rPr>
              <a:t>objetivos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estratégicos.</a:t>
            </a:r>
            <a:endParaRPr sz="1600">
              <a:latin typeface="Arial"/>
              <a:cs typeface="Arial"/>
            </a:endParaRPr>
          </a:p>
          <a:p>
            <a:pPr marL="755650" marR="6350" lvl="1" indent="-285750" algn="just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1" spc="-100" dirty="0">
                <a:latin typeface="Trebuchet MS"/>
                <a:cs typeface="Trebuchet MS"/>
              </a:rPr>
              <a:t>Factibilidad </a:t>
            </a:r>
            <a:r>
              <a:rPr sz="1600" b="1" spc="-130" dirty="0">
                <a:latin typeface="Trebuchet MS"/>
                <a:cs typeface="Trebuchet MS"/>
              </a:rPr>
              <a:t>Técnica</a:t>
            </a:r>
            <a:r>
              <a:rPr sz="1600" spc="-130" dirty="0">
                <a:latin typeface="Arial"/>
                <a:cs typeface="Arial"/>
              </a:rPr>
              <a:t>: </a:t>
            </a:r>
            <a:r>
              <a:rPr sz="1600" spc="-85" dirty="0">
                <a:latin typeface="Arial"/>
                <a:cs typeface="Arial"/>
              </a:rPr>
              <a:t>capacidad, </a:t>
            </a:r>
            <a:r>
              <a:rPr sz="1600" spc="-50" dirty="0">
                <a:latin typeface="Arial"/>
                <a:cs typeface="Arial"/>
              </a:rPr>
              <a:t>confiabilidad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0" dirty="0">
                <a:latin typeface="Arial"/>
                <a:cs typeface="Arial"/>
              </a:rPr>
              <a:t>disponibilidad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hard, </a:t>
            </a:r>
            <a:r>
              <a:rPr sz="1600" spc="-25" dirty="0">
                <a:latin typeface="Arial"/>
                <a:cs typeface="Arial"/>
              </a:rPr>
              <a:t>soft </a:t>
            </a:r>
            <a:r>
              <a:rPr sz="1600" spc="-75" dirty="0">
                <a:latin typeface="Arial"/>
                <a:cs typeface="Arial"/>
              </a:rPr>
              <a:t>y  </a:t>
            </a:r>
            <a:r>
              <a:rPr sz="1600" spc="-80" dirty="0">
                <a:latin typeface="Arial"/>
                <a:cs typeface="Arial"/>
              </a:rPr>
              <a:t>redes.</a:t>
            </a:r>
            <a:endParaRPr sz="1600">
              <a:latin typeface="Arial"/>
              <a:cs typeface="Arial"/>
            </a:endParaRPr>
          </a:p>
          <a:p>
            <a:pPr marL="755650" marR="5715" lvl="1" indent="-285750" algn="just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1" spc="-100" dirty="0">
                <a:latin typeface="Trebuchet MS"/>
                <a:cs typeface="Trebuchet MS"/>
              </a:rPr>
              <a:t>Factibilidad </a:t>
            </a:r>
            <a:r>
              <a:rPr sz="1600" b="1" spc="-85" dirty="0">
                <a:latin typeface="Trebuchet MS"/>
                <a:cs typeface="Trebuchet MS"/>
              </a:rPr>
              <a:t>Operacional</a:t>
            </a:r>
            <a:r>
              <a:rPr sz="1600" spc="-85" dirty="0">
                <a:latin typeface="Arial"/>
                <a:cs typeface="Arial"/>
              </a:rPr>
              <a:t>: </a:t>
            </a:r>
            <a:r>
              <a:rPr sz="1600" spc="-65" dirty="0">
                <a:latin typeface="Arial"/>
                <a:cs typeface="Arial"/>
              </a:rPr>
              <a:t>disposición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capacitación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85" dirty="0">
                <a:latin typeface="Arial"/>
                <a:cs typeface="Arial"/>
              </a:rPr>
              <a:t>Gerencia,  </a:t>
            </a:r>
            <a:r>
              <a:rPr sz="1600" spc="-75" dirty="0">
                <a:latin typeface="Arial"/>
                <a:cs typeface="Arial"/>
              </a:rPr>
              <a:t>empleados, </a:t>
            </a:r>
            <a:r>
              <a:rPr sz="1600" spc="-60" dirty="0">
                <a:latin typeface="Arial"/>
                <a:cs typeface="Arial"/>
              </a:rPr>
              <a:t>clientes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proveedores</a:t>
            </a:r>
            <a:r>
              <a:rPr sz="1600" spc="30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55" dirty="0">
                <a:latin typeface="Arial"/>
                <a:cs typeface="Arial"/>
              </a:rPr>
              <a:t>operar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respaldar  </a:t>
            </a:r>
            <a:r>
              <a:rPr sz="1600" spc="-65" dirty="0">
                <a:latin typeface="Arial"/>
                <a:cs typeface="Arial"/>
              </a:rPr>
              <a:t>la solución  propuesta.</a:t>
            </a:r>
            <a:endParaRPr sz="1600">
              <a:latin typeface="Arial"/>
              <a:cs typeface="Arial"/>
            </a:endParaRPr>
          </a:p>
          <a:p>
            <a:pPr marL="755650" marR="5715" lvl="1" indent="-28575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56285" algn="l"/>
              </a:tabLst>
            </a:pPr>
            <a:r>
              <a:rPr sz="1600" b="1" spc="-100" dirty="0">
                <a:latin typeface="Trebuchet MS"/>
                <a:cs typeface="Trebuchet MS"/>
              </a:rPr>
              <a:t>Factibilidad </a:t>
            </a:r>
            <a:r>
              <a:rPr sz="1600" b="1" spc="-90" dirty="0">
                <a:latin typeface="Trebuchet MS"/>
                <a:cs typeface="Trebuchet MS"/>
              </a:rPr>
              <a:t>económica</a:t>
            </a:r>
            <a:r>
              <a:rPr sz="1600" spc="-90" dirty="0">
                <a:latin typeface="Arial"/>
                <a:cs typeface="Arial"/>
              </a:rPr>
              <a:t>: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65" dirty="0">
                <a:latin typeface="Arial"/>
                <a:cs typeface="Arial"/>
              </a:rPr>
              <a:t>vincula </a:t>
            </a:r>
            <a:r>
              <a:rPr sz="1600" spc="-60" dirty="0">
                <a:latin typeface="Arial"/>
                <a:cs typeface="Arial"/>
              </a:rPr>
              <a:t>al </a:t>
            </a:r>
            <a:r>
              <a:rPr sz="1600" spc="-80" dirty="0">
                <a:latin typeface="Arial"/>
                <a:cs typeface="Arial"/>
              </a:rPr>
              <a:t>hecho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85" dirty="0">
                <a:latin typeface="Arial"/>
                <a:cs typeface="Arial"/>
              </a:rPr>
              <a:t>si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65" dirty="0">
                <a:latin typeface="Arial"/>
                <a:cs typeface="Arial"/>
              </a:rPr>
              <a:t>beneficios </a:t>
            </a:r>
            <a:r>
              <a:rPr sz="1600" spc="-90" dirty="0">
                <a:latin typeface="Arial"/>
                <a:cs typeface="Arial"/>
              </a:rPr>
              <a:t>esperados  excederán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90" dirty="0">
                <a:latin typeface="Arial"/>
                <a:cs typeface="Arial"/>
              </a:rPr>
              <a:t>costos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desarrollar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5" dirty="0">
                <a:latin typeface="Arial"/>
                <a:cs typeface="Arial"/>
              </a:rPr>
              <a:t>operar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65" dirty="0">
                <a:latin typeface="Arial"/>
                <a:cs typeface="Arial"/>
              </a:rPr>
              <a:t>solución</a:t>
            </a:r>
            <a:r>
              <a:rPr sz="1600" spc="-15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propuesta.</a:t>
            </a:r>
            <a:endParaRPr sz="1600">
              <a:latin typeface="Arial"/>
              <a:cs typeface="Arial"/>
            </a:endParaRPr>
          </a:p>
          <a:p>
            <a:pPr marL="298450" indent="-285750">
              <a:lnSpc>
                <a:spcPts val="2145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170" dirty="0">
                <a:latin typeface="Arial"/>
                <a:cs typeface="Arial"/>
              </a:rPr>
              <a:t>Los </a:t>
            </a:r>
            <a:r>
              <a:rPr sz="1800" spc="-75" dirty="0">
                <a:latin typeface="Arial"/>
                <a:cs typeface="Arial"/>
              </a:rPr>
              <a:t>estudios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35" dirty="0">
                <a:latin typeface="Arial"/>
                <a:cs typeface="Arial"/>
              </a:rPr>
              <a:t>factibilidad </a:t>
            </a:r>
            <a:r>
              <a:rPr sz="1800" spc="-50" dirty="0">
                <a:latin typeface="Arial"/>
                <a:cs typeface="Arial"/>
              </a:rPr>
              <a:t>arrojan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b="1" i="1" spc="-130" dirty="0">
                <a:latin typeface="Arial"/>
                <a:cs typeface="Arial"/>
              </a:rPr>
              <a:t>análisis </a:t>
            </a:r>
            <a:r>
              <a:rPr sz="1800" b="1" i="1" spc="-140" dirty="0">
                <a:latin typeface="Arial"/>
                <a:cs typeface="Arial"/>
              </a:rPr>
              <a:t>de</a:t>
            </a:r>
            <a:r>
              <a:rPr sz="1800" b="1" i="1" spc="-90" dirty="0">
                <a:latin typeface="Arial"/>
                <a:cs typeface="Arial"/>
              </a:rPr>
              <a:t> </a:t>
            </a:r>
            <a:r>
              <a:rPr sz="1800" b="1" i="1" spc="-114" dirty="0">
                <a:latin typeface="Arial"/>
                <a:cs typeface="Arial"/>
              </a:rPr>
              <a:t>costo/beneficio</a:t>
            </a:r>
            <a:r>
              <a:rPr sz="1800" spc="-114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8789" y="1219200"/>
            <a:ext cx="1388238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6938645" cy="5150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latin typeface="Trebuchet MS"/>
                <a:cs typeface="Trebuchet MS"/>
              </a:rPr>
              <a:t>Análisis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5" dirty="0">
                <a:latin typeface="Trebuchet MS"/>
                <a:cs typeface="Trebuchet MS"/>
              </a:rPr>
              <a:t>las</a:t>
            </a:r>
            <a:r>
              <a:rPr sz="2000" b="1" spc="-25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15"/>
              </a:spcBef>
              <a:buChar char="•"/>
              <a:tabLst>
                <a:tab pos="299085" algn="l"/>
              </a:tabLst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30" dirty="0">
                <a:latin typeface="Arial"/>
                <a:cs typeface="Arial"/>
              </a:rPr>
              <a:t>trata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55" dirty="0">
                <a:latin typeface="Arial"/>
                <a:cs typeface="Arial"/>
              </a:rPr>
              <a:t>estudio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45" dirty="0">
                <a:latin typeface="Arial"/>
                <a:cs typeface="Arial"/>
              </a:rPr>
              <a:t>fondo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necesidades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de  los </a:t>
            </a:r>
            <a:r>
              <a:rPr sz="1800" spc="-85" dirty="0">
                <a:latin typeface="Arial"/>
                <a:cs typeface="Arial"/>
              </a:rPr>
              <a:t>usuarios </a:t>
            </a:r>
            <a:r>
              <a:rPr sz="1800" spc="-65" dirty="0">
                <a:latin typeface="Arial"/>
                <a:cs typeface="Arial"/>
              </a:rPr>
              <a:t>finales. </a:t>
            </a:r>
            <a:r>
              <a:rPr sz="1800" spc="-160" dirty="0">
                <a:latin typeface="Arial"/>
                <a:cs typeface="Arial"/>
              </a:rPr>
              <a:t>El </a:t>
            </a:r>
            <a:r>
              <a:rPr sz="1800" spc="-90" dirty="0">
                <a:latin typeface="Arial"/>
                <a:cs typeface="Arial"/>
              </a:rPr>
              <a:t>análisis </a:t>
            </a:r>
            <a:r>
              <a:rPr sz="1800" spc="-85" dirty="0">
                <a:latin typeface="Arial"/>
                <a:cs typeface="Arial"/>
              </a:rPr>
              <a:t>de soluciones </a:t>
            </a:r>
            <a:r>
              <a:rPr sz="1800" spc="-75" dirty="0">
                <a:latin typeface="Arial"/>
                <a:cs typeface="Arial"/>
              </a:rPr>
              <a:t>comprende </a:t>
            </a:r>
            <a:r>
              <a:rPr sz="1800" spc="-55" dirty="0">
                <a:latin typeface="Arial"/>
                <a:cs typeface="Arial"/>
              </a:rPr>
              <a:t>tres </a:t>
            </a:r>
            <a:r>
              <a:rPr sz="1800" spc="-40" dirty="0">
                <a:latin typeface="Arial"/>
                <a:cs typeface="Arial"/>
              </a:rPr>
              <a:t>tipos </a:t>
            </a:r>
            <a:r>
              <a:rPr sz="1800" spc="-80" dirty="0">
                <a:latin typeface="Arial"/>
                <a:cs typeface="Arial"/>
              </a:rPr>
              <a:t>de  análisis:</a:t>
            </a:r>
            <a:endParaRPr sz="1800">
              <a:latin typeface="Arial"/>
              <a:cs typeface="Arial"/>
            </a:endParaRPr>
          </a:p>
          <a:p>
            <a:pPr marL="755650" marR="6985" lvl="1" indent="-285750" algn="just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56285" algn="l"/>
              </a:tabLst>
            </a:pPr>
            <a:r>
              <a:rPr sz="1600" b="1" spc="-70" dirty="0">
                <a:latin typeface="Trebuchet MS"/>
                <a:cs typeface="Trebuchet MS"/>
              </a:rPr>
              <a:t>Análisis </a:t>
            </a:r>
            <a:r>
              <a:rPr sz="1600" b="1" spc="-90" dirty="0">
                <a:latin typeface="Trebuchet MS"/>
                <a:cs typeface="Trebuchet MS"/>
              </a:rPr>
              <a:t>Organizacional</a:t>
            </a:r>
            <a:r>
              <a:rPr sz="1600" spc="-90" dirty="0">
                <a:latin typeface="Arial"/>
                <a:cs typeface="Arial"/>
              </a:rPr>
              <a:t>: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60" dirty="0">
                <a:latin typeface="Arial"/>
                <a:cs typeface="Arial"/>
              </a:rPr>
              <a:t>miembros </a:t>
            </a:r>
            <a:r>
              <a:rPr sz="1600" spc="-50" dirty="0">
                <a:latin typeface="Arial"/>
                <a:cs typeface="Arial"/>
              </a:rPr>
              <a:t>del equipo </a:t>
            </a:r>
            <a:r>
              <a:rPr sz="1600" spc="-70" dirty="0">
                <a:latin typeface="Arial"/>
                <a:cs typeface="Arial"/>
              </a:rPr>
              <a:t>deben </a:t>
            </a:r>
            <a:r>
              <a:rPr sz="1600" spc="-90" dirty="0">
                <a:latin typeface="Arial"/>
                <a:cs typeface="Arial"/>
              </a:rPr>
              <a:t>saber </a:t>
            </a:r>
            <a:r>
              <a:rPr sz="1600" spc="-80" dirty="0">
                <a:latin typeface="Arial"/>
                <a:cs typeface="Arial"/>
              </a:rPr>
              <a:t>algo </a:t>
            </a:r>
            <a:r>
              <a:rPr sz="1600" spc="-75" dirty="0">
                <a:latin typeface="Arial"/>
                <a:cs typeface="Arial"/>
              </a:rPr>
              <a:t>sobre 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75" dirty="0">
                <a:latin typeface="Arial"/>
                <a:cs typeface="Arial"/>
              </a:rPr>
              <a:t>organización, </a:t>
            </a:r>
            <a:r>
              <a:rPr sz="1600" spc="-120" dirty="0">
                <a:latin typeface="Arial"/>
                <a:cs typeface="Arial"/>
              </a:rPr>
              <a:t>su </a:t>
            </a:r>
            <a:r>
              <a:rPr sz="1600" spc="-45" dirty="0">
                <a:latin typeface="Arial"/>
                <a:cs typeface="Arial"/>
              </a:rPr>
              <a:t>estructura </a:t>
            </a:r>
            <a:r>
              <a:rPr sz="1600" spc="-70" dirty="0">
                <a:latin typeface="Arial"/>
                <a:cs typeface="Arial"/>
              </a:rPr>
              <a:t>gerencial, personal, </a:t>
            </a:r>
            <a:r>
              <a:rPr sz="1600" spc="-95" dirty="0">
                <a:latin typeface="Arial"/>
                <a:cs typeface="Arial"/>
              </a:rPr>
              <a:t>sistemas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35" dirty="0">
                <a:latin typeface="Arial"/>
                <a:cs typeface="Arial"/>
              </a:rPr>
              <a:t>entorno,  </a:t>
            </a:r>
            <a:r>
              <a:rPr sz="1600" spc="-50" dirty="0">
                <a:latin typeface="Arial"/>
                <a:cs typeface="Arial"/>
              </a:rPr>
              <a:t>etc.</a:t>
            </a:r>
            <a:endParaRPr sz="1600">
              <a:latin typeface="Arial"/>
              <a:cs typeface="Arial"/>
            </a:endParaRPr>
          </a:p>
          <a:p>
            <a:pPr marL="755650" marR="5715" lvl="1" indent="-285750" algn="just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1" spc="-70" dirty="0">
                <a:latin typeface="Trebuchet MS"/>
                <a:cs typeface="Trebuchet MS"/>
              </a:rPr>
              <a:t>Análisis </a:t>
            </a:r>
            <a:r>
              <a:rPr sz="1600" b="1" spc="-95" dirty="0">
                <a:latin typeface="Trebuchet MS"/>
                <a:cs typeface="Trebuchet MS"/>
              </a:rPr>
              <a:t>de </a:t>
            </a:r>
            <a:r>
              <a:rPr sz="1600" b="1" spc="-70" dirty="0">
                <a:latin typeface="Trebuchet MS"/>
                <a:cs typeface="Trebuchet MS"/>
              </a:rPr>
              <a:t>la </a:t>
            </a:r>
            <a:r>
              <a:rPr sz="1600" b="1" spc="-85" dirty="0">
                <a:latin typeface="Trebuchet MS"/>
                <a:cs typeface="Trebuchet MS"/>
              </a:rPr>
              <a:t>solución </a:t>
            </a:r>
            <a:r>
              <a:rPr sz="1600" b="1" spc="-80" dirty="0">
                <a:latin typeface="Trebuchet MS"/>
                <a:cs typeface="Trebuchet MS"/>
              </a:rPr>
              <a:t>actual</a:t>
            </a:r>
            <a:r>
              <a:rPr sz="1600" spc="-80" dirty="0">
                <a:latin typeface="Arial"/>
                <a:cs typeface="Arial"/>
              </a:rPr>
              <a:t>: </a:t>
            </a:r>
            <a:r>
              <a:rPr sz="1600" spc="-135" dirty="0">
                <a:latin typeface="Arial"/>
                <a:cs typeface="Arial"/>
              </a:rPr>
              <a:t>es </a:t>
            </a:r>
            <a:r>
              <a:rPr sz="1600" spc="-30" dirty="0">
                <a:latin typeface="Arial"/>
                <a:cs typeface="Arial"/>
              </a:rPr>
              <a:t>importante </a:t>
            </a:r>
            <a:r>
              <a:rPr sz="1600" spc="-50" dirty="0">
                <a:latin typeface="Arial"/>
                <a:cs typeface="Arial"/>
              </a:rPr>
              <a:t>estudiar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65" dirty="0">
                <a:latin typeface="Arial"/>
                <a:cs typeface="Arial"/>
              </a:rPr>
              <a:t>solución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135" dirty="0">
                <a:latin typeface="Arial"/>
                <a:cs typeface="Arial"/>
              </a:rPr>
              <a:t>se  </a:t>
            </a:r>
            <a:r>
              <a:rPr sz="1600" spc="-55" dirty="0">
                <a:latin typeface="Arial"/>
                <a:cs typeface="Arial"/>
              </a:rPr>
              <a:t>mejorará </a:t>
            </a:r>
            <a:r>
              <a:rPr sz="1600" spc="-45" dirty="0">
                <a:latin typeface="Arial"/>
                <a:cs typeface="Arial"/>
              </a:rPr>
              <a:t>o </a:t>
            </a:r>
            <a:r>
              <a:rPr sz="1600" spc="-80" dirty="0">
                <a:latin typeface="Arial"/>
                <a:cs typeface="Arial"/>
              </a:rPr>
              <a:t>reemplazará. </a:t>
            </a:r>
            <a:r>
              <a:rPr sz="1600" spc="-100" dirty="0">
                <a:latin typeface="Arial"/>
                <a:cs typeface="Arial"/>
              </a:rPr>
              <a:t>Por </a:t>
            </a:r>
            <a:r>
              <a:rPr sz="1600" spc="-40" dirty="0">
                <a:latin typeface="Arial"/>
                <a:cs typeface="Arial"/>
              </a:rPr>
              <a:t>ejemplo: </a:t>
            </a:r>
            <a:r>
              <a:rPr sz="1600" spc="-70" dirty="0">
                <a:latin typeface="Arial"/>
                <a:cs typeface="Arial"/>
              </a:rPr>
              <a:t>evaluar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35" dirty="0">
                <a:latin typeface="Arial"/>
                <a:cs typeface="Arial"/>
              </a:rPr>
              <a:t>formato, </a:t>
            </a:r>
            <a:r>
              <a:rPr sz="1600" spc="-60" dirty="0">
                <a:latin typeface="Arial"/>
                <a:cs typeface="Arial"/>
              </a:rPr>
              <a:t>volumen </a:t>
            </a:r>
            <a:r>
              <a:rPr sz="1600" spc="-75" dirty="0">
                <a:latin typeface="Arial"/>
                <a:cs typeface="Arial"/>
              </a:rPr>
              <a:t>y  </a:t>
            </a:r>
            <a:r>
              <a:rPr sz="1600" spc="-60" dirty="0">
                <a:latin typeface="Arial"/>
                <a:cs typeface="Arial"/>
              </a:rPr>
              <a:t>cantidad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actividades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entrada </a:t>
            </a:r>
            <a:r>
              <a:rPr sz="1600" spc="-75" dirty="0">
                <a:latin typeface="Arial"/>
                <a:cs typeface="Arial"/>
              </a:rPr>
              <a:t>y</a:t>
            </a:r>
            <a:r>
              <a:rPr sz="1600" spc="-229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salida.</a:t>
            </a:r>
            <a:endParaRPr sz="16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1" spc="-70" dirty="0">
                <a:latin typeface="Trebuchet MS"/>
                <a:cs typeface="Trebuchet MS"/>
              </a:rPr>
              <a:t>Análisis </a:t>
            </a:r>
            <a:r>
              <a:rPr sz="1600" b="1" spc="-95" dirty="0">
                <a:latin typeface="Trebuchet MS"/>
                <a:cs typeface="Trebuchet MS"/>
              </a:rPr>
              <a:t>de </a:t>
            </a:r>
            <a:r>
              <a:rPr sz="1600" b="1" spc="-100" dirty="0">
                <a:latin typeface="Trebuchet MS"/>
                <a:cs typeface="Trebuchet MS"/>
              </a:rPr>
              <a:t>requerimientos </a:t>
            </a:r>
            <a:r>
              <a:rPr sz="1600" b="1" spc="-80" dirty="0">
                <a:latin typeface="Trebuchet MS"/>
                <a:cs typeface="Trebuchet MS"/>
              </a:rPr>
              <a:t>funcionales</a:t>
            </a:r>
            <a:r>
              <a:rPr sz="1600" spc="-80" dirty="0">
                <a:latin typeface="Arial"/>
                <a:cs typeface="Arial"/>
              </a:rPr>
              <a:t>: </a:t>
            </a:r>
            <a:r>
              <a:rPr sz="1600" spc="-135" dirty="0">
                <a:latin typeface="Arial"/>
                <a:cs typeface="Arial"/>
              </a:rPr>
              <a:t>es </a:t>
            </a:r>
            <a:r>
              <a:rPr sz="1600" spc="-60" dirty="0">
                <a:latin typeface="Arial"/>
                <a:cs typeface="Arial"/>
              </a:rPr>
              <a:t>posible </a:t>
            </a:r>
            <a:r>
              <a:rPr sz="1600" spc="-70" dirty="0">
                <a:latin typeface="Arial"/>
                <a:cs typeface="Arial"/>
              </a:rPr>
              <a:t>que</a:t>
            </a:r>
            <a:r>
              <a:rPr sz="1600" spc="300" dirty="0">
                <a:latin typeface="Arial"/>
                <a:cs typeface="Arial"/>
              </a:rPr>
              <a:t>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75" dirty="0">
                <a:latin typeface="Arial"/>
                <a:cs typeface="Arial"/>
              </a:rPr>
              <a:t>necesite  </a:t>
            </a:r>
            <a:r>
              <a:rPr sz="1600" spc="-35" dirty="0">
                <a:latin typeface="Arial"/>
                <a:cs typeface="Arial"/>
              </a:rPr>
              <a:t>trabajar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85" dirty="0">
                <a:latin typeface="Arial"/>
                <a:cs typeface="Arial"/>
              </a:rPr>
              <a:t>analistas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35" dirty="0">
                <a:latin typeface="Arial"/>
                <a:cs typeface="Arial"/>
              </a:rPr>
              <a:t>otros </a:t>
            </a:r>
            <a:r>
              <a:rPr sz="1600" spc="-80" dirty="0">
                <a:latin typeface="Arial"/>
                <a:cs typeface="Arial"/>
              </a:rPr>
              <a:t>usuarios para </a:t>
            </a:r>
            <a:r>
              <a:rPr sz="1600" spc="-40" dirty="0">
                <a:latin typeface="Arial"/>
                <a:cs typeface="Arial"/>
              </a:rPr>
              <a:t>determinar </a:t>
            </a:r>
            <a:r>
              <a:rPr sz="1600" spc="-95" dirty="0">
                <a:latin typeface="Arial"/>
                <a:cs typeface="Arial"/>
              </a:rPr>
              <a:t>las necesidades  específicas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información.</a:t>
            </a:r>
            <a:endParaRPr sz="1600">
              <a:latin typeface="Arial"/>
              <a:cs typeface="Arial"/>
            </a:endParaRPr>
          </a:p>
          <a:p>
            <a:pPr marL="298450" marR="6985" indent="-285750" algn="just">
              <a:lnSpc>
                <a:spcPts val="2160"/>
              </a:lnSpc>
              <a:spcBef>
                <a:spcPts val="60"/>
              </a:spcBef>
              <a:buChar char="•"/>
              <a:tabLst>
                <a:tab pos="299085" algn="l"/>
              </a:tabLst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80" dirty="0">
                <a:latin typeface="Arial"/>
                <a:cs typeface="Arial"/>
              </a:rPr>
              <a:t>debe </a:t>
            </a:r>
            <a:r>
              <a:rPr sz="1800" spc="-20" dirty="0">
                <a:latin typeface="Arial"/>
                <a:cs typeface="Arial"/>
              </a:rPr>
              <a:t>tratar </a:t>
            </a:r>
            <a:r>
              <a:rPr sz="1800" spc="-50" dirty="0">
                <a:latin typeface="Arial"/>
                <a:cs typeface="Arial"/>
              </a:rPr>
              <a:t>también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desarrollar </a:t>
            </a:r>
            <a:r>
              <a:rPr sz="1800" spc="-50" dirty="0">
                <a:latin typeface="Arial"/>
                <a:cs typeface="Arial"/>
              </a:rPr>
              <a:t>requerimientos </a:t>
            </a:r>
            <a:r>
              <a:rPr sz="1800" spc="-70" dirty="0">
                <a:latin typeface="Arial"/>
                <a:cs typeface="Arial"/>
              </a:rPr>
              <a:t>funcionales </a:t>
            </a:r>
            <a:r>
              <a:rPr sz="1800" spc="-75" dirty="0">
                <a:latin typeface="Arial"/>
                <a:cs typeface="Arial"/>
              </a:rPr>
              <a:t>que  </a:t>
            </a:r>
            <a:r>
              <a:rPr sz="1800" spc="-60" dirty="0">
                <a:latin typeface="Arial"/>
                <a:cs typeface="Arial"/>
              </a:rPr>
              <a:t>constituyen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50" dirty="0">
                <a:latin typeface="Arial"/>
                <a:cs typeface="Arial"/>
              </a:rPr>
              <a:t>requerimientos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5" dirty="0">
                <a:latin typeface="Arial"/>
                <a:cs typeface="Arial"/>
              </a:rPr>
              <a:t>de usuarios</a:t>
            </a:r>
            <a:r>
              <a:rPr sz="1800" spc="-19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finales.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09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110" dirty="0">
                <a:latin typeface="Arial"/>
                <a:cs typeface="Arial"/>
              </a:rPr>
              <a:t>Algunas </a:t>
            </a:r>
            <a:r>
              <a:rPr sz="1800" spc="-114" dirty="0">
                <a:latin typeface="Arial"/>
                <a:cs typeface="Arial"/>
              </a:rPr>
              <a:t>áreas </a:t>
            </a:r>
            <a:r>
              <a:rPr sz="1800" spc="-120" dirty="0">
                <a:latin typeface="Arial"/>
                <a:cs typeface="Arial"/>
              </a:rPr>
              <a:t>claves </a:t>
            </a:r>
            <a:r>
              <a:rPr sz="1800" spc="-70" dirty="0">
                <a:latin typeface="Arial"/>
                <a:cs typeface="Arial"/>
              </a:rPr>
              <a:t>donde </a:t>
            </a:r>
            <a:r>
              <a:rPr sz="1800" spc="-80" dirty="0">
                <a:latin typeface="Arial"/>
                <a:cs typeface="Arial"/>
              </a:rPr>
              <a:t>deberían desarrollarse </a:t>
            </a:r>
            <a:r>
              <a:rPr sz="1800" spc="-50" dirty="0">
                <a:latin typeface="Arial"/>
                <a:cs typeface="Arial"/>
              </a:rPr>
              <a:t>requerimientos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son:</a:t>
            </a:r>
            <a:endParaRPr sz="1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6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Interfaz </a:t>
            </a:r>
            <a:r>
              <a:rPr sz="16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600" i="1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usuario</a:t>
            </a:r>
            <a:r>
              <a:rPr sz="1600" i="1" spc="-70" dirty="0">
                <a:latin typeface="Trebuchet MS"/>
                <a:cs typeface="Trebuchet MS"/>
              </a:rPr>
              <a:t> </a:t>
            </a:r>
            <a:r>
              <a:rPr sz="1600" spc="-95" dirty="0">
                <a:latin typeface="Arial"/>
                <a:cs typeface="Arial"/>
              </a:rPr>
              <a:t>(necesidades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entrada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80" dirty="0">
                <a:latin typeface="Arial"/>
                <a:cs typeface="Arial"/>
              </a:rPr>
              <a:t>salida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los</a:t>
            </a:r>
            <a:r>
              <a:rPr sz="1600" spc="-254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usuarios),</a:t>
            </a:r>
            <a:endParaRPr sz="1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6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Procesamiento</a:t>
            </a:r>
            <a:r>
              <a:rPr sz="1600" i="1" spc="-7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Arial"/>
                <a:cs typeface="Arial"/>
              </a:rPr>
              <a:t>(actividades </a:t>
            </a:r>
            <a:r>
              <a:rPr sz="1600" spc="-65" dirty="0">
                <a:latin typeface="Arial"/>
                <a:cs typeface="Arial"/>
              </a:rPr>
              <a:t>requeridas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35" dirty="0">
                <a:latin typeface="Arial"/>
                <a:cs typeface="Arial"/>
              </a:rPr>
              <a:t>convertir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55" dirty="0">
                <a:latin typeface="Arial"/>
                <a:cs typeface="Arial"/>
              </a:rPr>
              <a:t>entrada </a:t>
            </a:r>
            <a:r>
              <a:rPr sz="1600" spc="-75" dirty="0">
                <a:latin typeface="Arial"/>
                <a:cs typeface="Arial"/>
              </a:rPr>
              <a:t>en</a:t>
            </a:r>
            <a:r>
              <a:rPr sz="1600" spc="-25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salida),</a:t>
            </a:r>
            <a:endParaRPr sz="1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6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Almacenamiento</a:t>
            </a:r>
            <a:r>
              <a:rPr sz="1600" i="1" spc="-8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Arial"/>
                <a:cs typeface="Arial"/>
              </a:rPr>
              <a:t>(organización, </a:t>
            </a:r>
            <a:r>
              <a:rPr sz="1600" spc="-55" dirty="0">
                <a:latin typeface="Arial"/>
                <a:cs typeface="Arial"/>
              </a:rPr>
              <a:t>tamaño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0" dirty="0">
                <a:latin typeface="Arial"/>
                <a:cs typeface="Arial"/>
              </a:rPr>
              <a:t>contenido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114" dirty="0">
                <a:latin typeface="Arial"/>
                <a:cs typeface="Arial"/>
              </a:rPr>
              <a:t>base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datos)</a:t>
            </a:r>
            <a:r>
              <a:rPr sz="1600" spc="-204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6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Control</a:t>
            </a:r>
            <a:r>
              <a:rPr sz="1600" i="1" spc="-100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Arial"/>
                <a:cs typeface="Arial"/>
              </a:rPr>
              <a:t>(requerimientos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veracidad, </a:t>
            </a:r>
            <a:r>
              <a:rPr sz="1600" spc="-75" dirty="0">
                <a:latin typeface="Arial"/>
                <a:cs typeface="Arial"/>
              </a:rPr>
              <a:t>validez,</a:t>
            </a:r>
            <a:r>
              <a:rPr sz="1600" spc="-16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solidez).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02830" y="1447800"/>
            <a:ext cx="1520952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02830" y="4127753"/>
            <a:ext cx="1512570" cy="9776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48571" y="2895600"/>
            <a:ext cx="1494260" cy="8039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7166609" cy="527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latin typeface="Trebuchet MS"/>
                <a:cs typeface="Trebuchet MS"/>
              </a:rPr>
              <a:t>Diseño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5" dirty="0">
                <a:latin typeface="Trebuchet MS"/>
                <a:cs typeface="Trebuchet MS"/>
              </a:rPr>
              <a:t>las</a:t>
            </a:r>
            <a:r>
              <a:rPr sz="2000" b="1" spc="-235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  <a:p>
            <a:pPr marL="298450" marR="5080" indent="-285750">
              <a:lnSpc>
                <a:spcPct val="100000"/>
              </a:lnSpc>
              <a:spcBef>
                <a:spcPts val="15"/>
              </a:spcBef>
              <a:buChar char="•"/>
              <a:tabLst>
                <a:tab pos="298450" algn="l"/>
                <a:tab pos="299085" algn="l"/>
                <a:tab pos="1360805" algn="l"/>
                <a:tab pos="2031364" algn="l"/>
                <a:tab pos="2345055" algn="l"/>
                <a:tab pos="3270250" algn="l"/>
                <a:tab pos="4072254" algn="l"/>
                <a:tab pos="4485640" algn="l"/>
                <a:tab pos="5485765" algn="l"/>
                <a:tab pos="5871845" algn="l"/>
                <a:tab pos="6901180" algn="l"/>
              </a:tabLst>
            </a:pPr>
            <a:r>
              <a:rPr sz="1800" spc="-105" dirty="0">
                <a:latin typeface="Arial"/>
                <a:cs typeface="Arial"/>
              </a:rPr>
              <a:t>Especifi</a:t>
            </a:r>
            <a:r>
              <a:rPr sz="1800" spc="-130" dirty="0">
                <a:latin typeface="Arial"/>
                <a:cs typeface="Arial"/>
              </a:rPr>
              <a:t>c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55" dirty="0">
                <a:latin typeface="Arial"/>
                <a:cs typeface="Arial"/>
              </a:rPr>
              <a:t>c</a:t>
            </a:r>
            <a:r>
              <a:rPr sz="1800" spc="-65" dirty="0">
                <a:latin typeface="Arial"/>
                <a:cs typeface="Arial"/>
              </a:rPr>
              <a:t>om</a:t>
            </a:r>
            <a:r>
              <a:rPr sz="1800" spc="-50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65" dirty="0">
                <a:latin typeface="Arial"/>
                <a:cs typeface="Arial"/>
              </a:rPr>
              <a:t>la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70" dirty="0">
                <a:latin typeface="Arial"/>
                <a:cs typeface="Arial"/>
              </a:rPr>
              <a:t>solució</a:t>
            </a:r>
            <a:r>
              <a:rPr sz="1800" spc="-8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45" dirty="0">
                <a:latin typeface="Arial"/>
                <a:cs typeface="Arial"/>
              </a:rPr>
              <a:t>log</a:t>
            </a:r>
            <a:r>
              <a:rPr sz="1800" spc="-75" dirty="0">
                <a:latin typeface="Arial"/>
                <a:cs typeface="Arial"/>
              </a:rPr>
              <a:t>r</a:t>
            </a:r>
            <a:r>
              <a:rPr sz="1800" spc="-7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r</a:t>
            </a:r>
            <a:r>
              <a:rPr sz="1800" spc="-140" dirty="0">
                <a:latin typeface="Arial"/>
                <a:cs typeface="Arial"/>
              </a:rPr>
              <a:t>á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80" dirty="0">
                <a:latin typeface="Arial"/>
                <a:cs typeface="Arial"/>
              </a:rPr>
              <a:t>los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obj</a:t>
            </a:r>
            <a:r>
              <a:rPr sz="1800" spc="-70" dirty="0">
                <a:latin typeface="Arial"/>
                <a:cs typeface="Arial"/>
              </a:rPr>
              <a:t>e</a:t>
            </a:r>
            <a:r>
              <a:rPr sz="1800" spc="5" dirty="0">
                <a:latin typeface="Arial"/>
                <a:cs typeface="Arial"/>
              </a:rPr>
              <a:t>ti</a:t>
            </a:r>
            <a:r>
              <a:rPr sz="1800" spc="-10" dirty="0">
                <a:latin typeface="Arial"/>
                <a:cs typeface="Arial"/>
              </a:rPr>
              <a:t>v</a:t>
            </a:r>
            <a:r>
              <a:rPr sz="1800" spc="-140" dirty="0">
                <a:latin typeface="Arial"/>
                <a:cs typeface="Arial"/>
              </a:rPr>
              <a:t>o</a:t>
            </a:r>
            <a:r>
              <a:rPr sz="1800" spc="-120" dirty="0">
                <a:latin typeface="Arial"/>
                <a:cs typeface="Arial"/>
              </a:rPr>
              <a:t>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65" dirty="0">
                <a:latin typeface="Arial"/>
                <a:cs typeface="Arial"/>
              </a:rPr>
              <a:t>s</a:t>
            </a:r>
            <a:r>
              <a:rPr sz="1800" spc="-2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ti</a:t>
            </a:r>
            <a:r>
              <a:rPr sz="1800" spc="-65" dirty="0">
                <a:latin typeface="Arial"/>
                <a:cs typeface="Arial"/>
              </a:rPr>
              <a:t>s</a:t>
            </a:r>
            <a:r>
              <a:rPr sz="1800" spc="10" dirty="0">
                <a:latin typeface="Arial"/>
                <a:cs typeface="Arial"/>
              </a:rPr>
              <a:t>f</a:t>
            </a:r>
            <a:r>
              <a:rPr sz="1800" spc="-90" dirty="0">
                <a:latin typeface="Arial"/>
                <a:cs typeface="Arial"/>
              </a:rPr>
              <a:t>acer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95" dirty="0">
                <a:latin typeface="Arial"/>
                <a:cs typeface="Arial"/>
              </a:rPr>
              <a:t>las  </a:t>
            </a:r>
            <a:r>
              <a:rPr sz="1800" spc="-110" dirty="0">
                <a:latin typeface="Arial"/>
                <a:cs typeface="Arial"/>
              </a:rPr>
              <a:t>necesidades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los usuarios. </a:t>
            </a:r>
            <a:r>
              <a:rPr sz="1800" spc="-125" dirty="0">
                <a:latin typeface="Arial"/>
                <a:cs typeface="Arial"/>
              </a:rPr>
              <a:t>Consta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tres </a:t>
            </a:r>
            <a:r>
              <a:rPr sz="1800" spc="-70" dirty="0">
                <a:latin typeface="Arial"/>
                <a:cs typeface="Arial"/>
              </a:rPr>
              <a:t>actividades:</a:t>
            </a:r>
            <a:endParaRPr sz="1800">
              <a:latin typeface="Arial"/>
              <a:cs typeface="Arial"/>
            </a:endParaRPr>
          </a:p>
          <a:p>
            <a:pPr marL="551180" marR="5080" lvl="1" indent="-269240" algn="just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551815" algn="l"/>
              </a:tabLst>
            </a:pPr>
            <a:r>
              <a:rPr sz="1600" b="1" i="1" spc="-145" dirty="0">
                <a:latin typeface="Arial"/>
                <a:cs typeface="Arial"/>
              </a:rPr>
              <a:t>Diseño </a:t>
            </a:r>
            <a:r>
              <a:rPr sz="1600" b="1" i="1" spc="-114" dirty="0">
                <a:latin typeface="Arial"/>
                <a:cs typeface="Arial"/>
              </a:rPr>
              <a:t>de </a:t>
            </a:r>
            <a:r>
              <a:rPr sz="1600" b="1" i="1" spc="-80" dirty="0">
                <a:latin typeface="Arial"/>
                <a:cs typeface="Arial"/>
              </a:rPr>
              <a:t>interfaz </a:t>
            </a:r>
            <a:r>
              <a:rPr sz="1600" b="1" i="1" spc="-120" dirty="0">
                <a:latin typeface="Arial"/>
                <a:cs typeface="Arial"/>
              </a:rPr>
              <a:t>de </a:t>
            </a:r>
            <a:r>
              <a:rPr sz="1600" b="1" i="1" spc="-105" dirty="0">
                <a:latin typeface="Arial"/>
                <a:cs typeface="Arial"/>
              </a:rPr>
              <a:t>usuario</a:t>
            </a:r>
            <a:r>
              <a:rPr sz="1600" spc="-105" dirty="0">
                <a:latin typeface="Arial"/>
                <a:cs typeface="Arial"/>
              </a:rPr>
              <a:t>: </a:t>
            </a:r>
            <a:r>
              <a:rPr sz="1600" spc="-60" dirty="0">
                <a:latin typeface="Arial"/>
                <a:cs typeface="Arial"/>
              </a:rPr>
              <a:t>relacionado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75" dirty="0">
                <a:latin typeface="Arial"/>
                <a:cs typeface="Arial"/>
              </a:rPr>
              <a:t>diseño de </a:t>
            </a:r>
            <a:r>
              <a:rPr sz="1600" spc="-55" dirty="0">
                <a:latin typeface="Arial"/>
                <a:cs typeface="Arial"/>
              </a:rPr>
              <a:t>pantalla, </a:t>
            </a:r>
            <a:r>
              <a:rPr sz="1600" spc="-35" dirty="0">
                <a:latin typeface="Arial"/>
                <a:cs typeface="Arial"/>
              </a:rPr>
              <a:t>formato,  informe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60" dirty="0">
                <a:latin typeface="Arial"/>
                <a:cs typeface="Arial"/>
              </a:rPr>
              <a:t>diálogo. </a:t>
            </a:r>
            <a:r>
              <a:rPr sz="1600" spc="-95" dirty="0">
                <a:latin typeface="Arial"/>
                <a:cs typeface="Arial"/>
              </a:rPr>
              <a:t>Pueden</a:t>
            </a:r>
            <a:r>
              <a:rPr sz="1600" spc="250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utilizarse </a:t>
            </a:r>
            <a:r>
              <a:rPr sz="1600" spc="-20" dirty="0">
                <a:latin typeface="Arial"/>
                <a:cs typeface="Arial"/>
              </a:rPr>
              <a:t>tanto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90" dirty="0">
                <a:latin typeface="Arial"/>
                <a:cs typeface="Arial"/>
              </a:rPr>
              <a:t>grandes </a:t>
            </a:r>
            <a:r>
              <a:rPr sz="1600" spc="-75" dirty="0">
                <a:latin typeface="Arial"/>
                <a:cs typeface="Arial"/>
              </a:rPr>
              <a:t>como </a:t>
            </a:r>
            <a:r>
              <a:rPr sz="1600" spc="-90" dirty="0">
                <a:latin typeface="Arial"/>
                <a:cs typeface="Arial"/>
              </a:rPr>
              <a:t>pequeñas  </a:t>
            </a:r>
            <a:r>
              <a:rPr sz="1600" spc="-80" dirty="0">
                <a:latin typeface="Arial"/>
                <a:cs typeface="Arial"/>
              </a:rPr>
              <a:t>aplicaciones. </a:t>
            </a:r>
            <a:r>
              <a:rPr sz="1600" spc="-140" dirty="0">
                <a:latin typeface="Arial"/>
                <a:cs typeface="Arial"/>
              </a:rPr>
              <a:t>El </a:t>
            </a:r>
            <a:r>
              <a:rPr sz="1600" spc="-10" dirty="0">
                <a:latin typeface="Arial"/>
                <a:cs typeface="Arial"/>
              </a:rPr>
              <a:t>prototipo </a:t>
            </a:r>
            <a:r>
              <a:rPr sz="1600" spc="-85" dirty="0">
                <a:latin typeface="Arial"/>
                <a:cs typeface="Arial"/>
              </a:rPr>
              <a:t>varias </a:t>
            </a:r>
            <a:r>
              <a:rPr sz="1600" spc="-120" dirty="0">
                <a:latin typeface="Arial"/>
                <a:cs typeface="Arial"/>
              </a:rPr>
              <a:t>veces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45" dirty="0">
                <a:latin typeface="Arial"/>
                <a:cs typeface="Arial"/>
              </a:rPr>
              <a:t>modifica </a:t>
            </a:r>
            <a:r>
              <a:rPr sz="1600" spc="-90" dirty="0">
                <a:latin typeface="Arial"/>
                <a:cs typeface="Arial"/>
              </a:rPr>
              <a:t>hasta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65" dirty="0">
                <a:latin typeface="Arial"/>
                <a:cs typeface="Arial"/>
              </a:rPr>
              <a:t>usuario </a:t>
            </a:r>
            <a:r>
              <a:rPr sz="1600" spc="-30" dirty="0">
                <a:latin typeface="Arial"/>
                <a:cs typeface="Arial"/>
              </a:rPr>
              <a:t>final  </a:t>
            </a:r>
            <a:r>
              <a:rPr sz="1600" spc="-60" dirty="0">
                <a:latin typeface="Arial"/>
                <a:cs typeface="Arial"/>
              </a:rPr>
              <a:t>encuentra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135" dirty="0">
                <a:latin typeface="Arial"/>
                <a:cs typeface="Arial"/>
              </a:rPr>
              <a:t>es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aceptable.</a:t>
            </a:r>
            <a:endParaRPr sz="1600">
              <a:latin typeface="Arial"/>
              <a:cs typeface="Arial"/>
            </a:endParaRPr>
          </a:p>
          <a:p>
            <a:pPr marL="551180" marR="5080" lvl="1" indent="-269240" algn="just">
              <a:lnSpc>
                <a:spcPct val="100000"/>
              </a:lnSpc>
              <a:buAutoNum type="arabicPeriod"/>
              <a:tabLst>
                <a:tab pos="551815" algn="l"/>
              </a:tabLst>
            </a:pPr>
            <a:r>
              <a:rPr sz="1600" b="1" i="1" spc="-145" dirty="0">
                <a:latin typeface="Arial"/>
                <a:cs typeface="Arial"/>
              </a:rPr>
              <a:t>Diseño </a:t>
            </a:r>
            <a:r>
              <a:rPr sz="1600" b="1" i="1" spc="-114" dirty="0">
                <a:latin typeface="Arial"/>
                <a:cs typeface="Arial"/>
              </a:rPr>
              <a:t>de </a:t>
            </a:r>
            <a:r>
              <a:rPr sz="1600" b="1" i="1" spc="-100" dirty="0">
                <a:latin typeface="Arial"/>
                <a:cs typeface="Arial"/>
              </a:rPr>
              <a:t>datos</a:t>
            </a:r>
            <a:r>
              <a:rPr sz="1600" spc="-100" dirty="0">
                <a:latin typeface="Arial"/>
                <a:cs typeface="Arial"/>
              </a:rPr>
              <a:t>: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55" dirty="0">
                <a:latin typeface="Arial"/>
                <a:cs typeface="Arial"/>
              </a:rPr>
              <a:t>centra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70" dirty="0">
                <a:latin typeface="Arial"/>
                <a:cs typeface="Arial"/>
              </a:rPr>
              <a:t>diseño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45" dirty="0">
                <a:latin typeface="Arial"/>
                <a:cs typeface="Arial"/>
              </a:rPr>
              <a:t>estructura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114" dirty="0">
                <a:latin typeface="Arial"/>
                <a:cs typeface="Arial"/>
              </a:rPr>
              <a:t>base </a:t>
            </a:r>
            <a:r>
              <a:rPr sz="1600" spc="-75" dirty="0">
                <a:latin typeface="Arial"/>
                <a:cs typeface="Arial"/>
              </a:rPr>
              <a:t>de datos y  </a:t>
            </a:r>
            <a:r>
              <a:rPr sz="1600" spc="-80" dirty="0">
                <a:latin typeface="Arial"/>
                <a:cs typeface="Arial"/>
              </a:rPr>
              <a:t>archivos </a:t>
            </a:r>
            <a:r>
              <a:rPr sz="1600" spc="-85" dirty="0">
                <a:latin typeface="Arial"/>
                <a:cs typeface="Arial"/>
              </a:rPr>
              <a:t>necesarios. </a:t>
            </a:r>
            <a:r>
              <a:rPr sz="1600" spc="-190" dirty="0">
                <a:latin typeface="Arial"/>
                <a:cs typeface="Arial"/>
              </a:rPr>
              <a:t>Su </a:t>
            </a:r>
            <a:r>
              <a:rPr sz="1600" spc="-40" dirty="0">
                <a:latin typeface="Arial"/>
                <a:cs typeface="Arial"/>
              </a:rPr>
              <a:t>producto </a:t>
            </a:r>
            <a:r>
              <a:rPr sz="1600" spc="-80" dirty="0">
                <a:latin typeface="Arial"/>
                <a:cs typeface="Arial"/>
              </a:rPr>
              <a:t>consiste </a:t>
            </a:r>
            <a:r>
              <a:rPr sz="1600" spc="-70" dirty="0">
                <a:latin typeface="Arial"/>
                <a:cs typeface="Arial"/>
              </a:rPr>
              <a:t>en </a:t>
            </a:r>
            <a:r>
              <a:rPr sz="1600" spc="-80" dirty="0">
                <a:latin typeface="Arial"/>
                <a:cs typeface="Arial"/>
              </a:rPr>
              <a:t>descripciones </a:t>
            </a:r>
            <a:r>
              <a:rPr sz="1600" spc="-70" dirty="0">
                <a:latin typeface="Arial"/>
                <a:cs typeface="Arial"/>
              </a:rPr>
              <a:t>detalladas </a:t>
            </a:r>
            <a:r>
              <a:rPr sz="1600" spc="-55" dirty="0">
                <a:latin typeface="Arial"/>
                <a:cs typeface="Arial"/>
              </a:rPr>
              <a:t>de: </a:t>
            </a:r>
            <a:r>
              <a:rPr sz="1600" spc="-70" dirty="0">
                <a:latin typeface="Arial"/>
                <a:cs typeface="Arial"/>
              </a:rPr>
              <a:t>los  </a:t>
            </a:r>
            <a:r>
              <a:rPr sz="1600" spc="-35" dirty="0">
                <a:latin typeface="Arial"/>
                <a:cs typeface="Arial"/>
              </a:rPr>
              <a:t>atributos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entidades </a:t>
            </a:r>
            <a:r>
              <a:rPr sz="1600" spc="-95" dirty="0">
                <a:latin typeface="Arial"/>
                <a:cs typeface="Arial"/>
              </a:rPr>
              <a:t>sobres las cuales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75" dirty="0">
                <a:latin typeface="Arial"/>
                <a:cs typeface="Arial"/>
              </a:rPr>
              <a:t>necesitan </a:t>
            </a:r>
            <a:r>
              <a:rPr sz="1600" spc="-45" dirty="0">
                <a:latin typeface="Arial"/>
                <a:cs typeface="Arial"/>
              </a:rPr>
              <a:t>información, </a:t>
            </a:r>
            <a:r>
              <a:rPr sz="1600" spc="-95" dirty="0">
                <a:latin typeface="Arial"/>
                <a:cs typeface="Arial"/>
              </a:rPr>
              <a:t>las </a:t>
            </a:r>
            <a:r>
              <a:rPr sz="1600" spc="-70" dirty="0">
                <a:latin typeface="Arial"/>
                <a:cs typeface="Arial"/>
              </a:rPr>
              <a:t>relaciones  </a:t>
            </a:r>
            <a:r>
              <a:rPr sz="1600" spc="-35" dirty="0">
                <a:latin typeface="Arial"/>
                <a:cs typeface="Arial"/>
              </a:rPr>
              <a:t>entre </a:t>
            </a:r>
            <a:r>
              <a:rPr sz="1600" spc="-60" dirty="0">
                <a:latin typeface="Arial"/>
                <a:cs typeface="Arial"/>
              </a:rPr>
              <a:t>entidades, </a:t>
            </a:r>
            <a:r>
              <a:rPr sz="1600" spc="-75" dirty="0">
                <a:latin typeface="Arial"/>
                <a:cs typeface="Arial"/>
              </a:rPr>
              <a:t>los </a:t>
            </a:r>
            <a:r>
              <a:rPr sz="1600" spc="-70" dirty="0">
                <a:latin typeface="Arial"/>
                <a:cs typeface="Arial"/>
              </a:rPr>
              <a:t>datos </a:t>
            </a:r>
            <a:r>
              <a:rPr sz="1600" spc="-90" dirty="0">
                <a:latin typeface="Arial"/>
                <a:cs typeface="Arial"/>
              </a:rPr>
              <a:t>específicos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75" dirty="0">
                <a:latin typeface="Arial"/>
                <a:cs typeface="Arial"/>
              </a:rPr>
              <a:t>necesitan </a:t>
            </a:r>
            <a:r>
              <a:rPr sz="1600" spc="-70" dirty="0">
                <a:latin typeface="Arial"/>
                <a:cs typeface="Arial"/>
              </a:rPr>
              <a:t>mantenerse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95" dirty="0">
                <a:latin typeface="Arial"/>
                <a:cs typeface="Arial"/>
              </a:rPr>
              <a:t>las </a:t>
            </a:r>
            <a:r>
              <a:rPr sz="1600" spc="-90" dirty="0">
                <a:latin typeface="Arial"/>
                <a:cs typeface="Arial"/>
              </a:rPr>
              <a:t>reglas </a:t>
            </a:r>
            <a:r>
              <a:rPr sz="1600" spc="-80" dirty="0">
                <a:latin typeface="Arial"/>
                <a:cs typeface="Arial"/>
              </a:rPr>
              <a:t>de  </a:t>
            </a:r>
            <a:r>
              <a:rPr sz="1600" spc="-40" dirty="0">
                <a:latin typeface="Arial"/>
                <a:cs typeface="Arial"/>
              </a:rPr>
              <a:t>integridad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55" dirty="0">
                <a:latin typeface="Arial"/>
                <a:cs typeface="Arial"/>
              </a:rPr>
              <a:t>rigen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45" dirty="0">
                <a:latin typeface="Arial"/>
                <a:cs typeface="Arial"/>
              </a:rPr>
              <a:t>forma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110" dirty="0">
                <a:latin typeface="Arial"/>
                <a:cs typeface="Arial"/>
              </a:rPr>
              <a:t>cada </a:t>
            </a:r>
            <a:r>
              <a:rPr sz="1600" spc="-50" dirty="0">
                <a:latin typeface="Arial"/>
                <a:cs typeface="Arial"/>
              </a:rPr>
              <a:t>elemento </a:t>
            </a:r>
            <a:r>
              <a:rPr sz="1600" spc="-135" dirty="0">
                <a:latin typeface="Arial"/>
                <a:cs typeface="Arial"/>
              </a:rPr>
              <a:t>es</a:t>
            </a:r>
            <a:r>
              <a:rPr sz="1600" spc="-31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especificado</a:t>
            </a:r>
            <a:endParaRPr sz="1600">
              <a:latin typeface="Arial"/>
              <a:cs typeface="Arial"/>
            </a:endParaRPr>
          </a:p>
          <a:p>
            <a:pPr marL="551180" marR="5080" lvl="1" indent="-269240" algn="just">
              <a:lnSpc>
                <a:spcPct val="100000"/>
              </a:lnSpc>
              <a:buAutoNum type="arabicPeriod"/>
              <a:tabLst>
                <a:tab pos="551815" algn="l"/>
              </a:tabLst>
            </a:pPr>
            <a:r>
              <a:rPr sz="1600" b="1" i="1" spc="-145" dirty="0">
                <a:latin typeface="Arial"/>
                <a:cs typeface="Arial"/>
              </a:rPr>
              <a:t>Diseño</a:t>
            </a:r>
            <a:r>
              <a:rPr sz="1600" b="1" i="1" spc="150" dirty="0">
                <a:latin typeface="Arial"/>
                <a:cs typeface="Arial"/>
              </a:rPr>
              <a:t> </a:t>
            </a:r>
            <a:r>
              <a:rPr sz="1600" b="1" i="1" spc="-120" dirty="0">
                <a:latin typeface="Arial"/>
                <a:cs typeface="Arial"/>
              </a:rPr>
              <a:t>de  </a:t>
            </a:r>
            <a:r>
              <a:rPr sz="1600" b="1" i="1" spc="-150" dirty="0">
                <a:latin typeface="Arial"/>
                <a:cs typeface="Arial"/>
              </a:rPr>
              <a:t>procesos</a:t>
            </a:r>
            <a:r>
              <a:rPr sz="1600" spc="-150" dirty="0">
                <a:latin typeface="Arial"/>
                <a:cs typeface="Arial"/>
              </a:rPr>
              <a:t>: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55" dirty="0">
                <a:latin typeface="Arial"/>
                <a:cs typeface="Arial"/>
              </a:rPr>
              <a:t>centra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75" dirty="0">
                <a:latin typeface="Arial"/>
                <a:cs typeface="Arial"/>
              </a:rPr>
              <a:t>diseño de </a:t>
            </a:r>
            <a:r>
              <a:rPr sz="1600" spc="-85" dirty="0">
                <a:latin typeface="Arial"/>
                <a:cs typeface="Arial"/>
              </a:rPr>
              <a:t>recursos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215" dirty="0">
                <a:latin typeface="Arial"/>
                <a:cs typeface="Arial"/>
              </a:rPr>
              <a:t>SW, </a:t>
            </a:r>
            <a:r>
              <a:rPr sz="1600" spc="-135" dirty="0">
                <a:latin typeface="Arial"/>
                <a:cs typeface="Arial"/>
              </a:rPr>
              <a:t>es </a:t>
            </a:r>
            <a:r>
              <a:rPr sz="1600" spc="-75" dirty="0">
                <a:latin typeface="Arial"/>
                <a:cs typeface="Arial"/>
              </a:rPr>
              <a:t>decir,  </a:t>
            </a:r>
            <a:r>
              <a:rPr sz="1600" spc="-85" dirty="0">
                <a:latin typeface="Arial"/>
                <a:cs typeface="Arial"/>
              </a:rPr>
              <a:t>programas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5" dirty="0">
                <a:latin typeface="Arial"/>
                <a:cs typeface="Arial"/>
              </a:rPr>
              <a:t>procedimientos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75" dirty="0">
                <a:latin typeface="Arial"/>
                <a:cs typeface="Arial"/>
              </a:rPr>
              <a:t>necesitan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65" dirty="0">
                <a:latin typeface="Arial"/>
                <a:cs typeface="Arial"/>
              </a:rPr>
              <a:t>solución </a:t>
            </a:r>
            <a:r>
              <a:rPr sz="1600" spc="-60" dirty="0">
                <a:latin typeface="Arial"/>
                <a:cs typeface="Arial"/>
              </a:rPr>
              <a:t>propuesta. </a:t>
            </a:r>
            <a:r>
              <a:rPr sz="1600" spc="-215" dirty="0">
                <a:latin typeface="Arial"/>
                <a:cs typeface="Arial"/>
              </a:rPr>
              <a:t>Se </a:t>
            </a:r>
            <a:r>
              <a:rPr sz="1600" spc="-100" dirty="0">
                <a:latin typeface="Arial"/>
                <a:cs typeface="Arial"/>
              </a:rPr>
              <a:t>expresa  </a:t>
            </a:r>
            <a:r>
              <a:rPr sz="1600" spc="-75" dirty="0">
                <a:latin typeface="Arial"/>
                <a:cs typeface="Arial"/>
              </a:rPr>
              <a:t>como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40" dirty="0">
                <a:latin typeface="Arial"/>
                <a:cs typeface="Arial"/>
              </a:rPr>
              <a:t>arquitectura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45" dirty="0">
                <a:latin typeface="Arial"/>
                <a:cs typeface="Arial"/>
              </a:rPr>
              <a:t>tres </a:t>
            </a:r>
            <a:r>
              <a:rPr sz="1600" spc="-70" dirty="0">
                <a:latin typeface="Arial"/>
                <a:cs typeface="Arial"/>
              </a:rPr>
              <a:t>niveles </a:t>
            </a:r>
            <a:r>
              <a:rPr sz="1600" spc="-75" dirty="0">
                <a:latin typeface="Arial"/>
                <a:cs typeface="Arial"/>
              </a:rPr>
              <a:t>de servicios de</a:t>
            </a:r>
            <a:r>
              <a:rPr sz="1600" spc="-21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procesamiento:</a:t>
            </a:r>
            <a:endParaRPr sz="1600">
              <a:latin typeface="Arial"/>
              <a:cs typeface="Arial"/>
            </a:endParaRPr>
          </a:p>
          <a:p>
            <a:pPr marL="1212850" lvl="2" indent="-285750">
              <a:lnSpc>
                <a:spcPct val="100000"/>
              </a:lnSpc>
              <a:buChar char="•"/>
              <a:tabLst>
                <a:tab pos="1212850" algn="l"/>
                <a:tab pos="1213485" algn="l"/>
              </a:tabLst>
            </a:pPr>
            <a:r>
              <a:rPr sz="1600" spc="-90" dirty="0">
                <a:latin typeface="Arial"/>
                <a:cs typeface="Arial"/>
              </a:rPr>
              <a:t>Servicios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usuario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215" dirty="0">
                <a:latin typeface="Arial"/>
                <a:cs typeface="Arial"/>
              </a:rPr>
              <a:t>SW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cliente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que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135" dirty="0">
                <a:latin typeface="Arial"/>
                <a:cs typeface="Arial"/>
              </a:rPr>
              <a:t>se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comunica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con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los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usuarios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spc="-125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  <a:p>
            <a:pPr marL="1212850">
              <a:lnSpc>
                <a:spcPct val="100000"/>
              </a:lnSpc>
              <a:spcBef>
                <a:spcPts val="5"/>
              </a:spcBef>
            </a:pPr>
            <a:r>
              <a:rPr sz="1600" spc="-75" dirty="0">
                <a:latin typeface="Arial"/>
                <a:cs typeface="Arial"/>
              </a:rPr>
              <a:t>través de </a:t>
            </a:r>
            <a:r>
              <a:rPr sz="1600" spc="-60" dirty="0">
                <a:latin typeface="Arial"/>
                <a:cs typeface="Arial"/>
              </a:rPr>
              <a:t>la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interfaz</a:t>
            </a:r>
            <a:endParaRPr sz="1600">
              <a:latin typeface="Arial"/>
              <a:cs typeface="Arial"/>
            </a:endParaRPr>
          </a:p>
          <a:p>
            <a:pPr marL="1212850" marR="5080" lvl="2" indent="-285750">
              <a:lnSpc>
                <a:spcPct val="100000"/>
              </a:lnSpc>
              <a:buChar char="•"/>
              <a:tabLst>
                <a:tab pos="1212850" algn="l"/>
                <a:tab pos="1213485" algn="l"/>
              </a:tabLst>
            </a:pPr>
            <a:r>
              <a:rPr sz="1600" spc="-90" dirty="0">
                <a:latin typeface="Arial"/>
                <a:cs typeface="Arial"/>
              </a:rPr>
              <a:t>Servicios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aplicación: módulos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220" dirty="0">
                <a:latin typeface="Arial"/>
                <a:cs typeface="Arial"/>
              </a:rPr>
              <a:t>SW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50" dirty="0">
                <a:latin typeface="Arial"/>
                <a:cs typeface="Arial"/>
              </a:rPr>
              <a:t>imponen </a:t>
            </a:r>
            <a:r>
              <a:rPr sz="1600" spc="-85" dirty="0">
                <a:latin typeface="Arial"/>
                <a:cs typeface="Arial"/>
              </a:rPr>
              <a:t>reglas, </a:t>
            </a:r>
            <a:r>
              <a:rPr sz="1600" spc="-90" dirty="0">
                <a:latin typeface="Arial"/>
                <a:cs typeface="Arial"/>
              </a:rPr>
              <a:t>procesan  </a:t>
            </a:r>
            <a:r>
              <a:rPr sz="1600" spc="-45" dirty="0">
                <a:latin typeface="Arial"/>
                <a:cs typeface="Arial"/>
              </a:rPr>
              <a:t>información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manejan</a:t>
            </a:r>
            <a:r>
              <a:rPr sz="1600" spc="-16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transacciones.</a:t>
            </a:r>
            <a:endParaRPr sz="1600">
              <a:latin typeface="Arial"/>
              <a:cs typeface="Arial"/>
            </a:endParaRPr>
          </a:p>
          <a:p>
            <a:pPr marL="1212850" marR="5080" lvl="2" indent="-285750">
              <a:lnSpc>
                <a:spcPct val="100000"/>
              </a:lnSpc>
              <a:buChar char="•"/>
              <a:tabLst>
                <a:tab pos="1212850" algn="l"/>
                <a:tab pos="1213485" algn="l"/>
              </a:tabLst>
            </a:pPr>
            <a:r>
              <a:rPr sz="1600" spc="-90" dirty="0">
                <a:latin typeface="Arial"/>
                <a:cs typeface="Arial"/>
              </a:rPr>
              <a:t>Servicios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datos: </a:t>
            </a:r>
            <a:r>
              <a:rPr sz="1600" spc="-70" dirty="0">
                <a:latin typeface="Arial"/>
                <a:cs typeface="Arial"/>
              </a:rPr>
              <a:t>aquellos </a:t>
            </a:r>
            <a:r>
              <a:rPr sz="1600" spc="-65" dirty="0">
                <a:latin typeface="Arial"/>
                <a:cs typeface="Arial"/>
              </a:rPr>
              <a:t>disponibles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215" dirty="0">
                <a:latin typeface="Arial"/>
                <a:cs typeface="Arial"/>
              </a:rPr>
              <a:t>SW </a:t>
            </a:r>
            <a:r>
              <a:rPr sz="1600" spc="-75" dirty="0">
                <a:latin typeface="Arial"/>
                <a:cs typeface="Arial"/>
              </a:rPr>
              <a:t>de servicios de  </a:t>
            </a:r>
            <a:r>
              <a:rPr sz="1600" spc="-65" dirty="0">
                <a:latin typeface="Arial"/>
                <a:cs typeface="Arial"/>
              </a:rPr>
              <a:t>aplicación </a:t>
            </a:r>
            <a:r>
              <a:rPr sz="1600" spc="-80" dirty="0">
                <a:latin typeface="Arial"/>
                <a:cs typeface="Arial"/>
              </a:rPr>
              <a:t>para</a:t>
            </a:r>
            <a:r>
              <a:rPr sz="1600" spc="-13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procesamiento.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30083" y="1295400"/>
            <a:ext cx="1480566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98842" y="4953000"/>
            <a:ext cx="1457705" cy="129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63256" y="3077717"/>
            <a:ext cx="999744" cy="16603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6937375" cy="5300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10" dirty="0">
                <a:latin typeface="Trebuchet MS"/>
                <a:cs typeface="Trebuchet MS"/>
              </a:rPr>
              <a:t>Implementación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5" dirty="0">
                <a:latin typeface="Trebuchet MS"/>
                <a:cs typeface="Trebuchet MS"/>
              </a:rPr>
              <a:t>las</a:t>
            </a:r>
            <a:r>
              <a:rPr sz="2000" b="1" spc="-225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75" dirty="0">
                <a:latin typeface="Arial"/>
                <a:cs typeface="Arial"/>
              </a:rPr>
              <a:t>principales </a:t>
            </a:r>
            <a:r>
              <a:rPr sz="2000" spc="-85" dirty="0">
                <a:latin typeface="Arial"/>
                <a:cs typeface="Arial"/>
              </a:rPr>
              <a:t>actividades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implementación </a:t>
            </a:r>
            <a:r>
              <a:rPr sz="2000" spc="-100" dirty="0">
                <a:latin typeface="Arial"/>
                <a:cs typeface="Arial"/>
              </a:rPr>
              <a:t>consisten</a:t>
            </a:r>
            <a:r>
              <a:rPr sz="2000" spc="-2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en: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  <a:tab pos="299085" algn="l"/>
              </a:tabLst>
            </a:pPr>
            <a:r>
              <a:rPr sz="1800" spc="-70" dirty="0">
                <a:latin typeface="Arial"/>
                <a:cs typeface="Arial"/>
              </a:rPr>
              <a:t>Adquisición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hardware </a:t>
            </a:r>
            <a:r>
              <a:rPr sz="1800" spc="-85" dirty="0">
                <a:latin typeface="Arial"/>
                <a:cs typeface="Arial"/>
              </a:rPr>
              <a:t>y</a:t>
            </a:r>
            <a:r>
              <a:rPr sz="1800" spc="-15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software,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75" dirty="0">
                <a:latin typeface="Arial"/>
                <a:cs typeface="Arial"/>
              </a:rPr>
              <a:t>Desarrollo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software,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prueba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95" dirty="0">
                <a:latin typeface="Arial"/>
                <a:cs typeface="Arial"/>
              </a:rPr>
              <a:t>programas </a:t>
            </a:r>
            <a:r>
              <a:rPr sz="1800" spc="-90" dirty="0">
                <a:latin typeface="Arial"/>
                <a:cs typeface="Arial"/>
              </a:rPr>
              <a:t>y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procedimientos,</a:t>
            </a:r>
            <a:endParaRPr sz="1800">
              <a:latin typeface="Arial"/>
              <a:cs typeface="Arial"/>
            </a:endParaRPr>
          </a:p>
          <a:p>
            <a:pPr marL="298450" marR="5715" indent="-285750">
              <a:lnSpc>
                <a:spcPct val="10000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160" dirty="0">
                <a:latin typeface="Arial"/>
                <a:cs typeface="Arial"/>
              </a:rPr>
              <a:t>El </a:t>
            </a:r>
            <a:r>
              <a:rPr sz="1800" spc="-60" dirty="0">
                <a:latin typeface="Arial"/>
                <a:cs typeface="Arial"/>
              </a:rPr>
              <a:t>desarrollo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documentación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75" dirty="0">
                <a:latin typeface="Arial"/>
                <a:cs typeface="Arial"/>
              </a:rPr>
              <a:t>variedad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actividades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65" dirty="0">
                <a:latin typeface="Arial"/>
                <a:cs typeface="Arial"/>
              </a:rPr>
              <a:t>instalación.</a:t>
            </a:r>
            <a:endParaRPr sz="1800">
              <a:latin typeface="Arial"/>
              <a:cs typeface="Arial"/>
            </a:endParaRPr>
          </a:p>
          <a:p>
            <a:pPr marL="298450" marR="5715" indent="-285750">
              <a:lnSpc>
                <a:spcPct val="10000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95" dirty="0">
                <a:latin typeface="Arial"/>
                <a:cs typeface="Arial"/>
              </a:rPr>
              <a:t>Capacitación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5" dirty="0">
                <a:latin typeface="Arial"/>
                <a:cs typeface="Arial"/>
              </a:rPr>
              <a:t>educación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85" dirty="0">
                <a:latin typeface="Arial"/>
                <a:cs typeface="Arial"/>
              </a:rPr>
              <a:t>usuarios </a:t>
            </a:r>
            <a:r>
              <a:rPr sz="1800" spc="-65" dirty="0">
                <a:latin typeface="Arial"/>
                <a:cs typeface="Arial"/>
              </a:rPr>
              <a:t>finales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95" dirty="0">
                <a:latin typeface="Arial"/>
                <a:cs typeface="Arial"/>
              </a:rPr>
              <a:t>especialistas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70" dirty="0">
                <a:latin typeface="Arial"/>
                <a:cs typeface="Arial"/>
              </a:rPr>
              <a:t>operan 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100" dirty="0">
                <a:latin typeface="Arial"/>
                <a:cs typeface="Arial"/>
              </a:rPr>
              <a:t>nueva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solución.</a:t>
            </a:r>
            <a:endParaRPr sz="1800">
              <a:latin typeface="Arial"/>
              <a:cs typeface="Arial"/>
            </a:endParaRPr>
          </a:p>
          <a:p>
            <a:pPr marL="298450" marR="5715" indent="-285750">
              <a:lnSpc>
                <a:spcPct val="10000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95" dirty="0">
                <a:latin typeface="Arial"/>
                <a:cs typeface="Arial"/>
              </a:rPr>
              <a:t>Comprende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90" dirty="0">
                <a:latin typeface="Arial"/>
                <a:cs typeface="Arial"/>
              </a:rPr>
              <a:t>proceso </a:t>
            </a:r>
            <a:r>
              <a:rPr sz="1800" spc="-80" dirty="0">
                <a:latin typeface="Arial"/>
                <a:cs typeface="Arial"/>
              </a:rPr>
              <a:t>de conversión, </a:t>
            </a:r>
            <a:r>
              <a:rPr sz="1800" spc="-105" dirty="0">
                <a:latin typeface="Arial"/>
                <a:cs typeface="Arial"/>
              </a:rPr>
              <a:t>desde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105" dirty="0">
                <a:latin typeface="Arial"/>
                <a:cs typeface="Arial"/>
              </a:rPr>
              <a:t>uso </a:t>
            </a:r>
            <a:r>
              <a:rPr sz="1800" spc="-85" dirty="0">
                <a:latin typeface="Arial"/>
                <a:cs typeface="Arial"/>
              </a:rPr>
              <a:t>de una </a:t>
            </a:r>
            <a:r>
              <a:rPr sz="1800" spc="-75" dirty="0">
                <a:latin typeface="Arial"/>
                <a:cs typeface="Arial"/>
              </a:rPr>
              <a:t>solución  </a:t>
            </a:r>
            <a:r>
              <a:rPr sz="1800" spc="-60" dirty="0">
                <a:latin typeface="Arial"/>
                <a:cs typeface="Arial"/>
              </a:rPr>
              <a:t>actual,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operación </a:t>
            </a:r>
            <a:r>
              <a:rPr sz="1800" spc="-85" dirty="0">
                <a:latin typeface="Arial"/>
                <a:cs typeface="Arial"/>
              </a:rPr>
              <a:t>de una </a:t>
            </a:r>
            <a:r>
              <a:rPr sz="1800" spc="-70" dirty="0">
                <a:latin typeface="Arial"/>
                <a:cs typeface="Arial"/>
              </a:rPr>
              <a:t>aplicación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nueva.</a:t>
            </a:r>
            <a:endParaRPr sz="18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conversión </a:t>
            </a:r>
            <a:r>
              <a:rPr sz="1800" spc="-75" dirty="0">
                <a:latin typeface="Arial"/>
                <a:cs typeface="Arial"/>
              </a:rPr>
              <a:t>puede </a:t>
            </a:r>
            <a:r>
              <a:rPr sz="1800" spc="-85" dirty="0">
                <a:latin typeface="Arial"/>
                <a:cs typeface="Arial"/>
              </a:rPr>
              <a:t>abarcar </a:t>
            </a:r>
            <a:r>
              <a:rPr sz="1800" spc="-90" dirty="0">
                <a:latin typeface="Arial"/>
                <a:cs typeface="Arial"/>
              </a:rPr>
              <a:t>soluciones </a:t>
            </a:r>
            <a:r>
              <a:rPr sz="1800" spc="-25" dirty="0">
                <a:latin typeface="Arial"/>
                <a:cs typeface="Arial"/>
              </a:rPr>
              <a:t>tanto </a:t>
            </a:r>
            <a:r>
              <a:rPr sz="1800" spc="-114" dirty="0">
                <a:latin typeface="Arial"/>
                <a:cs typeface="Arial"/>
              </a:rPr>
              <a:t>nuevas </a:t>
            </a:r>
            <a:r>
              <a:rPr sz="1800" spc="-85" dirty="0">
                <a:latin typeface="Arial"/>
                <a:cs typeface="Arial"/>
              </a:rPr>
              <a:t>como  </a:t>
            </a:r>
            <a:r>
              <a:rPr sz="1800" spc="-80" dirty="0">
                <a:latin typeface="Arial"/>
                <a:cs typeface="Arial"/>
              </a:rPr>
              <a:t>antiguas,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0" dirty="0">
                <a:latin typeface="Arial"/>
                <a:cs typeface="Arial"/>
              </a:rPr>
              <a:t>paralelo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60" dirty="0">
                <a:latin typeface="Arial"/>
                <a:cs typeface="Arial"/>
              </a:rPr>
              <a:t>un período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120" dirty="0">
                <a:latin typeface="Arial"/>
                <a:cs typeface="Arial"/>
              </a:rPr>
              <a:t>ensayo </a:t>
            </a:r>
            <a:r>
              <a:rPr sz="1800" spc="-90" dirty="0">
                <a:latin typeface="Arial"/>
                <a:cs typeface="Arial"/>
              </a:rPr>
              <a:t>(</a:t>
            </a:r>
            <a:r>
              <a:rPr sz="1800" b="1" spc="-90" dirty="0">
                <a:latin typeface="Trebuchet MS"/>
                <a:cs typeface="Trebuchet MS"/>
              </a:rPr>
              <a:t>solución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75" dirty="0">
                <a:latin typeface="Trebuchet MS"/>
                <a:cs typeface="Trebuchet MS"/>
              </a:rPr>
              <a:t>piloto</a:t>
            </a:r>
            <a:r>
              <a:rPr sz="1800" spc="-75" dirty="0">
                <a:latin typeface="Arial"/>
                <a:cs typeface="Arial"/>
              </a:rPr>
              <a:t>).</a:t>
            </a:r>
            <a:endParaRPr sz="1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650" algn="l"/>
                <a:tab pos="756285" algn="l"/>
              </a:tabLst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b="1" spc="-135" dirty="0">
                <a:latin typeface="Trebuchet MS"/>
                <a:cs typeface="Trebuchet MS"/>
              </a:rPr>
              <a:t>ejecución </a:t>
            </a:r>
            <a:r>
              <a:rPr sz="1800" b="1" spc="-114" dirty="0">
                <a:latin typeface="Trebuchet MS"/>
                <a:cs typeface="Trebuchet MS"/>
              </a:rPr>
              <a:t>en </a:t>
            </a:r>
            <a:r>
              <a:rPr sz="1800" b="1" spc="-90" dirty="0">
                <a:latin typeface="Trebuchet MS"/>
                <a:cs typeface="Trebuchet MS"/>
              </a:rPr>
              <a:t>fases </a:t>
            </a:r>
            <a:r>
              <a:rPr sz="1800" spc="-155" dirty="0">
                <a:latin typeface="Arial"/>
                <a:cs typeface="Arial"/>
              </a:rPr>
              <a:t>es </a:t>
            </a:r>
            <a:r>
              <a:rPr sz="1800" spc="-5" dirty="0">
                <a:latin typeface="Arial"/>
                <a:cs typeface="Arial"/>
              </a:rPr>
              <a:t>otro </a:t>
            </a:r>
            <a:r>
              <a:rPr sz="1800" spc="-45" dirty="0">
                <a:latin typeface="Arial"/>
                <a:cs typeface="Arial"/>
              </a:rPr>
              <a:t>método </a:t>
            </a:r>
            <a:r>
              <a:rPr sz="1800" spc="-80" dirty="0">
                <a:latin typeface="Arial"/>
                <a:cs typeface="Arial"/>
              </a:rPr>
              <a:t>de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conversión</a:t>
            </a:r>
            <a:endParaRPr sz="18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spc="-90" dirty="0">
                <a:latin typeface="Arial"/>
                <a:cs typeface="Arial"/>
              </a:rPr>
              <a:t>Asimismo,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b="1" spc="-105" dirty="0">
                <a:latin typeface="Trebuchet MS"/>
                <a:cs typeface="Trebuchet MS"/>
              </a:rPr>
              <a:t>actuación </a:t>
            </a:r>
            <a:r>
              <a:rPr sz="1800" b="1" spc="-110" dirty="0">
                <a:latin typeface="Trebuchet MS"/>
                <a:cs typeface="Trebuchet MS"/>
              </a:rPr>
              <a:t>precipitada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50" dirty="0">
                <a:latin typeface="Arial"/>
                <a:cs typeface="Arial"/>
              </a:rPr>
              <a:t>adoptar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70" dirty="0">
                <a:latin typeface="Arial"/>
                <a:cs typeface="Arial"/>
              </a:rPr>
              <a:t>solución  </a:t>
            </a:r>
            <a:r>
              <a:rPr sz="1800" spc="-100" dirty="0">
                <a:latin typeface="Arial"/>
                <a:cs typeface="Arial"/>
              </a:rPr>
              <a:t>nueva </a:t>
            </a:r>
            <a:r>
              <a:rPr sz="1800" spc="-55" dirty="0">
                <a:latin typeface="Arial"/>
                <a:cs typeface="Arial"/>
              </a:rPr>
              <a:t>(</a:t>
            </a:r>
            <a:r>
              <a:rPr sz="1800" i="1" spc="-55" dirty="0">
                <a:latin typeface="Trebuchet MS"/>
                <a:cs typeface="Trebuchet MS"/>
              </a:rPr>
              <a:t>Big </a:t>
            </a:r>
            <a:r>
              <a:rPr sz="1800" i="1" spc="-35" dirty="0">
                <a:latin typeface="Trebuchet MS"/>
                <a:cs typeface="Trebuchet MS"/>
              </a:rPr>
              <a:t>Bang</a:t>
            </a:r>
            <a:r>
              <a:rPr sz="1800" spc="-35" dirty="0">
                <a:latin typeface="Arial"/>
                <a:cs typeface="Arial"/>
              </a:rPr>
              <a:t>) </a:t>
            </a:r>
            <a:r>
              <a:rPr sz="1800" spc="-65" dirty="0">
                <a:latin typeface="Arial"/>
                <a:cs typeface="Arial"/>
              </a:rPr>
              <a:t>podría </a:t>
            </a:r>
            <a:r>
              <a:rPr sz="1800" spc="-50" dirty="0">
                <a:latin typeface="Arial"/>
                <a:cs typeface="Arial"/>
              </a:rPr>
              <a:t>poner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70" dirty="0">
                <a:latin typeface="Arial"/>
                <a:cs typeface="Arial"/>
              </a:rPr>
              <a:t>jaque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100" dirty="0">
                <a:latin typeface="Arial"/>
                <a:cs typeface="Arial"/>
              </a:rPr>
              <a:t>esfuerzos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 </a:t>
            </a:r>
            <a:r>
              <a:rPr sz="1800" spc="-85" dirty="0">
                <a:latin typeface="Arial"/>
                <a:cs typeface="Arial"/>
              </a:rPr>
              <a:t>organización.</a:t>
            </a:r>
            <a:endParaRPr sz="18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spc="-120" dirty="0">
                <a:latin typeface="Arial"/>
                <a:cs typeface="Arial"/>
              </a:rPr>
              <a:t>Puede </a:t>
            </a:r>
            <a:r>
              <a:rPr sz="1800" spc="-95" dirty="0">
                <a:latin typeface="Arial"/>
                <a:cs typeface="Arial"/>
              </a:rPr>
              <a:t>ser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90" dirty="0">
                <a:latin typeface="Arial"/>
                <a:cs typeface="Arial"/>
              </a:rPr>
              <a:t>proceso </a:t>
            </a:r>
            <a:r>
              <a:rPr sz="1800" spc="-60" dirty="0">
                <a:latin typeface="Arial"/>
                <a:cs typeface="Arial"/>
              </a:rPr>
              <a:t>complejo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90" dirty="0">
                <a:latin typeface="Arial"/>
                <a:cs typeface="Arial"/>
              </a:rPr>
              <a:t>demanda </a:t>
            </a:r>
            <a:r>
              <a:rPr sz="1800" spc="-35" dirty="0">
                <a:latin typeface="Arial"/>
                <a:cs typeface="Arial"/>
              </a:rPr>
              <a:t>tiempo, </a:t>
            </a:r>
            <a:r>
              <a:rPr sz="1800" spc="-55" dirty="0">
                <a:latin typeface="Arial"/>
                <a:cs typeface="Arial"/>
              </a:rPr>
              <a:t>pero </a:t>
            </a:r>
            <a:r>
              <a:rPr sz="1800" spc="-155" dirty="0">
                <a:latin typeface="Arial"/>
                <a:cs typeface="Arial"/>
              </a:rPr>
              <a:t>es  </a:t>
            </a:r>
            <a:r>
              <a:rPr sz="1800" spc="-95" dirty="0">
                <a:latin typeface="Arial"/>
                <a:cs typeface="Arial"/>
              </a:rPr>
              <a:t>esencial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80" dirty="0">
                <a:latin typeface="Arial"/>
                <a:cs typeface="Arial"/>
              </a:rPr>
              <a:t>garantizar </a:t>
            </a:r>
            <a:r>
              <a:rPr sz="1800" spc="-50" dirty="0">
                <a:latin typeface="Arial"/>
                <a:cs typeface="Arial"/>
              </a:rPr>
              <a:t>el éxito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cualquier </a:t>
            </a:r>
            <a:r>
              <a:rPr sz="1800" spc="-70" dirty="0">
                <a:latin typeface="Arial"/>
                <a:cs typeface="Arial"/>
              </a:rPr>
              <a:t>solución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reciente.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9517" y="1219200"/>
            <a:ext cx="1680348" cy="1123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21295" y="2743200"/>
            <a:ext cx="1643633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71409" y="4972811"/>
            <a:ext cx="1367790" cy="13144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6327775" cy="3380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85" dirty="0">
                <a:latin typeface="Trebuchet MS"/>
                <a:cs typeface="Trebuchet MS"/>
              </a:rPr>
              <a:t>Mantenimiento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5" dirty="0">
                <a:latin typeface="Trebuchet MS"/>
                <a:cs typeface="Trebuchet MS"/>
              </a:rPr>
              <a:t>las</a:t>
            </a:r>
            <a:r>
              <a:rPr sz="2000" b="1" spc="-24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70" dirty="0">
                <a:latin typeface="Arial"/>
                <a:cs typeface="Arial"/>
              </a:rPr>
              <a:t>Esta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etapa: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  <a:tab pos="299085" algn="l"/>
              </a:tabLst>
            </a:pPr>
            <a:r>
              <a:rPr sz="1800" spc="-95" dirty="0">
                <a:latin typeface="Arial"/>
                <a:cs typeface="Arial"/>
              </a:rPr>
              <a:t>Comprende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supervisión, </a:t>
            </a:r>
            <a:r>
              <a:rPr sz="1800" spc="-80" dirty="0">
                <a:latin typeface="Arial"/>
                <a:cs typeface="Arial"/>
              </a:rPr>
              <a:t>evaluación </a:t>
            </a:r>
            <a:r>
              <a:rPr sz="1800" spc="-85" dirty="0">
                <a:latin typeface="Arial"/>
                <a:cs typeface="Arial"/>
              </a:rPr>
              <a:t>y </a:t>
            </a:r>
            <a:r>
              <a:rPr sz="1800" spc="-55" dirty="0">
                <a:latin typeface="Arial"/>
                <a:cs typeface="Arial"/>
              </a:rPr>
              <a:t>modificación </a:t>
            </a:r>
            <a:r>
              <a:rPr sz="1800" spc="-80" dirty="0">
                <a:latin typeface="Arial"/>
                <a:cs typeface="Arial"/>
              </a:rPr>
              <a:t>de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una</a:t>
            </a:r>
            <a:endParaRPr sz="1800">
              <a:latin typeface="Arial"/>
              <a:cs typeface="Arial"/>
            </a:endParaRPr>
          </a:p>
          <a:p>
            <a:pPr marR="45720" algn="ctr">
              <a:lnSpc>
                <a:spcPct val="100000"/>
              </a:lnSpc>
            </a:pPr>
            <a:r>
              <a:rPr sz="1800" spc="-70" dirty="0">
                <a:latin typeface="Arial"/>
                <a:cs typeface="Arial"/>
              </a:rPr>
              <a:t>solución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70" dirty="0">
                <a:latin typeface="Arial"/>
                <a:cs typeface="Arial"/>
              </a:rPr>
              <a:t>realizar </a:t>
            </a:r>
            <a:r>
              <a:rPr sz="1800" spc="-60" dirty="0">
                <a:latin typeface="Arial"/>
                <a:cs typeface="Arial"/>
              </a:rPr>
              <a:t>mejoramientos </a:t>
            </a:r>
            <a:r>
              <a:rPr sz="1800" spc="-110" dirty="0">
                <a:latin typeface="Arial"/>
                <a:cs typeface="Arial"/>
              </a:rPr>
              <a:t>deseables </a:t>
            </a:r>
            <a:r>
              <a:rPr sz="1800" spc="-55" dirty="0">
                <a:latin typeface="Arial"/>
                <a:cs typeface="Arial"/>
              </a:rPr>
              <a:t>o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necesarios.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spc="-120" dirty="0">
                <a:latin typeface="Arial"/>
                <a:cs typeface="Arial"/>
              </a:rPr>
              <a:t>Puede </a:t>
            </a:r>
            <a:r>
              <a:rPr sz="1800" spc="-30" dirty="0">
                <a:latin typeface="Arial"/>
                <a:cs typeface="Arial"/>
              </a:rPr>
              <a:t>incluir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90" dirty="0">
                <a:latin typeface="Arial"/>
                <a:cs typeface="Arial"/>
              </a:rPr>
              <a:t>proceso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revisión post-Implementación </a:t>
            </a:r>
            <a:r>
              <a:rPr sz="1800" spc="-90" dirty="0">
                <a:latin typeface="Arial"/>
                <a:cs typeface="Arial"/>
              </a:rPr>
              <a:t>para  </a:t>
            </a:r>
            <a:r>
              <a:rPr sz="1800" spc="-80" dirty="0">
                <a:latin typeface="Arial"/>
                <a:cs typeface="Arial"/>
              </a:rPr>
              <a:t>garantizar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solución </a:t>
            </a:r>
            <a:r>
              <a:rPr sz="1800" spc="-90" dirty="0">
                <a:latin typeface="Arial"/>
                <a:cs typeface="Arial"/>
              </a:rPr>
              <a:t>este </a:t>
            </a:r>
            <a:r>
              <a:rPr sz="1800" spc="-65" dirty="0">
                <a:latin typeface="Arial"/>
                <a:cs typeface="Arial"/>
              </a:rPr>
              <a:t>logrando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50" dirty="0">
                <a:latin typeface="Arial"/>
                <a:cs typeface="Arial"/>
              </a:rPr>
              <a:t>requerimientos  </a:t>
            </a:r>
            <a:r>
              <a:rPr sz="1800" spc="-80" dirty="0">
                <a:latin typeface="Arial"/>
                <a:cs typeface="Arial"/>
              </a:rPr>
              <a:t>empresariales.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298450" marR="5715" indent="-285750" algn="just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70" dirty="0">
                <a:latin typeface="Arial"/>
                <a:cs typeface="Arial"/>
              </a:rPr>
              <a:t>Los </a:t>
            </a:r>
            <a:r>
              <a:rPr sz="1800" spc="-65" dirty="0">
                <a:latin typeface="Arial"/>
                <a:cs typeface="Arial"/>
              </a:rPr>
              <a:t>errores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65" dirty="0">
                <a:latin typeface="Arial"/>
                <a:cs typeface="Arial"/>
              </a:rPr>
              <a:t>corrigen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100" dirty="0">
                <a:latin typeface="Arial"/>
                <a:cs typeface="Arial"/>
              </a:rPr>
              <a:t>esta </a:t>
            </a:r>
            <a:r>
              <a:rPr sz="1800" spc="-80" dirty="0">
                <a:latin typeface="Arial"/>
                <a:cs typeface="Arial"/>
              </a:rPr>
              <a:t>etapa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solución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50" dirty="0">
                <a:latin typeface="Arial"/>
                <a:cs typeface="Arial"/>
              </a:rPr>
              <a:t>modifica  </a:t>
            </a:r>
            <a:r>
              <a:rPr sz="1800" spc="-60" dirty="0">
                <a:latin typeface="Arial"/>
                <a:cs typeface="Arial"/>
              </a:rPr>
              <a:t>ante </a:t>
            </a:r>
            <a:r>
              <a:rPr sz="1800" spc="-95" dirty="0">
                <a:latin typeface="Arial"/>
                <a:cs typeface="Arial"/>
              </a:rPr>
              <a:t>cambios </a:t>
            </a:r>
            <a:r>
              <a:rPr sz="1800" spc="-45" dirty="0">
                <a:latin typeface="Arial"/>
                <a:cs typeface="Arial"/>
              </a:rPr>
              <a:t>internos </a:t>
            </a:r>
            <a:r>
              <a:rPr sz="1800" spc="-55" dirty="0">
                <a:latin typeface="Arial"/>
                <a:cs typeface="Arial"/>
              </a:rPr>
              <a:t>o</a:t>
            </a:r>
            <a:r>
              <a:rPr sz="1800" spc="-16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externos.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23017" y="4495800"/>
            <a:ext cx="2584000" cy="1860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0" y="2057400"/>
            <a:ext cx="2026920" cy="1964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3404"/>
            <a:ext cx="617601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 algn="just">
              <a:lnSpc>
                <a:spcPct val="100000"/>
              </a:lnSpc>
              <a:spcBef>
                <a:spcPts val="100"/>
              </a:spcBef>
            </a:pPr>
            <a:r>
              <a:rPr sz="2200" b="1" spc="-200" dirty="0">
                <a:latin typeface="Trebuchet MS"/>
                <a:cs typeface="Trebuchet MS"/>
              </a:rPr>
              <a:t>1. </a:t>
            </a:r>
            <a:r>
              <a:rPr sz="2200" b="1" spc="-40" dirty="0">
                <a:latin typeface="Trebuchet MS"/>
                <a:cs typeface="Trebuchet MS"/>
              </a:rPr>
              <a:t>Método </a:t>
            </a:r>
            <a:r>
              <a:rPr sz="2200" b="1" spc="-114" dirty="0">
                <a:latin typeface="Trebuchet MS"/>
                <a:cs typeface="Trebuchet MS"/>
              </a:rPr>
              <a:t>tradicional</a:t>
            </a:r>
            <a:r>
              <a:rPr sz="2200" spc="-114" dirty="0">
                <a:latin typeface="Arial"/>
                <a:cs typeface="Arial"/>
              </a:rPr>
              <a:t>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14" dirty="0">
                <a:latin typeface="Arial"/>
                <a:cs typeface="Arial"/>
              </a:rPr>
              <a:t>empresa  </a:t>
            </a:r>
            <a:r>
              <a:rPr sz="2200" spc="-80" dirty="0">
                <a:latin typeface="Arial"/>
                <a:cs typeface="Arial"/>
              </a:rPr>
              <a:t>desarrolle </a:t>
            </a:r>
            <a:r>
              <a:rPr sz="2200" spc="-55" dirty="0">
                <a:latin typeface="Arial"/>
                <a:cs typeface="Arial"/>
              </a:rPr>
              <a:t>internamente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</a:t>
            </a:r>
            <a:r>
              <a:rPr sz="2200" spc="-65" dirty="0">
                <a:latin typeface="Arial"/>
                <a:cs typeface="Arial"/>
              </a:rPr>
              <a:t>o </a:t>
            </a:r>
            <a:r>
              <a:rPr sz="2200" spc="-95" dirty="0">
                <a:latin typeface="Arial"/>
                <a:cs typeface="Arial"/>
              </a:rPr>
              <a:t>que  </a:t>
            </a:r>
            <a:r>
              <a:rPr sz="2200" spc="-60" dirty="0">
                <a:latin typeface="Arial"/>
                <a:cs typeface="Arial"/>
              </a:rPr>
              <a:t>contrate </a:t>
            </a:r>
            <a:r>
              <a:rPr sz="2200" spc="-100" dirty="0">
                <a:latin typeface="Arial"/>
                <a:cs typeface="Arial"/>
              </a:rPr>
              <a:t>servicios </a:t>
            </a:r>
            <a:r>
              <a:rPr sz="2200" spc="-90" dirty="0">
                <a:latin typeface="Arial"/>
                <a:cs typeface="Arial"/>
              </a:rPr>
              <a:t>externos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45" dirty="0">
                <a:latin typeface="Arial"/>
                <a:cs typeface="Arial"/>
              </a:rPr>
              <a:t>ello</a:t>
            </a:r>
            <a:r>
              <a:rPr sz="2200" spc="23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(</a:t>
            </a:r>
            <a:r>
              <a:rPr sz="2200" i="1" spc="-95" dirty="0">
                <a:latin typeface="Trebuchet MS"/>
                <a:cs typeface="Trebuchet MS"/>
              </a:rPr>
              <a:t>outsourcing</a:t>
            </a:r>
            <a:endParaRPr sz="2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200" i="1" spc="-135" dirty="0">
                <a:latin typeface="Trebuchet MS"/>
                <a:cs typeface="Trebuchet MS"/>
              </a:rPr>
              <a:t>-</a:t>
            </a:r>
            <a:r>
              <a:rPr sz="2200" i="1" spc="-170" dirty="0">
                <a:latin typeface="Trebuchet MS"/>
                <a:cs typeface="Trebuchet MS"/>
              </a:rPr>
              <a:t> </a:t>
            </a:r>
            <a:r>
              <a:rPr sz="2200" i="1" spc="-130" dirty="0">
                <a:latin typeface="Trebuchet MS"/>
                <a:cs typeface="Trebuchet MS"/>
              </a:rPr>
              <a:t>tercerización</a:t>
            </a:r>
            <a:r>
              <a:rPr sz="2200" spc="-130" dirty="0">
                <a:latin typeface="Arial"/>
                <a:cs typeface="Arial"/>
              </a:rPr>
              <a:t>).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2750057"/>
            <a:ext cx="19310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  <a:tab pos="1626235" algn="l"/>
              </a:tabLst>
            </a:pPr>
            <a:r>
              <a:rPr sz="2200" b="1" spc="-250" dirty="0">
                <a:latin typeface="Trebuchet MS"/>
                <a:cs typeface="Trebuchet MS"/>
              </a:rPr>
              <a:t>2</a:t>
            </a:r>
            <a:r>
              <a:rPr sz="2200" b="1" spc="-155" dirty="0">
                <a:latin typeface="Trebuchet MS"/>
                <a:cs typeface="Trebuchet MS"/>
              </a:rPr>
              <a:t>.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35" dirty="0">
                <a:latin typeface="Trebuchet MS"/>
                <a:cs typeface="Trebuchet MS"/>
              </a:rPr>
              <a:t>Comp</a:t>
            </a:r>
            <a:r>
              <a:rPr sz="2200" b="1" spc="-140" dirty="0">
                <a:latin typeface="Trebuchet MS"/>
                <a:cs typeface="Trebuchet MS"/>
              </a:rPr>
              <a:t>r</a:t>
            </a:r>
            <a:r>
              <a:rPr sz="2200" b="1" spc="-85" dirty="0">
                <a:latin typeface="Trebuchet MS"/>
                <a:cs typeface="Trebuchet MS"/>
              </a:rPr>
              <a:t>a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4457" y="2750057"/>
            <a:ext cx="40201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9065" algn="l"/>
                <a:tab pos="2578735" algn="l"/>
                <a:tab pos="3114040" algn="l"/>
              </a:tabLst>
            </a:pPr>
            <a:r>
              <a:rPr sz="2200" b="1" spc="-95" dirty="0">
                <a:latin typeface="Trebuchet MS"/>
                <a:cs typeface="Trebuchet MS"/>
              </a:rPr>
              <a:t>pa</a:t>
            </a:r>
            <a:r>
              <a:rPr sz="2200" b="1" spc="-110" dirty="0">
                <a:latin typeface="Trebuchet MS"/>
                <a:cs typeface="Trebuchet MS"/>
              </a:rPr>
              <a:t>q</a:t>
            </a:r>
            <a:r>
              <a:rPr sz="2200" b="1" spc="-140" dirty="0">
                <a:latin typeface="Trebuchet MS"/>
                <a:cs typeface="Trebuchet MS"/>
              </a:rPr>
              <a:t>u</a:t>
            </a:r>
            <a:r>
              <a:rPr sz="2200" b="1" spc="-155" dirty="0">
                <a:latin typeface="Trebuchet MS"/>
                <a:cs typeface="Trebuchet MS"/>
              </a:rPr>
              <a:t>e</a:t>
            </a:r>
            <a:r>
              <a:rPr sz="2200" b="1" spc="-145" dirty="0">
                <a:latin typeface="Trebuchet MS"/>
                <a:cs typeface="Trebuchet MS"/>
              </a:rPr>
              <a:t>t</a:t>
            </a:r>
            <a:r>
              <a:rPr sz="2200" b="1" spc="-120" dirty="0">
                <a:latin typeface="Trebuchet MS"/>
                <a:cs typeface="Trebuchet MS"/>
              </a:rPr>
              <a:t>es</a:t>
            </a:r>
            <a:r>
              <a:rPr sz="2200" spc="-25" dirty="0">
                <a:latin typeface="Arial"/>
                <a:cs typeface="Arial"/>
              </a:rPr>
              <a:t>: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0" dirty="0">
                <a:latin typeface="Arial"/>
                <a:cs typeface="Arial"/>
              </a:rPr>
              <a:t>c</a:t>
            </a:r>
            <a:r>
              <a:rPr sz="2200" spc="-125" dirty="0">
                <a:latin typeface="Arial"/>
                <a:cs typeface="Arial"/>
              </a:rPr>
              <a:t>onsi</a:t>
            </a:r>
            <a:r>
              <a:rPr sz="2200" spc="-160" dirty="0">
                <a:latin typeface="Arial"/>
                <a:cs typeface="Arial"/>
              </a:rPr>
              <a:t>s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en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d</a:t>
            </a:r>
            <a:r>
              <a:rPr sz="2200" spc="-75" dirty="0">
                <a:latin typeface="Arial"/>
                <a:cs typeface="Arial"/>
              </a:rPr>
              <a:t>q</a:t>
            </a:r>
            <a:r>
              <a:rPr sz="2200" spc="-80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30" dirty="0">
                <a:latin typeface="Arial"/>
                <a:cs typeface="Arial"/>
              </a:rPr>
              <a:t>r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35" dirty="0">
                <a:latin typeface="Arial"/>
                <a:cs typeface="Arial"/>
              </a:rPr>
              <a:t>r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722" y="3085337"/>
            <a:ext cx="57181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96240" algn="l"/>
                <a:tab pos="1829435" algn="l"/>
                <a:tab pos="2249805" algn="l"/>
                <a:tab pos="2587625" algn="l"/>
                <a:tab pos="3721735" algn="l"/>
                <a:tab pos="4143375" algn="l"/>
                <a:tab pos="5419090" algn="l"/>
              </a:tabLst>
            </a:pPr>
            <a:r>
              <a:rPr sz="2200" spc="-105" dirty="0">
                <a:latin typeface="Arial"/>
                <a:cs typeface="Arial"/>
              </a:rPr>
              <a:t>paquetes </a:t>
            </a:r>
            <a:r>
              <a:rPr sz="2200" spc="-95" dirty="0">
                <a:latin typeface="Arial"/>
                <a:cs typeface="Arial"/>
              </a:rPr>
              <a:t>desarrollados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75" dirty="0">
                <a:latin typeface="Arial"/>
                <a:cs typeface="Arial"/>
              </a:rPr>
              <a:t>otras </a:t>
            </a:r>
            <a:r>
              <a:rPr sz="2200" spc="-135" dirty="0">
                <a:latin typeface="Arial"/>
                <a:cs typeface="Arial"/>
              </a:rPr>
              <a:t>compañías </a:t>
            </a:r>
            <a:r>
              <a:rPr sz="2200" spc="-95" dirty="0">
                <a:latin typeface="Arial"/>
                <a:cs typeface="Arial"/>
              </a:rPr>
              <a:t>que  </a:t>
            </a:r>
            <a:r>
              <a:rPr sz="2200" spc="-185" dirty="0">
                <a:latin typeface="Arial"/>
                <a:cs typeface="Arial"/>
              </a:rPr>
              <a:t>se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14" dirty="0">
                <a:latin typeface="Arial"/>
                <a:cs typeface="Arial"/>
              </a:rPr>
              <a:t>encu</a:t>
            </a:r>
            <a:r>
              <a:rPr sz="2200" spc="-125" dirty="0">
                <a:latin typeface="Arial"/>
                <a:cs typeface="Arial"/>
              </a:rPr>
              <a:t>e</a:t>
            </a:r>
            <a:r>
              <a:rPr sz="2200" spc="-95" dirty="0">
                <a:latin typeface="Arial"/>
                <a:cs typeface="Arial"/>
              </a:rPr>
              <a:t>n</a:t>
            </a:r>
            <a:r>
              <a:rPr sz="2200" spc="70" dirty="0">
                <a:latin typeface="Arial"/>
                <a:cs typeface="Arial"/>
              </a:rPr>
              <a:t>t</a:t>
            </a:r>
            <a:r>
              <a:rPr sz="2200" spc="30" dirty="0">
                <a:latin typeface="Arial"/>
                <a:cs typeface="Arial"/>
              </a:rPr>
              <a:t>r</a:t>
            </a:r>
            <a:r>
              <a:rPr sz="2200" spc="-120" dirty="0">
                <a:latin typeface="Arial"/>
                <a:cs typeface="Arial"/>
              </a:rPr>
              <a:t>an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e</a:t>
            </a:r>
            <a:r>
              <a:rPr sz="2200" spc="-10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0" dirty="0">
                <a:latin typeface="Arial"/>
                <a:cs typeface="Arial"/>
              </a:rPr>
              <a:t>mer</a:t>
            </a:r>
            <a:r>
              <a:rPr sz="2200" spc="-200" dirty="0">
                <a:latin typeface="Arial"/>
                <a:cs typeface="Arial"/>
              </a:rPr>
              <a:t>c</a:t>
            </a:r>
            <a:r>
              <a:rPr sz="2200" spc="-100" dirty="0">
                <a:latin typeface="Arial"/>
                <a:cs typeface="Arial"/>
              </a:rPr>
              <a:t>ado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30" dirty="0">
                <a:latin typeface="Arial"/>
                <a:cs typeface="Arial"/>
              </a:rPr>
              <a:t>desa</a:t>
            </a:r>
            <a:r>
              <a:rPr sz="2200" spc="-9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ol</a:t>
            </a:r>
            <a:r>
              <a:rPr sz="2200" spc="-25" dirty="0">
                <a:latin typeface="Arial"/>
                <a:cs typeface="Arial"/>
              </a:rPr>
              <a:t>l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de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5165" y="3755897"/>
            <a:ext cx="11474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d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40" dirty="0">
                <a:latin typeface="Arial"/>
                <a:cs typeface="Arial"/>
              </a:rPr>
              <a:t>p</a:t>
            </a:r>
            <a:r>
              <a:rPr sz="2200" spc="85" dirty="0">
                <a:latin typeface="Arial"/>
                <a:cs typeface="Arial"/>
              </a:rPr>
              <a:t>t</a:t>
            </a:r>
            <a:r>
              <a:rPr sz="2200" spc="-85" dirty="0">
                <a:latin typeface="Arial"/>
                <a:cs typeface="Arial"/>
              </a:rPr>
              <a:t>a</a:t>
            </a:r>
            <a:r>
              <a:rPr sz="2200" spc="-105" dirty="0">
                <a:latin typeface="Arial"/>
                <a:cs typeface="Arial"/>
              </a:rPr>
              <a:t>r</a:t>
            </a:r>
            <a:r>
              <a:rPr sz="2200" spc="-190" dirty="0">
                <a:latin typeface="Arial"/>
                <a:cs typeface="Arial"/>
              </a:rPr>
              <a:t>se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722" y="3755897"/>
            <a:ext cx="2653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657350" algn="l"/>
                <a:tab pos="1739264" algn="l"/>
                <a:tab pos="2111375" algn="l"/>
              </a:tabLst>
            </a:pPr>
            <a:r>
              <a:rPr sz="2200" spc="-60" dirty="0">
                <a:latin typeface="Arial"/>
                <a:cs typeface="Arial"/>
              </a:rPr>
              <a:t>software.	</a:t>
            </a:r>
            <a:r>
              <a:rPr sz="2200" spc="-120" dirty="0">
                <a:latin typeface="Arial"/>
                <a:cs typeface="Arial"/>
              </a:rPr>
              <a:t>Algunos  </a:t>
            </a:r>
            <a:r>
              <a:rPr sz="2200" spc="-125" dirty="0">
                <a:latin typeface="Arial"/>
                <a:cs typeface="Arial"/>
              </a:rPr>
              <a:t>p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10" dirty="0">
                <a:latin typeface="Arial"/>
                <a:cs typeface="Arial"/>
              </a:rPr>
              <a:t>a</a:t>
            </a:r>
            <a:r>
              <a:rPr sz="2200" spc="-60" dirty="0">
                <a:latin typeface="Arial"/>
                <a:cs typeface="Arial"/>
              </a:rPr>
              <a:t>l</a:t>
            </a:r>
            <a:r>
              <a:rPr sz="2200" spc="-100" dirty="0">
                <a:latin typeface="Arial"/>
                <a:cs typeface="Arial"/>
              </a:rPr>
              <a:t>me</a:t>
            </a:r>
            <a:r>
              <a:rPr sz="2200" spc="-95" dirty="0">
                <a:latin typeface="Arial"/>
                <a:cs typeface="Arial"/>
              </a:rPr>
              <a:t>n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	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200" dirty="0">
                <a:latin typeface="Arial"/>
                <a:cs typeface="Arial"/>
              </a:rPr>
              <a:t>c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d</a:t>
            </a:r>
            <a:r>
              <a:rPr sz="2200" spc="-170" dirty="0"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3365" y="3755897"/>
            <a:ext cx="13779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098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200" spc="-95" dirty="0">
                <a:latin typeface="Arial"/>
                <a:cs typeface="Arial"/>
              </a:rPr>
              <a:t>pueden  </a:t>
            </a:r>
            <a:r>
              <a:rPr sz="2200" spc="-70" dirty="0">
                <a:latin typeface="Arial"/>
                <a:cs typeface="Arial"/>
              </a:rPr>
              <a:t>emp</a:t>
            </a:r>
            <a:r>
              <a:rPr sz="2200" spc="-65" dirty="0">
                <a:latin typeface="Arial"/>
                <a:cs typeface="Arial"/>
              </a:rPr>
              <a:t>r</a:t>
            </a:r>
            <a:r>
              <a:rPr sz="2200" spc="-180" dirty="0">
                <a:latin typeface="Arial"/>
                <a:cs typeface="Arial"/>
              </a:rPr>
              <a:t>esa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4676" y="4091178"/>
            <a:ext cx="12598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2644" algn="l"/>
              </a:tabLst>
            </a:pPr>
            <a:r>
              <a:rPr sz="2200" spc="30" dirty="0">
                <a:latin typeface="Arial"/>
                <a:cs typeface="Arial"/>
              </a:rPr>
              <a:t>ot</a:t>
            </a:r>
            <a:r>
              <a:rPr sz="2200" spc="-10" dirty="0">
                <a:latin typeface="Arial"/>
                <a:cs typeface="Arial"/>
              </a:rPr>
              <a:t>r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30" dirty="0">
                <a:latin typeface="Arial"/>
                <a:cs typeface="Arial"/>
              </a:rPr>
              <a:t>son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268" y="4426458"/>
            <a:ext cx="617537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200" spc="-105" dirty="0">
                <a:latin typeface="Arial"/>
                <a:cs typeface="Arial"/>
              </a:rPr>
              <a:t>paquetes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standard.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469900" marR="5080" indent="-457834" algn="just">
              <a:lnSpc>
                <a:spcPct val="100000"/>
              </a:lnSpc>
            </a:pPr>
            <a:r>
              <a:rPr sz="2200" b="1" spc="-200" dirty="0">
                <a:latin typeface="Trebuchet MS"/>
                <a:cs typeface="Trebuchet MS"/>
              </a:rPr>
              <a:t>3. </a:t>
            </a:r>
            <a:r>
              <a:rPr sz="2200" b="1" spc="-114" dirty="0">
                <a:latin typeface="Trebuchet MS"/>
                <a:cs typeface="Trebuchet MS"/>
              </a:rPr>
              <a:t>Cómputo </a:t>
            </a:r>
            <a:r>
              <a:rPr sz="2200" b="1" spc="-120" dirty="0">
                <a:latin typeface="Trebuchet MS"/>
                <a:cs typeface="Trebuchet MS"/>
              </a:rPr>
              <a:t>del </a:t>
            </a:r>
            <a:r>
              <a:rPr sz="2200" b="1" spc="-105" dirty="0">
                <a:latin typeface="Trebuchet MS"/>
                <a:cs typeface="Trebuchet MS"/>
              </a:rPr>
              <a:t>usuario </a:t>
            </a:r>
            <a:r>
              <a:rPr sz="2200" b="1" spc="-100" dirty="0">
                <a:latin typeface="Trebuchet MS"/>
                <a:cs typeface="Trebuchet MS"/>
              </a:rPr>
              <a:t>final</a:t>
            </a:r>
            <a:r>
              <a:rPr sz="2200" spc="-100" dirty="0">
                <a:latin typeface="Arial"/>
                <a:cs typeface="Arial"/>
              </a:rPr>
              <a:t>: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85" dirty="0">
                <a:latin typeface="Arial"/>
                <a:cs typeface="Arial"/>
              </a:rPr>
              <a:t>usuario </a:t>
            </a:r>
            <a:r>
              <a:rPr sz="2200" spc="-35" dirty="0">
                <a:latin typeface="Arial"/>
                <a:cs typeface="Arial"/>
              </a:rPr>
              <a:t>final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0" dirty="0">
                <a:latin typeface="Arial"/>
                <a:cs typeface="Arial"/>
              </a:rPr>
              <a:t>la  solución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desarrolla </a:t>
            </a:r>
            <a:r>
              <a:rPr sz="2200" spc="-185" dirty="0">
                <a:latin typeface="Arial"/>
                <a:cs typeface="Arial"/>
              </a:rPr>
              <a:t>sus </a:t>
            </a:r>
            <a:r>
              <a:rPr sz="2200" spc="-95" dirty="0">
                <a:latin typeface="Arial"/>
                <a:cs typeface="Arial"/>
              </a:rPr>
              <a:t>propias  </a:t>
            </a:r>
            <a:r>
              <a:rPr sz="2200" spc="-105" dirty="0">
                <a:latin typeface="Arial"/>
                <a:cs typeface="Arial"/>
              </a:rPr>
              <a:t>aplicaciones. </a:t>
            </a:r>
            <a:r>
              <a:rPr sz="2200" spc="-185" dirty="0">
                <a:latin typeface="Arial"/>
                <a:cs typeface="Arial"/>
              </a:rPr>
              <a:t>Esta </a:t>
            </a:r>
            <a:r>
              <a:rPr sz="2200" spc="-75" dirty="0">
                <a:latin typeface="Arial"/>
                <a:cs typeface="Arial"/>
              </a:rPr>
              <a:t>opción </a:t>
            </a:r>
            <a:r>
              <a:rPr sz="2200" spc="-114" dirty="0">
                <a:latin typeface="Arial"/>
                <a:cs typeface="Arial"/>
              </a:rPr>
              <a:t>está </a:t>
            </a:r>
            <a:r>
              <a:rPr sz="2200" spc="-100" dirty="0">
                <a:latin typeface="Arial"/>
                <a:cs typeface="Arial"/>
              </a:rPr>
              <a:t>en</a:t>
            </a:r>
            <a:r>
              <a:rPr sz="2200" spc="-150" dirty="0">
                <a:latin typeface="Arial"/>
                <a:cs typeface="Arial"/>
              </a:rPr>
              <a:t> </a:t>
            </a:r>
            <a:r>
              <a:rPr sz="2200" spc="-125" dirty="0">
                <a:latin typeface="Arial"/>
                <a:cs typeface="Arial"/>
              </a:rPr>
              <a:t>desuso.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5985" y="1178475"/>
            <a:ext cx="1981877" cy="2057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53606" y="3886200"/>
            <a:ext cx="2116074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Métodos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5036" y="1676400"/>
            <a:ext cx="6878726" cy="4607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083309"/>
            <a:ext cx="2915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spc="-220" dirty="0">
                <a:latin typeface="Trebuchet MS"/>
                <a:cs typeface="Trebuchet MS"/>
              </a:rPr>
              <a:t>1.	</a:t>
            </a:r>
            <a:r>
              <a:rPr sz="2400" b="1" spc="-50" dirty="0">
                <a:latin typeface="Trebuchet MS"/>
                <a:cs typeface="Trebuchet MS"/>
              </a:rPr>
              <a:t>Método</a:t>
            </a:r>
            <a:r>
              <a:rPr sz="2400" b="1" spc="-204" dirty="0">
                <a:latin typeface="Trebuchet MS"/>
                <a:cs typeface="Trebuchet MS"/>
              </a:rPr>
              <a:t> </a:t>
            </a:r>
            <a:r>
              <a:rPr sz="2400" b="1" spc="-135" dirty="0">
                <a:latin typeface="Trebuchet MS"/>
                <a:cs typeface="Trebuchet MS"/>
              </a:rPr>
              <a:t>tradicional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Métodos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73404"/>
            <a:ext cx="54679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  <a:tab pos="2064385" algn="l"/>
                <a:tab pos="3096260" algn="l"/>
                <a:tab pos="3788410" algn="l"/>
                <a:tab pos="5252085" algn="l"/>
              </a:tabLst>
            </a:pPr>
            <a:r>
              <a:rPr sz="2200" b="1" spc="-250" dirty="0">
                <a:latin typeface="Trebuchet MS"/>
                <a:cs typeface="Trebuchet MS"/>
              </a:rPr>
              <a:t>1</a:t>
            </a:r>
            <a:r>
              <a:rPr sz="2200" b="1" spc="-155" dirty="0">
                <a:latin typeface="Trebuchet MS"/>
                <a:cs typeface="Trebuchet MS"/>
              </a:rPr>
              <a:t>.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340" dirty="0">
                <a:latin typeface="Trebuchet MS"/>
                <a:cs typeface="Trebuchet MS"/>
              </a:rPr>
              <a:t>F</a:t>
            </a:r>
            <a:r>
              <a:rPr sz="2200" b="1" spc="-130" dirty="0">
                <a:latin typeface="Trebuchet MS"/>
                <a:cs typeface="Trebuchet MS"/>
              </a:rPr>
              <a:t>actib</a:t>
            </a:r>
            <a:r>
              <a:rPr sz="2200" b="1" spc="-100" dirty="0">
                <a:latin typeface="Trebuchet MS"/>
                <a:cs typeface="Trebuchet MS"/>
              </a:rPr>
              <a:t>i</a:t>
            </a:r>
            <a:r>
              <a:rPr sz="2200" b="1" spc="-114" dirty="0">
                <a:latin typeface="Trebuchet MS"/>
                <a:cs typeface="Trebuchet MS"/>
              </a:rPr>
              <a:t>l</a:t>
            </a:r>
            <a:r>
              <a:rPr sz="2200" b="1" spc="-125" dirty="0">
                <a:latin typeface="Trebuchet MS"/>
                <a:cs typeface="Trebuchet MS"/>
              </a:rPr>
              <a:t>i</a:t>
            </a:r>
            <a:r>
              <a:rPr sz="2200" b="1" spc="-95" dirty="0">
                <a:latin typeface="Trebuchet MS"/>
                <a:cs typeface="Trebuchet MS"/>
              </a:rPr>
              <a:t>d</a:t>
            </a:r>
            <a:r>
              <a:rPr sz="2200" b="1" spc="-100" dirty="0">
                <a:latin typeface="Trebuchet MS"/>
                <a:cs typeface="Trebuchet MS"/>
              </a:rPr>
              <a:t>a</a:t>
            </a:r>
            <a:r>
              <a:rPr sz="2200" b="1" spc="-105" dirty="0">
                <a:latin typeface="Trebuchet MS"/>
                <a:cs typeface="Trebuchet MS"/>
              </a:rPr>
              <a:t>d</a:t>
            </a:r>
            <a:r>
              <a:rPr sz="2200" spc="-25" dirty="0">
                <a:latin typeface="Arial"/>
                <a:cs typeface="Arial"/>
              </a:rPr>
              <a:t>: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5" dirty="0">
                <a:latin typeface="Arial"/>
                <a:cs typeface="Arial"/>
              </a:rPr>
              <a:t>es</a:t>
            </a:r>
            <a:r>
              <a:rPr sz="2200" spc="-5" dirty="0">
                <a:latin typeface="Arial"/>
                <a:cs typeface="Arial"/>
              </a:rPr>
              <a:t>tu</a:t>
            </a:r>
            <a:r>
              <a:rPr sz="2200" spc="-15" dirty="0">
                <a:latin typeface="Arial"/>
                <a:cs typeface="Arial"/>
              </a:rPr>
              <a:t>d</a:t>
            </a:r>
            <a:r>
              <a:rPr sz="2200" spc="-25" dirty="0">
                <a:latin typeface="Arial"/>
                <a:cs typeface="Arial"/>
              </a:rPr>
              <a:t>io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5" dirty="0">
                <a:latin typeface="Arial"/>
                <a:cs typeface="Arial"/>
              </a:rPr>
              <a:t>pa</a:t>
            </a:r>
            <a:r>
              <a:rPr sz="2200" spc="-110" dirty="0">
                <a:latin typeface="Arial"/>
                <a:cs typeface="Arial"/>
              </a:rPr>
              <a:t>r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5" dirty="0">
                <a:latin typeface="Arial"/>
                <a:cs typeface="Arial"/>
              </a:rPr>
              <a:t>d</a:t>
            </a:r>
            <a:r>
              <a:rPr sz="2200" spc="-140" dirty="0">
                <a:latin typeface="Arial"/>
                <a:cs typeface="Arial"/>
              </a:rPr>
              <a:t>e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45" dirty="0">
                <a:latin typeface="Arial"/>
                <a:cs typeface="Arial"/>
              </a:rPr>
              <a:t>ermi</a:t>
            </a:r>
            <a:r>
              <a:rPr sz="2200" spc="-60" dirty="0">
                <a:latin typeface="Arial"/>
                <a:cs typeface="Arial"/>
              </a:rPr>
              <a:t>n</a:t>
            </a:r>
            <a:r>
              <a:rPr sz="2200" spc="-70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5" dirty="0">
                <a:latin typeface="Arial"/>
                <a:cs typeface="Arial"/>
              </a:rPr>
              <a:t>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9432" y="1073404"/>
            <a:ext cx="29864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6300" algn="l"/>
                <a:tab pos="1350645" algn="l"/>
                <a:tab pos="2623185" algn="l"/>
              </a:tabLst>
            </a:pPr>
            <a:r>
              <a:rPr sz="2200" spc="-120" dirty="0">
                <a:latin typeface="Arial"/>
                <a:cs typeface="Arial"/>
              </a:rPr>
              <a:t>í</a:t>
            </a:r>
            <a:r>
              <a:rPr sz="2200" spc="-75" dirty="0">
                <a:latin typeface="Arial"/>
                <a:cs typeface="Arial"/>
              </a:rPr>
              <a:t>n</a:t>
            </a:r>
            <a:r>
              <a:rPr sz="2200" spc="-80" dirty="0">
                <a:latin typeface="Arial"/>
                <a:cs typeface="Arial"/>
              </a:rPr>
              <a:t>d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5" dirty="0">
                <a:latin typeface="Arial"/>
                <a:cs typeface="Arial"/>
              </a:rPr>
              <a:t>v</a:t>
            </a:r>
            <a:r>
              <a:rPr sz="2200" spc="-45" dirty="0">
                <a:latin typeface="Arial"/>
                <a:cs typeface="Arial"/>
              </a:rPr>
              <a:t>i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b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15" dirty="0">
                <a:latin typeface="Arial"/>
                <a:cs typeface="Arial"/>
              </a:rPr>
              <a:t>l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70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5" dirty="0">
                <a:latin typeface="Arial"/>
                <a:cs typeface="Arial"/>
              </a:rPr>
              <a:t>del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1408684"/>
            <a:ext cx="8616950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200" spc="-75" dirty="0">
                <a:latin typeface="Arial"/>
                <a:cs typeface="Arial"/>
              </a:rPr>
              <a:t>desarrollo </a:t>
            </a:r>
            <a:r>
              <a:rPr sz="2200" spc="-60" dirty="0">
                <a:latin typeface="Arial"/>
                <a:cs typeface="Arial"/>
              </a:rPr>
              <a:t>del </a:t>
            </a:r>
            <a:r>
              <a:rPr sz="2200" spc="-70" dirty="0">
                <a:latin typeface="Arial"/>
                <a:cs typeface="Arial"/>
              </a:rPr>
              <a:t>proyecto. </a:t>
            </a:r>
            <a:r>
              <a:rPr sz="2200" spc="-295" dirty="0">
                <a:latin typeface="Arial"/>
                <a:cs typeface="Arial"/>
              </a:rPr>
              <a:t>Se </a:t>
            </a:r>
            <a:r>
              <a:rPr sz="2200" spc="-50" dirty="0">
                <a:latin typeface="Arial"/>
                <a:cs typeface="Arial"/>
              </a:rPr>
              <a:t>parte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120" dirty="0">
                <a:latin typeface="Arial"/>
                <a:cs typeface="Arial"/>
              </a:rPr>
              <a:t>necesidad </a:t>
            </a:r>
            <a:r>
              <a:rPr sz="2200" spc="-65" dirty="0">
                <a:latin typeface="Arial"/>
                <a:cs typeface="Arial"/>
              </a:rPr>
              <a:t>del</a:t>
            </a:r>
            <a:r>
              <a:rPr sz="2200" spc="-22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usuario.</a:t>
            </a:r>
            <a:endParaRPr sz="22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sz="2200" b="1" spc="-90" dirty="0">
                <a:latin typeface="Trebuchet MS"/>
                <a:cs typeface="Trebuchet MS"/>
              </a:rPr>
              <a:t>Análisis</a:t>
            </a:r>
            <a:r>
              <a:rPr sz="2200" spc="-90" dirty="0">
                <a:latin typeface="Arial"/>
                <a:cs typeface="Arial"/>
              </a:rPr>
              <a:t>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50" dirty="0">
                <a:latin typeface="Arial"/>
                <a:cs typeface="Arial"/>
              </a:rPr>
              <a:t>determinar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10" dirty="0">
                <a:latin typeface="Arial"/>
                <a:cs typeface="Arial"/>
              </a:rPr>
              <a:t>especificaciones </a:t>
            </a:r>
            <a:r>
              <a:rPr sz="2200" spc="-60" dirty="0">
                <a:latin typeface="Arial"/>
                <a:cs typeface="Arial"/>
              </a:rPr>
              <a:t>del </a:t>
            </a:r>
            <a:r>
              <a:rPr sz="2200" spc="-85" dirty="0">
                <a:latin typeface="Arial"/>
                <a:cs typeface="Arial"/>
              </a:rPr>
              <a:t>usuario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0" dirty="0">
                <a:latin typeface="Arial"/>
                <a:cs typeface="Arial"/>
              </a:rPr>
              <a:t>la  </a:t>
            </a:r>
            <a:r>
              <a:rPr sz="2200" spc="-85" dirty="0">
                <a:latin typeface="Arial"/>
                <a:cs typeface="Arial"/>
              </a:rPr>
              <a:t>solución, </a:t>
            </a:r>
            <a:r>
              <a:rPr sz="2200" spc="-70" dirty="0">
                <a:latin typeface="Arial"/>
                <a:cs typeface="Arial"/>
              </a:rPr>
              <a:t>pronosticar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120" dirty="0">
                <a:latin typeface="Arial"/>
                <a:cs typeface="Arial"/>
              </a:rPr>
              <a:t>recursos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30" dirty="0">
                <a:latin typeface="Arial"/>
                <a:cs typeface="Arial"/>
              </a:rPr>
              <a:t>serán </a:t>
            </a:r>
            <a:r>
              <a:rPr sz="2200" spc="-125" dirty="0">
                <a:latin typeface="Arial"/>
                <a:cs typeface="Arial"/>
              </a:rPr>
              <a:t>necesarios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70" dirty="0">
                <a:latin typeface="Arial"/>
                <a:cs typeface="Arial"/>
              </a:rPr>
              <a:t>estimar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35" dirty="0">
                <a:latin typeface="Arial"/>
                <a:cs typeface="Arial"/>
              </a:rPr>
              <a:t>tiempo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1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desarrollo.</a:t>
            </a:r>
            <a:endParaRPr sz="22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sz="2200" b="1" spc="-90" dirty="0">
                <a:latin typeface="Trebuchet MS"/>
                <a:cs typeface="Trebuchet MS"/>
              </a:rPr>
              <a:t>Diseño</a:t>
            </a:r>
            <a:r>
              <a:rPr sz="2200" spc="-90" dirty="0">
                <a:latin typeface="Arial"/>
                <a:cs typeface="Arial"/>
              </a:rPr>
              <a:t>: etapa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75" dirty="0">
                <a:latin typeface="Arial"/>
                <a:cs typeface="Arial"/>
              </a:rPr>
              <a:t>traduce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10" dirty="0">
                <a:latin typeface="Arial"/>
                <a:cs typeface="Arial"/>
              </a:rPr>
              <a:t>análisis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55" dirty="0">
                <a:latin typeface="Arial"/>
                <a:cs typeface="Arial"/>
              </a:rPr>
              <a:t>forma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0" dirty="0">
                <a:latin typeface="Arial"/>
                <a:cs typeface="Arial"/>
              </a:rPr>
              <a:t>etapas </a:t>
            </a:r>
            <a:r>
              <a:rPr sz="2200" spc="-65" dirty="0">
                <a:latin typeface="Arial"/>
                <a:cs typeface="Arial"/>
              </a:rPr>
              <a:t>o  </a:t>
            </a:r>
            <a:r>
              <a:rPr sz="2200" spc="-70" dirty="0">
                <a:latin typeface="Arial"/>
                <a:cs typeface="Arial"/>
              </a:rPr>
              <a:t>algoritmos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60" dirty="0">
                <a:latin typeface="Arial"/>
                <a:cs typeface="Arial"/>
              </a:rPr>
              <a:t>constituirán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60" dirty="0">
                <a:latin typeface="Arial"/>
                <a:cs typeface="Arial"/>
              </a:rPr>
              <a:t>base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programación. </a:t>
            </a:r>
            <a:r>
              <a:rPr sz="2200" spc="-295" dirty="0">
                <a:latin typeface="Arial"/>
                <a:cs typeface="Arial"/>
              </a:rPr>
              <a:t>Se </a:t>
            </a:r>
            <a:r>
              <a:rPr sz="2200" spc="-110" dirty="0">
                <a:latin typeface="Arial"/>
                <a:cs typeface="Arial"/>
              </a:rPr>
              <a:t>diseñan </a:t>
            </a:r>
            <a:r>
              <a:rPr sz="2200" spc="-105" dirty="0">
                <a:latin typeface="Arial"/>
                <a:cs typeface="Arial"/>
              </a:rPr>
              <a:t>los  </a:t>
            </a:r>
            <a:r>
              <a:rPr sz="2200" spc="-75" dirty="0">
                <a:latin typeface="Arial"/>
                <a:cs typeface="Arial"/>
              </a:rPr>
              <a:t>procedimientos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90" dirty="0">
                <a:latin typeface="Arial"/>
                <a:cs typeface="Arial"/>
              </a:rPr>
              <a:t>servirán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55" dirty="0">
                <a:latin typeface="Arial"/>
                <a:cs typeface="Arial"/>
              </a:rPr>
              <a:t>cumplir </a:t>
            </a:r>
            <a:r>
              <a:rPr sz="2200" spc="-114" dirty="0">
                <a:latin typeface="Arial"/>
                <a:cs typeface="Arial"/>
              </a:rPr>
              <a:t>con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40" dirty="0">
                <a:latin typeface="Arial"/>
                <a:cs typeface="Arial"/>
              </a:rPr>
              <a:t>objetivo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55" dirty="0">
                <a:latin typeface="Arial"/>
                <a:cs typeface="Arial"/>
              </a:rPr>
              <a:t>forma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70" dirty="0">
                <a:latin typeface="Arial"/>
                <a:cs typeface="Arial"/>
              </a:rPr>
              <a:t>entrarán </a:t>
            </a:r>
            <a:r>
              <a:rPr sz="2200" spc="-80" dirty="0">
                <a:latin typeface="Arial"/>
                <a:cs typeface="Arial"/>
              </a:rPr>
              <a:t>al</a:t>
            </a:r>
            <a:r>
              <a:rPr sz="2200" spc="-36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sistema.</a:t>
            </a:r>
            <a:endParaRPr sz="22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70534" algn="l"/>
              </a:tabLst>
            </a:pPr>
            <a:r>
              <a:rPr sz="2200" b="1" spc="-110" dirty="0">
                <a:latin typeface="Trebuchet MS"/>
                <a:cs typeface="Trebuchet MS"/>
              </a:rPr>
              <a:t>Programación</a:t>
            </a:r>
            <a:r>
              <a:rPr sz="2200" spc="-110" dirty="0">
                <a:latin typeface="Arial"/>
                <a:cs typeface="Arial"/>
              </a:rPr>
              <a:t>: 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75" dirty="0">
                <a:latin typeface="Arial"/>
                <a:cs typeface="Arial"/>
              </a:rPr>
              <a:t>elaborar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90" dirty="0">
                <a:latin typeface="Arial"/>
                <a:cs typeface="Arial"/>
              </a:rPr>
              <a:t>desarrollos </a:t>
            </a:r>
            <a:r>
              <a:rPr sz="2200" spc="-114" dirty="0">
                <a:latin typeface="Arial"/>
                <a:cs typeface="Arial"/>
              </a:rPr>
              <a:t>considerados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100" dirty="0">
                <a:latin typeface="Arial"/>
                <a:cs typeface="Arial"/>
              </a:rPr>
              <a:t>diseño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50" dirty="0">
                <a:latin typeface="Arial"/>
                <a:cs typeface="Arial"/>
              </a:rPr>
              <a:t>cumplir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30" dirty="0">
                <a:latin typeface="Arial"/>
                <a:cs typeface="Arial"/>
              </a:rPr>
              <a:t>lo </a:t>
            </a:r>
            <a:r>
              <a:rPr sz="2200" spc="-100" dirty="0">
                <a:latin typeface="Arial"/>
                <a:cs typeface="Arial"/>
              </a:rPr>
              <a:t>especificado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45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usuario.</a:t>
            </a:r>
            <a:endParaRPr sz="22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sz="2200" b="1" spc="-110" dirty="0">
                <a:latin typeface="Trebuchet MS"/>
                <a:cs typeface="Trebuchet MS"/>
              </a:rPr>
              <a:t>Pruebas</a:t>
            </a:r>
            <a:r>
              <a:rPr sz="2200" spc="-110" dirty="0">
                <a:latin typeface="Arial"/>
                <a:cs typeface="Arial"/>
              </a:rPr>
              <a:t>: </a:t>
            </a:r>
            <a:r>
              <a:rPr sz="2200" spc="-75" dirty="0">
                <a:latin typeface="Arial"/>
                <a:cs typeface="Arial"/>
              </a:rPr>
              <a:t>resulta </a:t>
            </a:r>
            <a:r>
              <a:rPr sz="2200" spc="-105" dirty="0">
                <a:latin typeface="Arial"/>
                <a:cs typeface="Arial"/>
              </a:rPr>
              <a:t>necesario </a:t>
            </a:r>
            <a:r>
              <a:rPr sz="2200" spc="-55" dirty="0">
                <a:latin typeface="Arial"/>
                <a:cs typeface="Arial"/>
              </a:rPr>
              <a:t>verificar </a:t>
            </a:r>
            <a:r>
              <a:rPr sz="2200" spc="-114" dirty="0">
                <a:latin typeface="Arial"/>
                <a:cs typeface="Arial"/>
              </a:rPr>
              <a:t>si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cumple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135" dirty="0">
                <a:latin typeface="Arial"/>
                <a:cs typeface="Arial"/>
              </a:rPr>
              <a:t>las  </a:t>
            </a:r>
            <a:r>
              <a:rPr sz="2200" spc="-110" dirty="0">
                <a:latin typeface="Arial"/>
                <a:cs typeface="Arial"/>
              </a:rPr>
              <a:t>especificaciones </a:t>
            </a:r>
            <a:r>
              <a:rPr sz="2200" spc="-65" dirty="0">
                <a:latin typeface="Arial"/>
                <a:cs typeface="Arial"/>
              </a:rPr>
              <a:t>del </a:t>
            </a:r>
            <a:r>
              <a:rPr sz="2200" spc="-85" dirty="0">
                <a:latin typeface="Arial"/>
                <a:cs typeface="Arial"/>
              </a:rPr>
              <a:t>usuario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60" dirty="0">
                <a:latin typeface="Arial"/>
                <a:cs typeface="Arial"/>
              </a:rPr>
              <a:t>su </a:t>
            </a:r>
            <a:r>
              <a:rPr sz="2200" spc="-65" dirty="0">
                <a:latin typeface="Arial"/>
                <a:cs typeface="Arial"/>
              </a:rPr>
              <a:t>correcto </a:t>
            </a:r>
            <a:r>
              <a:rPr sz="2200" spc="-60" dirty="0">
                <a:latin typeface="Arial"/>
                <a:cs typeface="Arial"/>
              </a:rPr>
              <a:t>funcionamiento (utilizando  </a:t>
            </a:r>
            <a:r>
              <a:rPr sz="2200" spc="-95" dirty="0">
                <a:latin typeface="Arial"/>
                <a:cs typeface="Arial"/>
              </a:rPr>
              <a:t>datos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55" dirty="0">
                <a:latin typeface="Arial"/>
                <a:cs typeface="Arial"/>
              </a:rPr>
              <a:t>ficticios).</a:t>
            </a:r>
            <a:endParaRPr sz="22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sz="2200" b="1" spc="-114" dirty="0">
                <a:latin typeface="Trebuchet MS"/>
                <a:cs typeface="Trebuchet MS"/>
              </a:rPr>
              <a:t>Ajustes</a:t>
            </a:r>
            <a:r>
              <a:rPr sz="2200" spc="-114" dirty="0">
                <a:latin typeface="Arial"/>
                <a:cs typeface="Arial"/>
              </a:rPr>
              <a:t>: </a:t>
            </a:r>
            <a:r>
              <a:rPr sz="2200" spc="-220" dirty="0">
                <a:latin typeface="Arial"/>
                <a:cs typeface="Arial"/>
              </a:rPr>
              <a:t>Si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</a:t>
            </a:r>
            <a:r>
              <a:rPr sz="2200" spc="-70" dirty="0">
                <a:latin typeface="Arial"/>
                <a:cs typeface="Arial"/>
              </a:rPr>
              <a:t>no </a:t>
            </a:r>
            <a:r>
              <a:rPr sz="2200" spc="-90" dirty="0">
                <a:latin typeface="Arial"/>
                <a:cs typeface="Arial"/>
              </a:rPr>
              <a:t>cumple </a:t>
            </a:r>
            <a:r>
              <a:rPr sz="2200" spc="-114" dirty="0">
                <a:latin typeface="Arial"/>
                <a:cs typeface="Arial"/>
              </a:rPr>
              <a:t>con </a:t>
            </a:r>
            <a:r>
              <a:rPr sz="2200" spc="-30" dirty="0">
                <a:latin typeface="Arial"/>
                <a:cs typeface="Arial"/>
              </a:rPr>
              <a:t>lo </a:t>
            </a:r>
            <a:r>
              <a:rPr sz="2200" spc="-100" dirty="0">
                <a:latin typeface="Arial"/>
                <a:cs typeface="Arial"/>
              </a:rPr>
              <a:t>especificado, </a:t>
            </a:r>
            <a:r>
              <a:rPr sz="2200" spc="-65" dirty="0">
                <a:latin typeface="Arial"/>
                <a:cs typeface="Arial"/>
              </a:rPr>
              <a:t>o </a:t>
            </a:r>
            <a:r>
              <a:rPr sz="2200" spc="-70" dirty="0">
                <a:latin typeface="Arial"/>
                <a:cs typeface="Arial"/>
              </a:rPr>
              <a:t>no </a:t>
            </a:r>
            <a:r>
              <a:rPr sz="2200" spc="-75" dirty="0">
                <a:latin typeface="Arial"/>
                <a:cs typeface="Arial"/>
              </a:rPr>
              <a:t>funciona  </a:t>
            </a:r>
            <a:r>
              <a:rPr sz="2200" spc="-100" dirty="0">
                <a:latin typeface="Arial"/>
                <a:cs typeface="Arial"/>
              </a:rPr>
              <a:t>debe </a:t>
            </a:r>
            <a:r>
              <a:rPr sz="2200" spc="-114" dirty="0">
                <a:latin typeface="Arial"/>
                <a:cs typeface="Arial"/>
              </a:rPr>
              <a:t>ser</a:t>
            </a:r>
            <a:r>
              <a:rPr sz="2200" spc="-14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corregido.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</a:t>
            </a:r>
            <a:r>
              <a:rPr spc="-30" dirty="0"/>
              <a:t>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1073404"/>
            <a:ext cx="8618220" cy="3714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350" indent="-457200" algn="just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470534" algn="l"/>
              </a:tabLst>
            </a:pPr>
            <a:r>
              <a:rPr sz="2200" b="1" spc="-125" dirty="0">
                <a:latin typeface="Trebuchet MS"/>
                <a:cs typeface="Trebuchet MS"/>
              </a:rPr>
              <a:t>Implementación: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70" dirty="0">
                <a:latin typeface="Arial"/>
                <a:cs typeface="Arial"/>
              </a:rPr>
              <a:t>instalar </a:t>
            </a:r>
            <a:r>
              <a:rPr sz="2200" spc="-85" dirty="0">
                <a:latin typeface="Arial"/>
                <a:cs typeface="Arial"/>
              </a:rPr>
              <a:t>la solución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0" dirty="0">
                <a:latin typeface="Arial"/>
                <a:cs typeface="Arial"/>
              </a:rPr>
              <a:t>ambiente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5" dirty="0">
                <a:latin typeface="Arial"/>
                <a:cs typeface="Arial"/>
              </a:rPr>
              <a:t>que  operará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realizar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30" dirty="0">
                <a:latin typeface="Arial"/>
                <a:cs typeface="Arial"/>
              </a:rPr>
              <a:t>procesos </a:t>
            </a:r>
            <a:r>
              <a:rPr sz="2200" spc="-125" dirty="0">
                <a:latin typeface="Arial"/>
                <a:cs typeface="Arial"/>
              </a:rPr>
              <a:t>necesarios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opere  </a:t>
            </a:r>
            <a:r>
              <a:rPr sz="2200" spc="-70" dirty="0">
                <a:latin typeface="Arial"/>
                <a:cs typeface="Arial"/>
              </a:rPr>
              <a:t>correctamente. </a:t>
            </a:r>
            <a:r>
              <a:rPr sz="2200" spc="-120" dirty="0">
                <a:latin typeface="Arial"/>
                <a:cs typeface="Arial"/>
              </a:rPr>
              <a:t>Capacitación </a:t>
            </a:r>
            <a:r>
              <a:rPr sz="2200" spc="-60" dirty="0">
                <a:latin typeface="Arial"/>
                <a:cs typeface="Arial"/>
              </a:rPr>
              <a:t>del</a:t>
            </a:r>
            <a:r>
              <a:rPr sz="2200" spc="-20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usuario.</a:t>
            </a:r>
            <a:endParaRPr sz="2200">
              <a:latin typeface="Arial"/>
              <a:cs typeface="Arial"/>
            </a:endParaRPr>
          </a:p>
          <a:p>
            <a:pPr marL="469900" marR="6350" indent="-457200" algn="just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470534" algn="l"/>
              </a:tabLst>
            </a:pPr>
            <a:r>
              <a:rPr sz="2200" b="1" spc="-135" dirty="0">
                <a:latin typeface="Trebuchet MS"/>
                <a:cs typeface="Trebuchet MS"/>
              </a:rPr>
              <a:t>Operación: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65" dirty="0">
                <a:latin typeface="Arial"/>
                <a:cs typeface="Arial"/>
              </a:rPr>
              <a:t>utilización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50" dirty="0">
                <a:latin typeface="Arial"/>
                <a:cs typeface="Arial"/>
              </a:rPr>
              <a:t>parte </a:t>
            </a:r>
            <a:r>
              <a:rPr sz="2200" spc="-60" dirty="0">
                <a:latin typeface="Arial"/>
                <a:cs typeface="Arial"/>
              </a:rPr>
              <a:t>del</a:t>
            </a:r>
            <a:r>
              <a:rPr sz="2200" spc="-430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usuario 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0" dirty="0">
                <a:latin typeface="Arial"/>
                <a:cs typeface="Arial"/>
              </a:rPr>
              <a:t>ambiente real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50" dirty="0">
                <a:latin typeface="Arial"/>
                <a:cs typeface="Arial"/>
              </a:rPr>
              <a:t>trabajo. </a:t>
            </a:r>
            <a:r>
              <a:rPr sz="2200" spc="-14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5" dirty="0">
                <a:latin typeface="Arial"/>
                <a:cs typeface="Arial"/>
              </a:rPr>
              <a:t>poner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85" dirty="0">
                <a:latin typeface="Arial"/>
                <a:cs typeface="Arial"/>
              </a:rPr>
              <a:t>la solución </a:t>
            </a:r>
            <a:r>
              <a:rPr sz="2200" spc="-105" dirty="0">
                <a:latin typeface="Arial"/>
                <a:cs typeface="Arial"/>
              </a:rPr>
              <a:t>en  </a:t>
            </a:r>
            <a:r>
              <a:rPr sz="2200" spc="-100" dirty="0">
                <a:latin typeface="Arial"/>
                <a:cs typeface="Arial"/>
              </a:rPr>
              <a:t>condiciones de </a:t>
            </a:r>
            <a:r>
              <a:rPr sz="2200" spc="-114" dirty="0">
                <a:latin typeface="Arial"/>
                <a:cs typeface="Arial"/>
              </a:rPr>
              <a:t>ser</a:t>
            </a:r>
            <a:r>
              <a:rPr sz="2200" spc="-16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operado.</a:t>
            </a:r>
            <a:endParaRPr sz="22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buAutoNum type="arabicPeriod" startAt="7"/>
              <a:tabLst>
                <a:tab pos="470534" algn="l"/>
              </a:tabLst>
            </a:pPr>
            <a:r>
              <a:rPr sz="2200" b="1" spc="-95" dirty="0">
                <a:latin typeface="Trebuchet MS"/>
                <a:cs typeface="Trebuchet MS"/>
              </a:rPr>
              <a:t>Mantenimiento </a:t>
            </a:r>
            <a:r>
              <a:rPr sz="2200" b="1" spc="-135" dirty="0">
                <a:latin typeface="Trebuchet MS"/>
                <a:cs typeface="Trebuchet MS"/>
              </a:rPr>
              <a:t>y </a:t>
            </a:r>
            <a:r>
              <a:rPr sz="2200" b="1" spc="-140" dirty="0">
                <a:latin typeface="Trebuchet MS"/>
                <a:cs typeface="Trebuchet MS"/>
              </a:rPr>
              <a:t>actualización: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40" dirty="0">
                <a:latin typeface="Arial"/>
                <a:cs typeface="Arial"/>
              </a:rPr>
              <a:t>asegurarse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 </a:t>
            </a:r>
            <a:r>
              <a:rPr sz="2200" spc="-105" dirty="0">
                <a:latin typeface="Arial"/>
                <a:cs typeface="Arial"/>
              </a:rPr>
              <a:t>esté </a:t>
            </a:r>
            <a:r>
              <a:rPr sz="2200" spc="-95" dirty="0">
                <a:latin typeface="Arial"/>
                <a:cs typeface="Arial"/>
              </a:rPr>
              <a:t>en </a:t>
            </a:r>
            <a:r>
              <a:rPr sz="2200" spc="-100" dirty="0">
                <a:latin typeface="Arial"/>
                <a:cs typeface="Arial"/>
              </a:rPr>
              <a:t>línea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65" dirty="0">
                <a:latin typeface="Arial"/>
                <a:cs typeface="Arial"/>
              </a:rPr>
              <a:t>no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105" dirty="0">
                <a:latin typeface="Arial"/>
                <a:cs typeface="Arial"/>
              </a:rPr>
              <a:t>generen </a:t>
            </a:r>
            <a:r>
              <a:rPr sz="2200" spc="-75" dirty="0">
                <a:latin typeface="Arial"/>
                <a:cs typeface="Arial"/>
              </a:rPr>
              <a:t>errores. </a:t>
            </a:r>
            <a:r>
              <a:rPr sz="2200" spc="-295" dirty="0">
                <a:latin typeface="Arial"/>
                <a:cs typeface="Arial"/>
              </a:rPr>
              <a:t>Se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realizan </a:t>
            </a:r>
            <a:r>
              <a:rPr sz="2200" spc="-95" dirty="0">
                <a:latin typeface="Arial"/>
                <a:cs typeface="Arial"/>
              </a:rPr>
              <a:t>mejoras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90" dirty="0">
                <a:latin typeface="Arial"/>
                <a:cs typeface="Arial"/>
              </a:rPr>
              <a:t>la  </a:t>
            </a:r>
            <a:r>
              <a:rPr sz="2200" spc="-85" dirty="0">
                <a:latin typeface="Arial"/>
                <a:cs typeface="Arial"/>
              </a:rPr>
              <a:t>solución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100" dirty="0">
                <a:latin typeface="Arial"/>
                <a:cs typeface="Arial"/>
              </a:rPr>
              <a:t>tenga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85" dirty="0">
                <a:latin typeface="Arial"/>
                <a:cs typeface="Arial"/>
              </a:rPr>
              <a:t>vida </a:t>
            </a:r>
            <a:r>
              <a:rPr sz="2200" spc="15" dirty="0">
                <a:latin typeface="Arial"/>
                <a:cs typeface="Arial"/>
              </a:rPr>
              <a:t>útil</a:t>
            </a:r>
            <a:r>
              <a:rPr sz="2200" spc="-285" dirty="0">
                <a:latin typeface="Arial"/>
                <a:cs typeface="Arial"/>
              </a:rPr>
              <a:t> </a:t>
            </a:r>
            <a:r>
              <a:rPr sz="2200" spc="-165" dirty="0">
                <a:latin typeface="Arial"/>
                <a:cs typeface="Arial"/>
              </a:rPr>
              <a:t>más </a:t>
            </a:r>
            <a:r>
              <a:rPr sz="2200" spc="-105" dirty="0">
                <a:latin typeface="Arial"/>
                <a:cs typeface="Arial"/>
              </a:rPr>
              <a:t>larga.</a:t>
            </a:r>
            <a:endParaRPr sz="22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7"/>
              <a:tabLst>
                <a:tab pos="470534" algn="l"/>
              </a:tabLst>
            </a:pPr>
            <a:r>
              <a:rPr sz="2200" b="1" spc="-110" dirty="0">
                <a:latin typeface="Trebuchet MS"/>
                <a:cs typeface="Trebuchet MS"/>
              </a:rPr>
              <a:t>Auditoria </a:t>
            </a:r>
            <a:r>
              <a:rPr sz="2200" b="1" spc="-135" dirty="0">
                <a:latin typeface="Trebuchet MS"/>
                <a:cs typeface="Trebuchet MS"/>
              </a:rPr>
              <a:t>y control: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35" dirty="0">
                <a:latin typeface="Arial"/>
                <a:cs typeface="Arial"/>
              </a:rPr>
              <a:t>trata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0" dirty="0">
                <a:latin typeface="Arial"/>
                <a:cs typeface="Arial"/>
              </a:rPr>
              <a:t>asegurar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00" dirty="0">
                <a:latin typeface="Arial"/>
                <a:cs typeface="Arial"/>
              </a:rPr>
              <a:t>calidad 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</a:t>
            </a:r>
            <a:r>
              <a:rPr sz="2200" spc="-165" dirty="0">
                <a:latin typeface="Arial"/>
                <a:cs typeface="Arial"/>
              </a:rPr>
              <a:t>(</a:t>
            </a:r>
            <a:r>
              <a:rPr sz="2200" i="1" spc="-165" dirty="0">
                <a:latin typeface="Trebuchet MS"/>
                <a:cs typeface="Trebuchet MS"/>
              </a:rPr>
              <a:t>Total  </a:t>
            </a:r>
            <a:r>
              <a:rPr sz="2200" i="1" spc="-120" dirty="0">
                <a:latin typeface="Trebuchet MS"/>
                <a:cs typeface="Trebuchet MS"/>
              </a:rPr>
              <a:t>Quality </a:t>
            </a:r>
            <a:r>
              <a:rPr sz="2200" i="1" spc="-85" dirty="0">
                <a:latin typeface="Trebuchet MS"/>
                <a:cs typeface="Trebuchet MS"/>
              </a:rPr>
              <a:t>Assurance</a:t>
            </a:r>
            <a:r>
              <a:rPr sz="2200" spc="-85" dirty="0">
                <a:latin typeface="Arial"/>
                <a:cs typeface="Arial"/>
              </a:rPr>
              <a:t>). </a:t>
            </a:r>
            <a:r>
              <a:rPr sz="2200" spc="-295" dirty="0">
                <a:latin typeface="Arial"/>
                <a:cs typeface="Arial"/>
              </a:rPr>
              <a:t>Se </a:t>
            </a:r>
            <a:r>
              <a:rPr sz="2200" spc="-100" dirty="0">
                <a:latin typeface="Arial"/>
                <a:cs typeface="Arial"/>
              </a:rPr>
              <a:t>debe </a:t>
            </a:r>
            <a:r>
              <a:rPr sz="2200" spc="-85" dirty="0">
                <a:latin typeface="Arial"/>
                <a:cs typeface="Arial"/>
              </a:rPr>
              <a:t>realizar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30" dirty="0">
                <a:latin typeface="Arial"/>
                <a:cs typeface="Arial"/>
              </a:rPr>
              <a:t>lo </a:t>
            </a:r>
            <a:r>
              <a:rPr sz="2200" spc="-85" dirty="0">
                <a:latin typeface="Arial"/>
                <a:cs typeface="Arial"/>
              </a:rPr>
              <a:t>largo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25" dirty="0">
                <a:latin typeface="Arial"/>
                <a:cs typeface="Arial"/>
              </a:rPr>
              <a:t>todo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27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desarrollo.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9640" y="2752344"/>
            <a:ext cx="9372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80" dirty="0">
                <a:latin typeface="Arial"/>
                <a:cs typeface="Arial"/>
              </a:rPr>
              <a:t>provocar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2" y="2752344"/>
            <a:ext cx="22879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511935" algn="l"/>
                <a:tab pos="1543685" algn="l"/>
                <a:tab pos="1981835" algn="l"/>
              </a:tabLst>
            </a:pPr>
            <a:r>
              <a:rPr sz="2000" spc="-95" dirty="0">
                <a:latin typeface="Arial"/>
                <a:cs typeface="Arial"/>
              </a:rPr>
              <a:t>operaciones		</a:t>
            </a:r>
            <a:r>
              <a:rPr sz="2000" spc="-80" dirty="0">
                <a:latin typeface="Arial"/>
                <a:cs typeface="Arial"/>
              </a:rPr>
              <a:t>diarias  </a:t>
            </a:r>
            <a:r>
              <a:rPr sz="2000" spc="-50" dirty="0">
                <a:latin typeface="Arial"/>
                <a:cs typeface="Arial"/>
              </a:rPr>
              <a:t>inc</a:t>
            </a:r>
            <a:r>
              <a:rPr sz="2000" spc="-55" dirty="0">
                <a:latin typeface="Arial"/>
                <a:cs typeface="Arial"/>
              </a:rPr>
              <a:t>r</a:t>
            </a:r>
            <a:r>
              <a:rPr sz="2000" spc="-95" dirty="0">
                <a:latin typeface="Arial"/>
                <a:cs typeface="Arial"/>
              </a:rPr>
              <a:t>eme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90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o</a:t>
            </a:r>
            <a:r>
              <a:rPr sz="2000" spc="-13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en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los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67888" y="2752344"/>
            <a:ext cx="2595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875">
              <a:lnSpc>
                <a:spcPct val="100000"/>
              </a:lnSpc>
              <a:spcBef>
                <a:spcPts val="95"/>
              </a:spcBef>
              <a:tabLst>
                <a:tab pos="560070" algn="l"/>
                <a:tab pos="875030" algn="l"/>
                <a:tab pos="1220470" algn="l"/>
              </a:tabLst>
            </a:pPr>
            <a:r>
              <a:rPr sz="2000" spc="-95" dirty="0">
                <a:latin typeface="Arial"/>
                <a:cs typeface="Arial"/>
              </a:rPr>
              <a:t>de	una	</a:t>
            </a:r>
            <a:r>
              <a:rPr sz="2000" spc="-25" dirty="0">
                <a:latin typeface="Arial"/>
                <a:cs typeface="Arial"/>
              </a:rPr>
              <a:t>o</a:t>
            </a:r>
            <a:r>
              <a:rPr sz="2000" spc="-45" dirty="0">
                <a:latin typeface="Arial"/>
                <a:cs typeface="Arial"/>
              </a:rPr>
              <a:t>r</a:t>
            </a:r>
            <a:r>
              <a:rPr sz="2000" spc="-215" dirty="0">
                <a:latin typeface="Arial"/>
                <a:cs typeface="Arial"/>
              </a:rPr>
              <a:t>g</a:t>
            </a:r>
            <a:r>
              <a:rPr sz="2000" spc="-105" dirty="0">
                <a:latin typeface="Arial"/>
                <a:cs typeface="Arial"/>
              </a:rPr>
              <a:t>ani</a:t>
            </a:r>
            <a:r>
              <a:rPr sz="2000" spc="-150" dirty="0">
                <a:latin typeface="Arial"/>
                <a:cs typeface="Arial"/>
              </a:rPr>
              <a:t>z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ión,  </a:t>
            </a:r>
            <a:r>
              <a:rPr sz="2000" spc="-114" dirty="0">
                <a:latin typeface="Arial"/>
                <a:cs typeface="Arial"/>
              </a:rPr>
              <a:t>costos	</a:t>
            </a:r>
            <a:r>
              <a:rPr sz="2000" spc="-225" dirty="0">
                <a:latin typeface="Arial"/>
                <a:cs typeface="Arial"/>
              </a:rPr>
              <a:t>y,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0296" y="3057144"/>
            <a:ext cx="25469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1965" algn="l"/>
                <a:tab pos="2145030" algn="l"/>
              </a:tabLst>
            </a:pPr>
            <a:r>
              <a:rPr sz="2000" spc="-95" dirty="0">
                <a:latin typeface="Arial"/>
                <a:cs typeface="Arial"/>
              </a:rPr>
              <a:t>en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125" dirty="0">
                <a:latin typeface="Arial"/>
                <a:cs typeface="Arial"/>
              </a:rPr>
              <a:t>on</a:t>
            </a:r>
            <a:r>
              <a:rPr sz="2000" spc="-105" dirty="0">
                <a:latin typeface="Arial"/>
                <a:cs typeface="Arial"/>
              </a:rPr>
              <a:t>s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110" dirty="0">
                <a:latin typeface="Arial"/>
                <a:cs typeface="Arial"/>
              </a:rPr>
              <a:t>uen</a:t>
            </a:r>
            <a:r>
              <a:rPr sz="2000" spc="-90" dirty="0">
                <a:latin typeface="Arial"/>
                <a:cs typeface="Arial"/>
              </a:rPr>
              <a:t>c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9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una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722" y="3361944"/>
            <a:ext cx="30638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70" dirty="0">
                <a:latin typeface="Arial"/>
                <a:cs typeface="Arial"/>
              </a:rPr>
              <a:t>disminución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utilidades.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68" y="3666744"/>
            <a:ext cx="22853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  <a:tab pos="1376680" algn="l"/>
              </a:tabLst>
            </a:pPr>
            <a:r>
              <a:rPr sz="2000" spc="-180" dirty="0">
                <a:latin typeface="Arial"/>
                <a:cs typeface="Arial"/>
              </a:rPr>
              <a:t>¿Cómo	</a:t>
            </a:r>
            <a:r>
              <a:rPr sz="2000" spc="-110" dirty="0">
                <a:latin typeface="Arial"/>
                <a:cs typeface="Arial"/>
              </a:rPr>
              <a:t>asegurar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4017" y="3666744"/>
            <a:ext cx="42633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7190" algn="l"/>
                <a:tab pos="1296035" algn="l"/>
                <a:tab pos="1740535" algn="l"/>
                <a:tab pos="2105660" algn="l"/>
                <a:tab pos="3148965" algn="l"/>
              </a:tabLst>
            </a:pPr>
            <a:r>
              <a:rPr sz="2000" spc="-75" dirty="0">
                <a:latin typeface="Arial"/>
                <a:cs typeface="Arial"/>
              </a:rPr>
              <a:t>la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10" dirty="0">
                <a:latin typeface="Arial"/>
                <a:cs typeface="Arial"/>
              </a:rPr>
              <a:t>l</a:t>
            </a:r>
            <a:r>
              <a:rPr sz="2000" spc="15" dirty="0">
                <a:latin typeface="Arial"/>
                <a:cs typeface="Arial"/>
              </a:rPr>
              <a:t>i</a:t>
            </a:r>
            <a:r>
              <a:rPr sz="2000" spc="-100" dirty="0">
                <a:latin typeface="Arial"/>
                <a:cs typeface="Arial"/>
              </a:rPr>
              <a:t>da</a:t>
            </a:r>
            <a:r>
              <a:rPr sz="2000" spc="-95" dirty="0"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40" dirty="0">
                <a:latin typeface="Arial"/>
                <a:cs typeface="Arial"/>
              </a:rPr>
              <a:t>s</a:t>
            </a:r>
            <a:r>
              <a:rPr sz="2000" spc="-145" dirty="0">
                <a:latin typeface="Arial"/>
                <a:cs typeface="Arial"/>
              </a:rPr>
              <a:t>o</a:t>
            </a:r>
            <a:r>
              <a:rPr sz="2000" spc="-55" dirty="0">
                <a:latin typeface="Arial"/>
                <a:cs typeface="Arial"/>
              </a:rPr>
              <a:t>lución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adqu</a:t>
            </a:r>
            <a:r>
              <a:rPr sz="2000" spc="15" dirty="0">
                <a:latin typeface="Arial"/>
                <a:cs typeface="Arial"/>
              </a:rPr>
              <a:t>i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00" dirty="0">
                <a:latin typeface="Arial"/>
                <a:cs typeface="Arial"/>
              </a:rPr>
              <a:t>ida?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722" y="3971544"/>
            <a:ext cx="6251575" cy="2284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0" dirty="0">
                <a:latin typeface="Arial"/>
                <a:cs typeface="Arial"/>
              </a:rPr>
              <a:t>Observar:</a:t>
            </a:r>
            <a:endParaRPr sz="20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187325" algn="l"/>
              </a:tabLst>
            </a:pPr>
            <a:r>
              <a:rPr sz="1600" i="1" spc="-65" dirty="0">
                <a:latin typeface="Trebuchet MS"/>
                <a:cs typeface="Trebuchet MS"/>
              </a:rPr>
              <a:t>Que satisfaga </a:t>
            </a:r>
            <a:r>
              <a:rPr sz="1600" i="1" spc="-75" dirty="0">
                <a:latin typeface="Trebuchet MS"/>
                <a:cs typeface="Trebuchet MS"/>
              </a:rPr>
              <a:t>cumpla </a:t>
            </a:r>
            <a:r>
              <a:rPr sz="1600" i="1" spc="-60" dirty="0">
                <a:latin typeface="Trebuchet MS"/>
                <a:cs typeface="Trebuchet MS"/>
              </a:rPr>
              <a:t>con </a:t>
            </a:r>
            <a:r>
              <a:rPr sz="1600" i="1" spc="-70" dirty="0">
                <a:latin typeface="Trebuchet MS"/>
                <a:cs typeface="Trebuchet MS"/>
              </a:rPr>
              <a:t>los </a:t>
            </a:r>
            <a:r>
              <a:rPr sz="1600" i="1" spc="-95" dirty="0">
                <a:latin typeface="Trebuchet MS"/>
                <a:cs typeface="Trebuchet MS"/>
              </a:rPr>
              <a:t>objetivos </a:t>
            </a:r>
            <a:r>
              <a:rPr sz="1600" i="1" spc="-220" dirty="0">
                <a:latin typeface="Trebuchet MS"/>
                <a:cs typeface="Trebuchet MS"/>
              </a:rPr>
              <a:t>/ </a:t>
            </a:r>
            <a:r>
              <a:rPr sz="1600" i="1" spc="-95" dirty="0">
                <a:latin typeface="Trebuchet MS"/>
                <a:cs typeface="Trebuchet MS"/>
              </a:rPr>
              <a:t>requerimientos </a:t>
            </a:r>
            <a:r>
              <a:rPr sz="1600" i="1" spc="-110" dirty="0">
                <a:latin typeface="Trebuchet MS"/>
                <a:cs typeface="Trebuchet MS"/>
              </a:rPr>
              <a:t>del</a:t>
            </a:r>
            <a:r>
              <a:rPr sz="1600" i="1" spc="-310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usuario.</a:t>
            </a:r>
            <a:endParaRPr sz="1600">
              <a:latin typeface="Trebuchet MS"/>
              <a:cs typeface="Trebuchet MS"/>
            </a:endParaRPr>
          </a:p>
          <a:p>
            <a:pPr marL="186690" indent="-173990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1600" i="1" spc="-65" dirty="0">
                <a:latin typeface="Trebuchet MS"/>
                <a:cs typeface="Trebuchet MS"/>
              </a:rPr>
              <a:t>Que </a:t>
            </a:r>
            <a:r>
              <a:rPr sz="1600" i="1" spc="-90" dirty="0">
                <a:latin typeface="Trebuchet MS"/>
                <a:cs typeface="Trebuchet MS"/>
              </a:rPr>
              <a:t>opere </a:t>
            </a:r>
            <a:r>
              <a:rPr sz="1600" i="1" spc="-60" dirty="0">
                <a:latin typeface="Trebuchet MS"/>
                <a:cs typeface="Trebuchet MS"/>
              </a:rPr>
              <a:t>con </a:t>
            </a:r>
            <a:r>
              <a:rPr sz="1600" i="1" spc="-90" dirty="0">
                <a:latin typeface="Trebuchet MS"/>
                <a:cs typeface="Trebuchet MS"/>
              </a:rPr>
              <a:t>alta </a:t>
            </a:r>
            <a:r>
              <a:rPr sz="1600" i="1" spc="-95" dirty="0">
                <a:latin typeface="Trebuchet MS"/>
                <a:cs typeface="Trebuchet MS"/>
              </a:rPr>
              <a:t>confiabilidad, </a:t>
            </a:r>
            <a:r>
              <a:rPr sz="1600" i="1" spc="-60" dirty="0">
                <a:latin typeface="Trebuchet MS"/>
                <a:cs typeface="Trebuchet MS"/>
              </a:rPr>
              <a:t>es </a:t>
            </a:r>
            <a:r>
              <a:rPr sz="1600" i="1" spc="-135" dirty="0">
                <a:latin typeface="Trebuchet MS"/>
                <a:cs typeface="Trebuchet MS"/>
              </a:rPr>
              <a:t>decir,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50" dirty="0">
                <a:latin typeface="Trebuchet MS"/>
                <a:cs typeface="Trebuchet MS"/>
              </a:rPr>
              <a:t>no </a:t>
            </a:r>
            <a:r>
              <a:rPr sz="1600" i="1" spc="-60" dirty="0">
                <a:latin typeface="Trebuchet MS"/>
                <a:cs typeface="Trebuchet MS"/>
              </a:rPr>
              <a:t>se </a:t>
            </a:r>
            <a:r>
              <a:rPr sz="1600" i="1" spc="-100" dirty="0">
                <a:latin typeface="Trebuchet MS"/>
                <a:cs typeface="Trebuchet MS"/>
              </a:rPr>
              <a:t>detecten </a:t>
            </a:r>
            <a:r>
              <a:rPr sz="1600" i="1" spc="-90" dirty="0">
                <a:latin typeface="Trebuchet MS"/>
                <a:cs typeface="Trebuchet MS"/>
              </a:rPr>
              <a:t>errores</a:t>
            </a:r>
            <a:r>
              <a:rPr sz="1600" i="1" spc="-70" dirty="0">
                <a:latin typeface="Trebuchet MS"/>
                <a:cs typeface="Trebuchet MS"/>
              </a:rPr>
              <a:t> </a:t>
            </a:r>
            <a:r>
              <a:rPr sz="1600" i="1" spc="-65" dirty="0">
                <a:latin typeface="Trebuchet MS"/>
                <a:cs typeface="Trebuchet MS"/>
              </a:rPr>
              <a:t>con</a:t>
            </a:r>
            <a:endParaRPr sz="1600">
              <a:latin typeface="Trebuchet MS"/>
              <a:cs typeface="Trebuchet MS"/>
            </a:endParaRPr>
          </a:p>
          <a:p>
            <a:pPr marL="186690">
              <a:lnSpc>
                <a:spcPct val="100000"/>
              </a:lnSpc>
            </a:pPr>
            <a:r>
              <a:rPr sz="1600" i="1" spc="-100" dirty="0">
                <a:latin typeface="Trebuchet MS"/>
                <a:cs typeface="Trebuchet MS"/>
              </a:rPr>
              <a:t>frecuencia.</a:t>
            </a:r>
            <a:endParaRPr sz="1600">
              <a:latin typeface="Trebuchet MS"/>
              <a:cs typeface="Trebuchet MS"/>
            </a:endParaRPr>
          </a:p>
          <a:p>
            <a:pPr marL="186690" indent="-173990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1600" i="1" spc="-65" dirty="0">
                <a:latin typeface="Trebuchet MS"/>
                <a:cs typeface="Trebuchet MS"/>
              </a:rPr>
              <a:t>Que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50" dirty="0">
                <a:latin typeface="Trebuchet MS"/>
                <a:cs typeface="Trebuchet MS"/>
              </a:rPr>
              <a:t>sea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70" dirty="0">
                <a:latin typeface="Trebuchet MS"/>
                <a:cs typeface="Trebuchet MS"/>
              </a:rPr>
              <a:t>entregado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20" dirty="0">
                <a:latin typeface="Trebuchet MS"/>
                <a:cs typeface="Trebuchet MS"/>
              </a:rPr>
              <a:t>a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90" dirty="0">
                <a:latin typeface="Trebuchet MS"/>
                <a:cs typeface="Trebuchet MS"/>
              </a:rPr>
              <a:t>tiempo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60" dirty="0">
                <a:latin typeface="Trebuchet MS"/>
                <a:cs typeface="Trebuchet MS"/>
              </a:rPr>
              <a:t>para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poder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95" dirty="0">
                <a:latin typeface="Trebuchet MS"/>
                <a:cs typeface="Trebuchet MS"/>
              </a:rPr>
              <a:t>iniciar</a:t>
            </a:r>
            <a:r>
              <a:rPr sz="1600" i="1" spc="-130" dirty="0">
                <a:latin typeface="Trebuchet MS"/>
                <a:cs typeface="Trebuchet MS"/>
              </a:rPr>
              <a:t> </a:t>
            </a:r>
            <a:r>
              <a:rPr sz="1600" i="1" spc="-50" dirty="0">
                <a:latin typeface="Trebuchet MS"/>
                <a:cs typeface="Trebuchet MS"/>
              </a:rPr>
              <a:t>su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operación.</a:t>
            </a:r>
            <a:endParaRPr sz="1600">
              <a:latin typeface="Trebuchet MS"/>
              <a:cs typeface="Trebuchet MS"/>
            </a:endParaRPr>
          </a:p>
          <a:p>
            <a:pPr marL="186690" marR="6350" indent="-173990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1600" i="1" spc="-65" dirty="0">
                <a:latin typeface="Trebuchet MS"/>
                <a:cs typeface="Trebuchet MS"/>
              </a:rPr>
              <a:t>Que </a:t>
            </a:r>
            <a:r>
              <a:rPr sz="1600" i="1" spc="-75" dirty="0">
                <a:latin typeface="Trebuchet MS"/>
                <a:cs typeface="Trebuchet MS"/>
              </a:rPr>
              <a:t>cumpla </a:t>
            </a:r>
            <a:r>
              <a:rPr sz="1600" i="1" spc="-60" dirty="0">
                <a:latin typeface="Trebuchet MS"/>
                <a:cs typeface="Trebuchet MS"/>
              </a:rPr>
              <a:t>con </a:t>
            </a:r>
            <a:r>
              <a:rPr sz="1600" i="1" spc="-70" dirty="0">
                <a:latin typeface="Trebuchet MS"/>
                <a:cs typeface="Trebuchet MS"/>
              </a:rPr>
              <a:t>los </a:t>
            </a:r>
            <a:r>
              <a:rPr sz="1600" i="1" spc="-95" dirty="0">
                <a:latin typeface="Trebuchet MS"/>
                <a:cs typeface="Trebuchet MS"/>
              </a:rPr>
              <a:t>requerimientos </a:t>
            </a:r>
            <a:r>
              <a:rPr sz="1600" i="1" spc="-85" dirty="0">
                <a:latin typeface="Trebuchet MS"/>
                <a:cs typeface="Trebuchet MS"/>
              </a:rPr>
              <a:t>de </a:t>
            </a:r>
            <a:r>
              <a:rPr sz="1600" i="1" spc="-95" dirty="0">
                <a:latin typeface="Trebuchet MS"/>
                <a:cs typeface="Trebuchet MS"/>
              </a:rPr>
              <a:t>presupuesto,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50" dirty="0">
                <a:latin typeface="Trebuchet MS"/>
                <a:cs typeface="Trebuchet MS"/>
              </a:rPr>
              <a:t>no sea </a:t>
            </a:r>
            <a:r>
              <a:rPr sz="1600" i="1" spc="-75" dirty="0">
                <a:latin typeface="Trebuchet MS"/>
                <a:cs typeface="Trebuchet MS"/>
              </a:rPr>
              <a:t>muy  </a:t>
            </a:r>
            <a:r>
              <a:rPr sz="1600" i="1" spc="-65" dirty="0">
                <a:latin typeface="Trebuchet MS"/>
                <a:cs typeface="Trebuchet MS"/>
              </a:rPr>
              <a:t>costoso </a:t>
            </a:r>
            <a:r>
              <a:rPr sz="1600" i="1" spc="-40" dirty="0">
                <a:latin typeface="Trebuchet MS"/>
                <a:cs typeface="Trebuchet MS"/>
              </a:rPr>
              <a:t>o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120" dirty="0">
                <a:latin typeface="Trebuchet MS"/>
                <a:cs typeface="Trebuchet MS"/>
              </a:rPr>
              <a:t>el </a:t>
            </a:r>
            <a:r>
              <a:rPr sz="1600" i="1" spc="-75" dirty="0">
                <a:latin typeface="Trebuchet MS"/>
                <a:cs typeface="Trebuchet MS"/>
              </a:rPr>
              <a:t>costo </a:t>
            </a:r>
            <a:r>
              <a:rPr sz="1600" i="1" spc="-95" dirty="0">
                <a:latin typeface="Trebuchet MS"/>
                <a:cs typeface="Trebuchet MS"/>
              </a:rPr>
              <a:t>lo</a:t>
            </a:r>
            <a:r>
              <a:rPr sz="1600" i="1" spc="-340" dirty="0">
                <a:latin typeface="Trebuchet MS"/>
                <a:cs typeface="Trebuchet MS"/>
              </a:rPr>
              <a:t> </a:t>
            </a:r>
            <a:r>
              <a:rPr sz="1600" i="1" spc="-120" dirty="0">
                <a:latin typeface="Trebuchet MS"/>
                <a:cs typeface="Trebuchet MS"/>
              </a:rPr>
              <a:t>justifique.</a:t>
            </a:r>
            <a:endParaRPr sz="1600">
              <a:latin typeface="Trebuchet MS"/>
              <a:cs typeface="Trebuchet MS"/>
            </a:endParaRPr>
          </a:p>
          <a:p>
            <a:pPr marL="186690" marR="5715" indent="-173990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1600" i="1" spc="-75" dirty="0">
                <a:latin typeface="Trebuchet MS"/>
                <a:cs typeface="Trebuchet MS"/>
              </a:rPr>
              <a:t>Haber evaluado </a:t>
            </a:r>
            <a:r>
              <a:rPr sz="1600" i="1" spc="-85" dirty="0">
                <a:latin typeface="Trebuchet MS"/>
                <a:cs typeface="Trebuchet MS"/>
              </a:rPr>
              <a:t>la </a:t>
            </a:r>
            <a:r>
              <a:rPr sz="1600" i="1" spc="-65" dirty="0">
                <a:latin typeface="Trebuchet MS"/>
                <a:cs typeface="Trebuchet MS"/>
              </a:rPr>
              <a:t>magnitud </a:t>
            </a:r>
            <a:r>
              <a:rPr sz="1600" i="1" spc="-85" dirty="0">
                <a:latin typeface="Trebuchet MS"/>
                <a:cs typeface="Trebuchet MS"/>
              </a:rPr>
              <a:t>de </a:t>
            </a:r>
            <a:r>
              <a:rPr sz="1600" i="1" spc="-65" dirty="0">
                <a:latin typeface="Trebuchet MS"/>
                <a:cs typeface="Trebuchet MS"/>
              </a:rPr>
              <a:t>las adecuaciones </a:t>
            </a:r>
            <a:r>
              <a:rPr sz="1600" i="1" spc="-110" dirty="0">
                <a:latin typeface="Trebuchet MS"/>
                <a:cs typeface="Trebuchet MS"/>
              </a:rPr>
              <a:t>del </a:t>
            </a:r>
            <a:r>
              <a:rPr sz="1600" i="1" spc="-85" dirty="0">
                <a:latin typeface="Trebuchet MS"/>
                <a:cs typeface="Trebuchet MS"/>
              </a:rPr>
              <a:t>paquete </a:t>
            </a:r>
            <a:r>
              <a:rPr sz="1600" i="1" spc="-60" dirty="0">
                <a:latin typeface="Trebuchet MS"/>
                <a:cs typeface="Trebuchet MS"/>
              </a:rPr>
              <a:t>para </a:t>
            </a:r>
            <a:r>
              <a:rPr sz="1600" i="1" spc="-90" dirty="0">
                <a:latin typeface="Trebuchet MS"/>
                <a:cs typeface="Trebuchet MS"/>
              </a:rPr>
              <a:t>la  </a:t>
            </a:r>
            <a:r>
              <a:rPr sz="1600" i="1" spc="-70" dirty="0">
                <a:latin typeface="Trebuchet MS"/>
                <a:cs typeface="Trebuchet MS"/>
              </a:rPr>
              <a:t>empresa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95" dirty="0">
                <a:latin typeface="Trebuchet MS"/>
                <a:cs typeface="Trebuchet MS"/>
              </a:rPr>
              <a:t>lo</a:t>
            </a:r>
            <a:r>
              <a:rPr sz="1600" i="1" spc="-229" dirty="0">
                <a:latin typeface="Trebuchet MS"/>
                <a:cs typeface="Trebuchet MS"/>
              </a:rPr>
              <a:t> </a:t>
            </a:r>
            <a:r>
              <a:rPr sz="1600" i="1" spc="-95" dirty="0">
                <a:latin typeface="Trebuchet MS"/>
                <a:cs typeface="Trebuchet MS"/>
              </a:rPr>
              <a:t>adquiere.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268" y="982625"/>
            <a:ext cx="6709409" cy="179514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890"/>
              </a:spcBef>
              <a:tabLst>
                <a:tab pos="614045" algn="l"/>
              </a:tabLst>
            </a:pPr>
            <a:r>
              <a:rPr sz="2400" b="1" spc="-220" dirty="0">
                <a:latin typeface="Trebuchet MS"/>
                <a:cs typeface="Trebuchet MS"/>
              </a:rPr>
              <a:t>2.	</a:t>
            </a:r>
            <a:r>
              <a:rPr sz="2400" b="1" spc="-140" dirty="0">
                <a:latin typeface="Trebuchet MS"/>
                <a:cs typeface="Trebuchet MS"/>
              </a:rPr>
              <a:t>Compra de</a:t>
            </a:r>
            <a:r>
              <a:rPr sz="2400" b="1" spc="-235" dirty="0">
                <a:latin typeface="Trebuchet MS"/>
                <a:cs typeface="Trebuchet MS"/>
              </a:rPr>
              <a:t> </a:t>
            </a:r>
            <a:r>
              <a:rPr sz="2400" b="1" spc="-135" dirty="0">
                <a:latin typeface="Trebuchet MS"/>
                <a:cs typeface="Trebuchet MS"/>
              </a:rPr>
              <a:t>paquetes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660"/>
              </a:spcBef>
              <a:buChar char="•"/>
              <a:tabLst>
                <a:tab pos="469900" algn="l"/>
                <a:tab pos="470534" algn="l"/>
              </a:tabLst>
            </a:pPr>
            <a:r>
              <a:rPr sz="2000" spc="-130" dirty="0">
                <a:latin typeface="Arial"/>
                <a:cs typeface="Arial"/>
              </a:rPr>
              <a:t>Consiste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35" dirty="0">
                <a:latin typeface="Arial"/>
                <a:cs typeface="Arial"/>
              </a:rPr>
              <a:t>adquirir </a:t>
            </a:r>
            <a:r>
              <a:rPr sz="2000" spc="-90" dirty="0">
                <a:latin typeface="Arial"/>
                <a:cs typeface="Arial"/>
              </a:rPr>
              <a:t>(mercado) </a:t>
            </a:r>
            <a:r>
              <a:rPr sz="2000" spc="-45" dirty="0">
                <a:latin typeface="Arial"/>
                <a:cs typeface="Arial"/>
              </a:rPr>
              <a:t>la/s </a:t>
            </a:r>
            <a:r>
              <a:rPr sz="2000" spc="-75" dirty="0">
                <a:latin typeface="Arial"/>
                <a:cs typeface="Arial"/>
              </a:rPr>
              <a:t>solucione/s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requerida/s.</a:t>
            </a:r>
            <a:endParaRPr sz="20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sz="2000" spc="-265" dirty="0">
                <a:latin typeface="Arial"/>
                <a:cs typeface="Arial"/>
              </a:rPr>
              <a:t>Se </a:t>
            </a:r>
            <a:r>
              <a:rPr sz="2000" spc="-105" dirty="0">
                <a:latin typeface="Arial"/>
                <a:cs typeface="Arial"/>
              </a:rPr>
              <a:t>observa </a:t>
            </a:r>
            <a:r>
              <a:rPr sz="2000" spc="-100" dirty="0">
                <a:latin typeface="Arial"/>
                <a:cs typeface="Arial"/>
              </a:rPr>
              <a:t>y analiza,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5" dirty="0">
                <a:latin typeface="Arial"/>
                <a:cs typeface="Arial"/>
              </a:rPr>
              <a:t>soluciones </a:t>
            </a:r>
            <a:r>
              <a:rPr sz="2000" spc="-80" dirty="0">
                <a:latin typeface="Arial"/>
                <a:cs typeface="Arial"/>
              </a:rPr>
              <a:t>disponibles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0" dirty="0">
                <a:latin typeface="Arial"/>
                <a:cs typeface="Arial"/>
              </a:rPr>
              <a:t>el  </a:t>
            </a:r>
            <a:r>
              <a:rPr sz="2000" spc="-95" dirty="0">
                <a:latin typeface="Arial"/>
                <a:cs typeface="Arial"/>
              </a:rPr>
              <a:t>mercado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65" dirty="0">
                <a:latin typeface="Arial"/>
                <a:cs typeface="Arial"/>
              </a:rPr>
              <a:t>diferentes ofertas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(paquetes).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sz="2000" spc="-114" dirty="0">
                <a:latin typeface="Arial"/>
                <a:cs typeface="Arial"/>
              </a:rPr>
              <a:t>Un </a:t>
            </a:r>
            <a:r>
              <a:rPr sz="2000" spc="-25" dirty="0">
                <a:latin typeface="Arial"/>
                <a:cs typeface="Arial"/>
              </a:rPr>
              <a:t>error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95" dirty="0">
                <a:latin typeface="Arial"/>
                <a:cs typeface="Arial"/>
              </a:rPr>
              <a:t>compra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solución </a:t>
            </a:r>
            <a:r>
              <a:rPr sz="2000" spc="-85" dirty="0">
                <a:latin typeface="Arial"/>
                <a:cs typeface="Arial"/>
              </a:rPr>
              <a:t>puede </a:t>
            </a:r>
            <a:r>
              <a:rPr sz="2000" spc="-70" dirty="0">
                <a:latin typeface="Arial"/>
                <a:cs typeface="Arial"/>
              </a:rPr>
              <a:t>afectar</a:t>
            </a:r>
            <a:r>
              <a:rPr sz="2000" spc="114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las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52131" y="1507997"/>
            <a:ext cx="1844802" cy="1713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48321" y="4331970"/>
            <a:ext cx="1905762" cy="17640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83540" y="1083309"/>
            <a:ext cx="5553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rebuchet MS"/>
                <a:cs typeface="Trebuchet MS"/>
              </a:rPr>
              <a:t>Método </a:t>
            </a:r>
            <a:r>
              <a:rPr sz="2400" b="1" spc="-135" dirty="0">
                <a:latin typeface="Trebuchet MS"/>
                <a:cs typeface="Trebuchet MS"/>
              </a:rPr>
              <a:t>tradicional </a:t>
            </a:r>
            <a:r>
              <a:rPr sz="2400" b="1" spc="-155" dirty="0">
                <a:latin typeface="Trebuchet MS"/>
                <a:cs typeface="Trebuchet MS"/>
              </a:rPr>
              <a:t>vs. </a:t>
            </a:r>
            <a:r>
              <a:rPr sz="2400" b="1" spc="-140" dirty="0">
                <a:latin typeface="Trebuchet MS"/>
                <a:cs typeface="Trebuchet MS"/>
              </a:rPr>
              <a:t>Compra de</a:t>
            </a:r>
            <a:r>
              <a:rPr sz="2400" b="1" spc="-425" dirty="0">
                <a:latin typeface="Trebuchet MS"/>
                <a:cs typeface="Trebuchet MS"/>
              </a:rPr>
              <a:t> </a:t>
            </a:r>
            <a:r>
              <a:rPr sz="2400" b="1" spc="-135" dirty="0">
                <a:latin typeface="Trebuchet MS"/>
                <a:cs typeface="Trebuchet MS"/>
              </a:rPr>
              <a:t>paquetes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930378"/>
              </p:ext>
            </p:extLst>
          </p:nvPr>
        </p:nvGraphicFramePr>
        <p:xfrm>
          <a:off x="374650" y="1447800"/>
          <a:ext cx="8462645" cy="4914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1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629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5556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Método</a:t>
                      </a:r>
                      <a:r>
                        <a:rPr sz="2000" b="1" spc="-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tradicional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Compra de</a:t>
                      </a:r>
                      <a:r>
                        <a:rPr sz="2000" b="1" spc="-1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paquetes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642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000" b="1" i="1" spc="-2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desarrollo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10750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2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solución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adquirida </a:t>
                      </a:r>
                      <a:r>
                        <a:rPr sz="1400" spc="-125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las 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modificaciones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29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i="1" spc="-1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Tiempo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Mayor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Menor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642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000" b="1" i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Mantenimiento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-190" dirty="0">
                          <a:latin typeface="Arial"/>
                          <a:cs typeface="Arial"/>
                        </a:rPr>
                        <a:t>Se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realiza</a:t>
                      </a:r>
                      <a:r>
                        <a:rPr sz="14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internamente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91884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90" dirty="0">
                          <a:latin typeface="Arial"/>
                          <a:cs typeface="Arial"/>
                        </a:rPr>
                        <a:t>Se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realiza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forma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externa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organización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367">
                <a:tc>
                  <a:txBody>
                    <a:bodyPr/>
                    <a:lstStyle/>
                    <a:p>
                      <a:pPr marL="503555" marR="482600" indent="14541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b="1" i="1" spc="-1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Tipo </a:t>
                      </a:r>
                      <a:r>
                        <a:rPr sz="2000" b="1" i="1" spc="-1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 </a:t>
                      </a:r>
                      <a:r>
                        <a:rPr sz="20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apli</a:t>
                      </a:r>
                      <a:r>
                        <a:rPr sz="2000" b="1" i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0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000" b="1" i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0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ión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90" dirty="0">
                          <a:latin typeface="Arial"/>
                          <a:cs typeface="Arial"/>
                        </a:rPr>
                        <a:t>Ad-Hoc </a:t>
                      </a:r>
                      <a:r>
                        <a:rPr sz="1400" spc="150" dirty="0">
                          <a:latin typeface="Arial"/>
                          <a:cs typeface="Arial"/>
                        </a:rPr>
                        <a:t>/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Hecho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medida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60" dirty="0">
                          <a:latin typeface="Arial"/>
                          <a:cs typeface="Arial"/>
                        </a:rPr>
                        <a:t>Aplicación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general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50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2000" b="1" i="1" spc="-1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Cuidado</a:t>
                      </a:r>
                      <a:r>
                        <a:rPr sz="2000" b="1" i="1" spc="-1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spc="-1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125" dirty="0">
                          <a:latin typeface="Arial"/>
                          <a:cs typeface="Arial"/>
                        </a:rPr>
                        <a:t>Fechas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optimistas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75" dirty="0">
                          <a:latin typeface="Arial"/>
                          <a:cs typeface="Arial"/>
                        </a:rPr>
                        <a:t>Rotación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durante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proyecto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No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ser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conejillos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indias.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 marR="689610">
                        <a:lnSpc>
                          <a:spcPct val="100000"/>
                        </a:lnSpc>
                      </a:pPr>
                      <a:r>
                        <a:rPr sz="1400" spc="-60" dirty="0">
                          <a:latin typeface="Arial"/>
                          <a:cs typeface="Arial"/>
                        </a:rPr>
                        <a:t>Asumir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que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modificaciones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son 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menores.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 marR="258445">
                        <a:lnSpc>
                          <a:spcPct val="100000"/>
                        </a:lnSpc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Tener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visto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bueno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usuario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antes de  comprar.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 marR="367030">
                        <a:lnSpc>
                          <a:spcPct val="100000"/>
                        </a:lnSpc>
                      </a:pPr>
                      <a:r>
                        <a:rPr sz="1400" spc="-12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costo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paquete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puede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ser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mínimo 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respecto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al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costo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total.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29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i="1" spc="-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Implementación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95" dirty="0">
                          <a:latin typeface="Arial"/>
                          <a:cs typeface="Arial"/>
                        </a:rPr>
                        <a:t>Costo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similar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95" dirty="0">
                          <a:latin typeface="Arial"/>
                          <a:cs typeface="Arial"/>
                        </a:rPr>
                        <a:t>Costo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similar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2142744"/>
            <a:ext cx="2646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  <a:tab pos="1327150" algn="l"/>
              </a:tabLst>
            </a:pPr>
            <a:r>
              <a:rPr sz="2000" spc="-185" dirty="0">
                <a:latin typeface="Arial"/>
                <a:cs typeface="Arial"/>
              </a:rPr>
              <a:t>Pu</a:t>
            </a:r>
            <a:r>
              <a:rPr sz="2000" spc="-100" dirty="0">
                <a:latin typeface="Arial"/>
                <a:cs typeface="Arial"/>
              </a:rPr>
              <a:t>ede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125" dirty="0">
                <a:latin typeface="Arial"/>
                <a:cs typeface="Arial"/>
              </a:rPr>
              <a:t>on</a:t>
            </a:r>
            <a:r>
              <a:rPr sz="2000" spc="-105" dirty="0">
                <a:latin typeface="Arial"/>
                <a:cs typeface="Arial"/>
              </a:rPr>
              <a:t>s</a:t>
            </a:r>
            <a:r>
              <a:rPr sz="2000" spc="15" dirty="0">
                <a:latin typeface="Arial"/>
                <a:cs typeface="Arial"/>
              </a:rPr>
              <a:t>i</a:t>
            </a:r>
            <a:r>
              <a:rPr sz="2000" spc="-100" dirty="0">
                <a:latin typeface="Arial"/>
                <a:cs typeface="Arial"/>
              </a:rPr>
              <a:t>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spc="-15" dirty="0">
                <a:latin typeface="Arial"/>
                <a:cs typeface="Arial"/>
              </a:rPr>
              <a:t>r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spc="-175" dirty="0">
                <a:latin typeface="Arial"/>
                <a:cs typeface="Arial"/>
              </a:rPr>
              <a:t>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8827" y="2142744"/>
            <a:ext cx="334517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8780" algn="l"/>
                <a:tab pos="2284095" algn="l"/>
                <a:tab pos="3065145" algn="l"/>
              </a:tabLst>
            </a:pPr>
            <a:r>
              <a:rPr sz="2000" spc="-75" dirty="0">
                <a:latin typeface="Arial"/>
                <a:cs typeface="Arial"/>
              </a:rPr>
              <a:t>la	</a:t>
            </a:r>
            <a:r>
              <a:rPr sz="2000" spc="-40" dirty="0">
                <a:latin typeface="Arial"/>
                <a:cs typeface="Arial"/>
              </a:rPr>
              <a:t>imp</a:t>
            </a:r>
            <a:r>
              <a:rPr sz="2000" spc="-45" dirty="0">
                <a:latin typeface="Arial"/>
                <a:cs typeface="Arial"/>
              </a:rPr>
              <a:t>le</a:t>
            </a:r>
            <a:r>
              <a:rPr sz="2000" spc="-85" dirty="0">
                <a:latin typeface="Arial"/>
                <a:cs typeface="Arial"/>
              </a:rPr>
              <a:t>m</a:t>
            </a:r>
            <a:r>
              <a:rPr sz="2000" spc="-95" dirty="0">
                <a:latin typeface="Arial"/>
                <a:cs typeface="Arial"/>
              </a:rPr>
              <a:t>e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ión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75" dirty="0">
                <a:latin typeface="Arial"/>
                <a:cs typeface="Arial"/>
              </a:rPr>
              <a:t>om</a:t>
            </a:r>
            <a:r>
              <a:rPr sz="2000" spc="-5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5" dirty="0">
                <a:latin typeface="Arial"/>
                <a:cs typeface="Arial"/>
              </a:rPr>
              <a:t>un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722" y="2447544"/>
            <a:ext cx="57181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0" dirty="0">
                <a:latin typeface="Arial"/>
                <a:cs typeface="Arial"/>
              </a:rPr>
              <a:t>proceso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que</a:t>
            </a:r>
            <a:r>
              <a:rPr sz="2000" spc="19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lleva</a:t>
            </a:r>
            <a:r>
              <a:rPr sz="2000" spc="19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a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cabo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spc="1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planes</a:t>
            </a:r>
            <a:r>
              <a:rPr sz="2000" spc="19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de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cambio</a:t>
            </a:r>
            <a:r>
              <a:rPr sz="2000" spc="19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en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722" y="2752344"/>
            <a:ext cx="259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8165" algn="l"/>
                <a:tab pos="1962785" algn="l"/>
                <a:tab pos="2403475" algn="l"/>
              </a:tabLst>
            </a:pPr>
            <a:r>
              <a:rPr sz="2000" spc="-120" dirty="0">
                <a:latin typeface="Arial"/>
                <a:cs typeface="Arial"/>
              </a:rPr>
              <a:t>uso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45" dirty="0">
                <a:latin typeface="Arial"/>
                <a:cs typeface="Arial"/>
              </a:rPr>
              <a:t>mp</a:t>
            </a:r>
            <a:r>
              <a:rPr sz="2000" spc="-40" dirty="0">
                <a:latin typeface="Arial"/>
                <a:cs typeface="Arial"/>
              </a:rPr>
              <a:t>r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185" dirty="0">
                <a:latin typeface="Arial"/>
                <a:cs typeface="Arial"/>
              </a:rPr>
              <a:t>s</a:t>
            </a:r>
            <a:r>
              <a:rPr sz="2000" spc="-195" dirty="0">
                <a:latin typeface="Arial"/>
                <a:cs typeface="Arial"/>
              </a:rPr>
              <a:t>a</a:t>
            </a:r>
            <a:r>
              <a:rPr sz="2000" spc="-30" dirty="0">
                <a:latin typeface="Arial"/>
                <a:cs typeface="Arial"/>
              </a:rPr>
              <a:t>ri</a:t>
            </a:r>
            <a:r>
              <a:rPr sz="2000" spc="-55" dirty="0">
                <a:latin typeface="Arial"/>
                <a:cs typeface="Arial"/>
              </a:rPr>
              <a:t>a</a:t>
            </a:r>
            <a:r>
              <a:rPr sz="2000" spc="10" dirty="0">
                <a:latin typeface="Arial"/>
                <a:cs typeface="Arial"/>
              </a:rPr>
              <a:t>l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d</a:t>
            </a:r>
            <a:r>
              <a:rPr sz="2000" spc="-9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5" dirty="0">
                <a:latin typeface="Arial"/>
                <a:cs typeface="Arial"/>
              </a:rPr>
              <a:t>la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8303" y="2752344"/>
            <a:ext cx="29648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67460" algn="l"/>
                <a:tab pos="1707514" algn="l"/>
              </a:tabLst>
            </a:pPr>
            <a:r>
              <a:rPr sz="2000" spc="-80" dirty="0">
                <a:latin typeface="Arial"/>
                <a:cs typeface="Arial"/>
              </a:rPr>
              <a:t>tecnología	</a:t>
            </a:r>
            <a:r>
              <a:rPr sz="2000" spc="-95" dirty="0">
                <a:latin typeface="Arial"/>
                <a:cs typeface="Arial"/>
              </a:rPr>
              <a:t>de	</a:t>
            </a:r>
            <a:r>
              <a:rPr sz="2000" spc="-55" dirty="0">
                <a:latin typeface="Arial"/>
                <a:cs typeface="Arial"/>
              </a:rPr>
              <a:t>información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722" y="3057144"/>
            <a:ext cx="46177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85" dirty="0">
                <a:latin typeface="Arial"/>
                <a:cs typeface="Arial"/>
              </a:rPr>
              <a:t>desarrollada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105" dirty="0">
                <a:latin typeface="Arial"/>
                <a:cs typeface="Arial"/>
              </a:rPr>
              <a:t>proceso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planeamiento.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268" y="3361944"/>
            <a:ext cx="17316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  <a:tab pos="898525" algn="l"/>
              </a:tabLst>
            </a:pPr>
            <a:r>
              <a:rPr sz="2000" spc="-175" dirty="0">
                <a:latin typeface="Arial"/>
                <a:cs typeface="Arial"/>
              </a:rPr>
              <a:t>El	</a:t>
            </a:r>
            <a:r>
              <a:rPr sz="2000" spc="-100" dirty="0">
                <a:latin typeface="Arial"/>
                <a:cs typeface="Arial"/>
              </a:rPr>
              <a:t>proceso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3289" y="3361944"/>
            <a:ext cx="42202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8795" algn="l"/>
                <a:tab pos="2447290" algn="l"/>
                <a:tab pos="3554095" algn="l"/>
              </a:tabLst>
            </a:pPr>
            <a:r>
              <a:rPr sz="2000" spc="-95" dirty="0">
                <a:latin typeface="Arial"/>
                <a:cs typeface="Arial"/>
              </a:rPr>
              <a:t>de	</a:t>
            </a:r>
            <a:r>
              <a:rPr sz="2000" spc="-40" dirty="0">
                <a:latin typeface="Arial"/>
                <a:cs typeface="Arial"/>
              </a:rPr>
              <a:t>imp</a:t>
            </a:r>
            <a:r>
              <a:rPr sz="2000" spc="-30" dirty="0">
                <a:latin typeface="Arial"/>
                <a:cs typeface="Arial"/>
              </a:rPr>
              <a:t>l</a:t>
            </a:r>
            <a:r>
              <a:rPr sz="2000" spc="-70" dirty="0">
                <a:latin typeface="Arial"/>
                <a:cs typeface="Arial"/>
              </a:rPr>
              <a:t>e</a:t>
            </a:r>
            <a:r>
              <a:rPr sz="2000" spc="-90" dirty="0">
                <a:latin typeface="Arial"/>
                <a:cs typeface="Arial"/>
              </a:rPr>
              <a:t>me</a:t>
            </a:r>
            <a:r>
              <a:rPr sz="2000" spc="-85" dirty="0">
                <a:latin typeface="Arial"/>
                <a:cs typeface="Arial"/>
              </a:rPr>
              <a:t>n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ión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70" dirty="0">
                <a:latin typeface="Arial"/>
                <a:cs typeface="Arial"/>
              </a:rPr>
              <a:t>mb</a:t>
            </a:r>
            <a:r>
              <a:rPr sz="2000" spc="-60" dirty="0">
                <a:latin typeface="Arial"/>
                <a:cs typeface="Arial"/>
              </a:rPr>
              <a:t>ién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85" dirty="0">
                <a:latin typeface="Arial"/>
                <a:cs typeface="Arial"/>
              </a:rPr>
              <a:t>puede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268" y="3666744"/>
            <a:ext cx="617601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6350" algn="just">
              <a:lnSpc>
                <a:spcPct val="100000"/>
              </a:lnSpc>
              <a:spcBef>
                <a:spcPts val="95"/>
              </a:spcBef>
            </a:pPr>
            <a:r>
              <a:rPr sz="2000" spc="-75" dirty="0">
                <a:latin typeface="Arial"/>
                <a:cs typeface="Arial"/>
              </a:rPr>
              <a:t>percibirse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100" dirty="0">
                <a:latin typeface="Arial"/>
                <a:cs typeface="Arial"/>
              </a:rPr>
              <a:t>una </a:t>
            </a:r>
            <a:r>
              <a:rPr sz="2000" spc="-85" dirty="0">
                <a:latin typeface="Arial"/>
                <a:cs typeface="Arial"/>
              </a:rPr>
              <a:t>etapa </a:t>
            </a:r>
            <a:r>
              <a:rPr sz="2000" spc="-35" dirty="0">
                <a:latin typeface="Arial"/>
                <a:cs typeface="Arial"/>
              </a:rPr>
              <a:t>importante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20" dirty="0">
                <a:latin typeface="Arial"/>
                <a:cs typeface="Arial"/>
              </a:rPr>
              <a:t>sigue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las  </a:t>
            </a:r>
            <a:r>
              <a:rPr sz="2000" spc="-105" dirty="0">
                <a:latin typeface="Arial"/>
                <a:cs typeface="Arial"/>
              </a:rPr>
              <a:t>etapas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investigación, </a:t>
            </a:r>
            <a:r>
              <a:rPr sz="2000" spc="-95" dirty="0">
                <a:latin typeface="Arial"/>
                <a:cs typeface="Arial"/>
              </a:rPr>
              <a:t>análisis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0" dirty="0">
                <a:latin typeface="Arial"/>
                <a:cs typeface="Arial"/>
              </a:rPr>
              <a:t>diseño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100" dirty="0">
                <a:latin typeface="Arial"/>
                <a:cs typeface="Arial"/>
              </a:rPr>
              <a:t>proceso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desarrollo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sistemas.</a:t>
            </a:r>
            <a:endParaRPr sz="20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implementación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60" dirty="0">
                <a:latin typeface="Arial"/>
                <a:cs typeface="Arial"/>
              </a:rPr>
              <a:t>actividad </a:t>
            </a:r>
            <a:r>
              <a:rPr sz="2000" spc="-35" dirty="0">
                <a:latin typeface="Arial"/>
                <a:cs typeface="Arial"/>
              </a:rPr>
              <a:t>importante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45" dirty="0">
                <a:latin typeface="Arial"/>
                <a:cs typeface="Arial"/>
              </a:rPr>
              <a:t>el  </a:t>
            </a:r>
            <a:r>
              <a:rPr sz="2000" spc="-65" dirty="0">
                <a:latin typeface="Arial"/>
                <a:cs typeface="Arial"/>
              </a:rPr>
              <a:t>desarrollo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100" dirty="0">
                <a:latin typeface="Arial"/>
                <a:cs typeface="Arial"/>
              </a:rPr>
              <a:t>para  </a:t>
            </a:r>
            <a:r>
              <a:rPr sz="2000" spc="-80" dirty="0">
                <a:latin typeface="Arial"/>
                <a:cs typeface="Arial"/>
              </a:rPr>
              <a:t>respaldar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05" dirty="0">
                <a:latin typeface="Arial"/>
                <a:cs typeface="Arial"/>
              </a:rPr>
              <a:t>cambios </a:t>
            </a:r>
            <a:r>
              <a:rPr sz="2000" spc="-90" dirty="0">
                <a:latin typeface="Arial"/>
                <a:cs typeface="Arial"/>
              </a:rPr>
              <a:t>empresariales </a:t>
            </a:r>
            <a:r>
              <a:rPr sz="2000" spc="-100" dirty="0">
                <a:latin typeface="Arial"/>
                <a:cs typeface="Arial"/>
              </a:rPr>
              <a:t>planeados </a:t>
            </a:r>
            <a:r>
              <a:rPr sz="2000" spc="-40" dirty="0">
                <a:latin typeface="Arial"/>
                <a:cs typeface="Arial"/>
              </a:rPr>
              <a:t>por 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100" dirty="0">
                <a:latin typeface="Arial"/>
                <a:cs typeface="Arial"/>
              </a:rPr>
              <a:t>organización y </a:t>
            </a:r>
            <a:r>
              <a:rPr sz="2000" spc="-170" dirty="0">
                <a:latin typeface="Arial"/>
                <a:cs typeface="Arial"/>
              </a:rPr>
              <a:t>sus </a:t>
            </a:r>
            <a:r>
              <a:rPr sz="2000" spc="-100" dirty="0">
                <a:latin typeface="Arial"/>
                <a:cs typeface="Arial"/>
              </a:rPr>
              <a:t>usuarios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finales.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268" y="975916"/>
            <a:ext cx="6172200" cy="119189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919"/>
              </a:spcBef>
            </a:pPr>
            <a:r>
              <a:rPr sz="2400" b="1" spc="-120" dirty="0">
                <a:latin typeface="Trebuchet MS"/>
                <a:cs typeface="Trebuchet MS"/>
              </a:rPr>
              <a:t>Gestión </a:t>
            </a:r>
            <a:r>
              <a:rPr sz="2400" b="1" spc="-135" dirty="0">
                <a:latin typeface="Trebuchet MS"/>
                <a:cs typeface="Trebuchet MS"/>
              </a:rPr>
              <a:t>del</a:t>
            </a:r>
            <a:r>
              <a:rPr sz="2400" b="1" spc="-245" dirty="0">
                <a:latin typeface="Trebuchet MS"/>
                <a:cs typeface="Trebuchet MS"/>
              </a:rPr>
              <a:t> </a:t>
            </a:r>
            <a:r>
              <a:rPr sz="2400" b="1" spc="-125" dirty="0">
                <a:latin typeface="Trebuchet MS"/>
                <a:cs typeface="Trebuchet MS"/>
              </a:rPr>
              <a:t>Cambio</a:t>
            </a:r>
            <a:endParaRPr sz="2400">
              <a:latin typeface="Trebuchet MS"/>
              <a:cs typeface="Trebuchet MS"/>
            </a:endParaRPr>
          </a:p>
          <a:p>
            <a:pPr marL="469900" marR="5080" indent="-457200">
              <a:lnSpc>
                <a:spcPct val="100000"/>
              </a:lnSpc>
              <a:spcBef>
                <a:spcPts val="680"/>
              </a:spcBef>
              <a:buChar char="•"/>
              <a:tabLst>
                <a:tab pos="469900" algn="l"/>
                <a:tab pos="470534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implementación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cualquier </a:t>
            </a:r>
            <a:r>
              <a:rPr sz="2000" spc="-80" dirty="0">
                <a:latin typeface="Arial"/>
                <a:cs typeface="Arial"/>
              </a:rPr>
              <a:t>solución tecnológica  </a:t>
            </a:r>
            <a:r>
              <a:rPr sz="2000" spc="-90" dirty="0">
                <a:latin typeface="Arial"/>
                <a:cs typeface="Arial"/>
              </a:rPr>
              <a:t>conlleva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85" dirty="0">
                <a:latin typeface="Arial"/>
                <a:cs typeface="Arial"/>
              </a:rPr>
              <a:t>responsabilidad </a:t>
            </a:r>
            <a:r>
              <a:rPr sz="2000" spc="-90" dirty="0">
                <a:latin typeface="Arial"/>
                <a:cs typeface="Arial"/>
              </a:rPr>
              <a:t>gerencial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importante.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48450" y="1604772"/>
            <a:ext cx="2281428" cy="1214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48450" y="3048000"/>
            <a:ext cx="2281428" cy="16482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45402" y="4873752"/>
            <a:ext cx="2284476" cy="13860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926507"/>
            <a:ext cx="8616950" cy="538734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310"/>
              </a:spcBef>
            </a:pPr>
            <a:r>
              <a:rPr sz="2400" b="1" spc="-120" dirty="0">
                <a:latin typeface="Trebuchet MS"/>
                <a:cs typeface="Trebuchet MS"/>
              </a:rPr>
              <a:t>Gestión </a:t>
            </a:r>
            <a:r>
              <a:rPr sz="2400" b="1" spc="-135" dirty="0">
                <a:latin typeface="Trebuchet MS"/>
                <a:cs typeface="Trebuchet MS"/>
              </a:rPr>
              <a:t>del </a:t>
            </a:r>
            <a:r>
              <a:rPr sz="2400" b="1" spc="-125" dirty="0">
                <a:latin typeface="Trebuchet MS"/>
                <a:cs typeface="Trebuchet MS"/>
              </a:rPr>
              <a:t>Cambio</a:t>
            </a:r>
            <a:r>
              <a:rPr sz="2400" b="1" spc="-305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905"/>
              </a:spcBef>
              <a:buChar char="•"/>
              <a:tabLst>
                <a:tab pos="470534" algn="l"/>
              </a:tabLst>
            </a:pPr>
            <a:r>
              <a:rPr sz="1800" spc="-200" dirty="0">
                <a:latin typeface="Arial"/>
                <a:cs typeface="Arial"/>
              </a:rPr>
              <a:t>Las </a:t>
            </a:r>
            <a:r>
              <a:rPr sz="1800" spc="-95" dirty="0">
                <a:latin typeface="Arial"/>
                <a:cs typeface="Arial"/>
              </a:rPr>
              <a:t>organizaciones </a:t>
            </a:r>
            <a:r>
              <a:rPr sz="1800" spc="-75" dirty="0">
                <a:latin typeface="Arial"/>
                <a:cs typeface="Arial"/>
              </a:rPr>
              <a:t>deben </a:t>
            </a:r>
            <a:r>
              <a:rPr sz="1800" spc="-45" dirty="0">
                <a:latin typeface="Arial"/>
                <a:cs typeface="Arial"/>
              </a:rPr>
              <a:t>implementar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75" dirty="0">
                <a:latin typeface="Arial"/>
                <a:cs typeface="Arial"/>
              </a:rPr>
              <a:t>variedad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iniciativas </a:t>
            </a:r>
            <a:r>
              <a:rPr sz="1800" spc="-90" dirty="0">
                <a:latin typeface="Arial"/>
                <a:cs typeface="Arial"/>
              </a:rPr>
              <a:t>gerenciales para  </a:t>
            </a:r>
            <a:r>
              <a:rPr sz="1800" spc="-80" dirty="0">
                <a:latin typeface="Arial"/>
                <a:cs typeface="Arial"/>
              </a:rPr>
              <a:t>ayudar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manejar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75" dirty="0">
                <a:latin typeface="Arial"/>
                <a:cs typeface="Arial"/>
              </a:rPr>
              <a:t>cambio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empresarial.</a:t>
            </a:r>
            <a:endParaRPr sz="18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sz="1800" spc="-80" dirty="0">
                <a:latin typeface="Arial"/>
                <a:cs typeface="Arial"/>
              </a:rPr>
              <a:t>Cualquier </a:t>
            </a:r>
            <a:r>
              <a:rPr sz="1800" spc="-45" dirty="0">
                <a:latin typeface="Arial"/>
                <a:cs typeface="Arial"/>
              </a:rPr>
              <a:t>forma </a:t>
            </a:r>
            <a:r>
              <a:rPr sz="1800" spc="-100" dirty="0">
                <a:latin typeface="Arial"/>
                <a:cs typeface="Arial"/>
              </a:rPr>
              <a:t>nueva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85" dirty="0">
                <a:latin typeface="Arial"/>
                <a:cs typeface="Arial"/>
              </a:rPr>
              <a:t>hacer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55" dirty="0">
                <a:latin typeface="Arial"/>
                <a:cs typeface="Arial"/>
              </a:rPr>
              <a:t>cosas </a:t>
            </a:r>
            <a:r>
              <a:rPr sz="1800" spc="-100" dirty="0">
                <a:latin typeface="Arial"/>
                <a:cs typeface="Arial"/>
              </a:rPr>
              <a:t>genera </a:t>
            </a:r>
            <a:r>
              <a:rPr sz="1800" spc="-80" dirty="0">
                <a:latin typeface="Arial"/>
                <a:cs typeface="Arial"/>
              </a:rPr>
              <a:t>algún </a:t>
            </a:r>
            <a:r>
              <a:rPr sz="1800" spc="-85" dirty="0">
                <a:latin typeface="Arial"/>
                <a:cs typeface="Arial"/>
              </a:rPr>
              <a:t>grado </a:t>
            </a:r>
            <a:r>
              <a:rPr sz="1800" spc="-80" dirty="0">
                <a:latin typeface="Arial"/>
                <a:cs typeface="Arial"/>
              </a:rPr>
              <a:t>de resistencia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45" dirty="0">
                <a:latin typeface="Arial"/>
                <a:cs typeface="Arial"/>
              </a:rPr>
              <a:t>parte 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personas </a:t>
            </a:r>
            <a:r>
              <a:rPr sz="1800" spc="-90" dirty="0">
                <a:latin typeface="Arial"/>
                <a:cs typeface="Arial"/>
              </a:rPr>
              <a:t>afectadas. </a:t>
            </a:r>
            <a:r>
              <a:rPr sz="1800" spc="-114" dirty="0">
                <a:latin typeface="Arial"/>
                <a:cs typeface="Arial"/>
              </a:rPr>
              <a:t>Por </a:t>
            </a:r>
            <a:r>
              <a:rPr sz="1800" spc="-35" dirty="0">
                <a:latin typeface="Arial"/>
                <a:cs typeface="Arial"/>
              </a:rPr>
              <a:t>tanto,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55" dirty="0">
                <a:latin typeface="Arial"/>
                <a:cs typeface="Arial"/>
              </a:rPr>
              <a:t>implementación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4" dirty="0">
                <a:latin typeface="Arial"/>
                <a:cs typeface="Arial"/>
              </a:rPr>
              <a:t>nuevas </a:t>
            </a:r>
            <a:r>
              <a:rPr sz="1800" spc="-80" dirty="0">
                <a:latin typeface="Arial"/>
                <a:cs typeface="Arial"/>
              </a:rPr>
              <a:t>tecnologías </a:t>
            </a:r>
            <a:r>
              <a:rPr sz="1800" spc="-75" dirty="0">
                <a:latin typeface="Arial"/>
                <a:cs typeface="Arial"/>
              </a:rPr>
              <a:t>de  gestión </a:t>
            </a:r>
            <a:r>
              <a:rPr sz="1800" spc="-80" dirty="0">
                <a:latin typeface="Arial"/>
                <a:cs typeface="Arial"/>
              </a:rPr>
              <a:t>puede </a:t>
            </a:r>
            <a:r>
              <a:rPr sz="1800" spc="-85" dirty="0">
                <a:latin typeface="Arial"/>
                <a:cs typeface="Arial"/>
              </a:rPr>
              <a:t>generar </a:t>
            </a:r>
            <a:r>
              <a:rPr sz="1800" spc="-25" dirty="0">
                <a:latin typeface="Arial"/>
                <a:cs typeface="Arial"/>
              </a:rPr>
              <a:t>temor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resistencia </a:t>
            </a:r>
            <a:r>
              <a:rPr sz="1800" spc="-65" dirty="0">
                <a:latin typeface="Arial"/>
                <a:cs typeface="Arial"/>
              </a:rPr>
              <a:t>al </a:t>
            </a:r>
            <a:r>
              <a:rPr sz="1800" spc="-75" dirty="0">
                <a:latin typeface="Arial"/>
                <a:cs typeface="Arial"/>
              </a:rPr>
              <a:t>cambio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45" dirty="0">
                <a:latin typeface="Arial"/>
                <a:cs typeface="Arial"/>
              </a:rPr>
              <a:t>parte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los</a:t>
            </a:r>
            <a:r>
              <a:rPr sz="1800" spc="-26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empleados.</a:t>
            </a:r>
            <a:endParaRPr sz="18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470534" algn="l"/>
              </a:tabLst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60" dirty="0">
                <a:latin typeface="Arial"/>
                <a:cs typeface="Arial"/>
              </a:rPr>
              <a:t>administración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40" dirty="0">
                <a:latin typeface="Arial"/>
                <a:cs typeface="Arial"/>
              </a:rPr>
              <a:t>Recursos </a:t>
            </a:r>
            <a:r>
              <a:rPr sz="1800" spc="-110" dirty="0">
                <a:latin typeface="Arial"/>
                <a:cs typeface="Arial"/>
              </a:rPr>
              <a:t>Humanos </a:t>
            </a:r>
            <a:r>
              <a:rPr sz="1800" spc="-65" dirty="0">
                <a:latin typeface="Arial"/>
                <a:cs typeface="Arial"/>
              </a:rPr>
              <a:t>reviste </a:t>
            </a:r>
            <a:r>
              <a:rPr sz="1800" spc="-75" dirty="0">
                <a:latin typeface="Arial"/>
                <a:cs typeface="Arial"/>
              </a:rPr>
              <a:t>carácter </a:t>
            </a:r>
            <a:r>
              <a:rPr sz="1800" spc="-90" dirty="0">
                <a:latin typeface="Arial"/>
                <a:cs typeface="Arial"/>
              </a:rPr>
              <a:t>esencial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75" dirty="0">
                <a:latin typeface="Arial"/>
                <a:cs typeface="Arial"/>
              </a:rPr>
              <a:t>actividades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60" dirty="0">
                <a:latin typeface="Arial"/>
                <a:cs typeface="Arial"/>
              </a:rPr>
              <a:t>administración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75" dirty="0">
                <a:latin typeface="Arial"/>
                <a:cs typeface="Arial"/>
              </a:rPr>
              <a:t>cambio</a:t>
            </a:r>
            <a:r>
              <a:rPr sz="1800" spc="-15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organizacional.</a:t>
            </a:r>
            <a:endParaRPr sz="18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sz="1800" spc="-75" dirty="0">
                <a:latin typeface="Arial"/>
                <a:cs typeface="Arial"/>
              </a:rPr>
              <a:t>Finalmente, </a:t>
            </a:r>
            <a:r>
              <a:rPr sz="1800" spc="-90" dirty="0">
                <a:latin typeface="Arial"/>
                <a:cs typeface="Arial"/>
              </a:rPr>
              <a:t>este proceso </a:t>
            </a:r>
            <a:r>
              <a:rPr sz="1800" spc="-75" dirty="0">
                <a:latin typeface="Arial"/>
                <a:cs typeface="Arial"/>
              </a:rPr>
              <a:t>comprende </a:t>
            </a:r>
            <a:r>
              <a:rPr sz="1800" spc="-80" dirty="0">
                <a:latin typeface="Arial"/>
                <a:cs typeface="Arial"/>
              </a:rPr>
              <a:t>analizar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20" dirty="0">
                <a:latin typeface="Arial"/>
                <a:cs typeface="Arial"/>
              </a:rPr>
              <a:t>definir </a:t>
            </a:r>
            <a:r>
              <a:rPr sz="1800" spc="-60" dirty="0">
                <a:latin typeface="Arial"/>
                <a:cs typeface="Arial"/>
              </a:rPr>
              <a:t>todos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95" dirty="0">
                <a:latin typeface="Arial"/>
                <a:cs typeface="Arial"/>
              </a:rPr>
              <a:t>cambios </a:t>
            </a:r>
            <a:r>
              <a:rPr sz="1800" spc="-70" dirty="0">
                <a:latin typeface="Arial"/>
                <a:cs typeface="Arial"/>
              </a:rPr>
              <a:t>que </a:t>
            </a:r>
            <a:r>
              <a:rPr sz="1800" spc="-45" dirty="0">
                <a:latin typeface="Arial"/>
                <a:cs typeface="Arial"/>
              </a:rPr>
              <a:t>enfrenta 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organización, </a:t>
            </a:r>
            <a:r>
              <a:rPr sz="1800" spc="-65" dirty="0">
                <a:latin typeface="Arial"/>
                <a:cs typeface="Arial"/>
              </a:rPr>
              <a:t>desarrollando </a:t>
            </a:r>
            <a:r>
              <a:rPr sz="1800" spc="-60" dirty="0">
                <a:latin typeface="Arial"/>
                <a:cs typeface="Arial"/>
              </a:rPr>
              <a:t>iniciativas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45" dirty="0">
                <a:latin typeface="Arial"/>
                <a:cs typeface="Arial"/>
              </a:rPr>
              <a:t>reducir </a:t>
            </a:r>
            <a:r>
              <a:rPr sz="1800" spc="-100" dirty="0">
                <a:latin typeface="Arial"/>
                <a:cs typeface="Arial"/>
              </a:rPr>
              <a:t>riesgos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95" dirty="0">
                <a:latin typeface="Arial"/>
                <a:cs typeface="Arial"/>
              </a:rPr>
              <a:t>costos, </a:t>
            </a:r>
            <a:r>
              <a:rPr sz="1800" spc="-35" dirty="0">
                <a:latin typeface="Arial"/>
                <a:cs typeface="Arial"/>
              </a:rPr>
              <a:t>permitiendo  </a:t>
            </a:r>
            <a:r>
              <a:rPr sz="1800" spc="-85" dirty="0">
                <a:latin typeface="Arial"/>
                <a:cs typeface="Arial"/>
              </a:rPr>
              <a:t>maximizar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70" dirty="0">
                <a:latin typeface="Arial"/>
                <a:cs typeface="Arial"/>
              </a:rPr>
              <a:t>beneficios </a:t>
            </a:r>
            <a:r>
              <a:rPr sz="1800" spc="-55" dirty="0">
                <a:latin typeface="Arial"/>
                <a:cs typeface="Arial"/>
              </a:rPr>
              <a:t>del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cambio.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sz="1800" spc="-170" dirty="0">
                <a:latin typeface="Arial"/>
                <a:cs typeface="Arial"/>
              </a:rPr>
              <a:t>Los </a:t>
            </a:r>
            <a:r>
              <a:rPr sz="1800" spc="-75" dirty="0">
                <a:latin typeface="Arial"/>
                <a:cs typeface="Arial"/>
              </a:rPr>
              <a:t>expertos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75" dirty="0">
                <a:latin typeface="Arial"/>
                <a:cs typeface="Arial"/>
              </a:rPr>
              <a:t>cambio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recomiendan:</a:t>
            </a:r>
            <a:endParaRPr sz="1800">
              <a:latin typeface="Arial"/>
              <a:cs typeface="Arial"/>
            </a:endParaRPr>
          </a:p>
          <a:p>
            <a:pPr marL="927100" marR="5715" lvl="1" indent="-457200">
              <a:lnSpc>
                <a:spcPct val="100000"/>
              </a:lnSpc>
              <a:spcBef>
                <a:spcPts val="15"/>
              </a:spcBef>
              <a:buChar char="•"/>
              <a:tabLst>
                <a:tab pos="927100" algn="l"/>
                <a:tab pos="927735" algn="l"/>
              </a:tabLst>
            </a:pPr>
            <a:r>
              <a:rPr sz="1600" spc="-55" dirty="0">
                <a:latin typeface="Arial"/>
                <a:cs typeface="Arial"/>
              </a:rPr>
              <a:t>Involucrar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70" dirty="0">
                <a:latin typeface="Arial"/>
                <a:cs typeface="Arial"/>
              </a:rPr>
              <a:t>mayor </a:t>
            </a:r>
            <a:r>
              <a:rPr sz="1600" spc="-60" dirty="0">
                <a:latin typeface="Arial"/>
                <a:cs typeface="Arial"/>
              </a:rPr>
              <a:t>cantidad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5" dirty="0">
                <a:latin typeface="Arial"/>
                <a:cs typeface="Arial"/>
              </a:rPr>
              <a:t>personas </a:t>
            </a:r>
            <a:r>
              <a:rPr sz="1600" spc="-75" dirty="0">
                <a:latin typeface="Arial"/>
                <a:cs typeface="Arial"/>
              </a:rPr>
              <a:t>posibles en </a:t>
            </a:r>
            <a:r>
              <a:rPr sz="1600" spc="-60" dirty="0">
                <a:latin typeface="Arial"/>
                <a:cs typeface="Arial"/>
              </a:rPr>
              <a:t>la reingeniería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40" dirty="0">
                <a:latin typeface="Arial"/>
                <a:cs typeface="Arial"/>
              </a:rPr>
              <a:t>otros </a:t>
            </a:r>
            <a:r>
              <a:rPr sz="1600" spc="-85" dirty="0">
                <a:latin typeface="Arial"/>
                <a:cs typeface="Arial"/>
              </a:rPr>
              <a:t>programas de  </a:t>
            </a:r>
            <a:r>
              <a:rPr sz="1600" spc="-65" dirty="0">
                <a:latin typeface="Arial"/>
                <a:cs typeface="Arial"/>
              </a:rPr>
              <a:t>cambio.</a:t>
            </a:r>
            <a:endParaRPr sz="1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600" spc="-100" dirty="0">
                <a:latin typeface="Arial"/>
                <a:cs typeface="Arial"/>
              </a:rPr>
              <a:t>Hacer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70" dirty="0">
                <a:latin typeface="Arial"/>
                <a:cs typeface="Arial"/>
              </a:rPr>
              <a:t>cambio </a:t>
            </a:r>
            <a:r>
              <a:rPr sz="1600" spc="-65" dirty="0">
                <a:latin typeface="Arial"/>
                <a:cs typeface="Arial"/>
              </a:rPr>
              <a:t>constante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40" dirty="0">
                <a:latin typeface="Arial"/>
                <a:cs typeface="Arial"/>
              </a:rPr>
              <a:t>parte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</a:t>
            </a:r>
            <a:r>
              <a:rPr sz="1600" spc="-22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cultura.</a:t>
            </a:r>
            <a:endParaRPr sz="1600">
              <a:latin typeface="Arial"/>
              <a:cs typeface="Arial"/>
            </a:endParaRPr>
          </a:p>
          <a:p>
            <a:pPr marL="927100" marR="5715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600" spc="-70" dirty="0">
                <a:latin typeface="Arial"/>
                <a:cs typeface="Arial"/>
              </a:rPr>
              <a:t>Contarle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65" dirty="0">
                <a:latin typeface="Arial"/>
                <a:cs typeface="Arial"/>
              </a:rPr>
              <a:t>la </a:t>
            </a:r>
            <a:r>
              <a:rPr sz="1600" spc="-70" dirty="0">
                <a:latin typeface="Arial"/>
                <a:cs typeface="Arial"/>
              </a:rPr>
              <a:t>mayor </a:t>
            </a:r>
            <a:r>
              <a:rPr sz="1600" spc="-60" dirty="0">
                <a:latin typeface="Arial"/>
                <a:cs typeface="Arial"/>
              </a:rPr>
              <a:t>cantidad </a:t>
            </a:r>
            <a:r>
              <a:rPr sz="1600" spc="-65" dirty="0">
                <a:latin typeface="Arial"/>
                <a:cs typeface="Arial"/>
              </a:rPr>
              <a:t>posible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5" dirty="0">
                <a:latin typeface="Arial"/>
                <a:cs typeface="Arial"/>
              </a:rPr>
              <a:t>personas </a:t>
            </a:r>
            <a:r>
              <a:rPr sz="1600" spc="-75" dirty="0">
                <a:latin typeface="Arial"/>
                <a:cs typeface="Arial"/>
              </a:rPr>
              <a:t>sobre </a:t>
            </a:r>
            <a:r>
              <a:rPr sz="1600" spc="-50" dirty="0">
                <a:latin typeface="Arial"/>
                <a:cs typeface="Arial"/>
              </a:rPr>
              <a:t>todos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85" dirty="0">
                <a:latin typeface="Arial"/>
                <a:cs typeface="Arial"/>
              </a:rPr>
              <a:t>aspectos,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65" dirty="0">
                <a:latin typeface="Arial"/>
                <a:cs typeface="Arial"/>
              </a:rPr>
              <a:t>la </a:t>
            </a:r>
            <a:r>
              <a:rPr sz="1600" spc="-70" dirty="0">
                <a:latin typeface="Arial"/>
                <a:cs typeface="Arial"/>
              </a:rPr>
              <a:t>mayor  </a:t>
            </a:r>
            <a:r>
              <a:rPr sz="1600" spc="-65" dirty="0">
                <a:latin typeface="Arial"/>
                <a:cs typeface="Arial"/>
              </a:rPr>
              <a:t>frecuencia </a:t>
            </a:r>
            <a:r>
              <a:rPr sz="1600" spc="-60" dirty="0">
                <a:latin typeface="Arial"/>
                <a:cs typeface="Arial"/>
              </a:rPr>
              <a:t>posible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45" dirty="0">
                <a:latin typeface="Arial"/>
                <a:cs typeface="Arial"/>
              </a:rPr>
              <a:t>preferiblemente </a:t>
            </a:r>
            <a:r>
              <a:rPr sz="1600" spc="-75" dirty="0">
                <a:latin typeface="Arial"/>
                <a:cs typeface="Arial"/>
              </a:rPr>
              <a:t>en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persona.</a:t>
            </a:r>
            <a:endParaRPr sz="1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600" spc="-100" dirty="0">
                <a:latin typeface="Arial"/>
                <a:cs typeface="Arial"/>
              </a:rPr>
              <a:t>Hacer </a:t>
            </a:r>
            <a:r>
              <a:rPr sz="1600" spc="-95" dirty="0">
                <a:latin typeface="Arial"/>
                <a:cs typeface="Arial"/>
              </a:rPr>
              <a:t>uso </a:t>
            </a:r>
            <a:r>
              <a:rPr sz="1600" spc="-45" dirty="0">
                <a:latin typeface="Arial"/>
                <a:cs typeface="Arial"/>
              </a:rPr>
              <a:t>amplio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55" dirty="0">
                <a:latin typeface="Arial"/>
                <a:cs typeface="Arial"/>
              </a:rPr>
              <a:t>reconocimiento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55" dirty="0">
                <a:latin typeface="Arial"/>
                <a:cs typeface="Arial"/>
              </a:rPr>
              <a:t>incentivos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60" dirty="0">
                <a:latin typeface="Arial"/>
                <a:cs typeface="Arial"/>
              </a:rPr>
              <a:t>financieros.</a:t>
            </a:r>
            <a:endParaRPr sz="1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600" spc="-85" dirty="0">
                <a:latin typeface="Arial"/>
                <a:cs typeface="Arial"/>
              </a:rPr>
              <a:t>Trabajar </a:t>
            </a:r>
            <a:r>
              <a:rPr sz="1600" spc="-30" dirty="0">
                <a:latin typeface="Arial"/>
                <a:cs typeface="Arial"/>
              </a:rPr>
              <a:t>dentro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40" dirty="0">
                <a:latin typeface="Arial"/>
                <a:cs typeface="Arial"/>
              </a:rPr>
              <a:t>cultura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80" dirty="0">
                <a:latin typeface="Arial"/>
                <a:cs typeface="Arial"/>
              </a:rPr>
              <a:t>empresa, </a:t>
            </a:r>
            <a:r>
              <a:rPr sz="1600" spc="-50" dirty="0">
                <a:latin typeface="Arial"/>
                <a:cs typeface="Arial"/>
              </a:rPr>
              <a:t>no alrededor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33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ésta.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86096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799"/>
                </a:lnTo>
                <a:lnTo>
                  <a:pt x="602741" y="685799"/>
                </a:lnTo>
                <a:lnTo>
                  <a:pt x="77419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86096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799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799"/>
                </a:lnTo>
                <a:lnTo>
                  <a:pt x="0" y="685799"/>
                </a:lnTo>
                <a:close/>
              </a:path>
            </a:pathLst>
          </a:custGeom>
          <a:ln w="9905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9955" y="4663185"/>
            <a:ext cx="3869690" cy="171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3410"/>
              </a:lnSpc>
              <a:spcBef>
                <a:spcPts val="100"/>
              </a:spcBef>
            </a:pPr>
            <a:r>
              <a:rPr sz="3000" b="1" spc="-4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3000">
              <a:latin typeface="Trebuchet MS"/>
              <a:cs typeface="Trebuchet MS"/>
            </a:endParaRPr>
          </a:p>
          <a:p>
            <a:pPr marL="678180">
              <a:lnSpc>
                <a:spcPts val="3170"/>
              </a:lnSpc>
            </a:pPr>
            <a:r>
              <a:rPr sz="2800" b="1" spc="-155" dirty="0">
                <a:solidFill>
                  <a:srgbClr val="00338D"/>
                </a:solidFill>
                <a:latin typeface="Trebuchet MS"/>
                <a:cs typeface="Trebuchet MS"/>
              </a:rPr>
              <a:t>Evaluación</a:t>
            </a:r>
            <a:r>
              <a:rPr sz="2800" b="1" spc="-2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endParaRPr sz="2800">
              <a:latin typeface="Trebuchet MS"/>
              <a:cs typeface="Trebuchet MS"/>
            </a:endParaRPr>
          </a:p>
          <a:p>
            <a:pPr marL="12700" marR="472440" algn="ctr">
              <a:lnSpc>
                <a:spcPct val="100000"/>
              </a:lnSpc>
            </a:pPr>
            <a:r>
              <a:rPr sz="2800" b="1" spc="-130" dirty="0">
                <a:solidFill>
                  <a:srgbClr val="00338D"/>
                </a:solidFill>
                <a:latin typeface="Trebuchet MS"/>
                <a:cs typeface="Trebuchet MS"/>
              </a:rPr>
              <a:t>Sistemas </a:t>
            </a:r>
            <a:r>
              <a:rPr sz="2800" b="1" spc="-170" dirty="0">
                <a:solidFill>
                  <a:srgbClr val="00338D"/>
                </a:solidFill>
                <a:latin typeface="Trebuchet MS"/>
                <a:cs typeface="Trebuchet MS"/>
              </a:rPr>
              <a:t>y</a:t>
            </a:r>
            <a:r>
              <a:rPr sz="2800" b="1" spc="-35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55" dirty="0">
                <a:solidFill>
                  <a:srgbClr val="00338D"/>
                </a:solidFill>
                <a:latin typeface="Trebuchet MS"/>
                <a:cs typeface="Trebuchet MS"/>
              </a:rPr>
              <a:t>Tecnologías  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800" b="1" spc="-125" dirty="0">
                <a:solidFill>
                  <a:srgbClr val="00338D"/>
                </a:solidFill>
                <a:latin typeface="Trebuchet MS"/>
                <a:cs typeface="Trebuchet MS"/>
              </a:rPr>
              <a:t>la</a:t>
            </a:r>
            <a:r>
              <a:rPr sz="2800" b="1" spc="-26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40" dirty="0">
                <a:solidFill>
                  <a:srgbClr val="00338D"/>
                </a:solidFill>
                <a:latin typeface="Trebuchet MS"/>
                <a:cs typeface="Trebuchet MS"/>
              </a:rPr>
              <a:t>Información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3049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</a:t>
            </a:r>
            <a:r>
              <a:rPr spc="-409" dirty="0"/>
              <a:t> </a:t>
            </a:r>
            <a:r>
              <a:rPr spc="-100" dirty="0"/>
              <a:t>Información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3672" y="1878329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6BA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8716" y="1965198"/>
            <a:ext cx="15303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Determinación</a:t>
            </a:r>
            <a:r>
              <a:rPr sz="16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Requerimientos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3672" y="297180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70">
                <a:moveTo>
                  <a:pt x="0" y="712469"/>
                </a:moveTo>
                <a:lnTo>
                  <a:pt x="1981200" y="712469"/>
                </a:lnTo>
                <a:lnTo>
                  <a:pt x="1981200" y="0"/>
                </a:lnTo>
                <a:lnTo>
                  <a:pt x="0" y="0"/>
                </a:lnTo>
                <a:lnTo>
                  <a:pt x="0" y="71246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0887" y="3058922"/>
            <a:ext cx="18268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865" marR="5080" indent="-43180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Evaluación </a:t>
            </a:r>
            <a:r>
              <a:rPr sz="1600" b="1" spc="-114" dirty="0">
                <a:solidFill>
                  <a:srgbClr val="FFFFFF"/>
                </a:solidFill>
                <a:latin typeface="Trebuchet MS"/>
                <a:cs typeface="Trebuchet MS"/>
              </a:rPr>
              <a:t>técnica</a:t>
            </a:r>
            <a:r>
              <a:rPr sz="16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propuestas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3672" y="4088129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70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9269" y="4175252"/>
            <a:ext cx="180911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marR="5080" indent="-29464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Evaluación</a:t>
            </a:r>
            <a:r>
              <a:rPr sz="16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financiera 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propuestas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3672" y="5231129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70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3258" y="5318252"/>
            <a:ext cx="20015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 marR="5080" indent="-5715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Actividades</a:t>
            </a:r>
            <a:r>
              <a:rPr sz="16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posteriores  </a:t>
            </a:r>
            <a:r>
              <a:rPr sz="1600" b="1" spc="-65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1600" b="1" spc="-70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firma del</a:t>
            </a:r>
            <a:r>
              <a:rPr sz="1600" b="1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contrato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71955" y="2596895"/>
            <a:ext cx="485140" cy="506730"/>
          </a:xfrm>
          <a:custGeom>
            <a:avLst/>
            <a:gdLst/>
            <a:ahLst/>
            <a:cxnLst/>
            <a:rect l="l" t="t" r="r" b="b"/>
            <a:pathLst>
              <a:path w="485139" h="506730">
                <a:moveTo>
                  <a:pt x="484631" y="264413"/>
                </a:moveTo>
                <a:lnTo>
                  <a:pt x="0" y="264413"/>
                </a:lnTo>
                <a:lnTo>
                  <a:pt x="242315" y="506729"/>
                </a:lnTo>
                <a:lnTo>
                  <a:pt x="484631" y="264413"/>
                </a:lnTo>
                <a:close/>
              </a:path>
              <a:path w="485139" h="506730">
                <a:moveTo>
                  <a:pt x="363474" y="0"/>
                </a:moveTo>
                <a:lnTo>
                  <a:pt x="121157" y="0"/>
                </a:lnTo>
                <a:lnTo>
                  <a:pt x="121157" y="264413"/>
                </a:lnTo>
                <a:lnTo>
                  <a:pt x="363474" y="264413"/>
                </a:lnTo>
                <a:lnTo>
                  <a:pt x="363474" y="0"/>
                </a:lnTo>
                <a:close/>
              </a:path>
            </a:pathLst>
          </a:custGeom>
          <a:solidFill>
            <a:srgbClr val="B5D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71955" y="3684270"/>
            <a:ext cx="485140" cy="506730"/>
          </a:xfrm>
          <a:custGeom>
            <a:avLst/>
            <a:gdLst/>
            <a:ahLst/>
            <a:cxnLst/>
            <a:rect l="l" t="t" r="r" b="b"/>
            <a:pathLst>
              <a:path w="485139" h="506729">
                <a:moveTo>
                  <a:pt x="484631" y="264413"/>
                </a:moveTo>
                <a:lnTo>
                  <a:pt x="0" y="264413"/>
                </a:lnTo>
                <a:lnTo>
                  <a:pt x="242315" y="506729"/>
                </a:lnTo>
                <a:lnTo>
                  <a:pt x="484631" y="264413"/>
                </a:lnTo>
                <a:close/>
              </a:path>
              <a:path w="485139" h="506729">
                <a:moveTo>
                  <a:pt x="363474" y="0"/>
                </a:moveTo>
                <a:lnTo>
                  <a:pt x="121157" y="0"/>
                </a:lnTo>
                <a:lnTo>
                  <a:pt x="121157" y="264413"/>
                </a:lnTo>
                <a:lnTo>
                  <a:pt x="363474" y="264413"/>
                </a:lnTo>
                <a:lnTo>
                  <a:pt x="363474" y="0"/>
                </a:lnTo>
                <a:close/>
              </a:path>
            </a:pathLst>
          </a:custGeom>
          <a:solidFill>
            <a:srgbClr val="B5D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1955" y="4800600"/>
            <a:ext cx="485140" cy="506730"/>
          </a:xfrm>
          <a:custGeom>
            <a:avLst/>
            <a:gdLst/>
            <a:ahLst/>
            <a:cxnLst/>
            <a:rect l="l" t="t" r="r" b="b"/>
            <a:pathLst>
              <a:path w="485139" h="506729">
                <a:moveTo>
                  <a:pt x="484631" y="264413"/>
                </a:moveTo>
                <a:lnTo>
                  <a:pt x="0" y="264413"/>
                </a:lnTo>
                <a:lnTo>
                  <a:pt x="242315" y="506730"/>
                </a:lnTo>
                <a:lnTo>
                  <a:pt x="484631" y="264413"/>
                </a:lnTo>
                <a:close/>
              </a:path>
              <a:path w="485139" h="506729">
                <a:moveTo>
                  <a:pt x="363474" y="0"/>
                </a:moveTo>
                <a:lnTo>
                  <a:pt x="121157" y="0"/>
                </a:lnTo>
                <a:lnTo>
                  <a:pt x="121157" y="264413"/>
                </a:lnTo>
                <a:lnTo>
                  <a:pt x="363474" y="264413"/>
                </a:lnTo>
                <a:lnTo>
                  <a:pt x="363474" y="0"/>
                </a:lnTo>
                <a:close/>
              </a:path>
            </a:pathLst>
          </a:custGeom>
          <a:solidFill>
            <a:srgbClr val="B5D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172" y="1676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6202" y="1686051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0886" y="2743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3915" y="2752851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0886" y="38260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3915" y="3835908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8600" y="495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1629" y="4962905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23" name="object 23"/>
          <p:cNvSpPr txBox="1"/>
          <p:nvPr/>
        </p:nvSpPr>
        <p:spPr>
          <a:xfrm>
            <a:off x="2593594" y="1837182"/>
            <a:ext cx="510794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spc="-150" dirty="0">
                <a:latin typeface="Arial"/>
                <a:cs typeface="Arial"/>
              </a:rPr>
              <a:t>La </a:t>
            </a:r>
            <a:r>
              <a:rPr sz="1400" b="1" spc="-85" dirty="0">
                <a:latin typeface="Trebuchet MS"/>
                <a:cs typeface="Trebuchet MS"/>
              </a:rPr>
              <a:t>primera </a:t>
            </a:r>
            <a:r>
              <a:rPr sz="1400" b="1" spc="-80" dirty="0">
                <a:latin typeface="Trebuchet MS"/>
                <a:cs typeface="Trebuchet MS"/>
              </a:rPr>
              <a:t>fase </a:t>
            </a:r>
            <a:r>
              <a:rPr sz="1400" spc="-70" dirty="0">
                <a:latin typeface="Arial"/>
                <a:cs typeface="Arial"/>
              </a:rPr>
              <a:t>consiste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35" dirty="0">
                <a:latin typeface="Arial"/>
                <a:cs typeface="Arial"/>
              </a:rPr>
              <a:t>determinar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40" dirty="0">
                <a:latin typeface="Arial"/>
                <a:cs typeface="Arial"/>
              </a:rPr>
              <a:t>requerimientos </a:t>
            </a:r>
            <a:r>
              <a:rPr sz="1400" spc="-45" dirty="0">
                <a:latin typeface="Arial"/>
                <a:cs typeface="Arial"/>
              </a:rPr>
              <a:t>del </a:t>
            </a:r>
            <a:r>
              <a:rPr sz="1400" spc="-65" dirty="0">
                <a:latin typeface="Arial"/>
                <a:cs typeface="Arial"/>
              </a:rPr>
              <a:t>nuevo  </a:t>
            </a:r>
            <a:r>
              <a:rPr sz="1400" spc="-45" dirty="0">
                <a:latin typeface="Arial"/>
                <a:cs typeface="Arial"/>
              </a:rPr>
              <a:t>equipo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95" dirty="0">
                <a:latin typeface="Arial"/>
                <a:cs typeface="Arial"/>
              </a:rPr>
              <a:t>será </a:t>
            </a:r>
            <a:r>
              <a:rPr sz="1400" spc="-35" dirty="0">
                <a:latin typeface="Arial"/>
                <a:cs typeface="Arial"/>
              </a:rPr>
              <a:t>adquirido,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fin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20" dirty="0">
                <a:latin typeface="Arial"/>
                <a:cs typeface="Arial"/>
              </a:rPr>
              <a:t>transmitir </a:t>
            </a:r>
            <a:r>
              <a:rPr sz="1400" spc="-85" dirty="0">
                <a:latin typeface="Arial"/>
                <a:cs typeface="Arial"/>
              </a:rPr>
              <a:t>las necesidades </a:t>
            </a:r>
            <a:r>
              <a:rPr sz="1400" spc="-70" dirty="0">
                <a:latin typeface="Arial"/>
                <a:cs typeface="Arial"/>
              </a:rPr>
              <a:t>de  manera clara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45" dirty="0">
                <a:latin typeface="Arial"/>
                <a:cs typeface="Arial"/>
              </a:rPr>
              <a:t>diferentes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proveedores.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93594" y="2751582"/>
            <a:ext cx="510984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spc="-155" dirty="0">
                <a:latin typeface="Arial"/>
                <a:cs typeface="Arial"/>
              </a:rPr>
              <a:t>La </a:t>
            </a:r>
            <a:r>
              <a:rPr sz="1400" b="1" spc="-70" dirty="0">
                <a:latin typeface="Trebuchet MS"/>
                <a:cs typeface="Trebuchet MS"/>
              </a:rPr>
              <a:t>segunda </a:t>
            </a:r>
            <a:r>
              <a:rPr sz="1400" b="1" spc="-75" dirty="0">
                <a:latin typeface="Trebuchet MS"/>
                <a:cs typeface="Trebuchet MS"/>
              </a:rPr>
              <a:t>fase </a:t>
            </a:r>
            <a:r>
              <a:rPr sz="1400" spc="-40" dirty="0">
                <a:latin typeface="Arial"/>
                <a:cs typeface="Arial"/>
              </a:rPr>
              <a:t>define </a:t>
            </a:r>
            <a:r>
              <a:rPr sz="1400" spc="-70" dirty="0">
                <a:latin typeface="Arial"/>
                <a:cs typeface="Arial"/>
              </a:rPr>
              <a:t>y evalúa </a:t>
            </a:r>
            <a:r>
              <a:rPr sz="1400" spc="-85" dirty="0">
                <a:latin typeface="Arial"/>
                <a:cs typeface="Arial"/>
              </a:rPr>
              <a:t>las </a:t>
            </a:r>
            <a:r>
              <a:rPr sz="1400" spc="-65" dirty="0">
                <a:latin typeface="Arial"/>
                <a:cs typeface="Arial"/>
              </a:rPr>
              <a:t>características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55" dirty="0">
                <a:latin typeface="Arial"/>
                <a:cs typeface="Arial"/>
              </a:rPr>
              <a:t>factores </a:t>
            </a:r>
            <a:r>
              <a:rPr sz="1400" spc="-65" dirty="0">
                <a:latin typeface="Arial"/>
                <a:cs typeface="Arial"/>
              </a:rPr>
              <a:t>técnicos  de los </a:t>
            </a:r>
            <a:r>
              <a:rPr sz="1400" spc="-60" dirty="0">
                <a:latin typeface="Arial"/>
                <a:cs typeface="Arial"/>
              </a:rPr>
              <a:t>equipos </a:t>
            </a:r>
            <a:r>
              <a:rPr sz="1400" spc="-55" dirty="0">
                <a:latin typeface="Arial"/>
                <a:cs typeface="Arial"/>
              </a:rPr>
              <a:t>disponibles. </a:t>
            </a:r>
            <a:r>
              <a:rPr sz="1400" spc="-125" dirty="0">
                <a:latin typeface="Arial"/>
                <a:cs typeface="Arial"/>
              </a:rPr>
              <a:t>El </a:t>
            </a:r>
            <a:r>
              <a:rPr sz="1400" spc="-45" dirty="0">
                <a:latin typeface="Arial"/>
                <a:cs typeface="Arial"/>
              </a:rPr>
              <a:t>resultado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75" dirty="0">
                <a:latin typeface="Arial"/>
                <a:cs typeface="Arial"/>
              </a:rPr>
              <a:t>esta </a:t>
            </a:r>
            <a:r>
              <a:rPr sz="1400" spc="-65" dirty="0">
                <a:latin typeface="Arial"/>
                <a:cs typeface="Arial"/>
              </a:rPr>
              <a:t>evaluación </a:t>
            </a:r>
            <a:r>
              <a:rPr sz="1400" spc="-55" dirty="0">
                <a:latin typeface="Arial"/>
                <a:cs typeface="Arial"/>
              </a:rPr>
              <a:t>técnica,  </a:t>
            </a:r>
            <a:r>
              <a:rPr sz="1400" spc="-80" dirty="0">
                <a:latin typeface="Arial"/>
                <a:cs typeface="Arial"/>
              </a:rPr>
              <a:t>sumado </a:t>
            </a:r>
            <a:r>
              <a:rPr sz="1400" spc="-50" dirty="0">
                <a:latin typeface="Arial"/>
                <a:cs typeface="Arial"/>
              </a:rPr>
              <a:t>al </a:t>
            </a:r>
            <a:r>
              <a:rPr sz="1400" spc="-45" dirty="0">
                <a:latin typeface="Arial"/>
                <a:cs typeface="Arial"/>
              </a:rPr>
              <a:t>resultado 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60" dirty="0">
                <a:latin typeface="Arial"/>
                <a:cs typeface="Arial"/>
              </a:rPr>
              <a:t>evaluación </a:t>
            </a:r>
            <a:r>
              <a:rPr sz="1400" spc="-75" dirty="0">
                <a:latin typeface="Arial"/>
                <a:cs typeface="Arial"/>
              </a:rPr>
              <a:t>económica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50" dirty="0">
                <a:latin typeface="Arial"/>
                <a:cs typeface="Arial"/>
              </a:rPr>
              <a:t>financiera,  </a:t>
            </a:r>
            <a:r>
              <a:rPr sz="1400" spc="-45" dirty="0">
                <a:latin typeface="Arial"/>
                <a:cs typeface="Arial"/>
              </a:rPr>
              <a:t>constituyen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40" dirty="0">
                <a:latin typeface="Arial"/>
                <a:cs typeface="Arial"/>
              </a:rPr>
              <a:t>plataforma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60" dirty="0">
                <a:latin typeface="Arial"/>
                <a:cs typeface="Arial"/>
              </a:rPr>
              <a:t>decisión </a:t>
            </a:r>
            <a:r>
              <a:rPr sz="1400" spc="-40" dirty="0">
                <a:latin typeface="Arial"/>
                <a:cs typeface="Arial"/>
              </a:rPr>
              <a:t>del </a:t>
            </a:r>
            <a:r>
              <a:rPr sz="1400" spc="-45" dirty="0">
                <a:latin typeface="Arial"/>
                <a:cs typeface="Arial"/>
              </a:rPr>
              <a:t>equipo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55" dirty="0">
                <a:latin typeface="Arial"/>
                <a:cs typeface="Arial"/>
              </a:rPr>
              <a:t>solución </a:t>
            </a:r>
            <a:r>
              <a:rPr sz="1400" spc="-110" dirty="0">
                <a:latin typeface="Arial"/>
                <a:cs typeface="Arial"/>
              </a:rPr>
              <a:t>a  </a:t>
            </a:r>
            <a:r>
              <a:rPr sz="1400" spc="-45" dirty="0">
                <a:latin typeface="Arial"/>
                <a:cs typeface="Arial"/>
              </a:rPr>
              <a:t>adquirir.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93594" y="4097273"/>
            <a:ext cx="510921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spc="-150" dirty="0">
                <a:latin typeface="Arial"/>
                <a:cs typeface="Arial"/>
              </a:rPr>
              <a:t>La </a:t>
            </a:r>
            <a:r>
              <a:rPr sz="1400" b="1" spc="-110" dirty="0">
                <a:latin typeface="Trebuchet MS"/>
                <a:cs typeface="Trebuchet MS"/>
              </a:rPr>
              <a:t>tercera </a:t>
            </a:r>
            <a:r>
              <a:rPr sz="1400" b="1" spc="-80" dirty="0">
                <a:latin typeface="Trebuchet MS"/>
                <a:cs typeface="Trebuchet MS"/>
              </a:rPr>
              <a:t>fase </a:t>
            </a:r>
            <a:r>
              <a:rPr sz="1400" spc="-70" dirty="0">
                <a:latin typeface="Arial"/>
                <a:cs typeface="Arial"/>
              </a:rPr>
              <a:t>consiste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45" dirty="0">
                <a:latin typeface="Arial"/>
                <a:cs typeface="Arial"/>
              </a:rPr>
              <a:t>determinar,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10" dirty="0">
                <a:latin typeface="Arial"/>
                <a:cs typeface="Arial"/>
              </a:rPr>
              <a:t>partir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30" dirty="0">
                <a:latin typeface="Arial"/>
                <a:cs typeface="Arial"/>
              </a:rPr>
              <a:t>múltiples criterios 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60" dirty="0">
                <a:latin typeface="Arial"/>
                <a:cs typeface="Arial"/>
              </a:rPr>
              <a:t>evaluación </a:t>
            </a:r>
            <a:r>
              <a:rPr sz="1400" spc="-55" dirty="0">
                <a:latin typeface="Arial"/>
                <a:cs typeface="Arial"/>
              </a:rPr>
              <a:t>económico-financiera, la </a:t>
            </a:r>
            <a:r>
              <a:rPr sz="1400" spc="-70" dirty="0">
                <a:latin typeface="Arial"/>
                <a:cs typeface="Arial"/>
              </a:rPr>
              <a:t>conveniencia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40" dirty="0">
                <a:latin typeface="Arial"/>
                <a:cs typeface="Arial"/>
              </a:rPr>
              <a:t>llevar  </a:t>
            </a:r>
            <a:r>
              <a:rPr sz="1400" spc="-55" dirty="0">
                <a:latin typeface="Arial"/>
                <a:cs typeface="Arial"/>
              </a:rPr>
              <a:t>adelante </a:t>
            </a:r>
            <a:r>
              <a:rPr sz="1400" spc="-40" dirty="0">
                <a:latin typeface="Arial"/>
                <a:cs typeface="Arial"/>
              </a:rPr>
              <a:t>el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proyecto.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93594" y="5217159"/>
            <a:ext cx="511048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spc="-150" dirty="0">
                <a:latin typeface="Arial"/>
                <a:cs typeface="Arial"/>
              </a:rPr>
              <a:t>La </a:t>
            </a:r>
            <a:r>
              <a:rPr sz="1400" b="1" spc="-90" dirty="0">
                <a:latin typeface="Trebuchet MS"/>
                <a:cs typeface="Trebuchet MS"/>
              </a:rPr>
              <a:t>cuarta </a:t>
            </a:r>
            <a:r>
              <a:rPr sz="1400" b="1" spc="-80" dirty="0">
                <a:latin typeface="Trebuchet MS"/>
                <a:cs typeface="Trebuchet MS"/>
              </a:rPr>
              <a:t>fase </a:t>
            </a:r>
            <a:r>
              <a:rPr sz="1400" spc="-70" dirty="0">
                <a:latin typeface="Arial"/>
                <a:cs typeface="Arial"/>
              </a:rPr>
              <a:t>consiste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40" dirty="0">
                <a:latin typeface="Arial"/>
                <a:cs typeface="Arial"/>
              </a:rPr>
              <a:t>ejecutar </a:t>
            </a:r>
            <a:r>
              <a:rPr sz="1400" spc="-60" dirty="0">
                <a:latin typeface="Arial"/>
                <a:cs typeface="Arial"/>
              </a:rPr>
              <a:t>actividades </a:t>
            </a:r>
            <a:r>
              <a:rPr sz="1400" spc="-55" dirty="0">
                <a:latin typeface="Arial"/>
                <a:cs typeface="Arial"/>
              </a:rPr>
              <a:t>tales </a:t>
            </a:r>
            <a:r>
              <a:rPr sz="1400" spc="-60" dirty="0">
                <a:latin typeface="Arial"/>
                <a:cs typeface="Arial"/>
              </a:rPr>
              <a:t>como:  </a:t>
            </a:r>
            <a:r>
              <a:rPr sz="1400" spc="-50" dirty="0">
                <a:latin typeface="Arial"/>
                <a:cs typeface="Arial"/>
              </a:rPr>
              <a:t>acondicionamiento, </a:t>
            </a:r>
            <a:r>
              <a:rPr sz="1400" spc="-60" dirty="0">
                <a:latin typeface="Arial"/>
                <a:cs typeface="Arial"/>
              </a:rPr>
              <a:t>capacitación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usuarios, conversión de  </a:t>
            </a:r>
            <a:r>
              <a:rPr sz="1400" spc="-70" dirty="0">
                <a:latin typeface="Arial"/>
                <a:cs typeface="Arial"/>
              </a:rPr>
              <a:t>programas, </a:t>
            </a:r>
            <a:r>
              <a:rPr sz="1400" spc="-55" dirty="0">
                <a:latin typeface="Arial"/>
                <a:cs typeface="Arial"/>
              </a:rPr>
              <a:t>migración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5" dirty="0">
                <a:latin typeface="Arial"/>
                <a:cs typeface="Arial"/>
              </a:rPr>
              <a:t>información,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4263" y="1080262"/>
            <a:ext cx="7654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60" dirty="0">
                <a:latin typeface="Trebuchet MS"/>
                <a:cs typeface="Trebuchet MS"/>
              </a:rPr>
              <a:t>A </a:t>
            </a:r>
            <a:r>
              <a:rPr sz="2000" b="1" spc="-125" dirty="0">
                <a:latin typeface="Trebuchet MS"/>
                <a:cs typeface="Trebuchet MS"/>
              </a:rPr>
              <a:t>continuación, </a:t>
            </a:r>
            <a:r>
              <a:rPr sz="2000" b="1" spc="-105" dirty="0">
                <a:latin typeface="Trebuchet MS"/>
                <a:cs typeface="Trebuchet MS"/>
              </a:rPr>
              <a:t>se </a:t>
            </a:r>
            <a:r>
              <a:rPr sz="2000" b="1" spc="-135" dirty="0">
                <a:latin typeface="Trebuchet MS"/>
                <a:cs typeface="Trebuchet MS"/>
              </a:rPr>
              <a:t>expone </a:t>
            </a:r>
            <a:r>
              <a:rPr sz="2000" b="1" spc="-125" dirty="0">
                <a:latin typeface="Trebuchet MS"/>
                <a:cs typeface="Trebuchet MS"/>
              </a:rPr>
              <a:t>el </a:t>
            </a:r>
            <a:r>
              <a:rPr sz="2000" b="1" spc="-114" dirty="0">
                <a:latin typeface="Trebuchet MS"/>
                <a:cs typeface="Trebuchet MS"/>
              </a:rPr>
              <a:t>proceso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05" dirty="0">
                <a:latin typeface="Trebuchet MS"/>
                <a:cs typeface="Trebuchet MS"/>
              </a:rPr>
              <a:t>adquisición </a:t>
            </a:r>
            <a:r>
              <a:rPr sz="2000" b="1" spc="-125" dirty="0">
                <a:latin typeface="Trebuchet MS"/>
                <a:cs typeface="Trebuchet MS"/>
              </a:rPr>
              <a:t>y selección </a:t>
            </a:r>
            <a:r>
              <a:rPr sz="2000" b="1" spc="-120" dirty="0">
                <a:latin typeface="Trebuchet MS"/>
                <a:cs typeface="Trebuchet MS"/>
              </a:rPr>
              <a:t>de</a:t>
            </a:r>
            <a:r>
              <a:rPr sz="2000" b="1" spc="-350" dirty="0">
                <a:latin typeface="Trebuchet MS"/>
                <a:cs typeface="Trebuchet MS"/>
              </a:rPr>
              <a:t> </a:t>
            </a:r>
            <a:r>
              <a:rPr sz="2000" b="1" spc="-80" dirty="0">
                <a:latin typeface="Trebuchet MS"/>
                <a:cs typeface="Trebuchet MS"/>
              </a:rPr>
              <a:t>SI/TI: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258" y="500126"/>
            <a:ext cx="39833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3672" y="119253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6BA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8716" y="1279398"/>
            <a:ext cx="15303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Determinación</a:t>
            </a:r>
            <a:r>
              <a:rPr sz="16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Requerimientos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172" y="99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6202" y="999744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2593594" y="1149095"/>
            <a:ext cx="628459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</a:pPr>
            <a:r>
              <a:rPr sz="1700" spc="-145" dirty="0">
                <a:latin typeface="Arial"/>
                <a:cs typeface="Arial"/>
              </a:rPr>
              <a:t>Para </a:t>
            </a:r>
            <a:r>
              <a:rPr sz="1700" spc="-70" dirty="0">
                <a:latin typeface="Arial"/>
                <a:cs typeface="Arial"/>
              </a:rPr>
              <a:t>hacerlo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50" dirty="0">
                <a:latin typeface="Arial"/>
                <a:cs typeface="Arial"/>
              </a:rPr>
              <a:t>éxito,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85" dirty="0">
                <a:latin typeface="Arial"/>
                <a:cs typeface="Arial"/>
              </a:rPr>
              <a:t>necesario </a:t>
            </a:r>
            <a:r>
              <a:rPr sz="1700" spc="-55" dirty="0">
                <a:latin typeface="Arial"/>
                <a:cs typeface="Arial"/>
              </a:rPr>
              <a:t>llevar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95" dirty="0">
                <a:latin typeface="Arial"/>
                <a:cs typeface="Arial"/>
              </a:rPr>
              <a:t>cabo </a:t>
            </a:r>
            <a:r>
              <a:rPr sz="1700" spc="-65" dirty="0">
                <a:latin typeface="Arial"/>
                <a:cs typeface="Arial"/>
              </a:rPr>
              <a:t>ciertas </a:t>
            </a:r>
            <a:r>
              <a:rPr sz="1700" spc="-75" dirty="0">
                <a:latin typeface="Arial"/>
                <a:cs typeface="Arial"/>
              </a:rPr>
              <a:t>actividades  previas:</a:t>
            </a:r>
            <a:endParaRPr sz="17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700" b="1" spc="-100" dirty="0">
                <a:latin typeface="Trebuchet MS"/>
                <a:cs typeface="Trebuchet MS"/>
              </a:rPr>
              <a:t>Conocimiento de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105" dirty="0">
                <a:latin typeface="Trebuchet MS"/>
                <a:cs typeface="Trebuchet MS"/>
              </a:rPr>
              <a:t>organización </a:t>
            </a:r>
            <a:r>
              <a:rPr sz="1700" b="1" spc="-50" dirty="0">
                <a:latin typeface="Trebuchet MS"/>
                <a:cs typeface="Trebuchet MS"/>
              </a:rPr>
              <a:t>o </a:t>
            </a:r>
            <a:r>
              <a:rPr sz="1700" b="1" spc="-85" dirty="0">
                <a:latin typeface="Trebuchet MS"/>
                <a:cs typeface="Trebuchet MS"/>
              </a:rPr>
              <a:t>unidad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90" dirty="0">
                <a:latin typeface="Trebuchet MS"/>
                <a:cs typeface="Trebuchet MS"/>
              </a:rPr>
              <a:t>negocios </a:t>
            </a:r>
            <a:r>
              <a:rPr sz="1700" b="1" spc="-70" dirty="0">
                <a:latin typeface="Trebuchet MS"/>
                <a:cs typeface="Trebuchet MS"/>
              </a:rPr>
              <a:t>a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100" dirty="0">
                <a:latin typeface="Trebuchet MS"/>
                <a:cs typeface="Trebuchet MS"/>
              </a:rPr>
              <a:t>que  </a:t>
            </a:r>
            <a:r>
              <a:rPr sz="1700" b="1" spc="-105" dirty="0">
                <a:latin typeface="Trebuchet MS"/>
                <a:cs typeface="Trebuchet MS"/>
              </a:rPr>
              <a:t>será </a:t>
            </a:r>
            <a:r>
              <a:rPr sz="1700" b="1" spc="-85" dirty="0">
                <a:latin typeface="Trebuchet MS"/>
                <a:cs typeface="Trebuchet MS"/>
              </a:rPr>
              <a:t>destinado </a:t>
            </a:r>
            <a:r>
              <a:rPr sz="1700" b="1" spc="-110" dirty="0">
                <a:latin typeface="Trebuchet MS"/>
                <a:cs typeface="Trebuchet MS"/>
              </a:rPr>
              <a:t>el</a:t>
            </a:r>
            <a:r>
              <a:rPr sz="1700" b="1" spc="-240" dirty="0">
                <a:latin typeface="Trebuchet MS"/>
                <a:cs typeface="Trebuchet MS"/>
              </a:rPr>
              <a:t> </a:t>
            </a:r>
            <a:r>
              <a:rPr sz="1700" b="1" spc="-80" dirty="0">
                <a:latin typeface="Trebuchet MS"/>
                <a:cs typeface="Trebuchet MS"/>
              </a:rPr>
              <a:t>equipo</a:t>
            </a:r>
            <a:r>
              <a:rPr sz="1700" spc="-8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0794" y="2185416"/>
            <a:ext cx="5828030" cy="2357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298450" algn="l"/>
              </a:tabLst>
            </a:pPr>
            <a:r>
              <a:rPr sz="1700" spc="-120" dirty="0">
                <a:latin typeface="Arial"/>
                <a:cs typeface="Arial"/>
              </a:rPr>
              <a:t>Poseer </a:t>
            </a:r>
            <a:r>
              <a:rPr sz="1700" spc="-50" dirty="0">
                <a:latin typeface="Arial"/>
                <a:cs typeface="Arial"/>
              </a:rPr>
              <a:t>conocimiento </a:t>
            </a:r>
            <a:r>
              <a:rPr sz="1700" spc="-40" dirty="0">
                <a:latin typeface="Arial"/>
                <a:cs typeface="Arial"/>
              </a:rPr>
              <a:t>profundo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5" dirty="0">
                <a:latin typeface="Arial"/>
                <a:cs typeface="Arial"/>
              </a:rPr>
              <a:t>organización </a:t>
            </a:r>
            <a:r>
              <a:rPr sz="1700" spc="-50" dirty="0">
                <a:latin typeface="Arial"/>
                <a:cs typeface="Arial"/>
              </a:rPr>
              <a:t>o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45" dirty="0">
                <a:latin typeface="Arial"/>
                <a:cs typeface="Arial"/>
              </a:rPr>
              <a:t>entidad 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95" dirty="0">
                <a:latin typeface="Arial"/>
                <a:cs typeface="Arial"/>
              </a:rPr>
              <a:t>negocios 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55" dirty="0">
                <a:latin typeface="Arial"/>
                <a:cs typeface="Arial"/>
              </a:rPr>
              <a:t>recibirá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5" dirty="0">
                <a:latin typeface="Arial"/>
                <a:cs typeface="Arial"/>
              </a:rPr>
              <a:t>servicio </a:t>
            </a:r>
            <a:r>
              <a:rPr sz="1700" spc="-55" dirty="0">
                <a:latin typeface="Arial"/>
                <a:cs typeface="Arial"/>
              </a:rPr>
              <a:t>del equipo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110" dirty="0">
                <a:latin typeface="Arial"/>
                <a:cs typeface="Arial"/>
              </a:rPr>
              <a:t>será  </a:t>
            </a:r>
            <a:r>
              <a:rPr sz="1700" spc="-45" dirty="0">
                <a:latin typeface="Arial"/>
                <a:cs typeface="Arial"/>
              </a:rPr>
              <a:t>adquirido.</a:t>
            </a:r>
            <a:endParaRPr sz="1700">
              <a:latin typeface="Arial"/>
              <a:cs typeface="Arial"/>
            </a:endParaRPr>
          </a:p>
          <a:p>
            <a:pPr marL="298450" marR="5715" indent="-285750" algn="just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700" spc="-185" dirty="0">
                <a:latin typeface="Arial"/>
                <a:cs typeface="Arial"/>
              </a:rPr>
              <a:t>En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125" dirty="0">
                <a:latin typeface="Arial"/>
                <a:cs typeface="Arial"/>
              </a:rPr>
              <a:t>caso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decida </a:t>
            </a:r>
            <a:r>
              <a:rPr sz="1700" spc="-70" dirty="0">
                <a:latin typeface="Arial"/>
                <a:cs typeface="Arial"/>
              </a:rPr>
              <a:t>tercerizar, </a:t>
            </a:r>
            <a:r>
              <a:rPr sz="1700" spc="-85" dirty="0">
                <a:latin typeface="Arial"/>
                <a:cs typeface="Arial"/>
              </a:rPr>
              <a:t>este proceso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50" dirty="0">
                <a:latin typeface="Arial"/>
                <a:cs typeface="Arial"/>
              </a:rPr>
              <a:t>determinación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80" dirty="0">
                <a:latin typeface="Arial"/>
                <a:cs typeface="Arial"/>
              </a:rPr>
              <a:t>debe </a:t>
            </a:r>
            <a:r>
              <a:rPr sz="1700" spc="-95" dirty="0">
                <a:latin typeface="Arial"/>
                <a:cs typeface="Arial"/>
              </a:rPr>
              <a:t>ser </a:t>
            </a:r>
            <a:r>
              <a:rPr sz="1700" spc="-65" dirty="0">
                <a:latin typeface="Arial"/>
                <a:cs typeface="Arial"/>
              </a:rPr>
              <a:t>desarrollado </a:t>
            </a:r>
            <a:r>
              <a:rPr sz="1700" spc="-35" dirty="0">
                <a:latin typeface="Arial"/>
                <a:cs typeface="Arial"/>
              </a:rPr>
              <a:t>por 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70" dirty="0">
                <a:latin typeface="Arial"/>
                <a:cs typeface="Arial"/>
              </a:rPr>
              <a:t>consultores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externos.</a:t>
            </a:r>
            <a:endParaRPr sz="17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</a:tabLst>
            </a:pPr>
            <a:r>
              <a:rPr sz="1700" spc="-110" dirty="0">
                <a:latin typeface="Arial"/>
                <a:cs typeface="Arial"/>
              </a:rPr>
              <a:t>Además, </a:t>
            </a:r>
            <a:r>
              <a:rPr sz="1700" spc="-80" dirty="0">
                <a:latin typeface="Arial"/>
                <a:cs typeface="Arial"/>
              </a:rPr>
              <a:t>debe </a:t>
            </a:r>
            <a:r>
              <a:rPr sz="1700" spc="-95" dirty="0">
                <a:latin typeface="Arial"/>
                <a:cs typeface="Arial"/>
              </a:rPr>
              <a:t>conocerse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5" dirty="0">
                <a:latin typeface="Arial"/>
                <a:cs typeface="Arial"/>
              </a:rPr>
              <a:t>plan </a:t>
            </a:r>
            <a:r>
              <a:rPr sz="1700" spc="-80" dirty="0">
                <a:latin typeface="Arial"/>
                <a:cs typeface="Arial"/>
              </a:rPr>
              <a:t>general </a:t>
            </a:r>
            <a:r>
              <a:rPr sz="1700" spc="-50" dirty="0">
                <a:latin typeface="Arial"/>
                <a:cs typeface="Arial"/>
              </a:rPr>
              <a:t>o </a:t>
            </a:r>
            <a:r>
              <a:rPr sz="1700" spc="-65" dirty="0">
                <a:latin typeface="Arial"/>
                <a:cs typeface="Arial"/>
              </a:rPr>
              <a:t>estratégico </a:t>
            </a:r>
            <a:r>
              <a:rPr sz="1700" spc="-55" dirty="0">
                <a:latin typeface="Arial"/>
                <a:cs typeface="Arial"/>
              </a:rPr>
              <a:t>del  </a:t>
            </a:r>
            <a:r>
              <a:rPr sz="1700" spc="-80" dirty="0">
                <a:latin typeface="Arial"/>
                <a:cs typeface="Arial"/>
              </a:rPr>
              <a:t>negocio </a:t>
            </a:r>
            <a:r>
              <a:rPr sz="1700" spc="-135" dirty="0">
                <a:latin typeface="Arial"/>
                <a:cs typeface="Arial"/>
              </a:rPr>
              <a:t>así </a:t>
            </a:r>
            <a:r>
              <a:rPr sz="1700" spc="-75" dirty="0">
                <a:latin typeface="Arial"/>
                <a:cs typeface="Arial"/>
              </a:rPr>
              <a:t>como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75" dirty="0">
                <a:latin typeface="Arial"/>
                <a:cs typeface="Arial"/>
              </a:rPr>
              <a:t>índice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crecimiento </a:t>
            </a:r>
            <a:r>
              <a:rPr sz="1700" spc="-90" dirty="0">
                <a:latin typeface="Arial"/>
                <a:cs typeface="Arial"/>
              </a:rPr>
              <a:t>esperado </a:t>
            </a:r>
            <a:r>
              <a:rPr sz="1700" spc="-55" dirty="0">
                <a:latin typeface="Arial"/>
                <a:cs typeface="Arial"/>
              </a:rPr>
              <a:t>del  </a:t>
            </a:r>
            <a:r>
              <a:rPr sz="1700" spc="-80" dirty="0">
                <a:latin typeface="Arial"/>
                <a:cs typeface="Arial"/>
              </a:rPr>
              <a:t>negocio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20" dirty="0">
                <a:latin typeface="Arial"/>
                <a:cs typeface="Arial"/>
              </a:rPr>
              <a:t>lo </a:t>
            </a:r>
            <a:r>
              <a:rPr sz="1700" spc="-70" dirty="0">
                <a:latin typeface="Arial"/>
                <a:cs typeface="Arial"/>
              </a:rPr>
              <a:t>largo </a:t>
            </a:r>
            <a:r>
              <a:rPr sz="1700" spc="-55" dirty="0">
                <a:latin typeface="Arial"/>
                <a:cs typeface="Arial"/>
              </a:rPr>
              <a:t>del horizonte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planeación </a:t>
            </a:r>
            <a:r>
              <a:rPr sz="1700" spc="-55" dirty="0">
                <a:latin typeface="Arial"/>
                <a:cs typeface="Arial"/>
              </a:rPr>
              <a:t>del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proyecto.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3594" y="4517389"/>
            <a:ext cx="6284595" cy="1838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700" b="1" spc="-90" dirty="0">
                <a:latin typeface="Trebuchet MS"/>
                <a:cs typeface="Trebuchet MS"/>
              </a:rPr>
              <a:t>Plan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90" dirty="0">
                <a:latin typeface="Trebuchet MS"/>
                <a:cs typeface="Trebuchet MS"/>
              </a:rPr>
              <a:t>desarrollo </a:t>
            </a:r>
            <a:r>
              <a:rPr sz="1700" b="1" spc="-100" dirty="0">
                <a:latin typeface="Trebuchet MS"/>
                <a:cs typeface="Trebuchet MS"/>
              </a:rPr>
              <a:t>de</a:t>
            </a:r>
            <a:r>
              <a:rPr sz="1700" b="1" spc="-290" dirty="0">
                <a:latin typeface="Trebuchet MS"/>
                <a:cs typeface="Trebuchet MS"/>
              </a:rPr>
              <a:t> </a:t>
            </a:r>
            <a:r>
              <a:rPr sz="1700" b="1" spc="-90" dirty="0">
                <a:latin typeface="Trebuchet MS"/>
                <a:cs typeface="Trebuchet MS"/>
              </a:rPr>
              <a:t>aplicaciones</a:t>
            </a:r>
            <a:r>
              <a:rPr sz="1700" spc="-9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Char char="•"/>
              <a:tabLst>
                <a:tab pos="755650" algn="l"/>
              </a:tabLst>
            </a:pPr>
            <a:r>
              <a:rPr sz="1700" spc="-100" dirty="0">
                <a:latin typeface="Arial"/>
                <a:cs typeface="Arial"/>
              </a:rPr>
              <a:t>Conocer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35" dirty="0">
                <a:latin typeface="Arial"/>
                <a:cs typeface="Arial"/>
              </a:rPr>
              <a:t>corto, </a:t>
            </a:r>
            <a:r>
              <a:rPr sz="1700" spc="-55" dirty="0">
                <a:latin typeface="Arial"/>
                <a:cs typeface="Arial"/>
              </a:rPr>
              <a:t>medio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70" dirty="0">
                <a:latin typeface="Arial"/>
                <a:cs typeface="Arial"/>
              </a:rPr>
              <a:t>largo </a:t>
            </a:r>
            <a:r>
              <a:rPr sz="1700" spc="-90" dirty="0">
                <a:latin typeface="Arial"/>
                <a:cs typeface="Arial"/>
              </a:rPr>
              <a:t>plazo,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5" dirty="0">
                <a:latin typeface="Arial"/>
                <a:cs typeface="Arial"/>
              </a:rPr>
              <a:t>aplicaciones </a:t>
            </a:r>
            <a:r>
              <a:rPr sz="1700" spc="-75" dirty="0">
                <a:latin typeface="Arial"/>
                <a:cs typeface="Arial"/>
              </a:rPr>
              <a:t>que  </a:t>
            </a:r>
            <a:r>
              <a:rPr sz="1700" spc="-100" dirty="0">
                <a:latin typeface="Arial"/>
                <a:cs typeface="Arial"/>
              </a:rPr>
              <a:t>serán </a:t>
            </a:r>
            <a:r>
              <a:rPr sz="1700" spc="-80" dirty="0">
                <a:latin typeface="Arial"/>
                <a:cs typeface="Arial"/>
              </a:rPr>
              <a:t>desarrolladas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70" dirty="0">
                <a:latin typeface="Arial"/>
                <a:cs typeface="Arial"/>
              </a:rPr>
              <a:t>operarán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20" dirty="0">
                <a:latin typeface="Arial"/>
                <a:cs typeface="Arial"/>
              </a:rPr>
              <a:t>lo </a:t>
            </a:r>
            <a:r>
              <a:rPr sz="1700" spc="-70" dirty="0">
                <a:latin typeface="Arial"/>
                <a:cs typeface="Arial"/>
              </a:rPr>
              <a:t>largo </a:t>
            </a:r>
            <a:r>
              <a:rPr sz="1700" spc="-55" dirty="0">
                <a:latin typeface="Arial"/>
                <a:cs typeface="Arial"/>
              </a:rPr>
              <a:t>del horizonte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75" dirty="0">
                <a:latin typeface="Arial"/>
                <a:cs typeface="Arial"/>
              </a:rPr>
              <a:t>planeación </a:t>
            </a:r>
            <a:r>
              <a:rPr sz="1700" spc="-55" dirty="0">
                <a:latin typeface="Arial"/>
                <a:cs typeface="Arial"/>
              </a:rPr>
              <a:t>del proyecto </a:t>
            </a:r>
            <a:r>
              <a:rPr sz="1700" spc="-85" dirty="0">
                <a:latin typeface="Arial"/>
                <a:cs typeface="Arial"/>
              </a:rPr>
              <a:t>(lapso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25" dirty="0">
                <a:latin typeface="Arial"/>
                <a:cs typeface="Arial"/>
              </a:rPr>
              <a:t>tiempo </a:t>
            </a:r>
            <a:r>
              <a:rPr sz="1700" spc="-10" dirty="0">
                <a:latin typeface="Arial"/>
                <a:cs typeface="Arial"/>
              </a:rPr>
              <a:t>futuro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125" dirty="0">
                <a:latin typeface="Arial"/>
                <a:cs typeface="Arial"/>
              </a:rPr>
              <a:t>va </a:t>
            </a:r>
            <a:r>
              <a:rPr sz="1700" spc="-135" dirty="0">
                <a:latin typeface="Arial"/>
                <a:cs typeface="Arial"/>
              </a:rPr>
              <a:t>a  </a:t>
            </a:r>
            <a:r>
              <a:rPr sz="1700" spc="-75" dirty="0">
                <a:latin typeface="Arial"/>
                <a:cs typeface="Arial"/>
              </a:rPr>
              <a:t>considerar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55" dirty="0">
                <a:latin typeface="Arial"/>
                <a:cs typeface="Arial"/>
              </a:rPr>
              <a:t>un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análisis).</a:t>
            </a:r>
            <a:endParaRPr sz="17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700" b="1" spc="-110" dirty="0">
                <a:latin typeface="Trebuchet MS"/>
                <a:cs typeface="Trebuchet MS"/>
              </a:rPr>
              <a:t>Tipo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85" dirty="0">
                <a:latin typeface="Trebuchet MS"/>
                <a:cs typeface="Trebuchet MS"/>
              </a:rPr>
              <a:t>solución</a:t>
            </a:r>
            <a:r>
              <a:rPr sz="1700" b="1" spc="-200" dirty="0">
                <a:latin typeface="Trebuchet MS"/>
                <a:cs typeface="Trebuchet MS"/>
              </a:rPr>
              <a:t> </a:t>
            </a:r>
            <a:r>
              <a:rPr sz="1700" b="1" spc="-100" dirty="0">
                <a:latin typeface="Trebuchet MS"/>
                <a:cs typeface="Trebuchet MS"/>
              </a:rPr>
              <a:t>requerida</a:t>
            </a:r>
            <a:r>
              <a:rPr sz="1700" spc="-10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100" dirty="0">
                <a:latin typeface="Arial"/>
                <a:cs typeface="Arial"/>
              </a:rPr>
              <a:t>Aspectos </a:t>
            </a:r>
            <a:r>
              <a:rPr sz="1700" spc="-70" dirty="0">
                <a:latin typeface="Arial"/>
                <a:cs typeface="Arial"/>
              </a:rPr>
              <a:t>tecnológicos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130" dirty="0">
                <a:latin typeface="Arial"/>
                <a:cs typeface="Arial"/>
              </a:rPr>
              <a:t>basa </a:t>
            </a:r>
            <a:r>
              <a:rPr sz="1700" spc="-105" dirty="0">
                <a:latin typeface="Arial"/>
                <a:cs typeface="Arial"/>
              </a:rPr>
              <a:t>las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solución.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7002" y="2103120"/>
            <a:ext cx="1107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latin typeface="Arial"/>
                <a:cs typeface="Arial"/>
              </a:rPr>
              <a:t>Deben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estimarse: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002" y="2286000"/>
            <a:ext cx="199580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Capacidad </a:t>
            </a:r>
            <a:r>
              <a:rPr sz="1200" i="1" spc="-65" dirty="0">
                <a:latin typeface="Trebuchet MS"/>
                <a:cs typeface="Trebuchet MS"/>
              </a:rPr>
              <a:t>de</a:t>
            </a:r>
            <a:r>
              <a:rPr sz="1200" i="1" spc="-165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computo</a:t>
            </a:r>
            <a:endParaRPr sz="1200">
              <a:latin typeface="Trebuchet MS"/>
              <a:cs typeface="Trebuchet MS"/>
            </a:endParaRPr>
          </a:p>
          <a:p>
            <a:pPr marL="184150" marR="76708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Capacidad </a:t>
            </a:r>
            <a:r>
              <a:rPr sz="1200" i="1" spc="-70" dirty="0">
                <a:latin typeface="Trebuchet MS"/>
                <a:cs typeface="Trebuchet MS"/>
              </a:rPr>
              <a:t>de  </a:t>
            </a:r>
            <a:r>
              <a:rPr sz="1200" i="1" spc="-55" dirty="0">
                <a:latin typeface="Trebuchet MS"/>
                <a:cs typeface="Trebuchet MS"/>
              </a:rPr>
              <a:t>almac</a:t>
            </a:r>
            <a:r>
              <a:rPr sz="1200" i="1" spc="-60" dirty="0">
                <a:latin typeface="Trebuchet MS"/>
                <a:cs typeface="Trebuchet MS"/>
              </a:rPr>
              <a:t>en</a:t>
            </a:r>
            <a:r>
              <a:rPr sz="1200" i="1" spc="-20" dirty="0">
                <a:latin typeface="Trebuchet MS"/>
                <a:cs typeface="Trebuchet MS"/>
              </a:rPr>
              <a:t>a</a:t>
            </a:r>
            <a:r>
              <a:rPr sz="1200" i="1" spc="-65" dirty="0">
                <a:latin typeface="Trebuchet MS"/>
                <a:cs typeface="Trebuchet MS"/>
              </a:rPr>
              <a:t>mie</a:t>
            </a:r>
            <a:r>
              <a:rPr sz="1200" i="1" spc="-75" dirty="0">
                <a:latin typeface="Trebuchet MS"/>
                <a:cs typeface="Trebuchet MS"/>
              </a:rPr>
              <a:t>n</a:t>
            </a:r>
            <a:r>
              <a:rPr sz="1200" i="1" spc="-125" dirty="0">
                <a:latin typeface="Trebuchet MS"/>
                <a:cs typeface="Trebuchet MS"/>
              </a:rPr>
              <a:t>t</a:t>
            </a:r>
            <a:r>
              <a:rPr sz="1200" i="1" spc="-30" dirty="0">
                <a:latin typeface="Trebuchet MS"/>
                <a:cs typeface="Trebuchet MS"/>
              </a:rPr>
              <a:t>o</a:t>
            </a:r>
            <a:endParaRPr sz="1200">
              <a:latin typeface="Trebuchet MS"/>
              <a:cs typeface="Trebuchet MS"/>
            </a:endParaRPr>
          </a:p>
          <a:p>
            <a:pPr marL="184150" marR="6096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Capacidad </a:t>
            </a:r>
            <a:r>
              <a:rPr sz="1200" i="1" spc="-70" dirty="0">
                <a:latin typeface="Trebuchet MS"/>
                <a:cs typeface="Trebuchet MS"/>
              </a:rPr>
              <a:t>de  </a:t>
            </a:r>
            <a:r>
              <a:rPr sz="1200" i="1" spc="-60" dirty="0">
                <a:latin typeface="Trebuchet MS"/>
                <a:cs typeface="Trebuchet MS"/>
              </a:rPr>
              <a:t>almacenamiento</a:t>
            </a:r>
            <a:r>
              <a:rPr sz="1200" i="1" spc="-145" dirty="0">
                <a:latin typeface="Trebuchet MS"/>
                <a:cs typeface="Trebuchet MS"/>
              </a:rPr>
              <a:t> </a:t>
            </a:r>
            <a:r>
              <a:rPr sz="1200" i="1" spc="-55" dirty="0">
                <a:latin typeface="Trebuchet MS"/>
                <a:cs typeface="Trebuchet MS"/>
              </a:rPr>
              <a:t>secundario</a:t>
            </a:r>
            <a:endParaRPr sz="1200">
              <a:latin typeface="Trebuchet MS"/>
              <a:cs typeface="Trebuchet MS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Capacidad </a:t>
            </a:r>
            <a:r>
              <a:rPr sz="1200" i="1" spc="-80" dirty="0">
                <a:latin typeface="Trebuchet MS"/>
                <a:cs typeface="Trebuchet MS"/>
              </a:rPr>
              <a:t>total </a:t>
            </a:r>
            <a:r>
              <a:rPr sz="1200" i="1" spc="-65" dirty="0">
                <a:latin typeface="Trebuchet MS"/>
                <a:cs typeface="Trebuchet MS"/>
              </a:rPr>
              <a:t>de</a:t>
            </a:r>
            <a:r>
              <a:rPr sz="1200" i="1" spc="-210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impresión</a:t>
            </a:r>
            <a:endParaRPr sz="1200">
              <a:latin typeface="Trebuchet MS"/>
              <a:cs typeface="Trebuchet MS"/>
            </a:endParaRPr>
          </a:p>
          <a:p>
            <a:pPr marL="184150" marR="375285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65" dirty="0">
                <a:latin typeface="Trebuchet MS"/>
                <a:cs typeface="Trebuchet MS"/>
              </a:rPr>
              <a:t>Cantidad de</a:t>
            </a:r>
            <a:r>
              <a:rPr sz="1200" i="1" spc="-165" dirty="0">
                <a:latin typeface="Trebuchet MS"/>
                <a:cs typeface="Trebuchet MS"/>
              </a:rPr>
              <a:t> </a:t>
            </a:r>
            <a:r>
              <a:rPr sz="1200" i="1" spc="-70" dirty="0">
                <a:latin typeface="Trebuchet MS"/>
                <a:cs typeface="Trebuchet MS"/>
              </a:rPr>
              <a:t>terminales  </a:t>
            </a:r>
            <a:r>
              <a:rPr sz="1200" i="1" spc="-65" dirty="0">
                <a:latin typeface="Trebuchet MS"/>
                <a:cs typeface="Trebuchet MS"/>
              </a:rPr>
              <a:t>requeridas</a:t>
            </a:r>
            <a:endParaRPr sz="1200">
              <a:latin typeface="Trebuchet MS"/>
              <a:cs typeface="Trebuchet MS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Hardware</a:t>
            </a:r>
            <a:r>
              <a:rPr sz="1200" i="1" spc="-145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especializado</a:t>
            </a:r>
            <a:endParaRPr sz="1200">
              <a:latin typeface="Trebuchet MS"/>
              <a:cs typeface="Trebuchet MS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65" dirty="0">
                <a:latin typeface="Trebuchet MS"/>
                <a:cs typeface="Trebuchet MS"/>
              </a:rPr>
              <a:t>Infraestructura de</a:t>
            </a:r>
            <a:r>
              <a:rPr sz="1200" i="1" spc="-204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redes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258" y="500126"/>
            <a:ext cx="39833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94" y="1149095"/>
            <a:ext cx="6285865" cy="468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</a:pPr>
            <a:r>
              <a:rPr sz="1700" spc="-110" dirty="0">
                <a:latin typeface="Arial"/>
                <a:cs typeface="Arial"/>
              </a:rPr>
              <a:t>Una </a:t>
            </a:r>
            <a:r>
              <a:rPr sz="1700" spc="-135" dirty="0">
                <a:latin typeface="Arial"/>
                <a:cs typeface="Arial"/>
              </a:rPr>
              <a:t>vez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85" dirty="0">
                <a:latin typeface="Arial"/>
                <a:cs typeface="Arial"/>
              </a:rPr>
              <a:t>han </a:t>
            </a:r>
            <a:r>
              <a:rPr sz="1700" spc="-40" dirty="0">
                <a:latin typeface="Arial"/>
                <a:cs typeface="Arial"/>
              </a:rPr>
              <a:t>terminado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75" dirty="0">
                <a:latin typeface="Arial"/>
                <a:cs typeface="Arial"/>
              </a:rPr>
              <a:t>estimaciones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50" dirty="0">
                <a:latin typeface="Arial"/>
                <a:cs typeface="Arial"/>
              </a:rPr>
              <a:t>requerimientos  </a:t>
            </a:r>
            <a:r>
              <a:rPr sz="1700" spc="-55" dirty="0">
                <a:latin typeface="Arial"/>
                <a:cs typeface="Arial"/>
              </a:rPr>
              <a:t>del equipo </a:t>
            </a:r>
            <a:r>
              <a:rPr sz="1700" spc="-80" dirty="0">
                <a:latin typeface="Arial"/>
                <a:cs typeface="Arial"/>
              </a:rPr>
              <a:t>nuevo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va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55" dirty="0">
                <a:latin typeface="Arial"/>
                <a:cs typeface="Arial"/>
              </a:rPr>
              <a:t>adquirir, </a:t>
            </a:r>
            <a:r>
              <a:rPr sz="1700" spc="-145" dirty="0">
                <a:latin typeface="Arial"/>
                <a:cs typeface="Arial"/>
              </a:rPr>
              <a:t>es  </a:t>
            </a:r>
            <a:r>
              <a:rPr sz="1700" spc="-85" dirty="0">
                <a:latin typeface="Arial"/>
                <a:cs typeface="Arial"/>
              </a:rPr>
              <a:t>necesario </a:t>
            </a:r>
            <a:r>
              <a:rPr sz="1700" spc="-60" dirty="0">
                <a:latin typeface="Arial"/>
                <a:cs typeface="Arial"/>
              </a:rPr>
              <a:t>elaborar </a:t>
            </a:r>
            <a:r>
              <a:rPr sz="1700" spc="-85" dirty="0">
                <a:latin typeface="Arial"/>
                <a:cs typeface="Arial"/>
              </a:rPr>
              <a:t>una  </a:t>
            </a:r>
            <a:r>
              <a:rPr sz="1700" spc="-45" dirty="0">
                <a:latin typeface="Arial"/>
                <a:cs typeface="Arial"/>
              </a:rPr>
              <a:t>solicitud </a:t>
            </a:r>
            <a:r>
              <a:rPr sz="1700" spc="-50" dirty="0">
                <a:latin typeface="Arial"/>
                <a:cs typeface="Arial"/>
              </a:rPr>
              <a:t>o </a:t>
            </a:r>
            <a:r>
              <a:rPr sz="1700" spc="-55" dirty="0">
                <a:latin typeface="Arial"/>
                <a:cs typeface="Arial"/>
              </a:rPr>
              <a:t>requisición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propuesta. </a:t>
            </a:r>
            <a:r>
              <a:rPr sz="1700" spc="-18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requisición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propuesta  </a:t>
            </a:r>
            <a:r>
              <a:rPr sz="1700" spc="-90" dirty="0">
                <a:latin typeface="Arial"/>
                <a:cs typeface="Arial"/>
              </a:rPr>
              <a:t>(</a:t>
            </a:r>
            <a:r>
              <a:rPr sz="1700" i="1" spc="-90" dirty="0">
                <a:latin typeface="Trebuchet MS"/>
                <a:cs typeface="Trebuchet MS"/>
              </a:rPr>
              <a:t>Request </a:t>
            </a:r>
            <a:r>
              <a:rPr sz="1700" i="1" spc="-105" dirty="0">
                <a:latin typeface="Trebuchet MS"/>
                <a:cs typeface="Trebuchet MS"/>
              </a:rPr>
              <a:t>For </a:t>
            </a:r>
            <a:r>
              <a:rPr sz="1700" i="1" spc="-70" dirty="0">
                <a:latin typeface="Trebuchet MS"/>
                <a:cs typeface="Trebuchet MS"/>
              </a:rPr>
              <a:t>Proposal </a:t>
            </a:r>
            <a:r>
              <a:rPr sz="1700" spc="-50" dirty="0">
                <a:latin typeface="Arial"/>
                <a:cs typeface="Arial"/>
              </a:rPr>
              <a:t>- </a:t>
            </a:r>
            <a:r>
              <a:rPr sz="1700" spc="-220" dirty="0">
                <a:latin typeface="Arial"/>
                <a:cs typeface="Arial"/>
              </a:rPr>
              <a:t>RFP) </a:t>
            </a:r>
            <a:r>
              <a:rPr sz="1700" spc="-145" dirty="0">
                <a:latin typeface="Arial"/>
                <a:cs typeface="Arial"/>
              </a:rPr>
              <a:t>es 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60" dirty="0">
                <a:latin typeface="Arial"/>
                <a:cs typeface="Arial"/>
              </a:rPr>
              <a:t>documento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50" dirty="0">
                <a:latin typeface="Arial"/>
                <a:cs typeface="Arial"/>
              </a:rPr>
              <a:t>define </a:t>
            </a:r>
            <a:r>
              <a:rPr sz="1700" spc="-75" dirty="0">
                <a:latin typeface="Arial"/>
                <a:cs typeface="Arial"/>
              </a:rPr>
              <a:t>los 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5" dirty="0">
                <a:latin typeface="Arial"/>
                <a:cs typeface="Arial"/>
              </a:rPr>
              <a:t>organización sobre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5" dirty="0">
                <a:latin typeface="Arial"/>
                <a:cs typeface="Arial"/>
              </a:rPr>
              <a:t>equipo </a:t>
            </a:r>
            <a:r>
              <a:rPr sz="1700" spc="-50" dirty="0">
                <a:latin typeface="Arial"/>
                <a:cs typeface="Arial"/>
              </a:rPr>
              <a:t>o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0" dirty="0">
                <a:latin typeface="Arial"/>
                <a:cs typeface="Arial"/>
              </a:rPr>
              <a:t>red </a:t>
            </a:r>
            <a:r>
              <a:rPr sz="1700" spc="-55" dirty="0">
                <a:latin typeface="Arial"/>
                <a:cs typeface="Arial"/>
              </a:rPr>
              <a:t>requerida. </a:t>
            </a:r>
            <a:r>
              <a:rPr sz="1700" spc="-160" dirty="0">
                <a:latin typeface="Arial"/>
                <a:cs typeface="Arial"/>
              </a:rPr>
              <a:t>El  </a:t>
            </a:r>
            <a:r>
              <a:rPr sz="1700" spc="-275" dirty="0">
                <a:latin typeface="Arial"/>
                <a:cs typeface="Arial"/>
              </a:rPr>
              <a:t>RFP </a:t>
            </a:r>
            <a:r>
              <a:rPr sz="1700" spc="-75" dirty="0">
                <a:latin typeface="Arial"/>
                <a:cs typeface="Arial"/>
              </a:rPr>
              <a:t>puede </a:t>
            </a:r>
            <a:r>
              <a:rPr sz="1700" spc="-35" dirty="0">
                <a:latin typeface="Arial"/>
                <a:cs typeface="Arial"/>
              </a:rPr>
              <a:t>cumplir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siguientes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funciones: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45" dirty="0">
                <a:latin typeface="Arial"/>
                <a:cs typeface="Arial"/>
              </a:rPr>
              <a:t>Invita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75" dirty="0">
                <a:latin typeface="Arial"/>
                <a:cs typeface="Arial"/>
              </a:rPr>
              <a:t>los proveedores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35" dirty="0">
                <a:latin typeface="Arial"/>
                <a:cs typeface="Arial"/>
              </a:rPr>
              <a:t>participar </a:t>
            </a:r>
            <a:r>
              <a:rPr sz="1700" spc="-55" dirty="0">
                <a:latin typeface="Arial"/>
                <a:cs typeface="Arial"/>
              </a:rPr>
              <a:t>del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concurso;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110" dirty="0">
                <a:latin typeface="Arial"/>
                <a:cs typeface="Arial"/>
              </a:rPr>
              <a:t>Establece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60" dirty="0">
                <a:latin typeface="Arial"/>
                <a:cs typeface="Arial"/>
              </a:rPr>
              <a:t>primeros puntos </a:t>
            </a:r>
            <a:r>
              <a:rPr sz="1700" spc="-80" dirty="0">
                <a:latin typeface="Arial"/>
                <a:cs typeface="Arial"/>
              </a:rPr>
              <a:t>de evaluación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80" dirty="0">
                <a:latin typeface="Arial"/>
                <a:cs typeface="Arial"/>
              </a:rPr>
              <a:t>negociación </a:t>
            </a:r>
            <a:r>
              <a:rPr sz="1700" spc="-35" dirty="0">
                <a:latin typeface="Arial"/>
                <a:cs typeface="Arial"/>
              </a:rPr>
              <a:t>entre </a:t>
            </a:r>
            <a:r>
              <a:rPr sz="1700" spc="-70" dirty="0">
                <a:latin typeface="Arial"/>
                <a:cs typeface="Arial"/>
              </a:rPr>
              <a:t>los  proveedores;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95" dirty="0">
                <a:latin typeface="Arial"/>
                <a:cs typeface="Arial"/>
              </a:rPr>
              <a:t>Formaliza </a:t>
            </a:r>
            <a:r>
              <a:rPr sz="1700" spc="-45" dirty="0">
                <a:latin typeface="Arial"/>
                <a:cs typeface="Arial"/>
              </a:rPr>
              <a:t>el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proceso;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298450" marR="762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70" dirty="0">
                <a:latin typeface="Arial"/>
                <a:cs typeface="Arial"/>
              </a:rPr>
              <a:t>Constituye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60" dirty="0">
                <a:latin typeface="Arial"/>
                <a:cs typeface="Arial"/>
              </a:rPr>
              <a:t>documento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80" dirty="0">
                <a:latin typeface="Arial"/>
                <a:cs typeface="Arial"/>
              </a:rPr>
              <a:t>describe </a:t>
            </a:r>
            <a:r>
              <a:rPr sz="1700" spc="-70" dirty="0">
                <a:latin typeface="Arial"/>
                <a:cs typeface="Arial"/>
              </a:rPr>
              <a:t>claramente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60" dirty="0">
                <a:latin typeface="Arial"/>
                <a:cs typeface="Arial"/>
              </a:rPr>
              <a:t>prioridades  </a:t>
            </a:r>
            <a:r>
              <a:rPr sz="1700" spc="-85" dirty="0">
                <a:latin typeface="Arial"/>
                <a:cs typeface="Arial"/>
              </a:rPr>
              <a:t>técnicas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solución.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150" dirty="0">
                <a:latin typeface="Arial"/>
                <a:cs typeface="Arial"/>
              </a:rPr>
              <a:t>El </a:t>
            </a:r>
            <a:r>
              <a:rPr sz="1700" spc="-90" dirty="0">
                <a:latin typeface="Arial"/>
                <a:cs typeface="Arial"/>
              </a:rPr>
              <a:t>proceso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65" dirty="0">
                <a:latin typeface="Arial"/>
                <a:cs typeface="Arial"/>
              </a:rPr>
              <a:t>conforma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b="1" spc="-140" dirty="0">
                <a:latin typeface="Trebuchet MS"/>
                <a:cs typeface="Trebuchet MS"/>
              </a:rPr>
              <a:t>2 </a:t>
            </a:r>
            <a:r>
              <a:rPr sz="1700" b="1" spc="-130" dirty="0">
                <a:latin typeface="Trebuchet MS"/>
                <a:cs typeface="Trebuchet MS"/>
              </a:rPr>
              <a:t>ejes</a:t>
            </a:r>
            <a:r>
              <a:rPr sz="1700" b="1" spc="-40" dirty="0">
                <a:latin typeface="Trebuchet MS"/>
                <a:cs typeface="Trebuchet MS"/>
              </a:rPr>
              <a:t> </a:t>
            </a:r>
            <a:r>
              <a:rPr sz="1700" b="1" spc="-90" dirty="0">
                <a:latin typeface="Trebuchet MS"/>
                <a:cs typeface="Trebuchet MS"/>
              </a:rPr>
              <a:t>fundamentales</a:t>
            </a:r>
            <a:r>
              <a:rPr sz="1700" spc="-9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0794" y="5812790"/>
            <a:ext cx="210121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700" b="1" i="1" spc="-130" dirty="0">
                <a:latin typeface="Arial"/>
                <a:cs typeface="Arial"/>
              </a:rPr>
              <a:t>Actividades</a:t>
            </a:r>
            <a:r>
              <a:rPr sz="1700" b="1" i="1" spc="-155" dirty="0">
                <a:latin typeface="Arial"/>
                <a:cs typeface="Arial"/>
              </a:rPr>
              <a:t> </a:t>
            </a:r>
            <a:r>
              <a:rPr sz="1700" b="1" i="1" spc="-140" dirty="0">
                <a:latin typeface="Arial"/>
                <a:cs typeface="Arial"/>
              </a:rPr>
              <a:t>Previas</a:t>
            </a:r>
            <a:endParaRPr sz="17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700" b="1" i="1" spc="-145" dirty="0">
                <a:latin typeface="Arial"/>
                <a:cs typeface="Arial"/>
              </a:rPr>
              <a:t>Evaluación</a:t>
            </a:r>
            <a:r>
              <a:rPr sz="1700" b="1" i="1" spc="-135" dirty="0">
                <a:latin typeface="Arial"/>
                <a:cs typeface="Arial"/>
              </a:rPr>
              <a:t> </a:t>
            </a:r>
            <a:r>
              <a:rPr sz="1700" b="1" i="1" spc="-175" dirty="0">
                <a:latin typeface="Arial"/>
                <a:cs typeface="Arial"/>
              </a:rPr>
              <a:t>Técnica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3672" y="121920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0887" y="1306322"/>
            <a:ext cx="18268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865" marR="5080" indent="-43180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Evaluación </a:t>
            </a:r>
            <a:r>
              <a:rPr sz="1600" b="1" spc="-114" dirty="0">
                <a:solidFill>
                  <a:srgbClr val="FFFFFF"/>
                </a:solidFill>
                <a:latin typeface="Trebuchet MS"/>
                <a:cs typeface="Trebuchet MS"/>
              </a:rPr>
              <a:t>técnica</a:t>
            </a:r>
            <a:r>
              <a:rPr sz="16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propuestas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0886" y="99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3915" y="999744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6872" y="3886200"/>
            <a:ext cx="2067767" cy="23283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4172" y="2728871"/>
            <a:ext cx="1511123" cy="10329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4" name="object 14"/>
          <p:cNvSpPr txBox="1"/>
          <p:nvPr/>
        </p:nvSpPr>
        <p:spPr>
          <a:xfrm>
            <a:off x="8726169" y="6523387"/>
            <a:ext cx="1524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00338D"/>
                </a:solidFill>
                <a:latin typeface="Arial"/>
                <a:cs typeface="Arial"/>
              </a:rPr>
              <a:t>38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66954" y="1039113"/>
            <a:ext cx="8572500" cy="5255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70650" algn="l"/>
              </a:tabLst>
            </a:pPr>
            <a:r>
              <a:rPr sz="2000" b="1" spc="-60" dirty="0">
                <a:latin typeface="Trebuchet MS"/>
                <a:cs typeface="Trebuchet MS"/>
              </a:rPr>
              <a:t>A </a:t>
            </a:r>
            <a:r>
              <a:rPr sz="2000" b="1" spc="-120" dirty="0">
                <a:latin typeface="Arial"/>
                <a:cs typeface="Arial"/>
              </a:rPr>
              <a:t>–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spc="-114" dirty="0">
                <a:latin typeface="Trebuchet MS"/>
                <a:cs typeface="Trebuchet MS"/>
              </a:rPr>
              <a:t>Elaborar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spc="-225" dirty="0">
                <a:latin typeface="Trebuchet MS"/>
                <a:cs typeface="Trebuchet MS"/>
              </a:rPr>
              <a:t>RFP.	</a:t>
            </a:r>
            <a:r>
              <a:rPr sz="2000" b="1" spc="-105" dirty="0">
                <a:solidFill>
                  <a:srgbClr val="FF0000"/>
                </a:solidFill>
                <a:latin typeface="Trebuchet MS"/>
                <a:cs typeface="Trebuchet MS"/>
              </a:rPr>
              <a:t>Actividades</a:t>
            </a:r>
            <a:r>
              <a:rPr sz="2000" b="1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0000"/>
                </a:solidFill>
                <a:latin typeface="Trebuchet MS"/>
                <a:cs typeface="Trebuchet MS"/>
              </a:rPr>
              <a:t>Previas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700" spc="-100" dirty="0">
                <a:latin typeface="Arial"/>
                <a:cs typeface="Arial"/>
              </a:rPr>
              <a:t>Un </a:t>
            </a:r>
            <a:r>
              <a:rPr sz="1700" spc="-275" dirty="0">
                <a:latin typeface="Arial"/>
                <a:cs typeface="Arial"/>
              </a:rPr>
              <a:t>RFP </a:t>
            </a:r>
            <a:r>
              <a:rPr sz="1700" spc="-80" dirty="0">
                <a:latin typeface="Arial"/>
                <a:cs typeface="Arial"/>
              </a:rPr>
              <a:t>debe </a:t>
            </a:r>
            <a:r>
              <a:rPr sz="1700" spc="-50" dirty="0">
                <a:latin typeface="Arial"/>
                <a:cs typeface="Arial"/>
              </a:rPr>
              <a:t>incluir, </a:t>
            </a:r>
            <a:r>
              <a:rPr sz="1700" spc="-35" dirty="0">
                <a:latin typeface="Arial"/>
                <a:cs typeface="Arial"/>
              </a:rPr>
              <a:t>entre </a:t>
            </a:r>
            <a:r>
              <a:rPr sz="1700" spc="-45" dirty="0">
                <a:latin typeface="Arial"/>
                <a:cs typeface="Arial"/>
              </a:rPr>
              <a:t>otros,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80" dirty="0">
                <a:latin typeface="Arial"/>
                <a:cs typeface="Arial"/>
              </a:rPr>
              <a:t>siguientes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puntos:</a:t>
            </a:r>
            <a:endParaRPr sz="1700">
              <a:latin typeface="Arial"/>
              <a:cs typeface="Arial"/>
            </a:endParaRPr>
          </a:p>
          <a:p>
            <a:pPr marL="281305" marR="6350" indent="-268605" algn="just">
              <a:lnSpc>
                <a:spcPct val="100000"/>
              </a:lnSpc>
              <a:buAutoNum type="arabicPeriod"/>
              <a:tabLst>
                <a:tab pos="281940" algn="l"/>
              </a:tabLst>
            </a:pPr>
            <a:r>
              <a:rPr sz="1700" b="1" spc="-90" dirty="0">
                <a:latin typeface="Trebuchet MS"/>
                <a:cs typeface="Trebuchet MS"/>
              </a:rPr>
              <a:t>Introducción</a:t>
            </a:r>
            <a:r>
              <a:rPr sz="1700" spc="-90" dirty="0">
                <a:latin typeface="Arial"/>
                <a:cs typeface="Arial"/>
              </a:rPr>
              <a:t>: </a:t>
            </a:r>
            <a:r>
              <a:rPr sz="1700" spc="-75" dirty="0">
                <a:latin typeface="Arial"/>
                <a:cs typeface="Arial"/>
              </a:rPr>
              <a:t>datos </a:t>
            </a:r>
            <a:r>
              <a:rPr sz="1700" spc="-95" dirty="0">
                <a:latin typeface="Arial"/>
                <a:cs typeface="Arial"/>
              </a:rPr>
              <a:t>generales 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85" dirty="0">
                <a:latin typeface="Arial"/>
                <a:cs typeface="Arial"/>
              </a:rPr>
              <a:t>responsable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60" dirty="0">
                <a:latin typeface="Arial"/>
                <a:cs typeface="Arial"/>
              </a:rPr>
              <a:t>proyecto, </a:t>
            </a:r>
            <a:r>
              <a:rPr sz="1700" spc="-85" dirty="0">
                <a:latin typeface="Arial"/>
                <a:cs typeface="Arial"/>
              </a:rPr>
              <a:t>fecha </a:t>
            </a:r>
            <a:r>
              <a:rPr sz="1700" spc="-30" dirty="0">
                <a:latin typeface="Arial"/>
                <a:cs typeface="Arial"/>
              </a:rPr>
              <a:t>límite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entrega </a:t>
            </a:r>
            <a:r>
              <a:rPr sz="1700" spc="-85" dirty="0">
                <a:latin typeface="Arial"/>
                <a:cs typeface="Arial"/>
              </a:rPr>
              <a:t>de  </a:t>
            </a:r>
            <a:r>
              <a:rPr sz="1700" spc="-80" dirty="0">
                <a:latin typeface="Arial"/>
                <a:cs typeface="Arial"/>
              </a:rPr>
              <a:t>propuestas, </a:t>
            </a:r>
            <a:r>
              <a:rPr sz="1700" spc="-85" dirty="0">
                <a:latin typeface="Arial"/>
                <a:cs typeface="Arial"/>
              </a:rPr>
              <a:t>fecha </a:t>
            </a:r>
            <a:r>
              <a:rPr sz="1700" spc="-25" dirty="0">
                <a:latin typeface="Arial"/>
                <a:cs typeface="Arial"/>
              </a:rPr>
              <a:t>límite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70" dirty="0">
                <a:latin typeface="Arial"/>
                <a:cs typeface="Arial"/>
              </a:rPr>
              <a:t>realizar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presentaciones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5" dirty="0">
                <a:latin typeface="Arial"/>
                <a:cs typeface="Arial"/>
              </a:rPr>
              <a:t>demostración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equipos. </a:t>
            </a:r>
            <a:r>
              <a:rPr sz="1700" spc="-165" dirty="0">
                <a:latin typeface="Arial"/>
                <a:cs typeface="Arial"/>
              </a:rPr>
              <a:t>Bases </a:t>
            </a:r>
            <a:r>
              <a:rPr sz="1700" spc="-85" dirty="0">
                <a:latin typeface="Arial"/>
                <a:cs typeface="Arial"/>
              </a:rPr>
              <a:t>y  </a:t>
            </a:r>
            <a:r>
              <a:rPr sz="1700" spc="-55" dirty="0">
                <a:latin typeface="Arial"/>
                <a:cs typeface="Arial"/>
              </a:rPr>
              <a:t>lineamientos </a:t>
            </a:r>
            <a:r>
              <a:rPr sz="1700" spc="-90" dirty="0">
                <a:latin typeface="Arial"/>
                <a:cs typeface="Arial"/>
              </a:rPr>
              <a:t>generales. </a:t>
            </a:r>
            <a:r>
              <a:rPr sz="1700" spc="-105" dirty="0">
                <a:latin typeface="Arial"/>
                <a:cs typeface="Arial"/>
              </a:rPr>
              <a:t>Breve </a:t>
            </a:r>
            <a:r>
              <a:rPr sz="1700" spc="-70" dirty="0">
                <a:latin typeface="Arial"/>
                <a:cs typeface="Arial"/>
              </a:rPr>
              <a:t>descripción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situación actual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compañía.</a:t>
            </a:r>
            <a:endParaRPr sz="1700">
              <a:latin typeface="Arial"/>
              <a:cs typeface="Arial"/>
            </a:endParaRPr>
          </a:p>
          <a:p>
            <a:pPr marL="281305" indent="-268605">
              <a:lnSpc>
                <a:spcPct val="100000"/>
              </a:lnSpc>
              <a:buAutoNum type="arabicPeriod"/>
              <a:tabLst>
                <a:tab pos="281940" algn="l"/>
              </a:tabLst>
            </a:pPr>
            <a:r>
              <a:rPr sz="1700" b="1" spc="-100" dirty="0">
                <a:latin typeface="Trebuchet MS"/>
                <a:cs typeface="Trebuchet MS"/>
              </a:rPr>
              <a:t>Requerimientos </a:t>
            </a:r>
            <a:r>
              <a:rPr sz="1700" b="1" spc="-105" dirty="0">
                <a:latin typeface="Trebuchet MS"/>
                <a:cs typeface="Trebuchet MS"/>
              </a:rPr>
              <a:t>de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90" dirty="0">
                <a:latin typeface="Trebuchet MS"/>
                <a:cs typeface="Trebuchet MS"/>
              </a:rPr>
              <a:t>solución computacional</a:t>
            </a:r>
            <a:r>
              <a:rPr sz="1700" spc="-90" dirty="0">
                <a:latin typeface="Arial"/>
                <a:cs typeface="Arial"/>
              </a:rPr>
              <a:t>: </a:t>
            </a:r>
            <a:r>
              <a:rPr sz="1700" spc="-50" dirty="0">
                <a:latin typeface="Arial"/>
                <a:cs typeface="Arial"/>
              </a:rPr>
              <a:t>requerimientos del </a:t>
            </a:r>
            <a:r>
              <a:rPr sz="1700" spc="-55" dirty="0">
                <a:latin typeface="Arial"/>
                <a:cs typeface="Arial"/>
              </a:rPr>
              <a:t>equipo </a:t>
            </a:r>
            <a:r>
              <a:rPr sz="1700" spc="-60" dirty="0">
                <a:latin typeface="Arial"/>
                <a:cs typeface="Arial"/>
              </a:rPr>
              <a:t>actual </a:t>
            </a:r>
            <a:r>
              <a:rPr sz="1700" spc="-114" dirty="0">
                <a:latin typeface="Arial"/>
                <a:cs typeface="Arial"/>
              </a:rPr>
              <a:t>vs. </a:t>
            </a:r>
            <a:r>
              <a:rPr sz="1700" spc="-45" dirty="0">
                <a:latin typeface="Arial"/>
                <a:cs typeface="Arial"/>
              </a:rPr>
              <a:t>el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equipo</a:t>
            </a:r>
            <a:endParaRPr sz="1700">
              <a:latin typeface="Arial"/>
              <a:cs typeface="Arial"/>
            </a:endParaRPr>
          </a:p>
          <a:p>
            <a:pPr marL="281305">
              <a:lnSpc>
                <a:spcPct val="100000"/>
              </a:lnSpc>
            </a:pPr>
            <a:r>
              <a:rPr sz="1700" spc="-60" dirty="0">
                <a:latin typeface="Arial"/>
                <a:cs typeface="Arial"/>
              </a:rPr>
              <a:t>propuesto. </a:t>
            </a:r>
            <a:r>
              <a:rPr sz="1700" spc="-75" dirty="0">
                <a:latin typeface="Arial"/>
                <a:cs typeface="Arial"/>
              </a:rPr>
              <a:t>Requerimientos </a:t>
            </a:r>
            <a:r>
              <a:rPr sz="1700" spc="-55" dirty="0">
                <a:latin typeface="Arial"/>
                <a:cs typeface="Arial"/>
              </a:rPr>
              <a:t>obligatorios </a:t>
            </a:r>
            <a:r>
              <a:rPr sz="1700" spc="-85" dirty="0">
                <a:latin typeface="Arial"/>
                <a:cs typeface="Arial"/>
              </a:rPr>
              <a:t>y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opcionales.</a:t>
            </a:r>
            <a:endParaRPr sz="1700">
              <a:latin typeface="Arial"/>
              <a:cs typeface="Arial"/>
            </a:endParaRPr>
          </a:p>
          <a:p>
            <a:pPr marL="281305" marR="5715" indent="-268605" algn="just">
              <a:lnSpc>
                <a:spcPct val="100000"/>
              </a:lnSpc>
              <a:buAutoNum type="arabicPeriod" startAt="3"/>
              <a:tabLst>
                <a:tab pos="281940" algn="l"/>
              </a:tabLst>
            </a:pPr>
            <a:r>
              <a:rPr sz="1700" b="1" spc="-105" dirty="0">
                <a:latin typeface="Trebuchet MS"/>
                <a:cs typeface="Trebuchet MS"/>
              </a:rPr>
              <a:t>Formato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90" dirty="0">
                <a:latin typeface="Trebuchet MS"/>
                <a:cs typeface="Trebuchet MS"/>
              </a:rPr>
              <a:t>propuesta</a:t>
            </a:r>
            <a:r>
              <a:rPr sz="1700" spc="-90" dirty="0">
                <a:latin typeface="Arial"/>
                <a:cs typeface="Arial"/>
              </a:rPr>
              <a:t>: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30" dirty="0">
                <a:latin typeface="Arial"/>
                <a:cs typeface="Arial"/>
              </a:rPr>
              <a:t>formato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0" dirty="0">
                <a:latin typeface="Arial"/>
                <a:cs typeface="Arial"/>
              </a:rPr>
              <a:t>propuesta </a:t>
            </a:r>
            <a:r>
              <a:rPr sz="1700" spc="-75" dirty="0">
                <a:latin typeface="Arial"/>
                <a:cs typeface="Arial"/>
              </a:rPr>
              <a:t>puede </a:t>
            </a:r>
            <a:r>
              <a:rPr sz="1700" spc="-50" dirty="0">
                <a:latin typeface="Arial"/>
                <a:cs typeface="Arial"/>
              </a:rPr>
              <a:t>variar;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60" dirty="0">
                <a:latin typeface="Arial"/>
                <a:cs typeface="Arial"/>
              </a:rPr>
              <a:t>obstante, </a:t>
            </a:r>
            <a:r>
              <a:rPr sz="1700" spc="-65" dirty="0">
                <a:latin typeface="Arial"/>
                <a:cs typeface="Arial"/>
              </a:rPr>
              <a:t>incluye </a:t>
            </a:r>
            <a:r>
              <a:rPr sz="1700" spc="-85" dirty="0">
                <a:latin typeface="Arial"/>
                <a:cs typeface="Arial"/>
              </a:rPr>
              <a:t>una  </a:t>
            </a:r>
            <a:r>
              <a:rPr sz="1700" spc="-55" dirty="0">
                <a:latin typeface="Arial"/>
                <a:cs typeface="Arial"/>
              </a:rPr>
              <a:t>lista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parámetros que </a:t>
            </a:r>
            <a:r>
              <a:rPr sz="1700" spc="-75" dirty="0">
                <a:latin typeface="Arial"/>
                <a:cs typeface="Arial"/>
              </a:rPr>
              <a:t>pueden </a:t>
            </a:r>
            <a:r>
              <a:rPr sz="1700" spc="-95" dirty="0">
                <a:latin typeface="Arial"/>
                <a:cs typeface="Arial"/>
              </a:rPr>
              <a:t>ser </a:t>
            </a:r>
            <a:r>
              <a:rPr sz="1700" spc="-90" dirty="0">
                <a:latin typeface="Arial"/>
                <a:cs typeface="Arial"/>
              </a:rPr>
              <a:t>considerados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propuestas. </a:t>
            </a:r>
            <a:r>
              <a:rPr sz="1700" spc="-150" dirty="0">
                <a:latin typeface="Arial"/>
                <a:cs typeface="Arial"/>
              </a:rPr>
              <a:t>El </a:t>
            </a:r>
            <a:r>
              <a:rPr sz="1700" spc="-90" dirty="0">
                <a:latin typeface="Arial"/>
                <a:cs typeface="Arial"/>
              </a:rPr>
              <a:t>sistema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70" dirty="0">
                <a:latin typeface="Arial"/>
                <a:cs typeface="Arial"/>
              </a:rPr>
              <a:t>presentado 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60" dirty="0">
                <a:latin typeface="Arial"/>
                <a:cs typeface="Arial"/>
              </a:rPr>
              <a:t>un </a:t>
            </a:r>
            <a:r>
              <a:rPr sz="1700" spc="-90" dirty="0">
                <a:latin typeface="Arial"/>
                <a:cs typeface="Arial"/>
              </a:rPr>
              <a:t>adecuado </a:t>
            </a:r>
            <a:r>
              <a:rPr sz="1700" spc="-45" dirty="0">
                <a:latin typeface="Arial"/>
                <a:cs typeface="Arial"/>
              </a:rPr>
              <a:t>detalle, </a:t>
            </a:r>
            <a:r>
              <a:rPr sz="1700" spc="-120" dirty="0">
                <a:latin typeface="Arial"/>
                <a:cs typeface="Arial"/>
              </a:rPr>
              <a:t>ya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80" dirty="0">
                <a:latin typeface="Arial"/>
                <a:cs typeface="Arial"/>
              </a:rPr>
              <a:t>debe </a:t>
            </a:r>
            <a:r>
              <a:rPr sz="1700" spc="-30" dirty="0">
                <a:latin typeface="Arial"/>
                <a:cs typeface="Arial"/>
              </a:rPr>
              <a:t>incluir </a:t>
            </a:r>
            <a:r>
              <a:rPr sz="1700" spc="-70" dirty="0">
                <a:latin typeface="Arial"/>
                <a:cs typeface="Arial"/>
              </a:rPr>
              <a:t>la descripción técnica </a:t>
            </a:r>
            <a:r>
              <a:rPr sz="1700" spc="-60" dirty="0">
                <a:latin typeface="Arial"/>
                <a:cs typeface="Arial"/>
              </a:rPr>
              <a:t>detallada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0" dirty="0">
                <a:latin typeface="Arial"/>
                <a:cs typeface="Arial"/>
              </a:rPr>
              <a:t>solución  propuesta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105" dirty="0">
                <a:latin typeface="Arial"/>
                <a:cs typeface="Arial"/>
              </a:rPr>
              <a:t>las capacidades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crecimiento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solución. </a:t>
            </a:r>
            <a:r>
              <a:rPr sz="1700" spc="-70" dirty="0">
                <a:latin typeface="Arial"/>
                <a:cs typeface="Arial"/>
              </a:rPr>
              <a:t>Incluye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60" dirty="0">
                <a:latin typeface="Arial"/>
                <a:cs typeface="Arial"/>
              </a:rPr>
              <a:t>instalación, </a:t>
            </a:r>
            <a:r>
              <a:rPr sz="1700" spc="-70" dirty="0">
                <a:latin typeface="Arial"/>
                <a:cs typeface="Arial"/>
              </a:rPr>
              <a:t>que pueden </a:t>
            </a:r>
            <a:r>
              <a:rPr sz="1700" spc="-40" dirty="0">
                <a:latin typeface="Arial"/>
                <a:cs typeface="Arial"/>
              </a:rPr>
              <a:t>modificar </a:t>
            </a:r>
            <a:r>
              <a:rPr sz="1700" spc="-80" dirty="0">
                <a:latin typeface="Arial"/>
                <a:cs typeface="Arial"/>
              </a:rPr>
              <a:t>una </a:t>
            </a:r>
            <a:r>
              <a:rPr sz="1700" spc="-75" dirty="0">
                <a:latin typeface="Arial"/>
                <a:cs typeface="Arial"/>
              </a:rPr>
              <a:t>decisión </a:t>
            </a:r>
            <a:r>
              <a:rPr sz="1700" spc="-120" dirty="0">
                <a:latin typeface="Arial"/>
                <a:cs typeface="Arial"/>
              </a:rPr>
              <a:t>ya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75" dirty="0">
                <a:latin typeface="Arial"/>
                <a:cs typeface="Arial"/>
              </a:rPr>
              <a:t>afecta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80" dirty="0">
                <a:latin typeface="Arial"/>
                <a:cs typeface="Arial"/>
              </a:rPr>
              <a:t>costo </a:t>
            </a:r>
            <a:r>
              <a:rPr sz="1700" spc="-10" dirty="0">
                <a:latin typeface="Arial"/>
                <a:cs typeface="Arial"/>
              </a:rPr>
              <a:t>total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inversión.</a:t>
            </a:r>
            <a:endParaRPr sz="1700">
              <a:latin typeface="Arial"/>
              <a:cs typeface="Arial"/>
            </a:endParaRPr>
          </a:p>
          <a:p>
            <a:pPr marL="281305" marR="5715" indent="-268605" algn="just">
              <a:lnSpc>
                <a:spcPct val="100000"/>
              </a:lnSpc>
              <a:buAutoNum type="arabicPeriod" startAt="3"/>
              <a:tabLst>
                <a:tab pos="281940" algn="l"/>
              </a:tabLst>
            </a:pPr>
            <a:r>
              <a:rPr sz="1700" b="1" spc="-90" dirty="0">
                <a:latin typeface="Trebuchet MS"/>
                <a:cs typeface="Trebuchet MS"/>
              </a:rPr>
              <a:t>Soporte </a:t>
            </a:r>
            <a:r>
              <a:rPr sz="1700" b="1" spc="-95" dirty="0">
                <a:latin typeface="Trebuchet MS"/>
                <a:cs typeface="Trebuchet MS"/>
              </a:rPr>
              <a:t>del proveedor</a:t>
            </a:r>
            <a:r>
              <a:rPr sz="1700" spc="-95" dirty="0">
                <a:latin typeface="Arial"/>
                <a:cs typeface="Arial"/>
              </a:rPr>
              <a:t>: </a:t>
            </a:r>
            <a:r>
              <a:rPr sz="1700" spc="-85" dirty="0">
                <a:latin typeface="Arial"/>
                <a:cs typeface="Arial"/>
              </a:rPr>
              <a:t>debe </a:t>
            </a:r>
            <a:r>
              <a:rPr sz="1700" spc="-30" dirty="0">
                <a:latin typeface="Arial"/>
                <a:cs typeface="Arial"/>
              </a:rPr>
              <a:t>incluir </a:t>
            </a:r>
            <a:r>
              <a:rPr sz="1700" spc="-45" dirty="0">
                <a:latin typeface="Arial"/>
                <a:cs typeface="Arial"/>
              </a:rPr>
              <a:t>el entrenamiento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75" dirty="0">
                <a:latin typeface="Arial"/>
                <a:cs typeface="Arial"/>
              </a:rPr>
              <a:t>personal, </a:t>
            </a:r>
            <a:r>
              <a:rPr sz="1700" spc="-55" dirty="0">
                <a:latin typeface="Arial"/>
                <a:cs typeface="Arial"/>
              </a:rPr>
              <a:t>soporte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135" dirty="0">
                <a:latin typeface="Arial"/>
                <a:cs typeface="Arial"/>
              </a:rPr>
              <a:t>HW/SW, </a:t>
            </a:r>
            <a:r>
              <a:rPr sz="1700" spc="-85" dirty="0">
                <a:latin typeface="Arial"/>
                <a:cs typeface="Arial"/>
              </a:rPr>
              <a:t>y  </a:t>
            </a:r>
            <a:r>
              <a:rPr sz="1700" spc="-40" dirty="0">
                <a:latin typeface="Arial"/>
                <a:cs typeface="Arial"/>
              </a:rPr>
              <a:t>mantenimiento </a:t>
            </a:r>
            <a:r>
              <a:rPr sz="1700" spc="-55" dirty="0">
                <a:latin typeface="Arial"/>
                <a:cs typeface="Arial"/>
              </a:rPr>
              <a:t>del equipo. </a:t>
            </a:r>
            <a:r>
              <a:rPr sz="1700" spc="-85" dirty="0">
                <a:latin typeface="Arial"/>
                <a:cs typeface="Arial"/>
              </a:rPr>
              <a:t>Apoyo y </a:t>
            </a:r>
            <a:r>
              <a:rPr sz="1700" spc="-75" dirty="0">
                <a:latin typeface="Arial"/>
                <a:cs typeface="Arial"/>
              </a:rPr>
              <a:t>experiencia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35" dirty="0">
                <a:latin typeface="Arial"/>
                <a:cs typeface="Arial"/>
              </a:rPr>
              <a:t>convertir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aplicaciones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80" dirty="0">
                <a:latin typeface="Arial"/>
                <a:cs typeface="Arial"/>
              </a:rPr>
              <a:t>los  </a:t>
            </a:r>
            <a:r>
              <a:rPr sz="1700" spc="-90" dirty="0">
                <a:latin typeface="Arial"/>
                <a:cs typeface="Arial"/>
              </a:rPr>
              <a:t>programas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aplicación </a:t>
            </a:r>
            <a:r>
              <a:rPr sz="1700" spc="-65" dirty="0">
                <a:latin typeface="Arial"/>
                <a:cs typeface="Arial"/>
              </a:rPr>
              <a:t>al </a:t>
            </a:r>
            <a:r>
              <a:rPr sz="1700" spc="-75" dirty="0">
                <a:latin typeface="Arial"/>
                <a:cs typeface="Arial"/>
              </a:rPr>
              <a:t>nuevo </a:t>
            </a:r>
            <a:r>
              <a:rPr sz="1700" spc="-50" dirty="0">
                <a:latin typeface="Arial"/>
                <a:cs typeface="Arial"/>
              </a:rPr>
              <a:t>equipo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computacional.</a:t>
            </a:r>
            <a:endParaRPr sz="1700">
              <a:latin typeface="Arial"/>
              <a:cs typeface="Arial"/>
            </a:endParaRPr>
          </a:p>
          <a:p>
            <a:pPr marL="281305" indent="-268605">
              <a:lnSpc>
                <a:spcPct val="100000"/>
              </a:lnSpc>
              <a:buAutoNum type="arabicPeriod" startAt="3"/>
              <a:tabLst>
                <a:tab pos="281940" algn="l"/>
              </a:tabLst>
            </a:pPr>
            <a:r>
              <a:rPr sz="1700" b="1" spc="-90" dirty="0">
                <a:latin typeface="Trebuchet MS"/>
                <a:cs typeface="Trebuchet MS"/>
              </a:rPr>
              <a:t>Información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80" dirty="0">
                <a:latin typeface="Trebuchet MS"/>
                <a:cs typeface="Trebuchet MS"/>
              </a:rPr>
              <a:t>costos</a:t>
            </a:r>
            <a:r>
              <a:rPr sz="1700" spc="-80" dirty="0">
                <a:latin typeface="Arial"/>
                <a:cs typeface="Arial"/>
              </a:rPr>
              <a:t>: </a:t>
            </a:r>
            <a:r>
              <a:rPr sz="1700" spc="-75" dirty="0">
                <a:latin typeface="Arial"/>
                <a:cs typeface="Arial"/>
              </a:rPr>
              <a:t>precios, </a:t>
            </a:r>
            <a:r>
              <a:rPr sz="1700" spc="-110" dirty="0">
                <a:latin typeface="Arial"/>
                <a:cs typeface="Arial"/>
              </a:rPr>
              <a:t>plazos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05" dirty="0">
                <a:latin typeface="Arial"/>
                <a:cs typeface="Arial"/>
              </a:rPr>
              <a:t>pago </a:t>
            </a:r>
            <a:r>
              <a:rPr sz="1700" spc="-85" dirty="0">
                <a:latin typeface="Arial"/>
                <a:cs typeface="Arial"/>
              </a:rPr>
              <a:t>y opciones </a:t>
            </a:r>
            <a:r>
              <a:rPr sz="1700" spc="-80" dirty="0">
                <a:latin typeface="Arial"/>
                <a:cs typeface="Arial"/>
              </a:rPr>
              <a:t>de compra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40" dirty="0">
                <a:latin typeface="Arial"/>
                <a:cs typeface="Arial"/>
              </a:rPr>
              <a:t>parte </a:t>
            </a:r>
            <a:r>
              <a:rPr sz="1700" spc="-55" dirty="0">
                <a:latin typeface="Arial"/>
                <a:cs typeface="Arial"/>
              </a:rPr>
              <a:t>del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proveedor.</a:t>
            </a:r>
            <a:endParaRPr sz="1700">
              <a:latin typeface="Arial"/>
              <a:cs typeface="Arial"/>
            </a:endParaRPr>
          </a:p>
          <a:p>
            <a:pPr marL="281305" marR="5080" indent="-268605" algn="just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81940" algn="l"/>
              </a:tabLst>
            </a:pPr>
            <a:r>
              <a:rPr sz="1700" b="1" spc="-100" dirty="0">
                <a:latin typeface="Trebuchet MS"/>
                <a:cs typeface="Trebuchet MS"/>
              </a:rPr>
              <a:t>Condiciones del </a:t>
            </a:r>
            <a:r>
              <a:rPr sz="1700" b="1" spc="-95" dirty="0">
                <a:latin typeface="Trebuchet MS"/>
                <a:cs typeface="Trebuchet MS"/>
              </a:rPr>
              <a:t>contrato</a:t>
            </a:r>
            <a:r>
              <a:rPr sz="1700" spc="-95" dirty="0">
                <a:latin typeface="Arial"/>
                <a:cs typeface="Arial"/>
              </a:rPr>
              <a:t>:</a:t>
            </a:r>
            <a:r>
              <a:rPr sz="1700" spc="28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formatos </a:t>
            </a:r>
            <a:r>
              <a:rPr sz="1700" spc="-35" dirty="0">
                <a:latin typeface="Arial"/>
                <a:cs typeface="Arial"/>
              </a:rPr>
              <a:t>fijos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120" dirty="0">
                <a:latin typeface="Arial"/>
                <a:cs typeface="Arial"/>
              </a:rPr>
              <a:t>anexa 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70" dirty="0">
                <a:latin typeface="Arial"/>
                <a:cs typeface="Arial"/>
              </a:rPr>
              <a:t>la </a:t>
            </a:r>
            <a:r>
              <a:rPr sz="1700" spc="-85" dirty="0">
                <a:latin typeface="Arial"/>
                <a:cs typeface="Arial"/>
              </a:rPr>
              <a:t>mayoría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10" dirty="0">
                <a:latin typeface="Arial"/>
                <a:cs typeface="Arial"/>
              </a:rPr>
              <a:t>las  </a:t>
            </a:r>
            <a:r>
              <a:rPr sz="1700" spc="-80" dirty="0">
                <a:latin typeface="Arial"/>
                <a:cs typeface="Arial"/>
              </a:rPr>
              <a:t>propuestas</a:t>
            </a:r>
            <a:endParaRPr sz="1700">
              <a:latin typeface="Arial"/>
              <a:cs typeface="Arial"/>
            </a:endParaRPr>
          </a:p>
          <a:p>
            <a:pPr marL="281305" marR="5080" indent="-268605" algn="just">
              <a:lnSpc>
                <a:spcPct val="100000"/>
              </a:lnSpc>
              <a:buAutoNum type="arabicPeriod" startAt="3"/>
              <a:tabLst>
                <a:tab pos="281940" algn="l"/>
              </a:tabLst>
            </a:pPr>
            <a:r>
              <a:rPr sz="1700" b="1" spc="-90" dirty="0">
                <a:latin typeface="Trebuchet MS"/>
                <a:cs typeface="Trebuchet MS"/>
              </a:rPr>
              <a:t>Nivel </a:t>
            </a:r>
            <a:r>
              <a:rPr sz="1700" b="1" spc="-50" dirty="0">
                <a:latin typeface="Trebuchet MS"/>
                <a:cs typeface="Trebuchet MS"/>
              </a:rPr>
              <a:t>o </a:t>
            </a:r>
            <a:r>
              <a:rPr sz="1700" b="1" spc="-85" dirty="0">
                <a:latin typeface="Trebuchet MS"/>
                <a:cs typeface="Trebuchet MS"/>
              </a:rPr>
              <a:t>grado </a:t>
            </a:r>
            <a:r>
              <a:rPr sz="1700" b="1" spc="-100" dirty="0">
                <a:latin typeface="Trebuchet MS"/>
                <a:cs typeface="Trebuchet MS"/>
              </a:rPr>
              <a:t>de cumplimiento de </a:t>
            </a:r>
            <a:r>
              <a:rPr sz="1700" b="1" spc="-65" dirty="0">
                <a:latin typeface="Trebuchet MS"/>
                <a:cs typeface="Trebuchet MS"/>
              </a:rPr>
              <a:t>los </a:t>
            </a:r>
            <a:r>
              <a:rPr sz="1700" b="1" spc="-105" dirty="0">
                <a:latin typeface="Trebuchet MS"/>
                <a:cs typeface="Trebuchet MS"/>
              </a:rPr>
              <a:t>requerimientos </a:t>
            </a:r>
            <a:r>
              <a:rPr sz="1700" b="1" spc="-85" dirty="0">
                <a:latin typeface="Trebuchet MS"/>
                <a:cs typeface="Trebuchet MS"/>
              </a:rPr>
              <a:t>obligatorios </a:t>
            </a:r>
            <a:r>
              <a:rPr sz="1700" b="1" spc="-105" dirty="0">
                <a:latin typeface="Trebuchet MS"/>
                <a:cs typeface="Trebuchet MS"/>
              </a:rPr>
              <a:t>y </a:t>
            </a:r>
            <a:r>
              <a:rPr sz="1700" b="1" spc="-90" dirty="0">
                <a:latin typeface="Trebuchet MS"/>
                <a:cs typeface="Trebuchet MS"/>
              </a:rPr>
              <a:t>opcionales </a:t>
            </a:r>
            <a:r>
              <a:rPr sz="1700" b="1" spc="-95" dirty="0">
                <a:latin typeface="Trebuchet MS"/>
                <a:cs typeface="Trebuchet MS"/>
              </a:rPr>
              <a:t>del </a:t>
            </a:r>
            <a:r>
              <a:rPr sz="1700" b="1" spc="-120" dirty="0">
                <a:latin typeface="Trebuchet MS"/>
                <a:cs typeface="Trebuchet MS"/>
              </a:rPr>
              <a:t>cliente  </a:t>
            </a:r>
            <a:r>
              <a:rPr sz="1700" b="1" spc="-100" dirty="0">
                <a:latin typeface="Trebuchet MS"/>
                <a:cs typeface="Trebuchet MS"/>
              </a:rPr>
              <a:t>que </a:t>
            </a:r>
            <a:r>
              <a:rPr sz="1700" b="1" spc="-105" dirty="0">
                <a:latin typeface="Trebuchet MS"/>
                <a:cs typeface="Trebuchet MS"/>
              </a:rPr>
              <a:t>tiene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85" dirty="0">
                <a:latin typeface="Trebuchet MS"/>
                <a:cs typeface="Trebuchet MS"/>
              </a:rPr>
              <a:t>solución </a:t>
            </a:r>
            <a:r>
              <a:rPr sz="1700" b="1" spc="-100" dirty="0">
                <a:latin typeface="Trebuchet MS"/>
                <a:cs typeface="Trebuchet MS"/>
              </a:rPr>
              <a:t>presentada </a:t>
            </a:r>
            <a:r>
              <a:rPr sz="1700" b="1" spc="-85" dirty="0">
                <a:latin typeface="Trebuchet MS"/>
                <a:cs typeface="Trebuchet MS"/>
              </a:rPr>
              <a:t>por </a:t>
            </a:r>
            <a:r>
              <a:rPr sz="1700" b="1" spc="-110" dirty="0">
                <a:latin typeface="Trebuchet MS"/>
                <a:cs typeface="Trebuchet MS"/>
              </a:rPr>
              <a:t>el</a:t>
            </a:r>
            <a:r>
              <a:rPr sz="1700" b="1" spc="-395" dirty="0">
                <a:latin typeface="Trebuchet MS"/>
                <a:cs typeface="Trebuchet MS"/>
              </a:rPr>
              <a:t> </a:t>
            </a:r>
            <a:r>
              <a:rPr sz="1700" b="1" spc="-100" dirty="0">
                <a:latin typeface="Trebuchet MS"/>
                <a:cs typeface="Trebuchet MS"/>
              </a:rPr>
              <a:t>proveedor</a:t>
            </a:r>
            <a:r>
              <a:rPr sz="1700" spc="-10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954" y="1039113"/>
            <a:ext cx="8571230" cy="2710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0"/>
              </a:spcBef>
              <a:tabLst>
                <a:tab pos="5727700" algn="l"/>
              </a:tabLst>
            </a:pPr>
            <a:r>
              <a:rPr sz="2000" b="1" spc="-75" dirty="0">
                <a:latin typeface="Trebuchet MS"/>
                <a:cs typeface="Trebuchet MS"/>
              </a:rPr>
              <a:t>B </a:t>
            </a:r>
            <a:r>
              <a:rPr sz="2000" b="1" spc="-125" dirty="0">
                <a:latin typeface="Trebuchet MS"/>
                <a:cs typeface="Trebuchet MS"/>
              </a:rPr>
              <a:t>- </a:t>
            </a:r>
            <a:r>
              <a:rPr sz="2000" b="1" spc="-110" dirty="0">
                <a:latin typeface="Trebuchet MS"/>
                <a:cs typeface="Trebuchet MS"/>
              </a:rPr>
              <a:t>Abrir </a:t>
            </a:r>
            <a:r>
              <a:rPr sz="2000" b="1" spc="-125" dirty="0">
                <a:latin typeface="Trebuchet MS"/>
                <a:cs typeface="Trebuchet MS"/>
              </a:rPr>
              <a:t>concurso</a:t>
            </a:r>
            <a:r>
              <a:rPr sz="2000" b="1" spc="-240" dirty="0">
                <a:latin typeface="Trebuchet MS"/>
                <a:cs typeface="Trebuchet MS"/>
              </a:rPr>
              <a:t> </a:t>
            </a:r>
            <a:r>
              <a:rPr sz="2000" b="1" spc="-120" dirty="0">
                <a:latin typeface="Trebuchet MS"/>
                <a:cs typeface="Trebuchet MS"/>
              </a:rPr>
              <a:t>de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proveedores</a:t>
            </a:r>
            <a:r>
              <a:rPr sz="2000" spc="-110" dirty="0">
                <a:latin typeface="Arial"/>
                <a:cs typeface="Arial"/>
              </a:rPr>
              <a:t>:	</a:t>
            </a:r>
            <a:r>
              <a:rPr sz="2000" b="1" spc="-105" dirty="0">
                <a:solidFill>
                  <a:srgbClr val="FF0000"/>
                </a:solidFill>
                <a:latin typeface="Trebuchet MS"/>
                <a:cs typeface="Trebuchet MS"/>
              </a:rPr>
              <a:t>Actividades </a:t>
            </a:r>
            <a:r>
              <a:rPr sz="2000" b="1" spc="-120" dirty="0">
                <a:solidFill>
                  <a:srgbClr val="FF0000"/>
                </a:solidFill>
                <a:latin typeface="Trebuchet MS"/>
                <a:cs typeface="Trebuchet MS"/>
              </a:rPr>
              <a:t>Previas </a:t>
            </a:r>
            <a:r>
              <a:rPr sz="2000" b="1" spc="-130" dirty="0">
                <a:solidFill>
                  <a:srgbClr val="FF0000"/>
                </a:solidFill>
                <a:latin typeface="Trebuchet MS"/>
                <a:cs typeface="Trebuchet MS"/>
              </a:rPr>
              <a:t>(Cont.)  </a:t>
            </a:r>
            <a:r>
              <a:rPr sz="1700" spc="-50" dirty="0">
                <a:latin typeface="Arial"/>
                <a:cs typeface="Arial"/>
              </a:rPr>
              <a:t>Apertura </a:t>
            </a:r>
            <a:r>
              <a:rPr sz="1700" spc="-35" dirty="0">
                <a:latin typeface="Arial"/>
                <a:cs typeface="Arial"/>
              </a:rPr>
              <a:t>formal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90" dirty="0">
                <a:latin typeface="Arial"/>
                <a:cs typeface="Arial"/>
              </a:rPr>
              <a:t>concurso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proveedores, </a:t>
            </a:r>
            <a:r>
              <a:rPr sz="1700" spc="-70" dirty="0">
                <a:latin typeface="Arial"/>
                <a:cs typeface="Arial"/>
              </a:rPr>
              <a:t>entregando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120" dirty="0">
                <a:latin typeface="Arial"/>
                <a:cs typeface="Arial"/>
              </a:rPr>
              <a:t>cada </a:t>
            </a:r>
            <a:r>
              <a:rPr sz="1700" spc="-60" dirty="0">
                <a:latin typeface="Arial"/>
                <a:cs typeface="Arial"/>
              </a:rPr>
              <a:t>uno </a:t>
            </a:r>
            <a:r>
              <a:rPr sz="1700" spc="-45" dirty="0">
                <a:latin typeface="Arial"/>
                <a:cs typeface="Arial"/>
              </a:rPr>
              <a:t>(preferiblemente </a:t>
            </a:r>
            <a:r>
              <a:rPr sz="1700" spc="-35" dirty="0">
                <a:latin typeface="Arial"/>
                <a:cs typeface="Arial"/>
              </a:rPr>
              <a:t>por  </a:t>
            </a:r>
            <a:r>
              <a:rPr sz="1700" spc="-90" dirty="0">
                <a:latin typeface="Arial"/>
                <a:cs typeface="Arial"/>
              </a:rPr>
              <a:t>separado) </a:t>
            </a:r>
            <a:r>
              <a:rPr sz="1700" spc="-80" dirty="0">
                <a:latin typeface="Arial"/>
                <a:cs typeface="Arial"/>
              </a:rPr>
              <a:t>los </a:t>
            </a:r>
            <a:r>
              <a:rPr sz="1700" spc="-270" dirty="0">
                <a:latin typeface="Arial"/>
                <a:cs typeface="Arial"/>
              </a:rPr>
              <a:t>RFP, </a:t>
            </a:r>
            <a:r>
              <a:rPr sz="1700" spc="-75" dirty="0">
                <a:latin typeface="Arial"/>
                <a:cs typeface="Arial"/>
              </a:rPr>
              <a:t>haciendo </a:t>
            </a:r>
            <a:r>
              <a:rPr sz="1700" spc="-70" dirty="0">
                <a:latin typeface="Arial"/>
                <a:cs typeface="Arial"/>
              </a:rPr>
              <a:t>hincapié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95" dirty="0">
                <a:latin typeface="Arial"/>
                <a:cs typeface="Arial"/>
              </a:rPr>
              <a:t>necesidad </a:t>
            </a:r>
            <a:r>
              <a:rPr sz="1700" spc="-80" dirty="0">
                <a:latin typeface="Arial"/>
                <a:cs typeface="Arial"/>
              </a:rPr>
              <a:t>de atenerse </a:t>
            </a:r>
            <a:r>
              <a:rPr sz="1700" spc="-65" dirty="0">
                <a:latin typeface="Arial"/>
                <a:cs typeface="Arial"/>
              </a:rPr>
              <a:t>al </a:t>
            </a:r>
            <a:r>
              <a:rPr sz="1700" spc="-30" dirty="0">
                <a:latin typeface="Arial"/>
                <a:cs typeface="Arial"/>
              </a:rPr>
              <a:t>formato </a:t>
            </a:r>
            <a:r>
              <a:rPr sz="1700" spc="-55" dirty="0">
                <a:latin typeface="Arial"/>
                <a:cs typeface="Arial"/>
              </a:rPr>
              <a:t>solicitado,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80" dirty="0">
                <a:latin typeface="Arial"/>
                <a:cs typeface="Arial"/>
              </a:rPr>
              <a:t>sobre  </a:t>
            </a:r>
            <a:r>
              <a:rPr sz="1700" spc="-35" dirty="0">
                <a:latin typeface="Arial"/>
                <a:cs typeface="Arial"/>
              </a:rPr>
              <a:t>todo,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50" dirty="0">
                <a:latin typeface="Arial"/>
                <a:cs typeface="Arial"/>
              </a:rPr>
              <a:t>dejar </a:t>
            </a:r>
            <a:r>
              <a:rPr sz="1700" spc="-75" dirty="0">
                <a:latin typeface="Arial"/>
                <a:cs typeface="Arial"/>
              </a:rPr>
              <a:t>proveedores </a:t>
            </a:r>
            <a:r>
              <a:rPr sz="1700" spc="-55" dirty="0">
                <a:latin typeface="Arial"/>
                <a:cs typeface="Arial"/>
              </a:rPr>
              <a:t>fuera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carrera </a:t>
            </a:r>
            <a:r>
              <a:rPr sz="1700" spc="-65" dirty="0">
                <a:latin typeface="Arial"/>
                <a:cs typeface="Arial"/>
              </a:rPr>
              <a:t>simplemente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95" dirty="0">
                <a:latin typeface="Arial"/>
                <a:cs typeface="Arial"/>
              </a:rPr>
              <a:t>suposiciones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40" dirty="0">
                <a:latin typeface="Arial"/>
                <a:cs typeface="Arial"/>
              </a:rPr>
              <a:t>parte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la  </a:t>
            </a:r>
            <a:r>
              <a:rPr sz="1700" spc="-90" dirty="0">
                <a:latin typeface="Arial"/>
                <a:cs typeface="Arial"/>
              </a:rPr>
              <a:t>empresa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65" dirty="0">
                <a:latin typeface="Arial"/>
                <a:cs typeface="Arial"/>
              </a:rPr>
              <a:t>podrán </a:t>
            </a:r>
            <a:r>
              <a:rPr sz="1700" spc="-100" dirty="0">
                <a:latin typeface="Arial"/>
                <a:cs typeface="Arial"/>
              </a:rPr>
              <a:t>alcanzar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requerimientos.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70" dirty="0">
                <a:latin typeface="Trebuchet MS"/>
                <a:cs typeface="Trebuchet MS"/>
              </a:rPr>
              <a:t>C </a:t>
            </a:r>
            <a:r>
              <a:rPr sz="2000" b="1" spc="-125" dirty="0">
                <a:latin typeface="Trebuchet MS"/>
                <a:cs typeface="Trebuchet MS"/>
              </a:rPr>
              <a:t>- </a:t>
            </a:r>
            <a:r>
              <a:rPr sz="2000" b="1" spc="-114" dirty="0">
                <a:latin typeface="Trebuchet MS"/>
                <a:cs typeface="Trebuchet MS"/>
              </a:rPr>
              <a:t>Descartar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Propuestas</a:t>
            </a:r>
            <a:r>
              <a:rPr sz="2000" spc="-1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5"/>
              </a:spcBef>
            </a:pPr>
            <a:r>
              <a:rPr sz="1700" spc="-125" dirty="0">
                <a:latin typeface="Arial"/>
                <a:cs typeface="Arial"/>
              </a:rPr>
              <a:t>Luego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80" dirty="0">
                <a:latin typeface="Arial"/>
                <a:cs typeface="Arial"/>
              </a:rPr>
              <a:t>descartan </a:t>
            </a:r>
            <a:r>
              <a:rPr sz="1700" spc="-75" dirty="0">
                <a:latin typeface="Arial"/>
                <a:cs typeface="Arial"/>
              </a:rPr>
              <a:t>todas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propuestas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70" dirty="0">
                <a:latin typeface="Arial"/>
                <a:cs typeface="Arial"/>
              </a:rPr>
              <a:t>cumplan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55" dirty="0">
                <a:latin typeface="Arial"/>
                <a:cs typeface="Arial"/>
              </a:rPr>
              <a:t>obligatorios, </a:t>
            </a:r>
            <a:r>
              <a:rPr sz="1700" spc="-20" dirty="0">
                <a:latin typeface="Arial"/>
                <a:cs typeface="Arial"/>
              </a:rPr>
              <a:t>lo 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50" dirty="0">
                <a:latin typeface="Arial"/>
                <a:cs typeface="Arial"/>
              </a:rPr>
              <a:t>constituye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15" dirty="0">
                <a:latin typeface="Arial"/>
                <a:cs typeface="Arial"/>
              </a:rPr>
              <a:t>filtro </a:t>
            </a:r>
            <a:r>
              <a:rPr sz="1700" spc="-30" dirty="0">
                <a:latin typeface="Arial"/>
                <a:cs typeface="Arial"/>
              </a:rPr>
              <a:t>importante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65" dirty="0">
                <a:latin typeface="Arial"/>
                <a:cs typeface="Arial"/>
              </a:rPr>
              <a:t>la hora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realizar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90" dirty="0">
                <a:latin typeface="Arial"/>
                <a:cs typeface="Arial"/>
              </a:rPr>
              <a:t>evaluaciones </a:t>
            </a:r>
            <a:r>
              <a:rPr sz="1700" spc="-85" dirty="0">
                <a:latin typeface="Arial"/>
                <a:cs typeface="Arial"/>
              </a:rPr>
              <a:t>técnicas y </a:t>
            </a:r>
            <a:r>
              <a:rPr sz="1700" spc="-70" dirty="0">
                <a:latin typeface="Arial"/>
                <a:cs typeface="Arial"/>
              </a:rPr>
              <a:t>financieras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105" dirty="0">
                <a:latin typeface="Arial"/>
                <a:cs typeface="Arial"/>
              </a:rPr>
              <a:t>las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propuestas.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53000" y="4334255"/>
            <a:ext cx="3281172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4334255"/>
            <a:ext cx="3429000" cy="1620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039113"/>
            <a:ext cx="8607425" cy="3182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20" dirty="0">
                <a:solidFill>
                  <a:srgbClr val="FF0000"/>
                </a:solidFill>
                <a:latin typeface="Trebuchet MS"/>
                <a:cs typeface="Trebuchet MS"/>
              </a:rPr>
              <a:t>Evaluación</a:t>
            </a:r>
            <a:r>
              <a:rPr sz="2000" b="1" spc="-1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80" dirty="0">
                <a:solidFill>
                  <a:srgbClr val="FF0000"/>
                </a:solidFill>
                <a:latin typeface="Trebuchet MS"/>
                <a:cs typeface="Trebuchet MS"/>
              </a:rPr>
              <a:t>Técnica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1700" spc="-185" dirty="0">
                <a:latin typeface="Arial"/>
                <a:cs typeface="Arial"/>
              </a:rPr>
              <a:t>La </a:t>
            </a:r>
            <a:r>
              <a:rPr sz="1700" spc="-80" dirty="0">
                <a:latin typeface="Arial"/>
                <a:cs typeface="Arial"/>
              </a:rPr>
              <a:t>evaluación </a:t>
            </a:r>
            <a:r>
              <a:rPr sz="1700" spc="-70" dirty="0">
                <a:latin typeface="Arial"/>
                <a:cs typeface="Arial"/>
              </a:rPr>
              <a:t>técnica </a:t>
            </a:r>
            <a:r>
              <a:rPr sz="1700" spc="-80" dirty="0">
                <a:latin typeface="Arial"/>
                <a:cs typeface="Arial"/>
              </a:rPr>
              <a:t>debe llevarse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95" dirty="0">
                <a:latin typeface="Arial"/>
                <a:cs typeface="Arial"/>
              </a:rPr>
              <a:t>cabo </a:t>
            </a:r>
            <a:r>
              <a:rPr sz="1700" spc="-80" dirty="0">
                <a:latin typeface="Arial"/>
                <a:cs typeface="Arial"/>
              </a:rPr>
              <a:t>sobre </a:t>
            </a:r>
            <a:r>
              <a:rPr sz="1700" spc="-85" dirty="0">
                <a:latin typeface="Arial"/>
                <a:cs typeface="Arial"/>
              </a:rPr>
              <a:t>aquellas propuestas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65" dirty="0">
                <a:latin typeface="Arial"/>
                <a:cs typeface="Arial"/>
              </a:rPr>
              <a:t>cumplen absolutamente 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55" dirty="0">
                <a:latin typeface="Arial"/>
                <a:cs typeface="Arial"/>
              </a:rPr>
              <a:t>obligatorios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35" dirty="0">
                <a:latin typeface="Arial"/>
                <a:cs typeface="Arial"/>
              </a:rPr>
              <a:t>mejor </a:t>
            </a:r>
            <a:r>
              <a:rPr sz="1700" spc="-70" dirty="0">
                <a:latin typeface="Arial"/>
                <a:cs typeface="Arial"/>
              </a:rPr>
              <a:t>cumplen </a:t>
            </a:r>
            <a:r>
              <a:rPr sz="1700" spc="-75" dirty="0">
                <a:latin typeface="Arial"/>
                <a:cs typeface="Arial"/>
              </a:rPr>
              <a:t>los opcionales. </a:t>
            </a:r>
            <a:r>
              <a:rPr sz="1700" spc="-165" dirty="0">
                <a:latin typeface="Arial"/>
                <a:cs typeface="Arial"/>
              </a:rPr>
              <a:t>Los </a:t>
            </a:r>
            <a:r>
              <a:rPr sz="1700" spc="-65" dirty="0">
                <a:latin typeface="Arial"/>
                <a:cs typeface="Arial"/>
              </a:rPr>
              <a:t>factores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35" dirty="0">
                <a:latin typeface="Arial"/>
                <a:cs typeface="Arial"/>
              </a:rPr>
              <a:t>tener </a:t>
            </a:r>
            <a:r>
              <a:rPr sz="1700" spc="-85" dirty="0">
                <a:latin typeface="Arial"/>
                <a:cs typeface="Arial"/>
              </a:rPr>
              <a:t>en  </a:t>
            </a:r>
            <a:r>
              <a:rPr sz="1700" spc="-70" dirty="0">
                <a:latin typeface="Arial"/>
                <a:cs typeface="Arial"/>
              </a:rPr>
              <a:t>cuenta </a:t>
            </a:r>
            <a:r>
              <a:rPr sz="1700" spc="-85" dirty="0">
                <a:latin typeface="Arial"/>
                <a:cs typeface="Arial"/>
              </a:rPr>
              <a:t>para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5" dirty="0">
                <a:latin typeface="Arial"/>
                <a:cs typeface="Arial"/>
              </a:rPr>
              <a:t>evaluación </a:t>
            </a:r>
            <a:r>
              <a:rPr sz="1700" spc="-100" dirty="0">
                <a:latin typeface="Arial"/>
                <a:cs typeface="Arial"/>
              </a:rPr>
              <a:t>son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principalmente: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700" b="1" i="1" spc="-150" dirty="0">
                <a:latin typeface="Arial"/>
                <a:cs typeface="Arial"/>
              </a:rPr>
              <a:t>Factores </a:t>
            </a:r>
            <a:r>
              <a:rPr sz="1700" b="1" i="1" spc="-130" dirty="0">
                <a:latin typeface="Arial"/>
                <a:cs typeface="Arial"/>
              </a:rPr>
              <a:t>de </a:t>
            </a:r>
            <a:r>
              <a:rPr sz="1700" b="1" i="1" spc="-90" dirty="0">
                <a:latin typeface="Arial"/>
                <a:cs typeface="Arial"/>
              </a:rPr>
              <a:t>hardware </a:t>
            </a:r>
            <a:r>
              <a:rPr sz="1700" spc="-85" dirty="0">
                <a:latin typeface="Arial"/>
                <a:cs typeface="Arial"/>
              </a:rPr>
              <a:t>(procesador, </a:t>
            </a:r>
            <a:r>
              <a:rPr sz="1700" spc="-55" dirty="0">
                <a:latin typeface="Arial"/>
                <a:cs typeface="Arial"/>
              </a:rPr>
              <a:t>memoria </a:t>
            </a:r>
            <a:r>
              <a:rPr sz="1700" spc="-120" dirty="0">
                <a:latin typeface="Arial"/>
                <a:cs typeface="Arial"/>
              </a:rPr>
              <a:t>RAM, </a:t>
            </a:r>
            <a:r>
              <a:rPr sz="1700" spc="-100" dirty="0">
                <a:latin typeface="Arial"/>
                <a:cs typeface="Arial"/>
              </a:rPr>
              <a:t>discos, </a:t>
            </a:r>
            <a:r>
              <a:rPr sz="1700" spc="-55" dirty="0">
                <a:latin typeface="Arial"/>
                <a:cs typeface="Arial"/>
              </a:rPr>
              <a:t>terminales, </a:t>
            </a:r>
            <a:r>
              <a:rPr sz="1700" spc="-75" dirty="0">
                <a:latin typeface="Arial"/>
                <a:cs typeface="Arial"/>
              </a:rPr>
              <a:t>impresoras,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etc.).</a:t>
            </a:r>
            <a:endParaRPr sz="17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700" b="1" i="1" spc="-150" dirty="0">
                <a:latin typeface="Arial"/>
                <a:cs typeface="Arial"/>
              </a:rPr>
              <a:t>Factores </a:t>
            </a:r>
            <a:r>
              <a:rPr sz="1700" b="1" i="1" spc="-130" dirty="0">
                <a:latin typeface="Arial"/>
                <a:cs typeface="Arial"/>
              </a:rPr>
              <a:t>de </a:t>
            </a:r>
            <a:r>
              <a:rPr sz="1700" b="1" i="1" spc="-95" dirty="0">
                <a:latin typeface="Arial"/>
                <a:cs typeface="Arial"/>
              </a:rPr>
              <a:t>software </a:t>
            </a:r>
            <a:r>
              <a:rPr sz="1700" spc="-85" dirty="0">
                <a:latin typeface="Arial"/>
                <a:cs typeface="Arial"/>
              </a:rPr>
              <a:t>(sistema </a:t>
            </a:r>
            <a:r>
              <a:rPr sz="1700" spc="-55" dirty="0">
                <a:latin typeface="Arial"/>
                <a:cs typeface="Arial"/>
              </a:rPr>
              <a:t>operativo, </a:t>
            </a:r>
            <a:r>
              <a:rPr sz="1700" spc="-50" dirty="0">
                <a:latin typeface="Arial"/>
                <a:cs typeface="Arial"/>
              </a:rPr>
              <a:t>software </a:t>
            </a:r>
            <a:r>
              <a:rPr sz="1700" spc="-80" dirty="0">
                <a:latin typeface="Arial"/>
                <a:cs typeface="Arial"/>
              </a:rPr>
              <a:t>de comunicaciones, </a:t>
            </a:r>
            <a:r>
              <a:rPr sz="1700" spc="-50" dirty="0">
                <a:latin typeface="Arial"/>
                <a:cs typeface="Arial"/>
              </a:rPr>
              <a:t>administrador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140" dirty="0">
                <a:latin typeface="Arial"/>
                <a:cs typeface="Arial"/>
              </a:rPr>
              <a:t>bases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datos,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80" dirty="0">
                <a:latin typeface="Arial"/>
                <a:cs typeface="Arial"/>
              </a:rPr>
              <a:t>paquetes </a:t>
            </a:r>
            <a:r>
              <a:rPr sz="1700" spc="-75" dirty="0">
                <a:latin typeface="Arial"/>
                <a:cs typeface="Arial"/>
              </a:rPr>
              <a:t>adicionales </a:t>
            </a:r>
            <a:r>
              <a:rPr sz="1700" spc="-70" dirty="0">
                <a:latin typeface="Arial"/>
                <a:cs typeface="Arial"/>
              </a:rPr>
              <a:t>tales </a:t>
            </a:r>
            <a:r>
              <a:rPr sz="1700" spc="-75" dirty="0">
                <a:latin typeface="Arial"/>
                <a:cs typeface="Arial"/>
              </a:rPr>
              <a:t>como simuladores, </a:t>
            </a:r>
            <a:r>
              <a:rPr sz="1700" spc="-90" dirty="0">
                <a:latin typeface="Arial"/>
                <a:cs typeface="Arial"/>
              </a:rPr>
              <a:t>análisis </a:t>
            </a:r>
            <a:r>
              <a:rPr sz="1700" spc="-65" dirty="0">
                <a:latin typeface="Arial"/>
                <a:cs typeface="Arial"/>
              </a:rPr>
              <a:t>financieros,  </a:t>
            </a:r>
            <a:r>
              <a:rPr sz="1700" spc="-70" dirty="0">
                <a:latin typeface="Arial"/>
                <a:cs typeface="Arial"/>
              </a:rPr>
              <a:t>programación </a:t>
            </a:r>
            <a:r>
              <a:rPr sz="1700" spc="-45" dirty="0">
                <a:latin typeface="Arial"/>
                <a:cs typeface="Arial"/>
              </a:rPr>
              <a:t>lineal, </a:t>
            </a:r>
            <a:r>
              <a:rPr sz="1700" spc="-30" dirty="0">
                <a:latin typeface="Arial"/>
                <a:cs typeface="Arial"/>
              </a:rPr>
              <a:t>control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proyectos, </a:t>
            </a:r>
            <a:r>
              <a:rPr sz="1700" spc="-55" dirty="0">
                <a:latin typeface="Arial"/>
                <a:cs typeface="Arial"/>
              </a:rPr>
              <a:t>etc.). </a:t>
            </a:r>
            <a:r>
              <a:rPr sz="1700" spc="-105" dirty="0">
                <a:latin typeface="Arial"/>
                <a:cs typeface="Arial"/>
              </a:rPr>
              <a:t>También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30" dirty="0">
                <a:latin typeface="Arial"/>
                <a:cs typeface="Arial"/>
              </a:rPr>
              <a:t>importante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80" dirty="0">
                <a:latin typeface="Arial"/>
                <a:cs typeface="Arial"/>
              </a:rPr>
              <a:t>grado de </a:t>
            </a:r>
            <a:r>
              <a:rPr sz="1700" spc="-50" dirty="0">
                <a:latin typeface="Arial"/>
                <a:cs typeface="Arial"/>
              </a:rPr>
              <a:t>apertura 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50" dirty="0">
                <a:latin typeface="Arial"/>
                <a:cs typeface="Arial"/>
              </a:rPr>
              <a:t>software </a:t>
            </a:r>
            <a:r>
              <a:rPr sz="1700" spc="-45" dirty="0">
                <a:latin typeface="Arial"/>
                <a:cs typeface="Arial"/>
              </a:rPr>
              <a:t>ofrecido </a:t>
            </a:r>
            <a:r>
              <a:rPr sz="1700" spc="-75" dirty="0">
                <a:latin typeface="Arial"/>
                <a:cs typeface="Arial"/>
              </a:rPr>
              <a:t>en </a:t>
            </a:r>
            <a:r>
              <a:rPr sz="1700" spc="-60" dirty="0">
                <a:latin typeface="Arial"/>
                <a:cs typeface="Arial"/>
              </a:rPr>
              <a:t>cuanto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5" dirty="0">
                <a:latin typeface="Arial"/>
                <a:cs typeface="Arial"/>
              </a:rPr>
              <a:t>posibilidad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0" dirty="0">
                <a:latin typeface="Arial"/>
                <a:cs typeface="Arial"/>
              </a:rPr>
              <a:t>“correrlo”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55" dirty="0">
                <a:latin typeface="Arial"/>
                <a:cs typeface="Arial"/>
              </a:rPr>
              <a:t>distintas terminales </a:t>
            </a:r>
            <a:r>
              <a:rPr sz="1700" spc="-85" dirty="0">
                <a:latin typeface="Arial"/>
                <a:cs typeface="Arial"/>
              </a:rPr>
              <a:t>de  </a:t>
            </a:r>
            <a:r>
              <a:rPr sz="1700" spc="-65" dirty="0">
                <a:latin typeface="Arial"/>
                <a:cs typeface="Arial"/>
              </a:rPr>
              <a:t>hardware, </a:t>
            </a:r>
            <a:r>
              <a:rPr sz="1700" spc="-75" dirty="0">
                <a:latin typeface="Arial"/>
                <a:cs typeface="Arial"/>
              </a:rPr>
              <a:t>dado </a:t>
            </a:r>
            <a:r>
              <a:rPr sz="1700" spc="-70" dirty="0">
                <a:latin typeface="Arial"/>
                <a:cs typeface="Arial"/>
              </a:rPr>
              <a:t>que generalmente </a:t>
            </a:r>
            <a:r>
              <a:rPr sz="1700" spc="-110" dirty="0">
                <a:latin typeface="Arial"/>
                <a:cs typeface="Arial"/>
              </a:rPr>
              <a:t>éstas </a:t>
            </a:r>
            <a:r>
              <a:rPr sz="1700" spc="-35" dirty="0">
                <a:latin typeface="Arial"/>
                <a:cs typeface="Arial"/>
              </a:rPr>
              <a:t>tienen </a:t>
            </a:r>
            <a:r>
              <a:rPr sz="1700" spc="-80" dirty="0">
                <a:latin typeface="Arial"/>
                <a:cs typeface="Arial"/>
              </a:rPr>
              <a:t>una </a:t>
            </a:r>
            <a:r>
              <a:rPr sz="1700" spc="-65" dirty="0">
                <a:latin typeface="Arial"/>
                <a:cs typeface="Arial"/>
              </a:rPr>
              <a:t>vida </a:t>
            </a:r>
            <a:r>
              <a:rPr sz="1700" spc="10" dirty="0">
                <a:latin typeface="Arial"/>
                <a:cs typeface="Arial"/>
              </a:rPr>
              <a:t>útil </a:t>
            </a:r>
            <a:r>
              <a:rPr sz="1700" spc="-50" dirty="0">
                <a:latin typeface="Arial"/>
                <a:cs typeface="Arial"/>
              </a:rPr>
              <a:t>menor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spc="-34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softwares.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4329684"/>
            <a:ext cx="3810000" cy="2106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65676" y="4326635"/>
            <a:ext cx="3270504" cy="1872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63461" y="4668011"/>
            <a:ext cx="1107920" cy="12428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1140" y="1039113"/>
            <a:ext cx="3561715" cy="1109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20" dirty="0">
                <a:solidFill>
                  <a:srgbClr val="FF0000"/>
                </a:solidFill>
                <a:latin typeface="Trebuchet MS"/>
                <a:cs typeface="Trebuchet MS"/>
              </a:rPr>
              <a:t>Evaluación </a:t>
            </a:r>
            <a:r>
              <a:rPr sz="2000" b="1" spc="-180" dirty="0">
                <a:solidFill>
                  <a:srgbClr val="FF0000"/>
                </a:solidFill>
                <a:latin typeface="Trebuchet MS"/>
                <a:cs typeface="Trebuchet MS"/>
              </a:rPr>
              <a:t>Técnica</a:t>
            </a:r>
            <a:r>
              <a:rPr sz="2000" b="1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30" dirty="0">
                <a:solidFill>
                  <a:srgbClr val="FF0000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sz="1700" b="1" i="1" spc="-150" dirty="0">
                <a:latin typeface="Arial"/>
                <a:cs typeface="Arial"/>
              </a:rPr>
              <a:t>Factores </a:t>
            </a:r>
            <a:r>
              <a:rPr sz="1700" b="1" i="1" spc="-130" dirty="0">
                <a:latin typeface="Arial"/>
                <a:cs typeface="Arial"/>
              </a:rPr>
              <a:t>de</a:t>
            </a:r>
            <a:r>
              <a:rPr sz="1700" b="1" i="1" dirty="0">
                <a:latin typeface="Arial"/>
                <a:cs typeface="Arial"/>
              </a:rPr>
              <a:t> </a:t>
            </a:r>
            <a:r>
              <a:rPr sz="1700" b="1" i="1" spc="-125" dirty="0">
                <a:latin typeface="Arial"/>
                <a:cs typeface="Arial"/>
              </a:rPr>
              <a:t>proveedor</a:t>
            </a:r>
            <a:endParaRPr sz="1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•"/>
              <a:tabLst>
                <a:tab pos="755015" algn="l"/>
                <a:tab pos="755650" algn="l"/>
                <a:tab pos="2172970" algn="l"/>
                <a:tab pos="2593975" algn="l"/>
              </a:tabLst>
            </a:pPr>
            <a:r>
              <a:rPr sz="17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Generalidades	</a:t>
            </a:r>
            <a:r>
              <a:rPr sz="1700" i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del	</a:t>
            </a:r>
            <a:r>
              <a:rPr sz="17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proveedor</a:t>
            </a:r>
            <a:r>
              <a:rPr sz="1700" spc="-8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4808" y="1864360"/>
            <a:ext cx="491426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7880" algn="l"/>
                <a:tab pos="1196340" algn="l"/>
                <a:tab pos="1513205" algn="l"/>
                <a:tab pos="2443480" algn="l"/>
                <a:tab pos="3061970" algn="l"/>
                <a:tab pos="3930650" algn="l"/>
                <a:tab pos="4187825" algn="l"/>
              </a:tabLst>
            </a:pPr>
            <a:r>
              <a:rPr sz="1700" spc="10" dirty="0">
                <a:latin typeface="Arial"/>
                <a:cs typeface="Arial"/>
              </a:rPr>
              <a:t>i</a:t>
            </a:r>
            <a:r>
              <a:rPr sz="1700" spc="-125" dirty="0">
                <a:latin typeface="Arial"/>
                <a:cs typeface="Arial"/>
              </a:rPr>
              <a:t>ma</a:t>
            </a:r>
            <a:r>
              <a:rPr sz="1700" spc="-114" dirty="0">
                <a:latin typeface="Arial"/>
                <a:cs typeface="Arial"/>
              </a:rPr>
              <a:t>g</a:t>
            </a:r>
            <a:r>
              <a:rPr sz="1700" spc="-100" dirty="0">
                <a:latin typeface="Arial"/>
                <a:cs typeface="Arial"/>
              </a:rPr>
              <a:t>e</a:t>
            </a:r>
            <a:r>
              <a:rPr sz="1700" spc="-55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0" dirty="0">
                <a:latin typeface="Arial"/>
                <a:cs typeface="Arial"/>
              </a:rPr>
              <a:t>en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60" dirty="0">
                <a:latin typeface="Arial"/>
                <a:cs typeface="Arial"/>
              </a:rPr>
              <a:t>e</a:t>
            </a:r>
            <a:r>
              <a:rPr sz="1700" spc="-30" dirty="0">
                <a:latin typeface="Arial"/>
                <a:cs typeface="Arial"/>
              </a:rPr>
              <a:t>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5" dirty="0">
                <a:latin typeface="Arial"/>
                <a:cs typeface="Arial"/>
              </a:rPr>
              <a:t>mer</a:t>
            </a:r>
            <a:r>
              <a:rPr sz="1700" spc="-145" dirty="0">
                <a:latin typeface="Arial"/>
                <a:cs typeface="Arial"/>
              </a:rPr>
              <a:t>c</a:t>
            </a:r>
            <a:r>
              <a:rPr sz="1700" spc="-95" dirty="0">
                <a:latin typeface="Arial"/>
                <a:cs typeface="Arial"/>
              </a:rPr>
              <a:t>ad</a:t>
            </a:r>
            <a:r>
              <a:rPr sz="1700" spc="-5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5" dirty="0">
                <a:latin typeface="Arial"/>
                <a:cs typeface="Arial"/>
              </a:rPr>
              <a:t>lo</a:t>
            </a:r>
            <a:r>
              <a:rPr sz="1700" spc="-75" dirty="0">
                <a:latin typeface="Arial"/>
                <a:cs typeface="Arial"/>
              </a:rPr>
              <a:t>c</a:t>
            </a:r>
            <a:r>
              <a:rPr sz="1700" spc="-65" dirty="0">
                <a:latin typeface="Arial"/>
                <a:cs typeface="Arial"/>
              </a:rPr>
              <a:t>al</a:t>
            </a:r>
            <a:r>
              <a:rPr sz="1700" spc="-50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r</a:t>
            </a:r>
            <a:r>
              <a:rPr sz="1700" spc="-70" dirty="0">
                <a:latin typeface="Arial"/>
                <a:cs typeface="Arial"/>
              </a:rPr>
              <a:t>egional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y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0" dirty="0">
                <a:latin typeface="Arial"/>
                <a:cs typeface="Arial"/>
              </a:rPr>
              <a:t>mund</a:t>
            </a:r>
            <a:r>
              <a:rPr sz="1700" spc="-35" dirty="0">
                <a:latin typeface="Arial"/>
                <a:cs typeface="Arial"/>
              </a:rPr>
              <a:t>i</a:t>
            </a:r>
            <a:r>
              <a:rPr sz="1700" spc="-65" dirty="0">
                <a:latin typeface="Arial"/>
                <a:cs typeface="Arial"/>
              </a:rPr>
              <a:t>al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2123439"/>
            <a:ext cx="8150225" cy="339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sz="1700" spc="-65" dirty="0">
                <a:latin typeface="Arial"/>
                <a:cs typeface="Arial"/>
              </a:rPr>
              <a:t>(profesionalismo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5" dirty="0">
                <a:latin typeface="Arial"/>
                <a:cs typeface="Arial"/>
              </a:rPr>
              <a:t>preparación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80" dirty="0">
                <a:latin typeface="Arial"/>
                <a:cs typeface="Arial"/>
              </a:rPr>
              <a:t>vendedores, </a:t>
            </a:r>
            <a:r>
              <a:rPr sz="1700" spc="-120" dirty="0">
                <a:latin typeface="Arial"/>
                <a:cs typeface="Arial"/>
              </a:rPr>
              <a:t>su </a:t>
            </a:r>
            <a:r>
              <a:rPr sz="1700" spc="-60" dirty="0">
                <a:latin typeface="Arial"/>
                <a:cs typeface="Arial"/>
              </a:rPr>
              <a:t>situación </a:t>
            </a:r>
            <a:r>
              <a:rPr sz="1700" spc="-80" dirty="0">
                <a:latin typeface="Arial"/>
                <a:cs typeface="Arial"/>
              </a:rPr>
              <a:t>económica </a:t>
            </a:r>
            <a:r>
              <a:rPr sz="1700" spc="-85" dirty="0">
                <a:latin typeface="Arial"/>
                <a:cs typeface="Arial"/>
              </a:rPr>
              <a:t>y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financiera,</a:t>
            </a:r>
            <a:endParaRPr sz="17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700" spc="-70" dirty="0">
                <a:latin typeface="Arial"/>
                <a:cs typeface="Arial"/>
              </a:rPr>
              <a:t>calidad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documentación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90" dirty="0">
                <a:latin typeface="Arial"/>
                <a:cs typeface="Arial"/>
              </a:rPr>
              <a:t>manuales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disponibles).</a:t>
            </a:r>
            <a:endParaRPr sz="17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sz="1700" i="1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Apoyo </a:t>
            </a:r>
            <a:r>
              <a:rPr sz="1700" i="1" u="heavy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 </a:t>
            </a:r>
            <a:r>
              <a:rPr sz="17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 </a:t>
            </a:r>
            <a:r>
              <a:rPr sz="17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capacitación</a:t>
            </a:r>
            <a:r>
              <a:rPr sz="1700" spc="-75" dirty="0">
                <a:latin typeface="Arial"/>
                <a:cs typeface="Arial"/>
              </a:rPr>
              <a:t>: </a:t>
            </a:r>
            <a:r>
              <a:rPr sz="1700" spc="-65" dirty="0">
                <a:latin typeface="Arial"/>
                <a:cs typeface="Arial"/>
              </a:rPr>
              <a:t>al </a:t>
            </a:r>
            <a:r>
              <a:rPr sz="1700" spc="-75" dirty="0">
                <a:latin typeface="Arial"/>
                <a:cs typeface="Arial"/>
              </a:rPr>
              <a:t>personal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110" dirty="0">
                <a:latin typeface="Arial"/>
                <a:cs typeface="Arial"/>
              </a:rPr>
              <a:t>áreas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investigación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55" dirty="0">
                <a:latin typeface="Arial"/>
                <a:cs typeface="Arial"/>
              </a:rPr>
              <a:t>soporte </a:t>
            </a:r>
            <a:r>
              <a:rPr sz="1700" spc="-60" dirty="0">
                <a:latin typeface="Arial"/>
                <a:cs typeface="Arial"/>
              </a:rPr>
              <a:t>técnico, </a:t>
            </a:r>
            <a:r>
              <a:rPr sz="1700" spc="-65" dirty="0">
                <a:latin typeface="Arial"/>
                <a:cs typeface="Arial"/>
              </a:rPr>
              <a:t>al  </a:t>
            </a:r>
            <a:r>
              <a:rPr sz="1700" spc="-95" dirty="0">
                <a:latin typeface="Arial"/>
                <a:cs typeface="Arial"/>
              </a:rPr>
              <a:t>área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85" dirty="0">
                <a:latin typeface="Arial"/>
                <a:cs typeface="Arial"/>
              </a:rPr>
              <a:t>análisis y </a:t>
            </a:r>
            <a:r>
              <a:rPr sz="1700" spc="-70" dirty="0">
                <a:latin typeface="Arial"/>
                <a:cs typeface="Arial"/>
              </a:rPr>
              <a:t>programación,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80" dirty="0">
                <a:latin typeface="Arial"/>
                <a:cs typeface="Arial"/>
              </a:rPr>
              <a:t>operadores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85" dirty="0">
                <a:latin typeface="Arial"/>
                <a:cs typeface="Arial"/>
              </a:rPr>
              <a:t>usuarios</a:t>
            </a:r>
            <a:r>
              <a:rPr sz="1700" spc="-60" dirty="0">
                <a:latin typeface="Arial"/>
                <a:cs typeface="Arial"/>
              </a:rPr>
              <a:t> finales.</a:t>
            </a:r>
            <a:endParaRPr sz="17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7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Mantenimiento </a:t>
            </a:r>
            <a:r>
              <a:rPr sz="1700" i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del </a:t>
            </a:r>
            <a:r>
              <a:rPr sz="17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hardware </a:t>
            </a:r>
            <a:r>
              <a:rPr sz="17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software</a:t>
            </a:r>
            <a:r>
              <a:rPr sz="1700" spc="-80" dirty="0">
                <a:latin typeface="Arial"/>
                <a:cs typeface="Arial"/>
              </a:rPr>
              <a:t>: </a:t>
            </a:r>
            <a:r>
              <a:rPr sz="1700" spc="-95" dirty="0">
                <a:latin typeface="Arial"/>
                <a:cs typeface="Arial"/>
              </a:rPr>
              <a:t>capacidad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60" dirty="0">
                <a:latin typeface="Arial"/>
                <a:cs typeface="Arial"/>
              </a:rPr>
              <a:t>proveer un </a:t>
            </a:r>
            <a:r>
              <a:rPr sz="1700" spc="-65" dirty="0">
                <a:latin typeface="Arial"/>
                <a:cs typeface="Arial"/>
              </a:rPr>
              <a:t>servicio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55" dirty="0">
                <a:latin typeface="Arial"/>
                <a:cs typeface="Arial"/>
              </a:rPr>
              <a:t>soporte  </a:t>
            </a:r>
            <a:r>
              <a:rPr sz="1700" spc="-90" dirty="0">
                <a:latin typeface="Arial"/>
                <a:cs typeface="Arial"/>
              </a:rPr>
              <a:t>adecuado, para </a:t>
            </a:r>
            <a:r>
              <a:rPr sz="1700" spc="-95" dirty="0">
                <a:latin typeface="Arial"/>
                <a:cs typeface="Arial"/>
              </a:rPr>
              <a:t>asegurar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0" dirty="0">
                <a:latin typeface="Arial"/>
                <a:cs typeface="Arial"/>
              </a:rPr>
              <a:t>funcionamiento </a:t>
            </a:r>
            <a:r>
              <a:rPr sz="1700" spc="-40" dirty="0">
                <a:latin typeface="Arial"/>
                <a:cs typeface="Arial"/>
              </a:rPr>
              <a:t>continuo </a:t>
            </a:r>
            <a:r>
              <a:rPr sz="1700" spc="-105" dirty="0">
                <a:latin typeface="Arial"/>
                <a:cs typeface="Arial"/>
              </a:rPr>
              <a:t>e </a:t>
            </a:r>
            <a:r>
              <a:rPr sz="1700" spc="-30" dirty="0">
                <a:latin typeface="Arial"/>
                <a:cs typeface="Arial"/>
              </a:rPr>
              <a:t>ininterrumpido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solución.  </a:t>
            </a:r>
            <a:r>
              <a:rPr sz="1700" spc="-95" dirty="0">
                <a:latin typeface="Arial"/>
                <a:cs typeface="Arial"/>
              </a:rPr>
              <a:t>(Calidad</a:t>
            </a:r>
            <a:r>
              <a:rPr sz="1700" spc="28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0" dirty="0">
                <a:latin typeface="Arial"/>
                <a:cs typeface="Arial"/>
              </a:rPr>
              <a:t>cantidad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personal capacitado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85" dirty="0">
                <a:latin typeface="Arial"/>
                <a:cs typeface="Arial"/>
              </a:rPr>
              <a:t>asistencia, </a:t>
            </a:r>
            <a:r>
              <a:rPr sz="1700" spc="-25" dirty="0">
                <a:latin typeface="Arial"/>
                <a:cs typeface="Arial"/>
              </a:rPr>
              <a:t>tiempo </a:t>
            </a:r>
            <a:r>
              <a:rPr sz="1700" spc="-50" dirty="0">
                <a:latin typeface="Arial"/>
                <a:cs typeface="Arial"/>
              </a:rPr>
              <a:t>promedio </a:t>
            </a:r>
            <a:r>
              <a:rPr sz="1700" spc="-55" dirty="0">
                <a:latin typeface="Arial"/>
                <a:cs typeface="Arial"/>
              </a:rPr>
              <a:t>del 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55" dirty="0">
                <a:latin typeface="Arial"/>
                <a:cs typeface="Arial"/>
              </a:rPr>
              <a:t>atender </a:t>
            </a:r>
            <a:r>
              <a:rPr sz="1700" spc="-70" dirty="0">
                <a:latin typeface="Arial"/>
                <a:cs typeface="Arial"/>
              </a:rPr>
              <a:t>fallas, </a:t>
            </a:r>
            <a:r>
              <a:rPr sz="1700" spc="-30" dirty="0">
                <a:latin typeface="Arial"/>
                <a:cs typeface="Arial"/>
              </a:rPr>
              <a:t>tiempo </a:t>
            </a:r>
            <a:r>
              <a:rPr sz="1700" spc="-50" dirty="0">
                <a:latin typeface="Arial"/>
                <a:cs typeface="Arial"/>
              </a:rPr>
              <a:t>promedio </a:t>
            </a:r>
            <a:r>
              <a:rPr sz="1700" spc="-55" dirty="0">
                <a:latin typeface="Arial"/>
                <a:cs typeface="Arial"/>
              </a:rPr>
              <a:t>del equipo </a:t>
            </a:r>
            <a:r>
              <a:rPr sz="1700" spc="-80" dirty="0">
                <a:latin typeface="Arial"/>
                <a:cs typeface="Arial"/>
              </a:rPr>
              <a:t>sin </a:t>
            </a:r>
            <a:r>
              <a:rPr sz="1700" spc="-60" dirty="0">
                <a:latin typeface="Arial"/>
                <a:cs typeface="Arial"/>
              </a:rPr>
              <a:t>fallar, </a:t>
            </a:r>
            <a:r>
              <a:rPr sz="1700" spc="-100" dirty="0">
                <a:latin typeface="Arial"/>
                <a:cs typeface="Arial"/>
              </a:rPr>
              <a:t>cercanía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depósitos 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repuestos,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etc.).</a:t>
            </a:r>
            <a:endParaRPr sz="17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7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Equipos </a:t>
            </a:r>
            <a:r>
              <a:rPr sz="17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7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respaldo</a:t>
            </a:r>
            <a:r>
              <a:rPr sz="1700" spc="-75" dirty="0">
                <a:latin typeface="Arial"/>
                <a:cs typeface="Arial"/>
              </a:rPr>
              <a:t>: </a:t>
            </a:r>
            <a:r>
              <a:rPr sz="1700" spc="-60" dirty="0">
                <a:latin typeface="Arial"/>
                <a:cs typeface="Arial"/>
              </a:rPr>
              <a:t>ante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eventual </a:t>
            </a:r>
            <a:r>
              <a:rPr sz="1700" spc="-50" dirty="0">
                <a:latin typeface="Arial"/>
                <a:cs typeface="Arial"/>
              </a:rPr>
              <a:t>falla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25" dirty="0">
                <a:latin typeface="Arial"/>
                <a:cs typeface="Arial"/>
              </a:rPr>
              <a:t>tiempo </a:t>
            </a:r>
            <a:r>
              <a:rPr sz="1700" spc="-65" dirty="0">
                <a:latin typeface="Arial"/>
                <a:cs typeface="Arial"/>
              </a:rPr>
              <a:t>prolongado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60" dirty="0">
                <a:latin typeface="Arial"/>
                <a:cs typeface="Arial"/>
              </a:rPr>
              <a:t>equipo, </a:t>
            </a:r>
            <a:r>
              <a:rPr sz="1700" spc="-80" dirty="0">
                <a:latin typeface="Arial"/>
                <a:cs typeface="Arial"/>
              </a:rPr>
              <a:t>debe  </a:t>
            </a:r>
            <a:r>
              <a:rPr sz="1700" spc="-70" dirty="0">
                <a:latin typeface="Arial"/>
                <a:cs typeface="Arial"/>
              </a:rPr>
              <a:t>tenerse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70" dirty="0">
                <a:latin typeface="Arial"/>
                <a:cs typeface="Arial"/>
              </a:rPr>
              <a:t>cuenta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95" dirty="0">
                <a:latin typeface="Arial"/>
                <a:cs typeface="Arial"/>
              </a:rPr>
              <a:t>capacidad</a:t>
            </a:r>
            <a:r>
              <a:rPr sz="1700" spc="28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proporcionar </a:t>
            </a:r>
            <a:r>
              <a:rPr sz="1700" spc="-60" dirty="0">
                <a:latin typeface="Arial"/>
                <a:cs typeface="Arial"/>
              </a:rPr>
              <a:t>uno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similares  </a:t>
            </a:r>
            <a:r>
              <a:rPr sz="1700" spc="-80" dirty="0">
                <a:latin typeface="Arial"/>
                <a:cs typeface="Arial"/>
              </a:rPr>
              <a:t>características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50" dirty="0">
                <a:latin typeface="Arial"/>
                <a:cs typeface="Arial"/>
              </a:rPr>
              <a:t>detener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25" dirty="0">
                <a:latin typeface="Arial"/>
                <a:cs typeface="Arial"/>
              </a:rPr>
              <a:t>todo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45" dirty="0">
                <a:latin typeface="Arial"/>
                <a:cs typeface="Arial"/>
              </a:rPr>
              <a:t>función </a:t>
            </a:r>
            <a:r>
              <a:rPr sz="1700" spc="-55" dirty="0">
                <a:latin typeface="Arial"/>
                <a:cs typeface="Arial"/>
              </a:rPr>
              <a:t>del equipo </a:t>
            </a:r>
            <a:r>
              <a:rPr sz="1700" spc="-85" dirty="0">
                <a:latin typeface="Arial"/>
                <a:cs typeface="Arial"/>
              </a:rPr>
              <a:t>dañado (Cantidad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70" dirty="0">
                <a:latin typeface="Arial"/>
                <a:cs typeface="Arial"/>
              </a:rPr>
              <a:t>equipos </a:t>
            </a:r>
            <a:r>
              <a:rPr sz="1700" spc="-75" dirty="0">
                <a:latin typeface="Arial"/>
                <a:cs typeface="Arial"/>
              </a:rPr>
              <a:t>existentes, </a:t>
            </a:r>
            <a:r>
              <a:rPr sz="1700" spc="-55" dirty="0">
                <a:latin typeface="Arial"/>
                <a:cs typeface="Arial"/>
              </a:rPr>
              <a:t>facilidad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0" dirty="0">
                <a:latin typeface="Arial"/>
                <a:cs typeface="Arial"/>
              </a:rPr>
              <a:t>traslado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mismos).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/>
          <p:nvPr/>
        </p:nvSpPr>
        <p:spPr>
          <a:xfrm>
            <a:off x="423672" y="126873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0886" y="10066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6258" y="500126"/>
            <a:ext cx="8550275" cy="570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69850">
              <a:lnSpc>
                <a:spcPct val="100000"/>
              </a:lnSpc>
              <a:spcBef>
                <a:spcPts val="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  <a:p>
            <a:pPr marL="529590" marR="6522720" indent="-294640">
              <a:lnSpc>
                <a:spcPct val="100000"/>
              </a:lnSpc>
              <a:spcBef>
                <a:spcPts val="275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Evaluación</a:t>
            </a:r>
            <a:r>
              <a:rPr sz="16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financiera 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propuestas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700" b="1" i="1" spc="-85" dirty="0">
                <a:latin typeface="Arial"/>
                <a:cs typeface="Arial"/>
              </a:rPr>
              <a:t>3 </a:t>
            </a:r>
            <a:r>
              <a:rPr sz="1700" b="1" i="1" spc="-125" dirty="0">
                <a:latin typeface="Arial"/>
                <a:cs typeface="Arial"/>
              </a:rPr>
              <a:t>modalidades </a:t>
            </a:r>
            <a:r>
              <a:rPr sz="1700" b="1" i="1" spc="-50" dirty="0">
                <a:latin typeface="Arial"/>
                <a:cs typeface="Arial"/>
              </a:rPr>
              <a:t>a</a:t>
            </a:r>
            <a:r>
              <a:rPr sz="1700" b="1" i="1" spc="-15" dirty="0">
                <a:latin typeface="Arial"/>
                <a:cs typeface="Arial"/>
              </a:rPr>
              <a:t> </a:t>
            </a:r>
            <a:r>
              <a:rPr sz="1700" b="1" i="1" spc="-135" dirty="0">
                <a:latin typeface="Arial"/>
                <a:cs typeface="Arial"/>
              </a:rPr>
              <a:t>considerar:</a:t>
            </a:r>
            <a:endParaRPr sz="1700">
              <a:latin typeface="Arial"/>
              <a:cs typeface="Arial"/>
            </a:endParaRPr>
          </a:p>
          <a:p>
            <a:pPr marL="835660" marR="5715" indent="-342900">
              <a:lnSpc>
                <a:spcPct val="100000"/>
              </a:lnSpc>
              <a:buAutoNum type="arabicPeriod"/>
              <a:tabLst>
                <a:tab pos="835660" algn="l"/>
                <a:tab pos="836294" algn="l"/>
              </a:tabLst>
            </a:pPr>
            <a:r>
              <a:rPr sz="17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Renta</a:t>
            </a:r>
            <a:r>
              <a:rPr sz="1700" spc="-90" dirty="0">
                <a:latin typeface="Arial"/>
                <a:cs typeface="Arial"/>
              </a:rPr>
              <a:t>: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70" dirty="0">
                <a:latin typeface="Arial"/>
                <a:cs typeface="Arial"/>
              </a:rPr>
              <a:t>usuario </a:t>
            </a:r>
            <a:r>
              <a:rPr sz="1700" spc="-45" dirty="0">
                <a:latin typeface="Arial"/>
                <a:cs typeface="Arial"/>
              </a:rPr>
              <a:t>toma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40" dirty="0">
                <a:latin typeface="Arial"/>
                <a:cs typeface="Arial"/>
              </a:rPr>
              <a:t>alquiler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5" dirty="0">
                <a:latin typeface="Arial"/>
                <a:cs typeface="Arial"/>
              </a:rPr>
              <a:t>equipo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60" dirty="0">
                <a:latin typeface="Arial"/>
                <a:cs typeface="Arial"/>
              </a:rPr>
              <a:t>un </a:t>
            </a:r>
            <a:r>
              <a:rPr sz="1700" spc="-45" dirty="0">
                <a:latin typeface="Arial"/>
                <a:cs typeface="Arial"/>
              </a:rPr>
              <a:t>periodo </a:t>
            </a:r>
            <a:r>
              <a:rPr sz="1700" spc="-55" dirty="0">
                <a:latin typeface="Arial"/>
                <a:cs typeface="Arial"/>
              </a:rPr>
              <a:t>estipulado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25" dirty="0">
                <a:latin typeface="Arial"/>
                <a:cs typeface="Arial"/>
              </a:rPr>
              <a:t>tiempo;  </a:t>
            </a:r>
            <a:r>
              <a:rPr sz="1700" spc="-45" dirty="0">
                <a:latin typeface="Arial"/>
                <a:cs typeface="Arial"/>
              </a:rPr>
              <a:t>transcurrido el </a:t>
            </a:r>
            <a:r>
              <a:rPr sz="1700" spc="-70" dirty="0">
                <a:latin typeface="Arial"/>
                <a:cs typeface="Arial"/>
              </a:rPr>
              <a:t>mismo </a:t>
            </a:r>
            <a:r>
              <a:rPr sz="1700" spc="-30" dirty="0">
                <a:latin typeface="Arial"/>
                <a:cs typeface="Arial"/>
              </a:rPr>
              <a:t>tiene </a:t>
            </a:r>
            <a:r>
              <a:rPr sz="1700" spc="-50" dirty="0">
                <a:latin typeface="Arial"/>
                <a:cs typeface="Arial"/>
              </a:rPr>
              <a:t>tres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opciones: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10" dirty="0">
                <a:latin typeface="Arial"/>
                <a:cs typeface="Arial"/>
              </a:rPr>
              <a:t>Cancelar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40" dirty="0">
                <a:latin typeface="Arial"/>
                <a:cs typeface="Arial"/>
              </a:rPr>
              <a:t>contrato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5" dirty="0">
                <a:latin typeface="Arial"/>
                <a:cs typeface="Arial"/>
              </a:rPr>
              <a:t>devolver </a:t>
            </a:r>
            <a:r>
              <a:rPr sz="1700" spc="-45" dirty="0">
                <a:latin typeface="Arial"/>
                <a:cs typeface="Arial"/>
              </a:rPr>
              <a:t>el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equipo.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10" dirty="0">
                <a:latin typeface="Arial"/>
                <a:cs typeface="Arial"/>
              </a:rPr>
              <a:t>Renovar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40" dirty="0">
                <a:latin typeface="Arial"/>
                <a:cs typeface="Arial"/>
              </a:rPr>
              <a:t>contrato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90" dirty="0">
                <a:latin typeface="Arial"/>
                <a:cs typeface="Arial"/>
              </a:rPr>
              <a:t>quedarse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5" dirty="0">
                <a:latin typeface="Arial"/>
                <a:cs typeface="Arial"/>
              </a:rPr>
              <a:t>equipo, </a:t>
            </a:r>
            <a:r>
              <a:rPr sz="1700" spc="-20" dirty="0">
                <a:latin typeface="Arial"/>
                <a:cs typeface="Arial"/>
              </a:rPr>
              <a:t>tal </a:t>
            </a:r>
            <a:r>
              <a:rPr sz="1700" spc="-135" dirty="0">
                <a:latin typeface="Arial"/>
                <a:cs typeface="Arial"/>
              </a:rPr>
              <a:t>vez </a:t>
            </a:r>
            <a:r>
              <a:rPr sz="1700" spc="-45" dirty="0">
                <a:latin typeface="Arial"/>
                <a:cs typeface="Arial"/>
              </a:rPr>
              <a:t>obteniendo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descuentos.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85" dirty="0">
                <a:latin typeface="Arial"/>
                <a:cs typeface="Arial"/>
              </a:rPr>
              <a:t>Ejercer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opción </a:t>
            </a:r>
            <a:r>
              <a:rPr sz="1700" spc="-80" dirty="0">
                <a:latin typeface="Arial"/>
                <a:cs typeface="Arial"/>
              </a:rPr>
              <a:t>de compra </a:t>
            </a:r>
            <a:r>
              <a:rPr sz="1700" spc="-50" dirty="0">
                <a:latin typeface="Arial"/>
                <a:cs typeface="Arial"/>
              </a:rPr>
              <a:t>del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equipo.</a:t>
            </a:r>
            <a:endParaRPr sz="1700">
              <a:latin typeface="Arial"/>
              <a:cs typeface="Arial"/>
            </a:endParaRPr>
          </a:p>
          <a:p>
            <a:pPr marL="77851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778510" algn="l"/>
                <a:tab pos="779145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b="1" i="1" spc="-110" dirty="0">
                <a:latin typeface="Arial"/>
                <a:cs typeface="Arial"/>
              </a:rPr>
              <a:t>ventajas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0" dirty="0">
                <a:latin typeface="Arial"/>
                <a:cs typeface="Arial"/>
              </a:rPr>
              <a:t>renta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son: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95" dirty="0">
                <a:latin typeface="Arial"/>
                <a:cs typeface="Arial"/>
              </a:rPr>
              <a:t>No </a:t>
            </a:r>
            <a:r>
              <a:rPr sz="1700" spc="-105" dirty="0">
                <a:latin typeface="Arial"/>
                <a:cs typeface="Arial"/>
              </a:rPr>
              <a:t>hay </a:t>
            </a:r>
            <a:r>
              <a:rPr sz="1700" spc="-65" dirty="0">
                <a:latin typeface="Arial"/>
                <a:cs typeface="Arial"/>
              </a:rPr>
              <a:t>inversión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inicial.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50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85" dirty="0">
                <a:latin typeface="Arial"/>
                <a:cs typeface="Arial"/>
              </a:rPr>
              <a:t>responsable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0" dirty="0">
                <a:latin typeface="Arial"/>
                <a:cs typeface="Arial"/>
              </a:rPr>
              <a:t>correcto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funcionamiento.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50" dirty="0">
                <a:latin typeface="Arial"/>
                <a:cs typeface="Arial"/>
              </a:rPr>
              <a:t>Aporta </a:t>
            </a:r>
            <a:r>
              <a:rPr sz="1700" spc="-75" dirty="0">
                <a:latin typeface="Arial"/>
                <a:cs typeface="Arial"/>
              </a:rPr>
              <a:t>mayor </a:t>
            </a:r>
            <a:r>
              <a:rPr sz="1700" spc="-40" dirty="0">
                <a:latin typeface="Arial"/>
                <a:cs typeface="Arial"/>
              </a:rPr>
              <a:t>flexibilidad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90" dirty="0">
                <a:latin typeface="Arial"/>
                <a:cs typeface="Arial"/>
              </a:rPr>
              <a:t>si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85" dirty="0">
                <a:latin typeface="Arial"/>
                <a:cs typeface="Arial"/>
              </a:rPr>
              <a:t>necesario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75" dirty="0">
                <a:latin typeface="Arial"/>
                <a:cs typeface="Arial"/>
              </a:rPr>
              <a:t>cambio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30" dirty="0">
                <a:latin typeface="Arial"/>
                <a:cs typeface="Arial"/>
              </a:rPr>
              <a:t>corto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plazo.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00" dirty="0">
                <a:latin typeface="Arial"/>
                <a:cs typeface="Arial"/>
              </a:rPr>
              <a:t>Evita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95" dirty="0">
                <a:latin typeface="Arial"/>
                <a:cs typeface="Arial"/>
              </a:rPr>
              <a:t>obsolescencia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130" dirty="0">
                <a:latin typeface="Arial"/>
                <a:cs typeface="Arial"/>
              </a:rPr>
              <a:t>más </a:t>
            </a:r>
            <a:r>
              <a:rPr sz="1700" spc="-50" dirty="0">
                <a:latin typeface="Arial"/>
                <a:cs typeface="Arial"/>
              </a:rPr>
              <a:t>fácil </a:t>
            </a:r>
            <a:r>
              <a:rPr sz="1700" spc="-80" dirty="0">
                <a:latin typeface="Arial"/>
                <a:cs typeface="Arial"/>
              </a:rPr>
              <a:t>hacer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75" dirty="0">
                <a:latin typeface="Arial"/>
                <a:cs typeface="Arial"/>
              </a:rPr>
              <a:t>cambio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equipo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posterior.</a:t>
            </a:r>
            <a:endParaRPr sz="1700">
              <a:latin typeface="Arial"/>
              <a:cs typeface="Arial"/>
            </a:endParaRPr>
          </a:p>
          <a:p>
            <a:pPr marL="1235710" marR="508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55" dirty="0">
                <a:latin typeface="Arial"/>
                <a:cs typeface="Arial"/>
              </a:rPr>
              <a:t>A </a:t>
            </a:r>
            <a:r>
              <a:rPr sz="1700" spc="-50" dirty="0">
                <a:latin typeface="Arial"/>
                <a:cs typeface="Arial"/>
              </a:rPr>
              <a:t>nivel </a:t>
            </a:r>
            <a:r>
              <a:rPr sz="1700" spc="-60" dirty="0">
                <a:latin typeface="Arial"/>
                <a:cs typeface="Arial"/>
              </a:rPr>
              <a:t>contable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0" dirty="0">
                <a:latin typeface="Arial"/>
                <a:cs typeface="Arial"/>
              </a:rPr>
              <a:t>renta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75" dirty="0">
                <a:latin typeface="Arial"/>
                <a:cs typeface="Arial"/>
              </a:rPr>
              <a:t>beneficiosa </a:t>
            </a:r>
            <a:r>
              <a:rPr sz="1700" spc="-55" dirty="0">
                <a:latin typeface="Arial"/>
                <a:cs typeface="Arial"/>
              </a:rPr>
              <a:t>porque </a:t>
            </a:r>
            <a:r>
              <a:rPr sz="1700" spc="-120" dirty="0">
                <a:latin typeface="Arial"/>
                <a:cs typeface="Arial"/>
              </a:rPr>
              <a:t>mes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114" dirty="0">
                <a:latin typeface="Arial"/>
                <a:cs typeface="Arial"/>
              </a:rPr>
              <a:t>mes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90" dirty="0">
                <a:latin typeface="Arial"/>
                <a:cs typeface="Arial"/>
              </a:rPr>
              <a:t>descuenta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105" dirty="0">
                <a:latin typeface="Arial"/>
                <a:cs typeface="Arial"/>
              </a:rPr>
              <a:t>pago  </a:t>
            </a:r>
            <a:r>
              <a:rPr sz="1700" spc="-80" dirty="0">
                <a:latin typeface="Arial"/>
                <a:cs typeface="Arial"/>
              </a:rPr>
              <a:t>de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impuestos.</a:t>
            </a:r>
            <a:endParaRPr sz="1700">
              <a:latin typeface="Arial"/>
              <a:cs typeface="Arial"/>
            </a:endParaRPr>
          </a:p>
          <a:p>
            <a:pPr marL="778510" indent="-285750">
              <a:lnSpc>
                <a:spcPct val="100000"/>
              </a:lnSpc>
              <a:buChar char="•"/>
              <a:tabLst>
                <a:tab pos="778510" algn="l"/>
                <a:tab pos="779145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b="1" i="1" spc="-130" dirty="0">
                <a:latin typeface="Arial"/>
                <a:cs typeface="Arial"/>
              </a:rPr>
              <a:t>desventajas</a:t>
            </a:r>
            <a:r>
              <a:rPr sz="1700" b="1" i="1" spc="-24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son: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250" dirty="0">
                <a:latin typeface="Arial"/>
                <a:cs typeface="Arial"/>
              </a:rPr>
              <a:t>Es </a:t>
            </a:r>
            <a:r>
              <a:rPr sz="1700" spc="-130" dirty="0">
                <a:latin typeface="Arial"/>
                <a:cs typeface="Arial"/>
              </a:rPr>
              <a:t>más </a:t>
            </a:r>
            <a:r>
              <a:rPr sz="1700" spc="-105" dirty="0">
                <a:latin typeface="Arial"/>
                <a:cs typeface="Arial"/>
              </a:rPr>
              <a:t>costosa </a:t>
            </a:r>
            <a:r>
              <a:rPr sz="1700" spc="-90" dirty="0">
                <a:latin typeface="Arial"/>
                <a:cs typeface="Arial"/>
              </a:rPr>
              <a:t>si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0" dirty="0">
                <a:latin typeface="Arial"/>
                <a:cs typeface="Arial"/>
              </a:rPr>
              <a:t>equipo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60" dirty="0">
                <a:latin typeface="Arial"/>
                <a:cs typeface="Arial"/>
              </a:rPr>
              <a:t>mantendrá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70" dirty="0">
                <a:latin typeface="Arial"/>
                <a:cs typeface="Arial"/>
              </a:rPr>
              <a:t>largo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plazo.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spc="-70" dirty="0">
                <a:latin typeface="Arial"/>
                <a:cs typeface="Arial"/>
              </a:rPr>
              <a:t>rentas </a:t>
            </a:r>
            <a:r>
              <a:rPr sz="1700" spc="-85" dirty="0">
                <a:latin typeface="Arial"/>
                <a:cs typeface="Arial"/>
              </a:rPr>
              <a:t>están sujetas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75" dirty="0">
                <a:latin typeface="Arial"/>
                <a:cs typeface="Arial"/>
              </a:rPr>
              <a:t>aumentos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40" dirty="0">
                <a:latin typeface="Arial"/>
                <a:cs typeface="Arial"/>
              </a:rPr>
              <a:t>parte </a:t>
            </a:r>
            <a:r>
              <a:rPr sz="1700" spc="-55" dirty="0">
                <a:latin typeface="Arial"/>
                <a:cs typeface="Arial"/>
              </a:rPr>
              <a:t>del</a:t>
            </a:r>
            <a:r>
              <a:rPr sz="1700" spc="-3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proveedor.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93129" y="1162050"/>
            <a:ext cx="2855214" cy="1046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625" y="1086357"/>
            <a:ext cx="5417820" cy="520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700" b="1" spc="-160" dirty="0">
                <a:latin typeface="Trebuchet MS"/>
                <a:cs typeface="Trebuchet MS"/>
              </a:rPr>
              <a:t>2.	</a:t>
            </a:r>
            <a:r>
              <a:rPr sz="17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Compra</a:t>
            </a:r>
            <a:r>
              <a:rPr sz="1700" spc="-9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b="1" i="1" spc="-110" dirty="0">
                <a:latin typeface="Arial"/>
                <a:cs typeface="Arial"/>
              </a:rPr>
              <a:t>ventajas</a:t>
            </a:r>
            <a:r>
              <a:rPr sz="1700" b="1" i="1" spc="-24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son:</a:t>
            </a:r>
            <a:endParaRPr sz="1700">
              <a:latin typeface="Arial"/>
              <a:cs typeface="Arial"/>
            </a:endParaRPr>
          </a:p>
          <a:p>
            <a:pPr marL="755650" marR="5715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150" dirty="0">
                <a:latin typeface="Arial"/>
                <a:cs typeface="Arial"/>
              </a:rPr>
              <a:t>El </a:t>
            </a:r>
            <a:r>
              <a:rPr sz="1700" spc="-45" dirty="0">
                <a:latin typeface="Arial"/>
                <a:cs typeface="Arial"/>
              </a:rPr>
              <a:t>método </a:t>
            </a:r>
            <a:r>
              <a:rPr sz="1700" spc="-130" dirty="0">
                <a:latin typeface="Arial"/>
                <a:cs typeface="Arial"/>
              </a:rPr>
              <a:t>mas </a:t>
            </a:r>
            <a:r>
              <a:rPr sz="1700" spc="-60" dirty="0">
                <a:latin typeface="Arial"/>
                <a:cs typeface="Arial"/>
              </a:rPr>
              <a:t>barato </a:t>
            </a:r>
            <a:r>
              <a:rPr sz="1700" spc="-90" dirty="0">
                <a:latin typeface="Arial"/>
                <a:cs typeface="Arial"/>
              </a:rPr>
              <a:t>si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55" dirty="0">
                <a:latin typeface="Arial"/>
                <a:cs typeface="Arial"/>
              </a:rPr>
              <a:t>un equipo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55" dirty="0">
                <a:latin typeface="Arial"/>
                <a:cs typeface="Arial"/>
              </a:rPr>
              <a:t>mantener 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70" dirty="0">
                <a:latin typeface="Arial"/>
                <a:cs typeface="Arial"/>
              </a:rPr>
              <a:t>largo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plazo.</a:t>
            </a:r>
            <a:endParaRPr sz="1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95" dirty="0">
                <a:latin typeface="Arial"/>
                <a:cs typeface="Arial"/>
              </a:rPr>
              <a:t>No </a:t>
            </a:r>
            <a:r>
              <a:rPr sz="1700" spc="-75" dirty="0">
                <a:latin typeface="Arial"/>
                <a:cs typeface="Arial"/>
              </a:rPr>
              <a:t>existen </a:t>
            </a:r>
            <a:r>
              <a:rPr sz="1700" spc="-65" dirty="0">
                <a:latin typeface="Arial"/>
                <a:cs typeface="Arial"/>
              </a:rPr>
              <a:t>incrementos </a:t>
            </a:r>
            <a:r>
              <a:rPr sz="1700" spc="-80" dirty="0">
                <a:latin typeface="Arial"/>
                <a:cs typeface="Arial"/>
              </a:rPr>
              <a:t>posibles en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pagos.</a:t>
            </a:r>
            <a:endParaRPr sz="17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  <a:tab pos="1071245" algn="l"/>
                <a:tab pos="1593215" algn="l"/>
                <a:tab pos="2004695" algn="l"/>
                <a:tab pos="2882900" algn="l"/>
                <a:tab pos="3181985" algn="l"/>
                <a:tab pos="3932554" algn="l"/>
                <a:tab pos="4600575" algn="l"/>
                <a:tab pos="4968875" algn="l"/>
              </a:tabLst>
            </a:pPr>
            <a:r>
              <a:rPr sz="1700" spc="-70" dirty="0">
                <a:latin typeface="Arial"/>
                <a:cs typeface="Arial"/>
              </a:rPr>
              <a:t>Al	</a:t>
            </a:r>
            <a:r>
              <a:rPr sz="1700" spc="-35" dirty="0">
                <a:latin typeface="Arial"/>
                <a:cs typeface="Arial"/>
              </a:rPr>
              <a:t>fina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65" dirty="0">
                <a:latin typeface="Arial"/>
                <a:cs typeface="Arial"/>
              </a:rPr>
              <a:t>de</a:t>
            </a:r>
            <a:r>
              <a:rPr sz="1700" spc="-25" dirty="0">
                <a:latin typeface="Arial"/>
                <a:cs typeface="Arial"/>
              </a:rPr>
              <a:t>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45" dirty="0">
                <a:latin typeface="Arial"/>
                <a:cs typeface="Arial"/>
              </a:rPr>
              <a:t>period</a:t>
            </a:r>
            <a:r>
              <a:rPr sz="1700" spc="-80" dirty="0">
                <a:latin typeface="Arial"/>
                <a:cs typeface="Arial"/>
              </a:rPr>
              <a:t>o</a:t>
            </a:r>
            <a:r>
              <a:rPr sz="1700" spc="-50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60" dirty="0">
                <a:latin typeface="Arial"/>
                <a:cs typeface="Arial"/>
              </a:rPr>
              <a:t>e</a:t>
            </a:r>
            <a:r>
              <a:rPr sz="1700" spc="-30" dirty="0">
                <a:latin typeface="Arial"/>
                <a:cs typeface="Arial"/>
              </a:rPr>
              <a:t>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60" dirty="0">
                <a:latin typeface="Arial"/>
                <a:cs typeface="Arial"/>
              </a:rPr>
              <a:t>equ</a:t>
            </a:r>
            <a:r>
              <a:rPr sz="1700" spc="-35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p</a:t>
            </a:r>
            <a:r>
              <a:rPr sz="1700" spc="-55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5" dirty="0">
                <a:latin typeface="Arial"/>
                <a:cs typeface="Arial"/>
              </a:rPr>
              <a:t>pos</a:t>
            </a:r>
            <a:r>
              <a:rPr sz="1700" spc="-95" dirty="0">
                <a:latin typeface="Arial"/>
                <a:cs typeface="Arial"/>
              </a:rPr>
              <a:t>e</a:t>
            </a:r>
            <a:r>
              <a:rPr sz="1700" spc="-105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5" dirty="0">
                <a:latin typeface="Arial"/>
                <a:cs typeface="Arial"/>
              </a:rPr>
              <a:t>un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14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alor  </a:t>
            </a:r>
            <a:r>
              <a:rPr sz="1700" spc="-65" dirty="0">
                <a:latin typeface="Arial"/>
                <a:cs typeface="Arial"/>
              </a:rPr>
              <a:t>residual.</a:t>
            </a:r>
            <a:endParaRPr sz="17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b="1" i="1" spc="-130" dirty="0">
                <a:latin typeface="Arial"/>
                <a:cs typeface="Arial"/>
              </a:rPr>
              <a:t>desventajas</a:t>
            </a:r>
            <a:r>
              <a:rPr sz="1700" b="1" i="1" spc="-24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son:</a:t>
            </a:r>
            <a:endParaRPr sz="1700">
              <a:latin typeface="Arial"/>
              <a:cs typeface="Arial"/>
            </a:endParaRPr>
          </a:p>
          <a:p>
            <a:pPr marL="755650" marR="762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55" dirty="0">
                <a:latin typeface="Arial"/>
                <a:cs typeface="Arial"/>
              </a:rPr>
              <a:t>Mayor probabilidad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5" dirty="0">
                <a:latin typeface="Arial"/>
                <a:cs typeface="Arial"/>
              </a:rPr>
              <a:t>equipo </a:t>
            </a:r>
            <a:r>
              <a:rPr sz="1700" spc="-114" dirty="0">
                <a:latin typeface="Arial"/>
                <a:cs typeface="Arial"/>
              </a:rPr>
              <a:t>caiga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65" dirty="0">
                <a:latin typeface="Arial"/>
                <a:cs typeface="Arial"/>
              </a:rPr>
              <a:t>la  </a:t>
            </a:r>
            <a:r>
              <a:rPr sz="1700" spc="-90" dirty="0">
                <a:latin typeface="Arial"/>
                <a:cs typeface="Arial"/>
              </a:rPr>
              <a:t>obsolescencia.</a:t>
            </a:r>
            <a:endParaRPr sz="1700">
              <a:latin typeface="Arial"/>
              <a:cs typeface="Arial"/>
            </a:endParaRPr>
          </a:p>
          <a:p>
            <a:pPr marL="755650" marR="63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175" dirty="0">
                <a:latin typeface="Arial"/>
                <a:cs typeface="Arial"/>
              </a:rPr>
              <a:t>Si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0" dirty="0">
                <a:latin typeface="Arial"/>
                <a:cs typeface="Arial"/>
              </a:rPr>
              <a:t>solución </a:t>
            </a:r>
            <a:r>
              <a:rPr sz="1700" spc="-55" dirty="0">
                <a:latin typeface="Arial"/>
                <a:cs typeface="Arial"/>
              </a:rPr>
              <a:t>adquirida no </a:t>
            </a:r>
            <a:r>
              <a:rPr sz="1700" spc="-145" dirty="0">
                <a:latin typeface="Arial"/>
                <a:cs typeface="Arial"/>
              </a:rPr>
              <a:t>es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correcta, </a:t>
            </a:r>
            <a:r>
              <a:rPr sz="1700" spc="-145" dirty="0">
                <a:latin typeface="Arial"/>
                <a:cs typeface="Arial"/>
              </a:rPr>
              <a:t>es  </a:t>
            </a:r>
            <a:r>
              <a:rPr sz="1700" spc="-45" dirty="0">
                <a:latin typeface="Arial"/>
                <a:cs typeface="Arial"/>
              </a:rPr>
              <a:t>el  método </a:t>
            </a:r>
            <a:r>
              <a:rPr sz="1700" spc="-130" dirty="0">
                <a:latin typeface="Arial"/>
                <a:cs typeface="Arial"/>
              </a:rPr>
              <a:t>mas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caro.</a:t>
            </a:r>
            <a:endParaRPr sz="1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755015" algn="l"/>
                <a:tab pos="755650" algn="l"/>
              </a:tabLst>
            </a:pPr>
            <a:r>
              <a:rPr sz="1700" spc="-114" dirty="0">
                <a:latin typeface="Arial"/>
                <a:cs typeface="Arial"/>
              </a:rPr>
              <a:t>Gran </a:t>
            </a:r>
            <a:r>
              <a:rPr sz="1700" spc="-65" dirty="0">
                <a:latin typeface="Arial"/>
                <a:cs typeface="Arial"/>
              </a:rPr>
              <a:t>inversión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inicial.</a:t>
            </a:r>
            <a:endParaRPr sz="17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40" dirty="0">
                <a:latin typeface="Arial"/>
                <a:cs typeface="Arial"/>
              </a:rPr>
              <a:t>Incertidumbre </a:t>
            </a:r>
            <a:r>
              <a:rPr sz="1700" spc="-110" dirty="0">
                <a:latin typeface="Arial"/>
                <a:cs typeface="Arial"/>
              </a:rPr>
              <a:t>acerca </a:t>
            </a:r>
            <a:r>
              <a:rPr sz="1700" spc="-55" dirty="0">
                <a:latin typeface="Arial"/>
                <a:cs typeface="Arial"/>
              </a:rPr>
              <a:t>del valor </a:t>
            </a:r>
            <a:r>
              <a:rPr sz="1700" spc="-30" dirty="0">
                <a:latin typeface="Arial"/>
                <a:cs typeface="Arial"/>
              </a:rPr>
              <a:t>final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reventa </a:t>
            </a:r>
            <a:r>
              <a:rPr sz="1700" spc="-55" dirty="0">
                <a:latin typeface="Arial"/>
                <a:cs typeface="Arial"/>
              </a:rPr>
              <a:t>del  </a:t>
            </a:r>
            <a:r>
              <a:rPr sz="1700" spc="-50" dirty="0">
                <a:latin typeface="Arial"/>
                <a:cs typeface="Arial"/>
              </a:rPr>
              <a:t>equipo.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</a:pPr>
            <a:r>
              <a:rPr sz="1700" b="1" spc="-160" dirty="0">
                <a:latin typeface="Trebuchet MS"/>
                <a:cs typeface="Trebuchet MS"/>
              </a:rPr>
              <a:t>3. </a:t>
            </a:r>
            <a:r>
              <a:rPr sz="17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Arrendamiento:</a:t>
            </a:r>
            <a:r>
              <a:rPr sz="1700" b="1" spc="-10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Arial"/>
                <a:cs typeface="Arial"/>
              </a:rPr>
              <a:t>un </a:t>
            </a:r>
            <a:r>
              <a:rPr sz="1700" spc="-45" dirty="0">
                <a:latin typeface="Arial"/>
                <a:cs typeface="Arial"/>
              </a:rPr>
              <a:t>tercero </a:t>
            </a:r>
            <a:r>
              <a:rPr sz="1700" spc="-75" dirty="0">
                <a:latin typeface="Arial"/>
                <a:cs typeface="Arial"/>
              </a:rPr>
              <a:t>compra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equipo,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80" dirty="0">
                <a:latin typeface="Arial"/>
                <a:cs typeface="Arial"/>
              </a:rPr>
              <a:t>cual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está 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120" dirty="0">
                <a:latin typeface="Arial"/>
                <a:cs typeface="Arial"/>
              </a:rPr>
              <a:t>su </a:t>
            </a:r>
            <a:r>
              <a:rPr sz="1700" spc="-60" dirty="0">
                <a:latin typeface="Arial"/>
                <a:cs typeface="Arial"/>
              </a:rPr>
              <a:t>nombre </a:t>
            </a:r>
            <a:r>
              <a:rPr sz="1700" spc="-95" dirty="0">
                <a:latin typeface="Arial"/>
                <a:cs typeface="Arial"/>
              </a:rPr>
              <a:t>hasta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comprador </a:t>
            </a:r>
            <a:r>
              <a:rPr sz="1700" spc="-100" dirty="0">
                <a:latin typeface="Arial"/>
                <a:cs typeface="Arial"/>
              </a:rPr>
              <a:t>salde </a:t>
            </a:r>
            <a:r>
              <a:rPr sz="1700" spc="-120" dirty="0">
                <a:latin typeface="Arial"/>
                <a:cs typeface="Arial"/>
              </a:rPr>
              <a:t>su </a:t>
            </a:r>
            <a:r>
              <a:rPr sz="1700" spc="-85" dirty="0">
                <a:latin typeface="Arial"/>
                <a:cs typeface="Arial"/>
              </a:rPr>
              <a:t>deuda con  </a:t>
            </a:r>
            <a:r>
              <a:rPr sz="1700" spc="-75" dirty="0">
                <a:latin typeface="Arial"/>
                <a:cs typeface="Arial"/>
              </a:rPr>
              <a:t>éste. </a:t>
            </a:r>
            <a:r>
              <a:rPr sz="1700" spc="-110" dirty="0">
                <a:latin typeface="Arial"/>
                <a:cs typeface="Arial"/>
              </a:rPr>
              <a:t>Por </a:t>
            </a:r>
            <a:r>
              <a:rPr sz="1700" spc="-5" dirty="0">
                <a:latin typeface="Arial"/>
                <a:cs typeface="Arial"/>
              </a:rPr>
              <a:t>otro </a:t>
            </a:r>
            <a:r>
              <a:rPr sz="1700" spc="-60" dirty="0">
                <a:latin typeface="Arial"/>
                <a:cs typeface="Arial"/>
              </a:rPr>
              <a:t>lado,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comprador </a:t>
            </a:r>
            <a:r>
              <a:rPr sz="1700" spc="-30" dirty="0">
                <a:latin typeface="Arial"/>
                <a:cs typeface="Arial"/>
              </a:rPr>
              <a:t>final </a:t>
            </a:r>
            <a:r>
              <a:rPr sz="1700" spc="-45" dirty="0">
                <a:latin typeface="Arial"/>
                <a:cs typeface="Arial"/>
              </a:rPr>
              <a:t>le </a:t>
            </a:r>
            <a:r>
              <a:rPr sz="1700" spc="-130" dirty="0">
                <a:latin typeface="Arial"/>
                <a:cs typeface="Arial"/>
              </a:rPr>
              <a:t>paga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5" dirty="0">
                <a:latin typeface="Arial"/>
                <a:cs typeface="Arial"/>
              </a:rPr>
              <a:t>servicio 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5" dirty="0">
                <a:latin typeface="Arial"/>
                <a:cs typeface="Arial"/>
              </a:rPr>
              <a:t>soporte </a:t>
            </a:r>
            <a:r>
              <a:rPr sz="1700" spc="-65" dirty="0">
                <a:latin typeface="Arial"/>
                <a:cs typeface="Arial"/>
              </a:rPr>
              <a:t>al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45" dirty="0">
                <a:latin typeface="Arial"/>
                <a:cs typeface="Arial"/>
              </a:rPr>
              <a:t>original </a:t>
            </a:r>
            <a:r>
              <a:rPr sz="1700" spc="-30" dirty="0">
                <a:latin typeface="Arial"/>
                <a:cs typeface="Arial"/>
              </a:rPr>
              <a:t>por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separado.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06084" y="1219200"/>
            <a:ext cx="2823971" cy="1398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60616" y="2834639"/>
            <a:ext cx="2276801" cy="1723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84214" y="4789170"/>
            <a:ext cx="2301240" cy="15308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423672" y="126873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8600" y="99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6258" y="500126"/>
            <a:ext cx="8597900" cy="597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  <a:p>
            <a:pPr marL="196850" marR="6475095" indent="-57150">
              <a:lnSpc>
                <a:spcPct val="100000"/>
              </a:lnSpc>
              <a:spcBef>
                <a:spcPts val="4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Actividades</a:t>
            </a:r>
            <a:r>
              <a:rPr sz="16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posteriores  </a:t>
            </a:r>
            <a:r>
              <a:rPr sz="1600" b="1" spc="-65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1600" b="1" spc="-70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firma del</a:t>
            </a:r>
            <a:r>
              <a:rPr sz="1600" b="1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contrato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800" b="1" i="1" spc="-165" dirty="0">
                <a:latin typeface="Arial"/>
                <a:cs typeface="Arial"/>
              </a:rPr>
              <a:t>Tener </a:t>
            </a:r>
            <a:r>
              <a:rPr sz="1800" b="1" i="1" spc="-140" dirty="0">
                <a:latin typeface="Arial"/>
                <a:cs typeface="Arial"/>
              </a:rPr>
              <a:t>en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spc="-125" dirty="0">
                <a:latin typeface="Arial"/>
                <a:cs typeface="Arial"/>
              </a:rPr>
              <a:t>cuenta:</a:t>
            </a:r>
            <a:endParaRPr sz="1800">
              <a:latin typeface="Arial"/>
              <a:cs typeface="Arial"/>
            </a:endParaRPr>
          </a:p>
          <a:p>
            <a:pPr marL="378460" marR="52069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78460" algn="l"/>
                <a:tab pos="379095" algn="l"/>
              </a:tabLst>
            </a:pPr>
            <a:r>
              <a:rPr sz="1700" b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Actividades </a:t>
            </a: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acondicionamiento:</a:t>
            </a:r>
            <a:r>
              <a:rPr sz="1700" b="1" spc="-100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Arial"/>
                <a:cs typeface="Arial"/>
              </a:rPr>
              <a:t>espacio </a:t>
            </a:r>
            <a:r>
              <a:rPr sz="1700" spc="-75" dirty="0">
                <a:latin typeface="Arial"/>
                <a:cs typeface="Arial"/>
              </a:rPr>
              <a:t>físico, instalaciones </a:t>
            </a:r>
            <a:r>
              <a:rPr sz="1700" spc="-65" dirty="0">
                <a:latin typeface="Arial"/>
                <a:cs typeface="Arial"/>
              </a:rPr>
              <a:t>eléctricas, </a:t>
            </a:r>
            <a:r>
              <a:rPr sz="1700" spc="-75" dirty="0">
                <a:latin typeface="Arial"/>
                <a:cs typeface="Arial"/>
              </a:rPr>
              <a:t>reguladores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40" dirty="0">
                <a:latin typeface="Arial"/>
                <a:cs typeface="Arial"/>
              </a:rPr>
              <a:t>corriente, </a:t>
            </a:r>
            <a:r>
              <a:rPr sz="1700" spc="-95" dirty="0">
                <a:latin typeface="Arial"/>
                <a:cs typeface="Arial"/>
              </a:rPr>
              <a:t>accesorios </a:t>
            </a:r>
            <a:r>
              <a:rPr sz="1700" spc="-75" dirty="0">
                <a:latin typeface="Arial"/>
                <a:cs typeface="Arial"/>
              </a:rPr>
              <a:t>adicionales,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etc.</a:t>
            </a:r>
            <a:endParaRPr sz="1700">
              <a:latin typeface="Arial"/>
              <a:cs typeface="Arial"/>
            </a:endParaRPr>
          </a:p>
          <a:p>
            <a:pPr marL="378460" indent="-342900">
              <a:lnSpc>
                <a:spcPct val="100000"/>
              </a:lnSpc>
              <a:buAutoNum type="arabicPeriod"/>
              <a:tabLst>
                <a:tab pos="378460" algn="l"/>
                <a:tab pos="379095" algn="l"/>
              </a:tabLst>
            </a:pP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Capacitación </a:t>
            </a:r>
            <a:r>
              <a:rPr sz="17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cursos:</a:t>
            </a:r>
            <a:r>
              <a:rPr sz="1700" b="1" spc="-105" dirty="0">
                <a:latin typeface="Trebuchet MS"/>
                <a:cs typeface="Trebuchet MS"/>
              </a:rPr>
              <a:t>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110" dirty="0">
                <a:latin typeface="Arial"/>
                <a:cs typeface="Arial"/>
              </a:rPr>
              <a:t>áreas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Soporte, </a:t>
            </a:r>
            <a:r>
              <a:rPr sz="1700" spc="-85" dirty="0">
                <a:latin typeface="Arial"/>
                <a:cs typeface="Arial"/>
              </a:rPr>
              <a:t>Analistas, </a:t>
            </a:r>
            <a:r>
              <a:rPr sz="1700" spc="-90" dirty="0">
                <a:latin typeface="Arial"/>
                <a:cs typeface="Arial"/>
              </a:rPr>
              <a:t>Programadores, Operadores,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etc.</a:t>
            </a:r>
            <a:endParaRPr sz="1700">
              <a:latin typeface="Arial"/>
              <a:cs typeface="Arial"/>
            </a:endParaRPr>
          </a:p>
          <a:p>
            <a:pPr marL="378460" marR="51435" indent="-342900" algn="just">
              <a:lnSpc>
                <a:spcPct val="100000"/>
              </a:lnSpc>
              <a:buAutoNum type="arabicPeriod"/>
              <a:tabLst>
                <a:tab pos="379095" algn="l"/>
              </a:tabLst>
            </a:pPr>
            <a:r>
              <a:rPr sz="17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Conversión </a:t>
            </a: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700" b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programas:</a:t>
            </a:r>
            <a:r>
              <a:rPr sz="1700" b="1" spc="-95" dirty="0">
                <a:latin typeface="Trebuchet MS"/>
                <a:cs typeface="Trebuchet MS"/>
              </a:rPr>
              <a:t>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tarea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0" dirty="0">
                <a:latin typeface="Arial"/>
                <a:cs typeface="Arial"/>
              </a:rPr>
              <a:t>cual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aplicaciones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55" dirty="0">
                <a:latin typeface="Arial"/>
                <a:cs typeface="Arial"/>
              </a:rPr>
              <a:t>corren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60" dirty="0">
                <a:latin typeface="Arial"/>
                <a:cs typeface="Arial"/>
              </a:rPr>
              <a:t>un </a:t>
            </a:r>
            <a:r>
              <a:rPr sz="1700" spc="-55" dirty="0">
                <a:latin typeface="Arial"/>
                <a:cs typeface="Arial"/>
              </a:rPr>
              <a:t>equipo  </a:t>
            </a:r>
            <a:r>
              <a:rPr sz="1700" spc="-100" dirty="0">
                <a:latin typeface="Arial"/>
                <a:cs typeface="Arial"/>
              </a:rPr>
              <a:t>son </a:t>
            </a:r>
            <a:r>
              <a:rPr sz="1700" spc="-70" dirty="0">
                <a:latin typeface="Arial"/>
                <a:cs typeface="Arial"/>
              </a:rPr>
              <a:t>convertidas </a:t>
            </a:r>
            <a:r>
              <a:rPr sz="1700" spc="-85" dirty="0">
                <a:latin typeface="Arial"/>
                <a:cs typeface="Arial"/>
              </a:rPr>
              <a:t>para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80" dirty="0">
                <a:latin typeface="Arial"/>
                <a:cs typeface="Arial"/>
              </a:rPr>
              <a:t>puedan </a:t>
            </a:r>
            <a:r>
              <a:rPr sz="1700" spc="-40" dirty="0">
                <a:latin typeface="Arial"/>
                <a:cs typeface="Arial"/>
              </a:rPr>
              <a:t>correr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15" dirty="0">
                <a:latin typeface="Arial"/>
                <a:cs typeface="Arial"/>
              </a:rPr>
              <a:t>otro. </a:t>
            </a:r>
            <a:r>
              <a:rPr sz="1700" spc="-90" dirty="0">
                <a:latin typeface="Arial"/>
                <a:cs typeface="Arial"/>
              </a:rPr>
              <a:t>Antes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40" dirty="0">
                <a:latin typeface="Arial"/>
                <a:cs typeface="Arial"/>
              </a:rPr>
              <a:t>iniciar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5" dirty="0">
                <a:latin typeface="Arial"/>
                <a:cs typeface="Arial"/>
              </a:rPr>
              <a:t>conversión, </a:t>
            </a:r>
            <a:r>
              <a:rPr sz="1700" spc="-145" dirty="0">
                <a:latin typeface="Arial"/>
                <a:cs typeface="Arial"/>
              </a:rPr>
              <a:t>es  </a:t>
            </a:r>
            <a:r>
              <a:rPr sz="1700" spc="-50" dirty="0">
                <a:latin typeface="Arial"/>
                <a:cs typeface="Arial"/>
              </a:rPr>
              <a:t>fundamental:</a:t>
            </a:r>
            <a:endParaRPr sz="1700">
              <a:latin typeface="Arial"/>
              <a:cs typeface="Arial"/>
            </a:endParaRPr>
          </a:p>
          <a:p>
            <a:pPr marL="835660" lvl="1" indent="-342900">
              <a:lnSpc>
                <a:spcPct val="100000"/>
              </a:lnSpc>
              <a:buChar char="•"/>
              <a:tabLst>
                <a:tab pos="835660" algn="l"/>
                <a:tab pos="836294" algn="l"/>
              </a:tabLst>
            </a:pPr>
            <a:r>
              <a:rPr sz="1700" spc="-110" dirty="0">
                <a:latin typeface="Arial"/>
                <a:cs typeface="Arial"/>
              </a:rPr>
              <a:t>Hacer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45" dirty="0">
                <a:latin typeface="Arial"/>
                <a:cs typeface="Arial"/>
              </a:rPr>
              <a:t>inventario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0" dirty="0">
                <a:latin typeface="Arial"/>
                <a:cs typeface="Arial"/>
              </a:rPr>
              <a:t>todos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90" dirty="0">
                <a:latin typeface="Arial"/>
                <a:cs typeface="Arial"/>
              </a:rPr>
              <a:t>programas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40" dirty="0">
                <a:latin typeface="Arial"/>
                <a:cs typeface="Arial"/>
              </a:rPr>
              <a:t>convertir </a:t>
            </a:r>
            <a:r>
              <a:rPr sz="1700" spc="-45" dirty="0">
                <a:latin typeface="Arial"/>
                <a:cs typeface="Arial"/>
              </a:rPr>
              <a:t>teniendo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70" dirty="0">
                <a:latin typeface="Arial"/>
                <a:cs typeface="Arial"/>
              </a:rPr>
              <a:t>cuenta </a:t>
            </a:r>
            <a:r>
              <a:rPr sz="1700" spc="-120" dirty="0">
                <a:latin typeface="Arial"/>
                <a:cs typeface="Arial"/>
              </a:rPr>
              <a:t>su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versión.</a:t>
            </a:r>
            <a:endParaRPr sz="1700">
              <a:latin typeface="Arial"/>
              <a:cs typeface="Arial"/>
            </a:endParaRPr>
          </a:p>
          <a:p>
            <a:pPr marL="835660" lvl="1" indent="-342900">
              <a:lnSpc>
                <a:spcPct val="100000"/>
              </a:lnSpc>
              <a:buChar char="•"/>
              <a:tabLst>
                <a:tab pos="835660" algn="l"/>
                <a:tab pos="836294" algn="l"/>
              </a:tabLst>
            </a:pPr>
            <a:r>
              <a:rPr sz="1700" spc="-105" dirty="0">
                <a:latin typeface="Arial"/>
                <a:cs typeface="Arial"/>
              </a:rPr>
              <a:t>Chequear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0" dirty="0">
                <a:latin typeface="Arial"/>
                <a:cs typeface="Arial"/>
              </a:rPr>
              <a:t>disponibilidad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documentación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todas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aplicaciones </a:t>
            </a:r>
            <a:r>
              <a:rPr sz="1700" spc="-135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convertir.</a:t>
            </a:r>
            <a:endParaRPr sz="1700">
              <a:latin typeface="Arial"/>
              <a:cs typeface="Arial"/>
            </a:endParaRPr>
          </a:p>
          <a:p>
            <a:pPr marL="835660" lvl="1" indent="-342900">
              <a:lnSpc>
                <a:spcPct val="100000"/>
              </a:lnSpc>
              <a:buChar char="•"/>
              <a:tabLst>
                <a:tab pos="835660" algn="l"/>
                <a:tab pos="836294" algn="l"/>
              </a:tabLst>
            </a:pPr>
            <a:r>
              <a:rPr sz="1700" spc="-95" dirty="0">
                <a:latin typeface="Arial"/>
                <a:cs typeface="Arial"/>
              </a:rPr>
              <a:t>Diseñar </a:t>
            </a:r>
            <a:r>
              <a:rPr sz="1700" spc="-60" dirty="0">
                <a:latin typeface="Arial"/>
                <a:cs typeface="Arial"/>
              </a:rPr>
              <a:t>procedimientos </a:t>
            </a:r>
            <a:r>
              <a:rPr sz="1700" spc="-85" dirty="0">
                <a:latin typeface="Arial"/>
                <a:cs typeface="Arial"/>
              </a:rPr>
              <a:t>para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conversión.</a:t>
            </a:r>
            <a:endParaRPr sz="1700">
              <a:latin typeface="Arial"/>
              <a:cs typeface="Arial"/>
            </a:endParaRPr>
          </a:p>
          <a:p>
            <a:pPr marL="835660" marR="52705" lvl="1" indent="-342900">
              <a:lnSpc>
                <a:spcPct val="100000"/>
              </a:lnSpc>
              <a:buChar char="•"/>
              <a:tabLst>
                <a:tab pos="835660" algn="l"/>
                <a:tab pos="836294" algn="l"/>
              </a:tabLst>
            </a:pPr>
            <a:r>
              <a:rPr sz="1700" spc="-85" dirty="0">
                <a:latin typeface="Arial"/>
                <a:cs typeface="Arial"/>
              </a:rPr>
              <a:t>Elaborar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5" dirty="0">
                <a:latin typeface="Arial"/>
                <a:cs typeface="Arial"/>
              </a:rPr>
              <a:t>plan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100" dirty="0">
                <a:latin typeface="Arial"/>
                <a:cs typeface="Arial"/>
              </a:rPr>
              <a:t>secuencia </a:t>
            </a:r>
            <a:r>
              <a:rPr sz="1700" spc="-80" dirty="0">
                <a:latin typeface="Arial"/>
                <a:cs typeface="Arial"/>
              </a:rPr>
              <a:t>de los </a:t>
            </a:r>
            <a:r>
              <a:rPr sz="1700" spc="-90" dirty="0">
                <a:latin typeface="Arial"/>
                <a:cs typeface="Arial"/>
              </a:rPr>
              <a:t>programas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55" dirty="0">
                <a:latin typeface="Arial"/>
                <a:cs typeface="Arial"/>
              </a:rPr>
              <a:t>convertir, </a:t>
            </a:r>
            <a:r>
              <a:rPr sz="1700" spc="-100" dirty="0">
                <a:latin typeface="Arial"/>
                <a:cs typeface="Arial"/>
              </a:rPr>
              <a:t>personas </a:t>
            </a:r>
            <a:r>
              <a:rPr sz="1700" spc="-110" dirty="0">
                <a:latin typeface="Arial"/>
                <a:cs typeface="Arial"/>
              </a:rPr>
              <a:t>asignadas, </a:t>
            </a:r>
            <a:r>
              <a:rPr sz="1700" spc="-85" dirty="0">
                <a:latin typeface="Arial"/>
                <a:cs typeface="Arial"/>
              </a:rPr>
              <a:t>y  </a:t>
            </a:r>
            <a:r>
              <a:rPr sz="1700" spc="-100" dirty="0">
                <a:latin typeface="Arial"/>
                <a:cs typeface="Arial"/>
              </a:rPr>
              <a:t>fechas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limite.</a:t>
            </a:r>
            <a:endParaRPr sz="1700">
              <a:latin typeface="Arial"/>
              <a:cs typeface="Arial"/>
            </a:endParaRPr>
          </a:p>
          <a:p>
            <a:pPr marL="378460" marR="52069" indent="-342900" algn="just">
              <a:lnSpc>
                <a:spcPct val="100000"/>
              </a:lnSpc>
              <a:buAutoNum type="arabicPeriod"/>
              <a:tabLst>
                <a:tab pos="379095" algn="l"/>
              </a:tabLst>
            </a:pPr>
            <a:r>
              <a:rPr sz="17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Traslado </a:t>
            </a: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700" b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información </a:t>
            </a:r>
            <a:r>
              <a:rPr sz="17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conversión </a:t>
            </a:r>
            <a:r>
              <a:rPr sz="1700" b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 </a:t>
            </a: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nuevo equipo:</a:t>
            </a:r>
            <a:r>
              <a:rPr sz="1700" b="1" spc="-10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Arial"/>
                <a:cs typeface="Arial"/>
              </a:rPr>
              <a:t>implica </a:t>
            </a:r>
            <a:r>
              <a:rPr sz="1700" spc="-70" dirty="0">
                <a:latin typeface="Arial"/>
                <a:cs typeface="Arial"/>
              </a:rPr>
              <a:t>la </a:t>
            </a:r>
            <a:r>
              <a:rPr sz="1700" spc="-55" dirty="0">
                <a:latin typeface="Arial"/>
                <a:cs typeface="Arial"/>
              </a:rPr>
              <a:t>transición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05" dirty="0">
                <a:latin typeface="Arial"/>
                <a:cs typeface="Arial"/>
              </a:rPr>
              <a:t>las  </a:t>
            </a:r>
            <a:r>
              <a:rPr sz="1700" spc="-80" dirty="0">
                <a:latin typeface="Arial"/>
                <a:cs typeface="Arial"/>
              </a:rPr>
              <a:t>aplicaciones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0" dirty="0">
                <a:latin typeface="Arial"/>
                <a:cs typeface="Arial"/>
              </a:rPr>
              <a:t>traslado </a:t>
            </a:r>
            <a:r>
              <a:rPr sz="1700" spc="-80" dirty="0">
                <a:latin typeface="Arial"/>
                <a:cs typeface="Arial"/>
              </a:rPr>
              <a:t>de archivos. </a:t>
            </a:r>
            <a:r>
              <a:rPr sz="1700" spc="-185" dirty="0">
                <a:latin typeface="Arial"/>
                <a:cs typeface="Arial"/>
              </a:rPr>
              <a:t>En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5" dirty="0">
                <a:latin typeface="Arial"/>
                <a:cs typeface="Arial"/>
              </a:rPr>
              <a:t>mayoría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125" dirty="0">
                <a:latin typeface="Arial"/>
                <a:cs typeface="Arial"/>
              </a:rPr>
              <a:t>casos,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45" dirty="0">
                <a:latin typeface="Arial"/>
                <a:cs typeface="Arial"/>
              </a:rPr>
              <a:t>opta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60" dirty="0">
                <a:latin typeface="Arial"/>
                <a:cs typeface="Arial"/>
              </a:rPr>
              <a:t>un período  paralelo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80" dirty="0">
                <a:latin typeface="Arial"/>
                <a:cs typeface="Arial"/>
              </a:rPr>
              <a:t>los </a:t>
            </a:r>
            <a:r>
              <a:rPr sz="1700" spc="-90" dirty="0">
                <a:latin typeface="Arial"/>
                <a:cs typeface="Arial"/>
              </a:rPr>
              <a:t>programas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55" dirty="0">
                <a:latin typeface="Arial"/>
                <a:cs typeface="Arial"/>
              </a:rPr>
              <a:t>corren </a:t>
            </a:r>
            <a:r>
              <a:rPr sz="1700" spc="-60" dirty="0">
                <a:latin typeface="Arial"/>
                <a:cs typeface="Arial"/>
              </a:rPr>
              <a:t>simultáneamente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100" dirty="0">
                <a:latin typeface="Arial"/>
                <a:cs typeface="Arial"/>
              </a:rPr>
              <a:t>ambos </a:t>
            </a:r>
            <a:r>
              <a:rPr sz="1700" spc="-75" dirty="0">
                <a:latin typeface="Arial"/>
                <a:cs typeface="Arial"/>
              </a:rPr>
              <a:t>equipos </a:t>
            </a:r>
            <a:r>
              <a:rPr sz="1700" spc="-80" dirty="0">
                <a:latin typeface="Arial"/>
                <a:cs typeface="Arial"/>
              </a:rPr>
              <a:t>(</a:t>
            </a:r>
            <a:r>
              <a:rPr sz="1700" i="1" spc="-80" dirty="0">
                <a:latin typeface="Trebuchet MS"/>
                <a:cs typeface="Trebuchet MS"/>
              </a:rPr>
              <a:t>co-living</a:t>
            </a:r>
            <a:r>
              <a:rPr sz="1700" spc="-80" dirty="0">
                <a:latin typeface="Arial"/>
                <a:cs typeface="Arial"/>
              </a:rPr>
              <a:t>),  </a:t>
            </a:r>
            <a:r>
              <a:rPr sz="1700" spc="-95" dirty="0">
                <a:latin typeface="Arial"/>
                <a:cs typeface="Arial"/>
              </a:rPr>
              <a:t>hasta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tener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completa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seguridad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que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conversión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programas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información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han</a:t>
            </a:r>
            <a:endParaRPr sz="17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tabLst>
                <a:tab pos="378460" algn="l"/>
                <a:tab pos="8584565" algn="l"/>
              </a:tabLst>
            </a:pPr>
            <a:r>
              <a:rPr sz="1700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700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sido</a:t>
            </a:r>
            <a:r>
              <a:rPr sz="1700" u="sng" spc="-1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correctos.	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Tercerización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(Outsourcing)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7181" y="2361060"/>
            <a:ext cx="7235185" cy="2097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Outsourcing</a:t>
            </a:r>
          </a:p>
          <a:p>
            <a:pPr marL="15240" marR="5080">
              <a:lnSpc>
                <a:spcPct val="100000"/>
              </a:lnSpc>
              <a:spcBef>
                <a:spcPts val="50"/>
              </a:spcBef>
            </a:pPr>
            <a:r>
              <a:rPr sz="2000" b="0" spc="-125" dirty="0">
                <a:latin typeface="Arial"/>
                <a:cs typeface="Arial"/>
              </a:rPr>
              <a:t>Consiste </a:t>
            </a:r>
            <a:r>
              <a:rPr sz="2000" b="0" spc="-95" dirty="0">
                <a:latin typeface="Arial"/>
                <a:cs typeface="Arial"/>
              </a:rPr>
              <a:t>en </a:t>
            </a:r>
            <a:r>
              <a:rPr sz="2000" b="0" spc="-50" dirty="0">
                <a:latin typeface="Arial"/>
                <a:cs typeface="Arial"/>
              </a:rPr>
              <a:t>contratar </a:t>
            </a:r>
            <a:r>
              <a:rPr sz="2000" b="0" spc="-95" dirty="0">
                <a:latin typeface="Arial"/>
                <a:cs typeface="Arial"/>
              </a:rPr>
              <a:t>en </a:t>
            </a:r>
            <a:r>
              <a:rPr sz="2000" b="0" spc="-50" dirty="0">
                <a:latin typeface="Arial"/>
                <a:cs typeface="Arial"/>
              </a:rPr>
              <a:t>forma </a:t>
            </a:r>
            <a:r>
              <a:rPr sz="2000" b="0" spc="-70" dirty="0">
                <a:latin typeface="Arial"/>
                <a:cs typeface="Arial"/>
              </a:rPr>
              <a:t>externa </a:t>
            </a:r>
            <a:r>
              <a:rPr sz="2000" b="0" spc="-110" dirty="0">
                <a:latin typeface="Arial"/>
                <a:cs typeface="Arial"/>
              </a:rPr>
              <a:t>(a </a:t>
            </a:r>
            <a:r>
              <a:rPr sz="2000" b="0" spc="-75" dirty="0">
                <a:latin typeface="Arial"/>
                <a:cs typeface="Arial"/>
              </a:rPr>
              <a:t>terceros </a:t>
            </a:r>
            <a:r>
              <a:rPr sz="2000" b="0" spc="-110" dirty="0">
                <a:latin typeface="Arial"/>
                <a:cs typeface="Arial"/>
              </a:rPr>
              <a:t>especializados) </a:t>
            </a:r>
            <a:r>
              <a:rPr sz="2000" b="0" spc="-105" dirty="0">
                <a:latin typeface="Arial"/>
                <a:cs typeface="Arial"/>
              </a:rPr>
              <a:t>algunos </a:t>
            </a:r>
            <a:r>
              <a:rPr sz="2000" b="0" spc="-60" dirty="0">
                <a:latin typeface="Arial"/>
                <a:cs typeface="Arial"/>
              </a:rPr>
              <a:t>o </a:t>
            </a:r>
            <a:r>
              <a:rPr sz="2000" b="0" spc="-65" dirty="0">
                <a:latin typeface="Arial"/>
                <a:cs typeface="Arial"/>
              </a:rPr>
              <a:t>todos  </a:t>
            </a:r>
            <a:r>
              <a:rPr sz="2000" b="0" spc="-90" dirty="0">
                <a:latin typeface="Arial"/>
                <a:cs typeface="Arial"/>
              </a:rPr>
              <a:t>los </a:t>
            </a:r>
            <a:r>
              <a:rPr sz="2000" b="0" spc="-95" dirty="0">
                <a:latin typeface="Arial"/>
                <a:cs typeface="Arial"/>
              </a:rPr>
              <a:t>servicios </a:t>
            </a:r>
            <a:r>
              <a:rPr sz="2000" b="0" spc="-85" dirty="0">
                <a:latin typeface="Arial"/>
                <a:cs typeface="Arial"/>
              </a:rPr>
              <a:t>que </a:t>
            </a:r>
            <a:r>
              <a:rPr sz="2000" b="0" spc="-65" dirty="0">
                <a:latin typeface="Arial"/>
                <a:cs typeface="Arial"/>
              </a:rPr>
              <a:t>proporciona un </a:t>
            </a:r>
            <a:r>
              <a:rPr sz="2000" b="0" spc="-110" dirty="0">
                <a:latin typeface="Arial"/>
                <a:cs typeface="Arial"/>
              </a:rPr>
              <a:t>área </a:t>
            </a:r>
            <a:r>
              <a:rPr sz="2000" b="0" spc="-95" dirty="0">
                <a:latin typeface="Arial"/>
                <a:cs typeface="Arial"/>
              </a:rPr>
              <a:t>de </a:t>
            </a:r>
            <a:r>
              <a:rPr sz="2000" b="0" spc="-145" dirty="0">
                <a:latin typeface="Arial"/>
                <a:cs typeface="Arial"/>
              </a:rPr>
              <a:t>Sistemas </a:t>
            </a:r>
            <a:r>
              <a:rPr sz="2000" b="0" spc="-95" dirty="0">
                <a:latin typeface="Arial"/>
                <a:cs typeface="Arial"/>
              </a:rPr>
              <a:t>de</a:t>
            </a:r>
            <a:r>
              <a:rPr sz="2000" b="0" spc="-90" dirty="0">
                <a:latin typeface="Arial"/>
                <a:cs typeface="Arial"/>
              </a:rPr>
              <a:t> </a:t>
            </a:r>
            <a:r>
              <a:rPr sz="2000" b="0" spc="-60" dirty="0">
                <a:latin typeface="Arial"/>
                <a:cs typeface="Arial"/>
              </a:rPr>
              <a:t>Información.</a:t>
            </a:r>
            <a:endParaRPr sz="2000">
              <a:latin typeface="Arial"/>
              <a:cs typeface="Arial"/>
            </a:endParaRPr>
          </a:p>
          <a:p>
            <a:pPr marL="2540"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540"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2540" marR="2165985" algn="r">
              <a:lnSpc>
                <a:spcPct val="100000"/>
              </a:lnSpc>
            </a:pPr>
            <a:r>
              <a:rPr sz="1600" spc="40" dirty="0"/>
              <a:t>¿</a:t>
            </a:r>
            <a:endParaRPr sz="16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307340" y="4681473"/>
            <a:ext cx="8528050" cy="1429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95" dirty="0">
                <a:latin typeface="Trebuchet MS"/>
                <a:cs typeface="Trebuchet MS"/>
              </a:rPr>
              <a:t>Tener </a:t>
            </a:r>
            <a:r>
              <a:rPr sz="2000" b="1" spc="-130" dirty="0">
                <a:latin typeface="Trebuchet MS"/>
                <a:cs typeface="Trebuchet MS"/>
              </a:rPr>
              <a:t>en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spc="-140" dirty="0">
                <a:latin typeface="Trebuchet MS"/>
                <a:cs typeface="Trebuchet MS"/>
              </a:rPr>
              <a:t>cuenta: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Char char="•"/>
              <a:tabLst>
                <a:tab pos="297815" algn="l"/>
                <a:tab pos="298450" algn="l"/>
              </a:tabLst>
            </a:pPr>
            <a:r>
              <a:rPr sz="1800" spc="-114" dirty="0">
                <a:latin typeface="Arial"/>
                <a:cs typeface="Arial"/>
              </a:rPr>
              <a:t>Una </a:t>
            </a:r>
            <a:r>
              <a:rPr sz="1800" spc="-95" dirty="0">
                <a:latin typeface="Arial"/>
                <a:cs typeface="Arial"/>
              </a:rPr>
              <a:t>empresa </a:t>
            </a:r>
            <a:r>
              <a:rPr sz="1800" spc="-85" dirty="0">
                <a:latin typeface="Arial"/>
                <a:cs typeface="Arial"/>
              </a:rPr>
              <a:t>debe </a:t>
            </a:r>
            <a:r>
              <a:rPr sz="1800" spc="-65" dirty="0">
                <a:latin typeface="Arial"/>
                <a:cs typeface="Arial"/>
              </a:rPr>
              <a:t>concentrar </a:t>
            </a:r>
            <a:r>
              <a:rPr sz="1800" spc="-155" dirty="0">
                <a:latin typeface="Arial"/>
                <a:cs typeface="Arial"/>
              </a:rPr>
              <a:t>sus </a:t>
            </a:r>
            <a:r>
              <a:rPr sz="1800" spc="-105" dirty="0">
                <a:latin typeface="Arial"/>
                <a:cs typeface="Arial"/>
              </a:rPr>
              <a:t>esfuerzos </a:t>
            </a:r>
            <a:r>
              <a:rPr sz="1800" spc="-85" dirty="0">
                <a:latin typeface="Arial"/>
                <a:cs typeface="Arial"/>
              </a:rPr>
              <a:t>en aquellas </a:t>
            </a:r>
            <a:r>
              <a:rPr sz="1800" spc="-75" dirty="0">
                <a:latin typeface="Arial"/>
                <a:cs typeface="Arial"/>
              </a:rPr>
              <a:t>actividades que </a:t>
            </a:r>
            <a:r>
              <a:rPr sz="1800" spc="-130" dirty="0">
                <a:latin typeface="Arial"/>
                <a:cs typeface="Arial"/>
              </a:rPr>
              <a:t>sabe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hacer,</a:t>
            </a:r>
            <a:endParaRPr sz="18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800" spc="-114" dirty="0">
                <a:latin typeface="Arial"/>
                <a:cs typeface="Arial"/>
              </a:rPr>
              <a:t>Una </a:t>
            </a:r>
            <a:r>
              <a:rPr sz="1800" spc="-95" dirty="0">
                <a:latin typeface="Arial"/>
                <a:cs typeface="Arial"/>
              </a:rPr>
              <a:t>empresa </a:t>
            </a:r>
            <a:r>
              <a:rPr sz="1800" spc="-80" dirty="0">
                <a:latin typeface="Arial"/>
                <a:cs typeface="Arial"/>
              </a:rPr>
              <a:t>debe </a:t>
            </a:r>
            <a:r>
              <a:rPr sz="1800" spc="-35" dirty="0">
                <a:latin typeface="Arial"/>
                <a:cs typeface="Arial"/>
              </a:rPr>
              <a:t>utilizar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85" dirty="0">
                <a:latin typeface="Arial"/>
                <a:cs typeface="Arial"/>
              </a:rPr>
              <a:t>ventajas 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economías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25" dirty="0">
                <a:latin typeface="Arial"/>
                <a:cs typeface="Arial"/>
              </a:rPr>
              <a:t>escala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economías </a:t>
            </a:r>
            <a:r>
              <a:rPr sz="1800" spc="-80" dirty="0">
                <a:latin typeface="Arial"/>
                <a:cs typeface="Arial"/>
              </a:rPr>
              <a:t>de  </a:t>
            </a:r>
            <a:r>
              <a:rPr sz="1800" spc="-75" dirty="0">
                <a:latin typeface="Arial"/>
                <a:cs typeface="Arial"/>
              </a:rPr>
              <a:t>experiencia </a:t>
            </a:r>
            <a:r>
              <a:rPr sz="1800" spc="-70" dirty="0">
                <a:latin typeface="Arial"/>
                <a:cs typeface="Arial"/>
              </a:rPr>
              <a:t>que </a:t>
            </a:r>
            <a:r>
              <a:rPr sz="1800" spc="-35" dirty="0">
                <a:latin typeface="Arial"/>
                <a:cs typeface="Arial"/>
              </a:rPr>
              <a:t>tienen </a:t>
            </a:r>
            <a:r>
              <a:rPr sz="1800" spc="-110" dirty="0">
                <a:latin typeface="Arial"/>
                <a:cs typeface="Arial"/>
              </a:rPr>
              <a:t>las empresas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80" dirty="0">
                <a:latin typeface="Arial"/>
                <a:cs typeface="Arial"/>
              </a:rPr>
              <a:t>dedican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50" dirty="0">
                <a:latin typeface="Arial"/>
                <a:cs typeface="Arial"/>
              </a:rPr>
              <a:t>proporcionar </a:t>
            </a:r>
            <a:r>
              <a:rPr sz="1800" spc="-90" dirty="0">
                <a:latin typeface="Arial"/>
                <a:cs typeface="Arial"/>
              </a:rPr>
              <a:t>este </a:t>
            </a:r>
            <a:r>
              <a:rPr sz="1800" dirty="0">
                <a:latin typeface="Arial"/>
                <a:cs typeface="Arial"/>
              </a:rPr>
              <a:t>tipo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80" dirty="0">
                <a:latin typeface="Arial"/>
                <a:cs typeface="Arial"/>
              </a:rPr>
              <a:t>servicios.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Tercerización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(Outsourcing)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625" y="1084071"/>
            <a:ext cx="8526145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105" dirty="0">
                <a:latin typeface="Arial"/>
                <a:cs typeface="Arial"/>
              </a:rPr>
              <a:t>área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40" dirty="0">
                <a:latin typeface="Arial"/>
                <a:cs typeface="Arial"/>
              </a:rPr>
              <a:t>Sistemas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40" dirty="0">
                <a:latin typeface="Arial"/>
                <a:cs typeface="Arial"/>
              </a:rPr>
              <a:t>Tecnologías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Información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75" dirty="0">
                <a:latin typeface="Arial"/>
                <a:cs typeface="Arial"/>
              </a:rPr>
              <a:t>aquella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80" dirty="0">
                <a:latin typeface="Arial"/>
                <a:cs typeface="Arial"/>
              </a:rPr>
              <a:t>donde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110" dirty="0">
                <a:latin typeface="Arial"/>
                <a:cs typeface="Arial"/>
              </a:rPr>
              <a:t>ha  </a:t>
            </a:r>
            <a:r>
              <a:rPr sz="2000" spc="-60" dirty="0">
                <a:latin typeface="Arial"/>
                <a:cs typeface="Arial"/>
              </a:rPr>
              <a:t>implementado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i="1" spc="-80" dirty="0">
                <a:latin typeface="Trebuchet MS"/>
                <a:cs typeface="Trebuchet MS"/>
              </a:rPr>
              <a:t>Outsourcing</a:t>
            </a:r>
            <a:r>
              <a:rPr sz="2000" spc="-80" dirty="0">
                <a:latin typeface="Arial"/>
                <a:cs typeface="Arial"/>
              </a:rPr>
              <a:t>; </a:t>
            </a:r>
            <a:r>
              <a:rPr sz="2000" spc="-65" dirty="0">
                <a:latin typeface="Arial"/>
                <a:cs typeface="Arial"/>
              </a:rPr>
              <a:t>uno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beneficios </a:t>
            </a:r>
            <a:r>
              <a:rPr sz="2000" spc="-70" dirty="0">
                <a:latin typeface="Arial"/>
                <a:cs typeface="Arial"/>
              </a:rPr>
              <a:t>críticos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145" dirty="0">
                <a:latin typeface="Arial"/>
                <a:cs typeface="Arial"/>
              </a:rPr>
              <a:t>acceso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80" dirty="0">
                <a:latin typeface="Arial"/>
                <a:cs typeface="Arial"/>
              </a:rPr>
              <a:t>la  tecnología </a:t>
            </a:r>
            <a:r>
              <a:rPr sz="2000" spc="-90" dirty="0">
                <a:latin typeface="Arial"/>
                <a:cs typeface="Arial"/>
              </a:rPr>
              <a:t>actualizada. </a:t>
            </a:r>
            <a:r>
              <a:rPr sz="2000" spc="-85" dirty="0">
                <a:latin typeface="Arial"/>
                <a:cs typeface="Arial"/>
              </a:rPr>
              <a:t>Otros </a:t>
            </a:r>
            <a:r>
              <a:rPr sz="2000" spc="-170" dirty="0">
                <a:latin typeface="Arial"/>
                <a:cs typeface="Arial"/>
              </a:rPr>
              <a:t>casos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implementación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Outsourcing </a:t>
            </a:r>
            <a:r>
              <a:rPr sz="2000" spc="-175" dirty="0">
                <a:latin typeface="Arial"/>
                <a:cs typeface="Arial"/>
              </a:rPr>
              <a:t>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000" b="1" spc="-60" dirty="0">
                <a:latin typeface="Trebuchet MS"/>
                <a:cs typeface="Trebuchet MS"/>
              </a:rPr>
              <a:t>A </a:t>
            </a:r>
            <a:r>
              <a:rPr sz="2000" b="1" spc="-120" dirty="0">
                <a:latin typeface="Trebuchet MS"/>
                <a:cs typeface="Trebuchet MS"/>
              </a:rPr>
              <a:t>nivel</a:t>
            </a:r>
            <a:r>
              <a:rPr sz="2000" b="1" spc="-250" dirty="0">
                <a:latin typeface="Trebuchet MS"/>
                <a:cs typeface="Trebuchet MS"/>
              </a:rPr>
              <a:t> </a:t>
            </a:r>
            <a:r>
              <a:rPr sz="2000" b="1" spc="-114" dirty="0">
                <a:latin typeface="Trebuchet MS"/>
                <a:cs typeface="Trebuchet MS"/>
              </a:rPr>
              <a:t>estratégico</a:t>
            </a:r>
            <a:r>
              <a:rPr sz="2000" spc="-114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110" dirty="0">
                <a:latin typeface="Arial"/>
                <a:cs typeface="Arial"/>
              </a:rPr>
              <a:t>Proyectos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integración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Tecnología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Font typeface="Arial"/>
              <a:buChar char="•"/>
              <a:tabLst>
                <a:tab pos="926465" algn="l"/>
                <a:tab pos="927100" algn="l"/>
              </a:tabLst>
            </a:pPr>
            <a:r>
              <a:rPr sz="2000" i="1" spc="-75" dirty="0">
                <a:latin typeface="Trebuchet MS"/>
                <a:cs typeface="Trebuchet MS"/>
              </a:rPr>
              <a:t>Business </a:t>
            </a:r>
            <a:r>
              <a:rPr sz="2000" i="1" spc="-114" dirty="0">
                <a:latin typeface="Trebuchet MS"/>
                <a:cs typeface="Trebuchet MS"/>
              </a:rPr>
              <a:t>Intelligence </a:t>
            </a:r>
            <a:r>
              <a:rPr sz="2000" spc="-90" dirty="0">
                <a:latin typeface="Arial"/>
                <a:cs typeface="Arial"/>
              </a:rPr>
              <a:t>(diseño, </a:t>
            </a:r>
            <a:r>
              <a:rPr sz="2000" spc="-100" dirty="0">
                <a:latin typeface="Arial"/>
                <a:cs typeface="Arial"/>
              </a:rPr>
              <a:t>análisis y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programación)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85" dirty="0">
                <a:latin typeface="Arial"/>
                <a:cs typeface="Arial"/>
              </a:rPr>
              <a:t>Migraciones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sistemas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000" b="1" spc="-55" dirty="0">
                <a:latin typeface="Trebuchet MS"/>
                <a:cs typeface="Trebuchet MS"/>
              </a:rPr>
              <a:t>A </a:t>
            </a:r>
            <a:r>
              <a:rPr sz="2000" b="1" spc="-120" dirty="0">
                <a:latin typeface="Trebuchet MS"/>
                <a:cs typeface="Trebuchet MS"/>
              </a:rPr>
              <a:t>nivel</a:t>
            </a:r>
            <a:r>
              <a:rPr sz="2000" b="1" spc="-26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operativo</a:t>
            </a:r>
            <a:r>
              <a:rPr sz="2000" spc="-1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926465" algn="l"/>
                <a:tab pos="927100" algn="l"/>
              </a:tabLst>
            </a:pPr>
            <a:r>
              <a:rPr sz="2000" i="1" spc="-65" dirty="0">
                <a:latin typeface="Trebuchet MS"/>
                <a:cs typeface="Trebuchet MS"/>
              </a:rPr>
              <a:t>Data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125" dirty="0">
                <a:latin typeface="Trebuchet MS"/>
                <a:cs typeface="Trebuchet MS"/>
              </a:rPr>
              <a:t>entry</a:t>
            </a:r>
            <a:endParaRPr sz="2000">
              <a:latin typeface="Trebuchet MS"/>
              <a:cs typeface="Trebuchet MS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80" dirty="0">
                <a:latin typeface="Arial"/>
                <a:cs typeface="Arial"/>
              </a:rPr>
              <a:t>Digitalización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datos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65" dirty="0">
                <a:latin typeface="Arial"/>
                <a:cs typeface="Arial"/>
              </a:rPr>
              <a:t>Administración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redes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114" dirty="0">
                <a:latin typeface="Arial"/>
                <a:cs typeface="Arial"/>
              </a:rPr>
              <a:t>Mesa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Ayuda </a:t>
            </a:r>
            <a:r>
              <a:rPr sz="2000" spc="215" dirty="0">
                <a:latin typeface="Arial"/>
                <a:cs typeface="Arial"/>
              </a:rPr>
              <a:t>/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Soporte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29300" y="4724400"/>
            <a:ext cx="3009900" cy="1514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Tercerización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(Outsourcing)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9625" y="1084071"/>
            <a:ext cx="8526780" cy="5056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spc="-120" dirty="0">
                <a:latin typeface="Trebuchet MS"/>
                <a:cs typeface="Trebuchet MS"/>
              </a:rPr>
              <a:t>Ventajas</a:t>
            </a:r>
            <a:r>
              <a:rPr sz="2000" spc="-12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15"/>
              </a:spcBef>
              <a:buChar char="•"/>
              <a:tabLst>
                <a:tab pos="926465" algn="l"/>
                <a:tab pos="927100" algn="l"/>
              </a:tabLst>
            </a:pPr>
            <a:r>
              <a:rPr sz="1800" spc="-140" dirty="0">
                <a:latin typeface="Arial"/>
                <a:cs typeface="Arial"/>
              </a:rPr>
              <a:t>Reduce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35" dirty="0">
                <a:latin typeface="Arial"/>
                <a:cs typeface="Arial"/>
              </a:rPr>
              <a:t>permite </a:t>
            </a:r>
            <a:r>
              <a:rPr sz="1800" spc="-40" dirty="0">
                <a:latin typeface="Arial"/>
                <a:cs typeface="Arial"/>
              </a:rPr>
              <a:t>controlar </a:t>
            </a:r>
            <a:r>
              <a:rPr sz="1800" spc="-105" dirty="0">
                <a:latin typeface="Arial"/>
                <a:cs typeface="Arial"/>
              </a:rPr>
              <a:t>costos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operativos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70" dirty="0">
                <a:latin typeface="Arial"/>
                <a:cs typeface="Arial"/>
              </a:rPr>
              <a:t>Permite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organización </a:t>
            </a:r>
            <a:r>
              <a:rPr sz="1800" spc="-80" dirty="0">
                <a:latin typeface="Arial"/>
                <a:cs typeface="Arial"/>
              </a:rPr>
              <a:t>reaccione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30" dirty="0">
                <a:latin typeface="Arial"/>
                <a:cs typeface="Arial"/>
              </a:rPr>
              <a:t>tiempo </a:t>
            </a:r>
            <a:r>
              <a:rPr sz="1800" spc="-60" dirty="0">
                <a:latin typeface="Arial"/>
                <a:cs typeface="Arial"/>
              </a:rPr>
              <a:t>ante </a:t>
            </a:r>
            <a:r>
              <a:rPr sz="1800" spc="-95" dirty="0">
                <a:latin typeface="Arial"/>
                <a:cs typeface="Arial"/>
              </a:rPr>
              <a:t>cambios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-14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entorno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70" dirty="0">
                <a:latin typeface="Arial"/>
                <a:cs typeface="Arial"/>
              </a:rPr>
              <a:t>Permite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130" dirty="0">
                <a:latin typeface="Arial"/>
                <a:cs typeface="Arial"/>
              </a:rPr>
              <a:t>acceso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70" dirty="0">
                <a:latin typeface="Arial"/>
                <a:cs typeface="Arial"/>
              </a:rPr>
              <a:t>habilidades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nivel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internacional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75" dirty="0">
                <a:latin typeface="Arial"/>
                <a:cs typeface="Arial"/>
              </a:rPr>
              <a:t>Brinda </a:t>
            </a:r>
            <a:r>
              <a:rPr sz="1800" spc="-60" dirty="0">
                <a:latin typeface="Arial"/>
                <a:cs typeface="Arial"/>
              </a:rPr>
              <a:t>estabilidad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5" dirty="0">
                <a:latin typeface="Arial"/>
                <a:cs typeface="Arial"/>
              </a:rPr>
              <a:t>la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gestión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95" dirty="0">
                <a:latin typeface="Arial"/>
                <a:cs typeface="Arial"/>
              </a:rPr>
              <a:t>Libera recursos </a:t>
            </a:r>
            <a:r>
              <a:rPr sz="1800" spc="-45" dirty="0">
                <a:latin typeface="Arial"/>
                <a:cs typeface="Arial"/>
              </a:rPr>
              <a:t>internos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45" dirty="0">
                <a:latin typeface="Arial"/>
                <a:cs typeface="Arial"/>
              </a:rPr>
              <a:t>otros</a:t>
            </a:r>
            <a:r>
              <a:rPr sz="1800" spc="-13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propósitos</a:t>
            </a:r>
            <a:endParaRPr sz="1800">
              <a:latin typeface="Arial"/>
              <a:cs typeface="Arial"/>
            </a:endParaRPr>
          </a:p>
          <a:p>
            <a:pPr marL="927100" marR="508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85" dirty="0">
                <a:latin typeface="Arial"/>
                <a:cs typeface="Arial"/>
              </a:rPr>
              <a:t>Comparte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reduce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85" dirty="0">
                <a:latin typeface="Arial"/>
                <a:cs typeface="Arial"/>
              </a:rPr>
              <a:t>riesgo, </a:t>
            </a:r>
            <a:r>
              <a:rPr sz="1800" spc="-130" dirty="0">
                <a:latin typeface="Arial"/>
                <a:cs typeface="Arial"/>
              </a:rPr>
              <a:t>ya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70" dirty="0">
                <a:latin typeface="Arial"/>
                <a:cs typeface="Arial"/>
              </a:rPr>
              <a:t>deposita </a:t>
            </a:r>
            <a:r>
              <a:rPr sz="1800" spc="-65" dirty="0">
                <a:latin typeface="Arial"/>
                <a:cs typeface="Arial"/>
              </a:rPr>
              <a:t>la tarea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ejecución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0" dirty="0">
                <a:latin typeface="Arial"/>
                <a:cs typeface="Arial"/>
              </a:rPr>
              <a:t>un  </a:t>
            </a:r>
            <a:r>
              <a:rPr sz="1800" spc="-80" dirty="0">
                <a:latin typeface="Arial"/>
                <a:cs typeface="Arial"/>
              </a:rPr>
              <a:t>especialista.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75" dirty="0">
                <a:latin typeface="Arial"/>
                <a:cs typeface="Arial"/>
              </a:rPr>
              <a:t>Proporciona </a:t>
            </a:r>
            <a:r>
              <a:rPr sz="1800" spc="-85" dirty="0">
                <a:latin typeface="Arial"/>
                <a:cs typeface="Arial"/>
              </a:rPr>
              <a:t>garantía de </a:t>
            </a:r>
            <a:r>
              <a:rPr sz="1800" spc="-70" dirty="0">
                <a:latin typeface="Arial"/>
                <a:cs typeface="Arial"/>
              </a:rPr>
              <a:t>servicio </a:t>
            </a:r>
            <a:r>
              <a:rPr sz="1800" spc="-60" dirty="0">
                <a:latin typeface="Arial"/>
                <a:cs typeface="Arial"/>
              </a:rPr>
              <a:t>mediante </a:t>
            </a:r>
            <a:r>
              <a:rPr sz="1800" spc="-250" dirty="0">
                <a:latin typeface="Arial"/>
                <a:cs typeface="Arial"/>
              </a:rPr>
              <a:t>SLAs </a:t>
            </a:r>
            <a:r>
              <a:rPr sz="1800" spc="-95" dirty="0">
                <a:latin typeface="Arial"/>
                <a:cs typeface="Arial"/>
              </a:rPr>
              <a:t>(</a:t>
            </a:r>
            <a:r>
              <a:rPr sz="1800" i="1" spc="-95" dirty="0">
                <a:latin typeface="Trebuchet MS"/>
                <a:cs typeface="Trebuchet MS"/>
              </a:rPr>
              <a:t>Service </a:t>
            </a:r>
            <a:r>
              <a:rPr sz="1800" i="1" spc="-130" dirty="0">
                <a:latin typeface="Trebuchet MS"/>
                <a:cs typeface="Trebuchet MS"/>
              </a:rPr>
              <a:t>Level</a:t>
            </a:r>
            <a:r>
              <a:rPr sz="1800" i="1" spc="-295" dirty="0">
                <a:latin typeface="Trebuchet MS"/>
                <a:cs typeface="Trebuchet MS"/>
              </a:rPr>
              <a:t> </a:t>
            </a:r>
            <a:r>
              <a:rPr sz="1800" i="1" spc="-90" dirty="0">
                <a:latin typeface="Trebuchet MS"/>
                <a:cs typeface="Trebuchet MS"/>
              </a:rPr>
              <a:t>Agreement</a:t>
            </a:r>
            <a:r>
              <a:rPr sz="1800" spc="-9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b="1" spc="-110" dirty="0">
                <a:latin typeface="Trebuchet MS"/>
                <a:cs typeface="Trebuchet MS"/>
              </a:rPr>
              <a:t>Desventajas</a:t>
            </a:r>
            <a:r>
              <a:rPr sz="2000" spc="-11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15"/>
              </a:spcBef>
              <a:buChar char="•"/>
              <a:tabLst>
                <a:tab pos="926465" algn="l"/>
                <a:tab pos="927100" algn="l"/>
              </a:tabLst>
            </a:pPr>
            <a:r>
              <a:rPr sz="1800" spc="-95" dirty="0">
                <a:latin typeface="Arial"/>
                <a:cs typeface="Arial"/>
              </a:rPr>
              <a:t>Pérdida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sentido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pertenencia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55" dirty="0">
                <a:latin typeface="Arial"/>
                <a:cs typeface="Arial"/>
              </a:rPr>
              <a:t>Alta </a:t>
            </a:r>
            <a:r>
              <a:rPr sz="1800" spc="-45" dirty="0">
                <a:latin typeface="Arial"/>
                <a:cs typeface="Arial"/>
              </a:rPr>
              <a:t>rotación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6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empleados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185" dirty="0">
                <a:latin typeface="Arial"/>
                <a:cs typeface="Arial"/>
              </a:rPr>
              <a:t>Si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5" dirty="0">
                <a:latin typeface="Arial"/>
                <a:cs typeface="Arial"/>
              </a:rPr>
              <a:t>gestión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60" dirty="0">
                <a:latin typeface="Arial"/>
                <a:cs typeface="Arial"/>
              </a:rPr>
              <a:t>proveedor </a:t>
            </a:r>
            <a:r>
              <a:rPr sz="1800" spc="-55" dirty="0">
                <a:latin typeface="Arial"/>
                <a:cs typeface="Arial"/>
              </a:rPr>
              <a:t>no </a:t>
            </a:r>
            <a:r>
              <a:rPr sz="1800" spc="-60" dirty="0">
                <a:latin typeface="Arial"/>
                <a:cs typeface="Arial"/>
              </a:rPr>
              <a:t>resulta </a:t>
            </a:r>
            <a:r>
              <a:rPr sz="1800" spc="-65" dirty="0">
                <a:latin typeface="Arial"/>
                <a:cs typeface="Arial"/>
              </a:rPr>
              <a:t>satisfactoria,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100" dirty="0">
                <a:latin typeface="Arial"/>
                <a:cs typeface="Arial"/>
              </a:rPr>
              <a:t>genera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85" dirty="0">
                <a:latin typeface="Arial"/>
                <a:cs typeface="Arial"/>
              </a:rPr>
              <a:t>costo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mayor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95" dirty="0">
                <a:latin typeface="Arial"/>
                <a:cs typeface="Arial"/>
              </a:rPr>
              <a:t>No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75" dirty="0">
                <a:latin typeface="Arial"/>
                <a:cs typeface="Arial"/>
              </a:rPr>
              <a:t>ejerce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35" dirty="0">
                <a:latin typeface="Arial"/>
                <a:cs typeface="Arial"/>
              </a:rPr>
              <a:t>control </a:t>
            </a:r>
            <a:r>
              <a:rPr sz="1800" spc="-40" dirty="0">
                <a:latin typeface="Arial"/>
                <a:cs typeface="Arial"/>
              </a:rPr>
              <a:t>directo </a:t>
            </a:r>
            <a:r>
              <a:rPr sz="1800" spc="-85" dirty="0">
                <a:latin typeface="Arial"/>
                <a:cs typeface="Arial"/>
              </a:rPr>
              <a:t>sobre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área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80" dirty="0">
                <a:latin typeface="Arial"/>
                <a:cs typeface="Arial"/>
              </a:rPr>
              <a:t>Potencial </a:t>
            </a:r>
            <a:r>
              <a:rPr sz="1800" spc="-105" dirty="0">
                <a:latin typeface="Arial"/>
                <a:cs typeface="Arial"/>
              </a:rPr>
              <a:t>uso </a:t>
            </a:r>
            <a:r>
              <a:rPr sz="1800" spc="-45" dirty="0">
                <a:latin typeface="Arial"/>
                <a:cs typeface="Arial"/>
              </a:rPr>
              <a:t>indebido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información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80" dirty="0">
                <a:latin typeface="Arial"/>
                <a:cs typeface="Arial"/>
              </a:rPr>
              <a:t>Posibilidad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perder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control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55" dirty="0">
                <a:latin typeface="Arial"/>
                <a:cs typeface="Arial"/>
              </a:rPr>
              <a:t>Alta </a:t>
            </a:r>
            <a:r>
              <a:rPr sz="1800" spc="-85" dirty="0">
                <a:latin typeface="Arial"/>
                <a:cs typeface="Arial"/>
              </a:rPr>
              <a:t>dependencia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60" dirty="0">
                <a:latin typeface="Arial"/>
                <a:cs typeface="Arial"/>
              </a:rPr>
              <a:t>proveedor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servicio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25" dirty="0">
                <a:solidFill>
                  <a:srgbClr val="00338D"/>
                </a:solidFill>
                <a:latin typeface="Trebuchet MS"/>
                <a:cs typeface="Trebuchet MS"/>
              </a:rPr>
              <a:t>Síntesis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9271" y="1247647"/>
            <a:ext cx="5041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00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6485382"/>
            <a:ext cx="51320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40" dirty="0">
                <a:solidFill>
                  <a:srgbClr val="00338D"/>
                </a:solidFill>
                <a:latin typeface="Trebuchet MS"/>
                <a:cs typeface="Trebuchet MS"/>
              </a:rPr>
              <a:t>Mag.</a:t>
            </a:r>
            <a:r>
              <a:rPr sz="1000" spc="-3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-5" dirty="0">
                <a:solidFill>
                  <a:srgbClr val="00338D"/>
                </a:solidFill>
                <a:latin typeface="Trebuchet MS"/>
                <a:cs typeface="Trebuchet MS"/>
              </a:rPr>
              <a:t>Alan</a:t>
            </a:r>
            <a:r>
              <a:rPr sz="1000" spc="-3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00338D"/>
                </a:solidFill>
                <a:latin typeface="Trebuchet MS"/>
                <a:cs typeface="Trebuchet MS"/>
              </a:rPr>
              <a:t>M.</a:t>
            </a:r>
            <a:r>
              <a:rPr sz="1000" spc="-1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00338D"/>
                </a:solidFill>
                <a:latin typeface="Trebuchet MS"/>
                <a:cs typeface="Trebuchet MS"/>
              </a:rPr>
              <a:t>Lerner</a:t>
            </a:r>
            <a:r>
              <a:rPr sz="1000" spc="-4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-30" dirty="0">
                <a:solidFill>
                  <a:srgbClr val="00338D"/>
                </a:solidFill>
                <a:latin typeface="Trebuchet MS"/>
                <a:cs typeface="Trebuchet MS"/>
              </a:rPr>
              <a:t>(alerner@uade.edu.ar)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6169" y="6512559"/>
            <a:ext cx="152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338D"/>
                </a:solidFill>
                <a:latin typeface="Arial"/>
                <a:cs typeface="Arial"/>
              </a:rPr>
              <a:t>51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342" y="193801"/>
            <a:ext cx="8641080" cy="4935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50" dirty="0">
                <a:latin typeface="Arial"/>
                <a:cs typeface="Arial"/>
              </a:rPr>
              <a:t>Explicamos </a:t>
            </a:r>
            <a:r>
              <a:rPr sz="2400" spc="-65" dirty="0">
                <a:latin typeface="Arial"/>
                <a:cs typeface="Arial"/>
              </a:rPr>
              <a:t>el</a:t>
            </a:r>
            <a:r>
              <a:rPr sz="2400" spc="53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ciclo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vida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285" dirty="0">
                <a:latin typeface="Arial"/>
                <a:cs typeface="Arial"/>
              </a:rPr>
              <a:t>SI </a:t>
            </a:r>
            <a:r>
              <a:rPr sz="2400" spc="-114" dirty="0">
                <a:latin typeface="Arial"/>
                <a:cs typeface="Arial"/>
              </a:rPr>
              <a:t>y  </a:t>
            </a:r>
            <a:r>
              <a:rPr sz="2400" spc="-204" dirty="0">
                <a:latin typeface="Arial"/>
                <a:cs typeface="Arial"/>
              </a:rPr>
              <a:t>sus </a:t>
            </a:r>
            <a:r>
              <a:rPr sz="2400" spc="-95" dirty="0">
                <a:latin typeface="Arial"/>
                <a:cs typeface="Arial"/>
              </a:rPr>
              <a:t>componentes  </a:t>
            </a:r>
            <a:r>
              <a:rPr sz="2400" spc="-85" dirty="0">
                <a:latin typeface="Arial"/>
                <a:cs typeface="Arial"/>
              </a:rPr>
              <a:t>fundamentales.</a:t>
            </a:r>
            <a:endParaRPr sz="2400">
              <a:latin typeface="Arial"/>
              <a:cs typeface="Arial"/>
            </a:endParaRPr>
          </a:p>
          <a:p>
            <a:pPr marL="279400" marR="635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30" dirty="0">
                <a:latin typeface="Arial"/>
                <a:cs typeface="Arial"/>
              </a:rPr>
              <a:t>Analizamos </a:t>
            </a:r>
            <a:r>
              <a:rPr sz="2400" spc="-95" dirty="0">
                <a:latin typeface="Arial"/>
                <a:cs typeface="Arial"/>
              </a:rPr>
              <a:t>metodologías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adquisición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75" dirty="0">
                <a:latin typeface="Arial"/>
                <a:cs typeface="Arial"/>
              </a:rPr>
              <a:t>desarrollo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0" dirty="0">
                <a:latin typeface="Arial"/>
                <a:cs typeface="Arial"/>
              </a:rPr>
              <a:t>soluciones 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tecnología.</a:t>
            </a:r>
            <a:endParaRPr sz="240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90" dirty="0">
                <a:latin typeface="Arial"/>
                <a:cs typeface="Arial"/>
              </a:rPr>
              <a:t>la</a:t>
            </a:r>
            <a:r>
              <a:rPr sz="2400" spc="48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metodología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análisis  </a:t>
            </a:r>
            <a:r>
              <a:rPr sz="2400" spc="-65" dirty="0">
                <a:latin typeface="Arial"/>
                <a:cs typeface="Arial"/>
              </a:rPr>
              <a:t>estructurado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15" dirty="0">
                <a:latin typeface="Arial"/>
                <a:cs typeface="Arial"/>
              </a:rPr>
              <a:t>SI.  </a:t>
            </a:r>
            <a:r>
              <a:rPr sz="2400" spc="-95" dirty="0">
                <a:latin typeface="Arial"/>
                <a:cs typeface="Arial"/>
              </a:rPr>
              <a:t>Definimos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95" dirty="0">
                <a:latin typeface="Arial"/>
                <a:cs typeface="Arial"/>
              </a:rPr>
              <a:t>componentes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0" dirty="0">
                <a:latin typeface="Arial"/>
                <a:cs typeface="Arial"/>
              </a:rPr>
              <a:t>variables </a:t>
            </a:r>
            <a:r>
              <a:rPr sz="2400" spc="-150" dirty="0">
                <a:latin typeface="Arial"/>
                <a:cs typeface="Arial"/>
              </a:rPr>
              <a:t>claves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esta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metodología</a:t>
            </a:r>
            <a:endParaRPr sz="240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95" dirty="0">
                <a:latin typeface="Arial"/>
                <a:cs typeface="Arial"/>
              </a:rPr>
              <a:t>Aprendimos </a:t>
            </a:r>
            <a:r>
              <a:rPr sz="2400" spc="-100" dirty="0">
                <a:latin typeface="Arial"/>
                <a:cs typeface="Arial"/>
              </a:rPr>
              <a:t>qué </a:t>
            </a:r>
            <a:r>
              <a:rPr sz="2400" spc="-55" dirty="0">
                <a:latin typeface="Arial"/>
                <a:cs typeface="Arial"/>
              </a:rPr>
              <a:t>tipos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30" dirty="0">
                <a:latin typeface="Arial"/>
                <a:cs typeface="Arial"/>
              </a:rPr>
              <a:t>diagramas </a:t>
            </a:r>
            <a:r>
              <a:rPr sz="2400" spc="-90" dirty="0">
                <a:latin typeface="Arial"/>
                <a:cs typeface="Arial"/>
              </a:rPr>
              <a:t>existen  </a:t>
            </a:r>
            <a:r>
              <a:rPr sz="2400" spc="-110" dirty="0">
                <a:latin typeface="Arial"/>
                <a:cs typeface="Arial"/>
              </a:rPr>
              <a:t>para </a:t>
            </a:r>
            <a:r>
              <a:rPr sz="2400" spc="-75" dirty="0">
                <a:latin typeface="Arial"/>
                <a:cs typeface="Arial"/>
              </a:rPr>
              <a:t>modelar  </a:t>
            </a:r>
            <a:r>
              <a:rPr sz="2400" spc="-60" dirty="0">
                <a:latin typeface="Arial"/>
                <a:cs typeface="Arial"/>
              </a:rPr>
              <a:t>requerimientos </a:t>
            </a:r>
            <a:r>
              <a:rPr sz="2400" spc="-95" dirty="0">
                <a:latin typeface="Arial"/>
                <a:cs typeface="Arial"/>
              </a:rPr>
              <a:t>funcionales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80" dirty="0">
                <a:latin typeface="Arial"/>
                <a:cs typeface="Arial"/>
              </a:rPr>
              <a:t>SI </a:t>
            </a:r>
            <a:r>
              <a:rPr sz="2400" spc="-75" dirty="0">
                <a:latin typeface="Arial"/>
                <a:cs typeface="Arial"/>
              </a:rPr>
              <a:t>bajo </a:t>
            </a:r>
            <a:r>
              <a:rPr sz="2400" spc="-90" dirty="0">
                <a:latin typeface="Arial"/>
                <a:cs typeface="Arial"/>
              </a:rPr>
              <a:t>la </a:t>
            </a:r>
            <a:r>
              <a:rPr sz="2400" spc="-85" dirty="0">
                <a:latin typeface="Arial"/>
                <a:cs typeface="Arial"/>
              </a:rPr>
              <a:t>metodología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análisis </a:t>
            </a:r>
            <a:r>
              <a:rPr sz="2400" spc="434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estructurado.</a:t>
            </a:r>
            <a:endParaRPr sz="2400">
              <a:latin typeface="Arial"/>
              <a:cs typeface="Arial"/>
            </a:endParaRPr>
          </a:p>
          <a:p>
            <a:pPr marL="279400" marR="7620" indent="-26670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20" dirty="0">
                <a:latin typeface="Arial"/>
                <a:cs typeface="Arial"/>
              </a:rPr>
              <a:t>etapas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0" dirty="0">
                <a:latin typeface="Arial"/>
                <a:cs typeface="Arial"/>
              </a:rPr>
              <a:t>componentes </a:t>
            </a:r>
            <a:r>
              <a:rPr sz="2400" spc="-85" dirty="0">
                <a:latin typeface="Arial"/>
                <a:cs typeface="Arial"/>
              </a:rPr>
              <a:t>fundamentales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14" dirty="0">
                <a:latin typeface="Arial"/>
                <a:cs typeface="Arial"/>
              </a:rPr>
              <a:t>proceso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0" dirty="0">
                <a:latin typeface="Arial"/>
                <a:cs typeface="Arial"/>
              </a:rPr>
              <a:t>evaluación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adquisición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20" dirty="0">
                <a:latin typeface="Arial"/>
                <a:cs typeface="Arial"/>
              </a:rPr>
              <a:t>selección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TI/SI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0" dirty="0"/>
              <a:t>¿Dudas?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3000" spc="-105" dirty="0"/>
              <a:t>¿Consultas?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</TotalTime>
  <Words>5146</Words>
  <Application>Microsoft Office PowerPoint</Application>
  <PresentationFormat>Presentación en pantalla (4:3)</PresentationFormat>
  <Paragraphs>469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0" baseType="lpstr">
      <vt:lpstr>Arial</vt:lpstr>
      <vt:lpstr>Calibri</vt:lpstr>
      <vt:lpstr>Times New Roman</vt:lpstr>
      <vt:lpstr>Trebuchet MS</vt:lpstr>
      <vt:lpstr>Wingdings</vt:lpstr>
      <vt:lpstr>Office Theme</vt:lpstr>
      <vt:lpstr>Sistemas de  Información</vt:lpstr>
      <vt:lpstr>Presentación de PowerPoint</vt:lpstr>
      <vt:lpstr>Presentación de PowerPoint</vt:lpstr>
      <vt:lpstr>Presentación de PowerPoint</vt:lpstr>
      <vt:lpstr>I – Ciclo de Vida de Sistemas de Información (Cont.) Etapas del Ciclo de Vida de SI</vt:lpstr>
      <vt:lpstr>I – Ciclo de Vida de Sistemas de Información (Cont.) Etapas del Ciclo de Vida de SI</vt:lpstr>
      <vt:lpstr>I – Ciclo de Vida de Sistemas de Información (Cont.) Etapas del Ciclo de Vida de SI</vt:lpstr>
      <vt:lpstr>I – Ciclo de Vida de Sistemas de Información (Cont.) Etapas del Ciclo de Vida de SI</vt:lpstr>
      <vt:lpstr>I – Ciclo de Vida de Sistemas de Información (Cont.) Etapas del Ciclo de Vida de SI</vt:lpstr>
      <vt:lpstr>I – Ciclo de Vida de Sistemas de Información (Cont.) Métodos de adquisición de soluciones</vt:lpstr>
      <vt:lpstr>Presentación de PowerPoint</vt:lpstr>
      <vt:lpstr>Presentación de PowerPoint</vt:lpstr>
      <vt:lpstr>I – Ciclo de Vida de Sistemas de Información (Cont.) Métodos de adquisición de soluciones</vt:lpstr>
      <vt:lpstr>I – Ciclo de Vida de Sistemas de Información (Cont.) Métodos de adquisición de soluciones</vt:lpstr>
      <vt:lpstr>I – Ciclo de Vida de Sistemas de Información (Cont.) Métodos de adquisición de soluciones</vt:lpstr>
      <vt:lpstr>I – Ciclo de Vida de Sistemas de Información (Cont.) Métodos de adquisición de soluciones</vt:lpstr>
      <vt:lpstr>I – Ciclo de Vida de Sistemas de Información (Cont.) Métodos de adquisición de soluciones</vt:lpstr>
      <vt:lpstr>Presentación de PowerPoint</vt:lpstr>
      <vt:lpstr>III – Evaluación de Sistemas y Tecnologías de la Información Proceso de adquisición y selección de SI/TI</vt:lpstr>
      <vt:lpstr>III – Evaluación de Sistemas y Tecnologías de la Información (Cont.)</vt:lpstr>
      <vt:lpstr>III – Evaluación de Sistemas y Tecnologías de la Información (Cont.)</vt:lpstr>
      <vt:lpstr>III – Evaluación de Sistemas y Tecnologías de la Información (Cont.) Proceso de adquisición y selección de SI/TI</vt:lpstr>
      <vt:lpstr>III – Evaluación de Sistemas y Tecnologías de la Información (Cont.) Proceso de adquisición y selección de SI/TI</vt:lpstr>
      <vt:lpstr>III – Evaluación de Sistemas y Tecnologías de la Información (Cont.) Proceso de adquisición y selección de SI/TI</vt:lpstr>
      <vt:lpstr>III – Evaluación de Sistemas y Tecnologías de la Información (Cont.) Proceso de adquisición y selección de SI/TI</vt:lpstr>
      <vt:lpstr>III – Evaluación de Sistemas y Tecnologías de la Información (Cont.)</vt:lpstr>
      <vt:lpstr>III – Evaluación de Sistemas y Tecnologías de la Información (Cont.) Proceso de adquisición y selección de SI/TI</vt:lpstr>
      <vt:lpstr>III – Evaluación de Sistemas y Tecnologías de la Información (Cont.)</vt:lpstr>
      <vt:lpstr>III – Evaluación de Sistemas y Tecnologías de la Información (Cont.) Tercerización (Outsourcing)</vt:lpstr>
      <vt:lpstr>III – Evaluación de Sistemas y Tecnologías de la Información (Cont.) Tercerización (Outsourcing)</vt:lpstr>
      <vt:lpstr>III – Evaluación de Sistemas y Tecnologías de la Información (Cont.) Tercerización (Outsourcing)</vt:lpstr>
      <vt:lpstr>Presentación de PowerPoint</vt:lpstr>
      <vt:lpstr>Presentación de PowerPoint</vt:lpstr>
      <vt:lpstr>¿Dudas? ¿Consultas?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javier.klus javier.klus</cp:lastModifiedBy>
  <cp:revision>7</cp:revision>
  <dcterms:created xsi:type="dcterms:W3CDTF">2019-10-16T14:03:51Z</dcterms:created>
  <dcterms:modified xsi:type="dcterms:W3CDTF">2020-04-26T11:27:43Z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2019-10-16T00:00:00Z</vt:filetime>
  </property>
</Properties>
</file>