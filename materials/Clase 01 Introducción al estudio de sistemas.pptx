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7099300" cy="10234613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Ubuntu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sng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 txBox="1"/>
          <p:nvPr/>
        </p:nvSpPr>
        <p:spPr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5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6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7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r>
              <a:rPr lang="es-AR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información acerca del desempeño de un sistema (p.e. cantidad de ventas)</a:t>
            </a:r>
            <a:endParaRPr/>
          </a:p>
          <a:p>
            <a:pPr marL="0" marR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s-AR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monitoreo y evaluación de la retroalimentación para determinar si el sistema va a cumplir su objetivo (p.e. el gerente de ventas controla las ventas)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9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 txBox="1"/>
          <p:nvPr/>
        </p:nvSpPr>
        <p:spPr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12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13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latín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datum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significa dado (del verbo dar)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formalizada de entidades o hechos, de carácter simbólico y, consecuentemente, adecuada para su comunicación, interpretación y procesamiento mediante medios humanos y automáticos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dato representa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hechos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y, por lo tanto, sin significado inmediato, con frecuencia acerca de fenómenos físicos o transacciones de negocios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 contexto organizacional el dato 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precisamente por ello la contabilidad es una actividad típicamente capturadora, registradora y procesadora de 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una persona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un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que implica que el mismo se transforma en información cuando es evaluado por un individuo concreto, que en un momento dado trabaja sobre un problema para alcanzar un objetivo específico. 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información, entonces, se genera a partir de un grupo de datos seleccionados para reducir la dosis de ignorancia o el grado de incertidumbre de quien debe adoptar una decisión.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Llamamos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todo lo que llegamos 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significativa, mediante el agregado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organizaciones, el conocimiento suele estar “embutido” en documentos, bases de datos, rutinas organizativas, procesos, prácticas y normas.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latín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datum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significa dado (del verbo dar)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formalizada de entidades o hechos, de carácter simbólico y, consecuentemente, adecuada para su comunicación, interpretación y procesamiento mediante medios humanos y automáticos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dato representa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hechos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y, por lo tanto, sin significado inmediato, con frecuencia acerca de fenómenos físicos o transacciones de negocios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 contexto organizacional el dato 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precisamente por ello la contabilidad es una actividad típicamente capturadora, registradora y procesadora de 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una persona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un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que implica que el mismo se transforma en información cuando es evaluado por un individuo concreto, que en un momento dado trabaja sobre un problema para alcanzar un objetivo específico. 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información, entonces, se genera a partir de un grupo de datos seleccionados para reducir la dosis de ignorancia o el grado de incertidumbre de quien debe adoptar una decisión.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Llamamos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todo lo que llegamos 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significativa, mediante el agregado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organizaciones, el conocimiento suele estar “embutido” en documentos, bases de datos, rutinas organizativas, procesos, prácticas y normas.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5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8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latín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datum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significa dado (del verbo dar)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formalizada de entidades o hechos, de carácter simbólico y, consecuentemente, adecuada para su comunicación, interpretación y procesamiento mediante medios humanos y automáticos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dato representa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hechos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y, por lo tanto, sin significado inmediato, con frecuencia acerca de fenómenos físicos o transacciones de negocios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 contexto organizacional el dato 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precisamente por ello la contabilidad es una actividad típicamente capturadora, registradora y procesadora de datos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significado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una persona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un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que implica que el mismo se transforma en información cuando es evaluado por un individuo concreto, que en un momento dado trabaja sobre un problema para alcanzar un objetivo específico. 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información, entonces, se genera a partir de un grupo de datos seleccionados para reducir la dosis de ignorancia o el grado de incertidumbre de quien debe adoptar una decisión.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Llamamos </a:t>
            </a:r>
            <a:r>
              <a:rPr lang="es-AR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 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todo lo que llegamos 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significativa, mediante el agregado de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s-AR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inferencia</a:t>
            </a: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es-AR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organizaciones, el conocimiento suele estar “embutido” en documentos, bases de datos, rutinas organizativas, procesos, prácticas y normas.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:notes"/>
          <p:cNvSpPr txBox="1"/>
          <p:nvPr/>
        </p:nvSpPr>
        <p:spPr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22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23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4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25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/>
        </p:nvSpPr>
        <p:spPr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8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:notes"/>
          <p:cNvSpPr txBox="1">
            <a:spLocks noGrp="1"/>
          </p:cNvSpPr>
          <p:nvPr>
            <p:ph type="body" idx="1"/>
          </p:nvPr>
        </p:nvSpPr>
        <p:spPr>
          <a:xfrm>
            <a:off x="711200" y="4862513"/>
            <a:ext cx="5676900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39575" y="992767"/>
            <a:ext cx="7032300" cy="19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800"/>
              <a:buNone/>
              <a:defRPr sz="4800"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39575" y="2980367"/>
            <a:ext cx="7032300" cy="16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Font typeface="Ubuntu"/>
              <a:buNone/>
              <a:defRPr sz="2800">
                <a:solidFill>
                  <a:srgbClr val="999999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Font typeface="Ubuntu"/>
              <a:buChar char="●"/>
              <a:defRPr sz="2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Ubuntu"/>
              <a:buChar char="○"/>
              <a:defRPr sz="18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>
              <a:spcBef>
                <a:spcPts val="1600"/>
              </a:spcBef>
              <a:spcAft>
                <a:spcPts val="160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>
              <a:spcBef>
                <a:spcPts val="1600"/>
              </a:spcBef>
              <a:spcAft>
                <a:spcPts val="160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Calibri"/>
              <a:buNone/>
              <a:defRPr sz="36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70750" y="1536625"/>
            <a:ext cx="8099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ctrTitle"/>
          </p:nvPr>
        </p:nvSpPr>
        <p:spPr>
          <a:xfrm>
            <a:off x="1039575" y="992767"/>
            <a:ext cx="7032300" cy="19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/>
              <a:t>Introducción al estudio de los Sistemas de Información</a:t>
            </a:r>
            <a:endParaRPr sz="4400"/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1"/>
          </p:nvPr>
        </p:nvSpPr>
        <p:spPr>
          <a:xfrm>
            <a:off x="1039575" y="2980367"/>
            <a:ext cx="7032300" cy="16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-AR"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Unidad 1</a:t>
            </a:r>
            <a:endParaRPr sz="3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i="0" u="none" strike="noStrike" cap="none">
                <a:solidFill>
                  <a:srgbClr val="0B5394"/>
                </a:solidFill>
              </a:rPr>
              <a:t>Agenda</a:t>
            </a:r>
            <a:endParaRPr sz="4400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sistema?</a:t>
            </a:r>
            <a:endParaRPr/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información?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 de información?</a:t>
            </a:r>
            <a:endParaRPr/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Novedades en sistemas de información</a:t>
            </a:r>
            <a:endParaRPr/>
          </a:p>
          <a:p>
            <a:pPr marL="514350" marR="0" lvl="0" indent="-31115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i="0" u="none" strike="noStrike" cap="none">
                <a:solidFill>
                  <a:srgbClr val="0B5394"/>
                </a:solidFill>
              </a:rPr>
              <a:t>Un sistema es…</a:t>
            </a:r>
            <a:endParaRPr sz="4400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conjunto de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interrelacionados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un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límite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claramente definido,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juntos para lograr una serie de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común,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reciben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entradas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producen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salidas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 proceso organizado de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i="0" u="none" strike="noStrike" cap="none">
                <a:solidFill>
                  <a:srgbClr val="0B5394"/>
                </a:solidFill>
              </a:rPr>
              <a:t>Componentes de un sistema (1)</a:t>
            </a:r>
            <a:endParaRPr sz="4400" i="0" u="none" strike="noStrike" cap="none">
              <a:solidFill>
                <a:srgbClr val="0B5394"/>
              </a:solidFill>
            </a:endParaRPr>
          </a:p>
        </p:txBody>
      </p:sp>
      <p:pic>
        <p:nvPicPr>
          <p:cNvPr id="55" name="Google Shape;5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981200"/>
            <a:ext cx="6553200" cy="360525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/>
          <p:nvPr/>
        </p:nvSpPr>
        <p:spPr>
          <a:xfrm>
            <a:off x="5105400" y="5788223"/>
            <a:ext cx="15280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Límite del sistema</a:t>
            </a:r>
            <a:endParaRPr sz="1400" b="1" u="none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1981200" y="1676400"/>
            <a:ext cx="4648200" cy="4038600"/>
          </a:xfrm>
          <a:prstGeom prst="rect">
            <a:avLst/>
          </a:prstGeom>
          <a:noFill/>
          <a:ln w="25400" cap="flat" cmpd="sng">
            <a:solidFill>
              <a:srgbClr val="BFBFB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i="0" u="none" strike="noStrike" cap="none">
                <a:solidFill>
                  <a:srgbClr val="0B5394"/>
                </a:solidFill>
              </a:rPr>
              <a:t>Componentes de un sistema (2)</a:t>
            </a:r>
            <a:endParaRPr sz="4400" i="0" u="none" strike="noStrike" cap="none">
              <a:solidFill>
                <a:srgbClr val="0B5394"/>
              </a:solidFill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1838431"/>
            <a:ext cx="4676775" cy="410516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Ejemplo: Empresa como sistema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3124200" y="1828800"/>
            <a:ext cx="1600200" cy="609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endParaRPr sz="1100" b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3124200" y="2895600"/>
            <a:ext cx="1600200" cy="609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de Información</a:t>
            </a:r>
            <a:endParaRPr sz="1100" b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1"/>
          <p:cNvCxnSpPr>
            <a:stCxn id="71" idx="2"/>
            <a:endCxn id="72" idx="0"/>
          </p:cNvCxnSpPr>
          <p:nvPr/>
        </p:nvCxnSpPr>
        <p:spPr>
          <a:xfrm>
            <a:off x="3924300" y="2438400"/>
            <a:ext cx="0" cy="457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74" name="Google Shape;74;p11"/>
          <p:cNvSpPr/>
          <p:nvPr/>
        </p:nvSpPr>
        <p:spPr>
          <a:xfrm>
            <a:off x="1066800" y="3962400"/>
            <a:ext cx="1600200" cy="19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económicos</a:t>
            </a:r>
            <a:b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Dinero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Máquinas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Terrenos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Instalaciones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Energía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endParaRPr sz="1100"/>
          </a:p>
        </p:txBody>
      </p:sp>
      <p:sp>
        <p:nvSpPr>
          <p:cNvPr id="75" name="Google Shape;75;p11"/>
          <p:cNvSpPr/>
          <p:nvPr/>
        </p:nvSpPr>
        <p:spPr>
          <a:xfrm>
            <a:off x="3124200" y="3962400"/>
            <a:ext cx="1600200" cy="19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Procesos de Negocio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Poner en el mercado, desarrollar, producir y entregar productos y servicios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Soporte a clientes</a:t>
            </a:r>
            <a:endParaRPr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5181600" y="3962400"/>
            <a:ext cx="1600200" cy="19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Servicios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Pagos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1"/>
          <p:cNvCxnSpPr>
            <a:stCxn id="72" idx="2"/>
            <a:endCxn id="74" idx="0"/>
          </p:cNvCxnSpPr>
          <p:nvPr/>
        </p:nvCxnSpPr>
        <p:spPr>
          <a:xfrm rot="5400000">
            <a:off x="2667000" y="2705100"/>
            <a:ext cx="457200" cy="20574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8" name="Google Shape;78;p11"/>
          <p:cNvCxnSpPr>
            <a:stCxn id="72" idx="2"/>
            <a:endCxn id="76" idx="0"/>
          </p:cNvCxnSpPr>
          <p:nvPr/>
        </p:nvCxnSpPr>
        <p:spPr>
          <a:xfrm rot="-5400000" flipH="1">
            <a:off x="4724400" y="2705100"/>
            <a:ext cx="457200" cy="20574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9" name="Google Shape;79;p11"/>
          <p:cNvCxnSpPr>
            <a:stCxn id="72" idx="2"/>
            <a:endCxn id="75" idx="0"/>
          </p:cNvCxnSpPr>
          <p:nvPr/>
        </p:nvCxnSpPr>
        <p:spPr>
          <a:xfrm rot="-5400000" flipH="1">
            <a:off x="3696000" y="3733500"/>
            <a:ext cx="457200" cy="600"/>
          </a:xfrm>
          <a:prstGeom prst="bentConnector3">
            <a:avLst>
              <a:gd name="adj1" fmla="val 51389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0" name="Google Shape;80;p11"/>
          <p:cNvCxnSpPr/>
          <p:nvPr/>
        </p:nvCxnSpPr>
        <p:spPr>
          <a:xfrm>
            <a:off x="2667000" y="4800600"/>
            <a:ext cx="457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1" name="Google Shape;81;p11"/>
          <p:cNvCxnSpPr/>
          <p:nvPr/>
        </p:nvCxnSpPr>
        <p:spPr>
          <a:xfrm>
            <a:off x="4724400" y="4800600"/>
            <a:ext cx="457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2" name="Google Shape;82;p11"/>
          <p:cNvSpPr txBox="1"/>
          <p:nvPr/>
        </p:nvSpPr>
        <p:spPr>
          <a:xfrm>
            <a:off x="1066800" y="6019800"/>
            <a:ext cx="1600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 sz="12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3124200" y="6019800"/>
            <a:ext cx="1600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sz="12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 txBox="1"/>
          <p:nvPr/>
        </p:nvSpPr>
        <p:spPr>
          <a:xfrm>
            <a:off x="5181600" y="6019800"/>
            <a:ext cx="1600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Salida</a:t>
            </a:r>
            <a:endParaRPr sz="12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 txBox="1"/>
          <p:nvPr/>
        </p:nvSpPr>
        <p:spPr>
          <a:xfrm>
            <a:off x="4038600" y="2543175"/>
            <a:ext cx="18288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sz="12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3124200" y="1524000"/>
            <a:ext cx="1600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sz="12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1"/>
          <p:cNvCxnSpPr/>
          <p:nvPr/>
        </p:nvCxnSpPr>
        <p:spPr>
          <a:xfrm>
            <a:off x="6781800" y="4800600"/>
            <a:ext cx="685800" cy="1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8" name="Google Shape;88;p11"/>
          <p:cNvCxnSpPr/>
          <p:nvPr/>
        </p:nvCxnSpPr>
        <p:spPr>
          <a:xfrm>
            <a:off x="457200" y="4800600"/>
            <a:ext cx="609600" cy="1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9" name="Google Shape;89;p11"/>
          <p:cNvSpPr txBox="1"/>
          <p:nvPr/>
        </p:nvSpPr>
        <p:spPr>
          <a:xfrm>
            <a:off x="7315200" y="1828800"/>
            <a:ext cx="14478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Participantes en el ambiente de negocio: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Gobierno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Comunidad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Sindicatos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Accionistas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Competidores</a:t>
            </a:r>
            <a:endParaRPr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Instituciones financieras</a:t>
            </a:r>
            <a:endParaRPr/>
          </a:p>
          <a:p>
            <a:pPr marL="0" marR="0" lvl="0" indent="76200" algn="l" rtl="0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None/>
            </a:pPr>
            <a:endParaRPr sz="1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Ejemplos de sistemas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otros sistemas conocen fuera del ámbito empresarial?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otros sistemas existen en las empresas?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7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Agenda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información?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 de información?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Novedades en sistemas de información</a:t>
            </a:r>
            <a:endParaRPr/>
          </a:p>
          <a:p>
            <a:pPr marL="514350" marR="0" lvl="0" indent="-31115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8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AR" sz="3959" b="1" i="0" u="none" strike="noStrike" cap="none">
                <a:solidFill>
                  <a:srgbClr val="0B5394"/>
                </a:solidFill>
              </a:rPr>
              <a:t>Datos, información y conocimiento</a:t>
            </a:r>
            <a:endParaRPr sz="3959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s-AR" sz="2800"/>
              <a:t>LOL					24</a:t>
            </a:r>
            <a:endParaRPr sz="2800"/>
          </a:p>
          <a:p>
            <a:pPr marL="4572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3200"/>
              <a:buFont typeface="Noto Sans Symbols"/>
              <a:buNone/>
            </a:pPr>
            <a:endParaRPr sz="2800"/>
          </a:p>
          <a:p>
            <a:pPr marL="4572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s-AR" sz="2800"/>
              <a:t>1.85				38187457</a:t>
            </a:r>
            <a:endParaRPr sz="2800"/>
          </a:p>
          <a:p>
            <a:pPr marL="4572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3200"/>
              <a:buFont typeface="Noto Sans Symbols"/>
              <a:buNone/>
            </a:pPr>
            <a:endParaRPr sz="2800"/>
          </a:p>
          <a:p>
            <a:pPr marL="4572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s-AR" sz="2800"/>
              <a:t>A8					42000</a:t>
            </a:r>
            <a:endParaRPr sz="2800"/>
          </a:p>
          <a:p>
            <a:pPr marL="457200" marR="0" lvl="0" indent="-4572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2800">
              <a:solidFill>
                <a:schemeClr val="dk1"/>
              </a:solidFill>
            </a:endParaRPr>
          </a:p>
          <a:p>
            <a:pPr marL="457200" marR="0" lvl="0" indent="-457200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s-AR" sz="2800" i="0" u="none" strike="noStrike" cap="none">
                <a:solidFill>
                  <a:schemeClr val="dk1"/>
                </a:solidFill>
              </a:rPr>
              <a:t>Alex</a:t>
            </a:r>
            <a:endParaRPr sz="2800"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Datos e información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AR" sz="296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representación de entidades o hechos, en bruto y, por lo tanto, sin significado ni utilidad</a:t>
            </a:r>
            <a:endParaRPr sz="2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296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 datos ordenados e interpretados (procesados) para que las personas los puedan comprender y usar</a:t>
            </a:r>
            <a:endParaRPr/>
          </a:p>
          <a:p>
            <a:pPr marL="342900" marR="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296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r>
              <a:rPr lang="es-AR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todo lo que llegamos a crear y valorar a partir de la información, agregando experiencia, comunicación e inferencia.</a:t>
            </a:r>
            <a:endParaRPr/>
          </a:p>
          <a:p>
            <a:pPr marL="342900" marR="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endParaRPr sz="2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54940" algn="l" rtl="0"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None/>
            </a:pPr>
            <a:endParaRPr sz="2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10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Procesamiento de datos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Clasificar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Poner datos en categorías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 en base a un conjunto de criterios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valor en base a datos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Resumir datos agregándolos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Ejemplos de transformación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 un ejemplo de datos, información y procesamiento de datos en una empresa y fuera de las empresas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¿Esta transformación es siempre automática?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¿Se podría automatizar?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AR" sz="3959" b="1" i="0" u="none" strike="noStrike" cap="none">
                <a:solidFill>
                  <a:srgbClr val="0B5394"/>
                </a:solidFill>
              </a:rPr>
              <a:t>¿</a:t>
            </a:r>
            <a:r>
              <a:rPr lang="es-AR" sz="3959">
                <a:solidFill>
                  <a:srgbClr val="0B5394"/>
                </a:solidFill>
              </a:rPr>
              <a:t>L</a:t>
            </a:r>
            <a:r>
              <a:rPr lang="es-AR" sz="3959" b="1" i="0" u="none" strike="noStrike" cap="none">
                <a:solidFill>
                  <a:srgbClr val="0B5394"/>
                </a:solidFill>
              </a:rPr>
              <a:t>os conocimientos son iguales?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una derivada de una función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Andar en bici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un cierre contable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Pintar como Picasso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Cocinar como un chef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Patear como Messi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CEO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Conocimiento tácito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know-how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documentado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Entendido y aplicado en forma automática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/>
              <a:t>I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mplementado en forma intuitiva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/>
              <a:t>D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ifícil de explicar en palabras por lo que cuesta comunicarlo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/>
              <a:t>D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esarrollado </a:t>
            </a:r>
            <a:r>
              <a:rPr lang="es-AR"/>
              <a:t>por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</a:t>
            </a:r>
            <a:r>
              <a:rPr lang="es-AR"/>
              <a:t>y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acción directa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/>
              <a:t>C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onocimiento más importante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Conocimiento explícito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67" name="Google Shape;167;p22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ser codificado, escrito y documentado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fácilmente transferido y compartido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preciso y formalmente estructurado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lo almacena en un repositorio de datos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compone de información escrita en algún medio accesible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Gestión del conocimiento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74" name="Google Shape;174;p23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327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proceso formal para </a:t>
            </a:r>
            <a:r>
              <a:rPr lang="es-AR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identificar, capturar, almacenar, mantener, actualizar y transmitir</a:t>
            </a: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conocimiento existente en una organización</a:t>
            </a:r>
            <a:endParaRPr sz="2800"/>
          </a:p>
          <a:p>
            <a:pPr marL="342900" marR="0" lvl="0" indent="-33274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hace para lograr su disponibilidad y que pueda ser compartido</a:t>
            </a:r>
            <a:endParaRPr sz="2800"/>
          </a:p>
          <a:p>
            <a:pPr marL="342900" marR="0" lvl="0" indent="-33274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Intenta convertir el conocimiento tácito en explícito</a:t>
            </a:r>
            <a:endParaRPr sz="2800"/>
          </a:p>
          <a:p>
            <a:pPr marL="342900" marR="0" lvl="0" indent="-33274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Sirve par</a:t>
            </a:r>
            <a:r>
              <a:rPr lang="es-AR" sz="2800"/>
              <a:t>a </a:t>
            </a:r>
            <a:r>
              <a:rPr lang="es-AR" sz="2800" b="1" i="0" u="none" strike="noStrike" cap="none">
                <a:solidFill>
                  <a:schemeClr val="dk1"/>
                </a:solidFill>
              </a:rPr>
              <a:t>evitar “fuga de cerebros”</a:t>
            </a: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2800" b="1" i="0" u="none" strike="noStrike" cap="none">
                <a:solidFill>
                  <a:schemeClr val="dk1"/>
                </a:solidFill>
              </a:rPr>
              <a:t>aminorar problemas por alta rotación de persona</a:t>
            </a: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y </a:t>
            </a:r>
            <a:r>
              <a:rPr lang="es-AR" sz="2800" b="1" i="0" u="none" strike="noStrike" cap="none">
                <a:solidFill>
                  <a:schemeClr val="dk1"/>
                </a:solidFill>
              </a:rPr>
              <a:t>automatizar</a:t>
            </a:r>
            <a:endParaRPr sz="2800" b="1"/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Agenda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información?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 de información?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Novedades en sistemas de información</a:t>
            </a:r>
            <a:endParaRPr/>
          </a:p>
          <a:p>
            <a:pPr marL="514350" marR="0" lvl="0" indent="-31115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17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Un sistema de información es…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89" name="Google Shape;189;p25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conjunto de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interrelacionados que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recolectan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 recuperan),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distribuyen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información para</a:t>
            </a:r>
            <a:br>
              <a:rPr lang="es-AR" sz="3200"/>
            </a:b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</a:t>
            </a:r>
            <a:r>
              <a:rPr lang="es-AR" sz="3200"/>
              <a:t>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la organización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3200"/>
              <a:t>a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b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para lograr una ventaja competitiva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18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Sistema de información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3429000" y="1676400"/>
            <a:ext cx="2362200" cy="809625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de desempeño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del sistema</a:t>
            </a:r>
            <a:endParaRPr sz="14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3429000" y="2895600"/>
            <a:ext cx="2362200" cy="914400"/>
          </a:xfrm>
          <a:prstGeom prst="rect">
            <a:avLst/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Procesamiento : clasificar, ordenar, calcular</a:t>
            </a:r>
            <a:endParaRPr sz="14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6"/>
          <p:cNvCxnSpPr>
            <a:stCxn id="196" idx="2"/>
            <a:endCxn id="197" idx="0"/>
          </p:cNvCxnSpPr>
          <p:nvPr/>
        </p:nvCxnSpPr>
        <p:spPr>
          <a:xfrm>
            <a:off x="4610100" y="2486025"/>
            <a:ext cx="0" cy="4095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99" name="Google Shape;199;p26"/>
          <p:cNvSpPr/>
          <p:nvPr/>
        </p:nvSpPr>
        <p:spPr>
          <a:xfrm>
            <a:off x="6248400" y="2895600"/>
            <a:ext cx="2362200" cy="914400"/>
          </a:xfrm>
          <a:prstGeom prst="rect">
            <a:avLst/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Salida:  información</a:t>
            </a:r>
            <a:endParaRPr sz="14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26"/>
          <p:cNvCxnSpPr>
            <a:stCxn id="197" idx="3"/>
            <a:endCxn id="199" idx="1"/>
          </p:cNvCxnSpPr>
          <p:nvPr/>
        </p:nvCxnSpPr>
        <p:spPr>
          <a:xfrm>
            <a:off x="5791200" y="3352800"/>
            <a:ext cx="4572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1" name="Google Shape;201;p26"/>
          <p:cNvSpPr/>
          <p:nvPr/>
        </p:nvSpPr>
        <p:spPr>
          <a:xfrm>
            <a:off x="685800" y="2895600"/>
            <a:ext cx="2286000" cy="914400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Entrada : datos</a:t>
            </a:r>
            <a:endParaRPr sz="14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6"/>
          <p:cNvCxnSpPr>
            <a:stCxn id="201" idx="3"/>
            <a:endCxn id="197" idx="1"/>
          </p:cNvCxnSpPr>
          <p:nvPr/>
        </p:nvCxnSpPr>
        <p:spPr>
          <a:xfrm>
            <a:off x="2971800" y="3352800"/>
            <a:ext cx="4572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3" name="Google Shape;203;p26"/>
          <p:cNvSpPr/>
          <p:nvPr/>
        </p:nvSpPr>
        <p:spPr>
          <a:xfrm>
            <a:off x="3429000" y="4191000"/>
            <a:ext cx="2362200" cy="762000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Almacenamiento de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de datos</a:t>
            </a:r>
            <a:endParaRPr sz="14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6"/>
          <p:cNvCxnSpPr>
            <a:stCxn id="197" idx="2"/>
            <a:endCxn id="203" idx="0"/>
          </p:cNvCxnSpPr>
          <p:nvPr/>
        </p:nvCxnSpPr>
        <p:spPr>
          <a:xfrm>
            <a:off x="4610100" y="3810000"/>
            <a:ext cx="0" cy="3810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5" name="Google Shape;205;p26"/>
          <p:cNvSpPr/>
          <p:nvPr/>
        </p:nvSpPr>
        <p:spPr>
          <a:xfrm>
            <a:off x="685800" y="4267200"/>
            <a:ext cx="2209800" cy="83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de personas</a:t>
            </a:r>
            <a:b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Usuarios finales y especialistas SI</a:t>
            </a:r>
            <a:endParaRPr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85800" y="5257800"/>
            <a:ext cx="2209800" cy="83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de datos</a:t>
            </a:r>
            <a:b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Bases de datos y de conocimientos</a:t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6400800" y="5257800"/>
            <a:ext cx="2209800" cy="83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de hardware</a:t>
            </a:r>
            <a:b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Máquinas y medios</a:t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3505200" y="5257800"/>
            <a:ext cx="2209800" cy="83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de redes</a:t>
            </a:r>
            <a:b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Medios de comunicación y soporte de redes</a:t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6400800" y="4191000"/>
            <a:ext cx="2209800" cy="83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de software</a:t>
            </a:r>
            <a:br>
              <a:rPr lang="es-AR" sz="1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y procedimientos</a:t>
            </a:r>
            <a:endParaRPr/>
          </a:p>
        </p:txBody>
      </p:sp>
      <p:cxnSp>
        <p:nvCxnSpPr>
          <p:cNvPr id="210" name="Google Shape;210;p26"/>
          <p:cNvCxnSpPr>
            <a:endCxn id="196" idx="3"/>
          </p:cNvCxnSpPr>
          <p:nvPr/>
        </p:nvCxnSpPr>
        <p:spPr>
          <a:xfrm rot="10800000">
            <a:off x="5791200" y="2081212"/>
            <a:ext cx="1752600" cy="814500"/>
          </a:xfrm>
          <a:prstGeom prst="bentConnector3">
            <a:avLst>
              <a:gd name="adj1" fmla="val -617"/>
            </a:avLst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11" name="Google Shape;211;p26"/>
          <p:cNvSpPr txBox="1"/>
          <p:nvPr/>
        </p:nvSpPr>
        <p:spPr>
          <a:xfrm>
            <a:off x="6629400" y="1676400"/>
            <a:ext cx="15371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u="none"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sz="1000" u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19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Funciones principales de un SI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33400" y="1676400"/>
            <a:ext cx="5029200" cy="4191000"/>
          </a:xfrm>
          <a:prstGeom prst="triangle">
            <a:avLst>
              <a:gd name="adj" fmla="val 49752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371600" y="5105400"/>
            <a:ext cx="3273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Apoyo en los procesos y operaciones de negocio</a:t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1600200" y="4110038"/>
            <a:ext cx="2819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Apoyo en la toma de decisiones de negocio</a:t>
            </a:r>
            <a:endParaRPr/>
          </a:p>
        </p:txBody>
      </p:sp>
      <p:sp>
        <p:nvSpPr>
          <p:cNvPr id="221" name="Google Shape;221;p27"/>
          <p:cNvSpPr txBox="1"/>
          <p:nvPr/>
        </p:nvSpPr>
        <p:spPr>
          <a:xfrm>
            <a:off x="2362200" y="2133600"/>
            <a:ext cx="1371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sus estrategias </a:t>
            </a:r>
            <a:b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lograr </a:t>
            </a:r>
            <a:b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400" b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ventaja competitiva</a:t>
            </a:r>
            <a:endParaRPr/>
          </a:p>
        </p:txBody>
      </p:sp>
      <p:cxnSp>
        <p:nvCxnSpPr>
          <p:cNvPr id="222" name="Google Shape;222;p27"/>
          <p:cNvCxnSpPr/>
          <p:nvPr/>
        </p:nvCxnSpPr>
        <p:spPr>
          <a:xfrm>
            <a:off x="1143000" y="4876800"/>
            <a:ext cx="74676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27"/>
          <p:cNvCxnSpPr/>
          <p:nvPr/>
        </p:nvCxnSpPr>
        <p:spPr>
          <a:xfrm>
            <a:off x="1905000" y="3581400"/>
            <a:ext cx="6705600" cy="25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27"/>
          <p:cNvSpPr txBox="1"/>
          <p:nvPr/>
        </p:nvSpPr>
        <p:spPr>
          <a:xfrm>
            <a:off x="5715000" y="5120343"/>
            <a:ext cx="2743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 a proveedores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dirty="0"/>
          </a:p>
        </p:txBody>
      </p:sp>
      <p:sp>
        <p:nvSpPr>
          <p:cNvPr id="225" name="Google Shape;225;p27"/>
          <p:cNvSpPr txBox="1"/>
          <p:nvPr/>
        </p:nvSpPr>
        <p:spPr>
          <a:xfrm>
            <a:off x="5029200" y="3826649"/>
            <a:ext cx="3657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Decidir líneas de producto a vender o discontinuar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Decidir inversión en publicidad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dirty="0"/>
          </a:p>
        </p:txBody>
      </p:sp>
      <p:sp>
        <p:nvSpPr>
          <p:cNvPr id="226" name="Google Shape;226;p27"/>
          <p:cNvSpPr txBox="1"/>
          <p:nvPr/>
        </p:nvSpPr>
        <p:spPr>
          <a:xfrm>
            <a:off x="4114800" y="2362200"/>
            <a:ext cx="43434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innovadoras de las TI:</a:t>
            </a:r>
            <a:endParaRPr dirty="0"/>
          </a:p>
          <a:p>
            <a:pPr marL="6350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Estaciones web en puntos de venta</a:t>
            </a:r>
            <a:endParaRPr dirty="0"/>
          </a:p>
          <a:p>
            <a:pPr marL="6350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 por celular</a:t>
            </a:r>
            <a:endParaRPr dirty="0"/>
          </a:p>
          <a:p>
            <a:pPr marL="6350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Comercio electrónico</a:t>
            </a:r>
            <a:endParaRPr dirty="0"/>
          </a:p>
          <a:p>
            <a:pPr marL="6350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33786D-8E21-4D63-9E09-1538828C890E}"/>
              </a:ext>
            </a:extLst>
          </p:cNvPr>
          <p:cNvSpPr txBox="1"/>
          <p:nvPr/>
        </p:nvSpPr>
        <p:spPr>
          <a:xfrm>
            <a:off x="5029200" y="2133600"/>
            <a:ext cx="3142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Sistema de apoyo a ejecutivos (ESS)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97F4013-F9F5-4280-8633-A368902B7211}"/>
              </a:ext>
            </a:extLst>
          </p:cNvPr>
          <p:cNvSpPr txBox="1"/>
          <p:nvPr/>
        </p:nvSpPr>
        <p:spPr>
          <a:xfrm>
            <a:off x="4876800" y="3602116"/>
            <a:ext cx="3368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Sistema de Información Gerencial (MIS)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D2D8036-605E-42CB-86E4-FB6DDA49F34B}"/>
              </a:ext>
            </a:extLst>
          </p:cNvPr>
          <p:cNvSpPr txBox="1"/>
          <p:nvPr/>
        </p:nvSpPr>
        <p:spPr>
          <a:xfrm>
            <a:off x="5208751" y="4892417"/>
            <a:ext cx="3597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Sistema de Procesamiento de Trans (TPS)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Objetivos estratégicos de los SI (1)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una interdependencia cada vez mayor entre los SI y las empresas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895600"/>
            <a:ext cx="6208699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21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0" i="0" u="none" strike="noStrike" cap="non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Objetivos estratégicos de los SI (2)</a:t>
            </a:r>
            <a:endParaRPr sz="4400" b="0" i="0" u="none" strike="noStrike" cap="non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invierten en SI para: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excelencia operacional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nuevos productos, servicios y modelos de negocios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Lograr intimidad con clientes y proveedores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toma de decisiones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ventajas competitivas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Sobrevivir</a:t>
            </a:r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22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Agenda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49" name="Google Shape;249;p30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información?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sistema de información?</a:t>
            </a:r>
            <a:endParaRPr/>
          </a:p>
          <a:p>
            <a:pPr marL="514350" marR="0" lvl="0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A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Novedades en sistemas de información</a:t>
            </a:r>
            <a:endParaRPr/>
          </a:p>
          <a:p>
            <a:pPr marL="514350" marR="0" lvl="0" indent="-31115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Novedades en los SI: Tecnología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56" name="Google Shape;256;p31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Computación en la nube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data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artificial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Plataformas móviles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de las cosas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AR" sz="3959" b="1" i="0" u="none" strike="noStrike" cap="none">
                <a:solidFill>
                  <a:srgbClr val="0B5394"/>
                </a:solidFill>
              </a:rPr>
              <a:t>Novedades en los SI: Administración</a:t>
            </a:r>
            <a:endParaRPr sz="3959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63" name="Google Shape;263;p32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redes sociales 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Colaboración en línea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de inteligencia </a:t>
            </a:r>
            <a:r>
              <a:rPr lang="es-AR"/>
              <a:t>y</a:t>
            </a: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analítica </a:t>
            </a:r>
            <a:r>
              <a:rPr lang="es-AR"/>
              <a:t>de negocios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Reuniones virtuales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de procesos mediante robots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AR" sz="3959" b="1" i="0" u="none" strike="noStrike" cap="none">
                <a:solidFill>
                  <a:srgbClr val="0B5394"/>
                </a:solidFill>
              </a:rPr>
              <a:t>Novedades en los SI: Organizaciones</a:t>
            </a:r>
            <a:endParaRPr sz="3959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Negocios (que usan redes) sociales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a distancia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Cocreación de valor comercial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Criptomonedas y contratos inteligentes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3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¿Preguntas?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pic>
        <p:nvPicPr>
          <p:cNvPr id="277" name="Google Shape;27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47800"/>
            <a:ext cx="82296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27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title"/>
          </p:nvPr>
        </p:nvSpPr>
        <p:spPr>
          <a:xfrm>
            <a:off x="570750" y="186975"/>
            <a:ext cx="8099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400" b="1" i="0" u="none" strike="noStrike" cap="none">
                <a:solidFill>
                  <a:srgbClr val="0B5394"/>
                </a:solidFill>
              </a:rPr>
              <a:t>Bibliografía</a:t>
            </a:r>
            <a:endParaRPr sz="4400" b="1" i="0" u="none" strike="noStrike" cap="none">
              <a:solidFill>
                <a:srgbClr val="0B5394"/>
              </a:solidFill>
            </a:endParaRPr>
          </a:p>
        </p:txBody>
      </p:sp>
      <p:sp>
        <p:nvSpPr>
          <p:cNvPr id="284" name="Google Shape;284;p35"/>
          <p:cNvSpPr txBox="1">
            <a:spLocks noGrp="1"/>
          </p:cNvSpPr>
          <p:nvPr>
            <p:ph type="body" idx="1"/>
          </p:nvPr>
        </p:nvSpPr>
        <p:spPr>
          <a:xfrm>
            <a:off x="516400" y="1676000"/>
            <a:ext cx="8472900" cy="4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Información Gerencial - Laudon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A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Capítulo 1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A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Secciones 1.1 y 1.2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5" descr="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1325" y="2751599"/>
            <a:ext cx="2543525" cy="32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5"/>
          <p:cNvSpPr txBox="1">
            <a:spLocks noGrp="1"/>
          </p:cNvSpPr>
          <p:nvPr>
            <p:ph type="sldNum" idx="12"/>
          </p:nvPr>
        </p:nvSpPr>
        <p:spPr>
          <a:xfrm>
            <a:off x="8350958" y="61414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28</a:t>
            </a:fld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1643</Words>
  <Application>Microsoft Office PowerPoint</Application>
  <PresentationFormat>Presentación en pantalla (4:3)</PresentationFormat>
  <Paragraphs>255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Calibri</vt:lpstr>
      <vt:lpstr>Noto Sans Symbols</vt:lpstr>
      <vt:lpstr>Arial</vt:lpstr>
      <vt:lpstr>Ubuntu</vt:lpstr>
      <vt:lpstr>Simple Light</vt:lpstr>
      <vt:lpstr>Introducción al estudio de los Sistemas de Información</vt:lpstr>
      <vt:lpstr>Agenda</vt:lpstr>
      <vt:lpstr>Un sistema es…</vt:lpstr>
      <vt:lpstr>Componentes de un sistema (1)</vt:lpstr>
      <vt:lpstr>Componentes de un sistema (2)</vt:lpstr>
      <vt:lpstr>Ejemplo: Empresa como sistema</vt:lpstr>
      <vt:lpstr>Ejemplos de sistemas</vt:lpstr>
      <vt:lpstr>Agenda</vt:lpstr>
      <vt:lpstr>Datos, información y conocimiento</vt:lpstr>
      <vt:lpstr>Datos e información</vt:lpstr>
      <vt:lpstr>Procesamiento de datos</vt:lpstr>
      <vt:lpstr>Ejemplos de transformación</vt:lpstr>
      <vt:lpstr>¿Los conocimientos son iguales?</vt:lpstr>
      <vt:lpstr>Conocimiento tácito</vt:lpstr>
      <vt:lpstr>Conocimiento explícito</vt:lpstr>
      <vt:lpstr>Gestión del conocimiento</vt:lpstr>
      <vt:lpstr>Agenda</vt:lpstr>
      <vt:lpstr>Un sistema de información es…</vt:lpstr>
      <vt:lpstr>Sistema de información</vt:lpstr>
      <vt:lpstr>Funciones principales de un SI</vt:lpstr>
      <vt:lpstr>Objetivos estratégicos de los SI (1)</vt:lpstr>
      <vt:lpstr>Objetivos estratégicos de los SI (2)</vt:lpstr>
      <vt:lpstr>Agenda</vt:lpstr>
      <vt:lpstr>Novedades en los SI: Tecnología</vt:lpstr>
      <vt:lpstr>Novedades en los SI: Administración</vt:lpstr>
      <vt:lpstr>Novedades en los SI: Organizaciones</vt:lpstr>
      <vt:lpstr>¿Preguntas?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estudio de los Sistemas de Información</dc:title>
  <dc:creator>Klus Javier Fernando</dc:creator>
  <cp:lastModifiedBy>Klus Javier Fernando</cp:lastModifiedBy>
  <cp:revision>2</cp:revision>
  <dcterms:modified xsi:type="dcterms:W3CDTF">2020-03-10T13:01:30Z</dcterms:modified>
</cp:coreProperties>
</file>