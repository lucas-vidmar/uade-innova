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62125" y="827532"/>
            <a:ext cx="6619748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12033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075690"/>
            <a:ext cx="6395720" cy="188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spc="-20" dirty="0"/>
              <a:t>Mag. </a:t>
            </a:r>
            <a:r>
              <a:rPr spc="-55" dirty="0"/>
              <a:t>Alan </a:t>
            </a:r>
            <a:r>
              <a:rPr spc="20" dirty="0"/>
              <a:t>M.</a:t>
            </a:r>
            <a:r>
              <a:rPr spc="-215" dirty="0"/>
              <a:t> </a:t>
            </a:r>
            <a:r>
              <a:rPr spc="-35" dirty="0"/>
              <a:t>Lerner </a:t>
            </a:r>
            <a:r>
              <a:rPr spc="-55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5.png"/><Relationship Id="rId7" Type="http://schemas.openxmlformats.org/officeDocument/2006/relationships/hyperlink" Target="mailto:jklus@uade.edu.ar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5" dirty="0">
                <a:latin typeface="Calibri"/>
                <a:cs typeface="Calibri"/>
              </a:rPr>
              <a:t>Sistemas </a:t>
            </a:r>
            <a:r>
              <a:rPr sz="5400" i="1" dirty="0">
                <a:latin typeface="Calibri"/>
                <a:cs typeface="Calibri"/>
              </a:rPr>
              <a:t>de  Información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2035301"/>
            <a:ext cx="1540002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425445"/>
            <a:ext cx="3793998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699766"/>
            <a:ext cx="2632710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2101341"/>
            <a:ext cx="3461385" cy="196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FFFF"/>
                </a:solidFill>
                <a:latin typeface="Calibri"/>
                <a:cs typeface="Calibri"/>
              </a:rPr>
              <a:t>Unidad</a:t>
            </a:r>
            <a:r>
              <a:rPr sz="2400" b="1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Ética </a:t>
            </a:r>
            <a:r>
              <a:rPr sz="1800" b="1" i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Responsabilidad Social en </a:t>
            </a:r>
            <a:r>
              <a:rPr sz="1800" b="1" i="1" dirty="0">
                <a:solidFill>
                  <a:srgbClr val="FFFFFF"/>
                </a:solidFill>
                <a:latin typeface="Calibri"/>
                <a:cs typeface="Calibri"/>
              </a:rPr>
              <a:t>los  </a:t>
            </a: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Sistemas </a:t>
            </a:r>
            <a:r>
              <a:rPr sz="1800" b="1" i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i="1" spc="-5" dirty="0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Mag. </a:t>
            </a:r>
            <a:r>
              <a:rPr lang="es-AR" sz="1400" b="1" spc="-5" dirty="0">
                <a:solidFill>
                  <a:srgbClr val="FFFFFF"/>
                </a:solidFill>
                <a:latin typeface="Calibri"/>
                <a:cs typeface="Calibri"/>
              </a:rPr>
              <a:t>Javier F. Klus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" dirty="0" err="1">
                <a:solidFill>
                  <a:srgbClr val="FFFFFF"/>
                </a:solidFill>
                <a:latin typeface="Calibri"/>
                <a:cs typeface="Calibri"/>
                <a:hlinkClick r:id="rId7"/>
              </a:rPr>
              <a:t>jklus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  <a:hlinkClick r:id="rId7"/>
              </a:rPr>
              <a:t>@uade.edu.ar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lang="es-AR" sz="1400" b="1" spc="-5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7055" y="863152"/>
            <a:ext cx="2960572" cy="5064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820419"/>
            <a:ext cx="29483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Deontología,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Ética y  Responsabilidad </a:t>
            </a:r>
            <a:r>
              <a:rPr sz="1600" b="1" spc="-5" dirty="0">
                <a:solidFill>
                  <a:srgbClr val="003186"/>
                </a:solidFill>
                <a:latin typeface="Calibri"/>
                <a:cs typeface="Calibri"/>
              </a:rPr>
              <a:t>en el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uso de los</a:t>
            </a:r>
            <a:r>
              <a:rPr sz="1600" b="1" spc="-12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SI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8385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838580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20640" y="9319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13879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Contenido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0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la  sesión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1362659"/>
            <a:ext cx="3295650" cy="11988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Conceptos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fundamentales</a:t>
            </a:r>
            <a:endParaRPr sz="1400">
              <a:latin typeface="Calibri"/>
              <a:cs typeface="Calibri"/>
            </a:endParaRPr>
          </a:p>
          <a:p>
            <a:pPr marL="241300" marR="508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Deontología 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vinculada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al uso de Sistemas  de Información y ética en los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negocios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Dimensiones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(derechos y</a:t>
            </a:r>
            <a:r>
              <a:rPr sz="1400" b="1" spc="2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calidad)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40427" y="2953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0427" y="29531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03876" y="3046730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204" y="34994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6953" y="3022092"/>
            <a:ext cx="966977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7829" y="3074669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3186"/>
                </a:solidFill>
                <a:latin typeface="Calibri"/>
                <a:cs typeface="Calibri"/>
              </a:rPr>
              <a:t>Síntesis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40" y="3600450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003186"/>
                </a:solidFill>
                <a:latin typeface="Calibri"/>
                <a:cs typeface="Calibri"/>
              </a:rPr>
              <a:t>1. Resumen y preguntas de</a:t>
            </a:r>
            <a:r>
              <a:rPr sz="1400" b="1" spc="80" dirty="0">
                <a:solidFill>
                  <a:srgbClr val="00318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186"/>
                </a:solidFill>
                <a:latin typeface="Calibri"/>
                <a:cs typeface="Calibri"/>
              </a:rPr>
              <a:t>repaso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8441" y="4649723"/>
            <a:ext cx="3689985" cy="172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465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endParaRPr sz="3000">
              <a:latin typeface="Calibri"/>
              <a:cs typeface="Calibri"/>
            </a:endParaRPr>
          </a:p>
          <a:p>
            <a:pPr marR="438784" algn="ctr">
              <a:lnSpc>
                <a:spcPts val="3225"/>
              </a:lnSpc>
            </a:pP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Deontología,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Ética</a:t>
            </a:r>
            <a:r>
              <a:rPr sz="2800" b="1" spc="-35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y</a:t>
            </a:r>
            <a:endParaRPr sz="2800">
              <a:latin typeface="Calibri"/>
              <a:cs typeface="Calibri"/>
            </a:endParaRPr>
          </a:p>
          <a:p>
            <a:pPr marL="12065" marR="453390" algn="ctr">
              <a:lnSpc>
                <a:spcPct val="100000"/>
              </a:lnSpc>
            </a:pP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Responsabilidad en</a:t>
            </a:r>
            <a:r>
              <a:rPr sz="2800" b="1" spc="-45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00338D"/>
                </a:solidFill>
                <a:latin typeface="Calibri"/>
                <a:cs typeface="Calibri"/>
              </a:rPr>
              <a:t>el 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uso de los</a:t>
            </a:r>
            <a:r>
              <a:rPr sz="2800" b="1" spc="-35" dirty="0">
                <a:solidFill>
                  <a:srgbClr val="00338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338D"/>
                </a:solidFill>
                <a:latin typeface="Calibri"/>
                <a:cs typeface="Calibri"/>
              </a:rPr>
              <a:t>SI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88848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Deontología,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Ética y Responsabilidad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vinculada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al uso de los</a:t>
            </a:r>
            <a:r>
              <a:rPr sz="20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Conceptos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fundamentales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75690"/>
            <a:ext cx="19627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libri"/>
                <a:cs typeface="Calibri"/>
              </a:rPr>
              <a:t>Deontología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541271"/>
            <a:ext cx="63957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Término acuñado </a:t>
            </a:r>
            <a:r>
              <a:rPr sz="2000" spc="-10" dirty="0">
                <a:latin typeface="Calibri"/>
                <a:cs typeface="Calibri"/>
              </a:rPr>
              <a:t>por </a:t>
            </a:r>
            <a:r>
              <a:rPr sz="2000" spc="-5" dirty="0">
                <a:latin typeface="Calibri"/>
                <a:cs typeface="Calibri"/>
              </a:rPr>
              <a:t>primera vez en 1889 </a:t>
            </a:r>
            <a:r>
              <a:rPr sz="2000" spc="-10" dirty="0">
                <a:latin typeface="Calibri"/>
                <a:cs typeface="Calibri"/>
              </a:rPr>
              <a:t>por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Jeremy  Bentham.</a:t>
            </a:r>
            <a:endParaRPr sz="200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Tiene por </a:t>
            </a:r>
            <a:r>
              <a:rPr sz="2000" spc="-10" dirty="0">
                <a:latin typeface="Calibri"/>
                <a:cs typeface="Calibri"/>
              </a:rPr>
              <a:t>objeto de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estudio las normas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morales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 los  fundamentos del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deber.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3087370"/>
            <a:ext cx="38449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libri"/>
                <a:cs typeface="Calibri"/>
              </a:rPr>
              <a:t>Deontología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profesional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3552952"/>
            <a:ext cx="6395720" cy="2858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Es </a:t>
            </a:r>
            <a:r>
              <a:rPr sz="2000" dirty="0">
                <a:latin typeface="Calibri"/>
                <a:cs typeface="Calibri"/>
              </a:rPr>
              <a:t>aquella </a:t>
            </a:r>
            <a:r>
              <a:rPr sz="2000" i="1" spc="-5" dirty="0">
                <a:latin typeface="Calibri"/>
                <a:cs typeface="Calibri"/>
              </a:rPr>
              <a:t>rama de la </a:t>
            </a:r>
            <a:r>
              <a:rPr sz="2000" i="1" dirty="0">
                <a:latin typeface="Calibri"/>
                <a:cs typeface="Calibri"/>
              </a:rPr>
              <a:t>ética </a:t>
            </a:r>
            <a:r>
              <a:rPr sz="2000" spc="-5" dirty="0">
                <a:latin typeface="Calibri"/>
                <a:cs typeface="Calibri"/>
              </a:rPr>
              <a:t>que desarrolla los principios  del deber y lo moral en la actividad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profesional.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Es la </a:t>
            </a:r>
            <a:r>
              <a:rPr sz="2000" i="1" spc="-5" dirty="0">
                <a:latin typeface="Calibri"/>
                <a:cs typeface="Calibri"/>
              </a:rPr>
              <a:t>recopilación de códigos y principios éticos </a:t>
            </a:r>
            <a:r>
              <a:rPr sz="2000" spc="-5" dirty="0">
                <a:latin typeface="Calibri"/>
                <a:cs typeface="Calibri"/>
              </a:rPr>
              <a:t>que rigen y  gobiernan una actividad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profesional.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Está comúnmente </a:t>
            </a:r>
            <a:r>
              <a:rPr sz="2000" i="1" spc="-5" dirty="0">
                <a:latin typeface="Calibri"/>
                <a:cs typeface="Calibri"/>
              </a:rPr>
              <a:t>regulada por los Consejos o Colegios  Profesionales </a:t>
            </a:r>
            <a:r>
              <a:rPr sz="2000" spc="-5" dirty="0">
                <a:latin typeface="Calibri"/>
                <a:cs typeface="Calibri"/>
              </a:rPr>
              <a:t>(aparece la posibilidad de aplicar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sanciones)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505459" algn="l"/>
                <a:tab pos="1296035" algn="l"/>
                <a:tab pos="2110105" algn="l"/>
                <a:tab pos="3086735" algn="l"/>
                <a:tab pos="4269105" algn="l"/>
                <a:tab pos="4986655" algn="l"/>
                <a:tab pos="5499100" algn="l"/>
              </a:tabLst>
            </a:pPr>
            <a:r>
              <a:rPr sz="2200" b="1" i="1" spc="-5" dirty="0">
                <a:latin typeface="Calibri"/>
                <a:cs typeface="Calibri"/>
              </a:rPr>
              <a:t>L</a:t>
            </a:r>
            <a:r>
              <a:rPr sz="2200" b="1" i="1" dirty="0">
                <a:latin typeface="Calibri"/>
                <a:cs typeface="Calibri"/>
              </a:rPr>
              <a:t>a	</a:t>
            </a:r>
            <a:r>
              <a:rPr sz="2200" b="1" i="1" spc="-5" dirty="0">
                <a:latin typeface="Calibri"/>
                <a:cs typeface="Calibri"/>
              </a:rPr>
              <a:t>é</a:t>
            </a:r>
            <a:r>
              <a:rPr sz="2200" b="1" i="1" spc="-10" dirty="0">
                <a:latin typeface="Calibri"/>
                <a:cs typeface="Calibri"/>
              </a:rPr>
              <a:t>t</a:t>
            </a:r>
            <a:r>
              <a:rPr sz="2200" b="1" i="1" dirty="0">
                <a:latin typeface="Calibri"/>
                <a:cs typeface="Calibri"/>
              </a:rPr>
              <a:t>i</a:t>
            </a:r>
            <a:r>
              <a:rPr sz="2200" b="1" i="1" spc="-10" dirty="0">
                <a:latin typeface="Calibri"/>
                <a:cs typeface="Calibri"/>
              </a:rPr>
              <a:t>c</a:t>
            </a:r>
            <a:r>
              <a:rPr sz="2200" b="1" i="1" dirty="0">
                <a:latin typeface="Calibri"/>
                <a:cs typeface="Calibri"/>
              </a:rPr>
              <a:t>a	</a:t>
            </a:r>
            <a:r>
              <a:rPr sz="2200" b="1" i="1" spc="-5" dirty="0">
                <a:latin typeface="Calibri"/>
                <a:cs typeface="Calibri"/>
              </a:rPr>
              <a:t>tien</a:t>
            </a:r>
            <a:r>
              <a:rPr sz="2200" b="1" i="1" dirty="0">
                <a:latin typeface="Calibri"/>
                <a:cs typeface="Calibri"/>
              </a:rPr>
              <a:t>e	mayor	alcan</a:t>
            </a:r>
            <a:r>
              <a:rPr sz="2200" b="1" i="1" spc="-10" dirty="0">
                <a:latin typeface="Calibri"/>
                <a:cs typeface="Calibri"/>
              </a:rPr>
              <a:t>c</a:t>
            </a:r>
            <a:r>
              <a:rPr sz="2200" b="1" i="1" spc="-5" dirty="0">
                <a:latin typeface="Calibri"/>
                <a:cs typeface="Calibri"/>
              </a:rPr>
              <a:t>e</a:t>
            </a:r>
            <a:r>
              <a:rPr sz="2200" b="1" i="1" dirty="0">
                <a:latin typeface="Calibri"/>
                <a:cs typeface="Calibri"/>
              </a:rPr>
              <a:t>;	</a:t>
            </a:r>
            <a:r>
              <a:rPr sz="2200" b="1" i="1" spc="-10" dirty="0">
                <a:latin typeface="Calibri"/>
                <a:cs typeface="Calibri"/>
              </a:rPr>
              <a:t>e</a:t>
            </a:r>
            <a:r>
              <a:rPr sz="2200" b="1" i="1" spc="-5" dirty="0">
                <a:latin typeface="Calibri"/>
                <a:cs typeface="Calibri"/>
              </a:rPr>
              <a:t>st</a:t>
            </a:r>
            <a:r>
              <a:rPr sz="2200" b="1" i="1" dirty="0">
                <a:latin typeface="Calibri"/>
                <a:cs typeface="Calibri"/>
              </a:rPr>
              <a:t>á	</a:t>
            </a:r>
            <a:r>
              <a:rPr sz="2200" b="1" i="1" spc="-5" dirty="0">
                <a:latin typeface="Calibri"/>
                <a:cs typeface="Calibri"/>
              </a:rPr>
              <a:t>e</a:t>
            </a:r>
            <a:r>
              <a:rPr sz="2200" b="1" i="1" dirty="0">
                <a:latin typeface="Calibri"/>
                <a:cs typeface="Calibri"/>
              </a:rPr>
              <a:t>n	</a:t>
            </a:r>
            <a:r>
              <a:rPr sz="2200" b="1" i="1" spc="-5" dirty="0">
                <a:latin typeface="Calibri"/>
                <a:cs typeface="Calibri"/>
              </a:rPr>
              <a:t>nues</a:t>
            </a:r>
            <a:r>
              <a:rPr sz="2200" b="1" i="1" spc="-15" dirty="0">
                <a:latin typeface="Calibri"/>
                <a:cs typeface="Calibri"/>
              </a:rPr>
              <a:t>t</a:t>
            </a:r>
            <a:r>
              <a:rPr sz="2200" b="1" i="1" spc="-10" dirty="0">
                <a:latin typeface="Calibri"/>
                <a:cs typeface="Calibri"/>
              </a:rPr>
              <a:t>r</a:t>
            </a:r>
            <a:r>
              <a:rPr sz="2200" b="1" i="1" dirty="0">
                <a:latin typeface="Calibri"/>
                <a:cs typeface="Calibri"/>
              </a:rPr>
              <a:t>o  </a:t>
            </a:r>
            <a:r>
              <a:rPr sz="2200" b="1" i="1" spc="-5" dirty="0">
                <a:latin typeface="Calibri"/>
                <a:cs typeface="Calibri"/>
              </a:rPr>
              <a:t>consciente </a:t>
            </a:r>
            <a:r>
              <a:rPr sz="2200" b="1" i="1" dirty="0">
                <a:latin typeface="Calibri"/>
                <a:cs typeface="Calibri"/>
              </a:rPr>
              <a:t>desde que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crecemos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1904" y="1143000"/>
            <a:ext cx="2089152" cy="1617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64857" y="3124200"/>
            <a:ext cx="2005583" cy="14074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64857" y="4960620"/>
            <a:ext cx="2005583" cy="1363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66889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Deontología, </a:t>
            </a:r>
            <a:r>
              <a:rPr spc="-5" dirty="0"/>
              <a:t>Ética y Responsabilidad </a:t>
            </a:r>
            <a:r>
              <a:rPr spc="-10" dirty="0"/>
              <a:t>vinculada </a:t>
            </a:r>
            <a:r>
              <a:rPr spc="-5" dirty="0"/>
              <a:t>al uso de los SI</a:t>
            </a:r>
            <a:r>
              <a:rPr spc="245" dirty="0"/>
              <a:t> </a:t>
            </a:r>
            <a:r>
              <a:rPr spc="-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" dirty="0">
                <a:latin typeface="Calibri"/>
                <a:cs typeface="Calibri"/>
              </a:rPr>
              <a:t>Conceptos</a:t>
            </a:r>
            <a:r>
              <a:rPr sz="1800" b="0" spc="10" dirty="0">
                <a:latin typeface="Calibri"/>
                <a:cs typeface="Calibri"/>
              </a:rPr>
              <a:t> </a:t>
            </a:r>
            <a:r>
              <a:rPr sz="1800" b="0" spc="-5" dirty="0">
                <a:latin typeface="Calibri"/>
                <a:cs typeface="Calibri"/>
              </a:rPr>
              <a:t>fundamentales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Ética</a:t>
            </a:r>
          </a:p>
          <a:p>
            <a:pPr marL="355600" marR="5080" indent="-3429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0" dirty="0">
                <a:latin typeface="Calibri"/>
                <a:cs typeface="Calibri"/>
              </a:rPr>
              <a:t>Principios </a:t>
            </a:r>
            <a:r>
              <a:rPr sz="2000" b="0" spc="-5" dirty="0">
                <a:latin typeface="Calibri"/>
                <a:cs typeface="Calibri"/>
              </a:rPr>
              <a:t>del bien y del </a:t>
            </a:r>
            <a:r>
              <a:rPr sz="2000" b="0" dirty="0">
                <a:latin typeface="Calibri"/>
                <a:cs typeface="Calibri"/>
              </a:rPr>
              <a:t>mal </a:t>
            </a:r>
            <a:r>
              <a:rPr sz="2000" b="0" spc="-5" dirty="0">
                <a:latin typeface="Calibri"/>
                <a:cs typeface="Calibri"/>
              </a:rPr>
              <a:t>que los individuos utilizan  para guiar sus</a:t>
            </a:r>
            <a:r>
              <a:rPr sz="2000" b="0" spc="30" dirty="0">
                <a:latin typeface="Calibri"/>
                <a:cs typeface="Calibri"/>
              </a:rPr>
              <a:t> </a:t>
            </a:r>
            <a:r>
              <a:rPr sz="2000" b="0" spc="-5" dirty="0">
                <a:latin typeface="Calibri"/>
                <a:cs typeface="Calibri"/>
              </a:rPr>
              <a:t>comportamientos.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/>
              <a:t>Los </a:t>
            </a:r>
            <a:r>
              <a:rPr spc="-5" dirty="0"/>
              <a:t>SI generan cuestiones</a:t>
            </a:r>
            <a:r>
              <a:rPr spc="-10" dirty="0"/>
              <a:t> </a:t>
            </a:r>
            <a:r>
              <a:rPr spc="-5" dirty="0"/>
              <a:t>éticas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39028" y="3248151"/>
            <a:ext cx="7626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dine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o,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2943351"/>
            <a:ext cx="550608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Crean oportunidades de cambio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social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  <a:tab pos="1595755" algn="l"/>
                <a:tab pos="3197860" algn="l"/>
                <a:tab pos="4402455" algn="l"/>
                <a:tab pos="4813935" algn="l"/>
              </a:tabLst>
            </a:pPr>
            <a:r>
              <a:rPr sz="2000" spc="-5" dirty="0">
                <a:latin typeface="Calibri"/>
                <a:cs typeface="Calibri"/>
              </a:rPr>
              <a:t>Ame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5" dirty="0">
                <a:latin typeface="Calibri"/>
                <a:cs typeface="Calibri"/>
              </a:rPr>
              <a:t>zan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dist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ibu</a:t>
            </a:r>
            <a:r>
              <a:rPr sz="2000" spc="5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io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5" dirty="0">
                <a:latin typeface="Calibri"/>
                <a:cs typeface="Calibri"/>
              </a:rPr>
              <a:t>es</a:t>
            </a:r>
            <a:r>
              <a:rPr sz="2000" dirty="0">
                <a:latin typeface="Calibri"/>
                <a:cs typeface="Calibri"/>
              </a:rPr>
              <a:t>	e</a:t>
            </a:r>
            <a:r>
              <a:rPr sz="2000" spc="-10" dirty="0">
                <a:latin typeface="Calibri"/>
                <a:cs typeface="Calibri"/>
              </a:rPr>
              <a:t>xi</a:t>
            </a:r>
            <a:r>
              <a:rPr sz="2000" spc="-5" dirty="0">
                <a:latin typeface="Calibri"/>
                <a:cs typeface="Calibri"/>
              </a:rPr>
              <a:t>ste</a:t>
            </a:r>
            <a:r>
              <a:rPr sz="2000" dirty="0">
                <a:latin typeface="Calibri"/>
                <a:cs typeface="Calibri"/>
              </a:rPr>
              <a:t>nte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pod</a:t>
            </a:r>
            <a:r>
              <a:rPr sz="2000" spc="-5" dirty="0">
                <a:latin typeface="Calibri"/>
                <a:cs typeface="Calibri"/>
              </a:rPr>
              <a:t>er,  derechos 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obligaciones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4184904"/>
            <a:ext cx="48679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El desarrollo </a:t>
            </a:r>
            <a:r>
              <a:rPr sz="3000" b="1" spc="-5" dirty="0">
                <a:latin typeface="Calibri"/>
                <a:cs typeface="Calibri"/>
              </a:rPr>
              <a:t>de </a:t>
            </a:r>
            <a:r>
              <a:rPr sz="3000" b="1" dirty="0">
                <a:latin typeface="Calibri"/>
                <a:cs typeface="Calibri"/>
              </a:rPr>
              <a:t>las TI</a:t>
            </a:r>
            <a:r>
              <a:rPr sz="3000" b="1" spc="-9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produce: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4650485"/>
            <a:ext cx="4885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Beneficios </a:t>
            </a:r>
            <a:r>
              <a:rPr sz="2000" spc="-10" dirty="0">
                <a:latin typeface="Calibri"/>
                <a:cs typeface="Calibri"/>
              </a:rPr>
              <a:t>(ejemplo, </a:t>
            </a:r>
            <a:r>
              <a:rPr sz="2000" spc="-5" dirty="0">
                <a:latin typeface="Calibri"/>
                <a:cs typeface="Calibri"/>
              </a:rPr>
              <a:t>mayor </a:t>
            </a:r>
            <a:r>
              <a:rPr sz="2000" spc="-10" dirty="0">
                <a:latin typeface="Calibri"/>
                <a:cs typeface="Calibri"/>
              </a:rPr>
              <a:t>progreso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social)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Costos </a:t>
            </a:r>
            <a:r>
              <a:rPr sz="2000" spc="-10" dirty="0">
                <a:latin typeface="Calibri"/>
                <a:cs typeface="Calibri"/>
              </a:rPr>
              <a:t>(ejemplo, nuevos </a:t>
            </a:r>
            <a:r>
              <a:rPr sz="2000" spc="-5" dirty="0">
                <a:latin typeface="Calibri"/>
                <a:cs typeface="Calibri"/>
              </a:rPr>
              <a:t>tipos de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crímenes)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144509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Introducción al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estudio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20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Deontología vinculada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uso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Sistemas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Información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 ética en los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negocios</a:t>
            </a:r>
            <a:r>
              <a:rPr sz="18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75690"/>
            <a:ext cx="84582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910080" algn="l"/>
                <a:tab pos="3275965" algn="l"/>
                <a:tab pos="3903979" algn="l"/>
                <a:tab pos="4584700" algn="l"/>
                <a:tab pos="6200140" algn="l"/>
                <a:tab pos="7364095" algn="l"/>
                <a:tab pos="7991475" algn="l"/>
              </a:tabLst>
            </a:pPr>
            <a:r>
              <a:rPr sz="3000" b="1" spc="-5" dirty="0">
                <a:latin typeface="Calibri"/>
                <a:cs typeface="Calibri"/>
              </a:rPr>
              <a:t>Cat</a:t>
            </a:r>
            <a:r>
              <a:rPr sz="3000" b="1" spc="-10" dirty="0">
                <a:latin typeface="Calibri"/>
                <a:cs typeface="Calibri"/>
              </a:rPr>
              <a:t>e</a:t>
            </a:r>
            <a:r>
              <a:rPr sz="3000" b="1" spc="-5" dirty="0">
                <a:latin typeface="Calibri"/>
                <a:cs typeface="Calibri"/>
              </a:rPr>
              <a:t>goría</a:t>
            </a:r>
            <a:r>
              <a:rPr sz="3000" b="1" dirty="0">
                <a:latin typeface="Calibri"/>
                <a:cs typeface="Calibri"/>
              </a:rPr>
              <a:t>s	bási</a:t>
            </a:r>
            <a:r>
              <a:rPr sz="3000" b="1" spc="-15" dirty="0">
                <a:latin typeface="Calibri"/>
                <a:cs typeface="Calibri"/>
              </a:rPr>
              <a:t>c</a:t>
            </a:r>
            <a:r>
              <a:rPr sz="3000" b="1" dirty="0">
                <a:latin typeface="Calibri"/>
                <a:cs typeface="Calibri"/>
              </a:rPr>
              <a:t>as	de	los	aspectos	</a:t>
            </a:r>
            <a:r>
              <a:rPr sz="3000" b="1" spc="-5" dirty="0">
                <a:latin typeface="Calibri"/>
                <a:cs typeface="Calibri"/>
              </a:rPr>
              <a:t>ético</a:t>
            </a:r>
            <a:r>
              <a:rPr sz="3000" b="1" dirty="0">
                <a:latin typeface="Calibri"/>
                <a:cs typeface="Calibri"/>
              </a:rPr>
              <a:t>s	</a:t>
            </a:r>
            <a:r>
              <a:rPr sz="3000" b="1" spc="-5" dirty="0">
                <a:latin typeface="Calibri"/>
                <a:cs typeface="Calibri"/>
              </a:rPr>
              <a:t>d</a:t>
            </a:r>
            <a:r>
              <a:rPr sz="3000" b="1" dirty="0">
                <a:latin typeface="Calibri"/>
                <a:cs typeface="Calibri"/>
              </a:rPr>
              <a:t>e	</a:t>
            </a:r>
            <a:r>
              <a:rPr sz="3000" b="1" spc="5" dirty="0">
                <a:latin typeface="Calibri"/>
                <a:cs typeface="Calibri"/>
              </a:rPr>
              <a:t>los  </a:t>
            </a:r>
            <a:r>
              <a:rPr sz="3000" b="1" dirty="0">
                <a:latin typeface="Calibri"/>
                <a:cs typeface="Calibri"/>
              </a:rPr>
              <a:t>negocios y algunos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ejemplos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2150872"/>
            <a:ext cx="84562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000" b="1" spc="-5" dirty="0">
                <a:latin typeface="Calibri"/>
                <a:cs typeface="Calibri"/>
              </a:rPr>
              <a:t>1.	Equidad:</a:t>
            </a:r>
            <a:r>
              <a:rPr sz="2000" b="1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salarios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ejecutivos,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valor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comparable,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establecimiento</a:t>
            </a:r>
            <a:r>
              <a:rPr sz="2000" spc="3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precios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455672"/>
            <a:ext cx="80003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234" algn="l"/>
                <a:tab pos="1807845" algn="l"/>
                <a:tab pos="2970530" algn="l"/>
                <a:tab pos="3442335" algn="l"/>
                <a:tab pos="4717415" algn="l"/>
                <a:tab pos="6090285" algn="l"/>
                <a:tab pos="7247890" algn="l"/>
                <a:tab pos="7719695" algn="l"/>
              </a:tabLst>
            </a:pPr>
            <a:r>
              <a:rPr sz="2000" spc="-5" dirty="0">
                <a:latin typeface="Calibri"/>
                <a:cs typeface="Calibri"/>
              </a:rPr>
              <a:t>de	</a:t>
            </a:r>
            <a:r>
              <a:rPr sz="2000" dirty="0">
                <a:latin typeface="Calibri"/>
                <a:cs typeface="Calibri"/>
              </a:rPr>
              <a:t>p</a:t>
            </a:r>
            <a:r>
              <a:rPr sz="2000" spc="-5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ducto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dirty="0">
                <a:latin typeface="Calibri"/>
                <a:cs typeface="Calibri"/>
              </a:rPr>
              <a:t>	d</a:t>
            </a:r>
            <a:r>
              <a:rPr sz="2000" spc="-5" dirty="0">
                <a:latin typeface="Calibri"/>
                <a:cs typeface="Calibri"/>
              </a:rPr>
              <a:t>erech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propi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0" dirty="0">
                <a:latin typeface="Calibri"/>
                <a:cs typeface="Calibri"/>
              </a:rPr>
              <a:t>da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te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l,</a:t>
            </a:r>
            <a:r>
              <a:rPr sz="2000" dirty="0">
                <a:latin typeface="Calibri"/>
                <a:cs typeface="Calibri"/>
              </a:rPr>
              <a:t>	a</a:t>
            </a:r>
            <a:r>
              <a:rPr sz="2000" spc="-5" dirty="0">
                <a:latin typeface="Calibri"/>
                <a:cs typeface="Calibri"/>
              </a:rPr>
              <a:t>cu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rdos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" dirty="0">
                <a:latin typeface="Calibri"/>
                <a:cs typeface="Calibri"/>
              </a:rPr>
              <a:t>no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2607767"/>
            <a:ext cx="8458200" cy="1550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300"/>
              </a:spcBef>
            </a:pPr>
            <a:r>
              <a:rPr sz="2000" spc="-5" dirty="0">
                <a:latin typeface="Calibri"/>
                <a:cs typeface="Calibri"/>
              </a:rPr>
              <a:t>competencia,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Calibri"/>
                <a:cs typeface="Calibri"/>
              </a:rPr>
              <a:t>2. Derechos</a:t>
            </a:r>
            <a:r>
              <a:rPr sz="2000" spc="-5" dirty="0">
                <a:latin typeface="Calibri"/>
                <a:cs typeface="Calibri"/>
              </a:rPr>
              <a:t>: monitoreo de la </a:t>
            </a:r>
            <a:r>
              <a:rPr sz="2000" dirty="0">
                <a:latin typeface="Calibri"/>
                <a:cs typeface="Calibri"/>
              </a:rPr>
              <a:t>salud </a:t>
            </a:r>
            <a:r>
              <a:rPr sz="2000" spc="-5" dirty="0">
                <a:latin typeface="Calibri"/>
                <a:cs typeface="Calibri"/>
              </a:rPr>
              <a:t>de los empleados, </a:t>
            </a:r>
            <a:r>
              <a:rPr sz="2000" dirty="0">
                <a:latin typeface="Calibri"/>
                <a:cs typeface="Calibri"/>
              </a:rPr>
              <a:t>privacidad </a:t>
            </a:r>
            <a:r>
              <a:rPr sz="2000" spc="-5" dirty="0">
                <a:latin typeface="Calibri"/>
                <a:cs typeface="Calibri"/>
              </a:rPr>
              <a:t>de los  </a:t>
            </a:r>
            <a:r>
              <a:rPr sz="2000" dirty="0">
                <a:latin typeface="Calibri"/>
                <a:cs typeface="Calibri"/>
              </a:rPr>
              <a:t>clientes, privacidad </a:t>
            </a:r>
            <a:r>
              <a:rPr sz="2000" spc="-5" dirty="0">
                <a:latin typeface="Calibri"/>
                <a:cs typeface="Calibri"/>
              </a:rPr>
              <a:t>de los </a:t>
            </a:r>
            <a:r>
              <a:rPr sz="2000" dirty="0">
                <a:latin typeface="Calibri"/>
                <a:cs typeface="Calibri"/>
              </a:rPr>
              <a:t>empleados, </a:t>
            </a:r>
            <a:r>
              <a:rPr sz="2000" spc="-5" dirty="0">
                <a:latin typeface="Calibri"/>
                <a:cs typeface="Calibri"/>
              </a:rPr>
              <a:t>promoción de grupos minoritarios,  oportunidad equitativa de empleo,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4284726"/>
            <a:ext cx="845693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469900" algn="l"/>
              </a:tabLst>
            </a:pPr>
            <a:r>
              <a:rPr sz="2000" b="1" spc="-5" dirty="0">
                <a:latin typeface="Calibri"/>
                <a:cs typeface="Calibri"/>
              </a:rPr>
              <a:t>Honestidad: </a:t>
            </a:r>
            <a:r>
              <a:rPr sz="2000" spc="-5" dirty="0">
                <a:latin typeface="Calibri"/>
                <a:cs typeface="Calibri"/>
              </a:rPr>
              <a:t>conflicto de </a:t>
            </a:r>
            <a:r>
              <a:rPr sz="2000" dirty="0">
                <a:latin typeface="Calibri"/>
                <a:cs typeface="Calibri"/>
              </a:rPr>
              <a:t>intereses </a:t>
            </a:r>
            <a:r>
              <a:rPr sz="2000" spc="-5" dirty="0">
                <a:latin typeface="Calibri"/>
                <a:cs typeface="Calibri"/>
              </a:rPr>
              <a:t>de empleados, seguridad de la  </a:t>
            </a:r>
            <a:r>
              <a:rPr sz="2000" dirty="0">
                <a:latin typeface="Calibri"/>
                <a:cs typeface="Calibri"/>
              </a:rPr>
              <a:t>información empresarial, </a:t>
            </a:r>
            <a:r>
              <a:rPr sz="2000" spc="-5" dirty="0">
                <a:latin typeface="Calibri"/>
                <a:cs typeface="Calibri"/>
              </a:rPr>
              <a:t>regalos inadecuados, contenido de la publicidad,  </a:t>
            </a:r>
            <a:r>
              <a:rPr sz="2000" dirty="0">
                <a:latin typeface="Calibri"/>
                <a:cs typeface="Calibri"/>
              </a:rPr>
              <a:t>contratos </a:t>
            </a:r>
            <a:r>
              <a:rPr sz="2000" spc="-5" dirty="0">
                <a:latin typeface="Calibri"/>
                <a:cs typeface="Calibri"/>
              </a:rPr>
              <a:t>gubernamentales,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1200"/>
              </a:spcBef>
              <a:buAutoNum type="arabicPeriod" startAt="3"/>
              <a:tabLst>
                <a:tab pos="469900" algn="l"/>
              </a:tabLst>
            </a:pPr>
            <a:r>
              <a:rPr sz="2000" b="1" spc="-5" dirty="0">
                <a:latin typeface="Calibri"/>
                <a:cs typeface="Calibri"/>
              </a:rPr>
              <a:t>Ejercicio del </a:t>
            </a:r>
            <a:r>
              <a:rPr sz="2000" b="1" dirty="0">
                <a:latin typeface="Calibri"/>
                <a:cs typeface="Calibri"/>
              </a:rPr>
              <a:t>poder </a:t>
            </a:r>
            <a:r>
              <a:rPr sz="2000" b="1" spc="-5" dirty="0">
                <a:latin typeface="Calibri"/>
                <a:cs typeface="Calibri"/>
              </a:rPr>
              <a:t>corporativo</a:t>
            </a:r>
            <a:r>
              <a:rPr sz="2000" spc="-5" dirty="0">
                <a:latin typeface="Calibri"/>
                <a:cs typeface="Calibri"/>
              </a:rPr>
              <a:t>: seguridad de productos, </a:t>
            </a:r>
            <a:r>
              <a:rPr sz="2000" dirty="0">
                <a:latin typeface="Calibri"/>
                <a:cs typeface="Calibri"/>
              </a:rPr>
              <a:t>aspectos  </a:t>
            </a:r>
            <a:r>
              <a:rPr sz="2000" spc="-5" dirty="0">
                <a:latin typeface="Calibri"/>
                <a:cs typeface="Calibri"/>
              </a:rPr>
              <a:t>ambientales, desinversiones, contribuciones corporativas,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144509" cy="5944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Introducción al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estudio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20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Deontología vinculada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uso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Sistemas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Información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 ética en los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negocios</a:t>
            </a:r>
            <a:r>
              <a:rPr sz="18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</a:pPr>
            <a:r>
              <a:rPr sz="3000" b="1" spc="-5" dirty="0">
                <a:latin typeface="Calibri"/>
                <a:cs typeface="Calibri"/>
              </a:rPr>
              <a:t>Principios de ética </a:t>
            </a:r>
            <a:r>
              <a:rPr sz="3000" b="1" dirty="0">
                <a:latin typeface="Calibri"/>
                <a:cs typeface="Calibri"/>
              </a:rPr>
              <a:t>en </a:t>
            </a:r>
            <a:r>
              <a:rPr sz="3000" b="1" spc="-5" dirty="0">
                <a:latin typeface="Calibri"/>
                <a:cs typeface="Calibri"/>
              </a:rPr>
              <a:t>Tecnología</a:t>
            </a:r>
            <a:endParaRPr sz="3000">
              <a:latin typeface="Calibri"/>
              <a:cs typeface="Calibri"/>
            </a:endParaRPr>
          </a:p>
          <a:p>
            <a:pPr marL="490855" marR="2571750" indent="-457200" algn="just">
              <a:lnSpc>
                <a:spcPct val="100000"/>
              </a:lnSpc>
              <a:spcBef>
                <a:spcPts val="1265"/>
              </a:spcBef>
              <a:buAutoNum type="arabicPeriod"/>
              <a:tabLst>
                <a:tab pos="491490" algn="l"/>
              </a:tabLst>
            </a:pPr>
            <a:r>
              <a:rPr sz="2000" b="1" spc="-5" dirty="0">
                <a:latin typeface="Calibri"/>
                <a:cs typeface="Calibri"/>
              </a:rPr>
              <a:t>Proporcionalidad: </a:t>
            </a:r>
            <a:r>
              <a:rPr sz="2000" dirty="0">
                <a:latin typeface="Calibri"/>
                <a:cs typeface="Calibri"/>
              </a:rPr>
              <a:t>el bien </a:t>
            </a:r>
            <a:r>
              <a:rPr sz="2000" spc="-5" dirty="0">
                <a:latin typeface="Calibri"/>
                <a:cs typeface="Calibri"/>
              </a:rPr>
              <a:t>logrado por </a:t>
            </a:r>
            <a:r>
              <a:rPr sz="2000" spc="-10" dirty="0">
                <a:latin typeface="Calibri"/>
                <a:cs typeface="Calibri"/>
              </a:rPr>
              <a:t>la  </a:t>
            </a:r>
            <a:r>
              <a:rPr sz="2000" spc="-5" dirty="0">
                <a:latin typeface="Calibri"/>
                <a:cs typeface="Calibri"/>
              </a:rPr>
              <a:t>tecnología debe superar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5" dirty="0">
                <a:latin typeface="Calibri"/>
                <a:cs typeface="Calibri"/>
              </a:rPr>
              <a:t>daño o riesgo  implicado. Resulta complejo obtener </a:t>
            </a:r>
            <a:r>
              <a:rPr sz="2000" dirty="0">
                <a:latin typeface="Calibri"/>
                <a:cs typeface="Calibri"/>
              </a:rPr>
              <a:t>el </a:t>
            </a:r>
            <a:r>
              <a:rPr sz="2000" spc="-5" dirty="0">
                <a:latin typeface="Calibri"/>
                <a:cs typeface="Calibri"/>
              </a:rPr>
              <a:t>mismo  beneficio con un riesgo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menor.</a:t>
            </a:r>
            <a:endParaRPr sz="2000">
              <a:latin typeface="Calibri"/>
              <a:cs typeface="Calibri"/>
            </a:endParaRPr>
          </a:p>
          <a:p>
            <a:pPr marL="490855" marR="2573020" indent="-45720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91490" algn="l"/>
              </a:tabLst>
            </a:pPr>
            <a:r>
              <a:rPr sz="2000" b="1" spc="-5" dirty="0">
                <a:latin typeface="Calibri"/>
                <a:cs typeface="Calibri"/>
              </a:rPr>
              <a:t>Consentimiento informado: </a:t>
            </a:r>
            <a:r>
              <a:rPr sz="2000" spc="-5" dirty="0">
                <a:latin typeface="Calibri"/>
                <a:cs typeface="Calibri"/>
              </a:rPr>
              <a:t>los </a:t>
            </a:r>
            <a:r>
              <a:rPr sz="2000" dirty="0">
                <a:latin typeface="Calibri"/>
                <a:cs typeface="Calibri"/>
              </a:rPr>
              <a:t>afectados </a:t>
            </a:r>
            <a:r>
              <a:rPr sz="2000" spc="-5" dirty="0">
                <a:latin typeface="Calibri"/>
                <a:cs typeface="Calibri"/>
              </a:rPr>
              <a:t>por </a:t>
            </a:r>
            <a:r>
              <a:rPr sz="2000" spc="-10" dirty="0">
                <a:latin typeface="Calibri"/>
                <a:cs typeface="Calibri"/>
              </a:rPr>
              <a:t>la  </a:t>
            </a:r>
            <a:r>
              <a:rPr sz="2000" spc="-5" dirty="0">
                <a:latin typeface="Calibri"/>
                <a:cs typeface="Calibri"/>
              </a:rPr>
              <a:t>tecnología deben entender y aceptar los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riesgos.</a:t>
            </a:r>
            <a:endParaRPr sz="2000">
              <a:latin typeface="Calibri"/>
              <a:cs typeface="Calibri"/>
            </a:endParaRPr>
          </a:p>
          <a:p>
            <a:pPr marL="490855" marR="2571115" indent="-45720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91490" algn="l"/>
              </a:tabLst>
            </a:pPr>
            <a:r>
              <a:rPr sz="2000" b="1" spc="-5" dirty="0">
                <a:latin typeface="Calibri"/>
                <a:cs typeface="Calibri"/>
              </a:rPr>
              <a:t>Justicia: </a:t>
            </a:r>
            <a:r>
              <a:rPr sz="2000" dirty="0">
                <a:latin typeface="Calibri"/>
                <a:cs typeface="Calibri"/>
              </a:rPr>
              <a:t>los </a:t>
            </a:r>
            <a:r>
              <a:rPr sz="2000" spc="-5" dirty="0">
                <a:latin typeface="Calibri"/>
                <a:cs typeface="Calibri"/>
              </a:rPr>
              <a:t>beneficios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responsabilidades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la  tecnología </a:t>
            </a:r>
            <a:r>
              <a:rPr sz="2000" dirty="0">
                <a:latin typeface="Calibri"/>
                <a:cs typeface="Calibri"/>
              </a:rPr>
              <a:t>deben </a:t>
            </a:r>
            <a:r>
              <a:rPr sz="2000" spc="-5" dirty="0">
                <a:latin typeface="Calibri"/>
                <a:cs typeface="Calibri"/>
              </a:rPr>
              <a:t>distribuirse de manera  </a:t>
            </a:r>
            <a:r>
              <a:rPr sz="2000" dirty="0">
                <a:latin typeface="Calibri"/>
                <a:cs typeface="Calibri"/>
              </a:rPr>
              <a:t>equitativa. </a:t>
            </a:r>
            <a:r>
              <a:rPr sz="2000" spc="-5" dirty="0">
                <a:latin typeface="Calibri"/>
                <a:cs typeface="Calibri"/>
              </a:rPr>
              <a:t>Aquellos que no se benefician no  deben sufrir un aumento significativo del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riesgo.</a:t>
            </a:r>
            <a:endParaRPr sz="2000">
              <a:latin typeface="Calibri"/>
              <a:cs typeface="Calibri"/>
            </a:endParaRPr>
          </a:p>
          <a:p>
            <a:pPr marL="490855" marR="2571750" indent="-457200" algn="just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91490" algn="l"/>
              </a:tabLst>
            </a:pPr>
            <a:r>
              <a:rPr sz="2000" b="1" spc="-5" dirty="0">
                <a:latin typeface="Calibri"/>
                <a:cs typeface="Calibri"/>
              </a:rPr>
              <a:t>Riesgo mínimo: </a:t>
            </a:r>
            <a:r>
              <a:rPr sz="2000" spc="-5" dirty="0">
                <a:latin typeface="Calibri"/>
                <a:cs typeface="Calibri"/>
              </a:rPr>
              <a:t>aunque sea </a:t>
            </a:r>
            <a:r>
              <a:rPr sz="2000" dirty="0">
                <a:latin typeface="Calibri"/>
                <a:cs typeface="Calibri"/>
              </a:rPr>
              <a:t>aceptable </a:t>
            </a:r>
            <a:r>
              <a:rPr sz="2000" spc="-5" dirty="0">
                <a:latin typeface="Calibri"/>
                <a:cs typeface="Calibri"/>
              </a:rPr>
              <a:t>por </a:t>
            </a:r>
            <a:r>
              <a:rPr sz="2000" dirty="0">
                <a:latin typeface="Calibri"/>
                <a:cs typeface="Calibri"/>
              </a:rPr>
              <a:t>las  </a:t>
            </a:r>
            <a:r>
              <a:rPr sz="2000" spc="-5" dirty="0">
                <a:latin typeface="Calibri"/>
                <a:cs typeface="Calibri"/>
              </a:rPr>
              <a:t>otras </a:t>
            </a:r>
            <a:r>
              <a:rPr sz="2000" dirty="0">
                <a:latin typeface="Calibri"/>
                <a:cs typeface="Calibri"/>
              </a:rPr>
              <a:t>tres </a:t>
            </a:r>
            <a:r>
              <a:rPr sz="2000" spc="-5" dirty="0">
                <a:latin typeface="Calibri"/>
                <a:cs typeface="Calibri"/>
              </a:rPr>
              <a:t>condiciones, la tecnología debe  implementarse evitando riesgos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innecesarios.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51177" y="1123188"/>
            <a:ext cx="2792594" cy="2823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72200" y="4114800"/>
            <a:ext cx="2609850" cy="2136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8144509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Introducción al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estudio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de Sistemas</a:t>
            </a:r>
            <a:r>
              <a:rPr sz="20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Deontología vinculada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uso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Sistemas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Información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 ética en los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negocios</a:t>
            </a:r>
            <a:r>
              <a:rPr sz="18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(Cont.)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75690"/>
            <a:ext cx="60642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libri"/>
                <a:cs typeface="Calibri"/>
              </a:rPr>
              <a:t>Obligaciones </a:t>
            </a:r>
            <a:r>
              <a:rPr sz="3000" b="1" dirty="0">
                <a:latin typeface="Calibri"/>
                <a:cs typeface="Calibri"/>
              </a:rPr>
              <a:t>en </a:t>
            </a:r>
            <a:r>
              <a:rPr sz="3000" b="1" spc="-5" dirty="0">
                <a:latin typeface="Calibri"/>
                <a:cs typeface="Calibri"/>
              </a:rPr>
              <a:t>relación </a:t>
            </a:r>
            <a:r>
              <a:rPr sz="3000" b="1" dirty="0">
                <a:latin typeface="Calibri"/>
                <a:cs typeface="Calibri"/>
              </a:rPr>
              <a:t>al</a:t>
            </a:r>
            <a:r>
              <a:rPr sz="3000" b="1" spc="-8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empleador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541271"/>
            <a:ext cx="788924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Evitar conflictos de </a:t>
            </a:r>
            <a:r>
              <a:rPr sz="2000" dirty="0">
                <a:latin typeface="Calibri"/>
                <a:cs typeface="Calibri"/>
              </a:rPr>
              <a:t>intereses </a:t>
            </a:r>
            <a:r>
              <a:rPr sz="2000" spc="-5" dirty="0">
                <a:latin typeface="Calibri"/>
                <a:cs typeface="Calibri"/>
              </a:rPr>
              <a:t>/ Proteger privacidad y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confidencialidad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No </a:t>
            </a:r>
            <a:r>
              <a:rPr sz="2000" spc="-10" dirty="0">
                <a:latin typeface="Calibri"/>
                <a:cs typeface="Calibri"/>
              </a:rPr>
              <a:t>distorsionar </a:t>
            </a:r>
            <a:r>
              <a:rPr sz="2000" spc="-5" dirty="0">
                <a:latin typeface="Calibri"/>
                <a:cs typeface="Calibri"/>
              </a:rPr>
              <a:t>ni retener información / Uso de recursos del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empleador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Explotación de debilidades del </a:t>
            </a:r>
            <a:r>
              <a:rPr sz="2000" spc="-10" dirty="0">
                <a:latin typeface="Calibri"/>
                <a:cs typeface="Calibri"/>
              </a:rPr>
              <a:t>sistema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informático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2675890"/>
            <a:ext cx="48190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libri"/>
                <a:cs typeface="Calibri"/>
              </a:rPr>
              <a:t>Obligaciones </a:t>
            </a:r>
            <a:r>
              <a:rPr sz="3000" b="1" dirty="0">
                <a:latin typeface="Calibri"/>
                <a:cs typeface="Calibri"/>
              </a:rPr>
              <a:t>hacia la</a:t>
            </a:r>
            <a:r>
              <a:rPr sz="3000" b="1" spc="-12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sociedad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3141472"/>
            <a:ext cx="83356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Información sobre habilidades y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conocimientos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El uso de proyectos y responsabilidad social / Apoyar respetar y acatar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leyes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dirty="0">
                <a:latin typeface="Calibri"/>
                <a:cs typeface="Calibri"/>
              </a:rPr>
              <a:t>Retención o </a:t>
            </a:r>
            <a:r>
              <a:rPr sz="2000" spc="-5" dirty="0">
                <a:latin typeface="Calibri"/>
                <a:cs typeface="Calibri"/>
              </a:rPr>
              <a:t>distorsión de información relacionada </a:t>
            </a:r>
            <a:r>
              <a:rPr sz="2000" dirty="0">
                <a:latin typeface="Calibri"/>
                <a:cs typeface="Calibri"/>
              </a:rPr>
              <a:t>con interés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publico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Calibri"/>
                <a:cs typeface="Calibri"/>
              </a:rPr>
              <a:t>Conocimientos </a:t>
            </a:r>
            <a:r>
              <a:rPr sz="2000" spc="-5" dirty="0">
                <a:latin typeface="Calibri"/>
                <a:cs typeface="Calibri"/>
              </a:rPr>
              <a:t>para uso y </a:t>
            </a:r>
            <a:r>
              <a:rPr sz="2000" spc="-10" dirty="0">
                <a:latin typeface="Calibri"/>
                <a:cs typeface="Calibri"/>
              </a:rPr>
              <a:t>provecho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personal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4581144"/>
            <a:ext cx="74212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Calibri"/>
                <a:cs typeface="Calibri"/>
              </a:rPr>
              <a:t>Uso no </a:t>
            </a:r>
            <a:r>
              <a:rPr sz="3000" b="1" dirty="0">
                <a:latin typeface="Calibri"/>
                <a:cs typeface="Calibri"/>
              </a:rPr>
              <a:t>autorizado = </a:t>
            </a:r>
            <a:r>
              <a:rPr sz="3000" b="1" spc="-5" dirty="0">
                <a:latin typeface="Calibri"/>
                <a:cs typeface="Calibri"/>
              </a:rPr>
              <a:t>robo de </a:t>
            </a:r>
            <a:r>
              <a:rPr sz="3000" b="1" dirty="0">
                <a:latin typeface="Calibri"/>
                <a:cs typeface="Calibri"/>
              </a:rPr>
              <a:t>tiempo y</a:t>
            </a:r>
            <a:r>
              <a:rPr sz="3000" b="1" spc="-9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recursos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5046726"/>
            <a:ext cx="82537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Abusos de correo electrónico / Uso y acceso no autorizado por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contraseñas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Calibri"/>
                <a:cs typeface="Calibri"/>
              </a:rPr>
              <a:t>Violación </a:t>
            </a:r>
            <a:r>
              <a:rPr sz="2000" spc="-5" dirty="0">
                <a:latin typeface="Calibri"/>
                <a:cs typeface="Calibri"/>
              </a:rPr>
              <a:t>y plagio de derechos de autor / Anuncios en grupos de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discusión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Transmisión de datos confidenciales / Pornografía / Piratería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informática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Calibri"/>
                <a:cs typeface="Calibri"/>
              </a:rPr>
              <a:t>Uso recreativo de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internet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88403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Deontología,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Ética y Responsabilidad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vinculada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al uso de los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Dimensiones (derechos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calidad)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75690"/>
            <a:ext cx="8457565" cy="458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08025" algn="l"/>
                <a:tab pos="1195070" algn="l"/>
                <a:tab pos="2687955" algn="l"/>
                <a:tab pos="4023995" algn="l"/>
                <a:tab pos="5605145" algn="l"/>
                <a:tab pos="6831965" algn="l"/>
                <a:tab pos="8263890" algn="l"/>
              </a:tabLst>
            </a:pPr>
            <a:r>
              <a:rPr sz="3000" b="1" spc="-10" dirty="0">
                <a:latin typeface="Calibri"/>
                <a:cs typeface="Calibri"/>
              </a:rPr>
              <a:t>L</a:t>
            </a:r>
            <a:r>
              <a:rPr sz="3000" b="1" dirty="0">
                <a:latin typeface="Calibri"/>
                <a:cs typeface="Calibri"/>
              </a:rPr>
              <a:t>as	TI	</a:t>
            </a:r>
            <a:r>
              <a:rPr sz="3000" b="1" spc="-5" dirty="0">
                <a:latin typeface="Calibri"/>
                <a:cs typeface="Calibri"/>
              </a:rPr>
              <a:t>genera</a:t>
            </a:r>
            <a:r>
              <a:rPr sz="3000" b="1" dirty="0">
                <a:latin typeface="Calibri"/>
                <a:cs typeface="Calibri"/>
              </a:rPr>
              <a:t>n	nue</a:t>
            </a:r>
            <a:r>
              <a:rPr sz="3000" b="1" spc="10" dirty="0">
                <a:latin typeface="Calibri"/>
                <a:cs typeface="Calibri"/>
              </a:rPr>
              <a:t>v</a:t>
            </a:r>
            <a:r>
              <a:rPr sz="3000" b="1" dirty="0">
                <a:latin typeface="Calibri"/>
                <a:cs typeface="Calibri"/>
              </a:rPr>
              <a:t>os	aspectos	</a:t>
            </a:r>
            <a:r>
              <a:rPr sz="3000" b="1" spc="-5" dirty="0">
                <a:latin typeface="Calibri"/>
                <a:cs typeface="Calibri"/>
              </a:rPr>
              <a:t>éti</a:t>
            </a:r>
            <a:r>
              <a:rPr sz="3000" b="1" spc="-15" dirty="0">
                <a:latin typeface="Calibri"/>
                <a:cs typeface="Calibri"/>
              </a:rPr>
              <a:t>c</a:t>
            </a:r>
            <a:r>
              <a:rPr sz="3000" b="1" dirty="0">
                <a:latin typeface="Calibri"/>
                <a:cs typeface="Calibri"/>
              </a:rPr>
              <a:t>os,	sociales	y  políticos en </a:t>
            </a:r>
            <a:r>
              <a:rPr sz="3000" b="1" spc="-5" dirty="0">
                <a:latin typeface="Calibri"/>
                <a:cs typeface="Calibri"/>
              </a:rPr>
              <a:t>cinco </a:t>
            </a:r>
            <a:r>
              <a:rPr sz="3000" b="1" dirty="0">
                <a:latin typeface="Calibri"/>
                <a:cs typeface="Calibri"/>
              </a:rPr>
              <a:t>dimensiones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morales: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sz="2800" spc="-5" dirty="0">
                <a:latin typeface="Calibri"/>
                <a:cs typeface="Calibri"/>
              </a:rPr>
              <a:t>Derechos </a:t>
            </a:r>
            <a:r>
              <a:rPr sz="2800" dirty="0">
                <a:latin typeface="Calibri"/>
                <a:cs typeface="Calibri"/>
              </a:rPr>
              <a:t>y </a:t>
            </a:r>
            <a:r>
              <a:rPr sz="2800" spc="-5" dirty="0">
                <a:latin typeface="Calibri"/>
                <a:cs typeface="Calibri"/>
              </a:rPr>
              <a:t>obligaciones 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información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6415" algn="l"/>
                <a:tab pos="527050" algn="l"/>
              </a:tabLst>
            </a:pPr>
            <a:r>
              <a:rPr sz="2800" spc="-5" dirty="0">
                <a:latin typeface="Calibri"/>
                <a:cs typeface="Calibri"/>
              </a:rPr>
              <a:t>Derechos </a:t>
            </a:r>
            <a:r>
              <a:rPr sz="2800" dirty="0">
                <a:latin typeface="Calibri"/>
                <a:cs typeface="Calibri"/>
              </a:rPr>
              <a:t>y </a:t>
            </a:r>
            <a:r>
              <a:rPr sz="2800" spc="-5" dirty="0">
                <a:latin typeface="Calibri"/>
                <a:cs typeface="Calibri"/>
              </a:rPr>
              <a:t>obligaciones 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propiedad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6415" algn="l"/>
                <a:tab pos="527050" algn="l"/>
              </a:tabLst>
            </a:pPr>
            <a:r>
              <a:rPr sz="2800" spc="-5" dirty="0">
                <a:latin typeface="Calibri"/>
                <a:cs typeface="Calibri"/>
              </a:rPr>
              <a:t>Rendición de cuentas </a:t>
            </a:r>
            <a:r>
              <a:rPr sz="2800" dirty="0">
                <a:latin typeface="Calibri"/>
                <a:cs typeface="Calibri"/>
              </a:rPr>
              <a:t>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6415" algn="l"/>
                <a:tab pos="527050" algn="l"/>
              </a:tabLst>
            </a:pPr>
            <a:r>
              <a:rPr sz="2800" spc="-5" dirty="0">
                <a:latin typeface="Calibri"/>
                <a:cs typeface="Calibri"/>
              </a:rPr>
              <a:t>Calidad del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sistema</a:t>
            </a:r>
            <a:endParaRPr sz="280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6415" algn="l"/>
                <a:tab pos="527050" algn="l"/>
              </a:tabLst>
            </a:pPr>
            <a:r>
              <a:rPr sz="2800" spc="-5" dirty="0">
                <a:latin typeface="Calibri"/>
                <a:cs typeface="Calibri"/>
              </a:rPr>
              <a:t>Calidad de</a:t>
            </a:r>
            <a:r>
              <a:rPr sz="2800" dirty="0">
                <a:latin typeface="Calibri"/>
                <a:cs typeface="Calibri"/>
              </a:rPr>
              <a:t> vida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2800" b="1" dirty="0">
                <a:latin typeface="Calibri"/>
                <a:cs typeface="Calibri"/>
              </a:rPr>
              <a:t>En tres </a:t>
            </a:r>
            <a:r>
              <a:rPr sz="2800" b="1" spc="-5" dirty="0">
                <a:latin typeface="Calibri"/>
                <a:cs typeface="Calibri"/>
              </a:rPr>
              <a:t>niveles: </a:t>
            </a:r>
            <a:r>
              <a:rPr sz="2800" b="1" dirty="0">
                <a:latin typeface="Calibri"/>
                <a:cs typeface="Calibri"/>
              </a:rPr>
              <a:t>individual, social y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político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7031355" cy="612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Deontología,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Ética y Responsabilidad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vinculada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al uso de los</a:t>
            </a:r>
            <a:r>
              <a:rPr sz="2000" b="1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Derechos de</a:t>
            </a:r>
            <a:r>
              <a:rPr sz="18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490855" marR="466725" indent="-457200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spc="-5" dirty="0">
                <a:latin typeface="Calibri"/>
                <a:cs typeface="Calibri"/>
              </a:rPr>
              <a:t>Derecho </a:t>
            </a:r>
            <a:r>
              <a:rPr sz="3000" b="1" dirty="0">
                <a:latin typeface="Calibri"/>
                <a:cs typeface="Calibri"/>
              </a:rPr>
              <a:t>a la privacidad, protección</a:t>
            </a:r>
            <a:r>
              <a:rPr sz="3000" b="1" spc="-1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de  datos y habeas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data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90855" indent="-457834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spc="-5" dirty="0">
                <a:latin typeface="Calibri"/>
                <a:cs typeface="Calibri"/>
              </a:rPr>
              <a:t>Desafíos </a:t>
            </a:r>
            <a:r>
              <a:rPr sz="3000" b="1" dirty="0">
                <a:latin typeface="Calibri"/>
                <a:cs typeface="Calibri"/>
              </a:rPr>
              <a:t>de internet a la</a:t>
            </a:r>
            <a:r>
              <a:rPr sz="3000" b="1" spc="-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privacidad</a:t>
            </a:r>
            <a:endParaRPr sz="3000">
              <a:latin typeface="Calibri"/>
              <a:cs typeface="Calibri"/>
            </a:endParaRPr>
          </a:p>
          <a:p>
            <a:pPr marL="711835" lvl="1" indent="-221615">
              <a:lnSpc>
                <a:spcPct val="100000"/>
              </a:lnSpc>
              <a:spcBef>
                <a:spcPts val="35"/>
              </a:spcBef>
              <a:buFont typeface="Calibri"/>
              <a:buChar char="–"/>
              <a:tabLst>
                <a:tab pos="712470" algn="l"/>
              </a:tabLst>
            </a:pPr>
            <a:r>
              <a:rPr sz="2400" i="1" spc="-5" dirty="0">
                <a:latin typeface="Calibri"/>
                <a:cs typeface="Calibri"/>
              </a:rPr>
              <a:t>Cookies</a:t>
            </a:r>
            <a:endParaRPr sz="2400">
              <a:latin typeface="Calibri"/>
              <a:cs typeface="Calibri"/>
            </a:endParaRPr>
          </a:p>
          <a:p>
            <a:pPr marL="711835" lvl="1" indent="-221615">
              <a:lnSpc>
                <a:spcPct val="100000"/>
              </a:lnSpc>
              <a:buFont typeface="Calibri"/>
              <a:buChar char="–"/>
              <a:tabLst>
                <a:tab pos="712470" algn="l"/>
              </a:tabLst>
            </a:pPr>
            <a:r>
              <a:rPr sz="2400" i="1" dirty="0">
                <a:latin typeface="Calibri"/>
                <a:cs typeface="Calibri"/>
              </a:rPr>
              <a:t>Bugs web </a:t>
            </a:r>
            <a:r>
              <a:rPr sz="2400" spc="-5" dirty="0">
                <a:latin typeface="Calibri"/>
                <a:cs typeface="Calibri"/>
              </a:rPr>
              <a:t>(en </a:t>
            </a:r>
            <a:r>
              <a:rPr sz="2400" dirty="0">
                <a:latin typeface="Calibri"/>
                <a:cs typeface="Calibri"/>
              </a:rPr>
              <a:t>email 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páginas)</a:t>
            </a:r>
            <a:endParaRPr sz="2400">
              <a:latin typeface="Calibri"/>
              <a:cs typeface="Calibri"/>
            </a:endParaRPr>
          </a:p>
          <a:p>
            <a:pPr marL="711835" lvl="1" indent="-221615">
              <a:lnSpc>
                <a:spcPct val="100000"/>
              </a:lnSpc>
              <a:buFont typeface="Calibri"/>
              <a:buChar char="–"/>
              <a:tabLst>
                <a:tab pos="712470" algn="l"/>
              </a:tabLst>
            </a:pPr>
            <a:r>
              <a:rPr sz="2400" i="1" spc="-5" dirty="0">
                <a:latin typeface="Calibri"/>
                <a:cs typeface="Calibri"/>
              </a:rPr>
              <a:t>Spyware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Calibri"/>
              <a:buChar char="–"/>
            </a:pPr>
            <a:endParaRPr sz="3100">
              <a:latin typeface="Times New Roman"/>
              <a:cs typeface="Times New Roman"/>
            </a:endParaRPr>
          </a:p>
          <a:p>
            <a:pPr marL="490855" marR="1250950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spc="-5" dirty="0">
                <a:latin typeface="Calibri"/>
                <a:cs typeface="Calibri"/>
              </a:rPr>
              <a:t>Opción </a:t>
            </a:r>
            <a:r>
              <a:rPr sz="3000" b="1" dirty="0">
                <a:latin typeface="Calibri"/>
                <a:cs typeface="Calibri"/>
              </a:rPr>
              <a:t>de participar </a:t>
            </a:r>
            <a:r>
              <a:rPr sz="3000" b="1" spc="-5" dirty="0">
                <a:latin typeface="Calibri"/>
                <a:cs typeface="Calibri"/>
              </a:rPr>
              <a:t>(</a:t>
            </a:r>
            <a:r>
              <a:rPr sz="3000" b="1" i="1" spc="-5" dirty="0">
                <a:latin typeface="Calibri"/>
                <a:cs typeface="Calibri"/>
              </a:rPr>
              <a:t>opt-in</a:t>
            </a:r>
            <a:r>
              <a:rPr sz="3000" b="1" spc="-5" dirty="0">
                <a:latin typeface="Calibri"/>
                <a:cs typeface="Calibri"/>
              </a:rPr>
              <a:t>) </a:t>
            </a:r>
            <a:r>
              <a:rPr sz="3000" b="1" dirty="0">
                <a:latin typeface="Calibri"/>
                <a:cs typeface="Calibri"/>
              </a:rPr>
              <a:t>o</a:t>
            </a:r>
            <a:r>
              <a:rPr sz="3000" b="1" spc="-10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no  </a:t>
            </a:r>
            <a:r>
              <a:rPr sz="3000" b="1" spc="-5" dirty="0">
                <a:latin typeface="Calibri"/>
                <a:cs typeface="Calibri"/>
              </a:rPr>
              <a:t>(</a:t>
            </a:r>
            <a:r>
              <a:rPr sz="3000" b="1" i="1" spc="-5" dirty="0">
                <a:latin typeface="Calibri"/>
                <a:cs typeface="Calibri"/>
              </a:rPr>
              <a:t>opt-out</a:t>
            </a:r>
            <a:r>
              <a:rPr sz="3000" b="1" spc="-5" dirty="0">
                <a:latin typeface="Calibri"/>
                <a:cs typeface="Calibri"/>
              </a:rPr>
              <a:t>)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90855" indent="-457834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dirty="0">
                <a:latin typeface="Calibri"/>
                <a:cs typeface="Calibri"/>
              </a:rPr>
              <a:t>Solución técnica: navegar</a:t>
            </a:r>
            <a:r>
              <a:rPr sz="3000" b="1" spc="-1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anónimamente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46681" y="1143000"/>
            <a:ext cx="1682289" cy="1637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85838" y="2909316"/>
            <a:ext cx="1761744" cy="15445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87361" y="4495800"/>
            <a:ext cx="1771650" cy="12542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884034" cy="551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Deontología,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Ética y Responsabilidad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vinculada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al uso de los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Derechos de propiedad</a:t>
            </a:r>
            <a:r>
              <a:rPr sz="18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intelectual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490855" indent="-457834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dirty="0">
                <a:latin typeface="Calibri"/>
                <a:cs typeface="Calibri"/>
              </a:rPr>
              <a:t>Secreto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comercial</a:t>
            </a:r>
            <a:endParaRPr sz="3000">
              <a:latin typeface="Calibri"/>
              <a:cs typeface="Calibri"/>
            </a:endParaRPr>
          </a:p>
          <a:p>
            <a:pPr marL="833755" marR="1230630" lvl="1" indent="-342900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833755" algn="l"/>
                <a:tab pos="834390" algn="l"/>
              </a:tabLst>
            </a:pPr>
            <a:r>
              <a:rPr sz="2400" dirty="0">
                <a:latin typeface="Calibri"/>
                <a:cs typeface="Calibri"/>
              </a:rPr>
              <a:t>Producto </a:t>
            </a:r>
            <a:r>
              <a:rPr sz="2400" spc="-5" dirty="0">
                <a:latin typeface="Calibri"/>
                <a:cs typeface="Calibri"/>
              </a:rPr>
              <a:t>del </a:t>
            </a:r>
            <a:r>
              <a:rPr sz="2400" dirty="0">
                <a:latin typeface="Calibri"/>
                <a:cs typeface="Calibri"/>
              </a:rPr>
              <a:t>trabajo intelectual </a:t>
            </a:r>
            <a:r>
              <a:rPr sz="2400" spc="-5" dirty="0">
                <a:latin typeface="Calibri"/>
                <a:cs typeface="Calibri"/>
              </a:rPr>
              <a:t>que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  utilice para un fin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comercial</a:t>
            </a:r>
            <a:endParaRPr sz="2400">
              <a:latin typeface="Calibri"/>
              <a:cs typeface="Calibri"/>
            </a:endParaRPr>
          </a:p>
          <a:p>
            <a:pPr marL="833755" marR="2338705" lvl="1" indent="-342900">
              <a:lnSpc>
                <a:spcPct val="100000"/>
              </a:lnSpc>
              <a:buFont typeface="Arial"/>
              <a:buChar char="•"/>
              <a:tabLst>
                <a:tab pos="833755" algn="l"/>
                <a:tab pos="834390" algn="l"/>
              </a:tabLst>
            </a:pPr>
            <a:r>
              <a:rPr sz="2400" spc="-5" dirty="0">
                <a:latin typeface="Calibri"/>
                <a:cs typeface="Calibri"/>
              </a:rPr>
              <a:t>Fórmula, dispositivo, patrón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  compilación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90855" indent="-457834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spc="-5" dirty="0">
                <a:latin typeface="Calibri"/>
                <a:cs typeface="Calibri"/>
              </a:rPr>
              <a:t>Derechos </a:t>
            </a:r>
            <a:r>
              <a:rPr sz="3000" b="1" dirty="0">
                <a:latin typeface="Calibri"/>
                <a:cs typeface="Calibri"/>
              </a:rPr>
              <a:t>de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autor</a:t>
            </a:r>
            <a:endParaRPr sz="3000">
              <a:latin typeface="Calibri"/>
              <a:cs typeface="Calibri"/>
            </a:endParaRPr>
          </a:p>
          <a:p>
            <a:pPr marL="948055" lvl="1" indent="-457834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800" spc="-5" dirty="0">
                <a:latin typeface="Calibri"/>
                <a:cs typeface="Calibri"/>
              </a:rPr>
              <a:t>Cubre </a:t>
            </a:r>
            <a:r>
              <a:rPr sz="2800" dirty="0">
                <a:latin typeface="Calibri"/>
                <a:cs typeface="Calibri"/>
              </a:rPr>
              <a:t>al </a:t>
            </a:r>
            <a:r>
              <a:rPr sz="2800" spc="-5" dirty="0">
                <a:latin typeface="Calibri"/>
                <a:cs typeface="Calibri"/>
              </a:rPr>
              <a:t>software por </a:t>
            </a:r>
            <a:r>
              <a:rPr sz="2800" dirty="0">
                <a:latin typeface="Calibri"/>
                <a:cs typeface="Calibri"/>
              </a:rPr>
              <a:t>70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años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90855" indent="-457834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spc="-5" dirty="0">
                <a:latin typeface="Calibri"/>
                <a:cs typeface="Calibri"/>
              </a:rPr>
              <a:t>Patentes</a:t>
            </a:r>
            <a:endParaRPr sz="3000">
              <a:latin typeface="Calibri"/>
              <a:cs typeface="Calibri"/>
            </a:endParaRPr>
          </a:p>
          <a:p>
            <a:pPr marL="948055" lvl="1" indent="-457834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800" spc="-5" dirty="0">
                <a:latin typeface="Calibri"/>
                <a:cs typeface="Calibri"/>
              </a:rPr>
              <a:t>Cubre </a:t>
            </a:r>
            <a:r>
              <a:rPr sz="2800" dirty="0">
                <a:latin typeface="Calibri"/>
                <a:cs typeface="Calibri"/>
              </a:rPr>
              <a:t>el </a:t>
            </a:r>
            <a:r>
              <a:rPr sz="2800" spc="-5" dirty="0">
                <a:latin typeface="Calibri"/>
                <a:cs typeface="Calibri"/>
              </a:rPr>
              <a:t>hardware por </a:t>
            </a:r>
            <a:r>
              <a:rPr sz="2800" dirty="0">
                <a:latin typeface="Calibri"/>
                <a:cs typeface="Calibri"/>
              </a:rPr>
              <a:t>20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años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72200" y="1175766"/>
            <a:ext cx="16764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96506" y="2286000"/>
            <a:ext cx="1747266" cy="1747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66875" y="4111752"/>
            <a:ext cx="1904661" cy="21435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88403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 – </a:t>
            </a:r>
            <a:r>
              <a:rPr spc="-10" dirty="0"/>
              <a:t>Deontología, </a:t>
            </a:r>
            <a:r>
              <a:rPr spc="-5" dirty="0"/>
              <a:t>Ética y Responsabilidad </a:t>
            </a:r>
            <a:r>
              <a:rPr spc="-10" dirty="0"/>
              <a:t>vinculada </a:t>
            </a:r>
            <a:r>
              <a:rPr spc="-5" dirty="0"/>
              <a:t>al uso de los</a:t>
            </a:r>
            <a:r>
              <a:rPr spc="165" dirty="0"/>
              <a:t> </a:t>
            </a:r>
            <a:r>
              <a:rPr spc="-5" dirty="0"/>
              <a:t>SI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Rendición </a:t>
            </a:r>
            <a:r>
              <a:rPr sz="1800" b="0" spc="-5" dirty="0">
                <a:latin typeface="Calibri"/>
                <a:cs typeface="Calibri"/>
              </a:rPr>
              <a:t>de </a:t>
            </a:r>
            <a:r>
              <a:rPr sz="1800" b="0" dirty="0">
                <a:latin typeface="Calibri"/>
                <a:cs typeface="Calibri"/>
              </a:rPr>
              <a:t>cuentas y</a:t>
            </a:r>
            <a:r>
              <a:rPr sz="1800" b="0" spc="35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control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75690"/>
            <a:ext cx="6090920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3000" b="1" spc="-5" dirty="0">
                <a:latin typeface="Calibri"/>
                <a:cs typeface="Calibri"/>
              </a:rPr>
              <a:t>Problemas de responsabilidad </a:t>
            </a:r>
            <a:r>
              <a:rPr sz="3000" b="1" dirty="0">
                <a:latin typeface="Calibri"/>
                <a:cs typeface="Calibri"/>
              </a:rPr>
              <a:t>legal  asociados a las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computadoras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927100" marR="5715" lvl="1" indent="-457200" algn="just">
              <a:lnSpc>
                <a:spcPct val="100000"/>
              </a:lnSpc>
              <a:buFont typeface="Arial"/>
              <a:buChar char="•"/>
              <a:tabLst>
                <a:tab pos="927100" algn="l"/>
              </a:tabLst>
            </a:pPr>
            <a:r>
              <a:rPr sz="3000" spc="-5" dirty="0">
                <a:latin typeface="Calibri"/>
                <a:cs typeface="Calibri"/>
              </a:rPr>
              <a:t>¿Quién es </a:t>
            </a:r>
            <a:r>
              <a:rPr sz="3000" dirty="0">
                <a:latin typeface="Calibri"/>
                <a:cs typeface="Calibri"/>
              </a:rPr>
              <a:t>el responsable por </a:t>
            </a:r>
            <a:r>
              <a:rPr sz="3000" spc="-5" dirty="0">
                <a:latin typeface="Calibri"/>
                <a:cs typeface="Calibri"/>
              </a:rPr>
              <a:t>un  daño </a:t>
            </a:r>
            <a:r>
              <a:rPr sz="3000" dirty="0">
                <a:latin typeface="Calibri"/>
                <a:cs typeface="Calibri"/>
              </a:rPr>
              <a:t>cometido por </a:t>
            </a:r>
            <a:r>
              <a:rPr sz="3000" spc="-5" dirty="0">
                <a:latin typeface="Calibri"/>
                <a:cs typeface="Calibri"/>
              </a:rPr>
              <a:t>sistemas  desarrollados </a:t>
            </a:r>
            <a:r>
              <a:rPr sz="3000" dirty="0">
                <a:latin typeface="Calibri"/>
                <a:cs typeface="Calibri"/>
              </a:rPr>
              <a:t>por una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empresa?</a:t>
            </a:r>
            <a:endParaRPr sz="3000">
              <a:latin typeface="Calibri"/>
              <a:cs typeface="Calibri"/>
            </a:endParaRPr>
          </a:p>
          <a:p>
            <a:pPr marL="927100" marR="5080" lvl="1" indent="-457200" algn="just">
              <a:lnSpc>
                <a:spcPct val="100000"/>
              </a:lnSpc>
              <a:buFont typeface="Arial"/>
              <a:buChar char="•"/>
              <a:tabLst>
                <a:tab pos="927100" algn="l"/>
              </a:tabLst>
            </a:pPr>
            <a:r>
              <a:rPr sz="3000" dirty="0">
                <a:latin typeface="Calibri"/>
                <a:cs typeface="Calibri"/>
              </a:rPr>
              <a:t>¿Y </a:t>
            </a:r>
            <a:r>
              <a:rPr sz="3000" spc="-5" dirty="0">
                <a:latin typeface="Calibri"/>
                <a:cs typeface="Calibri"/>
              </a:rPr>
              <a:t>por </a:t>
            </a:r>
            <a:r>
              <a:rPr sz="3000" dirty="0">
                <a:latin typeface="Calibri"/>
                <a:cs typeface="Calibri"/>
              </a:rPr>
              <a:t>contenido </a:t>
            </a:r>
            <a:r>
              <a:rPr sz="3000" spc="-10" dirty="0">
                <a:latin typeface="Calibri"/>
                <a:cs typeface="Calibri"/>
              </a:rPr>
              <a:t>ofensivo </a:t>
            </a:r>
            <a:r>
              <a:rPr sz="3000" dirty="0">
                <a:latin typeface="Calibri"/>
                <a:cs typeface="Calibri"/>
              </a:rPr>
              <a:t>en </a:t>
            </a:r>
            <a:r>
              <a:rPr sz="3000" spc="-5" dirty="0">
                <a:latin typeface="Calibri"/>
                <a:cs typeface="Calibri"/>
              </a:rPr>
              <a:t>sus  sitios web? </a:t>
            </a:r>
            <a:r>
              <a:rPr sz="3000" dirty="0">
                <a:latin typeface="Calibri"/>
                <a:cs typeface="Calibri"/>
              </a:rPr>
              <a:t>Mismo caso </a:t>
            </a:r>
            <a:r>
              <a:rPr sz="3000" spc="-5" dirty="0">
                <a:latin typeface="Calibri"/>
                <a:cs typeface="Calibri"/>
              </a:rPr>
              <a:t>que </a:t>
            </a:r>
            <a:r>
              <a:rPr sz="3000" dirty="0">
                <a:latin typeface="Calibri"/>
                <a:cs typeface="Calibri"/>
              </a:rPr>
              <a:t>los  libros, los teléfonos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…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8261" y="1219200"/>
            <a:ext cx="2175509" cy="1447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68261" y="2895600"/>
            <a:ext cx="2193798" cy="1459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7088" y="4648200"/>
            <a:ext cx="2161841" cy="15811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884034" cy="594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Deontología,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Ética y Responsabilidad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vinculada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al uso de los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Calidad del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sistema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490855" marR="1898650" indent="-457200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dirty="0">
                <a:latin typeface="Calibri"/>
                <a:cs typeface="Calibri"/>
              </a:rPr>
              <a:t>Nivel de </a:t>
            </a:r>
            <a:r>
              <a:rPr sz="3000" b="1" spc="-5" dirty="0">
                <a:latin typeface="Calibri"/>
                <a:cs typeface="Calibri"/>
              </a:rPr>
              <a:t>calidad </a:t>
            </a:r>
            <a:r>
              <a:rPr sz="3000" b="1" dirty="0">
                <a:latin typeface="Calibri"/>
                <a:cs typeface="Calibri"/>
              </a:rPr>
              <a:t>de</a:t>
            </a:r>
            <a:r>
              <a:rPr sz="3000" b="1" spc="-1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software  aceptable</a:t>
            </a:r>
            <a:endParaRPr sz="3000">
              <a:latin typeface="Calibri"/>
              <a:cs typeface="Calibri"/>
            </a:endParaRPr>
          </a:p>
          <a:p>
            <a:pPr marL="948055" lvl="1" indent="-457834">
              <a:lnSpc>
                <a:spcPct val="100000"/>
              </a:lnSpc>
              <a:spcBef>
                <a:spcPts val="2195"/>
              </a:spcBef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400" spc="-5" dirty="0">
                <a:latin typeface="Calibri"/>
                <a:cs typeface="Calibri"/>
              </a:rPr>
              <a:t>¿Hasta </a:t>
            </a:r>
            <a:r>
              <a:rPr sz="2400" dirty="0">
                <a:latin typeface="Calibri"/>
                <a:cs typeface="Calibri"/>
              </a:rPr>
              <a:t>cuándo</a:t>
            </a:r>
            <a:r>
              <a:rPr sz="2400" spc="-5" dirty="0">
                <a:latin typeface="Calibri"/>
                <a:cs typeface="Calibri"/>
              </a:rPr>
              <a:t> probamos?</a:t>
            </a:r>
            <a:endParaRPr sz="2400">
              <a:latin typeface="Calibri"/>
              <a:cs typeface="Calibri"/>
            </a:endParaRPr>
          </a:p>
          <a:p>
            <a:pPr marL="948055" marR="1915160" lvl="1" indent="-457200">
              <a:lnSpc>
                <a:spcPct val="100000"/>
              </a:lnSpc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400" dirty="0">
                <a:latin typeface="Calibri"/>
                <a:cs typeface="Calibri"/>
              </a:rPr>
              <a:t>No </a:t>
            </a:r>
            <a:r>
              <a:rPr sz="2400" spc="-5" dirty="0">
                <a:latin typeface="Calibri"/>
                <a:cs typeface="Calibri"/>
              </a:rPr>
              <a:t>hay </a:t>
            </a:r>
            <a:r>
              <a:rPr sz="2400" dirty="0">
                <a:latin typeface="Calibri"/>
                <a:cs typeface="Calibri"/>
              </a:rPr>
              <a:t>estándares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calidad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 software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90855" marR="1049020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3000" b="1" dirty="0">
                <a:latin typeface="Calibri"/>
                <a:cs typeface="Calibri"/>
              </a:rPr>
              <a:t>Fuentes de mal desempeño de</a:t>
            </a:r>
            <a:r>
              <a:rPr sz="3000" b="1" spc="-10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un  sistema</a:t>
            </a:r>
            <a:endParaRPr sz="3000">
              <a:latin typeface="Calibri"/>
              <a:cs typeface="Calibri"/>
            </a:endParaRPr>
          </a:p>
          <a:p>
            <a:pPr marL="948055" lvl="1" indent="-457834">
              <a:lnSpc>
                <a:spcPct val="100000"/>
              </a:lnSpc>
              <a:spcBef>
                <a:spcPts val="2195"/>
              </a:spcBef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400" spc="-5" dirty="0">
                <a:latin typeface="Calibri"/>
                <a:cs typeface="Calibri"/>
              </a:rPr>
              <a:t>Errores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i="1" spc="-5" dirty="0">
                <a:latin typeface="Calibri"/>
                <a:cs typeface="Calibri"/>
              </a:rPr>
              <a:t>bugs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948055" lvl="1" indent="-457834">
              <a:lnSpc>
                <a:spcPct val="100000"/>
              </a:lnSpc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400" spc="-5" dirty="0">
                <a:latin typeface="Calibri"/>
                <a:cs typeface="Calibri"/>
              </a:rPr>
              <a:t>Fallas de hardware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instalaciones</a:t>
            </a:r>
            <a:endParaRPr sz="2400">
              <a:latin typeface="Calibri"/>
              <a:cs typeface="Calibri"/>
            </a:endParaRPr>
          </a:p>
          <a:p>
            <a:pPr marL="948055" lvl="1" indent="-457834">
              <a:lnSpc>
                <a:spcPct val="100000"/>
              </a:lnSpc>
              <a:buFont typeface="Arial"/>
              <a:buChar char="•"/>
              <a:tabLst>
                <a:tab pos="948055" algn="l"/>
                <a:tab pos="948690" algn="l"/>
              </a:tabLst>
            </a:pPr>
            <a:r>
              <a:rPr sz="2400" dirty="0">
                <a:latin typeface="Calibri"/>
                <a:cs typeface="Calibri"/>
              </a:rPr>
              <a:t>Mala calidad </a:t>
            </a:r>
            <a:r>
              <a:rPr sz="2400" spc="-5" dirty="0">
                <a:latin typeface="Calibri"/>
                <a:cs typeface="Calibri"/>
              </a:rPr>
              <a:t>de datos 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70215" y="1572767"/>
            <a:ext cx="1876697" cy="1743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29196" y="3810000"/>
            <a:ext cx="2152650" cy="1685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6884034" cy="5603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I –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Deontología,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Ética y Responsabilidad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vinculada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al uso de los</a:t>
            </a:r>
            <a:r>
              <a:rPr sz="20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Calidad de</a:t>
            </a:r>
            <a:r>
              <a:rPr sz="18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vida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490855" marR="394335" indent="-457200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2800" dirty="0">
                <a:latin typeface="Calibri"/>
                <a:cs typeface="Calibri"/>
              </a:rPr>
              <a:t>Poder </a:t>
            </a:r>
            <a:r>
              <a:rPr sz="2800" spc="-5" dirty="0">
                <a:latin typeface="Calibri"/>
                <a:cs typeface="Calibri"/>
              </a:rPr>
              <a:t>descentralizado en </a:t>
            </a:r>
            <a:r>
              <a:rPr sz="2800" dirty="0">
                <a:latin typeface="Calibri"/>
                <a:cs typeface="Calibri"/>
              </a:rPr>
              <a:t>los </a:t>
            </a:r>
            <a:r>
              <a:rPr sz="2800" spc="-5" dirty="0">
                <a:latin typeface="Calibri"/>
                <a:cs typeface="Calibri"/>
              </a:rPr>
              <a:t>empleados  (pero decisiones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centralizadas)</a:t>
            </a:r>
            <a:endParaRPr sz="2800">
              <a:latin typeface="Calibri"/>
              <a:cs typeface="Calibri"/>
            </a:endParaRPr>
          </a:p>
          <a:p>
            <a:pPr marL="490855" marR="394970" indent="-457200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  <a:tab pos="2156460" algn="l"/>
                <a:tab pos="3394710" algn="l"/>
                <a:tab pos="5016500" algn="l"/>
                <a:tab pos="6163310" algn="l"/>
              </a:tabLst>
            </a:pPr>
            <a:r>
              <a:rPr sz="2800" dirty="0">
                <a:latin typeface="Calibri"/>
                <a:cs typeface="Calibri"/>
              </a:rPr>
              <a:t>Mercado	g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oba</a:t>
            </a:r>
            <a:r>
              <a:rPr sz="2800" dirty="0">
                <a:latin typeface="Calibri"/>
                <a:cs typeface="Calibri"/>
              </a:rPr>
              <a:t>l	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f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ci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nt</a:t>
            </a:r>
            <a:r>
              <a:rPr sz="2800" dirty="0">
                <a:latin typeface="Calibri"/>
                <a:cs typeface="Calibri"/>
              </a:rPr>
              <a:t>e	</a:t>
            </a:r>
            <a:r>
              <a:rPr sz="2800" spc="-5" dirty="0">
                <a:latin typeface="Calibri"/>
                <a:cs typeface="Calibri"/>
              </a:rPr>
              <a:t>(per</a:t>
            </a:r>
            <a:r>
              <a:rPr sz="2800" dirty="0">
                <a:latin typeface="Calibri"/>
                <a:cs typeface="Calibri"/>
              </a:rPr>
              <a:t>o	se  </a:t>
            </a:r>
            <a:r>
              <a:rPr sz="2800" spc="-5" dirty="0">
                <a:latin typeface="Calibri"/>
                <a:cs typeface="Calibri"/>
              </a:rPr>
              <a:t>necesitan </a:t>
            </a:r>
            <a:r>
              <a:rPr sz="2800" dirty="0">
                <a:latin typeface="Calibri"/>
                <a:cs typeface="Calibri"/>
              </a:rPr>
              <a:t>respuestas </a:t>
            </a:r>
            <a:r>
              <a:rPr sz="2800" spc="-5" dirty="0">
                <a:latin typeface="Calibri"/>
                <a:cs typeface="Calibri"/>
              </a:rPr>
              <a:t>muy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rápidas)</a:t>
            </a:r>
            <a:endParaRPr sz="2800">
              <a:latin typeface="Calibri"/>
              <a:cs typeface="Calibri"/>
            </a:endParaRPr>
          </a:p>
          <a:p>
            <a:pPr marL="490855" marR="394970" indent="-457200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  <a:tab pos="1648460" algn="l"/>
                <a:tab pos="5150485" algn="l"/>
              </a:tabLst>
            </a:pPr>
            <a:r>
              <a:rPr sz="2800" spc="-5" dirty="0">
                <a:latin typeface="Calibri"/>
                <a:cs typeface="Calibri"/>
              </a:rPr>
              <a:t>Límites	borrosos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entre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familia,	</a:t>
            </a:r>
            <a:r>
              <a:rPr sz="2800" spc="-5" dirty="0">
                <a:latin typeface="Calibri"/>
                <a:cs typeface="Calibri"/>
              </a:rPr>
              <a:t>trabajo </a:t>
            </a:r>
            <a:r>
              <a:rPr sz="2800" dirty="0">
                <a:latin typeface="Calibri"/>
                <a:cs typeface="Calibri"/>
              </a:rPr>
              <a:t>y  </a:t>
            </a:r>
            <a:r>
              <a:rPr sz="2800" spc="-5" dirty="0">
                <a:latin typeface="Calibri"/>
                <a:cs typeface="Calibri"/>
              </a:rPr>
              <a:t>diversión</a:t>
            </a:r>
            <a:endParaRPr sz="2800">
              <a:latin typeface="Calibri"/>
              <a:cs typeface="Calibri"/>
            </a:endParaRPr>
          </a:p>
          <a:p>
            <a:pPr marL="490855" marR="394970" indent="-457200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2800" spc="-5" dirty="0">
                <a:latin typeface="Calibri"/>
                <a:cs typeface="Calibri"/>
              </a:rPr>
              <a:t>Alta dependencia </a:t>
            </a:r>
            <a:r>
              <a:rPr sz="2800" dirty="0">
                <a:latin typeface="Calibri"/>
                <a:cs typeface="Calibri"/>
              </a:rPr>
              <a:t>de </a:t>
            </a:r>
            <a:r>
              <a:rPr sz="2800" spc="-5" dirty="0">
                <a:latin typeface="Calibri"/>
                <a:cs typeface="Calibri"/>
              </a:rPr>
              <a:t>la tecnología (lo que  </a:t>
            </a:r>
            <a:r>
              <a:rPr sz="2800" dirty="0">
                <a:latin typeface="Calibri"/>
                <a:cs typeface="Calibri"/>
              </a:rPr>
              <a:t>trae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vulnerabilidad)</a:t>
            </a:r>
            <a:endParaRPr sz="2800">
              <a:latin typeface="Calibri"/>
              <a:cs typeface="Calibri"/>
            </a:endParaRPr>
          </a:p>
          <a:p>
            <a:pPr marL="490855" indent="-457834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2800" spc="-5" dirty="0">
                <a:latin typeface="Calibri"/>
                <a:cs typeface="Calibri"/>
              </a:rPr>
              <a:t>Perdida </a:t>
            </a:r>
            <a:r>
              <a:rPr sz="2800" dirty="0">
                <a:latin typeface="Calibri"/>
                <a:cs typeface="Calibri"/>
              </a:rPr>
              <a:t>(y </a:t>
            </a:r>
            <a:r>
              <a:rPr sz="2800" spc="-5" dirty="0">
                <a:latin typeface="Calibri"/>
                <a:cs typeface="Calibri"/>
              </a:rPr>
              <a:t>creación) 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empleos</a:t>
            </a:r>
            <a:endParaRPr sz="2800">
              <a:latin typeface="Calibri"/>
              <a:cs typeface="Calibri"/>
            </a:endParaRPr>
          </a:p>
          <a:p>
            <a:pPr marL="490855" indent="-457834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2800" spc="-5" dirty="0">
                <a:latin typeface="Calibri"/>
                <a:cs typeface="Calibri"/>
              </a:rPr>
              <a:t>Equidad </a:t>
            </a:r>
            <a:r>
              <a:rPr sz="2800" dirty="0">
                <a:latin typeface="Calibri"/>
                <a:cs typeface="Calibri"/>
              </a:rPr>
              <a:t>y acceso a las TI </a:t>
            </a:r>
            <a:r>
              <a:rPr sz="2800" spc="-5" dirty="0">
                <a:latin typeface="Calibri"/>
                <a:cs typeface="Calibri"/>
              </a:rPr>
              <a:t>(brecha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digital)</a:t>
            </a:r>
            <a:endParaRPr sz="2800">
              <a:latin typeface="Calibri"/>
              <a:cs typeface="Calibri"/>
            </a:endParaRPr>
          </a:p>
          <a:p>
            <a:pPr marL="490855" indent="-457834">
              <a:lnSpc>
                <a:spcPct val="100000"/>
              </a:lnSpc>
              <a:buFont typeface="Arial"/>
              <a:buChar char="•"/>
              <a:tabLst>
                <a:tab pos="490855" algn="l"/>
                <a:tab pos="491490" algn="l"/>
              </a:tabLst>
            </a:pPr>
            <a:r>
              <a:rPr sz="2800" dirty="0">
                <a:latin typeface="Calibri"/>
                <a:cs typeface="Calibri"/>
              </a:rPr>
              <a:t>Riesgos </a:t>
            </a:r>
            <a:r>
              <a:rPr sz="2800" spc="-5" dirty="0">
                <a:latin typeface="Calibri"/>
                <a:cs typeface="Calibri"/>
              </a:rPr>
              <a:t>de salud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17375" y="1333157"/>
            <a:ext cx="1817913" cy="12972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43343" y="2819400"/>
            <a:ext cx="1990364" cy="2057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86600" y="5069585"/>
            <a:ext cx="1869948" cy="12443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5" dirty="0">
                <a:solidFill>
                  <a:srgbClr val="00338D"/>
                </a:solidFill>
                <a:latin typeface="Calibri"/>
                <a:cs typeface="Calibri"/>
              </a:rPr>
              <a:t>Síntesis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</a:t>
            </a:r>
            <a:r>
              <a:rPr spc="-45" dirty="0"/>
              <a:t> </a:t>
            </a:r>
            <a:r>
              <a:rPr spc="-5" dirty="0"/>
              <a:t>Síntesis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500126"/>
            <a:ext cx="8641080" cy="272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Resumen y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preguntas de</a:t>
            </a:r>
            <a:r>
              <a:rPr sz="18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repaso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Times New Roman"/>
              <a:cs typeface="Times New Roman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Explicitamos </a:t>
            </a:r>
            <a:r>
              <a:rPr sz="2400" dirty="0">
                <a:latin typeface="Calibri"/>
                <a:cs typeface="Calibri"/>
              </a:rPr>
              <a:t>la relevancia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deontología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la ética en </a:t>
            </a:r>
            <a:r>
              <a:rPr sz="2400" dirty="0">
                <a:latin typeface="Calibri"/>
                <a:cs typeface="Calibri"/>
              </a:rPr>
              <a:t>la gestión 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SI/TI.</a:t>
            </a:r>
            <a:endParaRPr sz="24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dirty="0">
                <a:latin typeface="Calibri"/>
                <a:cs typeface="Calibri"/>
              </a:rPr>
              <a:t>Repasamos categorías </a:t>
            </a:r>
            <a:r>
              <a:rPr sz="2400" spc="-5" dirty="0">
                <a:latin typeface="Calibri"/>
                <a:cs typeface="Calibri"/>
              </a:rPr>
              <a:t>de principios </a:t>
            </a:r>
            <a:r>
              <a:rPr sz="2400" dirty="0">
                <a:latin typeface="Calibri"/>
                <a:cs typeface="Calibri"/>
              </a:rPr>
              <a:t>éticos ligados al </a:t>
            </a:r>
            <a:r>
              <a:rPr sz="2400" spc="-5" dirty="0">
                <a:latin typeface="Calibri"/>
                <a:cs typeface="Calibri"/>
              </a:rPr>
              <a:t>uso de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SI.</a:t>
            </a:r>
            <a:endParaRPr sz="24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dirty="0">
                <a:latin typeface="Calibri"/>
                <a:cs typeface="Calibri"/>
              </a:rPr>
              <a:t>Analizamos cuáles </a:t>
            </a:r>
            <a:r>
              <a:rPr sz="2400" spc="-5" dirty="0">
                <a:latin typeface="Calibri"/>
                <a:cs typeface="Calibri"/>
              </a:rPr>
              <a:t>son </a:t>
            </a:r>
            <a:r>
              <a:rPr sz="2400" dirty="0">
                <a:latin typeface="Calibri"/>
                <a:cs typeface="Calibri"/>
              </a:rPr>
              <a:t>las </a:t>
            </a:r>
            <a:r>
              <a:rPr sz="2400" spc="-5" dirty="0">
                <a:latin typeface="Calibri"/>
                <a:cs typeface="Calibri"/>
              </a:rPr>
              <a:t>obligaciones inherentes </a:t>
            </a:r>
            <a:r>
              <a:rPr sz="2400" dirty="0">
                <a:latin typeface="Calibri"/>
                <a:cs typeface="Calibri"/>
              </a:rPr>
              <a:t>al </a:t>
            </a:r>
            <a:r>
              <a:rPr sz="2400" spc="-5" dirty="0">
                <a:latin typeface="Calibri"/>
                <a:cs typeface="Calibri"/>
              </a:rPr>
              <a:t>uso de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SI.</a:t>
            </a:r>
            <a:endParaRPr sz="2400">
              <a:latin typeface="Calibri"/>
              <a:cs typeface="Calibri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  <a:tab pos="1754505" algn="l"/>
                <a:tab pos="3482975" algn="l"/>
                <a:tab pos="4877435" algn="l"/>
                <a:tab pos="5177155" algn="l"/>
                <a:tab pos="6312535" algn="l"/>
                <a:tab pos="7809865" algn="l"/>
                <a:tab pos="8188325" algn="l"/>
              </a:tabLst>
            </a:pPr>
            <a:r>
              <a:rPr sz="2400" dirty="0">
                <a:latin typeface="Calibri"/>
                <a:cs typeface="Calibri"/>
              </a:rPr>
              <a:t>Revisamos	</a:t>
            </a:r>
            <a:r>
              <a:rPr sz="2400" spc="-5" dirty="0">
                <a:latin typeface="Calibri"/>
                <a:cs typeface="Calibri"/>
              </a:rPr>
              <a:t>di</a:t>
            </a:r>
            <a:r>
              <a:rPr sz="2400" spc="-15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ension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(dere</a:t>
            </a:r>
            <a:r>
              <a:rPr sz="2400" spc="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ho</a:t>
            </a:r>
            <a:r>
              <a:rPr sz="2400" dirty="0">
                <a:latin typeface="Calibri"/>
                <a:cs typeface="Calibri"/>
              </a:rPr>
              <a:t>s	y	calidad)	inherentes	al	</a:t>
            </a:r>
            <a:r>
              <a:rPr sz="2400" spc="-5" dirty="0">
                <a:latin typeface="Calibri"/>
                <a:cs typeface="Calibri"/>
              </a:rPr>
              <a:t>u</a:t>
            </a:r>
            <a:r>
              <a:rPr sz="2400" spc="-1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o  apropiado y </a:t>
            </a:r>
            <a:r>
              <a:rPr sz="2400" spc="-5" dirty="0">
                <a:latin typeface="Calibri"/>
                <a:cs typeface="Calibri"/>
              </a:rPr>
              <a:t>responsable de </a:t>
            </a:r>
            <a:r>
              <a:rPr sz="2400" dirty="0">
                <a:latin typeface="Calibri"/>
                <a:cs typeface="Calibri"/>
              </a:rPr>
              <a:t>la TI y los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19342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II – Síntesis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Calibri"/>
                <a:cs typeface="Calibri"/>
              </a:rPr>
              <a:t>Preguntas </a:t>
            </a:r>
            <a:r>
              <a:rPr sz="1800" b="0" spc="-5" dirty="0">
                <a:latin typeface="Calibri"/>
                <a:cs typeface="Calibri"/>
              </a:rPr>
              <a:t>de</a:t>
            </a:r>
            <a:r>
              <a:rPr sz="1800" b="0" spc="-70" dirty="0">
                <a:latin typeface="Calibri"/>
                <a:cs typeface="Calibri"/>
              </a:rPr>
              <a:t> </a:t>
            </a:r>
            <a:r>
              <a:rPr sz="1800" b="0" dirty="0">
                <a:latin typeface="Calibri"/>
                <a:cs typeface="Calibri"/>
              </a:rPr>
              <a:t>repaso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dirty="0">
                <a:latin typeface="Gill Sans MT"/>
                <a:cs typeface="Gill Sans MT"/>
              </a:rPr>
              <a:t>2019 </a:t>
            </a:r>
            <a:r>
              <a:rPr b="1" spc="10" dirty="0">
                <a:latin typeface="Gill Sans MT"/>
                <a:cs typeface="Gill Sans MT"/>
              </a:rPr>
              <a:t>Universidad </a:t>
            </a:r>
            <a:r>
              <a:rPr b="1" dirty="0">
                <a:latin typeface="Gill Sans MT"/>
                <a:cs typeface="Gill Sans MT"/>
              </a:rPr>
              <a:t>Argentina </a:t>
            </a:r>
            <a:r>
              <a:rPr b="1" spc="15" dirty="0">
                <a:latin typeface="Gill Sans MT"/>
                <a:cs typeface="Gill Sans MT"/>
              </a:rPr>
              <a:t>de la </a:t>
            </a:r>
            <a:r>
              <a:rPr b="1" spc="5" dirty="0">
                <a:latin typeface="Gill Sans MT"/>
                <a:cs typeface="Gill Sans MT"/>
              </a:rPr>
              <a:t>Empresa </a:t>
            </a:r>
            <a:r>
              <a:rPr dirty="0"/>
              <a:t>– </a:t>
            </a:r>
            <a:r>
              <a:rPr lang="es-AR" spc="-20" dirty="0" err="1"/>
              <a:t>Mag</a:t>
            </a:r>
            <a:r>
              <a:rPr lang="es-AR" spc="-20" dirty="0"/>
              <a:t>. </a:t>
            </a:r>
            <a:r>
              <a:rPr lang="es-AR" spc="-55" dirty="0"/>
              <a:t>Javier Klus (jklus@uade.edu.ar)</a:t>
            </a:r>
            <a:endParaRPr spc="-5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96342" y="1080261"/>
            <a:ext cx="864108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080" indent="-2667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Vincule </a:t>
            </a:r>
            <a:r>
              <a:rPr sz="2400" dirty="0">
                <a:latin typeface="Calibri"/>
                <a:cs typeface="Calibri"/>
              </a:rPr>
              <a:t>los conceptos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ética y </a:t>
            </a:r>
            <a:r>
              <a:rPr sz="2400" spc="-5" dirty="0">
                <a:latin typeface="Calibri"/>
                <a:cs typeface="Calibri"/>
              </a:rPr>
              <a:t>deontología </a:t>
            </a:r>
            <a:r>
              <a:rPr sz="2400" dirty="0">
                <a:latin typeface="Calibri"/>
                <a:cs typeface="Calibri"/>
              </a:rPr>
              <a:t>aplicada al </a:t>
            </a:r>
            <a:r>
              <a:rPr sz="2400" spc="-5" dirty="0">
                <a:latin typeface="Calibri"/>
                <a:cs typeface="Calibri"/>
              </a:rPr>
              <a:t>uso de </a:t>
            </a:r>
            <a:r>
              <a:rPr sz="2400" dirty="0">
                <a:latin typeface="Calibri"/>
                <a:cs typeface="Calibri"/>
              </a:rPr>
              <a:t>los  SI.</a:t>
            </a:r>
            <a:endParaRPr sz="2400">
              <a:latin typeface="Calibri"/>
              <a:cs typeface="Calibri"/>
            </a:endParaRPr>
          </a:p>
          <a:p>
            <a:pPr marL="279400" marR="6985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¿Qué categorías básicas de </a:t>
            </a:r>
            <a:r>
              <a:rPr sz="2400" dirty="0">
                <a:latin typeface="Calibri"/>
                <a:cs typeface="Calibri"/>
              </a:rPr>
              <a:t>aspectos </a:t>
            </a:r>
            <a:r>
              <a:rPr sz="2400" spc="-5" dirty="0">
                <a:latin typeface="Calibri"/>
                <a:cs typeface="Calibri"/>
              </a:rPr>
              <a:t>éticos </a:t>
            </a:r>
            <a:r>
              <a:rPr sz="2400" dirty="0">
                <a:latin typeface="Calibri"/>
                <a:cs typeface="Calibri"/>
              </a:rPr>
              <a:t>emplea </a:t>
            </a:r>
            <a:r>
              <a:rPr sz="2400" spc="-5" dirty="0">
                <a:latin typeface="Calibri"/>
                <a:cs typeface="Calibri"/>
              </a:rPr>
              <a:t>para desarrollar  un uso </a:t>
            </a:r>
            <a:r>
              <a:rPr sz="2400" dirty="0">
                <a:latin typeface="Calibri"/>
                <a:cs typeface="Calibri"/>
              </a:rPr>
              <a:t>apropiado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SI/TI?</a:t>
            </a:r>
            <a:endParaRPr sz="2400">
              <a:latin typeface="Calibri"/>
              <a:cs typeface="Calibri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Describa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5" dirty="0">
                <a:latin typeface="Calibri"/>
                <a:cs typeface="Calibri"/>
              </a:rPr>
              <a:t>principios </a:t>
            </a:r>
            <a:r>
              <a:rPr sz="2400" dirty="0">
                <a:latin typeface="Calibri"/>
                <a:cs typeface="Calibri"/>
              </a:rPr>
              <a:t>éticos </a:t>
            </a:r>
            <a:r>
              <a:rPr sz="2400" spc="-5" dirty="0">
                <a:latin typeface="Calibri"/>
                <a:cs typeface="Calibri"/>
              </a:rPr>
              <a:t>fundamentales en el uso de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TI.</a:t>
            </a:r>
            <a:endParaRPr sz="2400">
              <a:latin typeface="Calibri"/>
              <a:cs typeface="Calibri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8765" algn="l"/>
                <a:tab pos="279400" algn="l"/>
              </a:tabLst>
            </a:pPr>
            <a:r>
              <a:rPr sz="2400" spc="-5" dirty="0">
                <a:latin typeface="Calibri"/>
                <a:cs typeface="Calibri"/>
              </a:rPr>
              <a:t>Explique </a:t>
            </a:r>
            <a:r>
              <a:rPr sz="2400" dirty="0">
                <a:latin typeface="Calibri"/>
                <a:cs typeface="Calibri"/>
              </a:rPr>
              <a:t>cuáles </a:t>
            </a:r>
            <a:r>
              <a:rPr sz="2400" spc="-5" dirty="0">
                <a:latin typeface="Calibri"/>
                <a:cs typeface="Calibri"/>
              </a:rPr>
              <a:t>son </a:t>
            </a:r>
            <a:r>
              <a:rPr sz="2400" dirty="0">
                <a:latin typeface="Calibri"/>
                <a:cs typeface="Calibri"/>
              </a:rPr>
              <a:t>las </a:t>
            </a:r>
            <a:r>
              <a:rPr sz="2400" spc="-5" dirty="0">
                <a:latin typeface="Calibri"/>
                <a:cs typeface="Calibri"/>
              </a:rPr>
              <a:t>diversas dimensiones </a:t>
            </a:r>
            <a:r>
              <a:rPr sz="2400" dirty="0">
                <a:latin typeface="Calibri"/>
                <a:cs typeface="Calibri"/>
              </a:rPr>
              <a:t>inherentes al </a:t>
            </a:r>
            <a:r>
              <a:rPr sz="2400" spc="-5" dirty="0">
                <a:latin typeface="Calibri"/>
                <a:cs typeface="Calibri"/>
              </a:rPr>
              <a:t>uso </a:t>
            </a:r>
            <a:r>
              <a:rPr sz="2400" spc="5" dirty="0">
                <a:latin typeface="Calibri"/>
                <a:cs typeface="Calibri"/>
              </a:rPr>
              <a:t>de 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SI/TI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5750" y="1245870"/>
            <a:ext cx="292227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¿Dudas?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¿Consultas?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¡Éxito </a:t>
            </a: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sus</a:t>
            </a:r>
            <a:r>
              <a:rPr sz="30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vidas  </a:t>
            </a:r>
            <a:r>
              <a:rPr sz="3000" b="1" dirty="0">
                <a:solidFill>
                  <a:srgbClr val="FFFFFF"/>
                </a:solidFill>
                <a:latin typeface="Calibri"/>
                <a:cs typeface="Calibri"/>
              </a:rPr>
              <a:t>profesionales y  </a:t>
            </a:r>
            <a:r>
              <a:rPr sz="3000" b="1" spc="-5" dirty="0">
                <a:solidFill>
                  <a:srgbClr val="FFFFFF"/>
                </a:solidFill>
                <a:latin typeface="Calibri"/>
                <a:cs typeface="Calibri"/>
              </a:rPr>
              <a:t>académicas!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1527</Words>
  <Application>Microsoft Office PowerPoint</Application>
  <PresentationFormat>Presentación en pantalla (4:3)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Gill Sans MT</vt:lpstr>
      <vt:lpstr>Lucida Sans</vt:lpstr>
      <vt:lpstr>Times New Roman</vt:lpstr>
      <vt:lpstr>Wingdings</vt:lpstr>
      <vt:lpstr>Office Theme</vt:lpstr>
      <vt:lpstr>Sistemas de  Información</vt:lpstr>
      <vt:lpstr>Presentación de PowerPoint</vt:lpstr>
      <vt:lpstr>Presentación de PowerPoint</vt:lpstr>
      <vt:lpstr>Presentación de PowerPoint</vt:lpstr>
      <vt:lpstr>I – Deontología, Ética y Responsabilidad vinculada al uso de los SI (Cont.) Conceptos fundamentales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 – Deontología, Ética y Responsabilidad vinculada al uso de los SI Rendición de cuentas y control</vt:lpstr>
      <vt:lpstr>Presentación de PowerPoint</vt:lpstr>
      <vt:lpstr>Presentación de PowerPoint</vt:lpstr>
      <vt:lpstr>Presentación de PowerPoint</vt:lpstr>
      <vt:lpstr>II – Síntesis</vt:lpstr>
      <vt:lpstr>II – Síntesis Preguntas de repaso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javier.klus javier.klus</cp:lastModifiedBy>
  <cp:revision>3</cp:revision>
  <dcterms:created xsi:type="dcterms:W3CDTF">2019-11-07T17:46:44Z</dcterms:created>
  <dcterms:modified xsi:type="dcterms:W3CDTF">2020-06-14T20:49:24Z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2019-11-07T00:00:00Z</vt:filetime>
  </property>
</Properties>
</file>