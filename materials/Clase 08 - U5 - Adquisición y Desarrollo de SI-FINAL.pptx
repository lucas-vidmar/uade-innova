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6858000" type="screen4x3"/>
  <p:notesSz cx="9144000" cy="6858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2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258" y="193801"/>
            <a:ext cx="47212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72" y="0"/>
            <a:ext cx="9139427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258" y="193801"/>
            <a:ext cx="4721225" cy="33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959" y="1077213"/>
            <a:ext cx="8530081" cy="1864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79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0338D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spc="-5" dirty="0"/>
              <a:t>Alan</a:t>
            </a:r>
            <a:r>
              <a:rPr spc="-35" dirty="0"/>
              <a:t> </a:t>
            </a:r>
            <a:r>
              <a:rPr spc="70" dirty="0"/>
              <a:t>M.</a:t>
            </a:r>
            <a:r>
              <a:rPr spc="-15" dirty="0"/>
              <a:t> </a:t>
            </a:r>
            <a:r>
              <a:rPr spc="-10" dirty="0"/>
              <a:t>Lerner</a:t>
            </a:r>
            <a:r>
              <a:rPr spc="-40" dirty="0"/>
              <a:t> </a:t>
            </a:r>
            <a:r>
              <a:rPr spc="-30" dirty="0"/>
              <a:t>(alerner@uade.edu.ar)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3469" y="6523387"/>
            <a:ext cx="177800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0338D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hyperlink" Target="mailto:alerner@uade.edu.ar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TWNczBraGE" TargetMode="External"/><Relationship Id="rId2" Type="http://schemas.openxmlformats.org/officeDocument/2006/relationships/hyperlink" Target="https://www.youtube.com/watch?v=rk-GznFR124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g"/><Relationship Id="rId3" Type="http://schemas.openxmlformats.org/officeDocument/2006/relationships/image" Target="../media/image61.jpg"/><Relationship Id="rId7" Type="http://schemas.openxmlformats.org/officeDocument/2006/relationships/image" Target="../media/image64.png"/><Relationship Id="rId12" Type="http://schemas.openxmlformats.org/officeDocument/2006/relationships/image" Target="../media/image6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hyperlink" Target="https://www.iaop.org/Content/19/165/4454" TargetMode="External"/><Relationship Id="rId10" Type="http://schemas.openxmlformats.org/officeDocument/2006/relationships/image" Target="../media/image67.jpg"/><Relationship Id="rId4" Type="http://schemas.openxmlformats.org/officeDocument/2006/relationships/image" Target="../media/image62.jpg"/><Relationship Id="rId9" Type="http://schemas.openxmlformats.org/officeDocument/2006/relationships/image" Target="../media/image66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" y="0"/>
            <a:ext cx="9140189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95249"/>
            <a:ext cx="348043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i="1" spc="-495" dirty="0">
                <a:latin typeface="Arial"/>
                <a:cs typeface="Arial"/>
              </a:rPr>
              <a:t>Sistemas </a:t>
            </a:r>
            <a:r>
              <a:rPr sz="5400" i="1" spc="-400" dirty="0">
                <a:latin typeface="Arial"/>
                <a:cs typeface="Arial"/>
              </a:rPr>
              <a:t>de  </a:t>
            </a:r>
            <a:r>
              <a:rPr sz="5400" i="1" spc="-340" dirty="0">
                <a:latin typeface="Arial"/>
                <a:cs typeface="Arial"/>
              </a:rPr>
              <a:t>Información</a:t>
            </a:r>
            <a:endParaRPr sz="5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395" y="1908048"/>
            <a:ext cx="1607058" cy="6766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6878" y="2298192"/>
            <a:ext cx="3822954" cy="5105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6878" y="2572511"/>
            <a:ext cx="1740408" cy="5105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6925" y="1974341"/>
            <a:ext cx="3488690" cy="1969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55" dirty="0">
                <a:solidFill>
                  <a:srgbClr val="FFFFFF"/>
                </a:solidFill>
                <a:latin typeface="Arial"/>
                <a:cs typeface="Arial"/>
              </a:rPr>
              <a:t>Unidad </a:t>
            </a:r>
            <a:r>
              <a:rPr sz="2400" b="1" i="1" spc="-12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i="1" spc="-155" dirty="0">
                <a:solidFill>
                  <a:srgbClr val="FFFFFF"/>
                </a:solidFill>
                <a:latin typeface="Arial"/>
                <a:cs typeface="Arial"/>
              </a:rPr>
              <a:t>Adquisición y </a:t>
            </a:r>
            <a:r>
              <a:rPr sz="1800" b="1" i="1" spc="-125" dirty="0">
                <a:solidFill>
                  <a:srgbClr val="FFFFFF"/>
                </a:solidFill>
                <a:latin typeface="Arial"/>
                <a:cs typeface="Arial"/>
              </a:rPr>
              <a:t>Desarrollo </a:t>
            </a: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i="1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1" spc="-170" dirty="0">
                <a:solidFill>
                  <a:srgbClr val="FFFFFF"/>
                </a:solidFill>
                <a:latin typeface="Arial"/>
                <a:cs typeface="Arial"/>
              </a:rPr>
              <a:t>Sistemas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b="1" i="1" spc="-13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1" spc="-114" dirty="0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20" dirty="0">
                <a:solidFill>
                  <a:srgbClr val="FFFFFF"/>
                </a:solidFill>
                <a:latin typeface="Trebuchet MS"/>
                <a:cs typeface="Trebuchet MS"/>
              </a:rPr>
              <a:t>Mag. </a:t>
            </a:r>
            <a:r>
              <a:rPr lang="es-AR"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Javier F. Klus</a:t>
            </a:r>
            <a:endParaRPr lang="es-AR" sz="1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lang="es-AR" sz="1100" spc="-50" dirty="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jklus@uade.edu.ar</a:t>
            </a:r>
            <a:endParaRPr lang="es-AR"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b="1" spc="-120" dirty="0">
                <a:solidFill>
                  <a:srgbClr val="FFFFFF"/>
                </a:solidFill>
                <a:latin typeface="Trebuchet MS"/>
                <a:cs typeface="Trebuchet MS"/>
              </a:rPr>
              <a:t>2019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4800" y="4361688"/>
            <a:ext cx="1639824" cy="8199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837176" cy="5401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6285" y="1824989"/>
            <a:ext cx="3157727" cy="5090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86908" y="1878075"/>
            <a:ext cx="285559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70" dirty="0">
                <a:solidFill>
                  <a:srgbClr val="003186"/>
                </a:solidFill>
                <a:latin typeface="Trebuchet MS"/>
                <a:cs typeface="Trebuchet MS"/>
              </a:rPr>
              <a:t>Análisis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estructurado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600" b="1" spc="-2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25186" y="1774317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485393" y="0"/>
                </a:moveTo>
                <a:lnTo>
                  <a:pt x="121285" y="0"/>
                </a:lnTo>
                <a:lnTo>
                  <a:pt x="0" y="549402"/>
                </a:lnTo>
                <a:lnTo>
                  <a:pt x="363982" y="549402"/>
                </a:lnTo>
                <a:lnTo>
                  <a:pt x="485393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5186" y="1774317"/>
            <a:ext cx="485775" cy="549910"/>
          </a:xfrm>
          <a:custGeom>
            <a:avLst/>
            <a:gdLst/>
            <a:ahLst/>
            <a:cxnLst/>
            <a:rect l="l" t="t" r="r" b="b"/>
            <a:pathLst>
              <a:path w="485775" h="549910">
                <a:moveTo>
                  <a:pt x="0" y="549402"/>
                </a:moveTo>
                <a:lnTo>
                  <a:pt x="121285" y="0"/>
                </a:lnTo>
                <a:lnTo>
                  <a:pt x="485393" y="0"/>
                </a:lnTo>
                <a:lnTo>
                  <a:pt x="363982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87111" y="1867662"/>
            <a:ext cx="161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6157" y="2323719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8208" y="2020570"/>
            <a:ext cx="25196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0095" marR="5080" indent="-748030">
              <a:lnSpc>
                <a:spcPct val="100000"/>
              </a:lnSpc>
              <a:spcBef>
                <a:spcPts val="100"/>
              </a:spcBef>
            </a:pPr>
            <a:r>
              <a:rPr sz="3000" b="1" spc="-160" dirty="0">
                <a:solidFill>
                  <a:srgbClr val="FFFFFF"/>
                </a:solidFill>
                <a:latin typeface="Trebuchet MS"/>
                <a:cs typeface="Trebuchet MS"/>
              </a:rPr>
              <a:t>Contenido </a:t>
            </a:r>
            <a:r>
              <a:rPr sz="3000" b="1" spc="-17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3000" b="1" spc="-3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b="1" spc="-135" dirty="0">
                <a:solidFill>
                  <a:srgbClr val="FFFFFF"/>
                </a:solidFill>
                <a:latin typeface="Trebuchet MS"/>
                <a:cs typeface="Trebuchet MS"/>
              </a:rPr>
              <a:t>la  sesión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94655" y="2298395"/>
            <a:ext cx="2900680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AutoNum type="arabicPeriod"/>
              <a:tabLst>
                <a:tab pos="241300" algn="l"/>
              </a:tabLst>
            </a:pP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Conceptos,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componentes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400" b="1" spc="-204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ventajas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Diagrama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110" dirty="0">
                <a:solidFill>
                  <a:srgbClr val="003186"/>
                </a:solidFill>
                <a:latin typeface="Trebuchet MS"/>
                <a:cs typeface="Trebuchet MS"/>
              </a:rPr>
              <a:t>Flujo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r>
              <a:rPr sz="1400" b="1" spc="-19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(DFD)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1855" y="2938780"/>
            <a:ext cx="2137410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Análisis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105" dirty="0">
                <a:solidFill>
                  <a:srgbClr val="003186"/>
                </a:solidFill>
                <a:latin typeface="Trebuchet MS"/>
                <a:cs typeface="Trebuchet MS"/>
              </a:rPr>
              <a:t>Flujo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9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60" dirty="0">
                <a:solidFill>
                  <a:srgbClr val="003186"/>
                </a:solidFill>
                <a:latin typeface="Trebuchet MS"/>
                <a:cs typeface="Trebuchet MS"/>
              </a:rPr>
              <a:t>Simbología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Reglas</a:t>
            </a:r>
            <a:r>
              <a:rPr sz="1400" b="1" spc="-1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Generales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Requerimientos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Diccionario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3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003186"/>
                </a:solidFill>
                <a:latin typeface="Trebuchet MS"/>
                <a:cs typeface="Trebuchet MS"/>
              </a:rPr>
              <a:t>Datos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40427" y="56963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487680" y="0"/>
                </a:moveTo>
                <a:lnTo>
                  <a:pt x="121920" y="0"/>
                </a:lnTo>
                <a:lnTo>
                  <a:pt x="0" y="549402"/>
                </a:lnTo>
                <a:lnTo>
                  <a:pt x="365760" y="549402"/>
                </a:lnTo>
                <a:lnTo>
                  <a:pt x="48768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40427" y="5696330"/>
            <a:ext cx="487680" cy="549910"/>
          </a:xfrm>
          <a:custGeom>
            <a:avLst/>
            <a:gdLst/>
            <a:ahLst/>
            <a:cxnLst/>
            <a:rect l="l" t="t" r="r" b="b"/>
            <a:pathLst>
              <a:path w="487679" h="549910">
                <a:moveTo>
                  <a:pt x="0" y="549402"/>
                </a:moveTo>
                <a:lnTo>
                  <a:pt x="121920" y="0"/>
                </a:lnTo>
                <a:lnTo>
                  <a:pt x="487680" y="0"/>
                </a:lnTo>
                <a:lnTo>
                  <a:pt x="365760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62728" y="5790184"/>
            <a:ext cx="24384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45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69204" y="6242684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46953" y="5765291"/>
            <a:ext cx="966977" cy="509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97829" y="5818123"/>
            <a:ext cx="66675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Síntesis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93640" y="6343903"/>
            <a:ext cx="261048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b="1" spc="-130" dirty="0">
                <a:solidFill>
                  <a:srgbClr val="003186"/>
                </a:solidFill>
                <a:latin typeface="Trebuchet MS"/>
                <a:cs typeface="Trebuchet MS"/>
              </a:rPr>
              <a:t>1. </a:t>
            </a:r>
            <a:r>
              <a:rPr sz="1400" b="1" spc="-80" dirty="0">
                <a:solidFill>
                  <a:srgbClr val="003186"/>
                </a:solidFill>
                <a:latin typeface="Trebuchet MS"/>
                <a:cs typeface="Trebuchet MS"/>
              </a:rPr>
              <a:t>Resumen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preguntas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repaso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335523" y="310134"/>
            <a:ext cx="2737866" cy="7528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86653" y="363219"/>
            <a:ext cx="2390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105" dirty="0">
                <a:solidFill>
                  <a:srgbClr val="003186"/>
                </a:solidFill>
                <a:latin typeface="Trebuchet MS"/>
                <a:cs typeface="Trebuchet MS"/>
              </a:rPr>
              <a:t>Ciclo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vida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</a:t>
            </a:r>
            <a:r>
              <a:rPr sz="1600" b="1" spc="-30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Información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24425" y="381381"/>
            <a:ext cx="486409" cy="549910"/>
          </a:xfrm>
          <a:custGeom>
            <a:avLst/>
            <a:gdLst/>
            <a:ahLst/>
            <a:cxnLst/>
            <a:rect l="l" t="t" r="r" b="b"/>
            <a:pathLst>
              <a:path w="486410" h="549910">
                <a:moveTo>
                  <a:pt x="486155" y="0"/>
                </a:moveTo>
                <a:lnTo>
                  <a:pt x="121538" y="0"/>
                </a:lnTo>
                <a:lnTo>
                  <a:pt x="0" y="549402"/>
                </a:lnTo>
                <a:lnTo>
                  <a:pt x="364616" y="549402"/>
                </a:lnTo>
                <a:lnTo>
                  <a:pt x="486155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24425" y="381381"/>
            <a:ext cx="486409" cy="549910"/>
          </a:xfrm>
          <a:custGeom>
            <a:avLst/>
            <a:gdLst/>
            <a:ahLst/>
            <a:cxnLst/>
            <a:rect l="l" t="t" r="r" b="b"/>
            <a:pathLst>
              <a:path w="486410" h="549910">
                <a:moveTo>
                  <a:pt x="0" y="549402"/>
                </a:moveTo>
                <a:lnTo>
                  <a:pt x="121538" y="0"/>
                </a:lnTo>
                <a:lnTo>
                  <a:pt x="486155" y="0"/>
                </a:lnTo>
                <a:lnTo>
                  <a:pt x="364616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20385" y="474725"/>
            <a:ext cx="933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066157" y="930783"/>
            <a:ext cx="3481070" cy="0"/>
          </a:xfrm>
          <a:custGeom>
            <a:avLst/>
            <a:gdLst/>
            <a:ahLst/>
            <a:cxnLst/>
            <a:rect l="l" t="t" r="r" b="b"/>
            <a:pathLst>
              <a:path w="3481070">
                <a:moveTo>
                  <a:pt x="0" y="0"/>
                </a:moveTo>
                <a:lnTo>
                  <a:pt x="3481069" y="0"/>
                </a:lnTo>
              </a:path>
            </a:pathLst>
          </a:custGeom>
          <a:ln w="990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994402" y="904594"/>
            <a:ext cx="3061335" cy="66675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4"/>
              </a:spcBef>
              <a:buAutoNum type="arabicPeriod"/>
              <a:tabLst>
                <a:tab pos="241300" algn="l"/>
              </a:tabLst>
            </a:pPr>
            <a:r>
              <a:rPr sz="1400" b="1" spc="-95" dirty="0">
                <a:solidFill>
                  <a:srgbClr val="003186"/>
                </a:solidFill>
                <a:latin typeface="Trebuchet MS"/>
                <a:cs typeface="Trebuchet MS"/>
              </a:rPr>
              <a:t>Ciclo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65" dirty="0">
                <a:solidFill>
                  <a:srgbClr val="003186"/>
                </a:solidFill>
                <a:latin typeface="Trebuchet MS"/>
                <a:cs typeface="Trebuchet MS"/>
              </a:rPr>
              <a:t>Vida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1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003186"/>
                </a:solidFill>
                <a:latin typeface="Trebuchet MS"/>
                <a:cs typeface="Trebuchet MS"/>
              </a:rPr>
              <a:t>SI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35" dirty="0">
                <a:solidFill>
                  <a:srgbClr val="003186"/>
                </a:solidFill>
                <a:latin typeface="Trebuchet MS"/>
                <a:cs typeface="Trebuchet MS"/>
              </a:rPr>
              <a:t>Métodos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adquisición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24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soluciones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38903" y="4191380"/>
            <a:ext cx="487045" cy="549910"/>
          </a:xfrm>
          <a:custGeom>
            <a:avLst/>
            <a:gdLst/>
            <a:ahLst/>
            <a:cxnLst/>
            <a:rect l="l" t="t" r="r" b="b"/>
            <a:pathLst>
              <a:path w="487045" h="549910">
                <a:moveTo>
                  <a:pt x="486918" y="0"/>
                </a:moveTo>
                <a:lnTo>
                  <a:pt x="121666" y="0"/>
                </a:lnTo>
                <a:lnTo>
                  <a:pt x="0" y="549402"/>
                </a:lnTo>
                <a:lnTo>
                  <a:pt x="365125" y="549402"/>
                </a:lnTo>
                <a:lnTo>
                  <a:pt x="48691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938903" y="4191380"/>
            <a:ext cx="487045" cy="549910"/>
          </a:xfrm>
          <a:custGeom>
            <a:avLst/>
            <a:gdLst/>
            <a:ahLst/>
            <a:cxnLst/>
            <a:rect l="l" t="t" r="r" b="b"/>
            <a:pathLst>
              <a:path w="487045" h="549910">
                <a:moveTo>
                  <a:pt x="0" y="549402"/>
                </a:moveTo>
                <a:lnTo>
                  <a:pt x="121666" y="0"/>
                </a:lnTo>
                <a:lnTo>
                  <a:pt x="486918" y="0"/>
                </a:lnTo>
                <a:lnTo>
                  <a:pt x="365125" y="549402"/>
                </a:lnTo>
                <a:lnTo>
                  <a:pt x="0" y="549402"/>
                </a:lnTo>
                <a:close/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067553" y="4284979"/>
            <a:ext cx="229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67680" y="4750689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>
                <a:moveTo>
                  <a:pt x="0" y="0"/>
                </a:moveTo>
                <a:lnTo>
                  <a:pt x="3493389" y="0"/>
                </a:lnTo>
              </a:path>
            </a:pathLst>
          </a:custGeom>
          <a:ln w="9906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345429" y="4137659"/>
            <a:ext cx="3509010" cy="752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495797" y="4191000"/>
            <a:ext cx="31648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Evaluación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75" dirty="0">
                <a:solidFill>
                  <a:srgbClr val="003186"/>
                </a:solidFill>
                <a:latin typeface="Trebuchet MS"/>
                <a:cs typeface="Trebuchet MS"/>
              </a:rPr>
              <a:t>Sistemas </a:t>
            </a:r>
            <a:r>
              <a:rPr sz="1600" b="1" spc="-100" dirty="0">
                <a:solidFill>
                  <a:srgbClr val="003186"/>
                </a:solidFill>
                <a:latin typeface="Trebuchet MS"/>
                <a:cs typeface="Trebuchet MS"/>
              </a:rPr>
              <a:t>y</a:t>
            </a:r>
            <a:r>
              <a:rPr sz="1600" b="1" spc="-2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003186"/>
                </a:solidFill>
                <a:latin typeface="Trebuchet MS"/>
                <a:cs typeface="Trebuchet MS"/>
              </a:rPr>
              <a:t>Tecnologías  </a:t>
            </a:r>
            <a:r>
              <a:rPr sz="1600" b="1" spc="-95" dirty="0">
                <a:solidFill>
                  <a:srgbClr val="003186"/>
                </a:solidFill>
                <a:latin typeface="Trebuchet MS"/>
                <a:cs typeface="Trebuchet MS"/>
              </a:rPr>
              <a:t>de </a:t>
            </a:r>
            <a:r>
              <a:rPr sz="1600" b="1" spc="-70" dirty="0">
                <a:solidFill>
                  <a:srgbClr val="003186"/>
                </a:solidFill>
                <a:latin typeface="Trebuchet MS"/>
                <a:cs typeface="Trebuchet MS"/>
              </a:rPr>
              <a:t>la</a:t>
            </a:r>
            <a:r>
              <a:rPr sz="1600" b="1" spc="-160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003186"/>
                </a:solidFill>
                <a:latin typeface="Trebuchet MS"/>
                <a:cs typeface="Trebuchet MS"/>
              </a:rPr>
              <a:t>Información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1861" y="4731867"/>
            <a:ext cx="3392170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241300" algn="l"/>
              </a:tabLst>
            </a:pP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Proceso de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adquisición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y </a:t>
            </a:r>
            <a:r>
              <a:rPr sz="1400" b="1" spc="-90" dirty="0">
                <a:solidFill>
                  <a:srgbClr val="003186"/>
                </a:solidFill>
                <a:latin typeface="Trebuchet MS"/>
                <a:cs typeface="Trebuchet MS"/>
              </a:rPr>
              <a:t>selección </a:t>
            </a:r>
            <a:r>
              <a:rPr sz="1400" b="1" spc="-85" dirty="0">
                <a:solidFill>
                  <a:srgbClr val="003186"/>
                </a:solidFill>
                <a:latin typeface="Trebuchet MS"/>
                <a:cs typeface="Trebuchet MS"/>
              </a:rPr>
              <a:t>de</a:t>
            </a:r>
            <a:r>
              <a:rPr sz="1400" b="1" spc="-18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003186"/>
                </a:solidFill>
                <a:latin typeface="Trebuchet MS"/>
                <a:cs typeface="Trebuchet MS"/>
              </a:rPr>
              <a:t>SI/TI</a:t>
            </a:r>
            <a:endParaRPr sz="140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AutoNum type="arabicPeriod"/>
              <a:tabLst>
                <a:tab pos="241300" algn="l"/>
              </a:tabLst>
            </a:pPr>
            <a:r>
              <a:rPr sz="1400" b="1" spc="-110" dirty="0">
                <a:solidFill>
                  <a:srgbClr val="003186"/>
                </a:solidFill>
                <a:latin typeface="Trebuchet MS"/>
                <a:cs typeface="Trebuchet MS"/>
              </a:rPr>
              <a:t>Tercerización</a:t>
            </a:r>
            <a:r>
              <a:rPr sz="1400" b="1" spc="-105" dirty="0">
                <a:solidFill>
                  <a:srgbClr val="003186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003186"/>
                </a:solidFill>
                <a:latin typeface="Trebuchet MS"/>
                <a:cs typeface="Trebuchet MS"/>
              </a:rPr>
              <a:t>(Outsourcing)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2594" y="4649723"/>
            <a:ext cx="3235960" cy="172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3465"/>
              </a:lnSpc>
              <a:spcBef>
                <a:spcPts val="100"/>
              </a:spcBef>
            </a:pPr>
            <a:r>
              <a:rPr sz="3000" b="1" spc="-4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ts val="3225"/>
              </a:lnSpc>
            </a:pPr>
            <a:r>
              <a:rPr sz="2800" b="1" spc="-175" dirty="0">
                <a:solidFill>
                  <a:srgbClr val="00338D"/>
                </a:solidFill>
                <a:latin typeface="Trebuchet MS"/>
                <a:cs typeface="Trebuchet MS"/>
              </a:rPr>
              <a:t>Ciclo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800" b="1" spc="-135" dirty="0">
                <a:solidFill>
                  <a:srgbClr val="00338D"/>
                </a:solidFill>
                <a:latin typeface="Trebuchet MS"/>
                <a:cs typeface="Trebuchet MS"/>
              </a:rPr>
              <a:t>vida</a:t>
            </a:r>
            <a:r>
              <a:rPr sz="2800" b="1" spc="-3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endParaRPr sz="2800">
              <a:latin typeface="Trebuchet MS"/>
              <a:cs typeface="Trebuchet MS"/>
            </a:endParaRPr>
          </a:p>
          <a:p>
            <a:pPr marL="266700" marR="1159510" indent="1270" algn="ctr">
              <a:lnSpc>
                <a:spcPct val="100000"/>
              </a:lnSpc>
            </a:pPr>
            <a:r>
              <a:rPr sz="2800" b="1" spc="-130" dirty="0">
                <a:solidFill>
                  <a:srgbClr val="00338D"/>
                </a:solidFill>
                <a:latin typeface="Trebuchet MS"/>
                <a:cs typeface="Trebuchet MS"/>
              </a:rPr>
              <a:t>Sistemas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de  </a:t>
            </a:r>
            <a:r>
              <a:rPr sz="2800" b="1" spc="-120" dirty="0">
                <a:solidFill>
                  <a:srgbClr val="00338D"/>
                </a:solidFill>
                <a:latin typeface="Trebuchet MS"/>
                <a:cs typeface="Trebuchet MS"/>
              </a:rPr>
              <a:t>Informa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ción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466788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2000" b="1" spc="-43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Etapas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del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Ciclo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Vida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20" dirty="0">
                <a:solidFill>
                  <a:srgbClr val="FFFFFF"/>
                </a:solidFill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14" y="1905000"/>
            <a:ext cx="3886562" cy="38389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93870" y="1094994"/>
            <a:ext cx="4536948" cy="53157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72795" y="1114806"/>
            <a:ext cx="25260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65" dirty="0">
                <a:latin typeface="Trebuchet MS"/>
                <a:cs typeface="Trebuchet MS"/>
              </a:rPr>
              <a:t>Ciclo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14" dirty="0">
                <a:latin typeface="Trebuchet MS"/>
                <a:cs typeface="Trebuchet MS"/>
              </a:rPr>
              <a:t>Vida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85" dirty="0">
                <a:latin typeface="Trebuchet MS"/>
                <a:cs typeface="Trebuchet MS"/>
              </a:rPr>
              <a:t> </a:t>
            </a:r>
            <a:r>
              <a:rPr sz="2600" b="1" spc="-70" dirty="0">
                <a:latin typeface="Trebuchet MS"/>
                <a:cs typeface="Trebuchet MS"/>
              </a:rPr>
              <a:t>SI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spc="40" dirty="0"/>
              <a:t>Mag.</a:t>
            </a:r>
            <a:r>
              <a:rPr spc="-30" dirty="0"/>
              <a:t> </a:t>
            </a:r>
            <a:r>
              <a:rPr lang="es-AR" spc="-5" dirty="0"/>
              <a:t>Javier F. Klus</a:t>
            </a:r>
            <a:r>
              <a:rPr spc="-40" dirty="0"/>
              <a:t> </a:t>
            </a:r>
            <a:r>
              <a:rPr spc="-30" dirty="0"/>
              <a:t>(</a:t>
            </a:r>
            <a:r>
              <a:rPr lang="es-AR" spc="-30" dirty="0" err="1"/>
              <a:t>jklus</a:t>
            </a:r>
            <a:r>
              <a:rPr spc="-30" dirty="0"/>
              <a:t>@uade.edu.ar)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297688" y="6092952"/>
            <a:ext cx="13481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10" dirty="0">
                <a:latin typeface="Arial"/>
                <a:cs typeface="Arial"/>
              </a:rPr>
              <a:t>Fuente: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110" dirty="0">
                <a:latin typeface="Arial"/>
                <a:cs typeface="Arial"/>
              </a:rPr>
              <a:t>O’Brien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7242809" cy="5270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latin typeface="Trebuchet MS"/>
                <a:cs typeface="Trebuchet MS"/>
              </a:rPr>
              <a:t>Investigación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Char char="•"/>
              <a:tabLst>
                <a:tab pos="298450" algn="l"/>
                <a:tab pos="299085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75" dirty="0">
                <a:latin typeface="Arial"/>
                <a:cs typeface="Arial"/>
              </a:rPr>
              <a:t>deben </a:t>
            </a:r>
            <a:r>
              <a:rPr sz="1800" spc="-65" dirty="0">
                <a:latin typeface="Arial"/>
                <a:cs typeface="Arial"/>
              </a:rPr>
              <a:t>responder </a:t>
            </a:r>
            <a:r>
              <a:rPr sz="1800" spc="-80" dirty="0">
                <a:latin typeface="Arial"/>
                <a:cs typeface="Arial"/>
              </a:rPr>
              <a:t>preguntas </a:t>
            </a:r>
            <a:r>
              <a:rPr sz="1800" spc="-70" dirty="0">
                <a:latin typeface="Arial"/>
                <a:cs typeface="Arial"/>
              </a:rPr>
              <a:t>como: </a:t>
            </a:r>
            <a:r>
              <a:rPr sz="1800" spc="-160" dirty="0">
                <a:latin typeface="Arial"/>
                <a:cs typeface="Arial"/>
              </a:rPr>
              <a:t>¿Qué </a:t>
            </a:r>
            <a:r>
              <a:rPr sz="1800" spc="-100" dirty="0">
                <a:latin typeface="Arial"/>
                <a:cs typeface="Arial"/>
              </a:rPr>
              <a:t>esta </a:t>
            </a:r>
            <a:r>
              <a:rPr sz="1800" spc="-110" dirty="0">
                <a:latin typeface="Arial"/>
                <a:cs typeface="Arial"/>
              </a:rPr>
              <a:t>causando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21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problema?</a:t>
            </a:r>
            <a:endParaRPr sz="18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800" spc="-165" dirty="0">
                <a:latin typeface="Arial"/>
                <a:cs typeface="Arial"/>
              </a:rPr>
              <a:t>¿Cuál </a:t>
            </a:r>
            <a:r>
              <a:rPr sz="1800" spc="-85" dirty="0">
                <a:latin typeface="Arial"/>
                <a:cs typeface="Arial"/>
              </a:rPr>
              <a:t>seria una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solución?</a:t>
            </a:r>
            <a:endParaRPr sz="18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00" dirty="0">
                <a:latin typeface="Arial"/>
                <a:cs typeface="Arial"/>
              </a:rPr>
              <a:t>Requiere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85" dirty="0">
                <a:latin typeface="Arial"/>
                <a:cs typeface="Arial"/>
              </a:rPr>
              <a:t>análisis </a:t>
            </a:r>
            <a:r>
              <a:rPr sz="1800" spc="-50" dirty="0">
                <a:latin typeface="Arial"/>
                <a:cs typeface="Arial"/>
              </a:rPr>
              <a:t>detallado: </a:t>
            </a:r>
            <a:r>
              <a:rPr sz="1800" spc="-70" dirty="0">
                <a:latin typeface="Arial"/>
                <a:cs typeface="Arial"/>
              </a:rPr>
              <a:t>investigar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necesidades </a:t>
            </a:r>
            <a:r>
              <a:rPr sz="1800" spc="-75" dirty="0">
                <a:latin typeface="Arial"/>
                <a:cs typeface="Arial"/>
              </a:rPr>
              <a:t>de 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usuarios </a:t>
            </a:r>
            <a:r>
              <a:rPr sz="1800" spc="-70" dirty="0">
                <a:latin typeface="Arial"/>
                <a:cs typeface="Arial"/>
              </a:rPr>
              <a:t>potenciales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40" dirty="0">
                <a:latin typeface="Arial"/>
                <a:cs typeface="Arial"/>
              </a:rPr>
              <a:t>determinar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0" dirty="0">
                <a:latin typeface="Arial"/>
                <a:cs typeface="Arial"/>
              </a:rPr>
              <a:t>requerimientos </a:t>
            </a:r>
            <a:r>
              <a:rPr sz="1800" spc="-80" dirty="0">
                <a:latin typeface="Arial"/>
                <a:cs typeface="Arial"/>
              </a:rPr>
              <a:t>de  </a:t>
            </a:r>
            <a:r>
              <a:rPr sz="1800" spc="-90" dirty="0">
                <a:latin typeface="Arial"/>
                <a:cs typeface="Arial"/>
              </a:rPr>
              <a:t>recursos, </a:t>
            </a:r>
            <a:r>
              <a:rPr sz="1800" spc="-100" dirty="0">
                <a:latin typeface="Arial"/>
                <a:cs typeface="Arial"/>
              </a:rPr>
              <a:t>costos, </a:t>
            </a:r>
            <a:r>
              <a:rPr sz="1800" spc="-70" dirty="0">
                <a:latin typeface="Arial"/>
                <a:cs typeface="Arial"/>
              </a:rPr>
              <a:t>beneficios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35" dirty="0">
                <a:latin typeface="Arial"/>
                <a:cs typeface="Arial"/>
              </a:rPr>
              <a:t>factibilidad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60" dirty="0">
                <a:latin typeface="Arial"/>
                <a:cs typeface="Arial"/>
              </a:rPr>
              <a:t>proyecto</a:t>
            </a:r>
            <a:r>
              <a:rPr sz="1800" spc="-160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propuesto.</a:t>
            </a:r>
            <a:endParaRPr sz="18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spc="-75" dirty="0">
                <a:latin typeface="Arial"/>
                <a:cs typeface="Arial"/>
              </a:rPr>
              <a:t>Al </a:t>
            </a:r>
            <a:r>
              <a:rPr sz="1800" spc="-30" dirty="0">
                <a:latin typeface="Arial"/>
                <a:cs typeface="Arial"/>
              </a:rPr>
              <a:t>reunir </a:t>
            </a:r>
            <a:r>
              <a:rPr sz="1800" spc="-80" dirty="0">
                <a:latin typeface="Arial"/>
                <a:cs typeface="Arial"/>
              </a:rPr>
              <a:t>datos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55" dirty="0">
                <a:latin typeface="Arial"/>
                <a:cs typeface="Arial"/>
              </a:rPr>
              <a:t>estudio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40" dirty="0">
                <a:latin typeface="Arial"/>
                <a:cs typeface="Arial"/>
              </a:rPr>
              <a:t>factibilidad,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45" dirty="0">
                <a:latin typeface="Arial"/>
                <a:cs typeface="Arial"/>
              </a:rPr>
              <a:t>utilizan </a:t>
            </a:r>
            <a:r>
              <a:rPr sz="1800" spc="-90" dirty="0">
                <a:latin typeface="Arial"/>
                <a:cs typeface="Arial"/>
              </a:rPr>
              <a:t>diversos  </a:t>
            </a:r>
            <a:r>
              <a:rPr sz="1800" spc="-70" dirty="0">
                <a:latin typeface="Arial"/>
                <a:cs typeface="Arial"/>
              </a:rPr>
              <a:t>métodos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recolección </a:t>
            </a:r>
            <a:r>
              <a:rPr sz="1800" spc="-80" dirty="0">
                <a:latin typeface="Arial"/>
                <a:cs typeface="Arial"/>
              </a:rPr>
              <a:t>de datos </a:t>
            </a:r>
            <a:r>
              <a:rPr sz="1800" spc="-70" dirty="0">
                <a:latin typeface="Arial"/>
                <a:cs typeface="Arial"/>
              </a:rPr>
              <a:t>como: entrevistas, </a:t>
            </a:r>
            <a:r>
              <a:rPr sz="1800" spc="-65" dirty="0">
                <a:latin typeface="Arial"/>
                <a:cs typeface="Arial"/>
              </a:rPr>
              <a:t>cuestionarios, </a:t>
            </a:r>
            <a:r>
              <a:rPr sz="1800" spc="-90" dirty="0">
                <a:latin typeface="Arial"/>
                <a:cs typeface="Arial"/>
              </a:rPr>
              <a:t>análisis 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documentos, </a:t>
            </a:r>
            <a:r>
              <a:rPr sz="1800" spc="-60" dirty="0">
                <a:latin typeface="Arial"/>
                <a:cs typeface="Arial"/>
              </a:rPr>
              <a:t>etc. </a:t>
            </a: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90" dirty="0">
                <a:latin typeface="Arial"/>
                <a:cs typeface="Arial"/>
              </a:rPr>
              <a:t>evalúan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85" dirty="0">
                <a:latin typeface="Arial"/>
                <a:cs typeface="Arial"/>
              </a:rPr>
              <a:t>soluciones </a:t>
            </a:r>
            <a:r>
              <a:rPr sz="1800" spc="-60" dirty="0">
                <a:latin typeface="Arial"/>
                <a:cs typeface="Arial"/>
              </a:rPr>
              <a:t>alternativas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60" dirty="0">
                <a:latin typeface="Arial"/>
                <a:cs typeface="Arial"/>
              </a:rPr>
              <a:t>proponen 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35" dirty="0">
                <a:latin typeface="Arial"/>
                <a:cs typeface="Arial"/>
              </a:rPr>
              <a:t>más </a:t>
            </a:r>
            <a:r>
              <a:rPr sz="1800" spc="-55" dirty="0">
                <a:latin typeface="Arial"/>
                <a:cs typeface="Arial"/>
              </a:rPr>
              <a:t>factibles. </a:t>
            </a: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35" dirty="0">
                <a:latin typeface="Arial"/>
                <a:cs typeface="Arial"/>
              </a:rPr>
              <a:t>factibilidad </a:t>
            </a:r>
            <a:r>
              <a:rPr sz="1800" spc="-80" dirty="0">
                <a:latin typeface="Arial"/>
                <a:cs typeface="Arial"/>
              </a:rPr>
              <a:t>puede </a:t>
            </a:r>
            <a:r>
              <a:rPr sz="1800" spc="-100" dirty="0">
                <a:latin typeface="Arial"/>
                <a:cs typeface="Arial"/>
              </a:rPr>
              <a:t>evaluarse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90" dirty="0">
                <a:latin typeface="Arial"/>
                <a:cs typeface="Arial"/>
              </a:rPr>
              <a:t>4</a:t>
            </a:r>
            <a:r>
              <a:rPr sz="1800" spc="-28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categorías: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90" dirty="0">
                <a:latin typeface="Trebuchet MS"/>
                <a:cs typeface="Trebuchet MS"/>
              </a:rPr>
              <a:t>Organizacional</a:t>
            </a:r>
            <a:r>
              <a:rPr sz="1600" spc="-90" dirty="0">
                <a:latin typeface="Arial"/>
                <a:cs typeface="Arial"/>
              </a:rPr>
              <a:t>: </a:t>
            </a:r>
            <a:r>
              <a:rPr sz="1600" spc="-45" dirty="0">
                <a:latin typeface="Arial"/>
                <a:cs typeface="Arial"/>
              </a:rPr>
              <a:t>determina </a:t>
            </a:r>
            <a:r>
              <a:rPr sz="1600" spc="-70" dirty="0">
                <a:latin typeface="Arial"/>
                <a:cs typeface="Arial"/>
              </a:rPr>
              <a:t>qué </a:t>
            </a:r>
            <a:r>
              <a:rPr sz="1600" spc="-35" dirty="0">
                <a:latin typeface="Arial"/>
                <a:cs typeface="Arial"/>
              </a:rPr>
              <a:t>tan </a:t>
            </a:r>
            <a:r>
              <a:rPr sz="1600" spc="-50" dirty="0">
                <a:latin typeface="Arial"/>
                <a:cs typeface="Arial"/>
              </a:rPr>
              <a:t>bien </a:t>
            </a:r>
            <a:r>
              <a:rPr sz="1600" spc="-80" dirty="0">
                <a:latin typeface="Arial"/>
                <a:cs typeface="Arial"/>
              </a:rPr>
              <a:t>respalda </a:t>
            </a:r>
            <a:r>
              <a:rPr sz="1600" spc="-100" dirty="0">
                <a:latin typeface="Arial"/>
                <a:cs typeface="Arial"/>
              </a:rPr>
              <a:t>las </a:t>
            </a:r>
            <a:r>
              <a:rPr sz="1600" spc="-65" dirty="0">
                <a:latin typeface="Arial"/>
                <a:cs typeface="Arial"/>
              </a:rPr>
              <a:t>solución </a:t>
            </a:r>
            <a:r>
              <a:rPr sz="1600" spc="-70" dirty="0">
                <a:latin typeface="Arial"/>
                <a:cs typeface="Arial"/>
              </a:rPr>
              <a:t>los  </a:t>
            </a:r>
            <a:r>
              <a:rPr sz="1600" spc="-45" dirty="0">
                <a:latin typeface="Arial"/>
                <a:cs typeface="Arial"/>
              </a:rPr>
              <a:t>objetivos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estratégicos.</a:t>
            </a:r>
            <a:endParaRPr sz="1600">
              <a:latin typeface="Arial"/>
              <a:cs typeface="Arial"/>
            </a:endParaRPr>
          </a:p>
          <a:p>
            <a:pPr marL="755650" marR="6350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130" dirty="0">
                <a:latin typeface="Trebuchet MS"/>
                <a:cs typeface="Trebuchet MS"/>
              </a:rPr>
              <a:t>Técnica</a:t>
            </a:r>
            <a:r>
              <a:rPr sz="1600" spc="-130" dirty="0">
                <a:latin typeface="Arial"/>
                <a:cs typeface="Arial"/>
              </a:rPr>
              <a:t>: </a:t>
            </a:r>
            <a:r>
              <a:rPr sz="1600" spc="-85" dirty="0">
                <a:latin typeface="Arial"/>
                <a:cs typeface="Arial"/>
              </a:rPr>
              <a:t>capacidad, </a:t>
            </a:r>
            <a:r>
              <a:rPr sz="1600" spc="-50" dirty="0">
                <a:latin typeface="Arial"/>
                <a:cs typeface="Arial"/>
              </a:rPr>
              <a:t>confiabilidad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0" dirty="0">
                <a:latin typeface="Arial"/>
                <a:cs typeface="Arial"/>
              </a:rPr>
              <a:t>disponibilidad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hard, </a:t>
            </a:r>
            <a:r>
              <a:rPr sz="1600" spc="-25" dirty="0">
                <a:latin typeface="Arial"/>
                <a:cs typeface="Arial"/>
              </a:rPr>
              <a:t>soft </a:t>
            </a:r>
            <a:r>
              <a:rPr sz="1600" spc="-75" dirty="0">
                <a:latin typeface="Arial"/>
                <a:cs typeface="Arial"/>
              </a:rPr>
              <a:t>y  </a:t>
            </a:r>
            <a:r>
              <a:rPr sz="1600" spc="-80" dirty="0">
                <a:latin typeface="Arial"/>
                <a:cs typeface="Arial"/>
              </a:rPr>
              <a:t>redes.</a:t>
            </a:r>
            <a:endParaRPr sz="1600">
              <a:latin typeface="Arial"/>
              <a:cs typeface="Arial"/>
            </a:endParaRPr>
          </a:p>
          <a:p>
            <a:pPr marL="755650" marR="5715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85" dirty="0">
                <a:latin typeface="Trebuchet MS"/>
                <a:cs typeface="Trebuchet MS"/>
              </a:rPr>
              <a:t>Operacional</a:t>
            </a:r>
            <a:r>
              <a:rPr sz="1600" spc="-85" dirty="0">
                <a:latin typeface="Arial"/>
                <a:cs typeface="Arial"/>
              </a:rPr>
              <a:t>: </a:t>
            </a:r>
            <a:r>
              <a:rPr sz="1600" spc="-65" dirty="0">
                <a:latin typeface="Arial"/>
                <a:cs typeface="Arial"/>
              </a:rPr>
              <a:t>disposición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capacitación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85" dirty="0">
                <a:latin typeface="Arial"/>
                <a:cs typeface="Arial"/>
              </a:rPr>
              <a:t>Gerencia,  </a:t>
            </a:r>
            <a:r>
              <a:rPr sz="1600" spc="-75" dirty="0">
                <a:latin typeface="Arial"/>
                <a:cs typeface="Arial"/>
              </a:rPr>
              <a:t>empleados, </a:t>
            </a:r>
            <a:r>
              <a:rPr sz="1600" spc="-60" dirty="0">
                <a:latin typeface="Arial"/>
                <a:cs typeface="Arial"/>
              </a:rPr>
              <a:t>clientes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proveedores</a:t>
            </a:r>
            <a:r>
              <a:rPr sz="1600" spc="30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55" dirty="0">
                <a:latin typeface="Arial"/>
                <a:cs typeface="Arial"/>
              </a:rPr>
              <a:t>operar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respaldar  </a:t>
            </a:r>
            <a:r>
              <a:rPr sz="1600" spc="-65" dirty="0">
                <a:latin typeface="Arial"/>
                <a:cs typeface="Arial"/>
              </a:rPr>
              <a:t>la solución  propuesta.</a:t>
            </a:r>
            <a:endParaRPr sz="1600">
              <a:latin typeface="Arial"/>
              <a:cs typeface="Arial"/>
            </a:endParaRPr>
          </a:p>
          <a:p>
            <a:pPr marL="755650" marR="5715" lvl="1" indent="-28575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756285" algn="l"/>
              </a:tabLst>
            </a:pPr>
            <a:r>
              <a:rPr sz="1600" b="1" spc="-100" dirty="0">
                <a:latin typeface="Trebuchet MS"/>
                <a:cs typeface="Trebuchet MS"/>
              </a:rPr>
              <a:t>Factibilidad </a:t>
            </a:r>
            <a:r>
              <a:rPr sz="1600" b="1" spc="-90" dirty="0">
                <a:latin typeface="Trebuchet MS"/>
                <a:cs typeface="Trebuchet MS"/>
              </a:rPr>
              <a:t>económica</a:t>
            </a:r>
            <a:r>
              <a:rPr sz="1600" spc="-90" dirty="0">
                <a:latin typeface="Arial"/>
                <a:cs typeface="Arial"/>
              </a:rPr>
              <a:t>: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65" dirty="0">
                <a:latin typeface="Arial"/>
                <a:cs typeface="Arial"/>
              </a:rPr>
              <a:t>vincula </a:t>
            </a:r>
            <a:r>
              <a:rPr sz="1600" spc="-60" dirty="0">
                <a:latin typeface="Arial"/>
                <a:cs typeface="Arial"/>
              </a:rPr>
              <a:t>al </a:t>
            </a:r>
            <a:r>
              <a:rPr sz="1600" spc="-80" dirty="0">
                <a:latin typeface="Arial"/>
                <a:cs typeface="Arial"/>
              </a:rPr>
              <a:t>hecho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85" dirty="0">
                <a:latin typeface="Arial"/>
                <a:cs typeface="Arial"/>
              </a:rPr>
              <a:t>si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65" dirty="0">
                <a:latin typeface="Arial"/>
                <a:cs typeface="Arial"/>
              </a:rPr>
              <a:t>beneficios </a:t>
            </a:r>
            <a:r>
              <a:rPr sz="1600" spc="-90" dirty="0">
                <a:latin typeface="Arial"/>
                <a:cs typeface="Arial"/>
              </a:rPr>
              <a:t>esperados  excederán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90" dirty="0">
                <a:latin typeface="Arial"/>
                <a:cs typeface="Arial"/>
              </a:rPr>
              <a:t>costos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desarrollar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5" dirty="0">
                <a:latin typeface="Arial"/>
                <a:cs typeface="Arial"/>
              </a:rPr>
              <a:t>operar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65" dirty="0">
                <a:latin typeface="Arial"/>
                <a:cs typeface="Arial"/>
              </a:rPr>
              <a:t>solución</a:t>
            </a:r>
            <a:r>
              <a:rPr sz="1600" spc="-15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propuesta.</a:t>
            </a:r>
            <a:endParaRPr sz="1600">
              <a:latin typeface="Arial"/>
              <a:cs typeface="Arial"/>
            </a:endParaRPr>
          </a:p>
          <a:p>
            <a:pPr marL="298450" indent="-285750">
              <a:lnSpc>
                <a:spcPts val="2145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170" dirty="0">
                <a:latin typeface="Arial"/>
                <a:cs typeface="Arial"/>
              </a:rPr>
              <a:t>Los </a:t>
            </a:r>
            <a:r>
              <a:rPr sz="1800" spc="-75" dirty="0">
                <a:latin typeface="Arial"/>
                <a:cs typeface="Arial"/>
              </a:rPr>
              <a:t>estudios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35" dirty="0">
                <a:latin typeface="Arial"/>
                <a:cs typeface="Arial"/>
              </a:rPr>
              <a:t>factibilidad </a:t>
            </a:r>
            <a:r>
              <a:rPr sz="1800" spc="-50" dirty="0">
                <a:latin typeface="Arial"/>
                <a:cs typeface="Arial"/>
              </a:rPr>
              <a:t>arrojan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b="1" i="1" spc="-130" dirty="0">
                <a:latin typeface="Arial"/>
                <a:cs typeface="Arial"/>
              </a:rPr>
              <a:t>análisis </a:t>
            </a:r>
            <a:r>
              <a:rPr sz="1800" b="1" i="1" spc="-140" dirty="0">
                <a:latin typeface="Arial"/>
                <a:cs typeface="Arial"/>
              </a:rPr>
              <a:t>de</a:t>
            </a:r>
            <a:r>
              <a:rPr sz="1800" b="1" i="1" spc="-90" dirty="0">
                <a:latin typeface="Arial"/>
                <a:cs typeface="Arial"/>
              </a:rPr>
              <a:t> </a:t>
            </a:r>
            <a:r>
              <a:rPr sz="1800" b="1" i="1" spc="-114" dirty="0">
                <a:latin typeface="Arial"/>
                <a:cs typeface="Arial"/>
              </a:rPr>
              <a:t>costo/beneficio</a:t>
            </a:r>
            <a:r>
              <a:rPr sz="1800" spc="-114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98789" y="1219200"/>
            <a:ext cx="1388238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6938645" cy="5150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latin typeface="Trebuchet MS"/>
                <a:cs typeface="Trebuchet MS"/>
              </a:rPr>
              <a:t>Análisis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5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15"/>
              </a:spcBef>
              <a:buChar char="•"/>
              <a:tabLst>
                <a:tab pos="299085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30" dirty="0">
                <a:latin typeface="Arial"/>
                <a:cs typeface="Arial"/>
              </a:rPr>
              <a:t>trata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55" dirty="0">
                <a:latin typeface="Arial"/>
                <a:cs typeface="Arial"/>
              </a:rPr>
              <a:t>estudio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45" dirty="0">
                <a:latin typeface="Arial"/>
                <a:cs typeface="Arial"/>
              </a:rPr>
              <a:t>fondo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necesidades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de  los </a:t>
            </a:r>
            <a:r>
              <a:rPr sz="1800" spc="-85" dirty="0">
                <a:latin typeface="Arial"/>
                <a:cs typeface="Arial"/>
              </a:rPr>
              <a:t>usuarios </a:t>
            </a:r>
            <a:r>
              <a:rPr sz="1800" spc="-65" dirty="0">
                <a:latin typeface="Arial"/>
                <a:cs typeface="Arial"/>
              </a:rPr>
              <a:t>finales. </a:t>
            </a:r>
            <a:r>
              <a:rPr sz="1800" spc="-160" dirty="0">
                <a:latin typeface="Arial"/>
                <a:cs typeface="Arial"/>
              </a:rPr>
              <a:t>El </a:t>
            </a:r>
            <a:r>
              <a:rPr sz="1800" spc="-90" dirty="0">
                <a:latin typeface="Arial"/>
                <a:cs typeface="Arial"/>
              </a:rPr>
              <a:t>análisis </a:t>
            </a:r>
            <a:r>
              <a:rPr sz="1800" spc="-85" dirty="0">
                <a:latin typeface="Arial"/>
                <a:cs typeface="Arial"/>
              </a:rPr>
              <a:t>de soluciones </a:t>
            </a:r>
            <a:r>
              <a:rPr sz="1800" spc="-75" dirty="0">
                <a:latin typeface="Arial"/>
                <a:cs typeface="Arial"/>
              </a:rPr>
              <a:t>comprende </a:t>
            </a:r>
            <a:r>
              <a:rPr sz="1800" spc="-55" dirty="0">
                <a:latin typeface="Arial"/>
                <a:cs typeface="Arial"/>
              </a:rPr>
              <a:t>tres </a:t>
            </a:r>
            <a:r>
              <a:rPr sz="1800" spc="-40" dirty="0">
                <a:latin typeface="Arial"/>
                <a:cs typeface="Arial"/>
              </a:rPr>
              <a:t>tipos </a:t>
            </a:r>
            <a:r>
              <a:rPr sz="1800" spc="-80" dirty="0">
                <a:latin typeface="Arial"/>
                <a:cs typeface="Arial"/>
              </a:rPr>
              <a:t>de  análisis:</a:t>
            </a:r>
            <a:endParaRPr sz="1800">
              <a:latin typeface="Arial"/>
              <a:cs typeface="Arial"/>
            </a:endParaRPr>
          </a:p>
          <a:p>
            <a:pPr marL="755650" marR="6985" lvl="1" indent="-285750" algn="just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6285" algn="l"/>
              </a:tabLst>
            </a:pPr>
            <a:r>
              <a:rPr sz="1600" b="1" spc="-70" dirty="0">
                <a:latin typeface="Trebuchet MS"/>
                <a:cs typeface="Trebuchet MS"/>
              </a:rPr>
              <a:t>Análisis </a:t>
            </a:r>
            <a:r>
              <a:rPr sz="1600" b="1" spc="-90" dirty="0">
                <a:latin typeface="Trebuchet MS"/>
                <a:cs typeface="Trebuchet MS"/>
              </a:rPr>
              <a:t>Organizacional</a:t>
            </a:r>
            <a:r>
              <a:rPr sz="1600" spc="-90" dirty="0">
                <a:latin typeface="Arial"/>
                <a:cs typeface="Arial"/>
              </a:rPr>
              <a:t>: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60" dirty="0">
                <a:latin typeface="Arial"/>
                <a:cs typeface="Arial"/>
              </a:rPr>
              <a:t>miembros </a:t>
            </a:r>
            <a:r>
              <a:rPr sz="1600" spc="-50" dirty="0">
                <a:latin typeface="Arial"/>
                <a:cs typeface="Arial"/>
              </a:rPr>
              <a:t>del equipo </a:t>
            </a:r>
            <a:r>
              <a:rPr sz="1600" spc="-70" dirty="0">
                <a:latin typeface="Arial"/>
                <a:cs typeface="Arial"/>
              </a:rPr>
              <a:t>deben </a:t>
            </a:r>
            <a:r>
              <a:rPr sz="1600" spc="-90" dirty="0">
                <a:latin typeface="Arial"/>
                <a:cs typeface="Arial"/>
              </a:rPr>
              <a:t>saber </a:t>
            </a:r>
            <a:r>
              <a:rPr sz="1600" spc="-80" dirty="0">
                <a:latin typeface="Arial"/>
                <a:cs typeface="Arial"/>
              </a:rPr>
              <a:t>algo </a:t>
            </a:r>
            <a:r>
              <a:rPr sz="1600" spc="-75" dirty="0">
                <a:latin typeface="Arial"/>
                <a:cs typeface="Arial"/>
              </a:rPr>
              <a:t>sobre 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75" dirty="0">
                <a:latin typeface="Arial"/>
                <a:cs typeface="Arial"/>
              </a:rPr>
              <a:t>organización, </a:t>
            </a:r>
            <a:r>
              <a:rPr sz="1600" spc="-120" dirty="0">
                <a:latin typeface="Arial"/>
                <a:cs typeface="Arial"/>
              </a:rPr>
              <a:t>su </a:t>
            </a:r>
            <a:r>
              <a:rPr sz="1600" spc="-45" dirty="0">
                <a:latin typeface="Arial"/>
                <a:cs typeface="Arial"/>
              </a:rPr>
              <a:t>estructura </a:t>
            </a:r>
            <a:r>
              <a:rPr sz="1600" spc="-70" dirty="0">
                <a:latin typeface="Arial"/>
                <a:cs typeface="Arial"/>
              </a:rPr>
              <a:t>gerencial, personal, </a:t>
            </a:r>
            <a:r>
              <a:rPr sz="1600" spc="-95" dirty="0">
                <a:latin typeface="Arial"/>
                <a:cs typeface="Arial"/>
              </a:rPr>
              <a:t>sistemas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35" dirty="0">
                <a:latin typeface="Arial"/>
                <a:cs typeface="Arial"/>
              </a:rPr>
              <a:t>entorno,  </a:t>
            </a:r>
            <a:r>
              <a:rPr sz="1600" spc="-50" dirty="0"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  <a:p>
            <a:pPr marL="755650" marR="5715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70" dirty="0">
                <a:latin typeface="Trebuchet MS"/>
                <a:cs typeface="Trebuchet MS"/>
              </a:rPr>
              <a:t>Análisis </a:t>
            </a:r>
            <a:r>
              <a:rPr sz="1600" b="1" spc="-95" dirty="0">
                <a:latin typeface="Trebuchet MS"/>
                <a:cs typeface="Trebuchet MS"/>
              </a:rPr>
              <a:t>de </a:t>
            </a:r>
            <a:r>
              <a:rPr sz="1600" b="1" spc="-70" dirty="0">
                <a:latin typeface="Trebuchet MS"/>
                <a:cs typeface="Trebuchet MS"/>
              </a:rPr>
              <a:t>la </a:t>
            </a:r>
            <a:r>
              <a:rPr sz="1600" b="1" spc="-85" dirty="0">
                <a:latin typeface="Trebuchet MS"/>
                <a:cs typeface="Trebuchet MS"/>
              </a:rPr>
              <a:t>solución </a:t>
            </a:r>
            <a:r>
              <a:rPr sz="1600" b="1" spc="-80" dirty="0">
                <a:latin typeface="Trebuchet MS"/>
                <a:cs typeface="Trebuchet MS"/>
              </a:rPr>
              <a:t>actual</a:t>
            </a:r>
            <a:r>
              <a:rPr sz="1600" spc="-80" dirty="0">
                <a:latin typeface="Arial"/>
                <a:cs typeface="Arial"/>
              </a:rPr>
              <a:t>: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30" dirty="0">
                <a:latin typeface="Arial"/>
                <a:cs typeface="Arial"/>
              </a:rPr>
              <a:t>importante </a:t>
            </a:r>
            <a:r>
              <a:rPr sz="1600" spc="-50" dirty="0">
                <a:latin typeface="Arial"/>
                <a:cs typeface="Arial"/>
              </a:rPr>
              <a:t>estudiar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65" dirty="0">
                <a:latin typeface="Arial"/>
                <a:cs typeface="Arial"/>
              </a:rPr>
              <a:t>solución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35" dirty="0">
                <a:latin typeface="Arial"/>
                <a:cs typeface="Arial"/>
              </a:rPr>
              <a:t>se  </a:t>
            </a:r>
            <a:r>
              <a:rPr sz="1600" spc="-55" dirty="0">
                <a:latin typeface="Arial"/>
                <a:cs typeface="Arial"/>
              </a:rPr>
              <a:t>mejorará </a:t>
            </a:r>
            <a:r>
              <a:rPr sz="1600" spc="-45" dirty="0">
                <a:latin typeface="Arial"/>
                <a:cs typeface="Arial"/>
              </a:rPr>
              <a:t>o </a:t>
            </a:r>
            <a:r>
              <a:rPr sz="1600" spc="-80" dirty="0">
                <a:latin typeface="Arial"/>
                <a:cs typeface="Arial"/>
              </a:rPr>
              <a:t>reemplazará. </a:t>
            </a:r>
            <a:r>
              <a:rPr sz="1600" spc="-100" dirty="0">
                <a:latin typeface="Arial"/>
                <a:cs typeface="Arial"/>
              </a:rPr>
              <a:t>Por </a:t>
            </a:r>
            <a:r>
              <a:rPr sz="1600" spc="-40" dirty="0">
                <a:latin typeface="Arial"/>
                <a:cs typeface="Arial"/>
              </a:rPr>
              <a:t>ejemplo: </a:t>
            </a:r>
            <a:r>
              <a:rPr sz="1600" spc="-70" dirty="0">
                <a:latin typeface="Arial"/>
                <a:cs typeface="Arial"/>
              </a:rPr>
              <a:t>evaluar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35" dirty="0">
                <a:latin typeface="Arial"/>
                <a:cs typeface="Arial"/>
              </a:rPr>
              <a:t>formato, </a:t>
            </a:r>
            <a:r>
              <a:rPr sz="1600" spc="-60" dirty="0">
                <a:latin typeface="Arial"/>
                <a:cs typeface="Arial"/>
              </a:rPr>
              <a:t>volumen </a:t>
            </a:r>
            <a:r>
              <a:rPr sz="1600" spc="-75" dirty="0">
                <a:latin typeface="Arial"/>
                <a:cs typeface="Arial"/>
              </a:rPr>
              <a:t>y  </a:t>
            </a:r>
            <a:r>
              <a:rPr sz="1600" spc="-60" dirty="0">
                <a:latin typeface="Arial"/>
                <a:cs typeface="Arial"/>
              </a:rPr>
              <a:t>cantidad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actividades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entrada </a:t>
            </a:r>
            <a:r>
              <a:rPr sz="1600" spc="-75" dirty="0">
                <a:latin typeface="Arial"/>
                <a:cs typeface="Arial"/>
              </a:rPr>
              <a:t>y</a:t>
            </a:r>
            <a:r>
              <a:rPr sz="1600" spc="-229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salida.</a:t>
            </a:r>
            <a:endParaRPr sz="16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1" spc="-70" dirty="0">
                <a:latin typeface="Trebuchet MS"/>
                <a:cs typeface="Trebuchet MS"/>
              </a:rPr>
              <a:t>Análisis </a:t>
            </a:r>
            <a:r>
              <a:rPr sz="1600" b="1" spc="-95" dirty="0">
                <a:latin typeface="Trebuchet MS"/>
                <a:cs typeface="Trebuchet MS"/>
              </a:rPr>
              <a:t>de </a:t>
            </a:r>
            <a:r>
              <a:rPr sz="1600" b="1" spc="-100" dirty="0">
                <a:latin typeface="Trebuchet MS"/>
                <a:cs typeface="Trebuchet MS"/>
              </a:rPr>
              <a:t>requerimientos </a:t>
            </a:r>
            <a:r>
              <a:rPr sz="1600" b="1" spc="-80" dirty="0">
                <a:latin typeface="Trebuchet MS"/>
                <a:cs typeface="Trebuchet MS"/>
              </a:rPr>
              <a:t>funcionales</a:t>
            </a:r>
            <a:r>
              <a:rPr sz="1600" spc="-80" dirty="0">
                <a:latin typeface="Arial"/>
                <a:cs typeface="Arial"/>
              </a:rPr>
              <a:t>: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60" dirty="0">
                <a:latin typeface="Arial"/>
                <a:cs typeface="Arial"/>
              </a:rPr>
              <a:t>posible </a:t>
            </a:r>
            <a:r>
              <a:rPr sz="1600" spc="-70" dirty="0">
                <a:latin typeface="Arial"/>
                <a:cs typeface="Arial"/>
              </a:rPr>
              <a:t>que</a:t>
            </a:r>
            <a:r>
              <a:rPr sz="1600" spc="300" dirty="0">
                <a:latin typeface="Arial"/>
                <a:cs typeface="Arial"/>
              </a:rPr>
              <a:t>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75" dirty="0">
                <a:latin typeface="Arial"/>
                <a:cs typeface="Arial"/>
              </a:rPr>
              <a:t>necesite  </a:t>
            </a:r>
            <a:r>
              <a:rPr sz="1600" spc="-35" dirty="0">
                <a:latin typeface="Arial"/>
                <a:cs typeface="Arial"/>
              </a:rPr>
              <a:t>trabajar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85" dirty="0">
                <a:latin typeface="Arial"/>
                <a:cs typeface="Arial"/>
              </a:rPr>
              <a:t>analistas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35" dirty="0">
                <a:latin typeface="Arial"/>
                <a:cs typeface="Arial"/>
              </a:rPr>
              <a:t>otros </a:t>
            </a:r>
            <a:r>
              <a:rPr sz="1600" spc="-80" dirty="0">
                <a:latin typeface="Arial"/>
                <a:cs typeface="Arial"/>
              </a:rPr>
              <a:t>usuarios para </a:t>
            </a:r>
            <a:r>
              <a:rPr sz="1600" spc="-40" dirty="0">
                <a:latin typeface="Arial"/>
                <a:cs typeface="Arial"/>
              </a:rPr>
              <a:t>determinar </a:t>
            </a:r>
            <a:r>
              <a:rPr sz="1600" spc="-95" dirty="0">
                <a:latin typeface="Arial"/>
                <a:cs typeface="Arial"/>
              </a:rPr>
              <a:t>las necesidades  específicas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información.</a:t>
            </a:r>
            <a:endParaRPr sz="1600">
              <a:latin typeface="Arial"/>
              <a:cs typeface="Arial"/>
            </a:endParaRPr>
          </a:p>
          <a:p>
            <a:pPr marL="298450" marR="6985" indent="-285750" algn="just">
              <a:lnSpc>
                <a:spcPts val="2160"/>
              </a:lnSpc>
              <a:spcBef>
                <a:spcPts val="60"/>
              </a:spcBef>
              <a:buChar char="•"/>
              <a:tabLst>
                <a:tab pos="299085" algn="l"/>
              </a:tabLst>
            </a:pPr>
            <a:r>
              <a:rPr sz="1800" spc="-240" dirty="0">
                <a:latin typeface="Arial"/>
                <a:cs typeface="Arial"/>
              </a:rPr>
              <a:t>Se </a:t>
            </a:r>
            <a:r>
              <a:rPr sz="1800" spc="-80" dirty="0">
                <a:latin typeface="Arial"/>
                <a:cs typeface="Arial"/>
              </a:rPr>
              <a:t>debe </a:t>
            </a:r>
            <a:r>
              <a:rPr sz="1800" spc="-20" dirty="0">
                <a:latin typeface="Arial"/>
                <a:cs typeface="Arial"/>
              </a:rPr>
              <a:t>tratar </a:t>
            </a:r>
            <a:r>
              <a:rPr sz="1800" spc="-50" dirty="0">
                <a:latin typeface="Arial"/>
                <a:cs typeface="Arial"/>
              </a:rPr>
              <a:t>también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desarrollar </a:t>
            </a:r>
            <a:r>
              <a:rPr sz="1800" spc="-50" dirty="0">
                <a:latin typeface="Arial"/>
                <a:cs typeface="Arial"/>
              </a:rPr>
              <a:t>requerimientos </a:t>
            </a:r>
            <a:r>
              <a:rPr sz="1800" spc="-70" dirty="0">
                <a:latin typeface="Arial"/>
                <a:cs typeface="Arial"/>
              </a:rPr>
              <a:t>funcionales </a:t>
            </a:r>
            <a:r>
              <a:rPr sz="1800" spc="-75" dirty="0">
                <a:latin typeface="Arial"/>
                <a:cs typeface="Arial"/>
              </a:rPr>
              <a:t>que  </a:t>
            </a:r>
            <a:r>
              <a:rPr sz="1800" spc="-60" dirty="0">
                <a:latin typeface="Arial"/>
                <a:cs typeface="Arial"/>
              </a:rPr>
              <a:t>constituyen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0" dirty="0">
                <a:latin typeface="Arial"/>
                <a:cs typeface="Arial"/>
              </a:rPr>
              <a:t>requerimientos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5" dirty="0">
                <a:latin typeface="Arial"/>
                <a:cs typeface="Arial"/>
              </a:rPr>
              <a:t>de usuarios</a:t>
            </a:r>
            <a:r>
              <a:rPr sz="1800" spc="-19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finales.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ts val="209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110" dirty="0">
                <a:latin typeface="Arial"/>
                <a:cs typeface="Arial"/>
              </a:rPr>
              <a:t>Algunas </a:t>
            </a:r>
            <a:r>
              <a:rPr sz="1800" spc="-114" dirty="0">
                <a:latin typeface="Arial"/>
                <a:cs typeface="Arial"/>
              </a:rPr>
              <a:t>áreas </a:t>
            </a:r>
            <a:r>
              <a:rPr sz="1800" spc="-120" dirty="0">
                <a:latin typeface="Arial"/>
                <a:cs typeface="Arial"/>
              </a:rPr>
              <a:t>claves </a:t>
            </a:r>
            <a:r>
              <a:rPr sz="1800" spc="-70" dirty="0">
                <a:latin typeface="Arial"/>
                <a:cs typeface="Arial"/>
              </a:rPr>
              <a:t>donde </a:t>
            </a:r>
            <a:r>
              <a:rPr sz="1800" spc="-80" dirty="0">
                <a:latin typeface="Arial"/>
                <a:cs typeface="Arial"/>
              </a:rPr>
              <a:t>deberían desarrollarse </a:t>
            </a:r>
            <a:r>
              <a:rPr sz="1800" spc="-50" dirty="0">
                <a:latin typeface="Arial"/>
                <a:cs typeface="Arial"/>
              </a:rPr>
              <a:t>requerimientos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son:</a:t>
            </a:r>
            <a:endParaRPr sz="1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Interfaz </a:t>
            </a:r>
            <a:r>
              <a:rPr sz="16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600" i="1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usuario</a:t>
            </a:r>
            <a:r>
              <a:rPr sz="1600" i="1" spc="-70" dirty="0">
                <a:latin typeface="Trebuchet MS"/>
                <a:cs typeface="Trebuchet MS"/>
              </a:rPr>
              <a:t> </a:t>
            </a:r>
            <a:r>
              <a:rPr sz="1600" spc="-95" dirty="0">
                <a:latin typeface="Arial"/>
                <a:cs typeface="Arial"/>
              </a:rPr>
              <a:t>(necesidades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55" dirty="0">
                <a:latin typeface="Arial"/>
                <a:cs typeface="Arial"/>
              </a:rPr>
              <a:t>entrada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80" dirty="0">
                <a:latin typeface="Arial"/>
                <a:cs typeface="Arial"/>
              </a:rPr>
              <a:t>salida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los</a:t>
            </a:r>
            <a:r>
              <a:rPr sz="1600" spc="-254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usuarios),</a:t>
            </a:r>
            <a:endParaRPr sz="1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Procesamiento</a:t>
            </a:r>
            <a:r>
              <a:rPr sz="1600" i="1" spc="-75" dirty="0">
                <a:latin typeface="Trebuchet MS"/>
                <a:cs typeface="Trebuchet MS"/>
              </a:rPr>
              <a:t> </a:t>
            </a:r>
            <a:r>
              <a:rPr sz="1600" spc="-70" dirty="0">
                <a:latin typeface="Arial"/>
                <a:cs typeface="Arial"/>
              </a:rPr>
              <a:t>(actividades </a:t>
            </a:r>
            <a:r>
              <a:rPr sz="1600" spc="-65" dirty="0">
                <a:latin typeface="Arial"/>
                <a:cs typeface="Arial"/>
              </a:rPr>
              <a:t>requeridas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35" dirty="0">
                <a:latin typeface="Arial"/>
                <a:cs typeface="Arial"/>
              </a:rPr>
              <a:t>convertir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55" dirty="0">
                <a:latin typeface="Arial"/>
                <a:cs typeface="Arial"/>
              </a:rPr>
              <a:t>entrada </a:t>
            </a:r>
            <a:r>
              <a:rPr sz="1600" spc="-75" dirty="0">
                <a:latin typeface="Arial"/>
                <a:cs typeface="Arial"/>
              </a:rPr>
              <a:t>en</a:t>
            </a:r>
            <a:r>
              <a:rPr sz="1600" spc="-25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salida),</a:t>
            </a:r>
            <a:endParaRPr sz="1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Almacenamiento</a:t>
            </a:r>
            <a:r>
              <a:rPr sz="1600" i="1" spc="-80" dirty="0">
                <a:latin typeface="Trebuchet MS"/>
                <a:cs typeface="Trebuchet MS"/>
              </a:rPr>
              <a:t> </a:t>
            </a:r>
            <a:r>
              <a:rPr sz="1600" spc="-75" dirty="0">
                <a:latin typeface="Arial"/>
                <a:cs typeface="Arial"/>
              </a:rPr>
              <a:t>(organización, </a:t>
            </a:r>
            <a:r>
              <a:rPr sz="1600" spc="-55" dirty="0">
                <a:latin typeface="Arial"/>
                <a:cs typeface="Arial"/>
              </a:rPr>
              <a:t>tamaño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0" dirty="0">
                <a:latin typeface="Arial"/>
                <a:cs typeface="Arial"/>
              </a:rPr>
              <a:t>contenido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114" dirty="0">
                <a:latin typeface="Arial"/>
                <a:cs typeface="Arial"/>
              </a:rPr>
              <a:t>base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datos)</a:t>
            </a:r>
            <a:r>
              <a:rPr sz="1600" spc="-204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y</a:t>
            </a:r>
            <a:endParaRPr sz="16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650" algn="l"/>
                <a:tab pos="756285" algn="l"/>
              </a:tabLst>
            </a:pPr>
            <a:r>
              <a:rPr sz="1600" i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Control</a:t>
            </a:r>
            <a:r>
              <a:rPr sz="1600" i="1" spc="-100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Arial"/>
                <a:cs typeface="Arial"/>
              </a:rPr>
              <a:t>(requerimientos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70" dirty="0">
                <a:latin typeface="Arial"/>
                <a:cs typeface="Arial"/>
              </a:rPr>
              <a:t>veracidad, </a:t>
            </a:r>
            <a:r>
              <a:rPr sz="1600" spc="-75" dirty="0">
                <a:latin typeface="Arial"/>
                <a:cs typeface="Arial"/>
              </a:rPr>
              <a:t>validez,</a:t>
            </a:r>
            <a:r>
              <a:rPr sz="1600" spc="-16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solidez).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02830" y="1447800"/>
            <a:ext cx="1520952" cy="1066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02830" y="4127753"/>
            <a:ext cx="1512570" cy="9776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48571" y="2895600"/>
            <a:ext cx="1494260" cy="80391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7166609" cy="527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90" dirty="0">
                <a:latin typeface="Trebuchet MS"/>
                <a:cs typeface="Trebuchet MS"/>
              </a:rPr>
              <a:t>Diseño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35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298450" marR="5080" indent="-285750">
              <a:lnSpc>
                <a:spcPct val="100000"/>
              </a:lnSpc>
              <a:spcBef>
                <a:spcPts val="15"/>
              </a:spcBef>
              <a:buChar char="•"/>
              <a:tabLst>
                <a:tab pos="298450" algn="l"/>
                <a:tab pos="299085" algn="l"/>
                <a:tab pos="1360805" algn="l"/>
                <a:tab pos="2031364" algn="l"/>
                <a:tab pos="2345055" algn="l"/>
                <a:tab pos="3270250" algn="l"/>
                <a:tab pos="4072254" algn="l"/>
                <a:tab pos="4485640" algn="l"/>
                <a:tab pos="5485765" algn="l"/>
                <a:tab pos="5871845" algn="l"/>
                <a:tab pos="6901180" algn="l"/>
              </a:tabLst>
            </a:pPr>
            <a:r>
              <a:rPr sz="1800" spc="-105" dirty="0">
                <a:latin typeface="Arial"/>
                <a:cs typeface="Arial"/>
              </a:rPr>
              <a:t>Especifi</a:t>
            </a:r>
            <a:r>
              <a:rPr sz="1800" spc="-130" dirty="0">
                <a:latin typeface="Arial"/>
                <a:cs typeface="Arial"/>
              </a:rPr>
              <a:t>c</a:t>
            </a:r>
            <a:r>
              <a:rPr sz="1800" spc="-140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55" dirty="0">
                <a:latin typeface="Arial"/>
                <a:cs typeface="Arial"/>
              </a:rPr>
              <a:t>c</a:t>
            </a:r>
            <a:r>
              <a:rPr sz="1800" spc="-65" dirty="0">
                <a:latin typeface="Arial"/>
                <a:cs typeface="Arial"/>
              </a:rPr>
              <a:t>om</a:t>
            </a:r>
            <a:r>
              <a:rPr sz="1800" spc="-50" dirty="0">
                <a:latin typeface="Arial"/>
                <a:cs typeface="Arial"/>
              </a:rPr>
              <a:t>o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70" dirty="0">
                <a:latin typeface="Arial"/>
                <a:cs typeface="Arial"/>
              </a:rPr>
              <a:t>solució</a:t>
            </a:r>
            <a:r>
              <a:rPr sz="1800" spc="-80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45" dirty="0">
                <a:latin typeface="Arial"/>
                <a:cs typeface="Arial"/>
              </a:rPr>
              <a:t>log</a:t>
            </a:r>
            <a:r>
              <a:rPr sz="1800" spc="-75" dirty="0">
                <a:latin typeface="Arial"/>
                <a:cs typeface="Arial"/>
              </a:rPr>
              <a:t>r</a:t>
            </a:r>
            <a:r>
              <a:rPr sz="1800" spc="-70" dirty="0">
                <a:latin typeface="Arial"/>
                <a:cs typeface="Arial"/>
              </a:rPr>
              <a:t>a</a:t>
            </a:r>
            <a:r>
              <a:rPr sz="1800" spc="-85" dirty="0">
                <a:latin typeface="Arial"/>
                <a:cs typeface="Arial"/>
              </a:rPr>
              <a:t>r</a:t>
            </a:r>
            <a:r>
              <a:rPr sz="1800" spc="-140" dirty="0">
                <a:latin typeface="Arial"/>
                <a:cs typeface="Arial"/>
              </a:rPr>
              <a:t>á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80" dirty="0">
                <a:latin typeface="Arial"/>
                <a:cs typeface="Arial"/>
              </a:rPr>
              <a:t>los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obj</a:t>
            </a:r>
            <a:r>
              <a:rPr sz="1800" spc="-70" dirty="0">
                <a:latin typeface="Arial"/>
                <a:cs typeface="Arial"/>
              </a:rPr>
              <a:t>e</a:t>
            </a:r>
            <a:r>
              <a:rPr sz="1800" spc="5" dirty="0">
                <a:latin typeface="Arial"/>
                <a:cs typeface="Arial"/>
              </a:rPr>
              <a:t>ti</a:t>
            </a:r>
            <a:r>
              <a:rPr sz="1800" spc="-10" dirty="0">
                <a:latin typeface="Arial"/>
                <a:cs typeface="Arial"/>
              </a:rPr>
              <a:t>v</a:t>
            </a:r>
            <a:r>
              <a:rPr sz="1800" spc="-140" dirty="0">
                <a:latin typeface="Arial"/>
                <a:cs typeface="Arial"/>
              </a:rPr>
              <a:t>o</a:t>
            </a:r>
            <a:r>
              <a:rPr sz="1800" spc="-120" dirty="0">
                <a:latin typeface="Arial"/>
                <a:cs typeface="Arial"/>
              </a:rPr>
              <a:t>s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65" dirty="0">
                <a:latin typeface="Arial"/>
                <a:cs typeface="Arial"/>
              </a:rPr>
              <a:t>s</a:t>
            </a:r>
            <a:r>
              <a:rPr sz="1800" spc="-200" dirty="0">
                <a:latin typeface="Arial"/>
                <a:cs typeface="Arial"/>
              </a:rPr>
              <a:t>a</a:t>
            </a:r>
            <a:r>
              <a:rPr sz="1800" spc="-20" dirty="0">
                <a:latin typeface="Arial"/>
                <a:cs typeface="Arial"/>
              </a:rPr>
              <a:t>ti</a:t>
            </a:r>
            <a:r>
              <a:rPr sz="1800" spc="-65" dirty="0">
                <a:latin typeface="Arial"/>
                <a:cs typeface="Arial"/>
              </a:rPr>
              <a:t>s</a:t>
            </a:r>
            <a:r>
              <a:rPr sz="1800" spc="10" dirty="0">
                <a:latin typeface="Arial"/>
                <a:cs typeface="Arial"/>
              </a:rPr>
              <a:t>f</a:t>
            </a:r>
            <a:r>
              <a:rPr sz="1800" spc="-90" dirty="0">
                <a:latin typeface="Arial"/>
                <a:cs typeface="Arial"/>
              </a:rPr>
              <a:t>acer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95" dirty="0">
                <a:latin typeface="Arial"/>
                <a:cs typeface="Arial"/>
              </a:rPr>
              <a:t>las  </a:t>
            </a:r>
            <a:r>
              <a:rPr sz="1800" spc="-110" dirty="0">
                <a:latin typeface="Arial"/>
                <a:cs typeface="Arial"/>
              </a:rPr>
              <a:t>necesidades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los usuarios. </a:t>
            </a:r>
            <a:r>
              <a:rPr sz="1800" spc="-125" dirty="0">
                <a:latin typeface="Arial"/>
                <a:cs typeface="Arial"/>
              </a:rPr>
              <a:t>Consta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tres </a:t>
            </a:r>
            <a:r>
              <a:rPr sz="1800" spc="-70" dirty="0">
                <a:latin typeface="Arial"/>
                <a:cs typeface="Arial"/>
              </a:rPr>
              <a:t>actividades:</a:t>
            </a:r>
            <a:endParaRPr sz="1800">
              <a:latin typeface="Arial"/>
              <a:cs typeface="Arial"/>
            </a:endParaRPr>
          </a:p>
          <a:p>
            <a:pPr marL="551180" marR="5080" lvl="1" indent="-269240" algn="just">
              <a:lnSpc>
                <a:spcPct val="100000"/>
              </a:lnSpc>
              <a:spcBef>
                <a:spcPts val="15"/>
              </a:spcBef>
              <a:buAutoNum type="arabicPeriod"/>
              <a:tabLst>
                <a:tab pos="551815" algn="l"/>
              </a:tabLst>
            </a:pPr>
            <a:r>
              <a:rPr sz="1600" b="1" i="1" spc="-145" dirty="0">
                <a:latin typeface="Arial"/>
                <a:cs typeface="Arial"/>
              </a:rPr>
              <a:t>Diseño </a:t>
            </a:r>
            <a:r>
              <a:rPr sz="1600" b="1" i="1" spc="-114" dirty="0">
                <a:latin typeface="Arial"/>
                <a:cs typeface="Arial"/>
              </a:rPr>
              <a:t>de </a:t>
            </a:r>
            <a:r>
              <a:rPr sz="1600" b="1" i="1" spc="-80" dirty="0">
                <a:latin typeface="Arial"/>
                <a:cs typeface="Arial"/>
              </a:rPr>
              <a:t>interfaz </a:t>
            </a:r>
            <a:r>
              <a:rPr sz="1600" b="1" i="1" spc="-120" dirty="0">
                <a:latin typeface="Arial"/>
                <a:cs typeface="Arial"/>
              </a:rPr>
              <a:t>de </a:t>
            </a:r>
            <a:r>
              <a:rPr sz="1600" b="1" i="1" spc="-105" dirty="0">
                <a:latin typeface="Arial"/>
                <a:cs typeface="Arial"/>
              </a:rPr>
              <a:t>usuario</a:t>
            </a:r>
            <a:r>
              <a:rPr sz="1600" spc="-105" dirty="0">
                <a:latin typeface="Arial"/>
                <a:cs typeface="Arial"/>
              </a:rPr>
              <a:t>: </a:t>
            </a:r>
            <a:r>
              <a:rPr sz="1600" spc="-60" dirty="0">
                <a:latin typeface="Arial"/>
                <a:cs typeface="Arial"/>
              </a:rPr>
              <a:t>relacionado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75" dirty="0">
                <a:latin typeface="Arial"/>
                <a:cs typeface="Arial"/>
              </a:rPr>
              <a:t>diseño de </a:t>
            </a:r>
            <a:r>
              <a:rPr sz="1600" spc="-55" dirty="0">
                <a:latin typeface="Arial"/>
                <a:cs typeface="Arial"/>
              </a:rPr>
              <a:t>pantalla, </a:t>
            </a:r>
            <a:r>
              <a:rPr sz="1600" spc="-35" dirty="0">
                <a:latin typeface="Arial"/>
                <a:cs typeface="Arial"/>
              </a:rPr>
              <a:t>formato,  informe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60" dirty="0">
                <a:latin typeface="Arial"/>
                <a:cs typeface="Arial"/>
              </a:rPr>
              <a:t>diálogo. </a:t>
            </a:r>
            <a:r>
              <a:rPr sz="1600" spc="-95" dirty="0">
                <a:latin typeface="Arial"/>
                <a:cs typeface="Arial"/>
              </a:rPr>
              <a:t>Pueden</a:t>
            </a:r>
            <a:r>
              <a:rPr sz="1600" spc="250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utilizarse </a:t>
            </a:r>
            <a:r>
              <a:rPr sz="1600" spc="-20" dirty="0">
                <a:latin typeface="Arial"/>
                <a:cs typeface="Arial"/>
              </a:rPr>
              <a:t>tanto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90" dirty="0">
                <a:latin typeface="Arial"/>
                <a:cs typeface="Arial"/>
              </a:rPr>
              <a:t>grandes </a:t>
            </a:r>
            <a:r>
              <a:rPr sz="1600" spc="-75" dirty="0">
                <a:latin typeface="Arial"/>
                <a:cs typeface="Arial"/>
              </a:rPr>
              <a:t>como </a:t>
            </a:r>
            <a:r>
              <a:rPr sz="1600" spc="-90" dirty="0">
                <a:latin typeface="Arial"/>
                <a:cs typeface="Arial"/>
              </a:rPr>
              <a:t>pequeñas  </a:t>
            </a:r>
            <a:r>
              <a:rPr sz="1600" spc="-80" dirty="0">
                <a:latin typeface="Arial"/>
                <a:cs typeface="Arial"/>
              </a:rPr>
              <a:t>aplicaciones. </a:t>
            </a:r>
            <a:r>
              <a:rPr sz="1600" spc="-140" dirty="0">
                <a:latin typeface="Arial"/>
                <a:cs typeface="Arial"/>
              </a:rPr>
              <a:t>El </a:t>
            </a:r>
            <a:r>
              <a:rPr sz="1600" spc="-10" dirty="0">
                <a:latin typeface="Arial"/>
                <a:cs typeface="Arial"/>
              </a:rPr>
              <a:t>prototipo </a:t>
            </a:r>
            <a:r>
              <a:rPr sz="1600" spc="-85" dirty="0">
                <a:latin typeface="Arial"/>
                <a:cs typeface="Arial"/>
              </a:rPr>
              <a:t>varias </a:t>
            </a:r>
            <a:r>
              <a:rPr sz="1600" spc="-120" dirty="0">
                <a:latin typeface="Arial"/>
                <a:cs typeface="Arial"/>
              </a:rPr>
              <a:t>veces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45" dirty="0">
                <a:latin typeface="Arial"/>
                <a:cs typeface="Arial"/>
              </a:rPr>
              <a:t>modifica </a:t>
            </a:r>
            <a:r>
              <a:rPr sz="1600" spc="-90" dirty="0">
                <a:latin typeface="Arial"/>
                <a:cs typeface="Arial"/>
              </a:rPr>
              <a:t>hasta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65" dirty="0">
                <a:latin typeface="Arial"/>
                <a:cs typeface="Arial"/>
              </a:rPr>
              <a:t>usuario </a:t>
            </a:r>
            <a:r>
              <a:rPr sz="1600" spc="-30" dirty="0">
                <a:latin typeface="Arial"/>
                <a:cs typeface="Arial"/>
              </a:rPr>
              <a:t>final  </a:t>
            </a:r>
            <a:r>
              <a:rPr sz="1600" spc="-60" dirty="0">
                <a:latin typeface="Arial"/>
                <a:cs typeface="Arial"/>
              </a:rPr>
              <a:t>encuentra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35" dirty="0">
                <a:latin typeface="Arial"/>
                <a:cs typeface="Arial"/>
              </a:rPr>
              <a:t>es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aceptable.</a:t>
            </a:r>
            <a:endParaRPr sz="1600">
              <a:latin typeface="Arial"/>
              <a:cs typeface="Arial"/>
            </a:endParaRPr>
          </a:p>
          <a:p>
            <a:pPr marL="551180" marR="5080" lvl="1" indent="-269240" algn="just">
              <a:lnSpc>
                <a:spcPct val="100000"/>
              </a:lnSpc>
              <a:buAutoNum type="arabicPeriod"/>
              <a:tabLst>
                <a:tab pos="551815" algn="l"/>
              </a:tabLst>
            </a:pPr>
            <a:r>
              <a:rPr sz="1600" b="1" i="1" spc="-145" dirty="0">
                <a:latin typeface="Arial"/>
                <a:cs typeface="Arial"/>
              </a:rPr>
              <a:t>Diseño </a:t>
            </a:r>
            <a:r>
              <a:rPr sz="1600" b="1" i="1" spc="-114" dirty="0">
                <a:latin typeface="Arial"/>
                <a:cs typeface="Arial"/>
              </a:rPr>
              <a:t>de </a:t>
            </a:r>
            <a:r>
              <a:rPr sz="1600" b="1" i="1" spc="-100" dirty="0">
                <a:latin typeface="Arial"/>
                <a:cs typeface="Arial"/>
              </a:rPr>
              <a:t>datos</a:t>
            </a:r>
            <a:r>
              <a:rPr sz="1600" spc="-100" dirty="0">
                <a:latin typeface="Arial"/>
                <a:cs typeface="Arial"/>
              </a:rPr>
              <a:t>: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55" dirty="0">
                <a:latin typeface="Arial"/>
                <a:cs typeface="Arial"/>
              </a:rPr>
              <a:t>centra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70" dirty="0">
                <a:latin typeface="Arial"/>
                <a:cs typeface="Arial"/>
              </a:rPr>
              <a:t>diseño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5" dirty="0">
                <a:latin typeface="Arial"/>
                <a:cs typeface="Arial"/>
              </a:rPr>
              <a:t>estructura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114" dirty="0">
                <a:latin typeface="Arial"/>
                <a:cs typeface="Arial"/>
              </a:rPr>
              <a:t>base </a:t>
            </a:r>
            <a:r>
              <a:rPr sz="1600" spc="-75" dirty="0">
                <a:latin typeface="Arial"/>
                <a:cs typeface="Arial"/>
              </a:rPr>
              <a:t>de datos y  </a:t>
            </a:r>
            <a:r>
              <a:rPr sz="1600" spc="-80" dirty="0">
                <a:latin typeface="Arial"/>
                <a:cs typeface="Arial"/>
              </a:rPr>
              <a:t>archivos </a:t>
            </a:r>
            <a:r>
              <a:rPr sz="1600" spc="-85" dirty="0">
                <a:latin typeface="Arial"/>
                <a:cs typeface="Arial"/>
              </a:rPr>
              <a:t>necesarios. </a:t>
            </a:r>
            <a:r>
              <a:rPr sz="1600" spc="-190" dirty="0">
                <a:latin typeface="Arial"/>
                <a:cs typeface="Arial"/>
              </a:rPr>
              <a:t>Su </a:t>
            </a:r>
            <a:r>
              <a:rPr sz="1600" spc="-40" dirty="0">
                <a:latin typeface="Arial"/>
                <a:cs typeface="Arial"/>
              </a:rPr>
              <a:t>producto </a:t>
            </a:r>
            <a:r>
              <a:rPr sz="1600" spc="-80" dirty="0">
                <a:latin typeface="Arial"/>
                <a:cs typeface="Arial"/>
              </a:rPr>
              <a:t>consiste </a:t>
            </a:r>
            <a:r>
              <a:rPr sz="1600" spc="-70" dirty="0">
                <a:latin typeface="Arial"/>
                <a:cs typeface="Arial"/>
              </a:rPr>
              <a:t>en </a:t>
            </a:r>
            <a:r>
              <a:rPr sz="1600" spc="-80" dirty="0">
                <a:latin typeface="Arial"/>
                <a:cs typeface="Arial"/>
              </a:rPr>
              <a:t>descripciones </a:t>
            </a:r>
            <a:r>
              <a:rPr sz="1600" spc="-70" dirty="0">
                <a:latin typeface="Arial"/>
                <a:cs typeface="Arial"/>
              </a:rPr>
              <a:t>detalladas </a:t>
            </a:r>
            <a:r>
              <a:rPr sz="1600" spc="-55" dirty="0">
                <a:latin typeface="Arial"/>
                <a:cs typeface="Arial"/>
              </a:rPr>
              <a:t>de: </a:t>
            </a:r>
            <a:r>
              <a:rPr sz="1600" spc="-70" dirty="0">
                <a:latin typeface="Arial"/>
                <a:cs typeface="Arial"/>
              </a:rPr>
              <a:t>los  </a:t>
            </a:r>
            <a:r>
              <a:rPr sz="1600" spc="-35" dirty="0">
                <a:latin typeface="Arial"/>
                <a:cs typeface="Arial"/>
              </a:rPr>
              <a:t>atributos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entidades </a:t>
            </a:r>
            <a:r>
              <a:rPr sz="1600" spc="-95" dirty="0">
                <a:latin typeface="Arial"/>
                <a:cs typeface="Arial"/>
              </a:rPr>
              <a:t>sobres las cuales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75" dirty="0">
                <a:latin typeface="Arial"/>
                <a:cs typeface="Arial"/>
              </a:rPr>
              <a:t>necesitan </a:t>
            </a:r>
            <a:r>
              <a:rPr sz="1600" spc="-45" dirty="0">
                <a:latin typeface="Arial"/>
                <a:cs typeface="Arial"/>
              </a:rPr>
              <a:t>información,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70" dirty="0">
                <a:latin typeface="Arial"/>
                <a:cs typeface="Arial"/>
              </a:rPr>
              <a:t>relaciones  </a:t>
            </a:r>
            <a:r>
              <a:rPr sz="1600" spc="-35" dirty="0">
                <a:latin typeface="Arial"/>
                <a:cs typeface="Arial"/>
              </a:rPr>
              <a:t>entre </a:t>
            </a:r>
            <a:r>
              <a:rPr sz="1600" spc="-60" dirty="0">
                <a:latin typeface="Arial"/>
                <a:cs typeface="Arial"/>
              </a:rPr>
              <a:t>entidades, </a:t>
            </a:r>
            <a:r>
              <a:rPr sz="1600" spc="-75" dirty="0">
                <a:latin typeface="Arial"/>
                <a:cs typeface="Arial"/>
              </a:rPr>
              <a:t>los </a:t>
            </a:r>
            <a:r>
              <a:rPr sz="1600" spc="-70" dirty="0">
                <a:latin typeface="Arial"/>
                <a:cs typeface="Arial"/>
              </a:rPr>
              <a:t>datos </a:t>
            </a:r>
            <a:r>
              <a:rPr sz="1600" spc="-90" dirty="0">
                <a:latin typeface="Arial"/>
                <a:cs typeface="Arial"/>
              </a:rPr>
              <a:t>específicos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75" dirty="0">
                <a:latin typeface="Arial"/>
                <a:cs typeface="Arial"/>
              </a:rPr>
              <a:t>necesitan </a:t>
            </a:r>
            <a:r>
              <a:rPr sz="1600" spc="-70" dirty="0">
                <a:latin typeface="Arial"/>
                <a:cs typeface="Arial"/>
              </a:rPr>
              <a:t>mantenerse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95" dirty="0">
                <a:latin typeface="Arial"/>
                <a:cs typeface="Arial"/>
              </a:rPr>
              <a:t>las </a:t>
            </a:r>
            <a:r>
              <a:rPr sz="1600" spc="-90" dirty="0">
                <a:latin typeface="Arial"/>
                <a:cs typeface="Arial"/>
              </a:rPr>
              <a:t>reglas </a:t>
            </a:r>
            <a:r>
              <a:rPr sz="1600" spc="-80" dirty="0">
                <a:latin typeface="Arial"/>
                <a:cs typeface="Arial"/>
              </a:rPr>
              <a:t>de  </a:t>
            </a:r>
            <a:r>
              <a:rPr sz="1600" spc="-40" dirty="0">
                <a:latin typeface="Arial"/>
                <a:cs typeface="Arial"/>
              </a:rPr>
              <a:t>integridad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55" dirty="0">
                <a:latin typeface="Arial"/>
                <a:cs typeface="Arial"/>
              </a:rPr>
              <a:t>rigen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5" dirty="0">
                <a:latin typeface="Arial"/>
                <a:cs typeface="Arial"/>
              </a:rPr>
              <a:t>forma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110" dirty="0">
                <a:latin typeface="Arial"/>
                <a:cs typeface="Arial"/>
              </a:rPr>
              <a:t>cada </a:t>
            </a:r>
            <a:r>
              <a:rPr sz="1600" spc="-50" dirty="0">
                <a:latin typeface="Arial"/>
                <a:cs typeface="Arial"/>
              </a:rPr>
              <a:t>elemento </a:t>
            </a:r>
            <a:r>
              <a:rPr sz="1600" spc="-135" dirty="0">
                <a:latin typeface="Arial"/>
                <a:cs typeface="Arial"/>
              </a:rPr>
              <a:t>es</a:t>
            </a:r>
            <a:r>
              <a:rPr sz="1600" spc="-31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especificado</a:t>
            </a:r>
            <a:endParaRPr sz="1600">
              <a:latin typeface="Arial"/>
              <a:cs typeface="Arial"/>
            </a:endParaRPr>
          </a:p>
          <a:p>
            <a:pPr marL="551180" marR="5080" lvl="1" indent="-269240" algn="just">
              <a:lnSpc>
                <a:spcPct val="100000"/>
              </a:lnSpc>
              <a:buAutoNum type="arabicPeriod"/>
              <a:tabLst>
                <a:tab pos="551815" algn="l"/>
              </a:tabLst>
            </a:pPr>
            <a:r>
              <a:rPr sz="1600" b="1" i="1" spc="-145" dirty="0">
                <a:latin typeface="Arial"/>
                <a:cs typeface="Arial"/>
              </a:rPr>
              <a:t>Diseño</a:t>
            </a:r>
            <a:r>
              <a:rPr sz="1600" b="1" i="1" spc="150" dirty="0">
                <a:latin typeface="Arial"/>
                <a:cs typeface="Arial"/>
              </a:rPr>
              <a:t> </a:t>
            </a:r>
            <a:r>
              <a:rPr sz="1600" b="1" i="1" spc="-120" dirty="0">
                <a:latin typeface="Arial"/>
                <a:cs typeface="Arial"/>
              </a:rPr>
              <a:t>de  </a:t>
            </a:r>
            <a:r>
              <a:rPr sz="1600" b="1" i="1" spc="-150" dirty="0">
                <a:latin typeface="Arial"/>
                <a:cs typeface="Arial"/>
              </a:rPr>
              <a:t>procesos</a:t>
            </a:r>
            <a:r>
              <a:rPr sz="1600" spc="-150" dirty="0">
                <a:latin typeface="Arial"/>
                <a:cs typeface="Arial"/>
              </a:rPr>
              <a:t>: </a:t>
            </a:r>
            <a:r>
              <a:rPr sz="1600" spc="-140" dirty="0">
                <a:latin typeface="Arial"/>
                <a:cs typeface="Arial"/>
              </a:rPr>
              <a:t>se </a:t>
            </a:r>
            <a:r>
              <a:rPr sz="1600" spc="-55" dirty="0">
                <a:latin typeface="Arial"/>
                <a:cs typeface="Arial"/>
              </a:rPr>
              <a:t>centra </a:t>
            </a:r>
            <a:r>
              <a:rPr sz="1600" spc="-75" dirty="0">
                <a:latin typeface="Arial"/>
                <a:cs typeface="Arial"/>
              </a:rPr>
              <a:t>en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75" dirty="0">
                <a:latin typeface="Arial"/>
                <a:cs typeface="Arial"/>
              </a:rPr>
              <a:t>diseño de </a:t>
            </a:r>
            <a:r>
              <a:rPr sz="1600" spc="-85" dirty="0">
                <a:latin typeface="Arial"/>
                <a:cs typeface="Arial"/>
              </a:rPr>
              <a:t>recursos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215" dirty="0">
                <a:latin typeface="Arial"/>
                <a:cs typeface="Arial"/>
              </a:rPr>
              <a:t>SW, </a:t>
            </a:r>
            <a:r>
              <a:rPr sz="1600" spc="-135" dirty="0">
                <a:latin typeface="Arial"/>
                <a:cs typeface="Arial"/>
              </a:rPr>
              <a:t>es </a:t>
            </a:r>
            <a:r>
              <a:rPr sz="1600" spc="-75" dirty="0">
                <a:latin typeface="Arial"/>
                <a:cs typeface="Arial"/>
              </a:rPr>
              <a:t>decir,  </a:t>
            </a:r>
            <a:r>
              <a:rPr sz="1600" spc="-85" dirty="0">
                <a:latin typeface="Arial"/>
                <a:cs typeface="Arial"/>
              </a:rPr>
              <a:t>programas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55" dirty="0">
                <a:latin typeface="Arial"/>
                <a:cs typeface="Arial"/>
              </a:rPr>
              <a:t>procedimientos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75" dirty="0">
                <a:latin typeface="Arial"/>
                <a:cs typeface="Arial"/>
              </a:rPr>
              <a:t>necesitan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65" dirty="0">
                <a:latin typeface="Arial"/>
                <a:cs typeface="Arial"/>
              </a:rPr>
              <a:t>solución </a:t>
            </a:r>
            <a:r>
              <a:rPr sz="1600" spc="-60" dirty="0">
                <a:latin typeface="Arial"/>
                <a:cs typeface="Arial"/>
              </a:rPr>
              <a:t>propuesta. </a:t>
            </a:r>
            <a:r>
              <a:rPr sz="1600" spc="-215" dirty="0">
                <a:latin typeface="Arial"/>
                <a:cs typeface="Arial"/>
              </a:rPr>
              <a:t>Se </a:t>
            </a:r>
            <a:r>
              <a:rPr sz="1600" spc="-100" dirty="0">
                <a:latin typeface="Arial"/>
                <a:cs typeface="Arial"/>
              </a:rPr>
              <a:t>expresa  </a:t>
            </a:r>
            <a:r>
              <a:rPr sz="1600" spc="-75" dirty="0">
                <a:latin typeface="Arial"/>
                <a:cs typeface="Arial"/>
              </a:rPr>
              <a:t>como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40" dirty="0">
                <a:latin typeface="Arial"/>
                <a:cs typeface="Arial"/>
              </a:rPr>
              <a:t>arquitectura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45" dirty="0">
                <a:latin typeface="Arial"/>
                <a:cs typeface="Arial"/>
              </a:rPr>
              <a:t>tres </a:t>
            </a:r>
            <a:r>
              <a:rPr sz="1600" spc="-70" dirty="0">
                <a:latin typeface="Arial"/>
                <a:cs typeface="Arial"/>
              </a:rPr>
              <a:t>niveles </a:t>
            </a:r>
            <a:r>
              <a:rPr sz="1600" spc="-75" dirty="0">
                <a:latin typeface="Arial"/>
                <a:cs typeface="Arial"/>
              </a:rPr>
              <a:t>de servicios de</a:t>
            </a:r>
            <a:r>
              <a:rPr sz="1600" spc="-21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procesamiento:</a:t>
            </a:r>
            <a:endParaRPr sz="1600">
              <a:latin typeface="Arial"/>
              <a:cs typeface="Arial"/>
            </a:endParaRPr>
          </a:p>
          <a:p>
            <a:pPr marL="1212850" lvl="2" indent="-285750">
              <a:lnSpc>
                <a:spcPct val="100000"/>
              </a:lnSpc>
              <a:buChar char="•"/>
              <a:tabLst>
                <a:tab pos="1212850" algn="l"/>
                <a:tab pos="1213485" algn="l"/>
              </a:tabLst>
            </a:pPr>
            <a:r>
              <a:rPr sz="1600" spc="-90" dirty="0">
                <a:latin typeface="Arial"/>
                <a:cs typeface="Arial"/>
              </a:rPr>
              <a:t>Servicios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usuario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215" dirty="0">
                <a:latin typeface="Arial"/>
                <a:cs typeface="Arial"/>
              </a:rPr>
              <a:t>SW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cliente</a:t>
            </a:r>
            <a:r>
              <a:rPr sz="1600" spc="55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que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135" dirty="0">
                <a:latin typeface="Arial"/>
                <a:cs typeface="Arial"/>
              </a:rPr>
              <a:t>se</a:t>
            </a:r>
            <a:r>
              <a:rPr sz="1600" spc="5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comunica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con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los</a:t>
            </a:r>
            <a:r>
              <a:rPr sz="1600" spc="3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usuarios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spc="-125" dirty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  <a:p>
            <a:pPr marL="1212850">
              <a:lnSpc>
                <a:spcPct val="100000"/>
              </a:lnSpc>
              <a:spcBef>
                <a:spcPts val="5"/>
              </a:spcBef>
            </a:pPr>
            <a:r>
              <a:rPr sz="1600" spc="-75" dirty="0">
                <a:latin typeface="Arial"/>
                <a:cs typeface="Arial"/>
              </a:rPr>
              <a:t>través de </a:t>
            </a:r>
            <a:r>
              <a:rPr sz="1600" spc="-60" dirty="0">
                <a:latin typeface="Arial"/>
                <a:cs typeface="Arial"/>
              </a:rPr>
              <a:t>la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45" dirty="0">
                <a:latin typeface="Arial"/>
                <a:cs typeface="Arial"/>
              </a:rPr>
              <a:t>interfaz</a:t>
            </a:r>
            <a:endParaRPr sz="1600">
              <a:latin typeface="Arial"/>
              <a:cs typeface="Arial"/>
            </a:endParaRPr>
          </a:p>
          <a:p>
            <a:pPr marL="1212850" marR="5080" lvl="2" indent="-285750">
              <a:lnSpc>
                <a:spcPct val="100000"/>
              </a:lnSpc>
              <a:buChar char="•"/>
              <a:tabLst>
                <a:tab pos="1212850" algn="l"/>
                <a:tab pos="1213485" algn="l"/>
              </a:tabLst>
            </a:pPr>
            <a:r>
              <a:rPr sz="1600" spc="-90" dirty="0">
                <a:latin typeface="Arial"/>
                <a:cs typeface="Arial"/>
              </a:rPr>
              <a:t>Servicios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5" dirty="0">
                <a:latin typeface="Arial"/>
                <a:cs typeface="Arial"/>
              </a:rPr>
              <a:t>aplicación: módulos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220" dirty="0">
                <a:latin typeface="Arial"/>
                <a:cs typeface="Arial"/>
              </a:rPr>
              <a:t>SW </a:t>
            </a:r>
            <a:r>
              <a:rPr sz="1600" spc="-70" dirty="0">
                <a:latin typeface="Arial"/>
                <a:cs typeface="Arial"/>
              </a:rPr>
              <a:t>que </a:t>
            </a:r>
            <a:r>
              <a:rPr sz="1600" spc="-50" dirty="0">
                <a:latin typeface="Arial"/>
                <a:cs typeface="Arial"/>
              </a:rPr>
              <a:t>imponen </a:t>
            </a:r>
            <a:r>
              <a:rPr sz="1600" spc="-85" dirty="0">
                <a:latin typeface="Arial"/>
                <a:cs typeface="Arial"/>
              </a:rPr>
              <a:t>reglas, </a:t>
            </a:r>
            <a:r>
              <a:rPr sz="1600" spc="-90" dirty="0">
                <a:latin typeface="Arial"/>
                <a:cs typeface="Arial"/>
              </a:rPr>
              <a:t>procesan  </a:t>
            </a:r>
            <a:r>
              <a:rPr sz="1600" spc="-45" dirty="0">
                <a:latin typeface="Arial"/>
                <a:cs typeface="Arial"/>
              </a:rPr>
              <a:t>información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manejan</a:t>
            </a:r>
            <a:r>
              <a:rPr sz="1600" spc="-16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transacciones.</a:t>
            </a:r>
            <a:endParaRPr sz="1600">
              <a:latin typeface="Arial"/>
              <a:cs typeface="Arial"/>
            </a:endParaRPr>
          </a:p>
          <a:p>
            <a:pPr marL="1212850" marR="5080" lvl="2" indent="-285750">
              <a:lnSpc>
                <a:spcPct val="100000"/>
              </a:lnSpc>
              <a:buChar char="•"/>
              <a:tabLst>
                <a:tab pos="1212850" algn="l"/>
                <a:tab pos="1213485" algn="l"/>
              </a:tabLst>
            </a:pPr>
            <a:r>
              <a:rPr sz="1600" spc="-90" dirty="0">
                <a:latin typeface="Arial"/>
                <a:cs typeface="Arial"/>
              </a:rPr>
              <a:t>Servicios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datos: </a:t>
            </a:r>
            <a:r>
              <a:rPr sz="1600" spc="-70" dirty="0">
                <a:latin typeface="Arial"/>
                <a:cs typeface="Arial"/>
              </a:rPr>
              <a:t>aquellos </a:t>
            </a:r>
            <a:r>
              <a:rPr sz="1600" spc="-65" dirty="0">
                <a:latin typeface="Arial"/>
                <a:cs typeface="Arial"/>
              </a:rPr>
              <a:t>disponibles </a:t>
            </a:r>
            <a:r>
              <a:rPr sz="1600" spc="-80" dirty="0">
                <a:latin typeface="Arial"/>
                <a:cs typeface="Arial"/>
              </a:rPr>
              <a:t>para </a:t>
            </a:r>
            <a:r>
              <a:rPr sz="1600" spc="-45" dirty="0">
                <a:latin typeface="Arial"/>
                <a:cs typeface="Arial"/>
              </a:rPr>
              <a:t>el </a:t>
            </a:r>
            <a:r>
              <a:rPr sz="1600" spc="-215" dirty="0">
                <a:latin typeface="Arial"/>
                <a:cs typeface="Arial"/>
              </a:rPr>
              <a:t>SW </a:t>
            </a:r>
            <a:r>
              <a:rPr sz="1600" spc="-75" dirty="0">
                <a:latin typeface="Arial"/>
                <a:cs typeface="Arial"/>
              </a:rPr>
              <a:t>de servicios de  </a:t>
            </a:r>
            <a:r>
              <a:rPr sz="1600" spc="-65" dirty="0">
                <a:latin typeface="Arial"/>
                <a:cs typeface="Arial"/>
              </a:rPr>
              <a:t>aplicación </a:t>
            </a:r>
            <a:r>
              <a:rPr sz="1600" spc="-80" dirty="0">
                <a:latin typeface="Arial"/>
                <a:cs typeface="Arial"/>
              </a:rPr>
              <a:t>para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procesamiento.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530083" y="1295400"/>
            <a:ext cx="1480566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98842" y="4953000"/>
            <a:ext cx="1457705" cy="1295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63256" y="3077717"/>
            <a:ext cx="999744" cy="16603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6937375" cy="5300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10" dirty="0">
                <a:latin typeface="Trebuchet MS"/>
                <a:cs typeface="Trebuchet MS"/>
              </a:rPr>
              <a:t>Implementación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25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220" dirty="0">
                <a:latin typeface="Arial"/>
                <a:cs typeface="Arial"/>
              </a:rPr>
              <a:t>Las </a:t>
            </a:r>
            <a:r>
              <a:rPr sz="2000" spc="-75" dirty="0">
                <a:latin typeface="Arial"/>
                <a:cs typeface="Arial"/>
              </a:rPr>
              <a:t>principales </a:t>
            </a:r>
            <a:r>
              <a:rPr sz="2000" spc="-85" dirty="0">
                <a:latin typeface="Arial"/>
                <a:cs typeface="Arial"/>
              </a:rPr>
              <a:t>actividades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100" dirty="0">
                <a:latin typeface="Arial"/>
                <a:cs typeface="Arial"/>
              </a:rPr>
              <a:t>consisten</a:t>
            </a:r>
            <a:r>
              <a:rPr sz="2000" spc="-2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en: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  <a:tab pos="299085" algn="l"/>
              </a:tabLst>
            </a:pPr>
            <a:r>
              <a:rPr sz="1800" spc="-70" dirty="0">
                <a:latin typeface="Arial"/>
                <a:cs typeface="Arial"/>
              </a:rPr>
              <a:t>Adquisición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hardware </a:t>
            </a:r>
            <a:r>
              <a:rPr sz="1800" spc="-85" dirty="0">
                <a:latin typeface="Arial"/>
                <a:cs typeface="Arial"/>
              </a:rPr>
              <a:t>y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software,</a:t>
            </a:r>
            <a:endParaRPr sz="18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75" dirty="0">
                <a:latin typeface="Arial"/>
                <a:cs typeface="Arial"/>
              </a:rPr>
              <a:t>Desarrollo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software,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prueba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95" dirty="0">
                <a:latin typeface="Arial"/>
                <a:cs typeface="Arial"/>
              </a:rPr>
              <a:t>programas </a:t>
            </a:r>
            <a:r>
              <a:rPr sz="1800" spc="-90" dirty="0">
                <a:latin typeface="Arial"/>
                <a:cs typeface="Arial"/>
              </a:rPr>
              <a:t>y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procedimientos,</a:t>
            </a:r>
            <a:endParaRPr sz="1800">
              <a:latin typeface="Arial"/>
              <a:cs typeface="Arial"/>
            </a:endParaRPr>
          </a:p>
          <a:p>
            <a:pPr marL="298450" marR="5715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160" dirty="0">
                <a:latin typeface="Arial"/>
                <a:cs typeface="Arial"/>
              </a:rPr>
              <a:t>El </a:t>
            </a:r>
            <a:r>
              <a:rPr sz="1800" spc="-60" dirty="0">
                <a:latin typeface="Arial"/>
                <a:cs typeface="Arial"/>
              </a:rPr>
              <a:t>desarrollo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documentación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75" dirty="0">
                <a:latin typeface="Arial"/>
                <a:cs typeface="Arial"/>
              </a:rPr>
              <a:t>variedad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75" dirty="0">
                <a:latin typeface="Arial"/>
                <a:cs typeface="Arial"/>
              </a:rPr>
              <a:t>actividades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65" dirty="0">
                <a:latin typeface="Arial"/>
                <a:cs typeface="Arial"/>
              </a:rPr>
              <a:t>instalación.</a:t>
            </a:r>
            <a:endParaRPr sz="1800">
              <a:latin typeface="Arial"/>
              <a:cs typeface="Arial"/>
            </a:endParaRPr>
          </a:p>
          <a:p>
            <a:pPr marL="298450" marR="5715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95" dirty="0">
                <a:latin typeface="Arial"/>
                <a:cs typeface="Arial"/>
              </a:rPr>
              <a:t>Capacitación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5" dirty="0">
                <a:latin typeface="Arial"/>
                <a:cs typeface="Arial"/>
              </a:rPr>
              <a:t>educación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usuarios </a:t>
            </a:r>
            <a:r>
              <a:rPr sz="1800" spc="-65" dirty="0">
                <a:latin typeface="Arial"/>
                <a:cs typeface="Arial"/>
              </a:rPr>
              <a:t>finales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95" dirty="0">
                <a:latin typeface="Arial"/>
                <a:cs typeface="Arial"/>
              </a:rPr>
              <a:t>especialistas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70" dirty="0">
                <a:latin typeface="Arial"/>
                <a:cs typeface="Arial"/>
              </a:rPr>
              <a:t>operan 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100" dirty="0">
                <a:latin typeface="Arial"/>
                <a:cs typeface="Arial"/>
              </a:rPr>
              <a:t>nueva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solución.</a:t>
            </a:r>
            <a:endParaRPr sz="1800">
              <a:latin typeface="Arial"/>
              <a:cs typeface="Arial"/>
            </a:endParaRPr>
          </a:p>
          <a:p>
            <a:pPr marL="298450" marR="5715" indent="-285750">
              <a:lnSpc>
                <a:spcPct val="100000"/>
              </a:lnSpc>
              <a:buChar char="•"/>
              <a:tabLst>
                <a:tab pos="298450" algn="l"/>
                <a:tab pos="299085" algn="l"/>
              </a:tabLst>
            </a:pPr>
            <a:r>
              <a:rPr sz="1800" spc="-95" dirty="0">
                <a:latin typeface="Arial"/>
                <a:cs typeface="Arial"/>
              </a:rPr>
              <a:t>Comprende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90" dirty="0">
                <a:latin typeface="Arial"/>
                <a:cs typeface="Arial"/>
              </a:rPr>
              <a:t>proceso </a:t>
            </a:r>
            <a:r>
              <a:rPr sz="1800" spc="-80" dirty="0">
                <a:latin typeface="Arial"/>
                <a:cs typeface="Arial"/>
              </a:rPr>
              <a:t>de conversión, </a:t>
            </a:r>
            <a:r>
              <a:rPr sz="1800" spc="-105" dirty="0">
                <a:latin typeface="Arial"/>
                <a:cs typeface="Arial"/>
              </a:rPr>
              <a:t>desde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105" dirty="0">
                <a:latin typeface="Arial"/>
                <a:cs typeface="Arial"/>
              </a:rPr>
              <a:t>uso </a:t>
            </a:r>
            <a:r>
              <a:rPr sz="1800" spc="-85" dirty="0">
                <a:latin typeface="Arial"/>
                <a:cs typeface="Arial"/>
              </a:rPr>
              <a:t>de una </a:t>
            </a:r>
            <a:r>
              <a:rPr sz="1800" spc="-75" dirty="0">
                <a:latin typeface="Arial"/>
                <a:cs typeface="Arial"/>
              </a:rPr>
              <a:t>solución  </a:t>
            </a:r>
            <a:r>
              <a:rPr sz="1800" spc="-60" dirty="0">
                <a:latin typeface="Arial"/>
                <a:cs typeface="Arial"/>
              </a:rPr>
              <a:t>actual,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operación </a:t>
            </a:r>
            <a:r>
              <a:rPr sz="1800" spc="-85" dirty="0">
                <a:latin typeface="Arial"/>
                <a:cs typeface="Arial"/>
              </a:rPr>
              <a:t>de una </a:t>
            </a:r>
            <a:r>
              <a:rPr sz="1800" spc="-70" dirty="0">
                <a:latin typeface="Arial"/>
                <a:cs typeface="Arial"/>
              </a:rPr>
              <a:t>aplicación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nueva.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conversión </a:t>
            </a:r>
            <a:r>
              <a:rPr sz="1800" spc="-75" dirty="0">
                <a:latin typeface="Arial"/>
                <a:cs typeface="Arial"/>
              </a:rPr>
              <a:t>puede </a:t>
            </a:r>
            <a:r>
              <a:rPr sz="1800" spc="-85" dirty="0">
                <a:latin typeface="Arial"/>
                <a:cs typeface="Arial"/>
              </a:rPr>
              <a:t>abarcar </a:t>
            </a:r>
            <a:r>
              <a:rPr sz="1800" spc="-90" dirty="0">
                <a:latin typeface="Arial"/>
                <a:cs typeface="Arial"/>
              </a:rPr>
              <a:t>soluciones </a:t>
            </a:r>
            <a:r>
              <a:rPr sz="1800" spc="-25" dirty="0">
                <a:latin typeface="Arial"/>
                <a:cs typeface="Arial"/>
              </a:rPr>
              <a:t>tanto </a:t>
            </a:r>
            <a:r>
              <a:rPr sz="1800" spc="-114" dirty="0">
                <a:latin typeface="Arial"/>
                <a:cs typeface="Arial"/>
              </a:rPr>
              <a:t>nuevas </a:t>
            </a:r>
            <a:r>
              <a:rPr sz="1800" spc="-85" dirty="0">
                <a:latin typeface="Arial"/>
                <a:cs typeface="Arial"/>
              </a:rPr>
              <a:t>como  </a:t>
            </a:r>
            <a:r>
              <a:rPr sz="1800" spc="-80" dirty="0">
                <a:latin typeface="Arial"/>
                <a:cs typeface="Arial"/>
              </a:rPr>
              <a:t>antiguas,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0" dirty="0">
                <a:latin typeface="Arial"/>
                <a:cs typeface="Arial"/>
              </a:rPr>
              <a:t>paralelo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60" dirty="0">
                <a:latin typeface="Arial"/>
                <a:cs typeface="Arial"/>
              </a:rPr>
              <a:t>un período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120" dirty="0">
                <a:latin typeface="Arial"/>
                <a:cs typeface="Arial"/>
              </a:rPr>
              <a:t>ensayo </a:t>
            </a:r>
            <a:r>
              <a:rPr sz="1800" spc="-90" dirty="0">
                <a:latin typeface="Arial"/>
                <a:cs typeface="Arial"/>
              </a:rPr>
              <a:t>(</a:t>
            </a:r>
            <a:r>
              <a:rPr sz="1800" b="1" spc="-90" dirty="0">
                <a:latin typeface="Trebuchet MS"/>
                <a:cs typeface="Trebuchet MS"/>
              </a:rPr>
              <a:t>solución</a:t>
            </a:r>
            <a:r>
              <a:rPr sz="1800" b="1" spc="-140" dirty="0">
                <a:latin typeface="Trebuchet MS"/>
                <a:cs typeface="Trebuchet MS"/>
              </a:rPr>
              <a:t> </a:t>
            </a:r>
            <a:r>
              <a:rPr sz="1800" b="1" spc="-75" dirty="0">
                <a:latin typeface="Trebuchet MS"/>
                <a:cs typeface="Trebuchet MS"/>
              </a:rPr>
              <a:t>piloto</a:t>
            </a:r>
            <a:r>
              <a:rPr sz="1800" spc="-75" dirty="0">
                <a:latin typeface="Arial"/>
                <a:cs typeface="Arial"/>
              </a:rPr>
              <a:t>).</a:t>
            </a:r>
            <a:endParaRPr sz="18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650" algn="l"/>
                <a:tab pos="756285" algn="l"/>
              </a:tabLst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b="1" spc="-135" dirty="0">
                <a:latin typeface="Trebuchet MS"/>
                <a:cs typeface="Trebuchet MS"/>
              </a:rPr>
              <a:t>ejecución </a:t>
            </a:r>
            <a:r>
              <a:rPr sz="1800" b="1" spc="-114" dirty="0">
                <a:latin typeface="Trebuchet MS"/>
                <a:cs typeface="Trebuchet MS"/>
              </a:rPr>
              <a:t>en </a:t>
            </a:r>
            <a:r>
              <a:rPr sz="1800" b="1" spc="-90" dirty="0">
                <a:latin typeface="Trebuchet MS"/>
                <a:cs typeface="Trebuchet MS"/>
              </a:rPr>
              <a:t>fases </a:t>
            </a:r>
            <a:r>
              <a:rPr sz="1800" spc="-155" dirty="0">
                <a:latin typeface="Arial"/>
                <a:cs typeface="Arial"/>
              </a:rPr>
              <a:t>es </a:t>
            </a:r>
            <a:r>
              <a:rPr sz="1800" spc="-5" dirty="0">
                <a:latin typeface="Arial"/>
                <a:cs typeface="Arial"/>
              </a:rPr>
              <a:t>otro </a:t>
            </a:r>
            <a:r>
              <a:rPr sz="1800" spc="-45" dirty="0">
                <a:latin typeface="Arial"/>
                <a:cs typeface="Arial"/>
              </a:rPr>
              <a:t>método </a:t>
            </a:r>
            <a:r>
              <a:rPr sz="1800" spc="-80" dirty="0">
                <a:latin typeface="Arial"/>
                <a:cs typeface="Arial"/>
              </a:rPr>
              <a:t>de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conversión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spc="-90" dirty="0">
                <a:latin typeface="Arial"/>
                <a:cs typeface="Arial"/>
              </a:rPr>
              <a:t>Asimismo,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b="1" spc="-105" dirty="0">
                <a:latin typeface="Trebuchet MS"/>
                <a:cs typeface="Trebuchet MS"/>
              </a:rPr>
              <a:t>actuación </a:t>
            </a:r>
            <a:r>
              <a:rPr sz="1800" b="1" spc="-110" dirty="0">
                <a:latin typeface="Trebuchet MS"/>
                <a:cs typeface="Trebuchet MS"/>
              </a:rPr>
              <a:t>precipitada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50" dirty="0">
                <a:latin typeface="Arial"/>
                <a:cs typeface="Arial"/>
              </a:rPr>
              <a:t>adoptar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70" dirty="0">
                <a:latin typeface="Arial"/>
                <a:cs typeface="Arial"/>
              </a:rPr>
              <a:t>solución  </a:t>
            </a:r>
            <a:r>
              <a:rPr sz="1800" spc="-100" dirty="0">
                <a:latin typeface="Arial"/>
                <a:cs typeface="Arial"/>
              </a:rPr>
              <a:t>nueva </a:t>
            </a:r>
            <a:r>
              <a:rPr sz="1800" spc="-55" dirty="0">
                <a:latin typeface="Arial"/>
                <a:cs typeface="Arial"/>
              </a:rPr>
              <a:t>(</a:t>
            </a:r>
            <a:r>
              <a:rPr sz="1800" i="1" spc="-55" dirty="0">
                <a:latin typeface="Trebuchet MS"/>
                <a:cs typeface="Trebuchet MS"/>
              </a:rPr>
              <a:t>Big </a:t>
            </a:r>
            <a:r>
              <a:rPr sz="1800" i="1" spc="-35" dirty="0">
                <a:latin typeface="Trebuchet MS"/>
                <a:cs typeface="Trebuchet MS"/>
              </a:rPr>
              <a:t>Bang</a:t>
            </a:r>
            <a:r>
              <a:rPr sz="1800" spc="-35" dirty="0">
                <a:latin typeface="Arial"/>
                <a:cs typeface="Arial"/>
              </a:rPr>
              <a:t>) </a:t>
            </a:r>
            <a:r>
              <a:rPr sz="1800" spc="-65" dirty="0">
                <a:latin typeface="Arial"/>
                <a:cs typeface="Arial"/>
              </a:rPr>
              <a:t>podría </a:t>
            </a:r>
            <a:r>
              <a:rPr sz="1800" spc="-50" dirty="0">
                <a:latin typeface="Arial"/>
                <a:cs typeface="Arial"/>
              </a:rPr>
              <a:t>poner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70" dirty="0">
                <a:latin typeface="Arial"/>
                <a:cs typeface="Arial"/>
              </a:rPr>
              <a:t>jaque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0" dirty="0">
                <a:latin typeface="Arial"/>
                <a:cs typeface="Arial"/>
              </a:rPr>
              <a:t>esfuerzos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 </a:t>
            </a:r>
            <a:r>
              <a:rPr sz="1800" spc="-85" dirty="0">
                <a:latin typeface="Arial"/>
                <a:cs typeface="Arial"/>
              </a:rPr>
              <a:t>organización.</a:t>
            </a:r>
            <a:endParaRPr sz="18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1800" spc="-120" dirty="0">
                <a:latin typeface="Arial"/>
                <a:cs typeface="Arial"/>
              </a:rPr>
              <a:t>Puede </a:t>
            </a:r>
            <a:r>
              <a:rPr sz="1800" spc="-95" dirty="0">
                <a:latin typeface="Arial"/>
                <a:cs typeface="Arial"/>
              </a:rPr>
              <a:t>ser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90" dirty="0">
                <a:latin typeface="Arial"/>
                <a:cs typeface="Arial"/>
              </a:rPr>
              <a:t>proceso </a:t>
            </a:r>
            <a:r>
              <a:rPr sz="1800" spc="-60" dirty="0">
                <a:latin typeface="Arial"/>
                <a:cs typeface="Arial"/>
              </a:rPr>
              <a:t>complejo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90" dirty="0">
                <a:latin typeface="Arial"/>
                <a:cs typeface="Arial"/>
              </a:rPr>
              <a:t>demanda </a:t>
            </a:r>
            <a:r>
              <a:rPr sz="1800" spc="-35" dirty="0">
                <a:latin typeface="Arial"/>
                <a:cs typeface="Arial"/>
              </a:rPr>
              <a:t>tiempo, </a:t>
            </a:r>
            <a:r>
              <a:rPr sz="1800" spc="-55" dirty="0">
                <a:latin typeface="Arial"/>
                <a:cs typeface="Arial"/>
              </a:rPr>
              <a:t>pero </a:t>
            </a:r>
            <a:r>
              <a:rPr sz="1800" spc="-155" dirty="0">
                <a:latin typeface="Arial"/>
                <a:cs typeface="Arial"/>
              </a:rPr>
              <a:t>es  </a:t>
            </a:r>
            <a:r>
              <a:rPr sz="1800" spc="-95" dirty="0">
                <a:latin typeface="Arial"/>
                <a:cs typeface="Arial"/>
              </a:rPr>
              <a:t>esencial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80" dirty="0">
                <a:latin typeface="Arial"/>
                <a:cs typeface="Arial"/>
              </a:rPr>
              <a:t>garantizar </a:t>
            </a:r>
            <a:r>
              <a:rPr sz="1800" spc="-50" dirty="0">
                <a:latin typeface="Arial"/>
                <a:cs typeface="Arial"/>
              </a:rPr>
              <a:t>el éxito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cualquier </a:t>
            </a:r>
            <a:r>
              <a:rPr sz="1800" spc="-70" dirty="0">
                <a:latin typeface="Arial"/>
                <a:cs typeface="Arial"/>
              </a:rPr>
              <a:t>solución</a:t>
            </a:r>
            <a:r>
              <a:rPr sz="1800" spc="-175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reciente.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99517" y="1219200"/>
            <a:ext cx="1680348" cy="11231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21295" y="2743200"/>
            <a:ext cx="1643633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71409" y="4972811"/>
            <a:ext cx="1367790" cy="13144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30" dirty="0">
                <a:latin typeface="Arial"/>
                <a:cs typeface="Arial"/>
              </a:rPr>
              <a:t>Etapas </a:t>
            </a:r>
            <a:r>
              <a:rPr sz="1800" b="0" spc="-55" dirty="0">
                <a:latin typeface="Arial"/>
                <a:cs typeface="Arial"/>
              </a:rPr>
              <a:t>del </a:t>
            </a:r>
            <a:r>
              <a:rPr sz="1800" b="0" spc="-105" dirty="0">
                <a:latin typeface="Arial"/>
                <a:cs typeface="Arial"/>
              </a:rPr>
              <a:t>Ciclo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95" dirty="0">
                <a:latin typeface="Arial"/>
                <a:cs typeface="Arial"/>
              </a:rPr>
              <a:t>Vida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0" dirty="0">
                <a:latin typeface="Arial"/>
                <a:cs typeface="Arial"/>
              </a:rPr>
              <a:t> </a:t>
            </a:r>
            <a:r>
              <a:rPr sz="1800" b="0" spc="-220" dirty="0">
                <a:latin typeface="Arial"/>
                <a:cs typeface="Arial"/>
              </a:rPr>
              <a:t>SI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5689"/>
            <a:ext cx="6327775" cy="33801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85" dirty="0">
                <a:latin typeface="Trebuchet MS"/>
                <a:cs typeface="Trebuchet MS"/>
              </a:rPr>
              <a:t>Mantenimiento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85" dirty="0">
                <a:latin typeface="Trebuchet MS"/>
                <a:cs typeface="Trebuchet MS"/>
              </a:rPr>
              <a:t>las</a:t>
            </a:r>
            <a:r>
              <a:rPr sz="2000" b="1" spc="-24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soluciones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000" spc="-170" dirty="0">
                <a:latin typeface="Arial"/>
                <a:cs typeface="Arial"/>
              </a:rPr>
              <a:t>Esta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etapa: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  <a:tab pos="299085" algn="l"/>
              </a:tabLst>
            </a:pPr>
            <a:r>
              <a:rPr sz="1800" spc="-95" dirty="0">
                <a:latin typeface="Arial"/>
                <a:cs typeface="Arial"/>
              </a:rPr>
              <a:t>Comprende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supervisión, </a:t>
            </a:r>
            <a:r>
              <a:rPr sz="1800" spc="-80" dirty="0">
                <a:latin typeface="Arial"/>
                <a:cs typeface="Arial"/>
              </a:rPr>
              <a:t>evaluación </a:t>
            </a:r>
            <a:r>
              <a:rPr sz="1800" spc="-85" dirty="0">
                <a:latin typeface="Arial"/>
                <a:cs typeface="Arial"/>
              </a:rPr>
              <a:t>y </a:t>
            </a:r>
            <a:r>
              <a:rPr sz="1800" spc="-55" dirty="0">
                <a:latin typeface="Arial"/>
                <a:cs typeface="Arial"/>
              </a:rPr>
              <a:t>modificación </a:t>
            </a:r>
            <a:r>
              <a:rPr sz="1800" spc="-80" dirty="0">
                <a:latin typeface="Arial"/>
                <a:cs typeface="Arial"/>
              </a:rPr>
              <a:t>de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90" dirty="0">
                <a:latin typeface="Arial"/>
                <a:cs typeface="Arial"/>
              </a:rPr>
              <a:t>una</a:t>
            </a:r>
            <a:endParaRPr sz="1800">
              <a:latin typeface="Arial"/>
              <a:cs typeface="Arial"/>
            </a:endParaRPr>
          </a:p>
          <a:p>
            <a:pPr marR="45720" algn="ctr">
              <a:lnSpc>
                <a:spcPct val="100000"/>
              </a:lnSpc>
            </a:pPr>
            <a:r>
              <a:rPr sz="1800" spc="-70" dirty="0">
                <a:latin typeface="Arial"/>
                <a:cs typeface="Arial"/>
              </a:rPr>
              <a:t>solución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70" dirty="0">
                <a:latin typeface="Arial"/>
                <a:cs typeface="Arial"/>
              </a:rPr>
              <a:t>realizar </a:t>
            </a:r>
            <a:r>
              <a:rPr sz="1800" spc="-60" dirty="0">
                <a:latin typeface="Arial"/>
                <a:cs typeface="Arial"/>
              </a:rPr>
              <a:t>mejoramientos </a:t>
            </a:r>
            <a:r>
              <a:rPr sz="1800" spc="-110" dirty="0">
                <a:latin typeface="Arial"/>
                <a:cs typeface="Arial"/>
              </a:rPr>
              <a:t>deseables 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necesarios.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spc="-120" dirty="0">
                <a:latin typeface="Arial"/>
                <a:cs typeface="Arial"/>
              </a:rPr>
              <a:t>Puede </a:t>
            </a:r>
            <a:r>
              <a:rPr sz="1800" spc="-30" dirty="0">
                <a:latin typeface="Arial"/>
                <a:cs typeface="Arial"/>
              </a:rPr>
              <a:t>incluir </a:t>
            </a:r>
            <a:r>
              <a:rPr sz="1800" spc="-55" dirty="0">
                <a:latin typeface="Arial"/>
                <a:cs typeface="Arial"/>
              </a:rPr>
              <a:t>un </a:t>
            </a:r>
            <a:r>
              <a:rPr sz="1800" spc="-90" dirty="0">
                <a:latin typeface="Arial"/>
                <a:cs typeface="Arial"/>
              </a:rPr>
              <a:t>proceso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revisión post-Implementación </a:t>
            </a:r>
            <a:r>
              <a:rPr sz="1800" spc="-90" dirty="0">
                <a:latin typeface="Arial"/>
                <a:cs typeface="Arial"/>
              </a:rPr>
              <a:t>para  </a:t>
            </a:r>
            <a:r>
              <a:rPr sz="1800" spc="-80" dirty="0">
                <a:latin typeface="Arial"/>
                <a:cs typeface="Arial"/>
              </a:rPr>
              <a:t>garantizar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solución </a:t>
            </a:r>
            <a:r>
              <a:rPr sz="1800" spc="-90" dirty="0">
                <a:latin typeface="Arial"/>
                <a:cs typeface="Arial"/>
              </a:rPr>
              <a:t>este </a:t>
            </a:r>
            <a:r>
              <a:rPr sz="1800" spc="-65" dirty="0">
                <a:latin typeface="Arial"/>
                <a:cs typeface="Arial"/>
              </a:rPr>
              <a:t>logrando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50" dirty="0">
                <a:latin typeface="Arial"/>
                <a:cs typeface="Arial"/>
              </a:rPr>
              <a:t>requerimientos  </a:t>
            </a:r>
            <a:r>
              <a:rPr sz="1800" spc="-80" dirty="0">
                <a:latin typeface="Arial"/>
                <a:cs typeface="Arial"/>
              </a:rPr>
              <a:t>empresariales.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850">
              <a:latin typeface="Times New Roman"/>
              <a:cs typeface="Times New Roman"/>
            </a:endParaRPr>
          </a:p>
          <a:p>
            <a:pPr marL="298450" marR="5715" indent="-285750" algn="just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spc="-170" dirty="0">
                <a:latin typeface="Arial"/>
                <a:cs typeface="Arial"/>
              </a:rPr>
              <a:t>Los </a:t>
            </a:r>
            <a:r>
              <a:rPr sz="1800" spc="-65" dirty="0">
                <a:latin typeface="Arial"/>
                <a:cs typeface="Arial"/>
              </a:rPr>
              <a:t>errores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65" dirty="0">
                <a:latin typeface="Arial"/>
                <a:cs typeface="Arial"/>
              </a:rPr>
              <a:t>corrigen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100" dirty="0">
                <a:latin typeface="Arial"/>
                <a:cs typeface="Arial"/>
              </a:rPr>
              <a:t>esta </a:t>
            </a:r>
            <a:r>
              <a:rPr sz="1800" spc="-80" dirty="0">
                <a:latin typeface="Arial"/>
                <a:cs typeface="Arial"/>
              </a:rPr>
              <a:t>etapa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0" dirty="0">
                <a:latin typeface="Arial"/>
                <a:cs typeface="Arial"/>
              </a:rPr>
              <a:t>solución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50" dirty="0">
                <a:latin typeface="Arial"/>
                <a:cs typeface="Arial"/>
              </a:rPr>
              <a:t>modifica  </a:t>
            </a:r>
            <a:r>
              <a:rPr sz="1800" spc="-60" dirty="0">
                <a:latin typeface="Arial"/>
                <a:cs typeface="Arial"/>
              </a:rPr>
              <a:t>ante </a:t>
            </a:r>
            <a:r>
              <a:rPr sz="1800" spc="-95" dirty="0">
                <a:latin typeface="Arial"/>
                <a:cs typeface="Arial"/>
              </a:rPr>
              <a:t>cambios </a:t>
            </a:r>
            <a:r>
              <a:rPr sz="1800" spc="-45" dirty="0">
                <a:latin typeface="Arial"/>
                <a:cs typeface="Arial"/>
              </a:rPr>
              <a:t>internos </a:t>
            </a:r>
            <a:r>
              <a:rPr sz="1800" spc="-55" dirty="0">
                <a:latin typeface="Arial"/>
                <a:cs typeface="Arial"/>
              </a:rPr>
              <a:t>o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externos.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23017" y="4495800"/>
            <a:ext cx="2584000" cy="1860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0" y="2057400"/>
            <a:ext cx="2026920" cy="19644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1073404"/>
            <a:ext cx="617601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 algn="just">
              <a:lnSpc>
                <a:spcPct val="100000"/>
              </a:lnSpc>
              <a:spcBef>
                <a:spcPts val="100"/>
              </a:spcBef>
            </a:pPr>
            <a:r>
              <a:rPr sz="2200" b="1" spc="-200" dirty="0">
                <a:latin typeface="Trebuchet MS"/>
                <a:cs typeface="Trebuchet MS"/>
              </a:rPr>
              <a:t>1. </a:t>
            </a:r>
            <a:r>
              <a:rPr sz="2200" b="1" spc="-40" dirty="0">
                <a:latin typeface="Trebuchet MS"/>
                <a:cs typeface="Trebuchet MS"/>
              </a:rPr>
              <a:t>Método </a:t>
            </a:r>
            <a:r>
              <a:rPr sz="2200" b="1" spc="-114" dirty="0">
                <a:latin typeface="Trebuchet MS"/>
                <a:cs typeface="Trebuchet MS"/>
              </a:rPr>
              <a:t>tradicional</a:t>
            </a:r>
            <a:r>
              <a:rPr sz="2200" spc="-114" dirty="0">
                <a:latin typeface="Arial"/>
                <a:cs typeface="Arial"/>
              </a:rPr>
              <a:t>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14" dirty="0">
                <a:latin typeface="Arial"/>
                <a:cs typeface="Arial"/>
              </a:rPr>
              <a:t>empresa  </a:t>
            </a:r>
            <a:r>
              <a:rPr sz="2200" spc="-80" dirty="0">
                <a:latin typeface="Arial"/>
                <a:cs typeface="Arial"/>
              </a:rPr>
              <a:t>desarrolle </a:t>
            </a:r>
            <a:r>
              <a:rPr sz="2200" spc="-55" dirty="0">
                <a:latin typeface="Arial"/>
                <a:cs typeface="Arial"/>
              </a:rPr>
              <a:t>internamente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65" dirty="0">
                <a:latin typeface="Arial"/>
                <a:cs typeface="Arial"/>
              </a:rPr>
              <a:t>o </a:t>
            </a:r>
            <a:r>
              <a:rPr sz="2200" spc="-95" dirty="0">
                <a:latin typeface="Arial"/>
                <a:cs typeface="Arial"/>
              </a:rPr>
              <a:t>que  </a:t>
            </a:r>
            <a:r>
              <a:rPr sz="2200" spc="-60" dirty="0">
                <a:latin typeface="Arial"/>
                <a:cs typeface="Arial"/>
              </a:rPr>
              <a:t>contrate </a:t>
            </a:r>
            <a:r>
              <a:rPr sz="2200" spc="-100" dirty="0">
                <a:latin typeface="Arial"/>
                <a:cs typeface="Arial"/>
              </a:rPr>
              <a:t>servicios </a:t>
            </a:r>
            <a:r>
              <a:rPr sz="2200" spc="-90" dirty="0">
                <a:latin typeface="Arial"/>
                <a:cs typeface="Arial"/>
              </a:rPr>
              <a:t>externos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45" dirty="0">
                <a:latin typeface="Arial"/>
                <a:cs typeface="Arial"/>
              </a:rPr>
              <a:t>ello</a:t>
            </a:r>
            <a:r>
              <a:rPr sz="2200" spc="23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(</a:t>
            </a:r>
            <a:r>
              <a:rPr sz="2200" i="1" spc="-95" dirty="0">
                <a:latin typeface="Trebuchet MS"/>
                <a:cs typeface="Trebuchet MS"/>
              </a:rPr>
              <a:t>outsourcing</a:t>
            </a:r>
            <a:endParaRPr sz="2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200" i="1" spc="-135" dirty="0">
                <a:latin typeface="Trebuchet MS"/>
                <a:cs typeface="Trebuchet MS"/>
              </a:rPr>
              <a:t>-</a:t>
            </a:r>
            <a:r>
              <a:rPr sz="2200" i="1" spc="-170" dirty="0">
                <a:latin typeface="Trebuchet MS"/>
                <a:cs typeface="Trebuchet MS"/>
              </a:rPr>
              <a:t> </a:t>
            </a:r>
            <a:r>
              <a:rPr sz="2200" i="1" spc="-130" dirty="0">
                <a:latin typeface="Trebuchet MS"/>
                <a:cs typeface="Trebuchet MS"/>
              </a:rPr>
              <a:t>tercerización</a:t>
            </a:r>
            <a:r>
              <a:rPr sz="2200" spc="-130" dirty="0">
                <a:latin typeface="Arial"/>
                <a:cs typeface="Arial"/>
              </a:rPr>
              <a:t>).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2750057"/>
            <a:ext cx="193103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  <a:tab pos="1626235" algn="l"/>
              </a:tabLst>
            </a:pPr>
            <a:r>
              <a:rPr sz="2200" b="1" spc="-250" dirty="0">
                <a:latin typeface="Trebuchet MS"/>
                <a:cs typeface="Trebuchet MS"/>
              </a:rPr>
              <a:t>2</a:t>
            </a:r>
            <a:r>
              <a:rPr sz="2200" b="1" spc="-155" dirty="0">
                <a:latin typeface="Trebuchet MS"/>
                <a:cs typeface="Trebuchet MS"/>
              </a:rPr>
              <a:t>.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5" dirty="0">
                <a:latin typeface="Trebuchet MS"/>
                <a:cs typeface="Trebuchet MS"/>
              </a:rPr>
              <a:t>Comp</a:t>
            </a:r>
            <a:r>
              <a:rPr sz="2200" b="1" spc="-140" dirty="0">
                <a:latin typeface="Trebuchet MS"/>
                <a:cs typeface="Trebuchet MS"/>
              </a:rPr>
              <a:t>r</a:t>
            </a:r>
            <a:r>
              <a:rPr sz="2200" b="1" spc="-85" dirty="0">
                <a:latin typeface="Trebuchet MS"/>
                <a:cs typeface="Trebuchet MS"/>
              </a:rPr>
              <a:t>a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130" dirty="0">
                <a:latin typeface="Trebuchet MS"/>
                <a:cs typeface="Trebuchet MS"/>
              </a:rPr>
              <a:t>de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4457" y="2750057"/>
            <a:ext cx="40201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9065" algn="l"/>
                <a:tab pos="2578735" algn="l"/>
                <a:tab pos="3114040" algn="l"/>
              </a:tabLst>
            </a:pPr>
            <a:r>
              <a:rPr sz="2200" b="1" spc="-95" dirty="0">
                <a:latin typeface="Trebuchet MS"/>
                <a:cs typeface="Trebuchet MS"/>
              </a:rPr>
              <a:t>pa</a:t>
            </a:r>
            <a:r>
              <a:rPr sz="2200" b="1" spc="-110" dirty="0">
                <a:latin typeface="Trebuchet MS"/>
                <a:cs typeface="Trebuchet MS"/>
              </a:rPr>
              <a:t>q</a:t>
            </a:r>
            <a:r>
              <a:rPr sz="2200" b="1" spc="-140" dirty="0">
                <a:latin typeface="Trebuchet MS"/>
                <a:cs typeface="Trebuchet MS"/>
              </a:rPr>
              <a:t>u</a:t>
            </a:r>
            <a:r>
              <a:rPr sz="2200" b="1" spc="-155" dirty="0">
                <a:latin typeface="Trebuchet MS"/>
                <a:cs typeface="Trebuchet MS"/>
              </a:rPr>
              <a:t>e</a:t>
            </a:r>
            <a:r>
              <a:rPr sz="2200" b="1" spc="-145" dirty="0">
                <a:latin typeface="Trebuchet MS"/>
                <a:cs typeface="Trebuchet MS"/>
              </a:rPr>
              <a:t>t</a:t>
            </a:r>
            <a:r>
              <a:rPr sz="2200" b="1" spc="-120" dirty="0">
                <a:latin typeface="Trebuchet MS"/>
                <a:cs typeface="Trebuchet MS"/>
              </a:rPr>
              <a:t>es</a:t>
            </a:r>
            <a:r>
              <a:rPr sz="2200" spc="-25" dirty="0">
                <a:latin typeface="Arial"/>
                <a:cs typeface="Arial"/>
              </a:rPr>
              <a:t>: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0" dirty="0">
                <a:latin typeface="Arial"/>
                <a:cs typeface="Arial"/>
              </a:rPr>
              <a:t>c</a:t>
            </a:r>
            <a:r>
              <a:rPr sz="2200" spc="-125" dirty="0">
                <a:latin typeface="Arial"/>
                <a:cs typeface="Arial"/>
              </a:rPr>
              <a:t>onsi</a:t>
            </a:r>
            <a:r>
              <a:rPr sz="2200" spc="-160" dirty="0">
                <a:latin typeface="Arial"/>
                <a:cs typeface="Arial"/>
              </a:rPr>
              <a:t>s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d</a:t>
            </a:r>
            <a:r>
              <a:rPr sz="2200" spc="-75" dirty="0">
                <a:latin typeface="Arial"/>
                <a:cs typeface="Arial"/>
              </a:rPr>
              <a:t>q</a:t>
            </a:r>
            <a:r>
              <a:rPr sz="2200" spc="-80" dirty="0">
                <a:latin typeface="Arial"/>
                <a:cs typeface="Arial"/>
              </a:rPr>
              <a:t>u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35" dirty="0">
                <a:latin typeface="Arial"/>
                <a:cs typeface="Arial"/>
              </a:rPr>
              <a:t>r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722" y="3085337"/>
            <a:ext cx="57181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96240" algn="l"/>
                <a:tab pos="1829435" algn="l"/>
                <a:tab pos="2249805" algn="l"/>
                <a:tab pos="2587625" algn="l"/>
                <a:tab pos="3721735" algn="l"/>
                <a:tab pos="4143375" algn="l"/>
                <a:tab pos="5419090" algn="l"/>
              </a:tabLst>
            </a:pPr>
            <a:r>
              <a:rPr sz="2200" spc="-105" dirty="0">
                <a:latin typeface="Arial"/>
                <a:cs typeface="Arial"/>
              </a:rPr>
              <a:t>paquetes </a:t>
            </a:r>
            <a:r>
              <a:rPr sz="2200" spc="-95" dirty="0">
                <a:latin typeface="Arial"/>
                <a:cs typeface="Arial"/>
              </a:rPr>
              <a:t>desarrollados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75" dirty="0">
                <a:latin typeface="Arial"/>
                <a:cs typeface="Arial"/>
              </a:rPr>
              <a:t>otras </a:t>
            </a:r>
            <a:r>
              <a:rPr sz="2200" spc="-135" dirty="0">
                <a:latin typeface="Arial"/>
                <a:cs typeface="Arial"/>
              </a:rPr>
              <a:t>compañías </a:t>
            </a:r>
            <a:r>
              <a:rPr sz="2200" spc="-95" dirty="0">
                <a:latin typeface="Arial"/>
                <a:cs typeface="Arial"/>
              </a:rPr>
              <a:t>que  </a:t>
            </a:r>
            <a:r>
              <a:rPr sz="2200" spc="-185" dirty="0">
                <a:latin typeface="Arial"/>
                <a:cs typeface="Arial"/>
              </a:rPr>
              <a:t>se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14" dirty="0">
                <a:latin typeface="Arial"/>
                <a:cs typeface="Arial"/>
              </a:rPr>
              <a:t>encu</a:t>
            </a:r>
            <a:r>
              <a:rPr sz="2200" spc="-125" dirty="0">
                <a:latin typeface="Arial"/>
                <a:cs typeface="Arial"/>
              </a:rPr>
              <a:t>e</a:t>
            </a:r>
            <a:r>
              <a:rPr sz="2200" spc="-95" dirty="0">
                <a:latin typeface="Arial"/>
                <a:cs typeface="Arial"/>
              </a:rPr>
              <a:t>n</a:t>
            </a:r>
            <a:r>
              <a:rPr sz="2200" spc="70" dirty="0">
                <a:latin typeface="Arial"/>
                <a:cs typeface="Arial"/>
              </a:rPr>
              <a:t>t</a:t>
            </a:r>
            <a:r>
              <a:rPr sz="2200" spc="30" dirty="0">
                <a:latin typeface="Arial"/>
                <a:cs typeface="Arial"/>
              </a:rPr>
              <a:t>r</a:t>
            </a:r>
            <a:r>
              <a:rPr sz="2200" spc="-120" dirty="0">
                <a:latin typeface="Arial"/>
                <a:cs typeface="Arial"/>
              </a:rPr>
              <a:t>an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e</a:t>
            </a:r>
            <a:r>
              <a:rPr sz="2200" spc="-100" dirty="0">
                <a:latin typeface="Arial"/>
                <a:cs typeface="Arial"/>
              </a:rPr>
              <a:t>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mer</a:t>
            </a:r>
            <a:r>
              <a:rPr sz="2200" spc="-200" dirty="0">
                <a:latin typeface="Arial"/>
                <a:cs typeface="Arial"/>
              </a:rPr>
              <a:t>c</a:t>
            </a:r>
            <a:r>
              <a:rPr sz="2200" spc="-100" dirty="0">
                <a:latin typeface="Arial"/>
                <a:cs typeface="Arial"/>
              </a:rPr>
              <a:t>ado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30" dirty="0">
                <a:latin typeface="Arial"/>
                <a:cs typeface="Arial"/>
              </a:rPr>
              <a:t>desa</a:t>
            </a:r>
            <a:r>
              <a:rPr sz="2200" spc="-95" dirty="0">
                <a:latin typeface="Arial"/>
                <a:cs typeface="Arial"/>
              </a:rPr>
              <a:t>r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20" dirty="0">
                <a:latin typeface="Arial"/>
                <a:cs typeface="Arial"/>
              </a:rPr>
              <a:t>ol</a:t>
            </a:r>
            <a:r>
              <a:rPr sz="2200" spc="-25" dirty="0">
                <a:latin typeface="Arial"/>
                <a:cs typeface="Arial"/>
              </a:rPr>
              <a:t>l</a:t>
            </a:r>
            <a:r>
              <a:rPr sz="2200" spc="-65" dirty="0">
                <a:latin typeface="Arial"/>
                <a:cs typeface="Arial"/>
              </a:rPr>
              <a:t>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de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65165" y="3755897"/>
            <a:ext cx="11474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d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40" dirty="0">
                <a:latin typeface="Arial"/>
                <a:cs typeface="Arial"/>
              </a:rPr>
              <a:t>p</a:t>
            </a:r>
            <a:r>
              <a:rPr sz="2200" spc="85" dirty="0">
                <a:latin typeface="Arial"/>
                <a:cs typeface="Arial"/>
              </a:rPr>
              <a:t>t</a:t>
            </a:r>
            <a:r>
              <a:rPr sz="2200" spc="-85" dirty="0">
                <a:latin typeface="Arial"/>
                <a:cs typeface="Arial"/>
              </a:rPr>
              <a:t>a</a:t>
            </a:r>
            <a:r>
              <a:rPr sz="2200" spc="-105" dirty="0">
                <a:latin typeface="Arial"/>
                <a:cs typeface="Arial"/>
              </a:rPr>
              <a:t>r</a:t>
            </a:r>
            <a:r>
              <a:rPr sz="2200" spc="-190" dirty="0">
                <a:latin typeface="Arial"/>
                <a:cs typeface="Arial"/>
              </a:rPr>
              <a:t>se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722" y="3755897"/>
            <a:ext cx="26536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657350" algn="l"/>
                <a:tab pos="1739264" algn="l"/>
                <a:tab pos="2111375" algn="l"/>
              </a:tabLst>
            </a:pPr>
            <a:r>
              <a:rPr sz="2200" spc="-60" dirty="0">
                <a:latin typeface="Arial"/>
                <a:cs typeface="Arial"/>
              </a:rPr>
              <a:t>software.	</a:t>
            </a:r>
            <a:r>
              <a:rPr sz="2200" spc="-120" dirty="0">
                <a:latin typeface="Arial"/>
                <a:cs typeface="Arial"/>
              </a:rPr>
              <a:t>Algunos  </a:t>
            </a:r>
            <a:r>
              <a:rPr sz="2200" spc="-125" dirty="0">
                <a:latin typeface="Arial"/>
                <a:cs typeface="Arial"/>
              </a:rPr>
              <a:t>p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5" dirty="0">
                <a:latin typeface="Arial"/>
                <a:cs typeface="Arial"/>
              </a:rPr>
              <a:t>r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10" dirty="0">
                <a:latin typeface="Arial"/>
                <a:cs typeface="Arial"/>
              </a:rPr>
              <a:t>a</a:t>
            </a:r>
            <a:r>
              <a:rPr sz="2200" spc="-60" dirty="0">
                <a:latin typeface="Arial"/>
                <a:cs typeface="Arial"/>
              </a:rPr>
              <a:t>l</a:t>
            </a:r>
            <a:r>
              <a:rPr sz="2200" spc="-100" dirty="0">
                <a:latin typeface="Arial"/>
                <a:cs typeface="Arial"/>
              </a:rPr>
              <a:t>me</a:t>
            </a:r>
            <a:r>
              <a:rPr sz="2200" spc="-95" dirty="0">
                <a:latin typeface="Arial"/>
                <a:cs typeface="Arial"/>
              </a:rPr>
              <a:t>n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	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200" dirty="0">
                <a:latin typeface="Arial"/>
                <a:cs typeface="Arial"/>
              </a:rPr>
              <a:t>c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d</a:t>
            </a:r>
            <a:r>
              <a:rPr sz="2200" spc="-170" dirty="0">
                <a:latin typeface="Arial"/>
                <a:cs typeface="Arial"/>
              </a:rPr>
              <a:t>a</a:t>
            </a:r>
            <a:endParaRPr sz="2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63365" y="3755897"/>
            <a:ext cx="1377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0985">
              <a:lnSpc>
                <a:spcPct val="100000"/>
              </a:lnSpc>
              <a:spcBef>
                <a:spcPts val="100"/>
              </a:spcBef>
              <a:tabLst>
                <a:tab pos="1237615" algn="l"/>
              </a:tabLst>
            </a:pPr>
            <a:r>
              <a:rPr sz="2200" spc="-95" dirty="0">
                <a:latin typeface="Arial"/>
                <a:cs typeface="Arial"/>
              </a:rPr>
              <a:t>pueden  </a:t>
            </a:r>
            <a:r>
              <a:rPr sz="2200" spc="-70" dirty="0">
                <a:latin typeface="Arial"/>
                <a:cs typeface="Arial"/>
              </a:rPr>
              <a:t>emp</a:t>
            </a:r>
            <a:r>
              <a:rPr sz="2200" spc="-65" dirty="0">
                <a:latin typeface="Arial"/>
                <a:cs typeface="Arial"/>
              </a:rPr>
              <a:t>r</a:t>
            </a:r>
            <a:r>
              <a:rPr sz="2200" spc="-180" dirty="0">
                <a:latin typeface="Arial"/>
                <a:cs typeface="Arial"/>
              </a:rPr>
              <a:t>esa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5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54676" y="4091178"/>
            <a:ext cx="12598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2644" algn="l"/>
              </a:tabLst>
            </a:pPr>
            <a:r>
              <a:rPr sz="2200" spc="30" dirty="0">
                <a:latin typeface="Arial"/>
                <a:cs typeface="Arial"/>
              </a:rPr>
              <a:t>ot</a:t>
            </a:r>
            <a:r>
              <a:rPr sz="2200" spc="-10" dirty="0">
                <a:latin typeface="Arial"/>
                <a:cs typeface="Arial"/>
              </a:rPr>
              <a:t>r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30" dirty="0">
                <a:latin typeface="Arial"/>
                <a:cs typeface="Arial"/>
              </a:rPr>
              <a:t>son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68" y="4426458"/>
            <a:ext cx="6175375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200" spc="-105" dirty="0">
                <a:latin typeface="Arial"/>
                <a:cs typeface="Arial"/>
              </a:rPr>
              <a:t>paquetes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90" dirty="0">
                <a:latin typeface="Arial"/>
                <a:cs typeface="Arial"/>
              </a:rPr>
              <a:t>standard.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250">
              <a:latin typeface="Times New Roman"/>
              <a:cs typeface="Times New Roman"/>
            </a:endParaRPr>
          </a:p>
          <a:p>
            <a:pPr marL="469900" marR="5080" indent="-457834" algn="just">
              <a:lnSpc>
                <a:spcPct val="100000"/>
              </a:lnSpc>
            </a:pPr>
            <a:r>
              <a:rPr sz="2200" b="1" spc="-200" dirty="0">
                <a:latin typeface="Trebuchet MS"/>
                <a:cs typeface="Trebuchet MS"/>
              </a:rPr>
              <a:t>3. </a:t>
            </a:r>
            <a:r>
              <a:rPr sz="2200" b="1" spc="-114" dirty="0">
                <a:latin typeface="Trebuchet MS"/>
                <a:cs typeface="Trebuchet MS"/>
              </a:rPr>
              <a:t>Cómputo </a:t>
            </a:r>
            <a:r>
              <a:rPr sz="2200" b="1" spc="-120" dirty="0">
                <a:latin typeface="Trebuchet MS"/>
                <a:cs typeface="Trebuchet MS"/>
              </a:rPr>
              <a:t>del </a:t>
            </a:r>
            <a:r>
              <a:rPr sz="2200" b="1" spc="-105" dirty="0">
                <a:latin typeface="Trebuchet MS"/>
                <a:cs typeface="Trebuchet MS"/>
              </a:rPr>
              <a:t>usuario </a:t>
            </a:r>
            <a:r>
              <a:rPr sz="2200" b="1" spc="-100" dirty="0">
                <a:latin typeface="Trebuchet MS"/>
                <a:cs typeface="Trebuchet MS"/>
              </a:rPr>
              <a:t>final</a:t>
            </a:r>
            <a:r>
              <a:rPr sz="2200" spc="-100" dirty="0">
                <a:latin typeface="Arial"/>
                <a:cs typeface="Arial"/>
              </a:rPr>
              <a:t>: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85" dirty="0">
                <a:latin typeface="Arial"/>
                <a:cs typeface="Arial"/>
              </a:rPr>
              <a:t>usuario </a:t>
            </a:r>
            <a:r>
              <a:rPr sz="2200" spc="-35" dirty="0">
                <a:latin typeface="Arial"/>
                <a:cs typeface="Arial"/>
              </a:rPr>
              <a:t>final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0" dirty="0">
                <a:latin typeface="Arial"/>
                <a:cs typeface="Arial"/>
              </a:rPr>
              <a:t>la  solución </a:t>
            </a:r>
            <a:r>
              <a:rPr sz="2200" spc="-185" dirty="0">
                <a:latin typeface="Arial"/>
                <a:cs typeface="Arial"/>
              </a:rPr>
              <a:t>es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desarrolla </a:t>
            </a:r>
            <a:r>
              <a:rPr sz="2200" spc="-185" dirty="0">
                <a:latin typeface="Arial"/>
                <a:cs typeface="Arial"/>
              </a:rPr>
              <a:t>sus </a:t>
            </a:r>
            <a:r>
              <a:rPr sz="2200" spc="-95" dirty="0">
                <a:latin typeface="Arial"/>
                <a:cs typeface="Arial"/>
              </a:rPr>
              <a:t>propias  </a:t>
            </a:r>
            <a:r>
              <a:rPr sz="2200" spc="-105" dirty="0">
                <a:latin typeface="Arial"/>
                <a:cs typeface="Arial"/>
              </a:rPr>
              <a:t>aplicaciones. </a:t>
            </a:r>
            <a:r>
              <a:rPr sz="2200" spc="-185" dirty="0">
                <a:latin typeface="Arial"/>
                <a:cs typeface="Arial"/>
              </a:rPr>
              <a:t>Esta </a:t>
            </a:r>
            <a:r>
              <a:rPr sz="2200" spc="-75" dirty="0">
                <a:latin typeface="Arial"/>
                <a:cs typeface="Arial"/>
              </a:rPr>
              <a:t>opción </a:t>
            </a:r>
            <a:r>
              <a:rPr sz="2200" spc="-114" dirty="0">
                <a:latin typeface="Arial"/>
                <a:cs typeface="Arial"/>
              </a:rPr>
              <a:t>está </a:t>
            </a:r>
            <a:r>
              <a:rPr sz="2200" spc="-100" dirty="0">
                <a:latin typeface="Arial"/>
                <a:cs typeface="Arial"/>
              </a:rPr>
              <a:t>en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desuso.</a:t>
            </a:r>
            <a:endParaRPr sz="22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45985" y="1178475"/>
            <a:ext cx="1981877" cy="20577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53606" y="3886200"/>
            <a:ext cx="2116074" cy="1828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Métodos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15036" y="1676400"/>
            <a:ext cx="6878726" cy="4607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3540" y="1083309"/>
            <a:ext cx="2915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20" dirty="0">
                <a:latin typeface="Trebuchet MS"/>
                <a:cs typeface="Trebuchet MS"/>
              </a:rPr>
              <a:t>1.	</a:t>
            </a:r>
            <a:r>
              <a:rPr sz="2400" b="1" spc="-50" dirty="0">
                <a:latin typeface="Trebuchet MS"/>
                <a:cs typeface="Trebuchet MS"/>
              </a:rPr>
              <a:t>Método</a:t>
            </a:r>
            <a:r>
              <a:rPr sz="2400" b="1" spc="-204" dirty="0">
                <a:latin typeface="Trebuchet MS"/>
                <a:cs typeface="Trebuchet MS"/>
              </a:rPr>
              <a:t> </a:t>
            </a:r>
            <a:r>
              <a:rPr sz="2400" b="1" spc="-135" dirty="0">
                <a:latin typeface="Trebuchet MS"/>
                <a:cs typeface="Trebuchet MS"/>
              </a:rPr>
              <a:t>tradicional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Métodos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239268" y="1073404"/>
            <a:ext cx="546798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" algn="l"/>
                <a:tab pos="2064385" algn="l"/>
                <a:tab pos="3096260" algn="l"/>
                <a:tab pos="3788410" algn="l"/>
                <a:tab pos="5252085" algn="l"/>
              </a:tabLst>
            </a:pPr>
            <a:r>
              <a:rPr sz="2200" b="1" spc="-250" dirty="0">
                <a:latin typeface="Trebuchet MS"/>
                <a:cs typeface="Trebuchet MS"/>
              </a:rPr>
              <a:t>1</a:t>
            </a:r>
            <a:r>
              <a:rPr sz="2200" b="1" spc="-155" dirty="0">
                <a:latin typeface="Trebuchet MS"/>
                <a:cs typeface="Trebuchet MS"/>
              </a:rPr>
              <a:t>.</a:t>
            </a:r>
            <a:r>
              <a:rPr sz="2200" b="1" dirty="0">
                <a:latin typeface="Trebuchet MS"/>
                <a:cs typeface="Trebuchet MS"/>
              </a:rPr>
              <a:t>	</a:t>
            </a:r>
            <a:r>
              <a:rPr sz="2200" b="1" spc="-340" dirty="0">
                <a:latin typeface="Trebuchet MS"/>
                <a:cs typeface="Trebuchet MS"/>
              </a:rPr>
              <a:t>F</a:t>
            </a:r>
            <a:r>
              <a:rPr sz="2200" b="1" spc="-130" dirty="0">
                <a:latin typeface="Trebuchet MS"/>
                <a:cs typeface="Trebuchet MS"/>
              </a:rPr>
              <a:t>actib</a:t>
            </a:r>
            <a:r>
              <a:rPr sz="2200" b="1" spc="-100" dirty="0">
                <a:latin typeface="Trebuchet MS"/>
                <a:cs typeface="Trebuchet MS"/>
              </a:rPr>
              <a:t>i</a:t>
            </a:r>
            <a:r>
              <a:rPr sz="2200" b="1" spc="-114" dirty="0">
                <a:latin typeface="Trebuchet MS"/>
                <a:cs typeface="Trebuchet MS"/>
              </a:rPr>
              <a:t>l</a:t>
            </a:r>
            <a:r>
              <a:rPr sz="2200" b="1" spc="-125" dirty="0">
                <a:latin typeface="Trebuchet MS"/>
                <a:cs typeface="Trebuchet MS"/>
              </a:rPr>
              <a:t>i</a:t>
            </a:r>
            <a:r>
              <a:rPr sz="2200" b="1" spc="-95" dirty="0">
                <a:latin typeface="Trebuchet MS"/>
                <a:cs typeface="Trebuchet MS"/>
              </a:rPr>
              <a:t>d</a:t>
            </a:r>
            <a:r>
              <a:rPr sz="2200" b="1" spc="-100" dirty="0">
                <a:latin typeface="Trebuchet MS"/>
                <a:cs typeface="Trebuchet MS"/>
              </a:rPr>
              <a:t>a</a:t>
            </a:r>
            <a:r>
              <a:rPr sz="2200" b="1" spc="-105" dirty="0">
                <a:latin typeface="Trebuchet MS"/>
                <a:cs typeface="Trebuchet MS"/>
              </a:rPr>
              <a:t>d</a:t>
            </a:r>
            <a:r>
              <a:rPr sz="2200" spc="-25" dirty="0">
                <a:latin typeface="Arial"/>
                <a:cs typeface="Arial"/>
              </a:rPr>
              <a:t>: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5" dirty="0">
                <a:latin typeface="Arial"/>
                <a:cs typeface="Arial"/>
              </a:rPr>
              <a:t>es</a:t>
            </a:r>
            <a:r>
              <a:rPr sz="2200" spc="-5" dirty="0">
                <a:latin typeface="Arial"/>
                <a:cs typeface="Arial"/>
              </a:rPr>
              <a:t>tu</a:t>
            </a:r>
            <a:r>
              <a:rPr sz="2200" spc="-15" dirty="0">
                <a:latin typeface="Arial"/>
                <a:cs typeface="Arial"/>
              </a:rPr>
              <a:t>d</a:t>
            </a:r>
            <a:r>
              <a:rPr sz="2200" spc="-25" dirty="0">
                <a:latin typeface="Arial"/>
                <a:cs typeface="Arial"/>
              </a:rPr>
              <a:t>io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5" dirty="0">
                <a:latin typeface="Arial"/>
                <a:cs typeface="Arial"/>
              </a:rPr>
              <a:t>pa</a:t>
            </a:r>
            <a:r>
              <a:rPr sz="2200" spc="-110" dirty="0">
                <a:latin typeface="Arial"/>
                <a:cs typeface="Arial"/>
              </a:rPr>
              <a:t>r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5" dirty="0">
                <a:latin typeface="Arial"/>
                <a:cs typeface="Arial"/>
              </a:rPr>
              <a:t>d</a:t>
            </a:r>
            <a:r>
              <a:rPr sz="2200" spc="-140" dirty="0">
                <a:latin typeface="Arial"/>
                <a:cs typeface="Arial"/>
              </a:rPr>
              <a:t>e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45" dirty="0">
                <a:latin typeface="Arial"/>
                <a:cs typeface="Arial"/>
              </a:rPr>
              <a:t>ermi</a:t>
            </a:r>
            <a:r>
              <a:rPr sz="2200" spc="-60" dirty="0">
                <a:latin typeface="Arial"/>
                <a:cs typeface="Arial"/>
              </a:rPr>
              <a:t>n</a:t>
            </a:r>
            <a:r>
              <a:rPr sz="2200" spc="-70" dirty="0">
                <a:latin typeface="Arial"/>
                <a:cs typeface="Arial"/>
              </a:rPr>
              <a:t>ar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5" dirty="0">
                <a:latin typeface="Arial"/>
                <a:cs typeface="Arial"/>
              </a:rPr>
              <a:t>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69432" y="1073404"/>
            <a:ext cx="298640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6300" algn="l"/>
                <a:tab pos="1350645" algn="l"/>
                <a:tab pos="2623185" algn="l"/>
              </a:tabLst>
            </a:pPr>
            <a:r>
              <a:rPr sz="2200" spc="-120" dirty="0">
                <a:latin typeface="Arial"/>
                <a:cs typeface="Arial"/>
              </a:rPr>
              <a:t>í</a:t>
            </a:r>
            <a:r>
              <a:rPr sz="2200" spc="-75" dirty="0">
                <a:latin typeface="Arial"/>
                <a:cs typeface="Arial"/>
              </a:rPr>
              <a:t>n</a:t>
            </a:r>
            <a:r>
              <a:rPr sz="2200" spc="-80" dirty="0">
                <a:latin typeface="Arial"/>
                <a:cs typeface="Arial"/>
              </a:rPr>
              <a:t>d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80" dirty="0">
                <a:latin typeface="Arial"/>
                <a:cs typeface="Arial"/>
              </a:rPr>
              <a:t>c</a:t>
            </a:r>
            <a:r>
              <a:rPr sz="2200" spc="-130" dirty="0">
                <a:latin typeface="Arial"/>
                <a:cs typeface="Arial"/>
              </a:rPr>
              <a:t>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5" dirty="0">
                <a:latin typeface="Arial"/>
                <a:cs typeface="Arial"/>
              </a:rPr>
              <a:t>v</a:t>
            </a:r>
            <a:r>
              <a:rPr sz="2200" spc="-45" dirty="0">
                <a:latin typeface="Arial"/>
                <a:cs typeface="Arial"/>
              </a:rPr>
              <a:t>i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130" dirty="0">
                <a:latin typeface="Arial"/>
                <a:cs typeface="Arial"/>
              </a:rPr>
              <a:t>b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15" dirty="0">
                <a:latin typeface="Arial"/>
                <a:cs typeface="Arial"/>
              </a:rPr>
              <a:t>l</a:t>
            </a:r>
            <a:r>
              <a:rPr sz="2200" spc="5" dirty="0">
                <a:latin typeface="Arial"/>
                <a:cs typeface="Arial"/>
              </a:rPr>
              <a:t>i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30" dirty="0">
                <a:latin typeface="Arial"/>
                <a:cs typeface="Arial"/>
              </a:rPr>
              <a:t>a</a:t>
            </a:r>
            <a:r>
              <a:rPr sz="2200" spc="-70" dirty="0">
                <a:latin typeface="Arial"/>
                <a:cs typeface="Arial"/>
              </a:rPr>
              <a:t>d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65" dirty="0">
                <a:latin typeface="Arial"/>
                <a:cs typeface="Arial"/>
              </a:rPr>
              <a:t>del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408684"/>
            <a:ext cx="8616950" cy="505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200" spc="-75" dirty="0">
                <a:latin typeface="Arial"/>
                <a:cs typeface="Arial"/>
              </a:rPr>
              <a:t>desarrollo </a:t>
            </a:r>
            <a:r>
              <a:rPr sz="2200" spc="-60" dirty="0">
                <a:latin typeface="Arial"/>
                <a:cs typeface="Arial"/>
              </a:rPr>
              <a:t>del </a:t>
            </a:r>
            <a:r>
              <a:rPr sz="2200" spc="-70" dirty="0">
                <a:latin typeface="Arial"/>
                <a:cs typeface="Arial"/>
              </a:rPr>
              <a:t>proyecto. </a:t>
            </a:r>
            <a:r>
              <a:rPr sz="2200" spc="-295" dirty="0">
                <a:latin typeface="Arial"/>
                <a:cs typeface="Arial"/>
              </a:rPr>
              <a:t>Se </a:t>
            </a:r>
            <a:r>
              <a:rPr sz="2200" spc="-50" dirty="0">
                <a:latin typeface="Arial"/>
                <a:cs typeface="Arial"/>
              </a:rPr>
              <a:t>parte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120" dirty="0">
                <a:latin typeface="Arial"/>
                <a:cs typeface="Arial"/>
              </a:rPr>
              <a:t>necesidad </a:t>
            </a:r>
            <a:r>
              <a:rPr sz="2200" spc="-65" dirty="0">
                <a:latin typeface="Arial"/>
                <a:cs typeface="Arial"/>
              </a:rPr>
              <a:t>del</a:t>
            </a:r>
            <a:r>
              <a:rPr sz="2200" spc="-22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usuario.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90" dirty="0">
                <a:latin typeface="Trebuchet MS"/>
                <a:cs typeface="Trebuchet MS"/>
              </a:rPr>
              <a:t>Análisis</a:t>
            </a:r>
            <a:r>
              <a:rPr sz="2200" spc="-90" dirty="0">
                <a:latin typeface="Arial"/>
                <a:cs typeface="Arial"/>
              </a:rPr>
              <a:t>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50" dirty="0">
                <a:latin typeface="Arial"/>
                <a:cs typeface="Arial"/>
              </a:rPr>
              <a:t>determinar </a:t>
            </a:r>
            <a:r>
              <a:rPr sz="2200" spc="-135" dirty="0">
                <a:latin typeface="Arial"/>
                <a:cs typeface="Arial"/>
              </a:rPr>
              <a:t>las </a:t>
            </a:r>
            <a:r>
              <a:rPr sz="2200" spc="-110" dirty="0">
                <a:latin typeface="Arial"/>
                <a:cs typeface="Arial"/>
              </a:rPr>
              <a:t>especificaciones </a:t>
            </a:r>
            <a:r>
              <a:rPr sz="2200" spc="-60" dirty="0">
                <a:latin typeface="Arial"/>
                <a:cs typeface="Arial"/>
              </a:rPr>
              <a:t>del </a:t>
            </a:r>
            <a:r>
              <a:rPr sz="2200" spc="-85" dirty="0">
                <a:latin typeface="Arial"/>
                <a:cs typeface="Arial"/>
              </a:rPr>
              <a:t>usuario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90" dirty="0">
                <a:latin typeface="Arial"/>
                <a:cs typeface="Arial"/>
              </a:rPr>
              <a:t>la  </a:t>
            </a:r>
            <a:r>
              <a:rPr sz="2200" spc="-85" dirty="0">
                <a:latin typeface="Arial"/>
                <a:cs typeface="Arial"/>
              </a:rPr>
              <a:t>solución, </a:t>
            </a:r>
            <a:r>
              <a:rPr sz="2200" spc="-70" dirty="0">
                <a:latin typeface="Arial"/>
                <a:cs typeface="Arial"/>
              </a:rPr>
              <a:t>pronosticar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120" dirty="0">
                <a:latin typeface="Arial"/>
                <a:cs typeface="Arial"/>
              </a:rPr>
              <a:t>recursos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30" dirty="0">
                <a:latin typeface="Arial"/>
                <a:cs typeface="Arial"/>
              </a:rPr>
              <a:t>serán </a:t>
            </a:r>
            <a:r>
              <a:rPr sz="2200" spc="-125" dirty="0">
                <a:latin typeface="Arial"/>
                <a:cs typeface="Arial"/>
              </a:rPr>
              <a:t>necesarios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70" dirty="0">
                <a:latin typeface="Arial"/>
                <a:cs typeface="Arial"/>
              </a:rPr>
              <a:t>estimar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35" dirty="0">
                <a:latin typeface="Arial"/>
                <a:cs typeface="Arial"/>
              </a:rPr>
              <a:t>tiempo </a:t>
            </a:r>
            <a:r>
              <a:rPr sz="2200" spc="-100" dirty="0">
                <a:latin typeface="Arial"/>
                <a:cs typeface="Arial"/>
              </a:rPr>
              <a:t>de</a:t>
            </a:r>
            <a:r>
              <a:rPr sz="2200" spc="-21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desarrollo.</a:t>
            </a:r>
            <a:endParaRPr sz="2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90" dirty="0">
                <a:latin typeface="Trebuchet MS"/>
                <a:cs typeface="Trebuchet MS"/>
              </a:rPr>
              <a:t>Diseño</a:t>
            </a:r>
            <a:r>
              <a:rPr sz="2200" spc="-90" dirty="0">
                <a:latin typeface="Arial"/>
                <a:cs typeface="Arial"/>
              </a:rPr>
              <a:t>: etapa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75" dirty="0">
                <a:latin typeface="Arial"/>
                <a:cs typeface="Arial"/>
              </a:rPr>
              <a:t>traduce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110" dirty="0">
                <a:latin typeface="Arial"/>
                <a:cs typeface="Arial"/>
              </a:rPr>
              <a:t>análisis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55" dirty="0">
                <a:latin typeface="Arial"/>
                <a:cs typeface="Arial"/>
              </a:rPr>
              <a:t>forma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etapas </a:t>
            </a:r>
            <a:r>
              <a:rPr sz="2200" spc="-65" dirty="0">
                <a:latin typeface="Arial"/>
                <a:cs typeface="Arial"/>
              </a:rPr>
              <a:t>o  </a:t>
            </a:r>
            <a:r>
              <a:rPr sz="2200" spc="-70" dirty="0">
                <a:latin typeface="Arial"/>
                <a:cs typeface="Arial"/>
              </a:rPr>
              <a:t>algoritmos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60" dirty="0">
                <a:latin typeface="Arial"/>
                <a:cs typeface="Arial"/>
              </a:rPr>
              <a:t>constituirán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60" dirty="0">
                <a:latin typeface="Arial"/>
                <a:cs typeface="Arial"/>
              </a:rPr>
              <a:t>base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programación. </a:t>
            </a:r>
            <a:r>
              <a:rPr sz="2200" spc="-295" dirty="0">
                <a:latin typeface="Arial"/>
                <a:cs typeface="Arial"/>
              </a:rPr>
              <a:t>Se </a:t>
            </a:r>
            <a:r>
              <a:rPr sz="2200" spc="-110" dirty="0">
                <a:latin typeface="Arial"/>
                <a:cs typeface="Arial"/>
              </a:rPr>
              <a:t>diseñan </a:t>
            </a:r>
            <a:r>
              <a:rPr sz="2200" spc="-105" dirty="0">
                <a:latin typeface="Arial"/>
                <a:cs typeface="Arial"/>
              </a:rPr>
              <a:t>los  </a:t>
            </a:r>
            <a:r>
              <a:rPr sz="2200" spc="-75" dirty="0">
                <a:latin typeface="Arial"/>
                <a:cs typeface="Arial"/>
              </a:rPr>
              <a:t>procedimientos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90" dirty="0">
                <a:latin typeface="Arial"/>
                <a:cs typeface="Arial"/>
              </a:rPr>
              <a:t>servirán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55" dirty="0">
                <a:latin typeface="Arial"/>
                <a:cs typeface="Arial"/>
              </a:rPr>
              <a:t>cumplir </a:t>
            </a:r>
            <a:r>
              <a:rPr sz="2200" spc="-114" dirty="0">
                <a:latin typeface="Arial"/>
                <a:cs typeface="Arial"/>
              </a:rPr>
              <a:t>con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40" dirty="0">
                <a:latin typeface="Arial"/>
                <a:cs typeface="Arial"/>
              </a:rPr>
              <a:t>objetivo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55" dirty="0">
                <a:latin typeface="Arial"/>
                <a:cs typeface="Arial"/>
              </a:rPr>
              <a:t>forma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70" dirty="0">
                <a:latin typeface="Arial"/>
                <a:cs typeface="Arial"/>
              </a:rPr>
              <a:t>entrarán </a:t>
            </a:r>
            <a:r>
              <a:rPr sz="2200" spc="-80" dirty="0">
                <a:latin typeface="Arial"/>
                <a:cs typeface="Arial"/>
              </a:rPr>
              <a:t>al</a:t>
            </a:r>
            <a:r>
              <a:rPr sz="2200" spc="-36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sistema.</a:t>
            </a:r>
            <a:endParaRPr sz="2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470534" algn="l"/>
              </a:tabLst>
            </a:pPr>
            <a:r>
              <a:rPr sz="2200" b="1" spc="-110" dirty="0">
                <a:latin typeface="Trebuchet MS"/>
                <a:cs typeface="Trebuchet MS"/>
              </a:rPr>
              <a:t>Programación</a:t>
            </a:r>
            <a:r>
              <a:rPr sz="2200" spc="-110" dirty="0">
                <a:latin typeface="Arial"/>
                <a:cs typeface="Arial"/>
              </a:rPr>
              <a:t>: 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75" dirty="0">
                <a:latin typeface="Arial"/>
                <a:cs typeface="Arial"/>
              </a:rPr>
              <a:t>elaborar </a:t>
            </a:r>
            <a:r>
              <a:rPr sz="2200" spc="-100" dirty="0">
                <a:latin typeface="Arial"/>
                <a:cs typeface="Arial"/>
              </a:rPr>
              <a:t>los </a:t>
            </a:r>
            <a:r>
              <a:rPr sz="2200" spc="-90" dirty="0">
                <a:latin typeface="Arial"/>
                <a:cs typeface="Arial"/>
              </a:rPr>
              <a:t>desarrollos </a:t>
            </a:r>
            <a:r>
              <a:rPr sz="2200" spc="-114" dirty="0">
                <a:latin typeface="Arial"/>
                <a:cs typeface="Arial"/>
              </a:rPr>
              <a:t>considerados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 </a:t>
            </a:r>
            <a:r>
              <a:rPr sz="2200" spc="-100" dirty="0">
                <a:latin typeface="Arial"/>
                <a:cs typeface="Arial"/>
              </a:rPr>
              <a:t>diseño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50" dirty="0">
                <a:latin typeface="Arial"/>
                <a:cs typeface="Arial"/>
              </a:rPr>
              <a:t>cumplir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30" dirty="0">
                <a:latin typeface="Arial"/>
                <a:cs typeface="Arial"/>
              </a:rPr>
              <a:t>lo </a:t>
            </a:r>
            <a:r>
              <a:rPr sz="2200" spc="-100" dirty="0">
                <a:latin typeface="Arial"/>
                <a:cs typeface="Arial"/>
              </a:rPr>
              <a:t>especificado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45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usuario.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110" dirty="0">
                <a:latin typeface="Trebuchet MS"/>
                <a:cs typeface="Trebuchet MS"/>
              </a:rPr>
              <a:t>Pruebas</a:t>
            </a:r>
            <a:r>
              <a:rPr sz="2200" spc="-110" dirty="0">
                <a:latin typeface="Arial"/>
                <a:cs typeface="Arial"/>
              </a:rPr>
              <a:t>: </a:t>
            </a:r>
            <a:r>
              <a:rPr sz="2200" spc="-75" dirty="0">
                <a:latin typeface="Arial"/>
                <a:cs typeface="Arial"/>
              </a:rPr>
              <a:t>resulta </a:t>
            </a:r>
            <a:r>
              <a:rPr sz="2200" spc="-105" dirty="0">
                <a:latin typeface="Arial"/>
                <a:cs typeface="Arial"/>
              </a:rPr>
              <a:t>necesario </a:t>
            </a:r>
            <a:r>
              <a:rPr sz="2200" spc="-55" dirty="0">
                <a:latin typeface="Arial"/>
                <a:cs typeface="Arial"/>
              </a:rPr>
              <a:t>verificar </a:t>
            </a:r>
            <a:r>
              <a:rPr sz="2200" spc="-114" dirty="0">
                <a:latin typeface="Arial"/>
                <a:cs typeface="Arial"/>
              </a:rPr>
              <a:t>si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cumple </a:t>
            </a:r>
            <a:r>
              <a:rPr sz="2200" spc="-110" dirty="0">
                <a:latin typeface="Arial"/>
                <a:cs typeface="Arial"/>
              </a:rPr>
              <a:t>con </a:t>
            </a:r>
            <a:r>
              <a:rPr sz="2200" spc="-135" dirty="0">
                <a:latin typeface="Arial"/>
                <a:cs typeface="Arial"/>
              </a:rPr>
              <a:t>las  </a:t>
            </a:r>
            <a:r>
              <a:rPr sz="2200" spc="-110" dirty="0">
                <a:latin typeface="Arial"/>
                <a:cs typeface="Arial"/>
              </a:rPr>
              <a:t>especificaciones </a:t>
            </a:r>
            <a:r>
              <a:rPr sz="2200" spc="-65" dirty="0">
                <a:latin typeface="Arial"/>
                <a:cs typeface="Arial"/>
              </a:rPr>
              <a:t>del </a:t>
            </a:r>
            <a:r>
              <a:rPr sz="2200" spc="-85" dirty="0">
                <a:latin typeface="Arial"/>
                <a:cs typeface="Arial"/>
              </a:rPr>
              <a:t>usuario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60" dirty="0">
                <a:latin typeface="Arial"/>
                <a:cs typeface="Arial"/>
              </a:rPr>
              <a:t>su </a:t>
            </a:r>
            <a:r>
              <a:rPr sz="2200" spc="-65" dirty="0">
                <a:latin typeface="Arial"/>
                <a:cs typeface="Arial"/>
              </a:rPr>
              <a:t>correcto </a:t>
            </a:r>
            <a:r>
              <a:rPr sz="2200" spc="-60" dirty="0">
                <a:latin typeface="Arial"/>
                <a:cs typeface="Arial"/>
              </a:rPr>
              <a:t>funcionamiento (utilizando  </a:t>
            </a:r>
            <a:r>
              <a:rPr sz="2200" spc="-95" dirty="0">
                <a:latin typeface="Arial"/>
                <a:cs typeface="Arial"/>
              </a:rPr>
              <a:t>datos</a:t>
            </a:r>
            <a:r>
              <a:rPr sz="2200" spc="-130" dirty="0">
                <a:latin typeface="Arial"/>
                <a:cs typeface="Arial"/>
              </a:rPr>
              <a:t> </a:t>
            </a:r>
            <a:r>
              <a:rPr sz="2200" spc="-55" dirty="0">
                <a:latin typeface="Arial"/>
                <a:cs typeface="Arial"/>
              </a:rPr>
              <a:t>ficticios).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2"/>
              <a:tabLst>
                <a:tab pos="470534" algn="l"/>
              </a:tabLst>
            </a:pPr>
            <a:r>
              <a:rPr sz="2200" b="1" spc="-114" dirty="0">
                <a:latin typeface="Trebuchet MS"/>
                <a:cs typeface="Trebuchet MS"/>
              </a:rPr>
              <a:t>Ajustes</a:t>
            </a:r>
            <a:r>
              <a:rPr sz="2200" spc="-114" dirty="0">
                <a:latin typeface="Arial"/>
                <a:cs typeface="Arial"/>
              </a:rPr>
              <a:t>: </a:t>
            </a:r>
            <a:r>
              <a:rPr sz="2200" spc="-220" dirty="0">
                <a:latin typeface="Arial"/>
                <a:cs typeface="Arial"/>
              </a:rPr>
              <a:t>Si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70" dirty="0">
                <a:latin typeface="Arial"/>
                <a:cs typeface="Arial"/>
              </a:rPr>
              <a:t>no </a:t>
            </a:r>
            <a:r>
              <a:rPr sz="2200" spc="-90" dirty="0">
                <a:latin typeface="Arial"/>
                <a:cs typeface="Arial"/>
              </a:rPr>
              <a:t>cumple </a:t>
            </a:r>
            <a:r>
              <a:rPr sz="2200" spc="-114" dirty="0">
                <a:latin typeface="Arial"/>
                <a:cs typeface="Arial"/>
              </a:rPr>
              <a:t>con </a:t>
            </a:r>
            <a:r>
              <a:rPr sz="2200" spc="-30" dirty="0">
                <a:latin typeface="Arial"/>
                <a:cs typeface="Arial"/>
              </a:rPr>
              <a:t>lo </a:t>
            </a:r>
            <a:r>
              <a:rPr sz="2200" spc="-100" dirty="0">
                <a:latin typeface="Arial"/>
                <a:cs typeface="Arial"/>
              </a:rPr>
              <a:t>especificado, </a:t>
            </a:r>
            <a:r>
              <a:rPr sz="2200" spc="-65" dirty="0">
                <a:latin typeface="Arial"/>
                <a:cs typeface="Arial"/>
              </a:rPr>
              <a:t>o </a:t>
            </a:r>
            <a:r>
              <a:rPr sz="2200" spc="-70" dirty="0">
                <a:latin typeface="Arial"/>
                <a:cs typeface="Arial"/>
              </a:rPr>
              <a:t>no </a:t>
            </a:r>
            <a:r>
              <a:rPr sz="2200" spc="-75" dirty="0">
                <a:latin typeface="Arial"/>
                <a:cs typeface="Arial"/>
              </a:rPr>
              <a:t>funciona  </a:t>
            </a:r>
            <a:r>
              <a:rPr sz="2200" spc="-100" dirty="0">
                <a:latin typeface="Arial"/>
                <a:cs typeface="Arial"/>
              </a:rPr>
              <a:t>debe </a:t>
            </a:r>
            <a:r>
              <a:rPr sz="2200" spc="-114" dirty="0">
                <a:latin typeface="Arial"/>
                <a:cs typeface="Arial"/>
              </a:rPr>
              <a:t>ser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corregido.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</a:t>
            </a:r>
            <a:r>
              <a:rPr spc="-30" dirty="0"/>
              <a:t>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1073404"/>
            <a:ext cx="8618220" cy="3714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6350" indent="-457200" algn="just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470534" algn="l"/>
              </a:tabLst>
            </a:pPr>
            <a:r>
              <a:rPr sz="2200" b="1" spc="-125" dirty="0">
                <a:latin typeface="Trebuchet MS"/>
                <a:cs typeface="Trebuchet MS"/>
              </a:rPr>
              <a:t>Implementación: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70" dirty="0">
                <a:latin typeface="Arial"/>
                <a:cs typeface="Arial"/>
              </a:rPr>
              <a:t>instalar </a:t>
            </a:r>
            <a:r>
              <a:rPr sz="2200" spc="-85" dirty="0">
                <a:latin typeface="Arial"/>
                <a:cs typeface="Arial"/>
              </a:rPr>
              <a:t>la solución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ambiente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95" dirty="0">
                <a:latin typeface="Arial"/>
                <a:cs typeface="Arial"/>
              </a:rPr>
              <a:t>que  operará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realizar </a:t>
            </a:r>
            <a:r>
              <a:rPr sz="2200" spc="-95" dirty="0">
                <a:latin typeface="Arial"/>
                <a:cs typeface="Arial"/>
              </a:rPr>
              <a:t>los </a:t>
            </a:r>
            <a:r>
              <a:rPr sz="2200" spc="-130" dirty="0">
                <a:latin typeface="Arial"/>
                <a:cs typeface="Arial"/>
              </a:rPr>
              <a:t>procesos </a:t>
            </a:r>
            <a:r>
              <a:rPr sz="2200" spc="-125" dirty="0">
                <a:latin typeface="Arial"/>
                <a:cs typeface="Arial"/>
              </a:rPr>
              <a:t>necesarios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opere  </a:t>
            </a:r>
            <a:r>
              <a:rPr sz="2200" spc="-70" dirty="0">
                <a:latin typeface="Arial"/>
                <a:cs typeface="Arial"/>
              </a:rPr>
              <a:t>correctamente. </a:t>
            </a:r>
            <a:r>
              <a:rPr sz="2200" spc="-120" dirty="0">
                <a:latin typeface="Arial"/>
                <a:cs typeface="Arial"/>
              </a:rPr>
              <a:t>Capacitación </a:t>
            </a:r>
            <a:r>
              <a:rPr sz="2200" spc="-60" dirty="0">
                <a:latin typeface="Arial"/>
                <a:cs typeface="Arial"/>
              </a:rPr>
              <a:t>del</a:t>
            </a:r>
            <a:r>
              <a:rPr sz="2200" spc="-20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usuario.</a:t>
            </a:r>
            <a:endParaRPr sz="2200">
              <a:latin typeface="Arial"/>
              <a:cs typeface="Arial"/>
            </a:endParaRPr>
          </a:p>
          <a:p>
            <a:pPr marL="469900" marR="6350" indent="-457200" algn="just">
              <a:lnSpc>
                <a:spcPct val="100000"/>
              </a:lnSpc>
              <a:spcBef>
                <a:spcPts val="5"/>
              </a:spcBef>
              <a:buAutoNum type="arabicPeriod" startAt="7"/>
              <a:tabLst>
                <a:tab pos="470534" algn="l"/>
              </a:tabLst>
            </a:pPr>
            <a:r>
              <a:rPr sz="2200" b="1" spc="-135" dirty="0">
                <a:latin typeface="Trebuchet MS"/>
                <a:cs typeface="Trebuchet MS"/>
              </a:rPr>
              <a:t>Operación: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65" dirty="0">
                <a:latin typeface="Arial"/>
                <a:cs typeface="Arial"/>
              </a:rPr>
              <a:t>utilización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80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35" dirty="0">
                <a:latin typeface="Arial"/>
                <a:cs typeface="Arial"/>
              </a:rPr>
              <a:t>por </a:t>
            </a:r>
            <a:r>
              <a:rPr sz="2200" spc="-50" dirty="0">
                <a:latin typeface="Arial"/>
                <a:cs typeface="Arial"/>
              </a:rPr>
              <a:t>parte </a:t>
            </a:r>
            <a:r>
              <a:rPr sz="2200" spc="-60" dirty="0">
                <a:latin typeface="Arial"/>
                <a:cs typeface="Arial"/>
              </a:rPr>
              <a:t>del</a:t>
            </a:r>
            <a:r>
              <a:rPr sz="2200" spc="-430" dirty="0">
                <a:latin typeface="Arial"/>
                <a:cs typeface="Arial"/>
              </a:rPr>
              <a:t> </a:t>
            </a:r>
            <a:r>
              <a:rPr sz="2200" spc="-85" dirty="0">
                <a:latin typeface="Arial"/>
                <a:cs typeface="Arial"/>
              </a:rPr>
              <a:t>usuario 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0" dirty="0">
                <a:latin typeface="Arial"/>
                <a:cs typeface="Arial"/>
              </a:rPr>
              <a:t>el </a:t>
            </a:r>
            <a:r>
              <a:rPr sz="2200" spc="-70" dirty="0">
                <a:latin typeface="Arial"/>
                <a:cs typeface="Arial"/>
              </a:rPr>
              <a:t>ambiente real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50" dirty="0">
                <a:latin typeface="Arial"/>
                <a:cs typeface="Arial"/>
              </a:rPr>
              <a:t>trabajo. </a:t>
            </a:r>
            <a:r>
              <a:rPr sz="2200" spc="-14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65" dirty="0">
                <a:latin typeface="Arial"/>
                <a:cs typeface="Arial"/>
              </a:rPr>
              <a:t>poner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85" dirty="0">
                <a:latin typeface="Arial"/>
                <a:cs typeface="Arial"/>
              </a:rPr>
              <a:t>la solución </a:t>
            </a:r>
            <a:r>
              <a:rPr sz="2200" spc="-105" dirty="0">
                <a:latin typeface="Arial"/>
                <a:cs typeface="Arial"/>
              </a:rPr>
              <a:t>en  </a:t>
            </a:r>
            <a:r>
              <a:rPr sz="2200" spc="-100" dirty="0">
                <a:latin typeface="Arial"/>
                <a:cs typeface="Arial"/>
              </a:rPr>
              <a:t>condiciones de </a:t>
            </a:r>
            <a:r>
              <a:rPr sz="2200" spc="-114" dirty="0">
                <a:latin typeface="Arial"/>
                <a:cs typeface="Arial"/>
              </a:rPr>
              <a:t>ser</a:t>
            </a:r>
            <a:r>
              <a:rPr sz="2200" spc="-160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operado.</a:t>
            </a:r>
            <a:endParaRPr sz="22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buAutoNum type="arabicPeriod" startAt="7"/>
              <a:tabLst>
                <a:tab pos="470534" algn="l"/>
              </a:tabLst>
            </a:pPr>
            <a:r>
              <a:rPr sz="2200" b="1" spc="-95" dirty="0">
                <a:latin typeface="Trebuchet MS"/>
                <a:cs typeface="Trebuchet MS"/>
              </a:rPr>
              <a:t>Mantenimiento </a:t>
            </a:r>
            <a:r>
              <a:rPr sz="2200" b="1" spc="-135" dirty="0">
                <a:latin typeface="Trebuchet MS"/>
                <a:cs typeface="Trebuchet MS"/>
              </a:rPr>
              <a:t>y </a:t>
            </a:r>
            <a:r>
              <a:rPr sz="2200" b="1" spc="-140" dirty="0">
                <a:latin typeface="Trebuchet MS"/>
                <a:cs typeface="Trebuchet MS"/>
              </a:rPr>
              <a:t>actualización: </a:t>
            </a:r>
            <a:r>
              <a:rPr sz="2200" spc="-110" dirty="0">
                <a:latin typeface="Arial"/>
                <a:cs typeface="Arial"/>
              </a:rPr>
              <a:t>consiste </a:t>
            </a:r>
            <a:r>
              <a:rPr sz="2200" spc="-100" dirty="0">
                <a:latin typeface="Arial"/>
                <a:cs typeface="Arial"/>
              </a:rPr>
              <a:t>en </a:t>
            </a:r>
            <a:r>
              <a:rPr sz="2200" spc="-140" dirty="0">
                <a:latin typeface="Arial"/>
                <a:cs typeface="Arial"/>
              </a:rPr>
              <a:t>asegurarse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 </a:t>
            </a:r>
            <a:r>
              <a:rPr sz="2200" spc="-105" dirty="0">
                <a:latin typeface="Arial"/>
                <a:cs typeface="Arial"/>
              </a:rPr>
              <a:t>esté </a:t>
            </a:r>
            <a:r>
              <a:rPr sz="2200" spc="-95" dirty="0">
                <a:latin typeface="Arial"/>
                <a:cs typeface="Arial"/>
              </a:rPr>
              <a:t>en </a:t>
            </a:r>
            <a:r>
              <a:rPr sz="2200" spc="-100" dirty="0">
                <a:latin typeface="Arial"/>
                <a:cs typeface="Arial"/>
              </a:rPr>
              <a:t>línea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95" dirty="0">
                <a:latin typeface="Arial"/>
                <a:cs typeface="Arial"/>
              </a:rPr>
              <a:t>que </a:t>
            </a:r>
            <a:r>
              <a:rPr sz="2200" spc="-65" dirty="0">
                <a:latin typeface="Arial"/>
                <a:cs typeface="Arial"/>
              </a:rPr>
              <a:t>no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105" dirty="0">
                <a:latin typeface="Arial"/>
                <a:cs typeface="Arial"/>
              </a:rPr>
              <a:t>generen </a:t>
            </a:r>
            <a:r>
              <a:rPr sz="2200" spc="-75" dirty="0">
                <a:latin typeface="Arial"/>
                <a:cs typeface="Arial"/>
              </a:rPr>
              <a:t>errores. </a:t>
            </a:r>
            <a:r>
              <a:rPr sz="2200" spc="-295" dirty="0">
                <a:latin typeface="Arial"/>
                <a:cs typeface="Arial"/>
              </a:rPr>
              <a:t>Se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realizan </a:t>
            </a:r>
            <a:r>
              <a:rPr sz="2200" spc="-95" dirty="0">
                <a:latin typeface="Arial"/>
                <a:cs typeface="Arial"/>
              </a:rPr>
              <a:t>mejoras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90" dirty="0">
                <a:latin typeface="Arial"/>
                <a:cs typeface="Arial"/>
              </a:rPr>
              <a:t>la  </a:t>
            </a:r>
            <a:r>
              <a:rPr sz="2200" spc="-85" dirty="0">
                <a:latin typeface="Arial"/>
                <a:cs typeface="Arial"/>
              </a:rPr>
              <a:t>solución </a:t>
            </a:r>
            <a:r>
              <a:rPr sz="2200" spc="-110" dirty="0">
                <a:latin typeface="Arial"/>
                <a:cs typeface="Arial"/>
              </a:rPr>
              <a:t>para </a:t>
            </a:r>
            <a:r>
              <a:rPr sz="2200" spc="-90" dirty="0">
                <a:latin typeface="Arial"/>
                <a:cs typeface="Arial"/>
              </a:rPr>
              <a:t>que </a:t>
            </a:r>
            <a:r>
              <a:rPr sz="2200" spc="-100" dirty="0">
                <a:latin typeface="Arial"/>
                <a:cs typeface="Arial"/>
              </a:rPr>
              <a:t>tenga </a:t>
            </a:r>
            <a:r>
              <a:rPr sz="2200" spc="-105" dirty="0">
                <a:latin typeface="Arial"/>
                <a:cs typeface="Arial"/>
              </a:rPr>
              <a:t>una </a:t>
            </a:r>
            <a:r>
              <a:rPr sz="2200" spc="-85" dirty="0">
                <a:latin typeface="Arial"/>
                <a:cs typeface="Arial"/>
              </a:rPr>
              <a:t>vida </a:t>
            </a:r>
            <a:r>
              <a:rPr sz="2200" spc="15" dirty="0">
                <a:latin typeface="Arial"/>
                <a:cs typeface="Arial"/>
              </a:rPr>
              <a:t>útil</a:t>
            </a:r>
            <a:r>
              <a:rPr sz="2200" spc="-285" dirty="0">
                <a:latin typeface="Arial"/>
                <a:cs typeface="Arial"/>
              </a:rPr>
              <a:t> </a:t>
            </a:r>
            <a:r>
              <a:rPr sz="2200" spc="-165" dirty="0">
                <a:latin typeface="Arial"/>
                <a:cs typeface="Arial"/>
              </a:rPr>
              <a:t>más </a:t>
            </a:r>
            <a:r>
              <a:rPr sz="2200" spc="-105" dirty="0">
                <a:latin typeface="Arial"/>
                <a:cs typeface="Arial"/>
              </a:rPr>
              <a:t>larga.</a:t>
            </a:r>
            <a:endParaRPr sz="22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AutoNum type="arabicPeriod" startAt="7"/>
              <a:tabLst>
                <a:tab pos="470534" algn="l"/>
              </a:tabLst>
            </a:pPr>
            <a:r>
              <a:rPr sz="2200" b="1" spc="-110" dirty="0">
                <a:latin typeface="Trebuchet MS"/>
                <a:cs typeface="Trebuchet MS"/>
              </a:rPr>
              <a:t>Auditoria </a:t>
            </a:r>
            <a:r>
              <a:rPr sz="2200" b="1" spc="-135" dirty="0">
                <a:latin typeface="Trebuchet MS"/>
                <a:cs typeface="Trebuchet MS"/>
              </a:rPr>
              <a:t>y control: </a:t>
            </a:r>
            <a:r>
              <a:rPr sz="2200" spc="-185" dirty="0">
                <a:latin typeface="Arial"/>
                <a:cs typeface="Arial"/>
              </a:rPr>
              <a:t>se </a:t>
            </a:r>
            <a:r>
              <a:rPr sz="2200" spc="-35" dirty="0">
                <a:latin typeface="Arial"/>
                <a:cs typeface="Arial"/>
              </a:rPr>
              <a:t>trata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120" dirty="0">
                <a:latin typeface="Arial"/>
                <a:cs typeface="Arial"/>
              </a:rPr>
              <a:t>asegurar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100" dirty="0">
                <a:latin typeface="Arial"/>
                <a:cs typeface="Arial"/>
              </a:rPr>
              <a:t>calidad de </a:t>
            </a:r>
            <a:r>
              <a:rPr sz="2200" spc="-85" dirty="0">
                <a:latin typeface="Arial"/>
                <a:cs typeface="Arial"/>
              </a:rPr>
              <a:t>la </a:t>
            </a:r>
            <a:r>
              <a:rPr sz="2200" spc="-90" dirty="0">
                <a:latin typeface="Arial"/>
                <a:cs typeface="Arial"/>
              </a:rPr>
              <a:t>solución </a:t>
            </a:r>
            <a:r>
              <a:rPr sz="2200" spc="-165" dirty="0">
                <a:latin typeface="Arial"/>
                <a:cs typeface="Arial"/>
              </a:rPr>
              <a:t>(</a:t>
            </a:r>
            <a:r>
              <a:rPr sz="2200" i="1" spc="-165" dirty="0">
                <a:latin typeface="Trebuchet MS"/>
                <a:cs typeface="Trebuchet MS"/>
              </a:rPr>
              <a:t>Total  </a:t>
            </a:r>
            <a:r>
              <a:rPr sz="2200" i="1" spc="-120" dirty="0">
                <a:latin typeface="Trebuchet MS"/>
                <a:cs typeface="Trebuchet MS"/>
              </a:rPr>
              <a:t>Quality </a:t>
            </a:r>
            <a:r>
              <a:rPr sz="2200" i="1" spc="-85" dirty="0">
                <a:latin typeface="Trebuchet MS"/>
                <a:cs typeface="Trebuchet MS"/>
              </a:rPr>
              <a:t>Assurance</a:t>
            </a:r>
            <a:r>
              <a:rPr sz="2200" spc="-85" dirty="0">
                <a:latin typeface="Arial"/>
                <a:cs typeface="Arial"/>
              </a:rPr>
              <a:t>). </a:t>
            </a:r>
            <a:r>
              <a:rPr sz="2200" spc="-295" dirty="0">
                <a:latin typeface="Arial"/>
                <a:cs typeface="Arial"/>
              </a:rPr>
              <a:t>Se </a:t>
            </a:r>
            <a:r>
              <a:rPr sz="2200" spc="-100" dirty="0">
                <a:latin typeface="Arial"/>
                <a:cs typeface="Arial"/>
              </a:rPr>
              <a:t>debe </a:t>
            </a:r>
            <a:r>
              <a:rPr sz="2200" spc="-85" dirty="0">
                <a:latin typeface="Arial"/>
                <a:cs typeface="Arial"/>
              </a:rPr>
              <a:t>realizar </a:t>
            </a:r>
            <a:r>
              <a:rPr sz="2200" spc="-170" dirty="0">
                <a:latin typeface="Arial"/>
                <a:cs typeface="Arial"/>
              </a:rPr>
              <a:t>a </a:t>
            </a:r>
            <a:r>
              <a:rPr sz="2200" spc="-30" dirty="0">
                <a:latin typeface="Arial"/>
                <a:cs typeface="Arial"/>
              </a:rPr>
              <a:t>lo </a:t>
            </a:r>
            <a:r>
              <a:rPr sz="2200" spc="-85" dirty="0">
                <a:latin typeface="Arial"/>
                <a:cs typeface="Arial"/>
              </a:rPr>
              <a:t>largo </a:t>
            </a:r>
            <a:r>
              <a:rPr sz="2200" spc="-100" dirty="0">
                <a:latin typeface="Arial"/>
                <a:cs typeface="Arial"/>
              </a:rPr>
              <a:t>de </a:t>
            </a:r>
            <a:r>
              <a:rPr sz="2200" spc="-25" dirty="0">
                <a:latin typeface="Arial"/>
                <a:cs typeface="Arial"/>
              </a:rPr>
              <a:t>todo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27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desarrollo.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09640" y="2752344"/>
            <a:ext cx="93726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80" dirty="0">
                <a:latin typeface="Arial"/>
                <a:cs typeface="Arial"/>
              </a:rPr>
              <a:t>provocar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6722" y="2752344"/>
            <a:ext cx="22879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511935" algn="l"/>
                <a:tab pos="1543685" algn="l"/>
                <a:tab pos="1981835" algn="l"/>
              </a:tabLst>
            </a:pPr>
            <a:r>
              <a:rPr sz="2000" spc="-95" dirty="0">
                <a:latin typeface="Arial"/>
                <a:cs typeface="Arial"/>
              </a:rPr>
              <a:t>operaciones		</a:t>
            </a:r>
            <a:r>
              <a:rPr sz="2000" spc="-80" dirty="0">
                <a:latin typeface="Arial"/>
                <a:cs typeface="Arial"/>
              </a:rPr>
              <a:t>diarias  </a:t>
            </a:r>
            <a:r>
              <a:rPr sz="2000" spc="-50" dirty="0">
                <a:latin typeface="Arial"/>
                <a:cs typeface="Arial"/>
              </a:rPr>
              <a:t>inc</a:t>
            </a:r>
            <a:r>
              <a:rPr sz="2000" spc="-55" dirty="0">
                <a:latin typeface="Arial"/>
                <a:cs typeface="Arial"/>
              </a:rPr>
              <a:t>r</a:t>
            </a:r>
            <a:r>
              <a:rPr sz="2000" spc="-95" dirty="0">
                <a:latin typeface="Arial"/>
                <a:cs typeface="Arial"/>
              </a:rPr>
              <a:t>eme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90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o</a:t>
            </a:r>
            <a:r>
              <a:rPr sz="2000" spc="-135" dirty="0">
                <a:latin typeface="Arial"/>
                <a:cs typeface="Arial"/>
              </a:rPr>
              <a:t>s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en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los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67888" y="2752344"/>
            <a:ext cx="2595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5875">
              <a:lnSpc>
                <a:spcPct val="100000"/>
              </a:lnSpc>
              <a:spcBef>
                <a:spcPts val="95"/>
              </a:spcBef>
              <a:tabLst>
                <a:tab pos="560070" algn="l"/>
                <a:tab pos="875030" algn="l"/>
                <a:tab pos="1220470" algn="l"/>
              </a:tabLst>
            </a:pPr>
            <a:r>
              <a:rPr sz="2000" spc="-95" dirty="0">
                <a:latin typeface="Arial"/>
                <a:cs typeface="Arial"/>
              </a:rPr>
              <a:t>de	una	</a:t>
            </a:r>
            <a:r>
              <a:rPr sz="2000" spc="-25" dirty="0">
                <a:latin typeface="Arial"/>
                <a:cs typeface="Arial"/>
              </a:rPr>
              <a:t>o</a:t>
            </a:r>
            <a:r>
              <a:rPr sz="2000" spc="-45" dirty="0">
                <a:latin typeface="Arial"/>
                <a:cs typeface="Arial"/>
              </a:rPr>
              <a:t>r</a:t>
            </a:r>
            <a:r>
              <a:rPr sz="2000" spc="-215" dirty="0">
                <a:latin typeface="Arial"/>
                <a:cs typeface="Arial"/>
              </a:rPr>
              <a:t>g</a:t>
            </a:r>
            <a:r>
              <a:rPr sz="2000" spc="-105" dirty="0">
                <a:latin typeface="Arial"/>
                <a:cs typeface="Arial"/>
              </a:rPr>
              <a:t>ani</a:t>
            </a:r>
            <a:r>
              <a:rPr sz="2000" spc="-150" dirty="0">
                <a:latin typeface="Arial"/>
                <a:cs typeface="Arial"/>
              </a:rPr>
              <a:t>z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ión,  </a:t>
            </a:r>
            <a:r>
              <a:rPr sz="2000" spc="-114" dirty="0">
                <a:latin typeface="Arial"/>
                <a:cs typeface="Arial"/>
              </a:rPr>
              <a:t>costos	</a:t>
            </a:r>
            <a:r>
              <a:rPr sz="2000" spc="-225" dirty="0">
                <a:latin typeface="Arial"/>
                <a:cs typeface="Arial"/>
              </a:rPr>
              <a:t>y,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0296" y="3057144"/>
            <a:ext cx="25469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1965" algn="l"/>
                <a:tab pos="2145030" algn="l"/>
              </a:tabLst>
            </a:pPr>
            <a:r>
              <a:rPr sz="2000" spc="-95" dirty="0">
                <a:latin typeface="Arial"/>
                <a:cs typeface="Arial"/>
              </a:rPr>
              <a:t>en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125" dirty="0">
                <a:latin typeface="Arial"/>
                <a:cs typeface="Arial"/>
              </a:rPr>
              <a:t>on</a:t>
            </a:r>
            <a:r>
              <a:rPr sz="2000" spc="-105" dirty="0">
                <a:latin typeface="Arial"/>
                <a:cs typeface="Arial"/>
              </a:rPr>
              <a:t>s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110" dirty="0">
                <a:latin typeface="Arial"/>
                <a:cs typeface="Arial"/>
              </a:rPr>
              <a:t>uen</a:t>
            </a:r>
            <a:r>
              <a:rPr sz="2000" spc="-90" dirty="0">
                <a:latin typeface="Arial"/>
                <a:cs typeface="Arial"/>
              </a:rPr>
              <a:t>c</a:t>
            </a:r>
            <a:r>
              <a:rPr sz="2000" spc="-45" dirty="0">
                <a:latin typeface="Arial"/>
                <a:cs typeface="Arial"/>
              </a:rPr>
              <a:t>i</a:t>
            </a:r>
            <a:r>
              <a:rPr sz="2000" spc="-90" dirty="0">
                <a:latin typeface="Arial"/>
                <a:cs typeface="Arial"/>
              </a:rPr>
              <a:t>a</a:t>
            </a:r>
            <a:r>
              <a:rPr sz="2000" spc="-60" dirty="0">
                <a:latin typeface="Arial"/>
                <a:cs typeface="Arial"/>
              </a:rPr>
              <a:t>,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una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722" y="3361944"/>
            <a:ext cx="30638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70" dirty="0">
                <a:latin typeface="Arial"/>
                <a:cs typeface="Arial"/>
              </a:rPr>
              <a:t>disminución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las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utilidades.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268" y="3666744"/>
            <a:ext cx="22853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  <a:tab pos="1376680" algn="l"/>
              </a:tabLst>
            </a:pPr>
            <a:r>
              <a:rPr sz="2000" spc="-180" dirty="0">
                <a:latin typeface="Arial"/>
                <a:cs typeface="Arial"/>
              </a:rPr>
              <a:t>¿Cómo	</a:t>
            </a:r>
            <a:r>
              <a:rPr sz="2000" spc="-110" dirty="0">
                <a:latin typeface="Arial"/>
                <a:cs typeface="Arial"/>
              </a:rPr>
              <a:t>asegurar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4017" y="3666744"/>
            <a:ext cx="42633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7190" algn="l"/>
                <a:tab pos="1296035" algn="l"/>
                <a:tab pos="1740535" algn="l"/>
                <a:tab pos="2105660" algn="l"/>
                <a:tab pos="3148965" algn="l"/>
              </a:tabLst>
            </a:pPr>
            <a:r>
              <a:rPr sz="2000" spc="-75" dirty="0">
                <a:latin typeface="Arial"/>
                <a:cs typeface="Arial"/>
              </a:rPr>
              <a:t>la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10" dirty="0">
                <a:latin typeface="Arial"/>
                <a:cs typeface="Arial"/>
              </a:rPr>
              <a:t>l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-100" dirty="0">
                <a:latin typeface="Arial"/>
                <a:cs typeface="Arial"/>
              </a:rPr>
              <a:t>da</a:t>
            </a:r>
            <a:r>
              <a:rPr sz="2000" spc="-95" dirty="0">
                <a:latin typeface="Arial"/>
                <a:cs typeface="Arial"/>
              </a:rPr>
              <a:t>d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5" dirty="0">
                <a:latin typeface="Arial"/>
                <a:cs typeface="Arial"/>
              </a:rPr>
              <a:t>la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40" dirty="0">
                <a:latin typeface="Arial"/>
                <a:cs typeface="Arial"/>
              </a:rPr>
              <a:t>s</a:t>
            </a:r>
            <a:r>
              <a:rPr sz="2000" spc="-145" dirty="0">
                <a:latin typeface="Arial"/>
                <a:cs typeface="Arial"/>
              </a:rPr>
              <a:t>o</a:t>
            </a:r>
            <a:r>
              <a:rPr sz="2000" spc="-55" dirty="0">
                <a:latin typeface="Arial"/>
                <a:cs typeface="Arial"/>
              </a:rPr>
              <a:t>lución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adqu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30" dirty="0">
                <a:latin typeface="Arial"/>
                <a:cs typeface="Arial"/>
              </a:rPr>
              <a:t>r</a:t>
            </a:r>
            <a:r>
              <a:rPr sz="2000" spc="-100" dirty="0">
                <a:latin typeface="Arial"/>
                <a:cs typeface="Arial"/>
              </a:rPr>
              <a:t>ida?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6722" y="3971544"/>
            <a:ext cx="6251575" cy="2284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0" dirty="0">
                <a:latin typeface="Arial"/>
                <a:cs typeface="Arial"/>
              </a:rPr>
              <a:t>Observar:</a:t>
            </a:r>
            <a:endParaRPr sz="2000">
              <a:latin typeface="Arial"/>
              <a:cs typeface="Arial"/>
            </a:endParaRPr>
          </a:p>
          <a:p>
            <a:pPr marL="186690" indent="-17399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 satisfaga </a:t>
            </a:r>
            <a:r>
              <a:rPr sz="1600" i="1" spc="-75" dirty="0">
                <a:latin typeface="Trebuchet MS"/>
                <a:cs typeface="Trebuchet MS"/>
              </a:rPr>
              <a:t>cumpla </a:t>
            </a:r>
            <a:r>
              <a:rPr sz="1600" i="1" spc="-60" dirty="0">
                <a:latin typeface="Trebuchet MS"/>
                <a:cs typeface="Trebuchet MS"/>
              </a:rPr>
              <a:t>con </a:t>
            </a:r>
            <a:r>
              <a:rPr sz="1600" i="1" spc="-70" dirty="0">
                <a:latin typeface="Trebuchet MS"/>
                <a:cs typeface="Trebuchet MS"/>
              </a:rPr>
              <a:t>los </a:t>
            </a:r>
            <a:r>
              <a:rPr sz="1600" i="1" spc="-95" dirty="0">
                <a:latin typeface="Trebuchet MS"/>
                <a:cs typeface="Trebuchet MS"/>
              </a:rPr>
              <a:t>objetivos </a:t>
            </a:r>
            <a:r>
              <a:rPr sz="1600" i="1" spc="-220" dirty="0">
                <a:latin typeface="Trebuchet MS"/>
                <a:cs typeface="Trebuchet MS"/>
              </a:rPr>
              <a:t>/ </a:t>
            </a:r>
            <a:r>
              <a:rPr sz="1600" i="1" spc="-95" dirty="0">
                <a:latin typeface="Trebuchet MS"/>
                <a:cs typeface="Trebuchet MS"/>
              </a:rPr>
              <a:t>requerimientos </a:t>
            </a:r>
            <a:r>
              <a:rPr sz="1600" i="1" spc="-110" dirty="0">
                <a:latin typeface="Trebuchet MS"/>
                <a:cs typeface="Trebuchet MS"/>
              </a:rPr>
              <a:t>del</a:t>
            </a:r>
            <a:r>
              <a:rPr sz="1600" i="1" spc="-310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usuario.</a:t>
            </a:r>
            <a:endParaRPr sz="1600">
              <a:latin typeface="Trebuchet MS"/>
              <a:cs typeface="Trebuchet MS"/>
            </a:endParaRPr>
          </a:p>
          <a:p>
            <a:pPr marL="186690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 </a:t>
            </a:r>
            <a:r>
              <a:rPr sz="1600" i="1" spc="-90" dirty="0">
                <a:latin typeface="Trebuchet MS"/>
                <a:cs typeface="Trebuchet MS"/>
              </a:rPr>
              <a:t>opere </a:t>
            </a:r>
            <a:r>
              <a:rPr sz="1600" i="1" spc="-60" dirty="0">
                <a:latin typeface="Trebuchet MS"/>
                <a:cs typeface="Trebuchet MS"/>
              </a:rPr>
              <a:t>con </a:t>
            </a:r>
            <a:r>
              <a:rPr sz="1600" i="1" spc="-90" dirty="0">
                <a:latin typeface="Trebuchet MS"/>
                <a:cs typeface="Trebuchet MS"/>
              </a:rPr>
              <a:t>alta </a:t>
            </a:r>
            <a:r>
              <a:rPr sz="1600" i="1" spc="-95" dirty="0">
                <a:latin typeface="Trebuchet MS"/>
                <a:cs typeface="Trebuchet MS"/>
              </a:rPr>
              <a:t>confiabilidad, </a:t>
            </a:r>
            <a:r>
              <a:rPr sz="1600" i="1" spc="-60" dirty="0">
                <a:latin typeface="Trebuchet MS"/>
                <a:cs typeface="Trebuchet MS"/>
              </a:rPr>
              <a:t>es </a:t>
            </a:r>
            <a:r>
              <a:rPr sz="1600" i="1" spc="-135" dirty="0">
                <a:latin typeface="Trebuchet MS"/>
                <a:cs typeface="Trebuchet MS"/>
              </a:rPr>
              <a:t>decir,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50" dirty="0">
                <a:latin typeface="Trebuchet MS"/>
                <a:cs typeface="Trebuchet MS"/>
              </a:rPr>
              <a:t>no </a:t>
            </a:r>
            <a:r>
              <a:rPr sz="1600" i="1" spc="-60" dirty="0">
                <a:latin typeface="Trebuchet MS"/>
                <a:cs typeface="Trebuchet MS"/>
              </a:rPr>
              <a:t>se </a:t>
            </a:r>
            <a:r>
              <a:rPr sz="1600" i="1" spc="-100" dirty="0">
                <a:latin typeface="Trebuchet MS"/>
                <a:cs typeface="Trebuchet MS"/>
              </a:rPr>
              <a:t>detecten </a:t>
            </a:r>
            <a:r>
              <a:rPr sz="1600" i="1" spc="-90" dirty="0">
                <a:latin typeface="Trebuchet MS"/>
                <a:cs typeface="Trebuchet MS"/>
              </a:rPr>
              <a:t>errores</a:t>
            </a:r>
            <a:r>
              <a:rPr sz="1600" i="1" spc="-70" dirty="0">
                <a:latin typeface="Trebuchet MS"/>
                <a:cs typeface="Trebuchet MS"/>
              </a:rPr>
              <a:t> </a:t>
            </a:r>
            <a:r>
              <a:rPr sz="1600" i="1" spc="-65" dirty="0">
                <a:latin typeface="Trebuchet MS"/>
                <a:cs typeface="Trebuchet MS"/>
              </a:rPr>
              <a:t>con</a:t>
            </a:r>
            <a:endParaRPr sz="1600">
              <a:latin typeface="Trebuchet MS"/>
              <a:cs typeface="Trebuchet MS"/>
            </a:endParaRPr>
          </a:p>
          <a:p>
            <a:pPr marL="186690">
              <a:lnSpc>
                <a:spcPct val="100000"/>
              </a:lnSpc>
            </a:pPr>
            <a:r>
              <a:rPr sz="1600" i="1" spc="-100" dirty="0">
                <a:latin typeface="Trebuchet MS"/>
                <a:cs typeface="Trebuchet MS"/>
              </a:rPr>
              <a:t>frecuencia.</a:t>
            </a:r>
            <a:endParaRPr sz="1600">
              <a:latin typeface="Trebuchet MS"/>
              <a:cs typeface="Trebuchet MS"/>
            </a:endParaRPr>
          </a:p>
          <a:p>
            <a:pPr marL="186690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50" dirty="0">
                <a:latin typeface="Trebuchet MS"/>
                <a:cs typeface="Trebuchet MS"/>
              </a:rPr>
              <a:t>sea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70" dirty="0">
                <a:latin typeface="Trebuchet MS"/>
                <a:cs typeface="Trebuchet MS"/>
              </a:rPr>
              <a:t>entregado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20" dirty="0">
                <a:latin typeface="Trebuchet MS"/>
                <a:cs typeface="Trebuchet MS"/>
              </a:rPr>
              <a:t>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90" dirty="0">
                <a:latin typeface="Trebuchet MS"/>
                <a:cs typeface="Trebuchet MS"/>
              </a:rPr>
              <a:t>tiempo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60" dirty="0">
                <a:latin typeface="Trebuchet MS"/>
                <a:cs typeface="Trebuchet MS"/>
              </a:rPr>
              <a:t>para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poder</a:t>
            </a:r>
            <a:r>
              <a:rPr sz="1600" i="1" spc="-114" dirty="0">
                <a:latin typeface="Trebuchet MS"/>
                <a:cs typeface="Trebuchet MS"/>
              </a:rPr>
              <a:t> </a:t>
            </a:r>
            <a:r>
              <a:rPr sz="1600" i="1" spc="-95" dirty="0">
                <a:latin typeface="Trebuchet MS"/>
                <a:cs typeface="Trebuchet MS"/>
              </a:rPr>
              <a:t>iniciar</a:t>
            </a:r>
            <a:r>
              <a:rPr sz="1600" i="1" spc="-130" dirty="0">
                <a:latin typeface="Trebuchet MS"/>
                <a:cs typeface="Trebuchet MS"/>
              </a:rPr>
              <a:t> </a:t>
            </a:r>
            <a:r>
              <a:rPr sz="1600" i="1" spc="-50" dirty="0">
                <a:latin typeface="Trebuchet MS"/>
                <a:cs typeface="Trebuchet MS"/>
              </a:rPr>
              <a:t>su</a:t>
            </a:r>
            <a:r>
              <a:rPr sz="1600" i="1" spc="-120" dirty="0">
                <a:latin typeface="Trebuchet MS"/>
                <a:cs typeface="Trebuchet MS"/>
              </a:rPr>
              <a:t> </a:t>
            </a:r>
            <a:r>
              <a:rPr sz="1600" i="1" spc="-85" dirty="0">
                <a:latin typeface="Trebuchet MS"/>
                <a:cs typeface="Trebuchet MS"/>
              </a:rPr>
              <a:t>operación.</a:t>
            </a:r>
            <a:endParaRPr sz="1600">
              <a:latin typeface="Trebuchet MS"/>
              <a:cs typeface="Trebuchet MS"/>
            </a:endParaRPr>
          </a:p>
          <a:p>
            <a:pPr marL="186690" marR="6350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65" dirty="0">
                <a:latin typeface="Trebuchet MS"/>
                <a:cs typeface="Trebuchet MS"/>
              </a:rPr>
              <a:t>Que </a:t>
            </a:r>
            <a:r>
              <a:rPr sz="1600" i="1" spc="-75" dirty="0">
                <a:latin typeface="Trebuchet MS"/>
                <a:cs typeface="Trebuchet MS"/>
              </a:rPr>
              <a:t>cumpla </a:t>
            </a:r>
            <a:r>
              <a:rPr sz="1600" i="1" spc="-60" dirty="0">
                <a:latin typeface="Trebuchet MS"/>
                <a:cs typeface="Trebuchet MS"/>
              </a:rPr>
              <a:t>con </a:t>
            </a:r>
            <a:r>
              <a:rPr sz="1600" i="1" spc="-70" dirty="0">
                <a:latin typeface="Trebuchet MS"/>
                <a:cs typeface="Trebuchet MS"/>
              </a:rPr>
              <a:t>los </a:t>
            </a:r>
            <a:r>
              <a:rPr sz="1600" i="1" spc="-95" dirty="0">
                <a:latin typeface="Trebuchet MS"/>
                <a:cs typeface="Trebuchet MS"/>
              </a:rPr>
              <a:t>requerimientos </a:t>
            </a:r>
            <a:r>
              <a:rPr sz="1600" i="1" spc="-85" dirty="0">
                <a:latin typeface="Trebuchet MS"/>
                <a:cs typeface="Trebuchet MS"/>
              </a:rPr>
              <a:t>de </a:t>
            </a:r>
            <a:r>
              <a:rPr sz="1600" i="1" spc="-95" dirty="0">
                <a:latin typeface="Trebuchet MS"/>
                <a:cs typeface="Trebuchet MS"/>
              </a:rPr>
              <a:t>presupuesto,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50" dirty="0">
                <a:latin typeface="Trebuchet MS"/>
                <a:cs typeface="Trebuchet MS"/>
              </a:rPr>
              <a:t>no sea </a:t>
            </a:r>
            <a:r>
              <a:rPr sz="1600" i="1" spc="-75" dirty="0">
                <a:latin typeface="Trebuchet MS"/>
                <a:cs typeface="Trebuchet MS"/>
              </a:rPr>
              <a:t>muy  </a:t>
            </a:r>
            <a:r>
              <a:rPr sz="1600" i="1" spc="-65" dirty="0">
                <a:latin typeface="Trebuchet MS"/>
                <a:cs typeface="Trebuchet MS"/>
              </a:rPr>
              <a:t>costoso </a:t>
            </a:r>
            <a:r>
              <a:rPr sz="1600" i="1" spc="-40" dirty="0">
                <a:latin typeface="Trebuchet MS"/>
                <a:cs typeface="Trebuchet MS"/>
              </a:rPr>
              <a:t>o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120" dirty="0">
                <a:latin typeface="Trebuchet MS"/>
                <a:cs typeface="Trebuchet MS"/>
              </a:rPr>
              <a:t>el </a:t>
            </a:r>
            <a:r>
              <a:rPr sz="1600" i="1" spc="-75" dirty="0">
                <a:latin typeface="Trebuchet MS"/>
                <a:cs typeface="Trebuchet MS"/>
              </a:rPr>
              <a:t>costo </a:t>
            </a:r>
            <a:r>
              <a:rPr sz="1600" i="1" spc="-95" dirty="0">
                <a:latin typeface="Trebuchet MS"/>
                <a:cs typeface="Trebuchet MS"/>
              </a:rPr>
              <a:t>lo</a:t>
            </a:r>
            <a:r>
              <a:rPr sz="1600" i="1" spc="-340" dirty="0">
                <a:latin typeface="Trebuchet MS"/>
                <a:cs typeface="Trebuchet MS"/>
              </a:rPr>
              <a:t> </a:t>
            </a:r>
            <a:r>
              <a:rPr sz="1600" i="1" spc="-120" dirty="0">
                <a:latin typeface="Trebuchet MS"/>
                <a:cs typeface="Trebuchet MS"/>
              </a:rPr>
              <a:t>justifique.</a:t>
            </a:r>
            <a:endParaRPr sz="1600">
              <a:latin typeface="Trebuchet MS"/>
              <a:cs typeface="Trebuchet MS"/>
            </a:endParaRPr>
          </a:p>
          <a:p>
            <a:pPr marL="186690" marR="5715" indent="-173990">
              <a:lnSpc>
                <a:spcPct val="100000"/>
              </a:lnSpc>
              <a:buFont typeface="Arial"/>
              <a:buChar char="•"/>
              <a:tabLst>
                <a:tab pos="187325" algn="l"/>
              </a:tabLst>
            </a:pPr>
            <a:r>
              <a:rPr sz="1600" i="1" spc="-75" dirty="0">
                <a:latin typeface="Trebuchet MS"/>
                <a:cs typeface="Trebuchet MS"/>
              </a:rPr>
              <a:t>Haber evaluado </a:t>
            </a:r>
            <a:r>
              <a:rPr sz="1600" i="1" spc="-85" dirty="0">
                <a:latin typeface="Trebuchet MS"/>
                <a:cs typeface="Trebuchet MS"/>
              </a:rPr>
              <a:t>la </a:t>
            </a:r>
            <a:r>
              <a:rPr sz="1600" i="1" spc="-65" dirty="0">
                <a:latin typeface="Trebuchet MS"/>
                <a:cs typeface="Trebuchet MS"/>
              </a:rPr>
              <a:t>magnitud </a:t>
            </a:r>
            <a:r>
              <a:rPr sz="1600" i="1" spc="-85" dirty="0">
                <a:latin typeface="Trebuchet MS"/>
                <a:cs typeface="Trebuchet MS"/>
              </a:rPr>
              <a:t>de </a:t>
            </a:r>
            <a:r>
              <a:rPr sz="1600" i="1" spc="-65" dirty="0">
                <a:latin typeface="Trebuchet MS"/>
                <a:cs typeface="Trebuchet MS"/>
              </a:rPr>
              <a:t>las adecuaciones </a:t>
            </a:r>
            <a:r>
              <a:rPr sz="1600" i="1" spc="-110" dirty="0">
                <a:latin typeface="Trebuchet MS"/>
                <a:cs typeface="Trebuchet MS"/>
              </a:rPr>
              <a:t>del </a:t>
            </a:r>
            <a:r>
              <a:rPr sz="1600" i="1" spc="-85" dirty="0">
                <a:latin typeface="Trebuchet MS"/>
                <a:cs typeface="Trebuchet MS"/>
              </a:rPr>
              <a:t>paquete </a:t>
            </a:r>
            <a:r>
              <a:rPr sz="1600" i="1" spc="-60" dirty="0">
                <a:latin typeface="Trebuchet MS"/>
                <a:cs typeface="Trebuchet MS"/>
              </a:rPr>
              <a:t>para </a:t>
            </a:r>
            <a:r>
              <a:rPr sz="1600" i="1" spc="-90" dirty="0">
                <a:latin typeface="Trebuchet MS"/>
                <a:cs typeface="Trebuchet MS"/>
              </a:rPr>
              <a:t>la  </a:t>
            </a:r>
            <a:r>
              <a:rPr sz="1600" i="1" spc="-70" dirty="0">
                <a:latin typeface="Trebuchet MS"/>
                <a:cs typeface="Trebuchet MS"/>
              </a:rPr>
              <a:t>empresa </a:t>
            </a:r>
            <a:r>
              <a:rPr sz="1600" i="1" spc="-80" dirty="0">
                <a:latin typeface="Trebuchet MS"/>
                <a:cs typeface="Trebuchet MS"/>
              </a:rPr>
              <a:t>que </a:t>
            </a:r>
            <a:r>
              <a:rPr sz="1600" i="1" spc="-95" dirty="0">
                <a:latin typeface="Trebuchet MS"/>
                <a:cs typeface="Trebuchet MS"/>
              </a:rPr>
              <a:t>lo</a:t>
            </a:r>
            <a:r>
              <a:rPr sz="1600" i="1" spc="-229" dirty="0">
                <a:latin typeface="Trebuchet MS"/>
                <a:cs typeface="Trebuchet MS"/>
              </a:rPr>
              <a:t> </a:t>
            </a:r>
            <a:r>
              <a:rPr sz="1600" i="1" spc="-95" dirty="0">
                <a:latin typeface="Trebuchet MS"/>
                <a:cs typeface="Trebuchet MS"/>
              </a:rPr>
              <a:t>adquiere.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68" y="982625"/>
            <a:ext cx="6709409" cy="179514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890"/>
              </a:spcBef>
              <a:tabLst>
                <a:tab pos="614045" algn="l"/>
              </a:tabLst>
            </a:pPr>
            <a:r>
              <a:rPr sz="2400" b="1" spc="-220" dirty="0">
                <a:latin typeface="Trebuchet MS"/>
                <a:cs typeface="Trebuchet MS"/>
              </a:rPr>
              <a:t>2.	</a:t>
            </a:r>
            <a:r>
              <a:rPr sz="2400" b="1" spc="-140" dirty="0">
                <a:latin typeface="Trebuchet MS"/>
                <a:cs typeface="Trebuchet MS"/>
              </a:rPr>
              <a:t>Compra de</a:t>
            </a:r>
            <a:r>
              <a:rPr sz="2400" b="1" spc="-235" dirty="0">
                <a:latin typeface="Trebuchet MS"/>
                <a:cs typeface="Trebuchet MS"/>
              </a:rPr>
              <a:t> </a:t>
            </a:r>
            <a:r>
              <a:rPr sz="2400" b="1" spc="-135" dirty="0">
                <a:latin typeface="Trebuchet MS"/>
                <a:cs typeface="Trebuchet MS"/>
              </a:rPr>
              <a:t>paquetes</a:t>
            </a:r>
            <a:endParaRPr sz="2400">
              <a:latin typeface="Trebuchet MS"/>
              <a:cs typeface="Trebuchet MS"/>
            </a:endParaRPr>
          </a:p>
          <a:p>
            <a:pPr marL="469900" indent="-457200">
              <a:lnSpc>
                <a:spcPct val="100000"/>
              </a:lnSpc>
              <a:spcBef>
                <a:spcPts val="660"/>
              </a:spcBef>
              <a:buChar char="•"/>
              <a:tabLst>
                <a:tab pos="469900" algn="l"/>
                <a:tab pos="470534" algn="l"/>
              </a:tabLst>
            </a:pPr>
            <a:r>
              <a:rPr sz="2000" spc="-130" dirty="0">
                <a:latin typeface="Arial"/>
                <a:cs typeface="Arial"/>
              </a:rPr>
              <a:t>Consiste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35" dirty="0">
                <a:latin typeface="Arial"/>
                <a:cs typeface="Arial"/>
              </a:rPr>
              <a:t>adquirir </a:t>
            </a:r>
            <a:r>
              <a:rPr sz="2000" spc="-90" dirty="0">
                <a:latin typeface="Arial"/>
                <a:cs typeface="Arial"/>
              </a:rPr>
              <a:t>(mercado) </a:t>
            </a:r>
            <a:r>
              <a:rPr sz="2000" spc="-45" dirty="0">
                <a:latin typeface="Arial"/>
                <a:cs typeface="Arial"/>
              </a:rPr>
              <a:t>la/s </a:t>
            </a:r>
            <a:r>
              <a:rPr sz="2000" spc="-75" dirty="0">
                <a:latin typeface="Arial"/>
                <a:cs typeface="Arial"/>
              </a:rPr>
              <a:t>solucione/s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requerida/s.</a:t>
            </a:r>
            <a:endParaRPr sz="2000">
              <a:latin typeface="Arial"/>
              <a:cs typeface="Arial"/>
            </a:endParaRPr>
          </a:p>
          <a:p>
            <a:pPr marL="469900" marR="5080" indent="-457200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sz="2000" spc="-265" dirty="0">
                <a:latin typeface="Arial"/>
                <a:cs typeface="Arial"/>
              </a:rPr>
              <a:t>Se </a:t>
            </a:r>
            <a:r>
              <a:rPr sz="2000" spc="-105" dirty="0">
                <a:latin typeface="Arial"/>
                <a:cs typeface="Arial"/>
              </a:rPr>
              <a:t>observa </a:t>
            </a:r>
            <a:r>
              <a:rPr sz="2000" spc="-100" dirty="0">
                <a:latin typeface="Arial"/>
                <a:cs typeface="Arial"/>
              </a:rPr>
              <a:t>y analiza, </a:t>
            </a:r>
            <a:r>
              <a:rPr sz="2000" spc="-40" dirty="0">
                <a:latin typeface="Arial"/>
                <a:cs typeface="Arial"/>
              </a:rPr>
              <a:t>entre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95" dirty="0">
                <a:latin typeface="Arial"/>
                <a:cs typeface="Arial"/>
              </a:rPr>
              <a:t>soluciones </a:t>
            </a:r>
            <a:r>
              <a:rPr sz="2000" spc="-80" dirty="0">
                <a:latin typeface="Arial"/>
                <a:cs typeface="Arial"/>
              </a:rPr>
              <a:t>disponibles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0" dirty="0">
                <a:latin typeface="Arial"/>
                <a:cs typeface="Arial"/>
              </a:rPr>
              <a:t>el  </a:t>
            </a:r>
            <a:r>
              <a:rPr sz="2000" spc="-95" dirty="0">
                <a:latin typeface="Arial"/>
                <a:cs typeface="Arial"/>
              </a:rPr>
              <a:t>mercado </a:t>
            </a:r>
            <a:r>
              <a:rPr sz="2000" spc="-120" dirty="0">
                <a:latin typeface="Arial"/>
                <a:cs typeface="Arial"/>
              </a:rPr>
              <a:t>las </a:t>
            </a:r>
            <a:r>
              <a:rPr sz="2000" spc="-65" dirty="0">
                <a:latin typeface="Arial"/>
                <a:cs typeface="Arial"/>
              </a:rPr>
              <a:t>diferentes ofertas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(paquetes).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sz="2000" spc="-114" dirty="0">
                <a:latin typeface="Arial"/>
                <a:cs typeface="Arial"/>
              </a:rPr>
              <a:t>Un </a:t>
            </a:r>
            <a:r>
              <a:rPr sz="2000" spc="-25" dirty="0">
                <a:latin typeface="Arial"/>
                <a:cs typeface="Arial"/>
              </a:rPr>
              <a:t>error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95" dirty="0">
                <a:latin typeface="Arial"/>
                <a:cs typeface="Arial"/>
              </a:rPr>
              <a:t>compra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solución </a:t>
            </a:r>
            <a:r>
              <a:rPr sz="2000" spc="-85" dirty="0">
                <a:latin typeface="Arial"/>
                <a:cs typeface="Arial"/>
              </a:rPr>
              <a:t>puede </a:t>
            </a:r>
            <a:r>
              <a:rPr sz="2000" spc="-70" dirty="0">
                <a:latin typeface="Arial"/>
                <a:cs typeface="Arial"/>
              </a:rPr>
              <a:t>afectar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las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52131" y="1507997"/>
            <a:ext cx="1844802" cy="1713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148321" y="4331970"/>
            <a:ext cx="1905762" cy="17640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83540" y="1083309"/>
            <a:ext cx="5553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Trebuchet MS"/>
                <a:cs typeface="Trebuchet MS"/>
              </a:rPr>
              <a:t>Método </a:t>
            </a:r>
            <a:r>
              <a:rPr sz="2400" b="1" spc="-135" dirty="0">
                <a:latin typeface="Trebuchet MS"/>
                <a:cs typeface="Trebuchet MS"/>
              </a:rPr>
              <a:t>tradicional </a:t>
            </a:r>
            <a:r>
              <a:rPr sz="2400" b="1" spc="-155" dirty="0">
                <a:latin typeface="Trebuchet MS"/>
                <a:cs typeface="Trebuchet MS"/>
              </a:rPr>
              <a:t>vs. </a:t>
            </a:r>
            <a:r>
              <a:rPr sz="2400" b="1" spc="-140" dirty="0">
                <a:latin typeface="Trebuchet MS"/>
                <a:cs typeface="Trebuchet MS"/>
              </a:rPr>
              <a:t>Compra de</a:t>
            </a:r>
            <a:r>
              <a:rPr sz="2400" b="1" spc="-425" dirty="0">
                <a:latin typeface="Trebuchet MS"/>
                <a:cs typeface="Trebuchet MS"/>
              </a:rPr>
              <a:t> </a:t>
            </a:r>
            <a:r>
              <a:rPr sz="2400" b="1" spc="-135" dirty="0">
                <a:latin typeface="Trebuchet MS"/>
                <a:cs typeface="Trebuchet MS"/>
              </a:rPr>
              <a:t>paquetes</a:t>
            </a:r>
            <a:endParaRPr sz="2400">
              <a:latin typeface="Trebuchet MS"/>
              <a:cs typeface="Trebuchet M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930378"/>
              </p:ext>
            </p:extLst>
          </p:nvPr>
        </p:nvGraphicFramePr>
        <p:xfrm>
          <a:off x="374650" y="1447800"/>
          <a:ext cx="8462645" cy="49144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1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629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Criterio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5556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Método</a:t>
                      </a:r>
                      <a:r>
                        <a:rPr sz="2000" b="1" spc="-16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tradicional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marL="55816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spc="-1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Compra de</a:t>
                      </a:r>
                      <a:r>
                        <a:rPr sz="2000" b="1" spc="-1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1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paquetes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642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000" b="1" i="1" spc="-2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desarrollo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10750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2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solución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adquirida </a:t>
                      </a:r>
                      <a:r>
                        <a:rPr sz="1400" spc="-125" dirty="0">
                          <a:latin typeface="Arial"/>
                          <a:cs typeface="Arial"/>
                        </a:rPr>
                        <a:t>+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las 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modificaciones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29"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2000" b="1" i="1" spc="-1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Tiempo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Mayor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25" dirty="0">
                          <a:latin typeface="Arial"/>
                          <a:cs typeface="Arial"/>
                        </a:rPr>
                        <a:t>Menor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642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000" b="1" i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Mantenimiento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400" spc="-190" dirty="0">
                          <a:latin typeface="Arial"/>
                          <a:cs typeface="Arial"/>
                        </a:rPr>
                        <a:t>Se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realiza</a:t>
                      </a:r>
                      <a:r>
                        <a:rPr sz="1400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35" dirty="0">
                          <a:latin typeface="Arial"/>
                          <a:cs typeface="Arial"/>
                        </a:rPr>
                        <a:t>internamente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1409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97790" marR="91884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190" dirty="0">
                          <a:latin typeface="Arial"/>
                          <a:cs typeface="Arial"/>
                        </a:rPr>
                        <a:t>Se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realiza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en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forma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externa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organización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367">
                <a:tc>
                  <a:txBody>
                    <a:bodyPr/>
                    <a:lstStyle/>
                    <a:p>
                      <a:pPr marL="503555" marR="482600" indent="14541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2000" b="1" i="1" spc="-1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Tipo </a:t>
                      </a:r>
                      <a:r>
                        <a:rPr sz="2000" b="1" i="1" spc="-1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 </a:t>
                      </a:r>
                      <a:r>
                        <a:rPr sz="20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apli</a:t>
                      </a:r>
                      <a:r>
                        <a:rPr sz="2000" b="1" i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0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000" b="1" i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sz="2000" b="1" i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ión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90" dirty="0">
                          <a:latin typeface="Arial"/>
                          <a:cs typeface="Arial"/>
                        </a:rPr>
                        <a:t>Ad-Hoc </a:t>
                      </a:r>
                      <a:r>
                        <a:rPr sz="1400" spc="150" dirty="0">
                          <a:latin typeface="Arial"/>
                          <a:cs typeface="Arial"/>
                        </a:rPr>
                        <a:t>/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Hecho </a:t>
                      </a:r>
                      <a:r>
                        <a:rPr sz="1400" spc="-11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400" spc="-2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medida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Aplicación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general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50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r>
                        <a:rPr sz="2000" b="1" i="1" spc="-1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Cuidado</a:t>
                      </a:r>
                      <a:r>
                        <a:rPr sz="2000" b="1" i="1" spc="-1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i="1" spc="-19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125" dirty="0">
                          <a:latin typeface="Arial"/>
                          <a:cs typeface="Arial"/>
                        </a:rPr>
                        <a:t>Fechas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optimistas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75" dirty="0">
                          <a:latin typeface="Arial"/>
                          <a:cs typeface="Arial"/>
                        </a:rPr>
                        <a:t>Rotación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durante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proyecto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400" spc="-80" dirty="0">
                          <a:latin typeface="Arial"/>
                          <a:cs typeface="Arial"/>
                        </a:rPr>
                        <a:t>No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1400" spc="-50" dirty="0">
                          <a:latin typeface="Arial"/>
                          <a:cs typeface="Arial"/>
                        </a:rPr>
                        <a:t>conejillos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14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indias.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 marR="689610">
                        <a:lnSpc>
                          <a:spcPct val="100000"/>
                        </a:lnSpc>
                      </a:pPr>
                      <a:r>
                        <a:rPr sz="1400" spc="-60" dirty="0">
                          <a:latin typeface="Arial"/>
                          <a:cs typeface="Arial"/>
                        </a:rPr>
                        <a:t>Asumir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que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las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modificaciones 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son 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menores.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 marR="258445">
                        <a:lnSpc>
                          <a:spcPct val="100000"/>
                        </a:lnSpc>
                      </a:pPr>
                      <a:r>
                        <a:rPr sz="1400" spc="-100" dirty="0">
                          <a:latin typeface="Arial"/>
                          <a:cs typeface="Arial"/>
                        </a:rPr>
                        <a:t>Tener </a:t>
                      </a:r>
                      <a:r>
                        <a:rPr sz="1400" spc="-40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visto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bueno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de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usuario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antes de  comprar.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 marR="367030">
                        <a:lnSpc>
                          <a:spcPct val="100000"/>
                        </a:lnSpc>
                      </a:pPr>
                      <a:r>
                        <a:rPr sz="1400" spc="-12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costo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del 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paquete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puede </a:t>
                      </a:r>
                      <a:r>
                        <a:rPr sz="1400" spc="-75" dirty="0">
                          <a:latin typeface="Arial"/>
                          <a:cs typeface="Arial"/>
                        </a:rPr>
                        <a:t>ser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mínimo  </a:t>
                      </a:r>
                      <a:r>
                        <a:rPr sz="1400" spc="-70" dirty="0">
                          <a:latin typeface="Arial"/>
                          <a:cs typeface="Arial"/>
                        </a:rPr>
                        <a:t>con</a:t>
                      </a:r>
                      <a:r>
                        <a:rPr sz="14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60" dirty="0">
                          <a:latin typeface="Arial"/>
                          <a:cs typeface="Arial"/>
                        </a:rPr>
                        <a:t>respecto</a:t>
                      </a:r>
                      <a:endParaRPr sz="1400">
                        <a:latin typeface="Arial"/>
                        <a:cs typeface="Arial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400" spc="-50" dirty="0">
                          <a:latin typeface="Arial"/>
                          <a:cs typeface="Arial"/>
                        </a:rPr>
                        <a:t>al 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costo</a:t>
                      </a:r>
                      <a:r>
                        <a:rPr sz="14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total.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D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29"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2000" b="1" i="1" spc="-1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Implementación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7E7E7E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95" dirty="0">
                          <a:latin typeface="Arial"/>
                          <a:cs typeface="Arial"/>
                        </a:rPr>
                        <a:t>Costo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similar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sz="1400" spc="-95" dirty="0">
                          <a:latin typeface="Arial"/>
                          <a:cs typeface="Arial"/>
                        </a:rPr>
                        <a:t>Costo</a:t>
                      </a:r>
                      <a:r>
                        <a:rPr sz="14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45" dirty="0">
                          <a:latin typeface="Arial"/>
                          <a:cs typeface="Arial"/>
                        </a:rPr>
                        <a:t>similar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00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9268" y="2142744"/>
            <a:ext cx="264668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  <a:tab pos="1327150" algn="l"/>
              </a:tabLst>
            </a:pPr>
            <a:r>
              <a:rPr sz="2000" spc="-185" dirty="0">
                <a:latin typeface="Arial"/>
                <a:cs typeface="Arial"/>
              </a:rPr>
              <a:t>Pu</a:t>
            </a:r>
            <a:r>
              <a:rPr sz="2000" spc="-100" dirty="0">
                <a:latin typeface="Arial"/>
                <a:cs typeface="Arial"/>
              </a:rPr>
              <a:t>ede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125" dirty="0">
                <a:latin typeface="Arial"/>
                <a:cs typeface="Arial"/>
              </a:rPr>
              <a:t>on</a:t>
            </a:r>
            <a:r>
              <a:rPr sz="2000" spc="-105" dirty="0">
                <a:latin typeface="Arial"/>
                <a:cs typeface="Arial"/>
              </a:rPr>
              <a:t>s</a:t>
            </a:r>
            <a:r>
              <a:rPr sz="2000" spc="15" dirty="0">
                <a:latin typeface="Arial"/>
                <a:cs typeface="Arial"/>
              </a:rPr>
              <a:t>i</a:t>
            </a:r>
            <a:r>
              <a:rPr sz="2000" spc="-100" dirty="0">
                <a:latin typeface="Arial"/>
                <a:cs typeface="Arial"/>
              </a:rPr>
              <a:t>d</a:t>
            </a:r>
            <a:r>
              <a:rPr sz="2000" spc="-90" dirty="0">
                <a:latin typeface="Arial"/>
                <a:cs typeface="Arial"/>
              </a:rPr>
              <a:t>e</a:t>
            </a:r>
            <a:r>
              <a:rPr sz="2000" spc="-15" dirty="0">
                <a:latin typeface="Arial"/>
                <a:cs typeface="Arial"/>
              </a:rPr>
              <a:t>r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r</a:t>
            </a:r>
            <a:r>
              <a:rPr sz="2000" spc="-175" dirty="0">
                <a:latin typeface="Arial"/>
                <a:cs typeface="Arial"/>
              </a:rPr>
              <a:t>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8827" y="2142744"/>
            <a:ext cx="3345179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8780" algn="l"/>
                <a:tab pos="2284095" algn="l"/>
                <a:tab pos="3065145" algn="l"/>
              </a:tabLst>
            </a:pPr>
            <a:r>
              <a:rPr sz="2000" spc="-75" dirty="0">
                <a:latin typeface="Arial"/>
                <a:cs typeface="Arial"/>
              </a:rPr>
              <a:t>la	</a:t>
            </a:r>
            <a:r>
              <a:rPr sz="2000" spc="-40" dirty="0">
                <a:latin typeface="Arial"/>
                <a:cs typeface="Arial"/>
              </a:rPr>
              <a:t>imp</a:t>
            </a:r>
            <a:r>
              <a:rPr sz="2000" spc="-45" dirty="0">
                <a:latin typeface="Arial"/>
                <a:cs typeface="Arial"/>
              </a:rPr>
              <a:t>le</a:t>
            </a:r>
            <a:r>
              <a:rPr sz="2000" spc="-85" dirty="0">
                <a:latin typeface="Arial"/>
                <a:cs typeface="Arial"/>
              </a:rPr>
              <a:t>m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spc="-114" dirty="0">
                <a:latin typeface="Arial"/>
                <a:cs typeface="Arial"/>
              </a:rPr>
              <a:t>n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80" dirty="0">
                <a:latin typeface="Arial"/>
                <a:cs typeface="Arial"/>
              </a:rPr>
              <a:t>c</a:t>
            </a:r>
            <a:r>
              <a:rPr sz="2000" spc="-75" dirty="0">
                <a:latin typeface="Arial"/>
                <a:cs typeface="Arial"/>
              </a:rPr>
              <a:t>om</a:t>
            </a:r>
            <a:r>
              <a:rPr sz="2000" spc="-5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5" dirty="0">
                <a:latin typeface="Arial"/>
                <a:cs typeface="Arial"/>
              </a:rPr>
              <a:t>un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6722" y="2447544"/>
            <a:ext cx="571817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0" dirty="0">
                <a:latin typeface="Arial"/>
                <a:cs typeface="Arial"/>
              </a:rPr>
              <a:t>proceso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que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lleva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a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cabo</a:t>
            </a:r>
            <a:r>
              <a:rPr sz="2000" spc="204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los</a:t>
            </a:r>
            <a:r>
              <a:rPr sz="2000" spc="190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planes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de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cambio</a:t>
            </a:r>
            <a:r>
              <a:rPr sz="2000" spc="19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en</a:t>
            </a:r>
            <a:r>
              <a:rPr sz="2000" spc="200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722" y="2752344"/>
            <a:ext cx="259778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58165" algn="l"/>
                <a:tab pos="1962785" algn="l"/>
                <a:tab pos="2403475" algn="l"/>
              </a:tabLst>
            </a:pPr>
            <a:r>
              <a:rPr sz="2000" spc="-120" dirty="0">
                <a:latin typeface="Arial"/>
                <a:cs typeface="Arial"/>
              </a:rPr>
              <a:t>uso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45" dirty="0">
                <a:latin typeface="Arial"/>
                <a:cs typeface="Arial"/>
              </a:rPr>
              <a:t>mp</a:t>
            </a:r>
            <a:r>
              <a:rPr sz="2000" spc="-40" dirty="0">
                <a:latin typeface="Arial"/>
                <a:cs typeface="Arial"/>
              </a:rPr>
              <a:t>r</a:t>
            </a:r>
            <a:r>
              <a:rPr sz="2000" spc="-114" dirty="0">
                <a:latin typeface="Arial"/>
                <a:cs typeface="Arial"/>
              </a:rPr>
              <a:t>e</a:t>
            </a:r>
            <a:r>
              <a:rPr sz="2000" spc="-185" dirty="0">
                <a:latin typeface="Arial"/>
                <a:cs typeface="Arial"/>
              </a:rPr>
              <a:t>s</a:t>
            </a:r>
            <a:r>
              <a:rPr sz="2000" spc="-195" dirty="0">
                <a:latin typeface="Arial"/>
                <a:cs typeface="Arial"/>
              </a:rPr>
              <a:t>a</a:t>
            </a:r>
            <a:r>
              <a:rPr sz="2000" spc="-30" dirty="0">
                <a:latin typeface="Arial"/>
                <a:cs typeface="Arial"/>
              </a:rPr>
              <a:t>ri</a:t>
            </a:r>
            <a:r>
              <a:rPr sz="2000" spc="-55" dirty="0">
                <a:latin typeface="Arial"/>
                <a:cs typeface="Arial"/>
              </a:rPr>
              <a:t>a</a:t>
            </a:r>
            <a:r>
              <a:rPr sz="2000" spc="10" dirty="0">
                <a:latin typeface="Arial"/>
                <a:cs typeface="Arial"/>
              </a:rPr>
              <a:t>l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90" dirty="0">
                <a:latin typeface="Arial"/>
                <a:cs typeface="Arial"/>
              </a:rPr>
              <a:t>d</a:t>
            </a:r>
            <a:r>
              <a:rPr sz="2000" spc="-9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75" dirty="0">
                <a:latin typeface="Arial"/>
                <a:cs typeface="Arial"/>
              </a:rPr>
              <a:t>la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8303" y="2752344"/>
            <a:ext cx="29648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67460" algn="l"/>
                <a:tab pos="1707514" algn="l"/>
              </a:tabLst>
            </a:pPr>
            <a:r>
              <a:rPr sz="2000" spc="-80" dirty="0">
                <a:latin typeface="Arial"/>
                <a:cs typeface="Arial"/>
              </a:rPr>
              <a:t>tecnología	</a:t>
            </a:r>
            <a:r>
              <a:rPr sz="2000" spc="-95" dirty="0">
                <a:latin typeface="Arial"/>
                <a:cs typeface="Arial"/>
              </a:rPr>
              <a:t>de	</a:t>
            </a:r>
            <a:r>
              <a:rPr sz="2000" spc="-55" dirty="0">
                <a:latin typeface="Arial"/>
                <a:cs typeface="Arial"/>
              </a:rPr>
              <a:t>información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722" y="3057144"/>
            <a:ext cx="46177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85" dirty="0">
                <a:latin typeface="Arial"/>
                <a:cs typeface="Arial"/>
              </a:rPr>
              <a:t>desarrollada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spc="-105" dirty="0">
                <a:latin typeface="Arial"/>
                <a:cs typeface="Arial"/>
              </a:rPr>
              <a:t>proceso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planeamiento.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268" y="3361944"/>
            <a:ext cx="173164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har char="•"/>
              <a:tabLst>
                <a:tab pos="469900" algn="l"/>
                <a:tab pos="470534" algn="l"/>
                <a:tab pos="898525" algn="l"/>
              </a:tabLst>
            </a:pPr>
            <a:r>
              <a:rPr sz="2000" spc="-175" dirty="0">
                <a:latin typeface="Arial"/>
                <a:cs typeface="Arial"/>
              </a:rPr>
              <a:t>El	</a:t>
            </a:r>
            <a:r>
              <a:rPr sz="2000" spc="-100" dirty="0">
                <a:latin typeface="Arial"/>
                <a:cs typeface="Arial"/>
              </a:rPr>
              <a:t>proceso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3289" y="3361944"/>
            <a:ext cx="42202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8795" algn="l"/>
                <a:tab pos="2447290" algn="l"/>
                <a:tab pos="3554095" algn="l"/>
              </a:tabLst>
            </a:pPr>
            <a:r>
              <a:rPr sz="2000" spc="-95" dirty="0">
                <a:latin typeface="Arial"/>
                <a:cs typeface="Arial"/>
              </a:rPr>
              <a:t>de	</a:t>
            </a:r>
            <a:r>
              <a:rPr sz="2000" spc="-40" dirty="0">
                <a:latin typeface="Arial"/>
                <a:cs typeface="Arial"/>
              </a:rPr>
              <a:t>imp</a:t>
            </a:r>
            <a:r>
              <a:rPr sz="2000" spc="-30" dirty="0">
                <a:latin typeface="Arial"/>
                <a:cs typeface="Arial"/>
              </a:rPr>
              <a:t>l</a:t>
            </a:r>
            <a:r>
              <a:rPr sz="2000" spc="-70" dirty="0">
                <a:latin typeface="Arial"/>
                <a:cs typeface="Arial"/>
              </a:rPr>
              <a:t>e</a:t>
            </a:r>
            <a:r>
              <a:rPr sz="2000" spc="-90" dirty="0">
                <a:latin typeface="Arial"/>
                <a:cs typeface="Arial"/>
              </a:rPr>
              <a:t>me</a:t>
            </a:r>
            <a:r>
              <a:rPr sz="2000" spc="-85" dirty="0">
                <a:latin typeface="Arial"/>
                <a:cs typeface="Arial"/>
              </a:rPr>
              <a:t>n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160" dirty="0">
                <a:latin typeface="Arial"/>
                <a:cs typeface="Arial"/>
              </a:rPr>
              <a:t>c</a:t>
            </a:r>
            <a:r>
              <a:rPr sz="2000" spc="-40" dirty="0">
                <a:latin typeface="Arial"/>
                <a:cs typeface="Arial"/>
              </a:rPr>
              <a:t>ión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85" dirty="0">
                <a:latin typeface="Arial"/>
                <a:cs typeface="Arial"/>
              </a:rPr>
              <a:t>t</a:t>
            </a:r>
            <a:r>
              <a:rPr sz="2000" spc="-155" dirty="0">
                <a:latin typeface="Arial"/>
                <a:cs typeface="Arial"/>
              </a:rPr>
              <a:t>a</a:t>
            </a:r>
            <a:r>
              <a:rPr sz="2000" spc="-70" dirty="0">
                <a:latin typeface="Arial"/>
                <a:cs typeface="Arial"/>
              </a:rPr>
              <a:t>mb</a:t>
            </a:r>
            <a:r>
              <a:rPr sz="2000" spc="-60" dirty="0">
                <a:latin typeface="Arial"/>
                <a:cs typeface="Arial"/>
              </a:rPr>
              <a:t>ién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85" dirty="0">
                <a:latin typeface="Arial"/>
                <a:cs typeface="Arial"/>
              </a:rPr>
              <a:t>puede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268" y="3666744"/>
            <a:ext cx="617601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6350" algn="just">
              <a:lnSpc>
                <a:spcPct val="100000"/>
              </a:lnSpc>
              <a:spcBef>
                <a:spcPts val="95"/>
              </a:spcBef>
            </a:pPr>
            <a:r>
              <a:rPr sz="2000" spc="-75" dirty="0">
                <a:latin typeface="Arial"/>
                <a:cs typeface="Arial"/>
              </a:rPr>
              <a:t>percibirse </a:t>
            </a:r>
            <a:r>
              <a:rPr sz="2000" spc="-95" dirty="0">
                <a:latin typeface="Arial"/>
                <a:cs typeface="Arial"/>
              </a:rPr>
              <a:t>como </a:t>
            </a:r>
            <a:r>
              <a:rPr sz="2000" spc="-100" dirty="0">
                <a:latin typeface="Arial"/>
                <a:cs typeface="Arial"/>
              </a:rPr>
              <a:t>una </a:t>
            </a:r>
            <a:r>
              <a:rPr sz="2000" spc="-85" dirty="0">
                <a:latin typeface="Arial"/>
                <a:cs typeface="Arial"/>
              </a:rPr>
              <a:t>etapa </a:t>
            </a:r>
            <a:r>
              <a:rPr sz="2000" spc="-35" dirty="0">
                <a:latin typeface="Arial"/>
                <a:cs typeface="Arial"/>
              </a:rPr>
              <a:t>importante </a:t>
            </a:r>
            <a:r>
              <a:rPr sz="2000" spc="-85" dirty="0">
                <a:latin typeface="Arial"/>
                <a:cs typeface="Arial"/>
              </a:rPr>
              <a:t>que </a:t>
            </a:r>
            <a:r>
              <a:rPr sz="2000" spc="-120" dirty="0">
                <a:latin typeface="Arial"/>
                <a:cs typeface="Arial"/>
              </a:rPr>
              <a:t>sigue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las  </a:t>
            </a:r>
            <a:r>
              <a:rPr sz="2000" spc="-105" dirty="0">
                <a:latin typeface="Arial"/>
                <a:cs typeface="Arial"/>
              </a:rPr>
              <a:t>etapas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0" dirty="0">
                <a:latin typeface="Arial"/>
                <a:cs typeface="Arial"/>
              </a:rPr>
              <a:t>investigación, </a:t>
            </a:r>
            <a:r>
              <a:rPr sz="2000" spc="-95" dirty="0">
                <a:latin typeface="Arial"/>
                <a:cs typeface="Arial"/>
              </a:rPr>
              <a:t>análisis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90" dirty="0">
                <a:latin typeface="Arial"/>
                <a:cs typeface="Arial"/>
              </a:rPr>
              <a:t>diseño </a:t>
            </a:r>
            <a:r>
              <a:rPr sz="2000" spc="-60" dirty="0">
                <a:latin typeface="Arial"/>
                <a:cs typeface="Arial"/>
              </a:rPr>
              <a:t>del </a:t>
            </a:r>
            <a:r>
              <a:rPr sz="2000" spc="-100" dirty="0">
                <a:latin typeface="Arial"/>
                <a:cs typeface="Arial"/>
              </a:rPr>
              <a:t>proceso 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0" dirty="0">
                <a:latin typeface="Arial"/>
                <a:cs typeface="Arial"/>
              </a:rPr>
              <a:t>desarrollo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sistemas.</a:t>
            </a:r>
            <a:endParaRPr sz="20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60" dirty="0">
                <a:latin typeface="Arial"/>
                <a:cs typeface="Arial"/>
              </a:rPr>
              <a:t>actividad </a:t>
            </a:r>
            <a:r>
              <a:rPr sz="2000" spc="-35" dirty="0">
                <a:latin typeface="Arial"/>
                <a:cs typeface="Arial"/>
              </a:rPr>
              <a:t>importante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45" dirty="0">
                <a:latin typeface="Arial"/>
                <a:cs typeface="Arial"/>
              </a:rPr>
              <a:t>el  </a:t>
            </a:r>
            <a:r>
              <a:rPr sz="2000" spc="-65" dirty="0">
                <a:latin typeface="Arial"/>
                <a:cs typeface="Arial"/>
              </a:rPr>
              <a:t>desarrollo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80" dirty="0">
                <a:latin typeface="Arial"/>
                <a:cs typeface="Arial"/>
              </a:rPr>
              <a:t>tecnología </a:t>
            </a:r>
            <a:r>
              <a:rPr sz="2000" spc="-90" dirty="0">
                <a:latin typeface="Arial"/>
                <a:cs typeface="Arial"/>
              </a:rPr>
              <a:t>de </a:t>
            </a:r>
            <a:r>
              <a:rPr sz="2000" spc="-55" dirty="0">
                <a:latin typeface="Arial"/>
                <a:cs typeface="Arial"/>
              </a:rPr>
              <a:t>información </a:t>
            </a:r>
            <a:r>
              <a:rPr sz="2000" spc="-100" dirty="0">
                <a:latin typeface="Arial"/>
                <a:cs typeface="Arial"/>
              </a:rPr>
              <a:t>para  </a:t>
            </a:r>
            <a:r>
              <a:rPr sz="2000" spc="-80" dirty="0">
                <a:latin typeface="Arial"/>
                <a:cs typeface="Arial"/>
              </a:rPr>
              <a:t>respaldar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105" dirty="0">
                <a:latin typeface="Arial"/>
                <a:cs typeface="Arial"/>
              </a:rPr>
              <a:t>cambios </a:t>
            </a:r>
            <a:r>
              <a:rPr sz="2000" spc="-90" dirty="0">
                <a:latin typeface="Arial"/>
                <a:cs typeface="Arial"/>
              </a:rPr>
              <a:t>empresariales </a:t>
            </a:r>
            <a:r>
              <a:rPr sz="2000" spc="-100" dirty="0">
                <a:latin typeface="Arial"/>
                <a:cs typeface="Arial"/>
              </a:rPr>
              <a:t>planeados </a:t>
            </a:r>
            <a:r>
              <a:rPr sz="2000" spc="-40" dirty="0">
                <a:latin typeface="Arial"/>
                <a:cs typeface="Arial"/>
              </a:rPr>
              <a:t>por 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100" dirty="0">
                <a:latin typeface="Arial"/>
                <a:cs typeface="Arial"/>
              </a:rPr>
              <a:t>organización y </a:t>
            </a:r>
            <a:r>
              <a:rPr sz="2000" spc="-170" dirty="0">
                <a:latin typeface="Arial"/>
                <a:cs typeface="Arial"/>
              </a:rPr>
              <a:t>sus </a:t>
            </a:r>
            <a:r>
              <a:rPr sz="2000" spc="-100" dirty="0">
                <a:latin typeface="Arial"/>
                <a:cs typeface="Arial"/>
              </a:rPr>
              <a:t>usuarios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finales.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268" y="975916"/>
            <a:ext cx="6172200" cy="119189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919"/>
              </a:spcBef>
            </a:pPr>
            <a:r>
              <a:rPr sz="2400" b="1" spc="-120" dirty="0">
                <a:latin typeface="Trebuchet MS"/>
                <a:cs typeface="Trebuchet MS"/>
              </a:rPr>
              <a:t>Gestión </a:t>
            </a:r>
            <a:r>
              <a:rPr sz="2400" b="1" spc="-135" dirty="0">
                <a:latin typeface="Trebuchet MS"/>
                <a:cs typeface="Trebuchet MS"/>
              </a:rPr>
              <a:t>del</a:t>
            </a:r>
            <a:r>
              <a:rPr sz="2400" b="1" spc="-245" dirty="0">
                <a:latin typeface="Trebuchet MS"/>
                <a:cs typeface="Trebuchet MS"/>
              </a:rPr>
              <a:t> </a:t>
            </a:r>
            <a:r>
              <a:rPr sz="2400" b="1" spc="-125" dirty="0">
                <a:latin typeface="Trebuchet MS"/>
                <a:cs typeface="Trebuchet MS"/>
              </a:rPr>
              <a:t>Cambio</a:t>
            </a:r>
            <a:endParaRPr sz="2400">
              <a:latin typeface="Trebuchet MS"/>
              <a:cs typeface="Trebuchet MS"/>
            </a:endParaRPr>
          </a:p>
          <a:p>
            <a:pPr marL="469900" marR="5080" indent="-457200">
              <a:lnSpc>
                <a:spcPct val="100000"/>
              </a:lnSpc>
              <a:spcBef>
                <a:spcPts val="680"/>
              </a:spcBef>
              <a:buChar char="•"/>
              <a:tabLst>
                <a:tab pos="469900" algn="l"/>
                <a:tab pos="470534" algn="l"/>
              </a:tabLst>
            </a:pPr>
            <a:r>
              <a:rPr sz="2000" spc="-21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cualquier </a:t>
            </a:r>
            <a:r>
              <a:rPr sz="2000" spc="-80" dirty="0">
                <a:latin typeface="Arial"/>
                <a:cs typeface="Arial"/>
              </a:rPr>
              <a:t>solución tecnológica  </a:t>
            </a:r>
            <a:r>
              <a:rPr sz="2000" spc="-90" dirty="0">
                <a:latin typeface="Arial"/>
                <a:cs typeface="Arial"/>
              </a:rPr>
              <a:t>conlleva </a:t>
            </a:r>
            <a:r>
              <a:rPr sz="2000" spc="-95" dirty="0">
                <a:latin typeface="Arial"/>
                <a:cs typeface="Arial"/>
              </a:rPr>
              <a:t>una </a:t>
            </a:r>
            <a:r>
              <a:rPr sz="2000" spc="-85" dirty="0">
                <a:latin typeface="Arial"/>
                <a:cs typeface="Arial"/>
              </a:rPr>
              <a:t>responsabilidad </a:t>
            </a:r>
            <a:r>
              <a:rPr sz="2000" spc="-90" dirty="0">
                <a:latin typeface="Arial"/>
                <a:cs typeface="Arial"/>
              </a:rPr>
              <a:t>gerencial</a:t>
            </a:r>
            <a:r>
              <a:rPr sz="2000" spc="-6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importante.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648450" y="1604772"/>
            <a:ext cx="2281428" cy="1214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48450" y="3048000"/>
            <a:ext cx="2281428" cy="16482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645402" y="4873752"/>
            <a:ext cx="2284476" cy="138607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30" dirty="0"/>
              <a:t>Ciclo </a:t>
            </a:r>
            <a:r>
              <a:rPr spc="-120" dirty="0"/>
              <a:t>de </a:t>
            </a:r>
            <a:r>
              <a:rPr spc="-90" dirty="0"/>
              <a:t>Vida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0" dirty="0"/>
              <a:t>de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50" dirty="0">
                <a:latin typeface="Arial"/>
                <a:cs typeface="Arial"/>
              </a:rPr>
              <a:t>Métodos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120" dirty="0">
                <a:latin typeface="Arial"/>
                <a:cs typeface="Arial"/>
              </a:rPr>
              <a:t> </a:t>
            </a:r>
            <a:r>
              <a:rPr sz="1800" b="0" spc="-90" dirty="0"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926507"/>
            <a:ext cx="8616950" cy="5387340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310"/>
              </a:spcBef>
            </a:pPr>
            <a:r>
              <a:rPr sz="2400" b="1" spc="-120" dirty="0">
                <a:latin typeface="Trebuchet MS"/>
                <a:cs typeface="Trebuchet MS"/>
              </a:rPr>
              <a:t>Gestión </a:t>
            </a:r>
            <a:r>
              <a:rPr sz="2400" b="1" spc="-135" dirty="0">
                <a:latin typeface="Trebuchet MS"/>
                <a:cs typeface="Trebuchet MS"/>
              </a:rPr>
              <a:t>del </a:t>
            </a:r>
            <a:r>
              <a:rPr sz="2400" b="1" spc="-125" dirty="0">
                <a:latin typeface="Trebuchet MS"/>
                <a:cs typeface="Trebuchet MS"/>
              </a:rPr>
              <a:t>Cambio</a:t>
            </a:r>
            <a:r>
              <a:rPr sz="2400" b="1" spc="-305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905"/>
              </a:spcBef>
              <a:buChar char="•"/>
              <a:tabLst>
                <a:tab pos="470534" algn="l"/>
              </a:tabLst>
            </a:pPr>
            <a:r>
              <a:rPr sz="1800" spc="-200" dirty="0">
                <a:latin typeface="Arial"/>
                <a:cs typeface="Arial"/>
              </a:rPr>
              <a:t>Las </a:t>
            </a:r>
            <a:r>
              <a:rPr sz="1800" spc="-95" dirty="0">
                <a:latin typeface="Arial"/>
                <a:cs typeface="Arial"/>
              </a:rPr>
              <a:t>organizaciones </a:t>
            </a:r>
            <a:r>
              <a:rPr sz="1800" spc="-75" dirty="0">
                <a:latin typeface="Arial"/>
                <a:cs typeface="Arial"/>
              </a:rPr>
              <a:t>deben </a:t>
            </a:r>
            <a:r>
              <a:rPr sz="1800" spc="-45" dirty="0">
                <a:latin typeface="Arial"/>
                <a:cs typeface="Arial"/>
              </a:rPr>
              <a:t>implementar </a:t>
            </a:r>
            <a:r>
              <a:rPr sz="1800" spc="-85" dirty="0">
                <a:latin typeface="Arial"/>
                <a:cs typeface="Arial"/>
              </a:rPr>
              <a:t>una </a:t>
            </a:r>
            <a:r>
              <a:rPr sz="1800" spc="-75" dirty="0">
                <a:latin typeface="Arial"/>
                <a:cs typeface="Arial"/>
              </a:rPr>
              <a:t>variedad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iniciativas </a:t>
            </a:r>
            <a:r>
              <a:rPr sz="1800" spc="-90" dirty="0">
                <a:latin typeface="Arial"/>
                <a:cs typeface="Arial"/>
              </a:rPr>
              <a:t>gerenciales para  </a:t>
            </a:r>
            <a:r>
              <a:rPr sz="1800" spc="-80" dirty="0">
                <a:latin typeface="Arial"/>
                <a:cs typeface="Arial"/>
              </a:rPr>
              <a:t>ayudar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manejar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75" dirty="0">
                <a:latin typeface="Arial"/>
                <a:cs typeface="Arial"/>
              </a:rPr>
              <a:t>cambio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empresarial.</a:t>
            </a:r>
            <a:endParaRPr sz="1800">
              <a:latin typeface="Arial"/>
              <a:cs typeface="Arial"/>
            </a:endParaRPr>
          </a:p>
          <a:p>
            <a:pPr marL="469900" marR="5715" indent="-457200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1800" spc="-80" dirty="0">
                <a:latin typeface="Arial"/>
                <a:cs typeface="Arial"/>
              </a:rPr>
              <a:t>Cualquier </a:t>
            </a:r>
            <a:r>
              <a:rPr sz="1800" spc="-45" dirty="0">
                <a:latin typeface="Arial"/>
                <a:cs typeface="Arial"/>
              </a:rPr>
              <a:t>forma </a:t>
            </a:r>
            <a:r>
              <a:rPr sz="1800" spc="-100" dirty="0">
                <a:latin typeface="Arial"/>
                <a:cs typeface="Arial"/>
              </a:rPr>
              <a:t>nueva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hacer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55" dirty="0">
                <a:latin typeface="Arial"/>
                <a:cs typeface="Arial"/>
              </a:rPr>
              <a:t>cosas </a:t>
            </a:r>
            <a:r>
              <a:rPr sz="1800" spc="-100" dirty="0">
                <a:latin typeface="Arial"/>
                <a:cs typeface="Arial"/>
              </a:rPr>
              <a:t>genera </a:t>
            </a:r>
            <a:r>
              <a:rPr sz="1800" spc="-80" dirty="0">
                <a:latin typeface="Arial"/>
                <a:cs typeface="Arial"/>
              </a:rPr>
              <a:t>algún </a:t>
            </a:r>
            <a:r>
              <a:rPr sz="1800" spc="-85" dirty="0">
                <a:latin typeface="Arial"/>
                <a:cs typeface="Arial"/>
              </a:rPr>
              <a:t>grado </a:t>
            </a:r>
            <a:r>
              <a:rPr sz="1800" spc="-80" dirty="0">
                <a:latin typeface="Arial"/>
                <a:cs typeface="Arial"/>
              </a:rPr>
              <a:t>de resistencia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45" dirty="0">
                <a:latin typeface="Arial"/>
                <a:cs typeface="Arial"/>
              </a:rPr>
              <a:t>parte 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personas </a:t>
            </a:r>
            <a:r>
              <a:rPr sz="1800" spc="-90" dirty="0">
                <a:latin typeface="Arial"/>
                <a:cs typeface="Arial"/>
              </a:rPr>
              <a:t>afectadas. </a:t>
            </a:r>
            <a:r>
              <a:rPr sz="1800" spc="-114" dirty="0">
                <a:latin typeface="Arial"/>
                <a:cs typeface="Arial"/>
              </a:rPr>
              <a:t>Por </a:t>
            </a:r>
            <a:r>
              <a:rPr sz="1800" spc="-35" dirty="0">
                <a:latin typeface="Arial"/>
                <a:cs typeface="Arial"/>
              </a:rPr>
              <a:t>tanto,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5" dirty="0">
                <a:latin typeface="Arial"/>
                <a:cs typeface="Arial"/>
              </a:rPr>
              <a:t>implementación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4" dirty="0">
                <a:latin typeface="Arial"/>
                <a:cs typeface="Arial"/>
              </a:rPr>
              <a:t>nuevas </a:t>
            </a:r>
            <a:r>
              <a:rPr sz="1800" spc="-80" dirty="0">
                <a:latin typeface="Arial"/>
                <a:cs typeface="Arial"/>
              </a:rPr>
              <a:t>tecnologías </a:t>
            </a:r>
            <a:r>
              <a:rPr sz="1800" spc="-75" dirty="0">
                <a:latin typeface="Arial"/>
                <a:cs typeface="Arial"/>
              </a:rPr>
              <a:t>de  gestión </a:t>
            </a:r>
            <a:r>
              <a:rPr sz="1800" spc="-80" dirty="0">
                <a:latin typeface="Arial"/>
                <a:cs typeface="Arial"/>
              </a:rPr>
              <a:t>puede </a:t>
            </a:r>
            <a:r>
              <a:rPr sz="1800" spc="-85" dirty="0">
                <a:latin typeface="Arial"/>
                <a:cs typeface="Arial"/>
              </a:rPr>
              <a:t>generar </a:t>
            </a:r>
            <a:r>
              <a:rPr sz="1800" spc="-25" dirty="0">
                <a:latin typeface="Arial"/>
                <a:cs typeface="Arial"/>
              </a:rPr>
              <a:t>temor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resistencia </a:t>
            </a:r>
            <a:r>
              <a:rPr sz="1800" spc="-65" dirty="0">
                <a:latin typeface="Arial"/>
                <a:cs typeface="Arial"/>
              </a:rPr>
              <a:t>al </a:t>
            </a:r>
            <a:r>
              <a:rPr sz="1800" spc="-75" dirty="0">
                <a:latin typeface="Arial"/>
                <a:cs typeface="Arial"/>
              </a:rPr>
              <a:t>cambio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45" dirty="0">
                <a:latin typeface="Arial"/>
                <a:cs typeface="Arial"/>
              </a:rPr>
              <a:t>parte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80" dirty="0">
                <a:latin typeface="Arial"/>
                <a:cs typeface="Arial"/>
              </a:rPr>
              <a:t>los</a:t>
            </a:r>
            <a:r>
              <a:rPr sz="1800" spc="-260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empleados.</a:t>
            </a:r>
            <a:endParaRPr sz="18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470534" algn="l"/>
              </a:tabLst>
            </a:pPr>
            <a:r>
              <a:rPr sz="1800" spc="-195" dirty="0">
                <a:latin typeface="Arial"/>
                <a:cs typeface="Arial"/>
              </a:rPr>
              <a:t>La </a:t>
            </a:r>
            <a:r>
              <a:rPr sz="1800" spc="-60" dirty="0">
                <a:latin typeface="Arial"/>
                <a:cs typeface="Arial"/>
              </a:rPr>
              <a:t>administración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40" dirty="0">
                <a:latin typeface="Arial"/>
                <a:cs typeface="Arial"/>
              </a:rPr>
              <a:t>Recursos </a:t>
            </a:r>
            <a:r>
              <a:rPr sz="1800" spc="-110" dirty="0">
                <a:latin typeface="Arial"/>
                <a:cs typeface="Arial"/>
              </a:rPr>
              <a:t>Humanos </a:t>
            </a:r>
            <a:r>
              <a:rPr sz="1800" spc="-65" dirty="0">
                <a:latin typeface="Arial"/>
                <a:cs typeface="Arial"/>
              </a:rPr>
              <a:t>reviste </a:t>
            </a:r>
            <a:r>
              <a:rPr sz="1800" spc="-75" dirty="0">
                <a:latin typeface="Arial"/>
                <a:cs typeface="Arial"/>
              </a:rPr>
              <a:t>carácter </a:t>
            </a:r>
            <a:r>
              <a:rPr sz="1800" spc="-90" dirty="0">
                <a:latin typeface="Arial"/>
                <a:cs typeface="Arial"/>
              </a:rPr>
              <a:t>esencial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75" dirty="0">
                <a:latin typeface="Arial"/>
                <a:cs typeface="Arial"/>
              </a:rPr>
              <a:t>actividades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60" dirty="0">
                <a:latin typeface="Arial"/>
                <a:cs typeface="Arial"/>
              </a:rPr>
              <a:t>administración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75" dirty="0">
                <a:latin typeface="Arial"/>
                <a:cs typeface="Arial"/>
              </a:rPr>
              <a:t>cambio</a:t>
            </a:r>
            <a:r>
              <a:rPr sz="1800" spc="-155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organizacional.</a:t>
            </a:r>
            <a:endParaRPr sz="1800">
              <a:latin typeface="Arial"/>
              <a:cs typeface="Arial"/>
            </a:endParaRPr>
          </a:p>
          <a:p>
            <a:pPr marL="469900" marR="5080" indent="-457200" algn="just">
              <a:lnSpc>
                <a:spcPct val="100000"/>
              </a:lnSpc>
              <a:buChar char="•"/>
              <a:tabLst>
                <a:tab pos="470534" algn="l"/>
              </a:tabLst>
            </a:pPr>
            <a:r>
              <a:rPr sz="1800" spc="-75" dirty="0">
                <a:latin typeface="Arial"/>
                <a:cs typeface="Arial"/>
              </a:rPr>
              <a:t>Finalmente, </a:t>
            </a:r>
            <a:r>
              <a:rPr sz="1800" spc="-90" dirty="0">
                <a:latin typeface="Arial"/>
                <a:cs typeface="Arial"/>
              </a:rPr>
              <a:t>este proceso </a:t>
            </a:r>
            <a:r>
              <a:rPr sz="1800" spc="-75" dirty="0">
                <a:latin typeface="Arial"/>
                <a:cs typeface="Arial"/>
              </a:rPr>
              <a:t>comprende </a:t>
            </a:r>
            <a:r>
              <a:rPr sz="1800" spc="-80" dirty="0">
                <a:latin typeface="Arial"/>
                <a:cs typeface="Arial"/>
              </a:rPr>
              <a:t>analizar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20" dirty="0">
                <a:latin typeface="Arial"/>
                <a:cs typeface="Arial"/>
              </a:rPr>
              <a:t>definir </a:t>
            </a:r>
            <a:r>
              <a:rPr sz="1800" spc="-60" dirty="0">
                <a:latin typeface="Arial"/>
                <a:cs typeface="Arial"/>
              </a:rPr>
              <a:t>todos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95" dirty="0">
                <a:latin typeface="Arial"/>
                <a:cs typeface="Arial"/>
              </a:rPr>
              <a:t>cambios </a:t>
            </a:r>
            <a:r>
              <a:rPr sz="1800" spc="-70" dirty="0">
                <a:latin typeface="Arial"/>
                <a:cs typeface="Arial"/>
              </a:rPr>
              <a:t>que </a:t>
            </a:r>
            <a:r>
              <a:rPr sz="1800" spc="-45" dirty="0">
                <a:latin typeface="Arial"/>
                <a:cs typeface="Arial"/>
              </a:rPr>
              <a:t>enfrenta 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organización, </a:t>
            </a:r>
            <a:r>
              <a:rPr sz="1800" spc="-65" dirty="0">
                <a:latin typeface="Arial"/>
                <a:cs typeface="Arial"/>
              </a:rPr>
              <a:t>desarrollando </a:t>
            </a:r>
            <a:r>
              <a:rPr sz="1800" spc="-60" dirty="0">
                <a:latin typeface="Arial"/>
                <a:cs typeface="Arial"/>
              </a:rPr>
              <a:t>iniciativas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45" dirty="0">
                <a:latin typeface="Arial"/>
                <a:cs typeface="Arial"/>
              </a:rPr>
              <a:t>reducir </a:t>
            </a:r>
            <a:r>
              <a:rPr sz="1800" spc="-100" dirty="0">
                <a:latin typeface="Arial"/>
                <a:cs typeface="Arial"/>
              </a:rPr>
              <a:t>riesgos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95" dirty="0">
                <a:latin typeface="Arial"/>
                <a:cs typeface="Arial"/>
              </a:rPr>
              <a:t>costos, </a:t>
            </a:r>
            <a:r>
              <a:rPr sz="1800" spc="-35" dirty="0">
                <a:latin typeface="Arial"/>
                <a:cs typeface="Arial"/>
              </a:rPr>
              <a:t>permitiendo  </a:t>
            </a:r>
            <a:r>
              <a:rPr sz="1800" spc="-85" dirty="0">
                <a:latin typeface="Arial"/>
                <a:cs typeface="Arial"/>
              </a:rPr>
              <a:t>maximizar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70" dirty="0">
                <a:latin typeface="Arial"/>
                <a:cs typeface="Arial"/>
              </a:rPr>
              <a:t>beneficios </a:t>
            </a:r>
            <a:r>
              <a:rPr sz="1800" spc="-55" dirty="0">
                <a:latin typeface="Arial"/>
                <a:cs typeface="Arial"/>
              </a:rPr>
              <a:t>del</a:t>
            </a:r>
            <a:r>
              <a:rPr sz="1800" spc="-12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cambio.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sz="1800" spc="-170" dirty="0">
                <a:latin typeface="Arial"/>
                <a:cs typeface="Arial"/>
              </a:rPr>
              <a:t>Los </a:t>
            </a:r>
            <a:r>
              <a:rPr sz="1800" spc="-75" dirty="0">
                <a:latin typeface="Arial"/>
                <a:cs typeface="Arial"/>
              </a:rPr>
              <a:t>expertos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75" dirty="0">
                <a:latin typeface="Arial"/>
                <a:cs typeface="Arial"/>
              </a:rPr>
              <a:t>cambio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recomiendan:</a:t>
            </a:r>
            <a:endParaRPr sz="1800">
              <a:latin typeface="Arial"/>
              <a:cs typeface="Arial"/>
            </a:endParaRPr>
          </a:p>
          <a:p>
            <a:pPr marL="927100" marR="5715" lvl="1" indent="-457200">
              <a:lnSpc>
                <a:spcPct val="100000"/>
              </a:lnSpc>
              <a:spcBef>
                <a:spcPts val="15"/>
              </a:spcBef>
              <a:buChar char="•"/>
              <a:tabLst>
                <a:tab pos="927100" algn="l"/>
                <a:tab pos="927735" algn="l"/>
              </a:tabLst>
            </a:pPr>
            <a:r>
              <a:rPr sz="1600" spc="-55" dirty="0">
                <a:latin typeface="Arial"/>
                <a:cs typeface="Arial"/>
              </a:rPr>
              <a:t>Involucrar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70" dirty="0">
                <a:latin typeface="Arial"/>
                <a:cs typeface="Arial"/>
              </a:rPr>
              <a:t>mayor </a:t>
            </a:r>
            <a:r>
              <a:rPr sz="1600" spc="-60" dirty="0">
                <a:latin typeface="Arial"/>
                <a:cs typeface="Arial"/>
              </a:rPr>
              <a:t>cantidad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personas </a:t>
            </a:r>
            <a:r>
              <a:rPr sz="1600" spc="-75" dirty="0">
                <a:latin typeface="Arial"/>
                <a:cs typeface="Arial"/>
              </a:rPr>
              <a:t>posibles en </a:t>
            </a:r>
            <a:r>
              <a:rPr sz="1600" spc="-60" dirty="0">
                <a:latin typeface="Arial"/>
                <a:cs typeface="Arial"/>
              </a:rPr>
              <a:t>la reingeniería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40" dirty="0">
                <a:latin typeface="Arial"/>
                <a:cs typeface="Arial"/>
              </a:rPr>
              <a:t>otros </a:t>
            </a:r>
            <a:r>
              <a:rPr sz="1600" spc="-85" dirty="0">
                <a:latin typeface="Arial"/>
                <a:cs typeface="Arial"/>
              </a:rPr>
              <a:t>programas de  </a:t>
            </a:r>
            <a:r>
              <a:rPr sz="1600" spc="-65" dirty="0">
                <a:latin typeface="Arial"/>
                <a:cs typeface="Arial"/>
              </a:rPr>
              <a:t>cambio.</a:t>
            </a:r>
            <a:endParaRPr sz="1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100" dirty="0">
                <a:latin typeface="Arial"/>
                <a:cs typeface="Arial"/>
              </a:rPr>
              <a:t>Hacer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70" dirty="0">
                <a:latin typeface="Arial"/>
                <a:cs typeface="Arial"/>
              </a:rPr>
              <a:t>cambio </a:t>
            </a:r>
            <a:r>
              <a:rPr sz="1600" spc="-65" dirty="0">
                <a:latin typeface="Arial"/>
                <a:cs typeface="Arial"/>
              </a:rPr>
              <a:t>constante </a:t>
            </a:r>
            <a:r>
              <a:rPr sz="1600" spc="-80" dirty="0">
                <a:latin typeface="Arial"/>
                <a:cs typeface="Arial"/>
              </a:rPr>
              <a:t>una </a:t>
            </a:r>
            <a:r>
              <a:rPr sz="1600" spc="-40" dirty="0">
                <a:latin typeface="Arial"/>
                <a:cs typeface="Arial"/>
              </a:rPr>
              <a:t>parte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</a:t>
            </a:r>
            <a:r>
              <a:rPr sz="1600" spc="-22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cultura.</a:t>
            </a:r>
            <a:endParaRPr sz="1600">
              <a:latin typeface="Arial"/>
              <a:cs typeface="Arial"/>
            </a:endParaRPr>
          </a:p>
          <a:p>
            <a:pPr marL="927100" marR="5715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70" dirty="0">
                <a:latin typeface="Arial"/>
                <a:cs typeface="Arial"/>
              </a:rPr>
              <a:t>Contarle </a:t>
            </a:r>
            <a:r>
              <a:rPr sz="1600" spc="-125" dirty="0">
                <a:latin typeface="Arial"/>
                <a:cs typeface="Arial"/>
              </a:rPr>
              <a:t>a </a:t>
            </a:r>
            <a:r>
              <a:rPr sz="1600" spc="-65" dirty="0">
                <a:latin typeface="Arial"/>
                <a:cs typeface="Arial"/>
              </a:rPr>
              <a:t>la </a:t>
            </a:r>
            <a:r>
              <a:rPr sz="1600" spc="-70" dirty="0">
                <a:latin typeface="Arial"/>
                <a:cs typeface="Arial"/>
              </a:rPr>
              <a:t>mayor </a:t>
            </a:r>
            <a:r>
              <a:rPr sz="1600" spc="-60" dirty="0">
                <a:latin typeface="Arial"/>
                <a:cs typeface="Arial"/>
              </a:rPr>
              <a:t>cantidad </a:t>
            </a:r>
            <a:r>
              <a:rPr sz="1600" spc="-65" dirty="0">
                <a:latin typeface="Arial"/>
                <a:cs typeface="Arial"/>
              </a:rPr>
              <a:t>posible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95" dirty="0">
                <a:latin typeface="Arial"/>
                <a:cs typeface="Arial"/>
              </a:rPr>
              <a:t>personas </a:t>
            </a:r>
            <a:r>
              <a:rPr sz="1600" spc="-75" dirty="0">
                <a:latin typeface="Arial"/>
                <a:cs typeface="Arial"/>
              </a:rPr>
              <a:t>sobre </a:t>
            </a:r>
            <a:r>
              <a:rPr sz="1600" spc="-50" dirty="0">
                <a:latin typeface="Arial"/>
                <a:cs typeface="Arial"/>
              </a:rPr>
              <a:t>todos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85" dirty="0">
                <a:latin typeface="Arial"/>
                <a:cs typeface="Arial"/>
              </a:rPr>
              <a:t>aspectos, </a:t>
            </a:r>
            <a:r>
              <a:rPr sz="1600" spc="-80" dirty="0">
                <a:latin typeface="Arial"/>
                <a:cs typeface="Arial"/>
              </a:rPr>
              <a:t>con </a:t>
            </a:r>
            <a:r>
              <a:rPr sz="1600" spc="-65" dirty="0">
                <a:latin typeface="Arial"/>
                <a:cs typeface="Arial"/>
              </a:rPr>
              <a:t>la </a:t>
            </a:r>
            <a:r>
              <a:rPr sz="1600" spc="-70" dirty="0">
                <a:latin typeface="Arial"/>
                <a:cs typeface="Arial"/>
              </a:rPr>
              <a:t>mayor  </a:t>
            </a:r>
            <a:r>
              <a:rPr sz="1600" spc="-65" dirty="0">
                <a:latin typeface="Arial"/>
                <a:cs typeface="Arial"/>
              </a:rPr>
              <a:t>frecuencia </a:t>
            </a:r>
            <a:r>
              <a:rPr sz="1600" spc="-60" dirty="0">
                <a:latin typeface="Arial"/>
                <a:cs typeface="Arial"/>
              </a:rPr>
              <a:t>posible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45" dirty="0">
                <a:latin typeface="Arial"/>
                <a:cs typeface="Arial"/>
              </a:rPr>
              <a:t>preferiblemente </a:t>
            </a:r>
            <a:r>
              <a:rPr sz="1600" spc="-75" dirty="0">
                <a:latin typeface="Arial"/>
                <a:cs typeface="Arial"/>
              </a:rPr>
              <a:t>en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persona.</a:t>
            </a:r>
            <a:endParaRPr sz="1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100" dirty="0">
                <a:latin typeface="Arial"/>
                <a:cs typeface="Arial"/>
              </a:rPr>
              <a:t>Hacer </a:t>
            </a:r>
            <a:r>
              <a:rPr sz="1600" spc="-95" dirty="0">
                <a:latin typeface="Arial"/>
                <a:cs typeface="Arial"/>
              </a:rPr>
              <a:t>uso </a:t>
            </a:r>
            <a:r>
              <a:rPr sz="1600" spc="-45" dirty="0">
                <a:latin typeface="Arial"/>
                <a:cs typeface="Arial"/>
              </a:rPr>
              <a:t>amplio </a:t>
            </a:r>
            <a:r>
              <a:rPr sz="1600" spc="-50" dirty="0">
                <a:latin typeface="Arial"/>
                <a:cs typeface="Arial"/>
              </a:rPr>
              <a:t>del </a:t>
            </a:r>
            <a:r>
              <a:rPr sz="1600" spc="-55" dirty="0">
                <a:latin typeface="Arial"/>
                <a:cs typeface="Arial"/>
              </a:rPr>
              <a:t>reconocimiento </a:t>
            </a:r>
            <a:r>
              <a:rPr sz="1600" spc="-75" dirty="0">
                <a:latin typeface="Arial"/>
                <a:cs typeface="Arial"/>
              </a:rPr>
              <a:t>y </a:t>
            </a:r>
            <a:r>
              <a:rPr sz="1600" spc="-70" dirty="0">
                <a:latin typeface="Arial"/>
                <a:cs typeface="Arial"/>
              </a:rPr>
              <a:t>los </a:t>
            </a:r>
            <a:r>
              <a:rPr sz="1600" spc="-55" dirty="0">
                <a:latin typeface="Arial"/>
                <a:cs typeface="Arial"/>
              </a:rPr>
              <a:t>incentivos</a:t>
            </a:r>
            <a:r>
              <a:rPr sz="1600" spc="-185" dirty="0">
                <a:latin typeface="Arial"/>
                <a:cs typeface="Arial"/>
              </a:rPr>
              <a:t> </a:t>
            </a:r>
            <a:r>
              <a:rPr sz="1600" spc="-60" dirty="0">
                <a:latin typeface="Arial"/>
                <a:cs typeface="Arial"/>
              </a:rPr>
              <a:t>financieros.</a:t>
            </a:r>
            <a:endParaRPr sz="16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7100" algn="l"/>
                <a:tab pos="927735" algn="l"/>
              </a:tabLst>
            </a:pPr>
            <a:r>
              <a:rPr sz="1600" spc="-85" dirty="0">
                <a:latin typeface="Arial"/>
                <a:cs typeface="Arial"/>
              </a:rPr>
              <a:t>Trabajar </a:t>
            </a:r>
            <a:r>
              <a:rPr sz="1600" spc="-30" dirty="0">
                <a:latin typeface="Arial"/>
                <a:cs typeface="Arial"/>
              </a:rPr>
              <a:t>dentro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40" dirty="0">
                <a:latin typeface="Arial"/>
                <a:cs typeface="Arial"/>
              </a:rPr>
              <a:t>cultura </a:t>
            </a:r>
            <a:r>
              <a:rPr sz="1600" spc="-75" dirty="0">
                <a:latin typeface="Arial"/>
                <a:cs typeface="Arial"/>
              </a:rPr>
              <a:t>de </a:t>
            </a:r>
            <a:r>
              <a:rPr sz="1600" spc="-60" dirty="0">
                <a:latin typeface="Arial"/>
                <a:cs typeface="Arial"/>
              </a:rPr>
              <a:t>la </a:t>
            </a:r>
            <a:r>
              <a:rPr sz="1600" spc="-80" dirty="0">
                <a:latin typeface="Arial"/>
                <a:cs typeface="Arial"/>
              </a:rPr>
              <a:t>empresa, </a:t>
            </a:r>
            <a:r>
              <a:rPr sz="1600" spc="-50" dirty="0">
                <a:latin typeface="Arial"/>
                <a:cs typeface="Arial"/>
              </a:rPr>
              <a:t>no alrededor </a:t>
            </a:r>
            <a:r>
              <a:rPr sz="1600" spc="-75" dirty="0">
                <a:latin typeface="Arial"/>
                <a:cs typeface="Arial"/>
              </a:rPr>
              <a:t>de</a:t>
            </a:r>
            <a:r>
              <a:rPr sz="1600" spc="-335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ésta.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Métodos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080261"/>
            <a:ext cx="3422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0" dirty="0">
                <a:latin typeface="Trebuchet MS"/>
                <a:cs typeface="Trebuchet MS"/>
              </a:rPr>
              <a:t>Gestión </a:t>
            </a:r>
            <a:r>
              <a:rPr sz="2400" b="1" spc="-135" dirty="0">
                <a:latin typeface="Trebuchet MS"/>
                <a:cs typeface="Trebuchet MS"/>
              </a:rPr>
              <a:t>del </a:t>
            </a:r>
            <a:r>
              <a:rPr sz="2400" b="1" spc="-125" dirty="0">
                <a:latin typeface="Trebuchet MS"/>
                <a:cs typeface="Trebuchet MS"/>
              </a:rPr>
              <a:t>Cambio</a:t>
            </a:r>
            <a:r>
              <a:rPr sz="2400" b="1" spc="-340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1600200"/>
            <a:ext cx="7292691" cy="46819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Métodos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080261"/>
            <a:ext cx="3422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0" dirty="0">
                <a:latin typeface="Trebuchet MS"/>
                <a:cs typeface="Trebuchet MS"/>
              </a:rPr>
              <a:t>Gestión </a:t>
            </a:r>
            <a:r>
              <a:rPr sz="2400" b="1" spc="-135" dirty="0">
                <a:latin typeface="Trebuchet MS"/>
                <a:cs typeface="Trebuchet MS"/>
              </a:rPr>
              <a:t>del </a:t>
            </a:r>
            <a:r>
              <a:rPr sz="2400" b="1" spc="-125" dirty="0">
                <a:latin typeface="Trebuchet MS"/>
                <a:cs typeface="Trebuchet MS"/>
              </a:rPr>
              <a:t>Cambio</a:t>
            </a:r>
            <a:r>
              <a:rPr sz="2400" b="1" spc="-340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1600" y="1573530"/>
            <a:ext cx="6400800" cy="4625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97688" y="6092952"/>
            <a:ext cx="134810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10" dirty="0">
                <a:latin typeface="Arial"/>
                <a:cs typeface="Arial"/>
              </a:rPr>
              <a:t>Fuente:</a:t>
            </a:r>
            <a:r>
              <a:rPr sz="1600" b="1" spc="-160" dirty="0">
                <a:latin typeface="Arial"/>
                <a:cs typeface="Arial"/>
              </a:rPr>
              <a:t> </a:t>
            </a:r>
            <a:r>
              <a:rPr sz="1600" b="1" spc="-110" dirty="0">
                <a:latin typeface="Arial"/>
                <a:cs typeface="Arial"/>
              </a:rPr>
              <a:t>O’Brien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19</a:t>
            </a:fld>
            <a:endParaRPr spc="-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193801"/>
            <a:ext cx="544830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130" dirty="0">
                <a:solidFill>
                  <a:srgbClr val="FFFFFF"/>
                </a:solidFill>
                <a:latin typeface="Trebuchet MS"/>
                <a:cs typeface="Trebuchet MS"/>
              </a:rPr>
              <a:t>Ciclo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Vida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de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Información</a:t>
            </a:r>
            <a:r>
              <a:rPr sz="2000" b="1" spc="-4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Métodos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soluciones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080261"/>
            <a:ext cx="3422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0" dirty="0">
                <a:latin typeface="Trebuchet MS"/>
                <a:cs typeface="Trebuchet MS"/>
              </a:rPr>
              <a:t>Gestión </a:t>
            </a:r>
            <a:r>
              <a:rPr sz="2400" b="1" spc="-135" dirty="0">
                <a:latin typeface="Trebuchet MS"/>
                <a:cs typeface="Trebuchet MS"/>
              </a:rPr>
              <a:t>del </a:t>
            </a:r>
            <a:r>
              <a:rPr sz="2400" b="1" spc="-125" dirty="0">
                <a:latin typeface="Trebuchet MS"/>
                <a:cs typeface="Trebuchet MS"/>
              </a:rPr>
              <a:t>Cambio</a:t>
            </a:r>
            <a:r>
              <a:rPr sz="2400" b="1" spc="-340" dirty="0">
                <a:latin typeface="Trebuchet MS"/>
                <a:cs typeface="Trebuchet MS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(Cont.)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48511" y="1600200"/>
            <a:ext cx="7028688" cy="48257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800"/>
                </a:lnTo>
                <a:lnTo>
                  <a:pt x="602741" y="685800"/>
                </a:lnTo>
                <a:lnTo>
                  <a:pt x="774191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72380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800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800"/>
                </a:lnTo>
                <a:lnTo>
                  <a:pt x="0" y="685800"/>
                </a:lnTo>
                <a:close/>
              </a:path>
            </a:pathLst>
          </a:custGeom>
          <a:ln w="990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7972" y="4457999"/>
            <a:ext cx="3691254" cy="1707514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610"/>
              </a:spcBef>
            </a:pPr>
            <a:r>
              <a:rPr sz="3000" b="1" spc="-45" dirty="0">
                <a:solidFill>
                  <a:srgbClr val="FFFFFF"/>
                </a:solidFill>
                <a:latin typeface="Trebuchet MS"/>
                <a:cs typeface="Trebuchet MS"/>
              </a:rPr>
              <a:t>II</a:t>
            </a:r>
            <a:endParaRPr sz="3000">
              <a:latin typeface="Trebuchet MS"/>
              <a:cs typeface="Trebuchet MS"/>
            </a:endParaRPr>
          </a:p>
          <a:p>
            <a:pPr marL="692150" marR="558165" indent="-680085">
              <a:lnSpc>
                <a:spcPct val="100000"/>
              </a:lnSpc>
              <a:spcBef>
                <a:spcPts val="1410"/>
              </a:spcBef>
            </a:pPr>
            <a:r>
              <a:rPr sz="2800" b="1" spc="-120" dirty="0">
                <a:solidFill>
                  <a:srgbClr val="00338D"/>
                </a:solidFill>
                <a:latin typeface="Trebuchet MS"/>
                <a:cs typeface="Trebuchet MS"/>
              </a:rPr>
              <a:t>Análisis</a:t>
            </a:r>
            <a:r>
              <a:rPr sz="2800" b="1" spc="-28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estructurado 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r>
              <a:rPr sz="2800" b="1" spc="-22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30" dirty="0">
                <a:solidFill>
                  <a:srgbClr val="00338D"/>
                </a:solidFill>
                <a:latin typeface="Trebuchet MS"/>
                <a:cs typeface="Trebuchet MS"/>
              </a:rPr>
              <a:t>Sistemas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5870575" cy="3703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Análisis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estructurado de</a:t>
            </a:r>
            <a:r>
              <a:rPr sz="2000" b="1" spc="-3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Conceptos,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ventajas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6350">
              <a:lnSpc>
                <a:spcPct val="100000"/>
              </a:lnSpc>
              <a:tabLst>
                <a:tab pos="1560195" algn="l"/>
                <a:tab pos="2009775" algn="l"/>
                <a:tab pos="2671445" algn="l"/>
                <a:tab pos="4526280" algn="l"/>
              </a:tabLst>
            </a:pPr>
            <a:r>
              <a:rPr sz="2600" b="1" spc="-180" dirty="0">
                <a:latin typeface="Trebuchet MS"/>
                <a:cs typeface="Trebuchet MS"/>
              </a:rPr>
              <a:t>Con</a:t>
            </a:r>
            <a:r>
              <a:rPr sz="2600" b="1" spc="-155" dirty="0">
                <a:latin typeface="Trebuchet MS"/>
                <a:cs typeface="Trebuchet MS"/>
              </a:rPr>
              <a:t>c</a:t>
            </a:r>
            <a:r>
              <a:rPr sz="2600" b="1" spc="-160" dirty="0">
                <a:latin typeface="Trebuchet MS"/>
                <a:cs typeface="Trebuchet MS"/>
              </a:rPr>
              <a:t>e</a:t>
            </a:r>
            <a:r>
              <a:rPr sz="2600" b="1" spc="-165" dirty="0">
                <a:latin typeface="Trebuchet MS"/>
                <a:cs typeface="Trebuchet MS"/>
              </a:rPr>
              <a:t>p</a:t>
            </a:r>
            <a:r>
              <a:rPr sz="2600" b="1" spc="-155" dirty="0">
                <a:latin typeface="Trebuchet MS"/>
                <a:cs typeface="Trebuchet MS"/>
              </a:rPr>
              <a:t>t</a:t>
            </a:r>
            <a:r>
              <a:rPr sz="2600" b="1" spc="-65" dirty="0">
                <a:latin typeface="Trebuchet MS"/>
                <a:cs typeface="Trebuchet MS"/>
              </a:rPr>
              <a:t>o</a:t>
            </a:r>
            <a:r>
              <a:rPr sz="2600" b="1" spc="-240" dirty="0">
                <a:latin typeface="Trebuchet MS"/>
                <a:cs typeface="Trebuchet MS"/>
              </a:rPr>
              <a:t>:</a:t>
            </a:r>
            <a:r>
              <a:rPr sz="2600" b="1" dirty="0">
                <a:latin typeface="Trebuchet MS"/>
                <a:cs typeface="Trebuchet MS"/>
              </a:rPr>
              <a:t>	</a:t>
            </a:r>
            <a:r>
              <a:rPr sz="2600" spc="-240" dirty="0">
                <a:latin typeface="Arial"/>
                <a:cs typeface="Arial"/>
              </a:rPr>
              <a:t>e</a:t>
            </a:r>
            <a:r>
              <a:rPr sz="2600" spc="-210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30" dirty="0">
                <a:latin typeface="Arial"/>
                <a:cs typeface="Arial"/>
              </a:rPr>
              <a:t>un</a:t>
            </a:r>
            <a:r>
              <a:rPr sz="2600" spc="-12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50" dirty="0">
                <a:latin typeface="Arial"/>
                <a:cs typeface="Arial"/>
              </a:rPr>
              <a:t>m</a:t>
            </a:r>
            <a:r>
              <a:rPr sz="2600" spc="-110" dirty="0">
                <a:latin typeface="Arial"/>
                <a:cs typeface="Arial"/>
              </a:rPr>
              <a:t>e</a:t>
            </a:r>
            <a:r>
              <a:rPr sz="2600" spc="120" dirty="0">
                <a:latin typeface="Arial"/>
                <a:cs typeface="Arial"/>
              </a:rPr>
              <a:t>t</a:t>
            </a:r>
            <a:r>
              <a:rPr sz="2600" spc="-70" dirty="0">
                <a:latin typeface="Arial"/>
                <a:cs typeface="Arial"/>
              </a:rPr>
              <a:t>odo</a:t>
            </a:r>
            <a:r>
              <a:rPr sz="2600" spc="-25" dirty="0">
                <a:latin typeface="Arial"/>
                <a:cs typeface="Arial"/>
              </a:rPr>
              <a:t>l</a:t>
            </a:r>
            <a:r>
              <a:rPr sz="2600" spc="-155" dirty="0">
                <a:latin typeface="Arial"/>
                <a:cs typeface="Arial"/>
              </a:rPr>
              <a:t>o</a:t>
            </a:r>
            <a:r>
              <a:rPr sz="2600" spc="-145" dirty="0">
                <a:latin typeface="Arial"/>
                <a:cs typeface="Arial"/>
              </a:rPr>
              <a:t>g</a:t>
            </a:r>
            <a:r>
              <a:rPr sz="2600" spc="-165" dirty="0">
                <a:latin typeface="Arial"/>
                <a:cs typeface="Arial"/>
              </a:rPr>
              <a:t>ía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0" dirty="0">
                <a:latin typeface="Arial"/>
                <a:cs typeface="Arial"/>
              </a:rPr>
              <a:t>emple</a:t>
            </a:r>
            <a:r>
              <a:rPr sz="2600" spc="-125" dirty="0">
                <a:latin typeface="Arial"/>
                <a:cs typeface="Arial"/>
              </a:rPr>
              <a:t>a</a:t>
            </a:r>
            <a:r>
              <a:rPr sz="2600" spc="-114" dirty="0">
                <a:latin typeface="Arial"/>
                <a:cs typeface="Arial"/>
              </a:rPr>
              <a:t>da 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85" dirty="0">
                <a:latin typeface="Arial"/>
                <a:cs typeface="Arial"/>
              </a:rPr>
              <a:t>desarrollo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305" dirty="0">
                <a:latin typeface="Arial"/>
                <a:cs typeface="Arial"/>
              </a:rPr>
              <a:t>SI</a:t>
            </a:r>
            <a:r>
              <a:rPr sz="2600" spc="-24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que: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marR="5080" indent="-514984" algn="just">
              <a:lnSpc>
                <a:spcPct val="100000"/>
              </a:lnSpc>
            </a:pPr>
            <a:r>
              <a:rPr sz="2600" spc="-100" dirty="0">
                <a:latin typeface="Arial"/>
                <a:cs typeface="Arial"/>
              </a:rPr>
              <a:t>1. Permite </a:t>
            </a:r>
            <a:r>
              <a:rPr sz="2600" spc="-95" dirty="0">
                <a:latin typeface="Arial"/>
                <a:cs typeface="Arial"/>
              </a:rPr>
              <a:t>al </a:t>
            </a:r>
            <a:r>
              <a:rPr sz="2600" spc="-110" dirty="0">
                <a:latin typeface="Arial"/>
                <a:cs typeface="Arial"/>
              </a:rPr>
              <a:t>Analista </a:t>
            </a:r>
            <a:r>
              <a:rPr sz="2600" b="1" i="1" spc="-245" dirty="0">
                <a:latin typeface="Arial"/>
                <a:cs typeface="Arial"/>
              </a:rPr>
              <a:t>conocer </a:t>
            </a:r>
            <a:r>
              <a:rPr sz="2600" b="1" i="1" spc="-220" dirty="0">
                <a:latin typeface="Arial"/>
                <a:cs typeface="Arial"/>
              </a:rPr>
              <a:t>un </a:t>
            </a:r>
            <a:r>
              <a:rPr sz="2600" b="1" i="1" spc="-210" dirty="0">
                <a:latin typeface="Arial"/>
                <a:cs typeface="Arial"/>
              </a:rPr>
              <a:t>sistema  </a:t>
            </a:r>
            <a:r>
              <a:rPr sz="2600" b="1" i="1" spc="-220" dirty="0">
                <a:latin typeface="Arial"/>
                <a:cs typeface="Arial"/>
              </a:rPr>
              <a:t>o </a:t>
            </a:r>
            <a:r>
              <a:rPr sz="2600" b="1" i="1" spc="-250" dirty="0">
                <a:latin typeface="Arial"/>
                <a:cs typeface="Arial"/>
              </a:rPr>
              <a:t>proceso </a:t>
            </a:r>
            <a:r>
              <a:rPr sz="2600" b="1" i="1" spc="-195" dirty="0">
                <a:latin typeface="Arial"/>
                <a:cs typeface="Arial"/>
              </a:rPr>
              <a:t>en </a:t>
            </a:r>
            <a:r>
              <a:rPr sz="2600" b="1" i="1" spc="-175" dirty="0">
                <a:latin typeface="Arial"/>
                <a:cs typeface="Arial"/>
              </a:rPr>
              <a:t>una </a:t>
            </a:r>
            <a:r>
              <a:rPr sz="2600" b="1" i="1" spc="-140" dirty="0">
                <a:latin typeface="Arial"/>
                <a:cs typeface="Arial"/>
              </a:rPr>
              <a:t>forma</a:t>
            </a:r>
            <a:r>
              <a:rPr sz="2600" b="1" i="1" spc="440" dirty="0">
                <a:latin typeface="Arial"/>
                <a:cs typeface="Arial"/>
              </a:rPr>
              <a:t> </a:t>
            </a:r>
            <a:r>
              <a:rPr sz="2600" b="1" i="1" spc="-180" dirty="0">
                <a:latin typeface="Arial"/>
                <a:cs typeface="Arial"/>
              </a:rPr>
              <a:t>lógica </a:t>
            </a:r>
            <a:r>
              <a:rPr sz="2600" b="1" i="1" spc="-225" dirty="0">
                <a:latin typeface="Arial"/>
                <a:cs typeface="Arial"/>
              </a:rPr>
              <a:t>y  </a:t>
            </a:r>
            <a:r>
              <a:rPr sz="2600" b="1" i="1" spc="-140" dirty="0">
                <a:latin typeface="Arial"/>
                <a:cs typeface="Arial"/>
              </a:rPr>
              <a:t>manejable</a:t>
            </a:r>
            <a:r>
              <a:rPr sz="2600" spc="-140" dirty="0">
                <a:latin typeface="Arial"/>
                <a:cs typeface="Arial"/>
              </a:rPr>
              <a:t>,</a:t>
            </a:r>
            <a:r>
              <a:rPr sz="2600" spc="44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proporcionándole </a:t>
            </a:r>
            <a:r>
              <a:rPr sz="2600" spc="-130" dirty="0">
                <a:latin typeface="Arial"/>
                <a:cs typeface="Arial"/>
              </a:rPr>
              <a:t>una  </a:t>
            </a:r>
            <a:r>
              <a:rPr sz="2600" spc="-95" dirty="0">
                <a:latin typeface="Arial"/>
                <a:cs typeface="Arial"/>
              </a:rPr>
              <a:t>visión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85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detalle;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4268215"/>
            <a:ext cx="24079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050" algn="l"/>
                <a:tab pos="1058545" algn="l"/>
              </a:tabLst>
            </a:pPr>
            <a:r>
              <a:rPr sz="2600" spc="-105" dirty="0">
                <a:latin typeface="Arial"/>
                <a:cs typeface="Arial"/>
              </a:rPr>
              <a:t>2.	</a:t>
            </a:r>
            <a:r>
              <a:rPr sz="2600" spc="-350" dirty="0">
                <a:latin typeface="Arial"/>
                <a:cs typeface="Arial"/>
              </a:rPr>
              <a:t>Se	</a:t>
            </a:r>
            <a:r>
              <a:rPr sz="2600" spc="-105" dirty="0">
                <a:latin typeface="Arial"/>
                <a:cs typeface="Arial"/>
              </a:rPr>
              <a:t>concentra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38704" y="4268215"/>
            <a:ext cx="32715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5785" algn="l"/>
                <a:tab pos="2238375" algn="l"/>
                <a:tab pos="2965450" algn="l"/>
              </a:tabLst>
            </a:pPr>
            <a:r>
              <a:rPr sz="2600" spc="-125" dirty="0">
                <a:latin typeface="Arial"/>
                <a:cs typeface="Arial"/>
              </a:rPr>
              <a:t>e</a:t>
            </a:r>
            <a:r>
              <a:rPr sz="2600" spc="-120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b="1" i="1" spc="-215" dirty="0">
                <a:latin typeface="Arial"/>
                <a:cs typeface="Arial"/>
              </a:rPr>
              <a:t>especif</a:t>
            </a:r>
            <a:r>
              <a:rPr sz="2600" b="1" i="1" spc="-120" dirty="0">
                <a:latin typeface="Arial"/>
                <a:cs typeface="Arial"/>
              </a:rPr>
              <a:t>i</a:t>
            </a:r>
            <a:r>
              <a:rPr sz="2600" b="1" i="1" spc="-400" dirty="0">
                <a:latin typeface="Arial"/>
                <a:cs typeface="Arial"/>
              </a:rPr>
              <a:t>c</a:t>
            </a:r>
            <a:r>
              <a:rPr sz="2600" b="1" i="1" spc="-90" dirty="0">
                <a:latin typeface="Arial"/>
                <a:cs typeface="Arial"/>
              </a:rPr>
              <a:t>ar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204" dirty="0">
                <a:latin typeface="Arial"/>
                <a:cs typeface="Arial"/>
              </a:rPr>
              <a:t>qué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300" dirty="0">
                <a:latin typeface="Arial"/>
                <a:cs typeface="Arial"/>
              </a:rPr>
              <a:t>se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3872" y="4664455"/>
            <a:ext cx="535559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i="1" spc="-160" dirty="0">
                <a:latin typeface="Arial"/>
                <a:cs typeface="Arial"/>
              </a:rPr>
              <a:t>requiere </a:t>
            </a:r>
            <a:r>
              <a:rPr sz="2600" b="1" i="1" spc="-204" dirty="0">
                <a:latin typeface="Arial"/>
                <a:cs typeface="Arial"/>
              </a:rPr>
              <a:t>que </a:t>
            </a:r>
            <a:r>
              <a:rPr sz="2600" b="1" i="1" spc="-170" dirty="0">
                <a:latin typeface="Arial"/>
                <a:cs typeface="Arial"/>
              </a:rPr>
              <a:t>instrumente </a:t>
            </a:r>
            <a:r>
              <a:rPr sz="2600" b="1" i="1" spc="-130" dirty="0">
                <a:latin typeface="Arial"/>
                <a:cs typeface="Arial"/>
              </a:rPr>
              <a:t>el </a:t>
            </a:r>
            <a:r>
              <a:rPr sz="2600" b="1" i="1" spc="-210" dirty="0">
                <a:latin typeface="Arial"/>
                <a:cs typeface="Arial"/>
              </a:rPr>
              <a:t>sistema</a:t>
            </a:r>
            <a:r>
              <a:rPr sz="2600" b="1" i="1" spc="-285" dirty="0">
                <a:latin typeface="Arial"/>
                <a:cs typeface="Arial"/>
              </a:rPr>
              <a:t> </a:t>
            </a:r>
            <a:r>
              <a:rPr sz="2600" b="1" i="1" spc="-220" dirty="0">
                <a:latin typeface="Arial"/>
                <a:cs typeface="Arial"/>
              </a:rPr>
              <a:t>o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3872" y="5060441"/>
            <a:ext cx="26708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0545" algn="l"/>
                <a:tab pos="2308860" algn="l"/>
              </a:tabLst>
            </a:pPr>
            <a:r>
              <a:rPr sz="2600" b="1" i="1" spc="-60" dirty="0">
                <a:latin typeface="Arial"/>
                <a:cs typeface="Arial"/>
              </a:rPr>
              <a:t>l</a:t>
            </a:r>
            <a:r>
              <a:rPr sz="2600" b="1" i="1" spc="-105" dirty="0">
                <a:latin typeface="Arial"/>
                <a:cs typeface="Arial"/>
              </a:rPr>
              <a:t>a</a:t>
            </a:r>
            <a:r>
              <a:rPr sz="2600" b="1" i="1" dirty="0">
                <a:latin typeface="Arial"/>
                <a:cs typeface="Arial"/>
              </a:rPr>
              <a:t>	</a:t>
            </a:r>
            <a:r>
              <a:rPr sz="2600" b="1" i="1" spc="-140" dirty="0">
                <a:latin typeface="Arial"/>
                <a:cs typeface="Arial"/>
              </a:rPr>
              <a:t>a</a:t>
            </a:r>
            <a:r>
              <a:rPr sz="2600" b="1" i="1" spc="-150" dirty="0">
                <a:latin typeface="Arial"/>
                <a:cs typeface="Arial"/>
              </a:rPr>
              <a:t>p</a:t>
            </a:r>
            <a:r>
              <a:rPr sz="2600" b="1" i="1" spc="-140" dirty="0">
                <a:latin typeface="Arial"/>
                <a:cs typeface="Arial"/>
              </a:rPr>
              <a:t>li</a:t>
            </a:r>
            <a:r>
              <a:rPr sz="2600" b="1" i="1" spc="-300" dirty="0">
                <a:latin typeface="Arial"/>
                <a:cs typeface="Arial"/>
              </a:rPr>
              <a:t>c</a:t>
            </a:r>
            <a:r>
              <a:rPr sz="2600" b="1" i="1" spc="-175" dirty="0">
                <a:latin typeface="Arial"/>
                <a:cs typeface="Arial"/>
              </a:rPr>
              <a:t>aci</a:t>
            </a:r>
            <a:r>
              <a:rPr sz="2600" b="1" i="1" spc="-225" dirty="0">
                <a:latin typeface="Arial"/>
                <a:cs typeface="Arial"/>
              </a:rPr>
              <a:t>ó</a:t>
            </a:r>
            <a:r>
              <a:rPr sz="2600" b="1" i="1" spc="-215" dirty="0">
                <a:latin typeface="Arial"/>
                <a:cs typeface="Arial"/>
              </a:rPr>
              <a:t>n</a:t>
            </a:r>
            <a:r>
              <a:rPr sz="2600" spc="-30" dirty="0">
                <a:latin typeface="Arial"/>
                <a:cs typeface="Arial"/>
              </a:rPr>
              <a:t>;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80" dirty="0">
                <a:latin typeface="Arial"/>
                <a:cs typeface="Arial"/>
              </a:rPr>
              <a:t>no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81476" y="5060441"/>
            <a:ext cx="82041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95" dirty="0">
                <a:latin typeface="Arial"/>
                <a:cs typeface="Arial"/>
              </a:rPr>
              <a:t>indica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8435" y="5060441"/>
            <a:ext cx="1350645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2995" marR="5080" indent="-1090930" algn="r">
              <a:lnSpc>
                <a:spcPct val="100000"/>
              </a:lnSpc>
              <a:spcBef>
                <a:spcPts val="100"/>
              </a:spcBef>
              <a:tabLst>
                <a:tab pos="1044575" algn="l"/>
              </a:tabLst>
            </a:pPr>
            <a:r>
              <a:rPr sz="2600" spc="-229" dirty="0">
                <a:latin typeface="Arial"/>
                <a:cs typeface="Arial"/>
              </a:rPr>
              <a:t>c</a:t>
            </a:r>
            <a:r>
              <a:rPr sz="2600" spc="-95" dirty="0">
                <a:latin typeface="Arial"/>
                <a:cs typeface="Arial"/>
              </a:rPr>
              <a:t>óm</a:t>
            </a:r>
            <a:r>
              <a:rPr sz="2600" spc="-70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	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3872" y="5457190"/>
            <a:ext cx="48361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638935" algn="l"/>
                <a:tab pos="2303145" algn="l"/>
                <a:tab pos="4648835" algn="l"/>
              </a:tabLst>
            </a:pPr>
            <a:r>
              <a:rPr sz="2600" spc="-60" dirty="0">
                <a:latin typeface="Arial"/>
                <a:cs typeface="Arial"/>
              </a:rPr>
              <a:t>cumpli</a:t>
            </a:r>
            <a:r>
              <a:rPr sz="2600" spc="-90" dirty="0">
                <a:latin typeface="Arial"/>
                <a:cs typeface="Arial"/>
              </a:rPr>
              <a:t>r</a:t>
            </a:r>
            <a:r>
              <a:rPr sz="2600" spc="-145" dirty="0">
                <a:latin typeface="Arial"/>
                <a:cs typeface="Arial"/>
              </a:rPr>
              <a:t>án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4" dirty="0">
                <a:latin typeface="Arial"/>
                <a:cs typeface="Arial"/>
              </a:rPr>
              <a:t>los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" dirty="0">
                <a:latin typeface="Arial"/>
                <a:cs typeface="Arial"/>
              </a:rPr>
              <a:t>r</a:t>
            </a:r>
            <a:r>
              <a:rPr sz="2600" spc="-75" dirty="0">
                <a:latin typeface="Arial"/>
                <a:cs typeface="Arial"/>
              </a:rPr>
              <a:t>equerimie</a:t>
            </a:r>
            <a:r>
              <a:rPr sz="2600" spc="-110" dirty="0">
                <a:latin typeface="Arial"/>
                <a:cs typeface="Arial"/>
              </a:rPr>
              <a:t>n</a:t>
            </a:r>
            <a:r>
              <a:rPr sz="2600" spc="125" dirty="0">
                <a:latin typeface="Arial"/>
                <a:cs typeface="Arial"/>
              </a:rPr>
              <a:t>t</a:t>
            </a:r>
            <a:r>
              <a:rPr sz="2600" spc="-195" dirty="0">
                <a:latin typeface="Arial"/>
                <a:cs typeface="Arial"/>
              </a:rPr>
              <a:t>o</a:t>
            </a:r>
            <a:r>
              <a:rPr sz="2600" spc="-175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5" dirty="0">
                <a:latin typeface="Arial"/>
                <a:cs typeface="Arial"/>
              </a:rPr>
              <a:t>o  </a:t>
            </a:r>
            <a:r>
              <a:rPr sz="2600" spc="-70" dirty="0">
                <a:latin typeface="Arial"/>
                <a:cs typeface="Arial"/>
              </a:rPr>
              <a:t>forma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225" dirty="0">
                <a:latin typeface="Arial"/>
                <a:cs typeface="Arial"/>
              </a:rPr>
              <a:t>se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implantará.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24600" y="1219200"/>
            <a:ext cx="2514600" cy="2209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24600" y="3657600"/>
            <a:ext cx="2514600" cy="2590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8615045" cy="5854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Análisis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estructurado 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3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Conceptos,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ventajas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5" dirty="0">
                <a:latin typeface="Trebuchet MS"/>
                <a:cs typeface="Trebuchet MS"/>
              </a:rPr>
              <a:t>Componentes: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50" dirty="0">
                <a:latin typeface="Trebuchet MS"/>
                <a:cs typeface="Trebuchet MS"/>
              </a:rPr>
              <a:t>Descripciones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40" dirty="0">
                <a:latin typeface="Trebuchet MS"/>
                <a:cs typeface="Trebuchet MS"/>
              </a:rPr>
              <a:t>procesos </a:t>
            </a:r>
            <a:r>
              <a:rPr sz="2600" b="1" spc="-160" dirty="0">
                <a:latin typeface="Trebuchet MS"/>
                <a:cs typeface="Trebuchet MS"/>
              </a:rPr>
              <a:t>y</a:t>
            </a:r>
            <a:r>
              <a:rPr sz="2600" b="1" spc="-270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procedimientos:</a:t>
            </a:r>
            <a:endParaRPr sz="2600">
              <a:latin typeface="Trebuchet MS"/>
              <a:cs typeface="Trebuchet MS"/>
            </a:endParaRPr>
          </a:p>
          <a:p>
            <a:pPr marL="984250" lvl="1" indent="-5143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200" i="1" spc="-60" dirty="0">
                <a:latin typeface="Trebuchet MS"/>
                <a:cs typeface="Trebuchet MS"/>
              </a:rPr>
              <a:t>Diagramas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175" dirty="0">
                <a:latin typeface="Trebuchet MS"/>
                <a:cs typeface="Trebuchet MS"/>
              </a:rPr>
              <a:t>flujo </a:t>
            </a:r>
            <a:r>
              <a:rPr sz="2200" i="1" spc="-114" dirty="0">
                <a:latin typeface="Trebuchet MS"/>
                <a:cs typeface="Trebuchet MS"/>
              </a:rPr>
              <a:t>de </a:t>
            </a:r>
            <a:r>
              <a:rPr sz="2200" i="1" spc="-90" dirty="0">
                <a:latin typeface="Trebuchet MS"/>
                <a:cs typeface="Trebuchet MS"/>
              </a:rPr>
              <a:t>datos</a:t>
            </a:r>
            <a:r>
              <a:rPr sz="2200" i="1" spc="-455" dirty="0">
                <a:latin typeface="Trebuchet MS"/>
                <a:cs typeface="Trebuchet MS"/>
              </a:rPr>
              <a:t> </a:t>
            </a:r>
            <a:r>
              <a:rPr sz="2200" i="1" spc="-90" dirty="0">
                <a:latin typeface="Trebuchet MS"/>
                <a:cs typeface="Trebuchet MS"/>
              </a:rPr>
              <a:t>(DFD)</a:t>
            </a:r>
            <a:endParaRPr sz="2200">
              <a:latin typeface="Trebuchet MS"/>
              <a:cs typeface="Trebuchet MS"/>
            </a:endParaRPr>
          </a:p>
          <a:p>
            <a:pPr marL="984250" lvl="1" indent="-514350">
              <a:lnSpc>
                <a:spcPct val="100000"/>
              </a:lnSpc>
              <a:buFont typeface="Arial"/>
              <a:buChar char="•"/>
              <a:tabLst>
                <a:tab pos="984250" algn="l"/>
                <a:tab pos="984885" algn="l"/>
              </a:tabLst>
            </a:pPr>
            <a:r>
              <a:rPr sz="2200" i="1" spc="-85" dirty="0">
                <a:latin typeface="Trebuchet MS"/>
                <a:cs typeface="Trebuchet MS"/>
              </a:rPr>
              <a:t>Reglas </a:t>
            </a:r>
            <a:r>
              <a:rPr sz="2200" i="1" spc="-114" dirty="0">
                <a:latin typeface="Trebuchet MS"/>
                <a:cs typeface="Trebuchet MS"/>
              </a:rPr>
              <a:t>de</a:t>
            </a:r>
            <a:r>
              <a:rPr sz="2200" i="1" spc="-290" dirty="0">
                <a:latin typeface="Trebuchet MS"/>
                <a:cs typeface="Trebuchet MS"/>
              </a:rPr>
              <a:t> </a:t>
            </a:r>
            <a:r>
              <a:rPr sz="2200" i="1" spc="-85" dirty="0">
                <a:latin typeface="Trebuchet MS"/>
                <a:cs typeface="Trebuchet MS"/>
              </a:rPr>
              <a:t>negocio</a:t>
            </a:r>
            <a:endParaRPr sz="22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25"/>
              </a:spcBef>
            </a:pPr>
            <a:r>
              <a:rPr sz="1800" i="1" spc="-130" dirty="0">
                <a:latin typeface="Trebuchet MS"/>
                <a:cs typeface="Trebuchet MS"/>
              </a:rPr>
              <a:t>“Si </a:t>
            </a:r>
            <a:r>
              <a:rPr sz="1800" i="1" spc="-90" dirty="0">
                <a:latin typeface="Trebuchet MS"/>
                <a:cs typeface="Trebuchet MS"/>
              </a:rPr>
              <a:t>stock </a:t>
            </a:r>
            <a:r>
              <a:rPr sz="1800" i="1" spc="-50" dirty="0">
                <a:latin typeface="Trebuchet MS"/>
                <a:cs typeface="Trebuchet MS"/>
              </a:rPr>
              <a:t>&lt; </a:t>
            </a:r>
            <a:r>
              <a:rPr sz="1800" i="1" spc="-75" dirty="0">
                <a:latin typeface="Trebuchet MS"/>
                <a:cs typeface="Trebuchet MS"/>
              </a:rPr>
              <a:t>3000, </a:t>
            </a:r>
            <a:r>
              <a:rPr sz="1800" i="1" spc="-90" dirty="0">
                <a:latin typeface="Trebuchet MS"/>
                <a:cs typeface="Trebuchet MS"/>
              </a:rPr>
              <a:t>entonces hacer </a:t>
            </a:r>
            <a:r>
              <a:rPr sz="1800" i="1" spc="-80" dirty="0">
                <a:latin typeface="Trebuchet MS"/>
                <a:cs typeface="Trebuchet MS"/>
              </a:rPr>
              <a:t>nuevo</a:t>
            </a:r>
            <a:r>
              <a:rPr sz="1800" i="1" spc="-400" dirty="0">
                <a:latin typeface="Trebuchet MS"/>
                <a:cs typeface="Trebuchet MS"/>
              </a:rPr>
              <a:t> </a:t>
            </a:r>
            <a:r>
              <a:rPr sz="1800" i="1" spc="-110" dirty="0">
                <a:latin typeface="Trebuchet MS"/>
                <a:cs typeface="Trebuchet MS"/>
              </a:rPr>
              <a:t>pedido”</a:t>
            </a:r>
            <a:endParaRPr sz="18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800" i="1" spc="-130" dirty="0">
                <a:latin typeface="Trebuchet MS"/>
                <a:cs typeface="Trebuchet MS"/>
              </a:rPr>
              <a:t>“Si</a:t>
            </a:r>
            <a:r>
              <a:rPr sz="1800" i="1" spc="-140" dirty="0">
                <a:latin typeface="Trebuchet MS"/>
                <a:cs typeface="Trebuchet MS"/>
              </a:rPr>
              <a:t> el</a:t>
            </a:r>
            <a:r>
              <a:rPr sz="1800" i="1" spc="-130" dirty="0">
                <a:latin typeface="Trebuchet MS"/>
                <a:cs typeface="Trebuchet MS"/>
              </a:rPr>
              <a:t> </a:t>
            </a:r>
            <a:r>
              <a:rPr sz="1800" i="1" spc="-125" dirty="0">
                <a:latin typeface="Trebuchet MS"/>
                <a:cs typeface="Trebuchet MS"/>
              </a:rPr>
              <a:t>cliente </a:t>
            </a:r>
            <a:r>
              <a:rPr sz="1800" i="1" spc="-55" dirty="0">
                <a:latin typeface="Trebuchet MS"/>
                <a:cs typeface="Trebuchet MS"/>
              </a:rPr>
              <a:t>no</a:t>
            </a:r>
            <a:r>
              <a:rPr sz="1800" i="1" spc="-130" dirty="0">
                <a:latin typeface="Trebuchet MS"/>
                <a:cs typeface="Trebuchet MS"/>
              </a:rPr>
              <a:t> </a:t>
            </a:r>
            <a:r>
              <a:rPr sz="1800" i="1" spc="-90" dirty="0">
                <a:latin typeface="Trebuchet MS"/>
                <a:cs typeface="Trebuchet MS"/>
              </a:rPr>
              <a:t>está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spc="-60" dirty="0">
                <a:latin typeface="Trebuchet MS"/>
                <a:cs typeface="Trebuchet MS"/>
              </a:rPr>
              <a:t>dado</a:t>
            </a:r>
            <a:r>
              <a:rPr sz="1800" i="1" spc="-125" dirty="0">
                <a:latin typeface="Trebuchet MS"/>
                <a:cs typeface="Trebuchet MS"/>
              </a:rPr>
              <a:t> </a:t>
            </a:r>
            <a:r>
              <a:rPr sz="1800" i="1" spc="-95" dirty="0">
                <a:latin typeface="Trebuchet MS"/>
                <a:cs typeface="Trebuchet MS"/>
              </a:rPr>
              <a:t>de</a:t>
            </a:r>
            <a:r>
              <a:rPr sz="1800" i="1" spc="-125" dirty="0">
                <a:latin typeface="Trebuchet MS"/>
                <a:cs typeface="Trebuchet MS"/>
              </a:rPr>
              <a:t> alta, </a:t>
            </a:r>
            <a:r>
              <a:rPr sz="1800" i="1" spc="-90" dirty="0">
                <a:latin typeface="Trebuchet MS"/>
                <a:cs typeface="Trebuchet MS"/>
              </a:rPr>
              <a:t>entonces</a:t>
            </a:r>
            <a:r>
              <a:rPr sz="1800" i="1" spc="-120" dirty="0">
                <a:latin typeface="Trebuchet MS"/>
                <a:cs typeface="Trebuchet MS"/>
              </a:rPr>
              <a:t> </a:t>
            </a:r>
            <a:r>
              <a:rPr sz="1800" i="1" spc="-114" dirty="0">
                <a:latin typeface="Trebuchet MS"/>
                <a:cs typeface="Trebuchet MS"/>
              </a:rPr>
              <a:t>pedir</a:t>
            </a:r>
            <a:r>
              <a:rPr sz="1800" i="1" spc="-140" dirty="0">
                <a:latin typeface="Trebuchet MS"/>
                <a:cs typeface="Trebuchet MS"/>
              </a:rPr>
              <a:t> </a:t>
            </a:r>
            <a:r>
              <a:rPr sz="1800" i="1" spc="-50" dirty="0">
                <a:latin typeface="Trebuchet MS"/>
                <a:cs typeface="Trebuchet MS"/>
              </a:rPr>
              <a:t>sus</a:t>
            </a:r>
            <a:r>
              <a:rPr sz="1800" i="1" spc="-130" dirty="0">
                <a:latin typeface="Trebuchet MS"/>
                <a:cs typeface="Trebuchet MS"/>
              </a:rPr>
              <a:t> </a:t>
            </a:r>
            <a:r>
              <a:rPr sz="1800" i="1" spc="-75" dirty="0">
                <a:latin typeface="Trebuchet MS"/>
                <a:cs typeface="Trebuchet MS"/>
              </a:rPr>
              <a:t>datos</a:t>
            </a:r>
            <a:r>
              <a:rPr sz="1800" i="1" spc="-125" dirty="0">
                <a:latin typeface="Trebuchet MS"/>
                <a:cs typeface="Trebuchet MS"/>
              </a:rPr>
              <a:t> </a:t>
            </a:r>
            <a:r>
              <a:rPr sz="1800" i="1" spc="-85" dirty="0">
                <a:latin typeface="Trebuchet MS"/>
                <a:cs typeface="Trebuchet MS"/>
              </a:rPr>
              <a:t>y</a:t>
            </a:r>
            <a:r>
              <a:rPr sz="1800" i="1" spc="-140" dirty="0">
                <a:latin typeface="Trebuchet MS"/>
                <a:cs typeface="Trebuchet MS"/>
              </a:rPr>
              <a:t> </a:t>
            </a:r>
            <a:r>
              <a:rPr sz="1800" i="1" spc="-95" dirty="0">
                <a:latin typeface="Trebuchet MS"/>
                <a:cs typeface="Trebuchet MS"/>
              </a:rPr>
              <a:t>darlo</a:t>
            </a:r>
            <a:r>
              <a:rPr sz="1800" i="1" spc="-135" dirty="0">
                <a:latin typeface="Trebuchet MS"/>
                <a:cs typeface="Trebuchet MS"/>
              </a:rPr>
              <a:t> </a:t>
            </a:r>
            <a:r>
              <a:rPr sz="1800" i="1" spc="-95" dirty="0">
                <a:latin typeface="Trebuchet MS"/>
                <a:cs typeface="Trebuchet MS"/>
              </a:rPr>
              <a:t>de</a:t>
            </a:r>
            <a:r>
              <a:rPr sz="1800" i="1" spc="-125" dirty="0">
                <a:latin typeface="Trebuchet MS"/>
                <a:cs typeface="Trebuchet MS"/>
              </a:rPr>
              <a:t> </a:t>
            </a:r>
            <a:r>
              <a:rPr sz="1800" i="1" spc="-120" dirty="0">
                <a:latin typeface="Trebuchet MS"/>
                <a:cs typeface="Trebuchet MS"/>
              </a:rPr>
              <a:t>alta”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Times New Roman"/>
              <a:cs typeface="Times New Roman"/>
            </a:endParaRPr>
          </a:p>
          <a:p>
            <a:pPr marL="527050" marR="5080" indent="-514350" algn="just">
              <a:lnSpc>
                <a:spcPct val="100000"/>
              </a:lnSpc>
              <a:buAutoNum type="arabicPeriod" startAt="2"/>
              <a:tabLst>
                <a:tab pos="527685" algn="l"/>
              </a:tabLst>
            </a:pPr>
            <a:r>
              <a:rPr sz="2600" b="1" spc="-145" dirty="0">
                <a:latin typeface="Trebuchet MS"/>
                <a:cs typeface="Trebuchet MS"/>
              </a:rPr>
              <a:t>Diccionario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Datos: </a:t>
            </a:r>
            <a:r>
              <a:rPr sz="2600" spc="-65" dirty="0">
                <a:latin typeface="Arial"/>
                <a:cs typeface="Arial"/>
              </a:rPr>
              <a:t>refleja </a:t>
            </a:r>
            <a:r>
              <a:rPr sz="2600" spc="-105" dirty="0">
                <a:latin typeface="Arial"/>
                <a:cs typeface="Arial"/>
              </a:rPr>
              <a:t>todas </a:t>
            </a:r>
            <a:r>
              <a:rPr sz="2600" spc="-160" dirty="0">
                <a:latin typeface="Arial"/>
                <a:cs typeface="Arial"/>
              </a:rPr>
              <a:t>las </a:t>
            </a:r>
            <a:r>
              <a:rPr sz="2600" spc="-90" dirty="0">
                <a:latin typeface="Arial"/>
                <a:cs typeface="Arial"/>
              </a:rPr>
              <a:t>definiciones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los  </a:t>
            </a:r>
            <a:r>
              <a:rPr sz="2600" spc="-100" dirty="0">
                <a:latin typeface="Arial"/>
                <a:cs typeface="Arial"/>
              </a:rPr>
              <a:t>elementos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170" dirty="0">
                <a:latin typeface="Arial"/>
                <a:cs typeface="Arial"/>
              </a:rPr>
              <a:t>Sistema </a:t>
            </a:r>
            <a:r>
              <a:rPr sz="2600" spc="-25" dirty="0">
                <a:latin typeface="Arial"/>
                <a:cs typeface="Arial"/>
              </a:rPr>
              <a:t>(flujo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05" dirty="0">
                <a:latin typeface="Arial"/>
                <a:cs typeface="Arial"/>
              </a:rPr>
              <a:t>datos, </a:t>
            </a:r>
            <a:r>
              <a:rPr sz="2600" spc="-145" dirty="0">
                <a:latin typeface="Arial"/>
                <a:cs typeface="Arial"/>
              </a:rPr>
              <a:t>procesos, </a:t>
            </a:r>
            <a:r>
              <a:rPr sz="2600" spc="-150" dirty="0">
                <a:latin typeface="Arial"/>
                <a:cs typeface="Arial"/>
              </a:rPr>
              <a:t>Data  </a:t>
            </a:r>
            <a:r>
              <a:rPr sz="2600" spc="-10" dirty="0">
                <a:latin typeface="Arial"/>
                <a:cs typeface="Arial"/>
              </a:rPr>
              <a:t>Mart)</a:t>
            </a:r>
            <a:endParaRPr sz="2600">
              <a:latin typeface="Arial"/>
              <a:cs typeface="Arial"/>
            </a:endParaRPr>
          </a:p>
          <a:p>
            <a:pPr marL="984250" marR="6350" lvl="1" indent="-514350">
              <a:lnSpc>
                <a:spcPct val="100000"/>
              </a:lnSpc>
              <a:spcBef>
                <a:spcPts val="25"/>
              </a:spcBef>
              <a:buChar char="•"/>
              <a:tabLst>
                <a:tab pos="984250" algn="l"/>
                <a:tab pos="984885" algn="l"/>
                <a:tab pos="1971039" algn="l"/>
                <a:tab pos="2260600" algn="l"/>
                <a:tab pos="3027045" algn="l"/>
                <a:tab pos="4072254" algn="l"/>
                <a:tab pos="4361815" algn="l"/>
                <a:tab pos="5137150" algn="l"/>
                <a:tab pos="6273165" algn="l"/>
                <a:tab pos="6562725" algn="l"/>
                <a:tab pos="7338695" algn="l"/>
                <a:tab pos="8460740" algn="l"/>
              </a:tabLst>
            </a:pPr>
            <a:r>
              <a:rPr sz="2200" spc="-395" dirty="0">
                <a:latin typeface="Arial"/>
                <a:cs typeface="Arial"/>
              </a:rPr>
              <a:t>F</a:t>
            </a:r>
            <a:r>
              <a:rPr sz="2200" spc="-85" dirty="0">
                <a:latin typeface="Arial"/>
                <a:cs typeface="Arial"/>
              </a:rPr>
              <a:t>ac</a:t>
            </a:r>
            <a:r>
              <a:rPr sz="2200" spc="-60" dirty="0">
                <a:latin typeface="Arial"/>
                <a:cs typeface="Arial"/>
              </a:rPr>
              <a:t>t</a:t>
            </a:r>
            <a:r>
              <a:rPr sz="2200" spc="-25" dirty="0">
                <a:latin typeface="Arial"/>
                <a:cs typeface="Arial"/>
              </a:rPr>
              <a:t>u</a:t>
            </a:r>
            <a:r>
              <a:rPr sz="2200" spc="-80" dirty="0">
                <a:latin typeface="Arial"/>
                <a:cs typeface="Arial"/>
              </a:rPr>
              <a:t>r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0" dirty="0">
                <a:latin typeface="Arial"/>
                <a:cs typeface="Arial"/>
              </a:rPr>
              <a:t>=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10" dirty="0">
                <a:latin typeface="Arial"/>
                <a:cs typeface="Arial"/>
              </a:rPr>
              <a:t>f</a:t>
            </a:r>
            <a:r>
              <a:rPr sz="2200" spc="-120" dirty="0">
                <a:latin typeface="Arial"/>
                <a:cs typeface="Arial"/>
              </a:rPr>
              <a:t>ec</a:t>
            </a:r>
            <a:r>
              <a:rPr sz="2200" spc="-140" dirty="0">
                <a:latin typeface="Arial"/>
                <a:cs typeface="Arial"/>
              </a:rPr>
              <a:t>h</a:t>
            </a:r>
            <a:r>
              <a:rPr sz="2200" spc="-170" dirty="0">
                <a:latin typeface="Arial"/>
                <a:cs typeface="Arial"/>
              </a:rPr>
              <a:t>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80" dirty="0">
                <a:latin typeface="Arial"/>
                <a:cs typeface="Arial"/>
              </a:rPr>
              <a:t>emisión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0" dirty="0">
                <a:latin typeface="Arial"/>
                <a:cs typeface="Arial"/>
              </a:rPr>
              <a:t>+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45" dirty="0">
                <a:latin typeface="Arial"/>
                <a:cs typeface="Arial"/>
              </a:rPr>
              <a:t>a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70" dirty="0">
                <a:latin typeface="Arial"/>
                <a:cs typeface="Arial"/>
              </a:rPr>
              <a:t>emp</a:t>
            </a:r>
            <a:r>
              <a:rPr sz="2200" spc="-65" dirty="0">
                <a:latin typeface="Arial"/>
                <a:cs typeface="Arial"/>
              </a:rPr>
              <a:t>r</a:t>
            </a:r>
            <a:r>
              <a:rPr sz="2200" spc="-180" dirty="0">
                <a:latin typeface="Arial"/>
                <a:cs typeface="Arial"/>
              </a:rPr>
              <a:t>esa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90" dirty="0">
                <a:latin typeface="Arial"/>
                <a:cs typeface="Arial"/>
              </a:rPr>
              <a:t>+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d</a:t>
            </a:r>
            <a:r>
              <a:rPr sz="2200" spc="-145" dirty="0">
                <a:latin typeface="Arial"/>
                <a:cs typeface="Arial"/>
              </a:rPr>
              <a:t>a</a:t>
            </a:r>
            <a:r>
              <a:rPr sz="2200" spc="100" dirty="0">
                <a:latin typeface="Arial"/>
                <a:cs typeface="Arial"/>
              </a:rPr>
              <a:t>t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5" dirty="0">
                <a:latin typeface="Arial"/>
                <a:cs typeface="Arial"/>
              </a:rPr>
              <a:t>ar</a:t>
            </a:r>
            <a:r>
              <a:rPr sz="2200" spc="-20" dirty="0">
                <a:latin typeface="Arial"/>
                <a:cs typeface="Arial"/>
              </a:rPr>
              <a:t>t</a:t>
            </a:r>
            <a:r>
              <a:rPr sz="2200" spc="-100" dirty="0">
                <a:latin typeface="Arial"/>
                <a:cs typeface="Arial"/>
              </a:rPr>
              <a:t>í</a:t>
            </a:r>
            <a:r>
              <a:rPr sz="2200" spc="-190" dirty="0">
                <a:latin typeface="Arial"/>
                <a:cs typeface="Arial"/>
              </a:rPr>
              <a:t>c</a:t>
            </a:r>
            <a:r>
              <a:rPr sz="2200" spc="-45" dirty="0">
                <a:latin typeface="Arial"/>
                <a:cs typeface="Arial"/>
              </a:rPr>
              <a:t>u</a:t>
            </a:r>
            <a:r>
              <a:rPr sz="2200" spc="-30" dirty="0">
                <a:latin typeface="Arial"/>
                <a:cs typeface="Arial"/>
              </a:rPr>
              <a:t>l</a:t>
            </a:r>
            <a:r>
              <a:rPr sz="2200" spc="-165" dirty="0">
                <a:latin typeface="Arial"/>
                <a:cs typeface="Arial"/>
              </a:rPr>
              <a:t>o</a:t>
            </a:r>
            <a:r>
              <a:rPr sz="2200" spc="-145" dirty="0">
                <a:latin typeface="Arial"/>
                <a:cs typeface="Arial"/>
              </a:rPr>
              <a:t>s</a:t>
            </a:r>
            <a:r>
              <a:rPr sz="2200" dirty="0">
                <a:latin typeface="Arial"/>
                <a:cs typeface="Arial"/>
              </a:rPr>
              <a:t>	</a:t>
            </a:r>
            <a:r>
              <a:rPr sz="2200" spc="-125" dirty="0">
                <a:latin typeface="Arial"/>
                <a:cs typeface="Arial"/>
              </a:rPr>
              <a:t>+  </a:t>
            </a:r>
            <a:r>
              <a:rPr sz="2200" spc="-100" dirty="0">
                <a:latin typeface="Arial"/>
                <a:cs typeface="Arial"/>
              </a:rPr>
              <a:t>condiciones de</a:t>
            </a:r>
            <a:r>
              <a:rPr sz="2200" spc="-150" dirty="0">
                <a:latin typeface="Arial"/>
                <a:cs typeface="Arial"/>
              </a:rPr>
              <a:t> </a:t>
            </a:r>
            <a:r>
              <a:rPr sz="2200" spc="-130" dirty="0">
                <a:latin typeface="Arial"/>
                <a:cs typeface="Arial"/>
              </a:rPr>
              <a:t>pago</a:t>
            </a:r>
            <a:endParaRPr sz="2200">
              <a:latin typeface="Arial"/>
              <a:cs typeface="Arial"/>
            </a:endParaRPr>
          </a:p>
          <a:p>
            <a:pPr marL="984250" lvl="1" indent="-51435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200" spc="-130" dirty="0">
                <a:latin typeface="Arial"/>
                <a:cs typeface="Arial"/>
              </a:rPr>
              <a:t>Datos </a:t>
            </a:r>
            <a:r>
              <a:rPr sz="2200" spc="-114" dirty="0">
                <a:latin typeface="Arial"/>
                <a:cs typeface="Arial"/>
              </a:rPr>
              <a:t>empresa </a:t>
            </a:r>
            <a:r>
              <a:rPr sz="2200" spc="-190" dirty="0">
                <a:latin typeface="Arial"/>
                <a:cs typeface="Arial"/>
              </a:rPr>
              <a:t>= </a:t>
            </a:r>
            <a:r>
              <a:rPr sz="2200" spc="-235" dirty="0">
                <a:latin typeface="Arial"/>
                <a:cs typeface="Arial"/>
              </a:rPr>
              <a:t>CUIT </a:t>
            </a:r>
            <a:r>
              <a:rPr sz="2200" spc="-190" dirty="0">
                <a:latin typeface="Arial"/>
                <a:cs typeface="Arial"/>
              </a:rPr>
              <a:t>+ </a:t>
            </a:r>
            <a:r>
              <a:rPr sz="2200" spc="-70" dirty="0">
                <a:latin typeface="Arial"/>
                <a:cs typeface="Arial"/>
              </a:rPr>
              <a:t>nombre </a:t>
            </a:r>
            <a:r>
              <a:rPr sz="2200" spc="-190" dirty="0">
                <a:latin typeface="Arial"/>
                <a:cs typeface="Arial"/>
              </a:rPr>
              <a:t>+</a:t>
            </a:r>
            <a:r>
              <a:rPr sz="2200" spc="-270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dirección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9268" y="193801"/>
            <a:ext cx="4768215" cy="1248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sz="2000" b="1" spc="-90" dirty="0">
                <a:solidFill>
                  <a:srgbClr val="FFFFFF"/>
                </a:solidFill>
                <a:latin typeface="Trebuchet MS"/>
                <a:cs typeface="Trebuchet MS"/>
              </a:rPr>
              <a:t>Análisis </a:t>
            </a:r>
            <a:r>
              <a:rPr sz="2000" b="1" spc="-120" dirty="0">
                <a:solidFill>
                  <a:srgbClr val="FFFFFF"/>
                </a:solidFill>
                <a:latin typeface="Trebuchet MS"/>
                <a:cs typeface="Trebuchet MS"/>
              </a:rPr>
              <a:t>estructurado de </a:t>
            </a:r>
            <a:r>
              <a:rPr sz="2000" b="1" spc="-95" dirty="0">
                <a:solidFill>
                  <a:srgbClr val="FFFFFF"/>
                </a:solidFill>
                <a:latin typeface="Trebuchet MS"/>
                <a:cs typeface="Trebuchet MS"/>
              </a:rPr>
              <a:t>Sistemas</a:t>
            </a:r>
            <a:r>
              <a:rPr sz="2000" b="1" spc="-2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000" b="1" spc="-125" dirty="0">
                <a:solidFill>
                  <a:srgbClr val="FFFFFF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 marL="59055">
              <a:lnSpc>
                <a:spcPct val="100000"/>
              </a:lnSpc>
              <a:spcBef>
                <a:spcPts val="15"/>
              </a:spcBef>
            </a:pP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Conceptos,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componentes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ventajas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75" dirty="0">
                <a:latin typeface="Trebuchet MS"/>
                <a:cs typeface="Trebuchet MS"/>
              </a:rPr>
              <a:t>Ventajas: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9268" y="1813306"/>
            <a:ext cx="7216775" cy="420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600" b="1" spc="-170" dirty="0">
                <a:latin typeface="Trebuchet MS"/>
                <a:cs typeface="Trebuchet MS"/>
              </a:rPr>
              <a:t>Provee </a:t>
            </a:r>
            <a:r>
              <a:rPr sz="2600" b="1" spc="-135" dirty="0">
                <a:latin typeface="Trebuchet MS"/>
                <a:cs typeface="Trebuchet MS"/>
              </a:rPr>
              <a:t>una </a:t>
            </a:r>
            <a:r>
              <a:rPr sz="2600" b="1" spc="-110" dirty="0">
                <a:latin typeface="Trebuchet MS"/>
                <a:cs typeface="Trebuchet MS"/>
              </a:rPr>
              <a:t>simbología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simple;</a:t>
            </a:r>
            <a:endParaRPr sz="2600">
              <a:latin typeface="Trebuchet MS"/>
              <a:cs typeface="Trebuchet MS"/>
            </a:endParaRPr>
          </a:p>
          <a:p>
            <a:pPr marL="760730" lvl="1" indent="-231140">
              <a:lnSpc>
                <a:spcPct val="100000"/>
              </a:lnSpc>
              <a:spcBef>
                <a:spcPts val="25"/>
              </a:spcBef>
              <a:buChar char="•"/>
              <a:tabLst>
                <a:tab pos="760730" algn="l"/>
                <a:tab pos="761365" algn="l"/>
              </a:tabLst>
            </a:pPr>
            <a:r>
              <a:rPr sz="2200" spc="-140" dirty="0">
                <a:latin typeface="Arial"/>
                <a:cs typeface="Arial"/>
              </a:rPr>
              <a:t>Fácil </a:t>
            </a:r>
            <a:r>
              <a:rPr sz="2200" spc="-85" dirty="0">
                <a:latin typeface="Arial"/>
                <a:cs typeface="Arial"/>
              </a:rPr>
              <a:t>comprensión, </a:t>
            </a:r>
            <a:r>
              <a:rPr sz="2200" spc="-100" dirty="0">
                <a:latin typeface="Arial"/>
                <a:cs typeface="Arial"/>
              </a:rPr>
              <a:t>anotaciones</a:t>
            </a:r>
            <a:r>
              <a:rPr sz="2200" spc="-175" dirty="0">
                <a:latin typeface="Arial"/>
                <a:cs typeface="Arial"/>
              </a:rPr>
              <a:t> </a:t>
            </a:r>
            <a:r>
              <a:rPr sz="2200" spc="-114" dirty="0">
                <a:latin typeface="Arial"/>
                <a:cs typeface="Arial"/>
              </a:rPr>
              <a:t>sencillas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70" dirty="0">
                <a:latin typeface="Trebuchet MS"/>
                <a:cs typeface="Trebuchet MS"/>
              </a:rPr>
              <a:t>Fomenta </a:t>
            </a: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150" dirty="0">
                <a:latin typeface="Trebuchet MS"/>
                <a:cs typeface="Trebuchet MS"/>
              </a:rPr>
              <a:t>participación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95" dirty="0">
                <a:latin typeface="Trebuchet MS"/>
                <a:cs typeface="Trebuchet MS"/>
              </a:rPr>
              <a:t>los</a:t>
            </a:r>
            <a:r>
              <a:rPr sz="2600" b="1" spc="-340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usuarios;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rebuchet MS"/>
              <a:buAutoNum type="arabicPeriod"/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80" dirty="0">
                <a:latin typeface="Trebuchet MS"/>
                <a:cs typeface="Trebuchet MS"/>
              </a:rPr>
              <a:t>Ofrece </a:t>
            </a:r>
            <a:r>
              <a:rPr sz="2600" b="1" spc="-185" dirty="0">
                <a:latin typeface="Trebuchet MS"/>
                <a:cs typeface="Trebuchet MS"/>
              </a:rPr>
              <a:t>rapidez </a:t>
            </a:r>
            <a:r>
              <a:rPr sz="2600" b="1" spc="-165" dirty="0">
                <a:latin typeface="Trebuchet MS"/>
                <a:cs typeface="Trebuchet MS"/>
              </a:rPr>
              <a:t>en </a:t>
            </a:r>
            <a:r>
              <a:rPr sz="2600" b="1" spc="-160" dirty="0">
                <a:latin typeface="Trebuchet MS"/>
                <a:cs typeface="Trebuchet MS"/>
              </a:rPr>
              <a:t>reconocimiento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180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problemas;</a:t>
            </a:r>
            <a:endParaRPr sz="2600">
              <a:latin typeface="Trebuchet MS"/>
              <a:cs typeface="Trebuchet MS"/>
            </a:endParaRPr>
          </a:p>
          <a:p>
            <a:pPr marL="760730" lvl="1" indent="-231140">
              <a:lnSpc>
                <a:spcPct val="100000"/>
              </a:lnSpc>
              <a:spcBef>
                <a:spcPts val="25"/>
              </a:spcBef>
              <a:buChar char="•"/>
              <a:tabLst>
                <a:tab pos="760730" algn="l"/>
                <a:tab pos="761365" algn="l"/>
              </a:tabLst>
            </a:pPr>
            <a:r>
              <a:rPr sz="2200" spc="-95" dirty="0">
                <a:latin typeface="Arial"/>
                <a:cs typeface="Arial"/>
              </a:rPr>
              <a:t>Detecta </a:t>
            </a:r>
            <a:r>
              <a:rPr sz="2200" spc="-105" dirty="0">
                <a:latin typeface="Arial"/>
                <a:cs typeface="Arial"/>
              </a:rPr>
              <a:t>y </a:t>
            </a:r>
            <a:r>
              <a:rPr sz="2200" spc="-65" dirty="0">
                <a:latin typeface="Arial"/>
                <a:cs typeface="Arial"/>
              </a:rPr>
              <a:t>evita </a:t>
            </a:r>
            <a:r>
              <a:rPr sz="2200" spc="-75" dirty="0">
                <a:latin typeface="Arial"/>
                <a:cs typeface="Arial"/>
              </a:rPr>
              <a:t>errores </a:t>
            </a:r>
            <a:r>
              <a:rPr sz="2200" spc="-130" dirty="0">
                <a:latin typeface="Arial"/>
                <a:cs typeface="Arial"/>
              </a:rPr>
              <a:t>desde </a:t>
            </a:r>
            <a:r>
              <a:rPr sz="2200" spc="-60" dirty="0">
                <a:latin typeface="Arial"/>
                <a:cs typeface="Arial"/>
              </a:rPr>
              <a:t>el</a:t>
            </a:r>
            <a:r>
              <a:rPr sz="2200" spc="-250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inicio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265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75" dirty="0">
                <a:latin typeface="Trebuchet MS"/>
                <a:cs typeface="Trebuchet MS"/>
              </a:rPr>
              <a:t>Permite </a:t>
            </a:r>
            <a:r>
              <a:rPr sz="2600" b="1" spc="-120" dirty="0">
                <a:latin typeface="Trebuchet MS"/>
                <a:cs typeface="Trebuchet MS"/>
              </a:rPr>
              <a:t>la </a:t>
            </a:r>
            <a:r>
              <a:rPr sz="2600" b="1" spc="-160" dirty="0">
                <a:latin typeface="Trebuchet MS"/>
                <a:cs typeface="Trebuchet MS"/>
              </a:rPr>
              <a:t>fácil </a:t>
            </a:r>
            <a:r>
              <a:rPr sz="2600" b="1" spc="-155" dirty="0">
                <a:latin typeface="Trebuchet MS"/>
                <a:cs typeface="Trebuchet MS"/>
              </a:rPr>
              <a:t>identificación de</a:t>
            </a:r>
            <a:r>
              <a:rPr sz="2600" b="1" spc="-310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procesos;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rebuchet MS"/>
              <a:buAutoNum type="arabicPeriod"/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70" dirty="0">
                <a:latin typeface="Trebuchet MS"/>
                <a:cs typeface="Trebuchet MS"/>
              </a:rPr>
              <a:t>Cuenta </a:t>
            </a:r>
            <a:r>
              <a:rPr sz="2600" b="1" spc="-160" dirty="0">
                <a:latin typeface="Trebuchet MS"/>
                <a:cs typeface="Trebuchet MS"/>
              </a:rPr>
              <a:t>con </a:t>
            </a:r>
            <a:r>
              <a:rPr sz="2600" b="1" spc="-150" dirty="0">
                <a:latin typeface="Trebuchet MS"/>
                <a:cs typeface="Trebuchet MS"/>
              </a:rPr>
              <a:t>niveles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50" dirty="0">
                <a:latin typeface="Trebuchet MS"/>
                <a:cs typeface="Trebuchet MS"/>
              </a:rPr>
              <a:t>detalle </a:t>
            </a:r>
            <a:r>
              <a:rPr sz="2600" b="1" spc="-160" dirty="0">
                <a:latin typeface="Trebuchet MS"/>
                <a:cs typeface="Trebuchet MS"/>
              </a:rPr>
              <a:t>y</a:t>
            </a:r>
            <a:r>
              <a:rPr sz="2600" b="1" spc="-315" dirty="0">
                <a:latin typeface="Trebuchet MS"/>
                <a:cs typeface="Trebuchet MS"/>
              </a:rPr>
              <a:t> </a:t>
            </a:r>
            <a:r>
              <a:rPr sz="2600" b="1" spc="-155" dirty="0">
                <a:latin typeface="Trebuchet MS"/>
                <a:cs typeface="Trebuchet MS"/>
              </a:rPr>
              <a:t>acotamiento.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4754" y="1143000"/>
            <a:ext cx="2066544" cy="22197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5586730" cy="5697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14" dirty="0">
                <a:latin typeface="Trebuchet MS"/>
                <a:cs typeface="Trebuchet MS"/>
              </a:rPr>
              <a:t>Análisis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95" dirty="0">
                <a:latin typeface="Trebuchet MS"/>
                <a:cs typeface="Trebuchet MS"/>
              </a:rPr>
              <a:t>Flujo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305" dirty="0">
                <a:latin typeface="Trebuchet MS"/>
                <a:cs typeface="Trebuchet MS"/>
              </a:rPr>
              <a:t> </a:t>
            </a:r>
            <a:r>
              <a:rPr sz="2600" b="1" spc="-125" dirty="0">
                <a:latin typeface="Trebuchet MS"/>
                <a:cs typeface="Trebuchet MS"/>
              </a:rPr>
              <a:t>Datos: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marR="191770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70" dirty="0">
                <a:latin typeface="Trebuchet MS"/>
                <a:cs typeface="Trebuchet MS"/>
              </a:rPr>
              <a:t>Los </a:t>
            </a:r>
            <a:r>
              <a:rPr sz="2600" b="1" spc="-114" dirty="0">
                <a:latin typeface="Trebuchet MS"/>
                <a:cs typeface="Trebuchet MS"/>
              </a:rPr>
              <a:t>datos </a:t>
            </a:r>
            <a:r>
              <a:rPr sz="2600" b="1" spc="-100" dirty="0">
                <a:latin typeface="Trebuchet MS"/>
                <a:cs typeface="Trebuchet MS"/>
              </a:rPr>
              <a:t>son </a:t>
            </a:r>
            <a:r>
              <a:rPr sz="2600" b="1" spc="-120" dirty="0">
                <a:latin typeface="Trebuchet MS"/>
                <a:cs typeface="Trebuchet MS"/>
              </a:rPr>
              <a:t>la guía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535" dirty="0">
                <a:latin typeface="Trebuchet MS"/>
                <a:cs typeface="Trebuchet MS"/>
              </a:rPr>
              <a:t> </a:t>
            </a:r>
            <a:r>
              <a:rPr sz="2600" b="1" spc="-140" dirty="0">
                <a:latin typeface="Trebuchet MS"/>
                <a:cs typeface="Trebuchet MS"/>
              </a:rPr>
              <a:t>actividades 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la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empresa;</a:t>
            </a:r>
            <a:endParaRPr sz="2600">
              <a:latin typeface="Trebuchet MS"/>
              <a:cs typeface="Trebuchet MS"/>
            </a:endParaRPr>
          </a:p>
          <a:p>
            <a:pPr marL="527050" marR="480059" indent="-514350">
              <a:lnSpc>
                <a:spcPct val="100000"/>
              </a:lnSpc>
              <a:buAutoNum type="arabicPeriod"/>
              <a:tabLst>
                <a:tab pos="527050" algn="l"/>
                <a:tab pos="527685" algn="l"/>
              </a:tabLst>
            </a:pPr>
            <a:r>
              <a:rPr sz="2600" b="1" spc="-140" dirty="0">
                <a:latin typeface="Trebuchet MS"/>
                <a:cs typeface="Trebuchet MS"/>
              </a:rPr>
              <a:t>Estudia </a:t>
            </a:r>
            <a:r>
              <a:rPr sz="2600" b="1" spc="-160" dirty="0">
                <a:latin typeface="Trebuchet MS"/>
                <a:cs typeface="Trebuchet MS"/>
              </a:rPr>
              <a:t>el </a:t>
            </a:r>
            <a:r>
              <a:rPr sz="2600" b="1" spc="-145" dirty="0">
                <a:latin typeface="Trebuchet MS"/>
                <a:cs typeface="Trebuchet MS"/>
              </a:rPr>
              <a:t>empleo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00" dirty="0">
                <a:latin typeface="Trebuchet MS"/>
                <a:cs typeface="Trebuchet MS"/>
              </a:rPr>
              <a:t>los </a:t>
            </a:r>
            <a:r>
              <a:rPr sz="2600" b="1" spc="-114" dirty="0">
                <a:latin typeface="Trebuchet MS"/>
                <a:cs typeface="Trebuchet MS"/>
              </a:rPr>
              <a:t>datos</a:t>
            </a:r>
            <a:r>
              <a:rPr sz="2600" b="1" spc="-455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en  </a:t>
            </a:r>
            <a:r>
              <a:rPr sz="2600" b="1" spc="-150" dirty="0">
                <a:latin typeface="Trebuchet MS"/>
                <a:cs typeface="Trebuchet MS"/>
              </a:rPr>
              <a:t>cada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actividad: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rebuchet MS"/>
              <a:buAutoNum type="arabicPeriod"/>
            </a:pPr>
            <a:endParaRPr sz="2700">
              <a:latin typeface="Times New Roman"/>
              <a:cs typeface="Times New Roman"/>
            </a:endParaRPr>
          </a:p>
          <a:p>
            <a:pPr marL="984250" marR="1113155" lvl="1" indent="-45593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600" spc="-229" dirty="0">
                <a:latin typeface="Arial"/>
                <a:cs typeface="Arial"/>
              </a:rPr>
              <a:t>¿Qué </a:t>
            </a:r>
            <a:r>
              <a:rPr sz="2600" spc="-150" dirty="0">
                <a:latin typeface="Arial"/>
                <a:cs typeface="Arial"/>
              </a:rPr>
              <a:t>procesos </a:t>
            </a:r>
            <a:r>
              <a:rPr sz="2600" spc="-85" dirty="0">
                <a:latin typeface="Arial"/>
                <a:cs typeface="Arial"/>
              </a:rPr>
              <a:t>integran </a:t>
            </a:r>
            <a:r>
              <a:rPr sz="2600" spc="-70" dirty="0">
                <a:latin typeface="Arial"/>
                <a:cs typeface="Arial"/>
              </a:rPr>
              <a:t>el  </a:t>
            </a:r>
            <a:r>
              <a:rPr sz="2600" spc="-150" dirty="0">
                <a:latin typeface="Arial"/>
                <a:cs typeface="Arial"/>
              </a:rPr>
              <a:t>sistema?</a:t>
            </a:r>
            <a:endParaRPr sz="2600">
              <a:latin typeface="Arial"/>
              <a:cs typeface="Arial"/>
            </a:endParaRPr>
          </a:p>
          <a:p>
            <a:pPr marL="984250" lvl="1" indent="-45593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600" spc="-229" dirty="0">
                <a:latin typeface="Arial"/>
                <a:cs typeface="Arial"/>
              </a:rPr>
              <a:t>¿Qué </a:t>
            </a:r>
            <a:r>
              <a:rPr sz="2600" spc="-114" dirty="0">
                <a:latin typeface="Arial"/>
                <a:cs typeface="Arial"/>
              </a:rPr>
              <a:t>datos emplea </a:t>
            </a:r>
            <a:r>
              <a:rPr sz="2600" spc="-180" dirty="0">
                <a:latin typeface="Arial"/>
                <a:cs typeface="Arial"/>
              </a:rPr>
              <a:t>cada</a:t>
            </a:r>
            <a:r>
              <a:rPr sz="2600" spc="-105" dirty="0">
                <a:latin typeface="Arial"/>
                <a:cs typeface="Arial"/>
              </a:rPr>
              <a:t> </a:t>
            </a:r>
            <a:r>
              <a:rPr sz="2600" spc="-145" dirty="0">
                <a:latin typeface="Arial"/>
                <a:cs typeface="Arial"/>
              </a:rPr>
              <a:t>proceso?</a:t>
            </a:r>
            <a:endParaRPr sz="2600">
              <a:latin typeface="Arial"/>
              <a:cs typeface="Arial"/>
            </a:endParaRPr>
          </a:p>
          <a:p>
            <a:pPr marL="984250" lvl="1" indent="-45593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600" spc="-229" dirty="0">
                <a:latin typeface="Arial"/>
                <a:cs typeface="Arial"/>
              </a:rPr>
              <a:t>¿Qué </a:t>
            </a:r>
            <a:r>
              <a:rPr sz="2600" spc="-114" dirty="0">
                <a:latin typeface="Arial"/>
                <a:cs typeface="Arial"/>
              </a:rPr>
              <a:t>datos </a:t>
            </a:r>
            <a:r>
              <a:rPr sz="2600" spc="-155" dirty="0">
                <a:latin typeface="Arial"/>
                <a:cs typeface="Arial"/>
              </a:rPr>
              <a:t>son</a:t>
            </a:r>
            <a:r>
              <a:rPr sz="2600" spc="-85" dirty="0">
                <a:latin typeface="Arial"/>
                <a:cs typeface="Arial"/>
              </a:rPr>
              <a:t> </a:t>
            </a:r>
            <a:r>
              <a:rPr sz="2600" spc="-155" dirty="0">
                <a:latin typeface="Arial"/>
                <a:cs typeface="Arial"/>
              </a:rPr>
              <a:t>almacenados?</a:t>
            </a:r>
            <a:endParaRPr sz="2600">
              <a:latin typeface="Arial"/>
              <a:cs typeface="Arial"/>
            </a:endParaRPr>
          </a:p>
          <a:p>
            <a:pPr marL="984250" marR="522605" lvl="1" indent="-455930">
              <a:lnSpc>
                <a:spcPct val="100000"/>
              </a:lnSpc>
              <a:buChar char="•"/>
              <a:tabLst>
                <a:tab pos="984250" algn="l"/>
                <a:tab pos="984885" algn="l"/>
              </a:tabLst>
            </a:pPr>
            <a:r>
              <a:rPr sz="2600" spc="-229" dirty="0">
                <a:latin typeface="Arial"/>
                <a:cs typeface="Arial"/>
              </a:rPr>
              <a:t>¿Qué </a:t>
            </a:r>
            <a:r>
              <a:rPr sz="2600" spc="-114" dirty="0">
                <a:latin typeface="Arial"/>
                <a:cs typeface="Arial"/>
              </a:rPr>
              <a:t>datos </a:t>
            </a:r>
            <a:r>
              <a:rPr sz="2600" spc="-130" dirty="0">
                <a:latin typeface="Arial"/>
                <a:cs typeface="Arial"/>
              </a:rPr>
              <a:t>ingresan </a:t>
            </a:r>
            <a:r>
              <a:rPr sz="2600" spc="-70" dirty="0">
                <a:latin typeface="Arial"/>
                <a:cs typeface="Arial"/>
              </a:rPr>
              <a:t>(inputs) </a:t>
            </a:r>
            <a:r>
              <a:rPr sz="2600" spc="-125" dirty="0">
                <a:latin typeface="Arial"/>
                <a:cs typeface="Arial"/>
              </a:rPr>
              <a:t>y  </a:t>
            </a:r>
            <a:r>
              <a:rPr sz="2600" spc="-145" dirty="0">
                <a:latin typeface="Arial"/>
                <a:cs typeface="Arial"/>
              </a:rPr>
              <a:t>salen </a:t>
            </a:r>
            <a:r>
              <a:rPr sz="2600" spc="-55" dirty="0">
                <a:latin typeface="Arial"/>
                <a:cs typeface="Arial"/>
              </a:rPr>
              <a:t>(outputs) </a:t>
            </a:r>
            <a:r>
              <a:rPr sz="2600" spc="-70" dirty="0">
                <a:latin typeface="Arial"/>
                <a:cs typeface="Arial"/>
              </a:rPr>
              <a:t>el</a:t>
            </a:r>
            <a:r>
              <a:rPr sz="2600" spc="-220" dirty="0">
                <a:latin typeface="Arial"/>
                <a:cs typeface="Arial"/>
              </a:rPr>
              <a:t> </a:t>
            </a:r>
            <a:r>
              <a:rPr sz="2600" spc="-150" dirty="0">
                <a:latin typeface="Arial"/>
                <a:cs typeface="Arial"/>
              </a:rPr>
              <a:t>sistema?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96000" y="1219200"/>
            <a:ext cx="2743200" cy="2295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332105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20" dirty="0">
                <a:latin typeface="Trebuchet MS"/>
                <a:cs typeface="Trebuchet MS"/>
              </a:rPr>
              <a:t>Simbología: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57980" y="2383154"/>
            <a:ext cx="1676400" cy="990600"/>
          </a:xfrm>
          <a:custGeom>
            <a:avLst/>
            <a:gdLst/>
            <a:ahLst/>
            <a:cxnLst/>
            <a:rect l="l" t="t" r="r" b="b"/>
            <a:pathLst>
              <a:path w="1676400" h="990600">
                <a:moveTo>
                  <a:pt x="0" y="165100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1511300" y="0"/>
                </a:lnTo>
                <a:lnTo>
                  <a:pt x="1555191" y="5897"/>
                </a:lnTo>
                <a:lnTo>
                  <a:pt x="1594630" y="22540"/>
                </a:lnTo>
                <a:lnTo>
                  <a:pt x="1628044" y="48355"/>
                </a:lnTo>
                <a:lnTo>
                  <a:pt x="1653859" y="81769"/>
                </a:lnTo>
                <a:lnTo>
                  <a:pt x="1670502" y="121208"/>
                </a:lnTo>
                <a:lnTo>
                  <a:pt x="1676400" y="165100"/>
                </a:lnTo>
                <a:lnTo>
                  <a:pt x="1676400" y="825500"/>
                </a:lnTo>
                <a:lnTo>
                  <a:pt x="1670502" y="869391"/>
                </a:lnTo>
                <a:lnTo>
                  <a:pt x="1653859" y="908830"/>
                </a:lnTo>
                <a:lnTo>
                  <a:pt x="1628044" y="942244"/>
                </a:lnTo>
                <a:lnTo>
                  <a:pt x="1594630" y="968059"/>
                </a:lnTo>
                <a:lnTo>
                  <a:pt x="1555191" y="984702"/>
                </a:lnTo>
                <a:lnTo>
                  <a:pt x="1511300" y="990600"/>
                </a:lnTo>
                <a:lnTo>
                  <a:pt x="165100" y="990600"/>
                </a:lnTo>
                <a:lnTo>
                  <a:pt x="121208" y="984702"/>
                </a:lnTo>
                <a:lnTo>
                  <a:pt x="81769" y="968059"/>
                </a:lnTo>
                <a:lnTo>
                  <a:pt x="48355" y="942244"/>
                </a:lnTo>
                <a:lnTo>
                  <a:pt x="22540" y="908830"/>
                </a:lnTo>
                <a:lnTo>
                  <a:pt x="5897" y="869391"/>
                </a:lnTo>
                <a:lnTo>
                  <a:pt x="0" y="825500"/>
                </a:lnTo>
                <a:lnTo>
                  <a:pt x="0" y="165100"/>
                </a:lnTo>
                <a:close/>
              </a:path>
            </a:pathLst>
          </a:custGeom>
          <a:ln w="25146">
            <a:solidFill>
              <a:srgbClr val="0033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17264" y="2706369"/>
            <a:ext cx="95631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Proceso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05981" y="2383154"/>
            <a:ext cx="1524000" cy="990600"/>
          </a:xfrm>
          <a:prstGeom prst="rect">
            <a:avLst/>
          </a:prstGeom>
          <a:ln w="25146">
            <a:solidFill>
              <a:srgbClr val="00338D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331470" marR="323850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Arial"/>
                <a:cs typeface="Arial"/>
              </a:rPr>
              <a:t>Entidad  Destino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29380" y="4592954"/>
            <a:ext cx="0" cy="589280"/>
          </a:xfrm>
          <a:custGeom>
            <a:avLst/>
            <a:gdLst/>
            <a:ahLst/>
            <a:cxnLst/>
            <a:rect l="l" t="t" r="r" b="b"/>
            <a:pathLst>
              <a:path h="589279">
                <a:moveTo>
                  <a:pt x="0" y="0"/>
                </a:moveTo>
                <a:lnTo>
                  <a:pt x="0" y="589026"/>
                </a:lnTo>
              </a:path>
            </a:pathLst>
          </a:custGeom>
          <a:ln w="9906">
            <a:solidFill>
              <a:srgbClr val="0030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429380" y="4592954"/>
            <a:ext cx="2070735" cy="0"/>
          </a:xfrm>
          <a:custGeom>
            <a:avLst/>
            <a:gdLst/>
            <a:ahLst/>
            <a:cxnLst/>
            <a:rect l="l" t="t" r="r" b="b"/>
            <a:pathLst>
              <a:path w="2070735">
                <a:moveTo>
                  <a:pt x="0" y="0"/>
                </a:moveTo>
                <a:lnTo>
                  <a:pt x="2070354" y="0"/>
                </a:lnTo>
              </a:path>
            </a:pathLst>
          </a:custGeom>
          <a:ln w="9906">
            <a:solidFill>
              <a:srgbClr val="0030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29380" y="5181980"/>
            <a:ext cx="2070735" cy="0"/>
          </a:xfrm>
          <a:custGeom>
            <a:avLst/>
            <a:gdLst/>
            <a:ahLst/>
            <a:cxnLst/>
            <a:rect l="l" t="t" r="r" b="b"/>
            <a:pathLst>
              <a:path w="2070735">
                <a:moveTo>
                  <a:pt x="0" y="0"/>
                </a:moveTo>
                <a:lnTo>
                  <a:pt x="2070354" y="0"/>
                </a:lnTo>
              </a:path>
            </a:pathLst>
          </a:custGeom>
          <a:ln w="9906">
            <a:solidFill>
              <a:srgbClr val="0030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96817" y="4695444"/>
            <a:ext cx="19145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Almacenamiento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780" y="2383154"/>
            <a:ext cx="1524000" cy="990600"/>
          </a:xfrm>
          <a:prstGeom prst="rect">
            <a:avLst/>
          </a:prstGeom>
          <a:ln w="25146">
            <a:solidFill>
              <a:srgbClr val="00338D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366395" marR="324485" indent="-36195">
              <a:lnSpc>
                <a:spcPct val="100000"/>
              </a:lnSpc>
              <a:spcBef>
                <a:spcPts val="1440"/>
              </a:spcBef>
            </a:pPr>
            <a:r>
              <a:rPr sz="2000" spc="-5" dirty="0">
                <a:latin typeface="Arial"/>
                <a:cs typeface="Arial"/>
              </a:rPr>
              <a:t>Entidad  Fuente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38400" y="2836164"/>
            <a:ext cx="1219200" cy="86995"/>
          </a:xfrm>
          <a:custGeom>
            <a:avLst/>
            <a:gdLst/>
            <a:ahLst/>
            <a:cxnLst/>
            <a:rect l="l" t="t" r="r" b="b"/>
            <a:pathLst>
              <a:path w="1219200" h="86994">
                <a:moveTo>
                  <a:pt x="1132332" y="57892"/>
                </a:moveTo>
                <a:lnTo>
                  <a:pt x="1132332" y="86868"/>
                </a:lnTo>
                <a:lnTo>
                  <a:pt x="1190244" y="57912"/>
                </a:lnTo>
                <a:lnTo>
                  <a:pt x="1146810" y="57912"/>
                </a:lnTo>
                <a:lnTo>
                  <a:pt x="1132332" y="57892"/>
                </a:lnTo>
                <a:close/>
              </a:path>
              <a:path w="1219200" h="86994">
                <a:moveTo>
                  <a:pt x="1132332" y="28936"/>
                </a:moveTo>
                <a:lnTo>
                  <a:pt x="1132332" y="57892"/>
                </a:lnTo>
                <a:lnTo>
                  <a:pt x="1146810" y="57912"/>
                </a:lnTo>
                <a:lnTo>
                  <a:pt x="1146810" y="28956"/>
                </a:lnTo>
                <a:lnTo>
                  <a:pt x="1132332" y="28936"/>
                </a:lnTo>
                <a:close/>
              </a:path>
              <a:path w="1219200" h="86994">
                <a:moveTo>
                  <a:pt x="1132332" y="0"/>
                </a:moveTo>
                <a:lnTo>
                  <a:pt x="1132332" y="28936"/>
                </a:lnTo>
                <a:lnTo>
                  <a:pt x="1146810" y="28956"/>
                </a:lnTo>
                <a:lnTo>
                  <a:pt x="1146810" y="57912"/>
                </a:lnTo>
                <a:lnTo>
                  <a:pt x="1190244" y="57912"/>
                </a:lnTo>
                <a:lnTo>
                  <a:pt x="1219200" y="43434"/>
                </a:lnTo>
                <a:lnTo>
                  <a:pt x="1132332" y="0"/>
                </a:lnTo>
                <a:close/>
              </a:path>
              <a:path w="1219200" h="86994">
                <a:moveTo>
                  <a:pt x="0" y="27432"/>
                </a:moveTo>
                <a:lnTo>
                  <a:pt x="0" y="56387"/>
                </a:lnTo>
                <a:lnTo>
                  <a:pt x="1132332" y="57892"/>
                </a:lnTo>
                <a:lnTo>
                  <a:pt x="1132332" y="28936"/>
                </a:lnTo>
                <a:lnTo>
                  <a:pt x="0" y="27432"/>
                </a:lnTo>
                <a:close/>
              </a:path>
            </a:pathLst>
          </a:custGeom>
          <a:solidFill>
            <a:srgbClr val="0030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334000" y="2836164"/>
            <a:ext cx="1371600" cy="86995"/>
          </a:xfrm>
          <a:custGeom>
            <a:avLst/>
            <a:gdLst/>
            <a:ahLst/>
            <a:cxnLst/>
            <a:rect l="l" t="t" r="r" b="b"/>
            <a:pathLst>
              <a:path w="1371600" h="86994">
                <a:moveTo>
                  <a:pt x="1284731" y="57895"/>
                </a:moveTo>
                <a:lnTo>
                  <a:pt x="1284731" y="86868"/>
                </a:lnTo>
                <a:lnTo>
                  <a:pt x="1342644" y="57912"/>
                </a:lnTo>
                <a:lnTo>
                  <a:pt x="1299209" y="57912"/>
                </a:lnTo>
                <a:lnTo>
                  <a:pt x="1284731" y="57895"/>
                </a:lnTo>
                <a:close/>
              </a:path>
              <a:path w="1371600" h="86994">
                <a:moveTo>
                  <a:pt x="1284731" y="28939"/>
                </a:moveTo>
                <a:lnTo>
                  <a:pt x="1284731" y="57895"/>
                </a:lnTo>
                <a:lnTo>
                  <a:pt x="1299209" y="57912"/>
                </a:lnTo>
                <a:lnTo>
                  <a:pt x="1299209" y="28956"/>
                </a:lnTo>
                <a:lnTo>
                  <a:pt x="1284731" y="28939"/>
                </a:lnTo>
                <a:close/>
              </a:path>
              <a:path w="1371600" h="86994">
                <a:moveTo>
                  <a:pt x="1284731" y="0"/>
                </a:moveTo>
                <a:lnTo>
                  <a:pt x="1284731" y="28939"/>
                </a:lnTo>
                <a:lnTo>
                  <a:pt x="1299209" y="28956"/>
                </a:lnTo>
                <a:lnTo>
                  <a:pt x="1299209" y="57912"/>
                </a:lnTo>
                <a:lnTo>
                  <a:pt x="1342644" y="57912"/>
                </a:lnTo>
                <a:lnTo>
                  <a:pt x="1371600" y="43434"/>
                </a:lnTo>
                <a:lnTo>
                  <a:pt x="1284731" y="0"/>
                </a:lnTo>
                <a:close/>
              </a:path>
              <a:path w="1371600" h="86994">
                <a:moveTo>
                  <a:pt x="0" y="27432"/>
                </a:moveTo>
                <a:lnTo>
                  <a:pt x="0" y="56387"/>
                </a:lnTo>
                <a:lnTo>
                  <a:pt x="1284731" y="57895"/>
                </a:lnTo>
                <a:lnTo>
                  <a:pt x="1284731" y="28939"/>
                </a:lnTo>
                <a:lnTo>
                  <a:pt x="0" y="27432"/>
                </a:lnTo>
                <a:close/>
              </a:path>
            </a:pathLst>
          </a:custGeom>
          <a:solidFill>
            <a:srgbClr val="0030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52365" y="3373373"/>
            <a:ext cx="86995" cy="1219200"/>
          </a:xfrm>
          <a:custGeom>
            <a:avLst/>
            <a:gdLst/>
            <a:ahLst/>
            <a:cxnLst/>
            <a:rect l="l" t="t" r="r" b="b"/>
            <a:pathLst>
              <a:path w="86995" h="1219200">
                <a:moveTo>
                  <a:pt x="28956" y="1132332"/>
                </a:moveTo>
                <a:lnTo>
                  <a:pt x="0" y="1132332"/>
                </a:lnTo>
                <a:lnTo>
                  <a:pt x="43434" y="1219200"/>
                </a:lnTo>
                <a:lnTo>
                  <a:pt x="79629" y="1146809"/>
                </a:lnTo>
                <a:lnTo>
                  <a:pt x="28956" y="1146809"/>
                </a:lnTo>
                <a:lnTo>
                  <a:pt x="28956" y="1132332"/>
                </a:lnTo>
                <a:close/>
              </a:path>
              <a:path w="86995" h="1219200">
                <a:moveTo>
                  <a:pt x="57912" y="72389"/>
                </a:moveTo>
                <a:lnTo>
                  <a:pt x="28956" y="72389"/>
                </a:lnTo>
                <a:lnTo>
                  <a:pt x="28956" y="1146809"/>
                </a:lnTo>
                <a:lnTo>
                  <a:pt x="57912" y="1146809"/>
                </a:lnTo>
                <a:lnTo>
                  <a:pt x="57912" y="72389"/>
                </a:lnTo>
                <a:close/>
              </a:path>
              <a:path w="86995" h="1219200">
                <a:moveTo>
                  <a:pt x="86868" y="1132332"/>
                </a:moveTo>
                <a:lnTo>
                  <a:pt x="57912" y="1132332"/>
                </a:lnTo>
                <a:lnTo>
                  <a:pt x="57912" y="1146809"/>
                </a:lnTo>
                <a:lnTo>
                  <a:pt x="79629" y="1146809"/>
                </a:lnTo>
                <a:lnTo>
                  <a:pt x="86868" y="1132332"/>
                </a:lnTo>
                <a:close/>
              </a:path>
              <a:path w="86995" h="1219200">
                <a:moveTo>
                  <a:pt x="43434" y="0"/>
                </a:moveTo>
                <a:lnTo>
                  <a:pt x="0" y="86867"/>
                </a:lnTo>
                <a:lnTo>
                  <a:pt x="28956" y="86867"/>
                </a:lnTo>
                <a:lnTo>
                  <a:pt x="28956" y="72389"/>
                </a:lnTo>
                <a:lnTo>
                  <a:pt x="79629" y="72389"/>
                </a:lnTo>
                <a:lnTo>
                  <a:pt x="43434" y="0"/>
                </a:lnTo>
                <a:close/>
              </a:path>
              <a:path w="86995" h="1219200">
                <a:moveTo>
                  <a:pt x="79629" y="72389"/>
                </a:moveTo>
                <a:lnTo>
                  <a:pt x="57912" y="72389"/>
                </a:lnTo>
                <a:lnTo>
                  <a:pt x="57912" y="86867"/>
                </a:lnTo>
                <a:lnTo>
                  <a:pt x="86868" y="86867"/>
                </a:lnTo>
                <a:lnTo>
                  <a:pt x="79629" y="72389"/>
                </a:lnTo>
                <a:close/>
              </a:path>
            </a:pathLst>
          </a:custGeom>
          <a:solidFill>
            <a:srgbClr val="0030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755645" y="3024886"/>
            <a:ext cx="584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Verdana"/>
                <a:cs typeface="Verdana"/>
              </a:rPr>
              <a:t>Flujo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de  datos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17" name="object 17"/>
          <p:cNvSpPr txBox="1"/>
          <p:nvPr/>
        </p:nvSpPr>
        <p:spPr>
          <a:xfrm>
            <a:off x="5727700" y="3024886"/>
            <a:ext cx="584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Verdana"/>
                <a:cs typeface="Verdana"/>
              </a:rPr>
              <a:t>Flujo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de  datos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7100" y="3787139"/>
            <a:ext cx="5848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0965" marR="5080" indent="-88900">
              <a:lnSpc>
                <a:spcPct val="100000"/>
              </a:lnSpc>
              <a:spcBef>
                <a:spcPts val="95"/>
              </a:spcBef>
            </a:pPr>
            <a:r>
              <a:rPr sz="1100" spc="-5" dirty="0">
                <a:latin typeface="Verdana"/>
                <a:cs typeface="Verdana"/>
              </a:rPr>
              <a:t>Flujo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de  datos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332105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Tipos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DFDs: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813306"/>
            <a:ext cx="8690610" cy="2348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050" algn="l"/>
              </a:tabLst>
            </a:pPr>
            <a:r>
              <a:rPr sz="2600" b="1" spc="-240" dirty="0">
                <a:latin typeface="Trebuchet MS"/>
                <a:cs typeface="Trebuchet MS"/>
              </a:rPr>
              <a:t>1.	</a:t>
            </a:r>
            <a:r>
              <a:rPr sz="2600" b="1" spc="-120" dirty="0">
                <a:latin typeface="Trebuchet MS"/>
                <a:cs typeface="Trebuchet MS"/>
              </a:rPr>
              <a:t>Diagrama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40" dirty="0">
                <a:latin typeface="Trebuchet MS"/>
                <a:cs typeface="Trebuchet MS"/>
              </a:rPr>
              <a:t> </a:t>
            </a:r>
            <a:r>
              <a:rPr sz="2600" b="1" spc="-180" dirty="0">
                <a:latin typeface="Trebuchet MS"/>
                <a:cs typeface="Trebuchet MS"/>
              </a:rPr>
              <a:t>Contexto:</a:t>
            </a:r>
            <a:endParaRPr sz="2600">
              <a:latin typeface="Trebuchet MS"/>
              <a:cs typeface="Trebuchet MS"/>
            </a:endParaRPr>
          </a:p>
          <a:p>
            <a:pPr marL="527050" marR="5080" indent="-514350" algn="just">
              <a:lnSpc>
                <a:spcPct val="100000"/>
              </a:lnSpc>
              <a:spcBef>
                <a:spcPts val="50"/>
              </a:spcBef>
              <a:buChar char="•"/>
              <a:tabLst>
                <a:tab pos="527685" algn="l"/>
              </a:tabLst>
            </a:pPr>
            <a:r>
              <a:rPr sz="1800" spc="-85" dirty="0">
                <a:latin typeface="Arial"/>
                <a:cs typeface="Arial"/>
              </a:rPr>
              <a:t>Aquí, </a:t>
            </a:r>
            <a:r>
              <a:rPr sz="1800" i="1" spc="-70" dirty="0">
                <a:latin typeface="Trebuchet MS"/>
                <a:cs typeface="Trebuchet MS"/>
              </a:rPr>
              <a:t>se </a:t>
            </a:r>
            <a:r>
              <a:rPr sz="1800" i="1" spc="-100" dirty="0">
                <a:latin typeface="Trebuchet MS"/>
                <a:cs typeface="Trebuchet MS"/>
              </a:rPr>
              <a:t>caracterizan </a:t>
            </a:r>
            <a:r>
              <a:rPr sz="1800" i="1" spc="-75" dirty="0">
                <a:latin typeface="Trebuchet MS"/>
                <a:cs typeface="Trebuchet MS"/>
              </a:rPr>
              <a:t>todas las </a:t>
            </a:r>
            <a:r>
              <a:rPr sz="1800" i="1" spc="-95" dirty="0">
                <a:latin typeface="Trebuchet MS"/>
                <a:cs typeface="Trebuchet MS"/>
              </a:rPr>
              <a:t>interacciones que </a:t>
            </a:r>
            <a:r>
              <a:rPr sz="1800" i="1" spc="-110" dirty="0">
                <a:latin typeface="Trebuchet MS"/>
                <a:cs typeface="Trebuchet MS"/>
              </a:rPr>
              <a:t>realiza </a:t>
            </a:r>
            <a:r>
              <a:rPr sz="1800" i="1" spc="-70" dirty="0">
                <a:latin typeface="Trebuchet MS"/>
                <a:cs typeface="Trebuchet MS"/>
              </a:rPr>
              <a:t>un </a:t>
            </a:r>
            <a:r>
              <a:rPr sz="1800" i="1" spc="-90" dirty="0">
                <a:latin typeface="Trebuchet MS"/>
                <a:cs typeface="Trebuchet MS"/>
              </a:rPr>
              <a:t>sistema </a:t>
            </a:r>
            <a:r>
              <a:rPr sz="1800" i="1" spc="-70" dirty="0">
                <a:latin typeface="Trebuchet MS"/>
                <a:cs typeface="Trebuchet MS"/>
              </a:rPr>
              <a:t>con </a:t>
            </a:r>
            <a:r>
              <a:rPr sz="1800" i="1" spc="-55" dirty="0">
                <a:latin typeface="Trebuchet MS"/>
                <a:cs typeface="Trebuchet MS"/>
              </a:rPr>
              <a:t>su </a:t>
            </a:r>
            <a:r>
              <a:rPr sz="1800" i="1" spc="-95" dirty="0">
                <a:latin typeface="Trebuchet MS"/>
                <a:cs typeface="Trebuchet MS"/>
              </a:rPr>
              <a:t>entorno  (entidades externas)</a:t>
            </a:r>
            <a:r>
              <a:rPr sz="1800" spc="-95" dirty="0">
                <a:latin typeface="Arial"/>
                <a:cs typeface="Arial"/>
              </a:rPr>
              <a:t>; </a:t>
            </a:r>
            <a:r>
              <a:rPr sz="1800" spc="-120" dirty="0">
                <a:latin typeface="Arial"/>
                <a:cs typeface="Arial"/>
              </a:rPr>
              <a:t>éstas</a:t>
            </a:r>
            <a:r>
              <a:rPr sz="1800" spc="26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interacciones </a:t>
            </a:r>
            <a:r>
              <a:rPr sz="1800" spc="-75" dirty="0">
                <a:latin typeface="Arial"/>
                <a:cs typeface="Arial"/>
              </a:rPr>
              <a:t>pueden </a:t>
            </a:r>
            <a:r>
              <a:rPr sz="1800" spc="-95" dirty="0">
                <a:latin typeface="Arial"/>
                <a:cs typeface="Arial"/>
              </a:rPr>
              <a:t>ser </a:t>
            </a:r>
            <a:r>
              <a:rPr sz="1800" spc="-90" dirty="0">
                <a:latin typeface="Arial"/>
                <a:cs typeface="Arial"/>
              </a:rPr>
              <a:t>con </a:t>
            </a:r>
            <a:r>
              <a:rPr sz="1800" spc="-45" dirty="0">
                <a:latin typeface="Arial"/>
                <a:cs typeface="Arial"/>
              </a:rPr>
              <a:t>otros </a:t>
            </a:r>
            <a:r>
              <a:rPr sz="1800" spc="-100" dirty="0">
                <a:latin typeface="Arial"/>
                <a:cs typeface="Arial"/>
              </a:rPr>
              <a:t>sistemas, </a:t>
            </a:r>
            <a:r>
              <a:rPr sz="1800" spc="-95" dirty="0">
                <a:latin typeface="Arial"/>
                <a:cs typeface="Arial"/>
              </a:rPr>
              <a:t>sectores  </a:t>
            </a:r>
            <a:r>
              <a:rPr sz="1800" spc="-45" dirty="0">
                <a:latin typeface="Arial"/>
                <a:cs typeface="Arial"/>
              </a:rPr>
              <a:t>internos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organización, </a:t>
            </a:r>
            <a:r>
              <a:rPr sz="1800" spc="-55" dirty="0">
                <a:latin typeface="Arial"/>
                <a:cs typeface="Arial"/>
              </a:rPr>
              <a:t>o </a:t>
            </a:r>
            <a:r>
              <a:rPr sz="1800" spc="-70" dirty="0">
                <a:latin typeface="Arial"/>
                <a:cs typeface="Arial"/>
              </a:rPr>
              <a:t>factores externos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misma. </a:t>
            </a:r>
            <a:r>
              <a:rPr sz="1800" spc="-240" dirty="0">
                <a:latin typeface="Arial"/>
                <a:cs typeface="Arial"/>
              </a:rPr>
              <a:t>Se </a:t>
            </a:r>
            <a:r>
              <a:rPr sz="18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dibuja </a:t>
            </a:r>
            <a:r>
              <a:rPr sz="1800" i="1" u="heavy" spc="-7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 </a:t>
            </a:r>
            <a:r>
              <a:rPr sz="18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sólo </a:t>
            </a:r>
            <a:r>
              <a:rPr sz="18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proceso</a:t>
            </a:r>
            <a:r>
              <a:rPr sz="1800" i="1" spc="-80" dirty="0">
                <a:latin typeface="Trebuchet MS"/>
                <a:cs typeface="Trebuchet MS"/>
              </a:rPr>
              <a:t> </a:t>
            </a:r>
            <a:r>
              <a:rPr sz="1800" i="1" spc="-95" dirty="0">
                <a:latin typeface="Trebuchet MS"/>
                <a:cs typeface="Trebuchet MS"/>
              </a:rPr>
              <a:t>que  </a:t>
            </a:r>
            <a:r>
              <a:rPr sz="1800" i="1" spc="-100" dirty="0">
                <a:latin typeface="Trebuchet MS"/>
                <a:cs typeface="Trebuchet MS"/>
              </a:rPr>
              <a:t>representa </a:t>
            </a:r>
            <a:r>
              <a:rPr sz="1800" i="1" spc="-95" dirty="0">
                <a:latin typeface="Trebuchet MS"/>
                <a:cs typeface="Trebuchet MS"/>
              </a:rPr>
              <a:t>al </a:t>
            </a:r>
            <a:r>
              <a:rPr sz="1800" i="1" spc="-90" dirty="0">
                <a:latin typeface="Trebuchet MS"/>
                <a:cs typeface="Trebuchet MS"/>
              </a:rPr>
              <a:t>sistema en</a:t>
            </a:r>
            <a:r>
              <a:rPr sz="1800" i="1" spc="-245" dirty="0">
                <a:latin typeface="Trebuchet MS"/>
                <a:cs typeface="Trebuchet MS"/>
              </a:rPr>
              <a:t> </a:t>
            </a:r>
            <a:r>
              <a:rPr sz="1800" i="1" spc="-85" dirty="0">
                <a:latin typeface="Trebuchet MS"/>
                <a:cs typeface="Trebuchet MS"/>
              </a:rPr>
              <a:t>cuestión</a:t>
            </a:r>
            <a:r>
              <a:rPr sz="1800" spc="-8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527050" marR="5080" indent="-5143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527685" algn="l"/>
              </a:tabLst>
            </a:pPr>
            <a:r>
              <a:rPr sz="1800" spc="-150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él </a:t>
            </a:r>
            <a:r>
              <a:rPr sz="1800" spc="-75" dirty="0">
                <a:latin typeface="Arial"/>
                <a:cs typeface="Arial"/>
              </a:rPr>
              <a:t>solamente </a:t>
            </a:r>
            <a:r>
              <a:rPr sz="1800" spc="-45" dirty="0">
                <a:latin typeface="Arial"/>
                <a:cs typeface="Arial"/>
              </a:rPr>
              <a:t>parten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40" dirty="0">
                <a:latin typeface="Arial"/>
                <a:cs typeface="Arial"/>
              </a:rPr>
              <a:t>flujos </a:t>
            </a:r>
            <a:r>
              <a:rPr sz="1800" spc="-80" dirty="0">
                <a:latin typeface="Arial"/>
                <a:cs typeface="Arial"/>
              </a:rPr>
              <a:t>de datos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55" dirty="0">
                <a:latin typeface="Arial"/>
                <a:cs typeface="Arial"/>
              </a:rPr>
              <a:t>denotan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55" dirty="0">
                <a:latin typeface="Arial"/>
                <a:cs typeface="Arial"/>
              </a:rPr>
              <a:t>interrelaciones </a:t>
            </a:r>
            <a:r>
              <a:rPr sz="1800" spc="-40" dirty="0">
                <a:latin typeface="Arial"/>
                <a:cs typeface="Arial"/>
              </a:rPr>
              <a:t>entre </a:t>
            </a:r>
            <a:r>
              <a:rPr sz="1800" spc="-55" dirty="0">
                <a:latin typeface="Arial"/>
                <a:cs typeface="Arial"/>
              </a:rPr>
              <a:t>el  </a:t>
            </a:r>
            <a:r>
              <a:rPr sz="1800" spc="-95" dirty="0">
                <a:latin typeface="Arial"/>
                <a:cs typeface="Arial"/>
              </a:rPr>
              <a:t>sistema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155" dirty="0">
                <a:latin typeface="Arial"/>
                <a:cs typeface="Arial"/>
              </a:rPr>
              <a:t>sus </a:t>
            </a:r>
            <a:r>
              <a:rPr sz="1800" spc="-105" dirty="0">
                <a:latin typeface="Arial"/>
                <a:cs typeface="Arial"/>
              </a:rPr>
              <a:t>agentes </a:t>
            </a:r>
            <a:r>
              <a:rPr sz="1800" spc="-70" dirty="0">
                <a:latin typeface="Arial"/>
                <a:cs typeface="Arial"/>
              </a:rPr>
              <a:t>externos, </a:t>
            </a:r>
            <a:r>
              <a:rPr sz="1800" i="1" u="heavy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no </a:t>
            </a:r>
            <a:r>
              <a:rPr sz="18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admitiéndose </a:t>
            </a:r>
            <a:r>
              <a:rPr sz="18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otros </a:t>
            </a:r>
            <a:r>
              <a:rPr sz="18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procesos </a:t>
            </a:r>
            <a:r>
              <a:rPr sz="1800" i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ni </a:t>
            </a:r>
            <a:r>
              <a:rPr sz="18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almacenamientos en  </a:t>
            </a:r>
            <a:r>
              <a:rPr sz="1800" i="1" u="heavy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el</a:t>
            </a:r>
            <a:r>
              <a:rPr sz="1800" i="1" u="heavy" spc="-13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1800" i="1" u="heavy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dibujo.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57329" y="4554530"/>
            <a:ext cx="6372593" cy="16611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332105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Tipos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DFDs: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813306"/>
            <a:ext cx="8689975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050" algn="l"/>
              </a:tabLst>
            </a:pPr>
            <a:r>
              <a:rPr sz="2600" b="1" spc="-240" dirty="0">
                <a:latin typeface="Trebuchet MS"/>
                <a:cs typeface="Trebuchet MS"/>
              </a:rPr>
              <a:t>2.	</a:t>
            </a:r>
            <a:r>
              <a:rPr sz="2600" b="1" spc="-120" dirty="0">
                <a:latin typeface="Trebuchet MS"/>
                <a:cs typeface="Trebuchet MS"/>
              </a:rPr>
              <a:t>Diagrama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5" dirty="0">
                <a:latin typeface="Trebuchet MS"/>
                <a:cs typeface="Trebuchet MS"/>
              </a:rPr>
              <a:t>Nivel</a:t>
            </a:r>
            <a:r>
              <a:rPr sz="2600" b="1" spc="-280" dirty="0">
                <a:latin typeface="Trebuchet MS"/>
                <a:cs typeface="Trebuchet MS"/>
              </a:rPr>
              <a:t> </a:t>
            </a:r>
            <a:r>
              <a:rPr sz="2600" b="1" spc="-225" dirty="0">
                <a:latin typeface="Trebuchet MS"/>
                <a:cs typeface="Trebuchet MS"/>
              </a:rPr>
              <a:t>0:</a:t>
            </a:r>
            <a:endParaRPr sz="2600">
              <a:latin typeface="Trebuchet MS"/>
              <a:cs typeface="Trebuchet MS"/>
            </a:endParaRPr>
          </a:p>
          <a:p>
            <a:pPr marL="527050" indent="-514350">
              <a:lnSpc>
                <a:spcPct val="100000"/>
              </a:lnSpc>
              <a:spcBef>
                <a:spcPts val="50"/>
              </a:spcBef>
              <a:buChar char="•"/>
              <a:tabLst>
                <a:tab pos="527050" algn="l"/>
                <a:tab pos="527685" algn="l"/>
              </a:tabLst>
            </a:pPr>
            <a:r>
              <a:rPr sz="1800" spc="-195" dirty="0">
                <a:latin typeface="Arial"/>
                <a:cs typeface="Arial"/>
              </a:rPr>
              <a:t>En </a:t>
            </a:r>
            <a:r>
              <a:rPr sz="1800" spc="-90" dirty="0">
                <a:latin typeface="Arial"/>
                <a:cs typeface="Arial"/>
              </a:rPr>
              <a:t>este diagrama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95" dirty="0">
                <a:latin typeface="Arial"/>
                <a:cs typeface="Arial"/>
              </a:rPr>
              <a:t>plasman </a:t>
            </a:r>
            <a:r>
              <a:rPr sz="1800" spc="-60" dirty="0">
                <a:latin typeface="Arial"/>
                <a:cs typeface="Arial"/>
              </a:rPr>
              <a:t>todos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5" dirty="0">
                <a:latin typeface="Arial"/>
                <a:cs typeface="Arial"/>
              </a:rPr>
              <a:t>procesos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80" dirty="0">
                <a:latin typeface="Arial"/>
                <a:cs typeface="Arial"/>
              </a:rPr>
              <a:t>describen </a:t>
            </a:r>
            <a:r>
              <a:rPr sz="1800" spc="-65" dirty="0">
                <a:latin typeface="Arial"/>
                <a:cs typeface="Arial"/>
              </a:rPr>
              <a:t>al </a:t>
            </a:r>
            <a:r>
              <a:rPr sz="1800" spc="-90" dirty="0">
                <a:latin typeface="Arial"/>
                <a:cs typeface="Arial"/>
              </a:rPr>
              <a:t>proceso</a:t>
            </a:r>
            <a:r>
              <a:rPr sz="1800" spc="-235" dirty="0">
                <a:latin typeface="Arial"/>
                <a:cs typeface="Arial"/>
              </a:rPr>
              <a:t> </a:t>
            </a:r>
            <a:r>
              <a:rPr sz="1800" spc="-45" dirty="0">
                <a:latin typeface="Arial"/>
                <a:cs typeface="Arial"/>
              </a:rPr>
              <a:t>principal.</a:t>
            </a:r>
            <a:endParaRPr sz="1800">
              <a:latin typeface="Arial"/>
              <a:cs typeface="Arial"/>
            </a:endParaRPr>
          </a:p>
          <a:p>
            <a:pPr marL="527050" marR="5080" indent="-514350" algn="just">
              <a:lnSpc>
                <a:spcPct val="100000"/>
              </a:lnSpc>
              <a:buChar char="•"/>
              <a:tabLst>
                <a:tab pos="527685" algn="l"/>
              </a:tabLst>
            </a:pPr>
            <a:r>
              <a:rPr sz="1800" spc="-195" dirty="0">
                <a:latin typeface="Arial"/>
                <a:cs typeface="Arial"/>
              </a:rPr>
              <a:t>En </a:t>
            </a:r>
            <a:r>
              <a:rPr sz="1800" spc="-90" dirty="0">
                <a:latin typeface="Arial"/>
                <a:cs typeface="Arial"/>
              </a:rPr>
              <a:t>este </a:t>
            </a:r>
            <a:r>
              <a:rPr sz="1800" spc="-50" dirty="0">
                <a:latin typeface="Arial"/>
                <a:cs typeface="Arial"/>
              </a:rPr>
              <a:t>nivel,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105" dirty="0">
                <a:latin typeface="Arial"/>
                <a:cs typeface="Arial"/>
              </a:rPr>
              <a:t>procesos </a:t>
            </a:r>
            <a:r>
              <a:rPr sz="1800" spc="-55" dirty="0">
                <a:latin typeface="Arial"/>
                <a:cs typeface="Arial"/>
              </a:rPr>
              <a:t>no </a:t>
            </a:r>
            <a:r>
              <a:rPr sz="1800" spc="-85" dirty="0">
                <a:latin typeface="Arial"/>
                <a:cs typeface="Arial"/>
              </a:rPr>
              <a:t>suelen </a:t>
            </a:r>
            <a:r>
              <a:rPr sz="1800" spc="-60" dirty="0">
                <a:latin typeface="Arial"/>
                <a:cs typeface="Arial"/>
              </a:rPr>
              <a:t>interrelacionarse </a:t>
            </a:r>
            <a:r>
              <a:rPr sz="1800" spc="-55" dirty="0">
                <a:latin typeface="Arial"/>
                <a:cs typeface="Arial"/>
              </a:rPr>
              <a:t>directamente, </a:t>
            </a:r>
            <a:r>
              <a:rPr sz="1800" spc="-80" dirty="0">
                <a:latin typeface="Arial"/>
                <a:cs typeface="Arial"/>
              </a:rPr>
              <a:t>sino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40" dirty="0">
                <a:latin typeface="Arial"/>
                <a:cs typeface="Arial"/>
              </a:rPr>
              <a:t>entre  </a:t>
            </a:r>
            <a:r>
              <a:rPr sz="1800" spc="-70" dirty="0">
                <a:latin typeface="Arial"/>
                <a:cs typeface="Arial"/>
              </a:rPr>
              <a:t>ellos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debe </a:t>
            </a:r>
            <a:r>
              <a:rPr sz="1800" i="1" u="heavy" spc="-13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existir </a:t>
            </a:r>
            <a:r>
              <a:rPr sz="1800" i="1" u="heavy" spc="-6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algún </a:t>
            </a:r>
            <a:r>
              <a:rPr sz="18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almacenamiento </a:t>
            </a:r>
            <a:r>
              <a:rPr sz="1800" i="1" u="heavy" spc="-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entidad </a:t>
            </a:r>
            <a:r>
              <a:rPr sz="1800" i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externa </a:t>
            </a:r>
            <a:r>
              <a:rPr sz="1800" i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 </a:t>
            </a:r>
            <a:r>
              <a:rPr sz="18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los </a:t>
            </a:r>
            <a:r>
              <a:rPr sz="1800" i="1" u="heavy" spc="-5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una</a:t>
            </a:r>
            <a:r>
              <a:rPr sz="1800" spc="-55" dirty="0">
                <a:latin typeface="Arial"/>
                <a:cs typeface="Arial"/>
              </a:rPr>
              <a:t>. </a:t>
            </a:r>
            <a:r>
              <a:rPr sz="1800" spc="-155" dirty="0">
                <a:latin typeface="Arial"/>
                <a:cs typeface="Arial"/>
              </a:rPr>
              <a:t>Esta </a:t>
            </a:r>
            <a:r>
              <a:rPr sz="1800" spc="-80" dirty="0">
                <a:latin typeface="Arial"/>
                <a:cs typeface="Arial"/>
              </a:rPr>
              <a:t>regla de  </a:t>
            </a:r>
            <a:r>
              <a:rPr sz="1800" spc="-70" dirty="0">
                <a:latin typeface="Arial"/>
                <a:cs typeface="Arial"/>
              </a:rPr>
              <a:t>construcción </a:t>
            </a:r>
            <a:r>
              <a:rPr sz="1800" spc="-75" dirty="0">
                <a:latin typeface="Arial"/>
                <a:cs typeface="Arial"/>
              </a:rPr>
              <a:t>sirve </a:t>
            </a:r>
            <a:r>
              <a:rPr sz="1800" spc="-85" dirty="0">
                <a:latin typeface="Arial"/>
                <a:cs typeface="Arial"/>
              </a:rPr>
              <a:t>como </a:t>
            </a:r>
            <a:r>
              <a:rPr sz="1800" spc="-105" dirty="0">
                <a:latin typeface="Arial"/>
                <a:cs typeface="Arial"/>
              </a:rPr>
              <a:t>ayuda </a:t>
            </a:r>
            <a:r>
              <a:rPr sz="1800" spc="-65" dirty="0">
                <a:latin typeface="Arial"/>
                <a:cs typeface="Arial"/>
              </a:rPr>
              <a:t>al </a:t>
            </a:r>
            <a:r>
              <a:rPr sz="1800" spc="-75" dirty="0">
                <a:latin typeface="Arial"/>
                <a:cs typeface="Arial"/>
              </a:rPr>
              <a:t>analista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55" dirty="0">
                <a:latin typeface="Arial"/>
                <a:cs typeface="Arial"/>
              </a:rPr>
              <a:t>contemplar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50" dirty="0">
                <a:latin typeface="Arial"/>
                <a:cs typeface="Arial"/>
              </a:rPr>
              <a:t>nivel </a:t>
            </a:r>
            <a:r>
              <a:rPr sz="1800" spc="-40" dirty="0">
                <a:latin typeface="Arial"/>
                <a:cs typeface="Arial"/>
              </a:rPr>
              <a:t>tan </a:t>
            </a:r>
            <a:r>
              <a:rPr sz="1800" spc="-85" dirty="0">
                <a:latin typeface="Arial"/>
                <a:cs typeface="Arial"/>
              </a:rPr>
              <a:t>elevado  de </a:t>
            </a:r>
            <a:r>
              <a:rPr sz="1800" spc="-80" dirty="0">
                <a:latin typeface="Arial"/>
                <a:cs typeface="Arial"/>
              </a:rPr>
              <a:t>abstracción </a:t>
            </a:r>
            <a:r>
              <a:rPr sz="1800" spc="-155" dirty="0">
                <a:latin typeface="Arial"/>
                <a:cs typeface="Arial"/>
              </a:rPr>
              <a:t>es </a:t>
            </a:r>
            <a:r>
              <a:rPr sz="1800" spc="-50" dirty="0">
                <a:latin typeface="Arial"/>
                <a:cs typeface="Arial"/>
              </a:rPr>
              <a:t>altamente </a:t>
            </a:r>
            <a:r>
              <a:rPr sz="1800" spc="-60" dirty="0">
                <a:latin typeface="Arial"/>
                <a:cs typeface="Arial"/>
              </a:rPr>
              <a:t>probable </a:t>
            </a:r>
            <a:r>
              <a:rPr sz="1800" spc="-70" dirty="0">
                <a:latin typeface="Arial"/>
                <a:cs typeface="Arial"/>
              </a:rPr>
              <a:t>que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80" dirty="0">
                <a:latin typeface="Arial"/>
                <a:cs typeface="Arial"/>
              </a:rPr>
              <a:t>maneja </a:t>
            </a:r>
            <a:r>
              <a:rPr sz="1800" spc="-60" dirty="0">
                <a:latin typeface="Arial"/>
                <a:cs typeface="Arial"/>
              </a:rPr>
              <a:t>requiera </a:t>
            </a:r>
            <a:r>
              <a:rPr sz="1800" spc="-100" dirty="0">
                <a:latin typeface="Arial"/>
                <a:cs typeface="Arial"/>
              </a:rPr>
              <a:t>ser  almacenada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95" dirty="0">
                <a:latin typeface="Arial"/>
                <a:cs typeface="Arial"/>
              </a:rPr>
              <a:t>sistema </a:t>
            </a:r>
            <a:r>
              <a:rPr sz="1800" spc="-80" dirty="0">
                <a:latin typeface="Arial"/>
                <a:cs typeface="Arial"/>
              </a:rPr>
              <a:t>aunque </a:t>
            </a:r>
            <a:r>
              <a:rPr sz="1800" spc="-55" dirty="0">
                <a:latin typeface="Arial"/>
                <a:cs typeface="Arial"/>
              </a:rPr>
              <a:t>no </a:t>
            </a:r>
            <a:r>
              <a:rPr sz="1800" spc="-90" dirty="0">
                <a:latin typeface="Arial"/>
                <a:cs typeface="Arial"/>
              </a:rPr>
              <a:t>esté </a:t>
            </a:r>
            <a:r>
              <a:rPr sz="1800" spc="-80" dirty="0">
                <a:latin typeface="Arial"/>
                <a:cs typeface="Arial"/>
              </a:rPr>
              <a:t>especificado </a:t>
            </a:r>
            <a:r>
              <a:rPr sz="1800" spc="-30" dirty="0">
                <a:latin typeface="Arial"/>
                <a:cs typeface="Arial"/>
              </a:rPr>
              <a:t>por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85" dirty="0">
                <a:latin typeface="Arial"/>
                <a:cs typeface="Arial"/>
              </a:rPr>
              <a:t>Requisito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55" dirty="0">
                <a:latin typeface="Arial"/>
                <a:cs typeface="Arial"/>
              </a:rPr>
              <a:t>funcional,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6572" y="3931665"/>
            <a:ext cx="416496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0"/>
              </a:lnSpc>
            </a:pPr>
            <a:r>
              <a:rPr sz="1800" spc="-80" dirty="0">
                <a:latin typeface="Arial"/>
                <a:cs typeface="Arial"/>
              </a:rPr>
              <a:t>siendo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0" dirty="0">
                <a:latin typeface="Arial"/>
                <a:cs typeface="Arial"/>
              </a:rPr>
              <a:t>realidad un </a:t>
            </a:r>
            <a:r>
              <a:rPr sz="1800" spc="-40" dirty="0">
                <a:latin typeface="Arial"/>
                <a:cs typeface="Arial"/>
              </a:rPr>
              <a:t>requisito</a:t>
            </a:r>
            <a:r>
              <a:rPr sz="1800" spc="-18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no-funcional.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4106" y="4088485"/>
            <a:ext cx="7833973" cy="2255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 err="1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332105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Tipos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DFDs: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1813306"/>
            <a:ext cx="8689340" cy="2348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7050" algn="l"/>
              </a:tabLst>
            </a:pPr>
            <a:r>
              <a:rPr sz="2600" b="1" spc="-240" dirty="0">
                <a:latin typeface="Trebuchet MS"/>
                <a:cs typeface="Trebuchet MS"/>
              </a:rPr>
              <a:t>3.	</a:t>
            </a:r>
            <a:r>
              <a:rPr sz="2600" b="1" spc="-120" dirty="0">
                <a:latin typeface="Trebuchet MS"/>
                <a:cs typeface="Trebuchet MS"/>
              </a:rPr>
              <a:t>Diagrama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35" dirty="0">
                <a:latin typeface="Trebuchet MS"/>
                <a:cs typeface="Trebuchet MS"/>
              </a:rPr>
              <a:t>Nivel</a:t>
            </a:r>
            <a:r>
              <a:rPr sz="2600" b="1" spc="-280" dirty="0">
                <a:latin typeface="Trebuchet MS"/>
                <a:cs typeface="Trebuchet MS"/>
              </a:rPr>
              <a:t> </a:t>
            </a:r>
            <a:r>
              <a:rPr sz="2600" b="1" spc="-225" dirty="0">
                <a:latin typeface="Trebuchet MS"/>
                <a:cs typeface="Trebuchet MS"/>
              </a:rPr>
              <a:t>1:</a:t>
            </a:r>
            <a:endParaRPr sz="2600">
              <a:latin typeface="Trebuchet MS"/>
              <a:cs typeface="Trebuchet MS"/>
            </a:endParaRPr>
          </a:p>
          <a:p>
            <a:pPr marL="527050" marR="5080" indent="-514350" algn="just">
              <a:lnSpc>
                <a:spcPct val="100000"/>
              </a:lnSpc>
              <a:spcBef>
                <a:spcPts val="50"/>
              </a:spcBef>
              <a:buChar char="•"/>
              <a:tabLst>
                <a:tab pos="527685" algn="l"/>
              </a:tabLst>
            </a:pPr>
            <a:r>
              <a:rPr sz="1800" spc="-195" dirty="0">
                <a:latin typeface="Arial"/>
                <a:cs typeface="Arial"/>
              </a:rPr>
              <a:t>En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90" dirty="0">
                <a:latin typeface="Arial"/>
                <a:cs typeface="Arial"/>
              </a:rPr>
              <a:t>diagrama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Nivel </a:t>
            </a:r>
            <a:r>
              <a:rPr sz="1800" spc="-90" dirty="0">
                <a:latin typeface="Arial"/>
                <a:cs typeface="Arial"/>
              </a:rPr>
              <a:t>1 </a:t>
            </a:r>
            <a:r>
              <a:rPr sz="1800" spc="-55" dirty="0">
                <a:latin typeface="Arial"/>
                <a:cs typeface="Arial"/>
              </a:rPr>
              <a:t>o </a:t>
            </a:r>
            <a:r>
              <a:rPr sz="1800" spc="-100" dirty="0">
                <a:latin typeface="Arial"/>
                <a:cs typeface="Arial"/>
              </a:rPr>
              <a:t>mayor, </a:t>
            </a:r>
            <a:r>
              <a:rPr sz="1800" spc="-95" dirty="0">
                <a:latin typeface="Arial"/>
                <a:cs typeface="Arial"/>
              </a:rPr>
              <a:t>comienzan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5" dirty="0">
                <a:latin typeface="Arial"/>
                <a:cs typeface="Arial"/>
              </a:rPr>
              <a:t>explotarse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excepciones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85" dirty="0">
                <a:latin typeface="Arial"/>
                <a:cs typeface="Arial"/>
              </a:rPr>
              <a:t>los  </a:t>
            </a:r>
            <a:r>
              <a:rPr sz="1800" spc="-95" dirty="0">
                <a:latin typeface="Arial"/>
                <a:cs typeface="Arial"/>
              </a:rPr>
              <a:t>caminos </a:t>
            </a:r>
            <a:r>
              <a:rPr sz="1800" spc="-65" dirty="0">
                <a:latin typeface="Arial"/>
                <a:cs typeface="Arial"/>
              </a:rPr>
              <a:t>principales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50" dirty="0">
                <a:latin typeface="Arial"/>
                <a:cs typeface="Arial"/>
              </a:rPr>
              <a:t>información </a:t>
            </a:r>
            <a:r>
              <a:rPr sz="1800" spc="-80" dirty="0">
                <a:latin typeface="Arial"/>
                <a:cs typeface="Arial"/>
              </a:rPr>
              <a:t>dado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70" dirty="0">
                <a:latin typeface="Arial"/>
                <a:cs typeface="Arial"/>
              </a:rPr>
              <a:t>aumenta </a:t>
            </a:r>
            <a:r>
              <a:rPr sz="1800" spc="-75" dirty="0">
                <a:latin typeface="Arial"/>
                <a:cs typeface="Arial"/>
              </a:rPr>
              <a:t>progresivamente </a:t>
            </a:r>
            <a:r>
              <a:rPr sz="1800" spc="-50" dirty="0">
                <a:latin typeface="Arial"/>
                <a:cs typeface="Arial"/>
              </a:rPr>
              <a:t>el nivel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50" dirty="0">
                <a:latin typeface="Arial"/>
                <a:cs typeface="Arial"/>
              </a:rPr>
              <a:t>detalle. </a:t>
            </a:r>
            <a:r>
              <a:rPr sz="1800" spc="-150" dirty="0">
                <a:latin typeface="Arial"/>
                <a:cs typeface="Arial"/>
              </a:rPr>
              <a:t>De </a:t>
            </a:r>
            <a:r>
              <a:rPr sz="1800" spc="-85" dirty="0">
                <a:latin typeface="Arial"/>
                <a:cs typeface="Arial"/>
              </a:rPr>
              <a:t>aquí en </a:t>
            </a:r>
            <a:r>
              <a:rPr sz="1800" spc="-70" dirty="0">
                <a:latin typeface="Arial"/>
                <a:cs typeface="Arial"/>
              </a:rPr>
              <a:t>adelante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40" dirty="0">
                <a:latin typeface="Arial"/>
                <a:cs typeface="Arial"/>
              </a:rPr>
              <a:t>permiten </a:t>
            </a:r>
            <a:r>
              <a:rPr sz="1800" spc="-80" dirty="0">
                <a:latin typeface="Arial"/>
                <a:cs typeface="Arial"/>
              </a:rPr>
              <a:t>los </a:t>
            </a:r>
            <a:r>
              <a:rPr sz="1800" spc="-40" dirty="0">
                <a:latin typeface="Arial"/>
                <a:cs typeface="Arial"/>
              </a:rPr>
              <a:t>flujos entre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spc="-100" dirty="0">
                <a:latin typeface="Arial"/>
                <a:cs typeface="Arial"/>
              </a:rPr>
              <a:t>procesos.</a:t>
            </a:r>
            <a:endParaRPr sz="1800">
              <a:latin typeface="Arial"/>
              <a:cs typeface="Arial"/>
            </a:endParaRPr>
          </a:p>
          <a:p>
            <a:pPr marL="527050" marR="5080" indent="-5143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527685" algn="l"/>
              </a:tabLst>
            </a:pPr>
            <a:r>
              <a:rPr sz="1800" spc="-160" dirty="0">
                <a:latin typeface="Arial"/>
                <a:cs typeface="Arial"/>
              </a:rPr>
              <a:t>El </a:t>
            </a:r>
            <a:r>
              <a:rPr sz="1800" spc="-225" dirty="0">
                <a:latin typeface="Arial"/>
                <a:cs typeface="Arial"/>
              </a:rPr>
              <a:t>DFD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65" dirty="0">
                <a:latin typeface="Arial"/>
                <a:cs typeface="Arial"/>
              </a:rPr>
              <a:t>Nivel </a:t>
            </a:r>
            <a:r>
              <a:rPr sz="1800" spc="-90" dirty="0">
                <a:latin typeface="Arial"/>
                <a:cs typeface="Arial"/>
              </a:rPr>
              <a:t>1 </a:t>
            </a:r>
            <a:r>
              <a:rPr sz="1800" spc="-75" dirty="0">
                <a:latin typeface="Arial"/>
                <a:cs typeface="Arial"/>
              </a:rPr>
              <a:t>puede </a:t>
            </a:r>
            <a:r>
              <a:rPr sz="1800" spc="-95" dirty="0">
                <a:latin typeface="Arial"/>
                <a:cs typeface="Arial"/>
              </a:rPr>
              <a:t>considerarse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80" dirty="0">
                <a:latin typeface="Arial"/>
                <a:cs typeface="Arial"/>
              </a:rPr>
              <a:t>máximo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95" dirty="0">
                <a:latin typeface="Arial"/>
                <a:cs typeface="Arial"/>
              </a:rPr>
              <a:t>ser </a:t>
            </a:r>
            <a:r>
              <a:rPr sz="1800" spc="-70" dirty="0">
                <a:latin typeface="Arial"/>
                <a:cs typeface="Arial"/>
              </a:rPr>
              <a:t>validado (en </a:t>
            </a:r>
            <a:r>
              <a:rPr sz="1800" spc="-45" dirty="0">
                <a:latin typeface="Arial"/>
                <a:cs typeface="Arial"/>
              </a:rPr>
              <a:t>forma </a:t>
            </a:r>
            <a:r>
              <a:rPr sz="1800" spc="-55" dirty="0">
                <a:latin typeface="Arial"/>
                <a:cs typeface="Arial"/>
              </a:rPr>
              <a:t>conjunta)  </a:t>
            </a:r>
            <a:r>
              <a:rPr sz="1800" spc="-95" dirty="0">
                <a:latin typeface="Arial"/>
                <a:cs typeface="Arial"/>
              </a:rPr>
              <a:t>con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70" dirty="0">
                <a:latin typeface="Arial"/>
                <a:cs typeface="Arial"/>
              </a:rPr>
              <a:t>usuario </a:t>
            </a:r>
            <a:r>
              <a:rPr sz="1800" spc="-80" dirty="0">
                <a:latin typeface="Arial"/>
                <a:cs typeface="Arial"/>
              </a:rPr>
              <a:t>dado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80" dirty="0">
                <a:latin typeface="Arial"/>
                <a:cs typeface="Arial"/>
              </a:rPr>
              <a:t>los niveles </a:t>
            </a:r>
            <a:r>
              <a:rPr sz="1800" spc="-65" dirty="0">
                <a:latin typeface="Arial"/>
                <a:cs typeface="Arial"/>
              </a:rPr>
              <a:t>posteriores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25" dirty="0">
                <a:latin typeface="Arial"/>
                <a:cs typeface="Arial"/>
              </a:rPr>
              <a:t>alto </a:t>
            </a:r>
            <a:r>
              <a:rPr sz="1800" spc="-85" dirty="0">
                <a:latin typeface="Arial"/>
                <a:cs typeface="Arial"/>
              </a:rPr>
              <a:t>grado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60" dirty="0">
                <a:latin typeface="Arial"/>
                <a:cs typeface="Arial"/>
              </a:rPr>
              <a:t>complejidad </a:t>
            </a:r>
            <a:r>
              <a:rPr sz="1800" spc="-50" dirty="0">
                <a:latin typeface="Arial"/>
                <a:cs typeface="Arial"/>
              </a:rPr>
              <a:t>del  </a:t>
            </a:r>
            <a:r>
              <a:rPr sz="1800" spc="-90" dirty="0">
                <a:latin typeface="Arial"/>
                <a:cs typeface="Arial"/>
              </a:rPr>
              <a:t>diagrama </a:t>
            </a:r>
            <a:r>
              <a:rPr sz="1800" spc="-75" dirty="0">
                <a:latin typeface="Arial"/>
                <a:cs typeface="Arial"/>
              </a:rPr>
              <a:t>puede </a:t>
            </a:r>
            <a:r>
              <a:rPr sz="1800" spc="-50" dirty="0">
                <a:latin typeface="Arial"/>
                <a:cs typeface="Arial"/>
              </a:rPr>
              <a:t>resultar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muy </a:t>
            </a:r>
            <a:r>
              <a:rPr sz="1800" spc="-30" dirty="0">
                <a:latin typeface="Arial"/>
                <a:cs typeface="Arial"/>
              </a:rPr>
              <a:t>difícil </a:t>
            </a:r>
            <a:r>
              <a:rPr sz="1800" spc="-50" dirty="0">
                <a:latin typeface="Arial"/>
                <a:cs typeface="Arial"/>
              </a:rPr>
              <a:t>lectura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105" dirty="0">
                <a:latin typeface="Arial"/>
                <a:cs typeface="Arial"/>
              </a:rPr>
              <a:t>personas ajenas </a:t>
            </a:r>
            <a:r>
              <a:rPr sz="1800" spc="-65" dirty="0">
                <a:latin typeface="Arial"/>
                <a:cs typeface="Arial"/>
              </a:rPr>
              <a:t>al </a:t>
            </a:r>
            <a:r>
              <a:rPr sz="1800" spc="-55" dirty="0">
                <a:latin typeface="Arial"/>
                <a:cs typeface="Arial"/>
              </a:rPr>
              <a:t>equipo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100" dirty="0">
                <a:latin typeface="Arial"/>
                <a:cs typeface="Arial"/>
              </a:rPr>
              <a:t>sistemas.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268" y="500126"/>
            <a:ext cx="332105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Tipos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DFDs: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686" y="2167316"/>
            <a:ext cx="8820627" cy="33743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31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8691245" cy="5300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30" dirty="0">
                <a:latin typeface="Trebuchet MS"/>
                <a:cs typeface="Trebuchet MS"/>
              </a:rPr>
              <a:t>Reglas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45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DFDs: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marR="63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150" dirty="0">
                <a:latin typeface="Arial"/>
                <a:cs typeface="Arial"/>
              </a:rPr>
              <a:t>Un </a:t>
            </a:r>
            <a:r>
              <a:rPr sz="2600" spc="-10" dirty="0">
                <a:latin typeface="Arial"/>
                <a:cs typeface="Arial"/>
              </a:rPr>
              <a:t>flujo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0" dirty="0">
                <a:latin typeface="Arial"/>
                <a:cs typeface="Arial"/>
              </a:rPr>
              <a:t>datos que </a:t>
            </a:r>
            <a:r>
              <a:rPr sz="2600" spc="-120" dirty="0">
                <a:latin typeface="Arial"/>
                <a:cs typeface="Arial"/>
              </a:rPr>
              <a:t>abandone </a:t>
            </a:r>
            <a:r>
              <a:rPr sz="2600" spc="-85" dirty="0">
                <a:latin typeface="Arial"/>
                <a:cs typeface="Arial"/>
              </a:rPr>
              <a:t>un </a:t>
            </a:r>
            <a:r>
              <a:rPr sz="2600" spc="-130" dirty="0">
                <a:latin typeface="Arial"/>
                <a:cs typeface="Arial"/>
              </a:rPr>
              <a:t>proceso </a:t>
            </a:r>
            <a:r>
              <a:rPr sz="2600" spc="-125" dirty="0">
                <a:latin typeface="Arial"/>
                <a:cs typeface="Arial"/>
              </a:rPr>
              <a:t>debe </a:t>
            </a:r>
            <a:r>
              <a:rPr sz="2600" spc="-180" dirty="0">
                <a:latin typeface="Arial"/>
                <a:cs typeface="Arial"/>
              </a:rPr>
              <a:t>basarse </a:t>
            </a:r>
            <a:r>
              <a:rPr sz="2600" spc="-125" dirty="0">
                <a:latin typeface="Arial"/>
                <a:cs typeface="Arial"/>
              </a:rPr>
              <a:t>en  </a:t>
            </a:r>
            <a:r>
              <a:rPr sz="2600" spc="-114" dirty="0">
                <a:latin typeface="Arial"/>
                <a:cs typeface="Arial"/>
              </a:rPr>
              <a:t>los datos </a:t>
            </a:r>
            <a:r>
              <a:rPr sz="2600" spc="-110" dirty="0">
                <a:latin typeface="Arial"/>
                <a:cs typeface="Arial"/>
              </a:rPr>
              <a:t>que</a:t>
            </a:r>
            <a:r>
              <a:rPr sz="2600" spc="-190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ingresan;</a:t>
            </a:r>
            <a:endParaRPr sz="2600">
              <a:latin typeface="Arial"/>
              <a:cs typeface="Arial"/>
            </a:endParaRPr>
          </a:p>
          <a:p>
            <a:pPr marL="527050" marR="5715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220" dirty="0">
                <a:latin typeface="Arial"/>
                <a:cs typeface="Arial"/>
              </a:rPr>
              <a:t>Todos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60" dirty="0">
                <a:latin typeface="Arial"/>
                <a:cs typeface="Arial"/>
              </a:rPr>
              <a:t>flujos </a:t>
            </a:r>
            <a:r>
              <a:rPr sz="2600" spc="-55" dirty="0">
                <a:latin typeface="Arial"/>
                <a:cs typeface="Arial"/>
              </a:rPr>
              <a:t>tienen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85" dirty="0">
                <a:latin typeface="Arial"/>
                <a:cs typeface="Arial"/>
              </a:rPr>
              <a:t>nombre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65" dirty="0">
                <a:latin typeface="Arial"/>
                <a:cs typeface="Arial"/>
              </a:rPr>
              <a:t>refleja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10" dirty="0">
                <a:latin typeface="Arial"/>
                <a:cs typeface="Arial"/>
              </a:rPr>
              <a:t>datos </a:t>
            </a:r>
            <a:r>
              <a:rPr sz="2600" spc="-114" dirty="0">
                <a:latin typeface="Arial"/>
                <a:cs typeface="Arial"/>
              </a:rPr>
              <a:t>que  </a:t>
            </a:r>
            <a:r>
              <a:rPr sz="2600" spc="-65" dirty="0">
                <a:latin typeface="Arial"/>
                <a:cs typeface="Arial"/>
              </a:rPr>
              <a:t>fluyen;</a:t>
            </a:r>
            <a:endParaRPr sz="2600">
              <a:latin typeface="Arial"/>
              <a:cs typeface="Arial"/>
            </a:endParaRPr>
          </a:p>
          <a:p>
            <a:pPr marL="527050" marR="508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  <a:tab pos="1080135" algn="l"/>
                <a:tab pos="2313305" algn="l"/>
                <a:tab pos="3156585" algn="l"/>
                <a:tab pos="3732529" algn="l"/>
                <a:tab pos="5602605" algn="l"/>
                <a:tab pos="6324600" algn="l"/>
                <a:tab pos="6831330" algn="l"/>
                <a:tab pos="7430134" algn="l"/>
                <a:tab pos="8339455" algn="l"/>
              </a:tabLst>
            </a:pPr>
            <a:r>
              <a:rPr sz="2600" spc="-170" dirty="0">
                <a:latin typeface="Arial"/>
                <a:cs typeface="Arial"/>
              </a:rPr>
              <a:t>U</a:t>
            </a:r>
            <a:r>
              <a:rPr sz="2600" spc="-130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5" dirty="0">
                <a:latin typeface="Arial"/>
                <a:cs typeface="Arial"/>
              </a:rPr>
              <a:t>p</a:t>
            </a:r>
            <a:r>
              <a:rPr sz="2600" spc="-60" dirty="0">
                <a:latin typeface="Arial"/>
                <a:cs typeface="Arial"/>
              </a:rPr>
              <a:t>r</a:t>
            </a:r>
            <a:r>
              <a:rPr sz="2600" spc="-165" dirty="0">
                <a:latin typeface="Arial"/>
                <a:cs typeface="Arial"/>
              </a:rPr>
              <a:t>oceso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deb</a:t>
            </a:r>
            <a:r>
              <a:rPr sz="2600" spc="-1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95" dirty="0">
                <a:latin typeface="Arial"/>
                <a:cs typeface="Arial"/>
              </a:rPr>
              <a:t>s</a:t>
            </a:r>
            <a:r>
              <a:rPr sz="2600" spc="-60" dirty="0">
                <a:latin typeface="Arial"/>
                <a:cs typeface="Arial"/>
              </a:rPr>
              <a:t>er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dep</a:t>
            </a:r>
            <a:r>
              <a:rPr sz="2600" spc="-135" dirty="0">
                <a:latin typeface="Arial"/>
                <a:cs typeface="Arial"/>
              </a:rPr>
              <a:t>e</a:t>
            </a:r>
            <a:r>
              <a:rPr sz="2600" spc="-80" dirty="0">
                <a:latin typeface="Arial"/>
                <a:cs typeface="Arial"/>
              </a:rPr>
              <a:t>ndie</a:t>
            </a:r>
            <a:r>
              <a:rPr sz="2600" spc="-120" dirty="0">
                <a:latin typeface="Arial"/>
                <a:cs typeface="Arial"/>
              </a:rPr>
              <a:t>n</a:t>
            </a:r>
            <a:r>
              <a:rPr sz="2600" spc="110" dirty="0">
                <a:latin typeface="Arial"/>
                <a:cs typeface="Arial"/>
              </a:rPr>
              <a:t>t</a:t>
            </a:r>
            <a:r>
              <a:rPr sz="2600" spc="-155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5" dirty="0">
                <a:latin typeface="Arial"/>
                <a:cs typeface="Arial"/>
              </a:rPr>
              <a:t>sól</a:t>
            </a:r>
            <a:r>
              <a:rPr sz="2600" spc="-130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29" dirty="0">
                <a:latin typeface="Arial"/>
                <a:cs typeface="Arial"/>
              </a:rPr>
              <a:t>su</a:t>
            </a:r>
            <a:r>
              <a:rPr sz="2600" spc="-210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50" dirty="0">
                <a:latin typeface="Arial"/>
                <a:cs typeface="Arial"/>
              </a:rPr>
              <a:t>d</a:t>
            </a:r>
            <a:r>
              <a:rPr sz="2600" spc="-170" dirty="0">
                <a:latin typeface="Arial"/>
                <a:cs typeface="Arial"/>
              </a:rPr>
              <a:t>a</a:t>
            </a:r>
            <a:r>
              <a:rPr sz="2600" spc="125" dirty="0">
                <a:latin typeface="Arial"/>
                <a:cs typeface="Arial"/>
              </a:rPr>
              <a:t>t</a:t>
            </a:r>
            <a:r>
              <a:rPr sz="2600" spc="-195" dirty="0">
                <a:latin typeface="Arial"/>
                <a:cs typeface="Arial"/>
              </a:rPr>
              <a:t>o</a:t>
            </a:r>
            <a:r>
              <a:rPr sz="2600" spc="-175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0" dirty="0">
                <a:latin typeface="Arial"/>
                <a:cs typeface="Arial"/>
              </a:rPr>
              <a:t>de  entrada 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spc="-180" dirty="0">
                <a:latin typeface="Arial"/>
                <a:cs typeface="Arial"/>
              </a:rPr>
              <a:t> </a:t>
            </a:r>
            <a:r>
              <a:rPr sz="2600" spc="-114" dirty="0">
                <a:latin typeface="Arial"/>
                <a:cs typeface="Arial"/>
              </a:rPr>
              <a:t>salida;</a:t>
            </a:r>
            <a:endParaRPr sz="2600">
              <a:latin typeface="Arial"/>
              <a:cs typeface="Arial"/>
            </a:endParaRPr>
          </a:p>
          <a:p>
            <a:pPr marL="527050" marR="63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  <a:tab pos="1286510" algn="l"/>
                <a:tab pos="2314575" algn="l"/>
                <a:tab pos="3324860" algn="l"/>
                <a:tab pos="3740785" algn="l"/>
                <a:tab pos="4988560" algn="l"/>
                <a:tab pos="5550535" algn="l"/>
                <a:tab pos="6471285" algn="l"/>
                <a:tab pos="8077200" algn="l"/>
              </a:tabLst>
            </a:pPr>
            <a:r>
              <a:rPr sz="2600" spc="-345" dirty="0">
                <a:latin typeface="Arial"/>
                <a:cs typeface="Arial"/>
              </a:rPr>
              <a:t>S</a:t>
            </a:r>
            <a:r>
              <a:rPr sz="2600" spc="-280" dirty="0">
                <a:latin typeface="Arial"/>
                <a:cs typeface="Arial"/>
              </a:rPr>
              <a:t>ó</a:t>
            </a:r>
            <a:r>
              <a:rPr sz="2600" spc="-30" dirty="0">
                <a:latin typeface="Arial"/>
                <a:cs typeface="Arial"/>
              </a:rPr>
              <a:t>lo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deb</a:t>
            </a:r>
            <a:r>
              <a:rPr sz="2600" spc="-140" dirty="0">
                <a:latin typeface="Arial"/>
                <a:cs typeface="Arial"/>
              </a:rPr>
              <a:t>e</a:t>
            </a:r>
            <a:r>
              <a:rPr sz="2600" spc="-8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e</a:t>
            </a:r>
            <a:r>
              <a:rPr sz="2600" spc="-150" dirty="0">
                <a:latin typeface="Arial"/>
                <a:cs typeface="Arial"/>
              </a:rPr>
              <a:t>n</a:t>
            </a:r>
            <a:r>
              <a:rPr sz="2600" spc="85" dirty="0">
                <a:latin typeface="Arial"/>
                <a:cs typeface="Arial"/>
              </a:rPr>
              <a:t>t</a:t>
            </a:r>
            <a:r>
              <a:rPr sz="2600" spc="55" dirty="0">
                <a:latin typeface="Arial"/>
                <a:cs typeface="Arial"/>
              </a:rPr>
              <a:t>r</a:t>
            </a:r>
            <a:r>
              <a:rPr sz="2600" spc="-85" dirty="0">
                <a:latin typeface="Arial"/>
                <a:cs typeface="Arial"/>
              </a:rPr>
              <a:t>ar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5" dirty="0">
                <a:latin typeface="Arial"/>
                <a:cs typeface="Arial"/>
              </a:rPr>
              <a:t>al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35" dirty="0">
                <a:latin typeface="Arial"/>
                <a:cs typeface="Arial"/>
              </a:rPr>
              <a:t>p</a:t>
            </a:r>
            <a:r>
              <a:rPr sz="2600" spc="-55" dirty="0">
                <a:latin typeface="Arial"/>
                <a:cs typeface="Arial"/>
              </a:rPr>
              <a:t>r</a:t>
            </a:r>
            <a:r>
              <a:rPr sz="2600" spc="-165" dirty="0">
                <a:latin typeface="Arial"/>
                <a:cs typeface="Arial"/>
              </a:rPr>
              <a:t>oceso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4" dirty="0">
                <a:latin typeface="Arial"/>
                <a:cs typeface="Arial"/>
              </a:rPr>
              <a:t>los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50" dirty="0">
                <a:latin typeface="Arial"/>
                <a:cs typeface="Arial"/>
              </a:rPr>
              <a:t>d</a:t>
            </a:r>
            <a:r>
              <a:rPr sz="2600" spc="-170" dirty="0">
                <a:latin typeface="Arial"/>
                <a:cs typeface="Arial"/>
              </a:rPr>
              <a:t>a</a:t>
            </a:r>
            <a:r>
              <a:rPr sz="2600" spc="125" dirty="0">
                <a:latin typeface="Arial"/>
                <a:cs typeface="Arial"/>
              </a:rPr>
              <a:t>t</a:t>
            </a:r>
            <a:r>
              <a:rPr sz="2600" spc="-195" dirty="0">
                <a:latin typeface="Arial"/>
                <a:cs typeface="Arial"/>
              </a:rPr>
              <a:t>o</a:t>
            </a:r>
            <a:r>
              <a:rPr sz="2600" spc="-175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45" dirty="0">
                <a:latin typeface="Arial"/>
                <a:cs typeface="Arial"/>
              </a:rPr>
              <a:t>necesarios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00" dirty="0">
                <a:latin typeface="Arial"/>
                <a:cs typeface="Arial"/>
              </a:rPr>
              <a:t>pa</a:t>
            </a:r>
            <a:r>
              <a:rPr sz="2600" spc="-105" dirty="0">
                <a:latin typeface="Arial"/>
                <a:cs typeface="Arial"/>
              </a:rPr>
              <a:t>r</a:t>
            </a:r>
            <a:r>
              <a:rPr sz="2600" spc="-135" dirty="0">
                <a:latin typeface="Arial"/>
                <a:cs typeface="Arial"/>
              </a:rPr>
              <a:t>a  </a:t>
            </a:r>
            <a:r>
              <a:rPr sz="2600" spc="-70" dirty="0">
                <a:latin typeface="Arial"/>
                <a:cs typeface="Arial"/>
              </a:rPr>
              <a:t>llevarlo </a:t>
            </a:r>
            <a:r>
              <a:rPr sz="2600" spc="-204" dirty="0">
                <a:latin typeface="Arial"/>
                <a:cs typeface="Arial"/>
              </a:rPr>
              <a:t>a</a:t>
            </a:r>
            <a:r>
              <a:rPr sz="2600" spc="-175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cabo;</a:t>
            </a:r>
            <a:endParaRPr sz="2600">
              <a:latin typeface="Arial"/>
              <a:cs typeface="Arial"/>
            </a:endParaRPr>
          </a:p>
          <a:p>
            <a:pPr marL="527050" marR="5715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150" dirty="0">
                <a:latin typeface="Arial"/>
                <a:cs typeface="Arial"/>
              </a:rPr>
              <a:t>procesos </a:t>
            </a:r>
            <a:r>
              <a:rPr sz="2600" spc="-130" dirty="0">
                <a:latin typeface="Arial"/>
                <a:cs typeface="Arial"/>
              </a:rPr>
              <a:t>están </a:t>
            </a:r>
            <a:r>
              <a:rPr sz="2600" spc="-125" dirty="0">
                <a:latin typeface="Arial"/>
                <a:cs typeface="Arial"/>
              </a:rPr>
              <a:t>en </a:t>
            </a:r>
            <a:r>
              <a:rPr sz="2600" spc="-80" dirty="0">
                <a:latin typeface="Arial"/>
                <a:cs typeface="Arial"/>
              </a:rPr>
              <a:t>continua </a:t>
            </a:r>
            <a:r>
              <a:rPr sz="2600" spc="-95" dirty="0">
                <a:latin typeface="Arial"/>
                <a:cs typeface="Arial"/>
              </a:rPr>
              <a:t>ejecución; </a:t>
            </a:r>
            <a:r>
              <a:rPr sz="2600" spc="-80" dirty="0">
                <a:latin typeface="Arial"/>
                <a:cs typeface="Arial"/>
              </a:rPr>
              <a:t>no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75" dirty="0">
                <a:latin typeface="Arial"/>
                <a:cs typeface="Arial"/>
              </a:rPr>
              <a:t>inician </a:t>
            </a:r>
            <a:r>
              <a:rPr sz="2600" spc="-35" dirty="0">
                <a:latin typeface="Arial"/>
                <a:cs typeface="Arial"/>
              </a:rPr>
              <a:t>ni </a:t>
            </a:r>
            <a:r>
              <a:rPr sz="2600" spc="-225" dirty="0">
                <a:latin typeface="Arial"/>
                <a:cs typeface="Arial"/>
              </a:rPr>
              <a:t>se  </a:t>
            </a:r>
            <a:r>
              <a:rPr sz="2600" spc="-70" dirty="0">
                <a:latin typeface="Arial"/>
                <a:cs typeface="Arial"/>
              </a:rPr>
              <a:t>detienen.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7526020" cy="490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30" dirty="0">
                <a:latin typeface="Trebuchet MS"/>
                <a:cs typeface="Trebuchet MS"/>
              </a:rPr>
              <a:t>Reglas </a:t>
            </a:r>
            <a:r>
              <a:rPr sz="2600" b="1" spc="-155" dirty="0">
                <a:latin typeface="Trebuchet MS"/>
                <a:cs typeface="Trebuchet MS"/>
              </a:rPr>
              <a:t>de </a:t>
            </a:r>
            <a:r>
              <a:rPr sz="2600" b="1" spc="-120" dirty="0">
                <a:latin typeface="Trebuchet MS"/>
                <a:cs typeface="Trebuchet MS"/>
              </a:rPr>
              <a:t>DFDs</a:t>
            </a:r>
            <a:r>
              <a:rPr sz="2600" b="1" spc="-290" dirty="0">
                <a:latin typeface="Trebuchet MS"/>
                <a:cs typeface="Trebuchet MS"/>
              </a:rPr>
              <a:t> </a:t>
            </a:r>
            <a:r>
              <a:rPr sz="2600" b="1" spc="-175" dirty="0">
                <a:latin typeface="Trebuchet MS"/>
                <a:cs typeface="Trebuchet MS"/>
              </a:rPr>
              <a:t>(Cont.):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285" dirty="0">
                <a:latin typeface="Arial"/>
                <a:cs typeface="Arial"/>
              </a:rPr>
              <a:t>Las </a:t>
            </a:r>
            <a:r>
              <a:rPr sz="2600" spc="-150" dirty="0">
                <a:latin typeface="Arial"/>
                <a:cs typeface="Arial"/>
              </a:rPr>
              <a:t>salidas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50" dirty="0">
                <a:latin typeface="Arial"/>
                <a:cs typeface="Arial"/>
              </a:rPr>
              <a:t>procesos </a:t>
            </a:r>
            <a:r>
              <a:rPr sz="2600" spc="-110" dirty="0">
                <a:latin typeface="Arial"/>
                <a:cs typeface="Arial"/>
              </a:rPr>
              <a:t>pueden</a:t>
            </a:r>
            <a:r>
              <a:rPr sz="2600" spc="-450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ser:</a:t>
            </a:r>
            <a:endParaRPr sz="2600">
              <a:latin typeface="Arial"/>
              <a:cs typeface="Arial"/>
            </a:endParaRPr>
          </a:p>
          <a:p>
            <a:pPr marL="1441450" lvl="1" indent="-514350">
              <a:lnSpc>
                <a:spcPct val="100000"/>
              </a:lnSpc>
              <a:buFont typeface="Wingdings"/>
              <a:buChar char=""/>
              <a:tabLst>
                <a:tab pos="1441450" algn="l"/>
                <a:tab pos="1442085" algn="l"/>
              </a:tabLst>
            </a:pPr>
            <a:r>
              <a:rPr sz="2600" spc="-135" dirty="0">
                <a:latin typeface="Arial"/>
                <a:cs typeface="Arial"/>
              </a:rPr>
              <a:t>Flujos con </a:t>
            </a:r>
            <a:r>
              <a:rPr sz="2600" spc="-70" dirty="0">
                <a:latin typeface="Arial"/>
                <a:cs typeface="Arial"/>
              </a:rPr>
              <a:t>información </a:t>
            </a:r>
            <a:r>
              <a:rPr sz="2600" spc="-120" dirty="0">
                <a:latin typeface="Arial"/>
                <a:cs typeface="Arial"/>
              </a:rPr>
              <a:t>añadida en</a:t>
            </a:r>
            <a:r>
              <a:rPr sz="2600" spc="-195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proceso</a:t>
            </a:r>
            <a:endParaRPr sz="2600">
              <a:latin typeface="Arial"/>
              <a:cs typeface="Arial"/>
            </a:endParaRPr>
          </a:p>
          <a:p>
            <a:pPr marL="1441450" lvl="1" indent="-514350">
              <a:lnSpc>
                <a:spcPct val="100000"/>
              </a:lnSpc>
              <a:buFont typeface="Wingdings"/>
              <a:buChar char=""/>
              <a:tabLst>
                <a:tab pos="1441450" algn="l"/>
                <a:tab pos="1442085" algn="l"/>
              </a:tabLst>
            </a:pPr>
            <a:r>
              <a:rPr sz="2600" spc="-165" dirty="0">
                <a:latin typeface="Arial"/>
                <a:cs typeface="Arial"/>
              </a:rPr>
              <a:t>Una </a:t>
            </a:r>
            <a:r>
              <a:rPr sz="2600" spc="-130" dirty="0">
                <a:latin typeface="Arial"/>
                <a:cs typeface="Arial"/>
              </a:rPr>
              <a:t>respuesta </a:t>
            </a:r>
            <a:r>
              <a:rPr sz="2600" spc="-80" dirty="0">
                <a:latin typeface="Arial"/>
                <a:cs typeface="Arial"/>
              </a:rPr>
              <a:t>o </a:t>
            </a:r>
            <a:r>
              <a:rPr sz="2600" spc="-114" dirty="0">
                <a:latin typeface="Arial"/>
                <a:cs typeface="Arial"/>
              </a:rPr>
              <a:t>cambio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70" dirty="0">
                <a:latin typeface="Arial"/>
                <a:cs typeface="Arial"/>
              </a:rPr>
              <a:t>forma </a:t>
            </a:r>
            <a:r>
              <a:rPr sz="2600" spc="-80" dirty="0">
                <a:latin typeface="Arial"/>
                <a:cs typeface="Arial"/>
              </a:rPr>
              <a:t>del</a:t>
            </a:r>
            <a:r>
              <a:rPr sz="2600" spc="-275" dirty="0">
                <a:latin typeface="Arial"/>
                <a:cs typeface="Arial"/>
              </a:rPr>
              <a:t> </a:t>
            </a:r>
            <a:r>
              <a:rPr sz="2600" spc="-70" dirty="0">
                <a:latin typeface="Arial"/>
                <a:cs typeface="Arial"/>
              </a:rPr>
              <a:t>dato</a:t>
            </a:r>
            <a:endParaRPr sz="2600">
              <a:latin typeface="Arial"/>
              <a:cs typeface="Arial"/>
            </a:endParaRPr>
          </a:p>
          <a:p>
            <a:pPr marL="1441450" lvl="1" indent="-514350">
              <a:lnSpc>
                <a:spcPct val="100000"/>
              </a:lnSpc>
              <a:buFont typeface="Wingdings"/>
              <a:buChar char=""/>
              <a:tabLst>
                <a:tab pos="1441450" algn="l"/>
                <a:tab pos="1442085" algn="l"/>
              </a:tabLst>
            </a:pPr>
            <a:r>
              <a:rPr sz="2600" spc="-150" dirty="0">
                <a:latin typeface="Arial"/>
                <a:cs typeface="Arial"/>
              </a:rPr>
              <a:t>Un </a:t>
            </a:r>
            <a:r>
              <a:rPr sz="2600" spc="-114" dirty="0">
                <a:latin typeface="Arial"/>
                <a:cs typeface="Arial"/>
              </a:rPr>
              <a:t>cambio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95" dirty="0">
                <a:latin typeface="Arial"/>
                <a:cs typeface="Arial"/>
              </a:rPr>
              <a:t>condición</a:t>
            </a:r>
            <a:endParaRPr sz="2600">
              <a:latin typeface="Arial"/>
              <a:cs typeface="Arial"/>
            </a:endParaRPr>
          </a:p>
          <a:p>
            <a:pPr marL="1441450" lvl="1" indent="-514350">
              <a:lnSpc>
                <a:spcPct val="100000"/>
              </a:lnSpc>
              <a:buFont typeface="Wingdings"/>
              <a:buChar char=""/>
              <a:tabLst>
                <a:tab pos="1441450" algn="l"/>
                <a:tab pos="1442085" algn="l"/>
              </a:tabLst>
            </a:pPr>
            <a:r>
              <a:rPr sz="2600" spc="-150" dirty="0">
                <a:latin typeface="Arial"/>
                <a:cs typeface="Arial"/>
              </a:rPr>
              <a:t>Un </a:t>
            </a:r>
            <a:r>
              <a:rPr sz="2600" spc="-114" dirty="0">
                <a:latin typeface="Arial"/>
                <a:cs typeface="Arial"/>
              </a:rPr>
              <a:t>cambio 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80" dirty="0">
                <a:latin typeface="Arial"/>
                <a:cs typeface="Arial"/>
              </a:rPr>
              <a:t>contenido</a:t>
            </a:r>
            <a:endParaRPr sz="2600">
              <a:latin typeface="Arial"/>
              <a:cs typeface="Arial"/>
            </a:endParaRPr>
          </a:p>
          <a:p>
            <a:pPr marL="1441450" lvl="1" indent="-514350">
              <a:lnSpc>
                <a:spcPct val="100000"/>
              </a:lnSpc>
              <a:buFont typeface="Wingdings"/>
              <a:buChar char=""/>
              <a:tabLst>
                <a:tab pos="1441450" algn="l"/>
                <a:tab pos="1442085" algn="l"/>
              </a:tabLst>
            </a:pPr>
            <a:r>
              <a:rPr sz="2600" spc="-150" dirty="0">
                <a:latin typeface="Arial"/>
                <a:cs typeface="Arial"/>
              </a:rPr>
              <a:t>Un </a:t>
            </a:r>
            <a:r>
              <a:rPr sz="2600" spc="-114" dirty="0">
                <a:latin typeface="Arial"/>
                <a:cs typeface="Arial"/>
              </a:rPr>
              <a:t>cambio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95" dirty="0">
                <a:latin typeface="Arial"/>
                <a:cs typeface="Arial"/>
              </a:rPr>
              <a:t>la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organización</a:t>
            </a:r>
            <a:endParaRPr sz="2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Wingdings"/>
              <a:buChar char=""/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60" dirty="0">
                <a:latin typeface="Arial"/>
                <a:cs typeface="Arial"/>
              </a:rPr>
              <a:t>flujos </a:t>
            </a:r>
            <a:r>
              <a:rPr sz="2600" spc="-80" dirty="0">
                <a:latin typeface="Arial"/>
                <a:cs typeface="Arial"/>
              </a:rPr>
              <a:t>no </a:t>
            </a:r>
            <a:r>
              <a:rPr sz="2600" spc="-114" dirty="0">
                <a:latin typeface="Arial"/>
                <a:cs typeface="Arial"/>
              </a:rPr>
              <a:t>deben </a:t>
            </a:r>
            <a:r>
              <a:rPr sz="2600" spc="-80" dirty="0">
                <a:latin typeface="Arial"/>
                <a:cs typeface="Arial"/>
              </a:rPr>
              <a:t>dividirse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55" dirty="0">
                <a:latin typeface="Arial"/>
                <a:cs typeface="Arial"/>
              </a:rPr>
              <a:t>dos </a:t>
            </a:r>
            <a:r>
              <a:rPr sz="2600" spc="-60" dirty="0">
                <a:latin typeface="Arial"/>
                <a:cs typeface="Arial"/>
              </a:rPr>
              <a:t>flujos</a:t>
            </a:r>
            <a:r>
              <a:rPr sz="2600" spc="-215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diferentes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245" dirty="0">
                <a:latin typeface="Arial"/>
                <a:cs typeface="Arial"/>
              </a:rPr>
              <a:t>Los </a:t>
            </a:r>
            <a:r>
              <a:rPr sz="2600" spc="-60" dirty="0">
                <a:latin typeface="Arial"/>
                <a:cs typeface="Arial"/>
              </a:rPr>
              <a:t>flujos </a:t>
            </a:r>
            <a:r>
              <a:rPr sz="2600" spc="-114" dirty="0">
                <a:latin typeface="Arial"/>
                <a:cs typeface="Arial"/>
              </a:rPr>
              <a:t>deben </a:t>
            </a:r>
            <a:r>
              <a:rPr sz="2600" spc="-145" dirty="0">
                <a:latin typeface="Arial"/>
                <a:cs typeface="Arial"/>
              </a:rPr>
              <a:t>empezar </a:t>
            </a:r>
            <a:r>
              <a:rPr sz="2600" spc="-80" dirty="0">
                <a:latin typeface="Arial"/>
                <a:cs typeface="Arial"/>
              </a:rPr>
              <a:t>o </a:t>
            </a:r>
            <a:r>
              <a:rPr sz="2600" spc="-45" dirty="0">
                <a:latin typeface="Arial"/>
                <a:cs typeface="Arial"/>
              </a:rPr>
              <a:t>terminar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85" dirty="0">
                <a:latin typeface="Arial"/>
                <a:cs typeface="Arial"/>
              </a:rPr>
              <a:t>un</a:t>
            </a:r>
            <a:r>
              <a:rPr sz="2600" spc="-275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proceso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33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7934959" cy="490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Requerimientos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10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DFDs: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165" dirty="0">
                <a:latin typeface="Arial"/>
                <a:cs typeface="Arial"/>
              </a:rPr>
              <a:t>Expansión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50" dirty="0">
                <a:latin typeface="Arial"/>
                <a:cs typeface="Arial"/>
              </a:rPr>
              <a:t>procesos </a:t>
            </a:r>
            <a:r>
              <a:rPr sz="2600" spc="-130" dirty="0">
                <a:latin typeface="Arial"/>
                <a:cs typeface="Arial"/>
              </a:rPr>
              <a:t>para </a:t>
            </a:r>
            <a:r>
              <a:rPr sz="2600" spc="-110" dirty="0">
                <a:latin typeface="Arial"/>
                <a:cs typeface="Arial"/>
              </a:rPr>
              <a:t>mayor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spc="-70" dirty="0">
                <a:latin typeface="Arial"/>
                <a:cs typeface="Arial"/>
              </a:rPr>
              <a:t>detalle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50" dirty="0">
                <a:latin typeface="Arial"/>
                <a:cs typeface="Arial"/>
              </a:rPr>
              <a:t>Mantenimiento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25" dirty="0">
                <a:latin typeface="Arial"/>
                <a:cs typeface="Arial"/>
              </a:rPr>
              <a:t>consistencia </a:t>
            </a:r>
            <a:r>
              <a:rPr sz="2600" spc="-55" dirty="0">
                <a:latin typeface="Arial"/>
                <a:cs typeface="Arial"/>
              </a:rPr>
              <a:t>entre</a:t>
            </a:r>
            <a:r>
              <a:rPr sz="2600" spc="-250" dirty="0">
                <a:latin typeface="Arial"/>
                <a:cs typeface="Arial"/>
              </a:rPr>
              <a:t> </a:t>
            </a:r>
            <a:r>
              <a:rPr sz="2600" spc="-150" dirty="0">
                <a:latin typeface="Arial"/>
                <a:cs typeface="Arial"/>
              </a:rPr>
              <a:t>procesos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165" dirty="0">
                <a:latin typeface="Arial"/>
                <a:cs typeface="Arial"/>
              </a:rPr>
              <a:t>Seguir </a:t>
            </a:r>
            <a:r>
              <a:rPr sz="2600" spc="-135" dirty="0">
                <a:latin typeface="Arial"/>
                <a:cs typeface="Arial"/>
              </a:rPr>
              <a:t>convenciones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95" dirty="0">
                <a:latin typeface="Arial"/>
                <a:cs typeface="Arial"/>
              </a:rPr>
              <a:t>nivelación</a:t>
            </a:r>
            <a:r>
              <a:rPr sz="2600" spc="-114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significativas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90" dirty="0">
                <a:latin typeface="Arial"/>
                <a:cs typeface="Arial"/>
              </a:rPr>
              <a:t>Añadir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90" dirty="0">
                <a:latin typeface="Arial"/>
                <a:cs typeface="Arial"/>
              </a:rPr>
              <a:t>controles </a:t>
            </a:r>
            <a:r>
              <a:rPr sz="2600" spc="-110" dirty="0">
                <a:latin typeface="Arial"/>
                <a:cs typeface="Arial"/>
              </a:rPr>
              <a:t>sólo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45" dirty="0">
                <a:latin typeface="Arial"/>
                <a:cs typeface="Arial"/>
              </a:rPr>
              <a:t>diagramas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5" dirty="0">
                <a:latin typeface="Arial"/>
                <a:cs typeface="Arial"/>
              </a:rPr>
              <a:t>bajo</a:t>
            </a:r>
            <a:r>
              <a:rPr sz="2600" spc="-280" dirty="0">
                <a:latin typeface="Arial"/>
                <a:cs typeface="Arial"/>
              </a:rPr>
              <a:t> </a:t>
            </a:r>
            <a:r>
              <a:rPr sz="2600" spc="-75" dirty="0">
                <a:latin typeface="Arial"/>
                <a:cs typeface="Arial"/>
              </a:rPr>
              <a:t>nivel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140" dirty="0">
                <a:latin typeface="Arial"/>
                <a:cs typeface="Arial"/>
              </a:rPr>
              <a:t>Asignar </a:t>
            </a:r>
            <a:r>
              <a:rPr sz="2600" spc="-80" dirty="0">
                <a:latin typeface="Arial"/>
                <a:cs typeface="Arial"/>
              </a:rPr>
              <a:t>etiquetas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105" dirty="0">
                <a:latin typeface="Arial"/>
                <a:cs typeface="Arial"/>
              </a:rPr>
              <a:t>significativas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i="1" spc="-225" dirty="0">
                <a:latin typeface="Arial"/>
                <a:cs typeface="Arial"/>
              </a:rPr>
              <a:t>Videos </a:t>
            </a:r>
            <a:r>
              <a:rPr sz="2600" b="1" i="1" spc="-229" dirty="0">
                <a:latin typeface="Arial"/>
                <a:cs typeface="Arial"/>
              </a:rPr>
              <a:t>recomendados </a:t>
            </a:r>
            <a:r>
              <a:rPr sz="2600" b="1" i="1" spc="-155" dirty="0">
                <a:latin typeface="Arial"/>
                <a:cs typeface="Arial"/>
              </a:rPr>
              <a:t>– </a:t>
            </a:r>
            <a:r>
              <a:rPr sz="2600" b="1" i="1" spc="-145" dirty="0">
                <a:latin typeface="Arial"/>
                <a:cs typeface="Arial"/>
              </a:rPr>
              <a:t>Diagrama </a:t>
            </a:r>
            <a:r>
              <a:rPr sz="2600" b="1" i="1" spc="-195" dirty="0">
                <a:latin typeface="Arial"/>
                <a:cs typeface="Arial"/>
              </a:rPr>
              <a:t>de Flujo de</a:t>
            </a:r>
            <a:r>
              <a:rPr sz="2600" b="1" i="1" spc="280" dirty="0">
                <a:latin typeface="Arial"/>
                <a:cs typeface="Arial"/>
              </a:rPr>
              <a:t> </a:t>
            </a:r>
            <a:r>
              <a:rPr sz="2600" b="1" i="1" spc="-190" dirty="0">
                <a:latin typeface="Arial"/>
                <a:cs typeface="Arial"/>
              </a:rPr>
              <a:t>Datos: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600" u="heavy" spc="-95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2"/>
              </a:rPr>
              <a:t>https://www.youtube.com/watch?v=rk-GznFR124</a:t>
            </a:r>
            <a:endParaRPr sz="2600">
              <a:latin typeface="Arial"/>
              <a:cs typeface="Arial"/>
            </a:endParaRPr>
          </a:p>
          <a:p>
            <a:pPr marL="527050" indent="-514350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527050" algn="l"/>
                <a:tab pos="527685" algn="l"/>
              </a:tabLst>
            </a:pPr>
            <a:r>
              <a:rPr sz="2600" u="heavy" spc="-114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3"/>
              </a:rPr>
              <a:t>https://www.youtube.com/watch?v=GTWNczBraGE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90" dirty="0"/>
              <a:t>Análisis </a:t>
            </a:r>
            <a:r>
              <a:rPr spc="-120" dirty="0"/>
              <a:t>estructurado de </a:t>
            </a:r>
            <a:r>
              <a:rPr spc="-95" dirty="0"/>
              <a:t>Sistemas</a:t>
            </a:r>
            <a:r>
              <a:rPr spc="-295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9268" y="500126"/>
            <a:ext cx="8691245" cy="292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Diagrama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Flujo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spc="-145" dirty="0">
                <a:latin typeface="Trebuchet MS"/>
                <a:cs typeface="Trebuchet MS"/>
              </a:rPr>
              <a:t>Diccionario </a:t>
            </a:r>
            <a:r>
              <a:rPr sz="2600" b="1" spc="-155" dirty="0">
                <a:latin typeface="Trebuchet MS"/>
                <a:cs typeface="Trebuchet MS"/>
              </a:rPr>
              <a:t>de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25" dirty="0">
                <a:latin typeface="Trebuchet MS"/>
                <a:cs typeface="Trebuchet MS"/>
              </a:rPr>
              <a:t>Datos: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700">
              <a:latin typeface="Times New Roman"/>
              <a:cs typeface="Times New Roman"/>
            </a:endParaRPr>
          </a:p>
          <a:p>
            <a:pPr marL="527050" marR="635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  <a:tab pos="1858645" algn="l"/>
                <a:tab pos="2187575" algn="l"/>
                <a:tab pos="3514090" algn="l"/>
                <a:tab pos="4006215" algn="l"/>
                <a:tab pos="4540885" algn="l"/>
                <a:tab pos="6106795" algn="l"/>
                <a:tab pos="6598284" algn="l"/>
                <a:tab pos="7099300" algn="l"/>
                <a:tab pos="8361680" algn="l"/>
              </a:tabLst>
            </a:pPr>
            <a:r>
              <a:rPr sz="2600" spc="-400" dirty="0">
                <a:latin typeface="Arial"/>
                <a:cs typeface="Arial"/>
              </a:rPr>
              <a:t>C</a:t>
            </a:r>
            <a:r>
              <a:rPr sz="2600" spc="-325" dirty="0">
                <a:latin typeface="Arial"/>
                <a:cs typeface="Arial"/>
              </a:rPr>
              <a:t>a</a:t>
            </a:r>
            <a:r>
              <a:rPr sz="2600" spc="120" dirty="0">
                <a:latin typeface="Arial"/>
                <a:cs typeface="Arial"/>
              </a:rPr>
              <a:t>t</a:t>
            </a:r>
            <a:r>
              <a:rPr sz="2600" spc="-135" dirty="0">
                <a:latin typeface="Arial"/>
                <a:cs typeface="Arial"/>
              </a:rPr>
              <a:t>á</a:t>
            </a:r>
            <a:r>
              <a:rPr sz="2600" spc="-45" dirty="0">
                <a:latin typeface="Arial"/>
                <a:cs typeface="Arial"/>
              </a:rPr>
              <a:t>l</a:t>
            </a:r>
            <a:r>
              <a:rPr sz="2600" spc="-155" dirty="0">
                <a:latin typeface="Arial"/>
                <a:cs typeface="Arial"/>
              </a:rPr>
              <a:t>o</a:t>
            </a:r>
            <a:r>
              <a:rPr sz="2600" spc="-165" dirty="0">
                <a:latin typeface="Arial"/>
                <a:cs typeface="Arial"/>
              </a:rPr>
              <a:t>g</a:t>
            </a:r>
            <a:r>
              <a:rPr sz="2600" spc="-80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80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85" dirty="0">
                <a:latin typeface="Arial"/>
                <a:cs typeface="Arial"/>
              </a:rPr>
              <a:t>depósi</a:t>
            </a:r>
            <a:r>
              <a:rPr sz="2600" spc="-65" dirty="0">
                <a:latin typeface="Arial"/>
                <a:cs typeface="Arial"/>
              </a:rPr>
              <a:t>t</a:t>
            </a:r>
            <a:r>
              <a:rPr sz="2600" spc="-80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14" dirty="0">
                <a:latin typeface="Arial"/>
                <a:cs typeface="Arial"/>
              </a:rPr>
              <a:t>los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85" dirty="0">
                <a:latin typeface="Arial"/>
                <a:cs typeface="Arial"/>
              </a:rPr>
              <a:t>el</a:t>
            </a:r>
            <a:r>
              <a:rPr sz="2600" spc="-135" dirty="0">
                <a:latin typeface="Arial"/>
                <a:cs typeface="Arial"/>
              </a:rPr>
              <a:t>e</a:t>
            </a:r>
            <a:r>
              <a:rPr sz="2600" spc="-120" dirty="0">
                <a:latin typeface="Arial"/>
                <a:cs typeface="Arial"/>
              </a:rPr>
              <a:t>men</a:t>
            </a:r>
            <a:r>
              <a:rPr sz="2600" spc="120" dirty="0">
                <a:latin typeface="Arial"/>
                <a:cs typeface="Arial"/>
              </a:rPr>
              <a:t>t</a:t>
            </a:r>
            <a:r>
              <a:rPr sz="2600" spc="-195" dirty="0">
                <a:latin typeface="Arial"/>
                <a:cs typeface="Arial"/>
              </a:rPr>
              <a:t>o</a:t>
            </a:r>
            <a:r>
              <a:rPr sz="2600" spc="-175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90" dirty="0">
                <a:latin typeface="Arial"/>
                <a:cs typeface="Arial"/>
              </a:rPr>
              <a:t>u</a:t>
            </a:r>
            <a:r>
              <a:rPr sz="2600" spc="-8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70" dirty="0">
                <a:latin typeface="Arial"/>
                <a:cs typeface="Arial"/>
              </a:rPr>
              <a:t>si</a:t>
            </a:r>
            <a:r>
              <a:rPr sz="2600" spc="-265" dirty="0">
                <a:latin typeface="Arial"/>
                <a:cs typeface="Arial"/>
              </a:rPr>
              <a:t>s</a:t>
            </a:r>
            <a:r>
              <a:rPr sz="2600" spc="110" dirty="0">
                <a:latin typeface="Arial"/>
                <a:cs typeface="Arial"/>
              </a:rPr>
              <a:t>t</a:t>
            </a:r>
            <a:r>
              <a:rPr sz="2600" spc="-160" dirty="0">
                <a:latin typeface="Arial"/>
                <a:cs typeface="Arial"/>
              </a:rPr>
              <a:t>em</a:t>
            </a:r>
            <a:r>
              <a:rPr sz="2600" spc="-125" dirty="0">
                <a:latin typeface="Arial"/>
                <a:cs typeface="Arial"/>
              </a:rPr>
              <a:t>a</a:t>
            </a:r>
            <a:r>
              <a:rPr sz="2600" spc="-70" dirty="0">
                <a:latin typeface="Arial"/>
                <a:cs typeface="Arial"/>
              </a:rPr>
              <a:t>.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265" dirty="0">
                <a:latin typeface="Arial"/>
                <a:cs typeface="Arial"/>
              </a:rPr>
              <a:t>Se  </a:t>
            </a:r>
            <a:r>
              <a:rPr sz="2600" spc="-90" dirty="0">
                <a:latin typeface="Arial"/>
                <a:cs typeface="Arial"/>
              </a:rPr>
              <a:t>centra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14" dirty="0">
                <a:latin typeface="Arial"/>
                <a:cs typeface="Arial"/>
              </a:rPr>
              <a:t>los datos </a:t>
            </a:r>
            <a:r>
              <a:rPr sz="2600" spc="-125" dirty="0">
                <a:latin typeface="Arial"/>
                <a:cs typeface="Arial"/>
              </a:rPr>
              <a:t>y </a:t>
            </a:r>
            <a:r>
              <a:rPr sz="2600" spc="-95" dirty="0">
                <a:latin typeface="Arial"/>
                <a:cs typeface="Arial"/>
              </a:rPr>
              <a:t>la </a:t>
            </a:r>
            <a:r>
              <a:rPr sz="2600" spc="-70" dirty="0">
                <a:latin typeface="Arial"/>
                <a:cs typeface="Arial"/>
              </a:rPr>
              <a:t>forma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130" dirty="0">
                <a:latin typeface="Arial"/>
                <a:cs typeface="Arial"/>
              </a:rPr>
              <a:t>están</a:t>
            </a:r>
            <a:r>
              <a:rPr sz="2600" spc="-380" dirty="0">
                <a:latin typeface="Arial"/>
                <a:cs typeface="Arial"/>
              </a:rPr>
              <a:t> </a:t>
            </a:r>
            <a:r>
              <a:rPr sz="2600" spc="-90" dirty="0">
                <a:latin typeface="Arial"/>
                <a:cs typeface="Arial"/>
              </a:rPr>
              <a:t>estructurados.</a:t>
            </a:r>
            <a:endParaRPr sz="2600">
              <a:latin typeface="Arial"/>
              <a:cs typeface="Arial"/>
            </a:endParaRPr>
          </a:p>
          <a:p>
            <a:pPr marL="527050" marR="508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150" dirty="0">
                <a:latin typeface="Arial"/>
                <a:cs typeface="Arial"/>
              </a:rPr>
              <a:t>Lista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85" dirty="0">
                <a:latin typeface="Arial"/>
                <a:cs typeface="Arial"/>
              </a:rPr>
              <a:t>todos </a:t>
            </a:r>
            <a:r>
              <a:rPr sz="2600" spc="-114" dirty="0">
                <a:latin typeface="Arial"/>
                <a:cs typeface="Arial"/>
              </a:rPr>
              <a:t>los </a:t>
            </a:r>
            <a:r>
              <a:rPr sz="2600" spc="-100" dirty="0">
                <a:latin typeface="Arial"/>
                <a:cs typeface="Arial"/>
              </a:rPr>
              <a:t>elementos </a:t>
            </a:r>
            <a:r>
              <a:rPr sz="2600" spc="-110" dirty="0">
                <a:latin typeface="Arial"/>
                <a:cs typeface="Arial"/>
              </a:rPr>
              <a:t>que </a:t>
            </a:r>
            <a:r>
              <a:rPr sz="2600" spc="-70" dirty="0">
                <a:latin typeface="Arial"/>
                <a:cs typeface="Arial"/>
              </a:rPr>
              <a:t>forman </a:t>
            </a:r>
            <a:r>
              <a:rPr sz="2600" spc="-60" dirty="0">
                <a:latin typeface="Arial"/>
                <a:cs typeface="Arial"/>
              </a:rPr>
              <a:t>parte </a:t>
            </a:r>
            <a:r>
              <a:rPr sz="2600" spc="-80" dirty="0">
                <a:latin typeface="Arial"/>
                <a:cs typeface="Arial"/>
              </a:rPr>
              <a:t>del </a:t>
            </a:r>
            <a:r>
              <a:rPr sz="2600" spc="-10" dirty="0">
                <a:latin typeface="Arial"/>
                <a:cs typeface="Arial"/>
              </a:rPr>
              <a:t>flujo </a:t>
            </a:r>
            <a:r>
              <a:rPr sz="2600" spc="-120" dirty="0">
                <a:latin typeface="Arial"/>
                <a:cs typeface="Arial"/>
              </a:rPr>
              <a:t>de  </a:t>
            </a:r>
            <a:r>
              <a:rPr sz="2600" spc="-114" dirty="0">
                <a:latin typeface="Arial"/>
                <a:cs typeface="Arial"/>
              </a:rPr>
              <a:t>datos </a:t>
            </a:r>
            <a:r>
              <a:rPr sz="2600" spc="-120" dirty="0">
                <a:latin typeface="Arial"/>
                <a:cs typeface="Arial"/>
              </a:rPr>
              <a:t>en </a:t>
            </a:r>
            <a:r>
              <a:rPr sz="2600" spc="-30" dirty="0">
                <a:latin typeface="Arial"/>
                <a:cs typeface="Arial"/>
              </a:rPr>
              <a:t>todo </a:t>
            </a:r>
            <a:r>
              <a:rPr sz="2600" spc="-70" dirty="0">
                <a:latin typeface="Arial"/>
                <a:cs typeface="Arial"/>
              </a:rPr>
              <a:t>el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sistema.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9268" y="3794759"/>
            <a:ext cx="284162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95"/>
              </a:spcBef>
              <a:buChar char="•"/>
              <a:tabLst>
                <a:tab pos="527050" algn="l"/>
                <a:tab pos="527685" algn="l"/>
                <a:tab pos="1784350" algn="l"/>
              </a:tabLst>
            </a:pPr>
            <a:r>
              <a:rPr sz="2600" spc="-180" dirty="0">
                <a:latin typeface="Arial"/>
                <a:cs typeface="Arial"/>
              </a:rPr>
              <a:t>Gua</a:t>
            </a:r>
            <a:r>
              <a:rPr sz="2600" spc="-120" dirty="0">
                <a:latin typeface="Arial"/>
                <a:cs typeface="Arial"/>
              </a:rPr>
              <a:t>r</a:t>
            </a:r>
            <a:r>
              <a:rPr sz="2600" spc="-150" dirty="0">
                <a:latin typeface="Arial"/>
                <a:cs typeface="Arial"/>
              </a:rPr>
              <a:t>d</a:t>
            </a:r>
            <a:r>
              <a:rPr sz="2600" spc="-14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d</a:t>
            </a:r>
            <a:r>
              <a:rPr sz="2600" spc="-140" dirty="0">
                <a:latin typeface="Arial"/>
                <a:cs typeface="Arial"/>
              </a:rPr>
              <a:t>e</a:t>
            </a:r>
            <a:r>
              <a:rPr sz="2600" spc="110" dirty="0">
                <a:latin typeface="Arial"/>
                <a:cs typeface="Arial"/>
              </a:rPr>
              <a:t>t</a:t>
            </a:r>
            <a:r>
              <a:rPr sz="2600" spc="-125" dirty="0">
                <a:latin typeface="Arial"/>
                <a:cs typeface="Arial"/>
              </a:rPr>
              <a:t>alles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0400" y="3761192"/>
            <a:ext cx="559816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975" algn="l"/>
                <a:tab pos="2535555" algn="l"/>
                <a:tab pos="3145790" algn="l"/>
                <a:tab pos="4150995" algn="l"/>
                <a:tab pos="4762500" algn="l"/>
              </a:tabLst>
            </a:pPr>
            <a:r>
              <a:rPr sz="2600" spc="-125" dirty="0">
                <a:latin typeface="Arial"/>
                <a:cs typeface="Arial"/>
              </a:rPr>
              <a:t>y	</a:t>
            </a:r>
            <a:r>
              <a:rPr sz="2600" spc="-185" dirty="0">
                <a:latin typeface="Arial"/>
                <a:cs typeface="Arial"/>
              </a:rPr>
              <a:t>de</a:t>
            </a:r>
            <a:r>
              <a:rPr sz="2600" spc="-180" dirty="0">
                <a:latin typeface="Arial"/>
                <a:cs typeface="Arial"/>
              </a:rPr>
              <a:t>s</a:t>
            </a:r>
            <a:r>
              <a:rPr sz="2600" spc="-85" dirty="0">
                <a:latin typeface="Arial"/>
                <a:cs typeface="Arial"/>
              </a:rPr>
              <a:t>crip</a:t>
            </a:r>
            <a:r>
              <a:rPr sz="2600" spc="-100" dirty="0">
                <a:latin typeface="Arial"/>
                <a:cs typeface="Arial"/>
              </a:rPr>
              <a:t>c</a:t>
            </a:r>
            <a:r>
              <a:rPr sz="2600" spc="-120" dirty="0">
                <a:latin typeface="Arial"/>
                <a:cs typeface="Arial"/>
              </a:rPr>
              <a:t>iones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5" dirty="0">
                <a:latin typeface="Arial"/>
                <a:cs typeface="Arial"/>
              </a:rPr>
              <a:t>d</a:t>
            </a:r>
            <a:r>
              <a:rPr sz="2600" spc="-12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55" dirty="0">
                <a:latin typeface="Arial"/>
                <a:cs typeface="Arial"/>
              </a:rPr>
              <a:t>flujo</a:t>
            </a:r>
            <a:r>
              <a:rPr sz="2600" spc="-70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20" dirty="0">
                <a:latin typeface="Arial"/>
                <a:cs typeface="Arial"/>
              </a:rPr>
              <a:t>de</a:t>
            </a:r>
            <a:r>
              <a:rPr sz="2600" dirty="0">
                <a:latin typeface="Arial"/>
                <a:cs typeface="Arial"/>
              </a:rPr>
              <a:t>	</a:t>
            </a:r>
            <a:r>
              <a:rPr sz="2600" spc="-150" dirty="0">
                <a:latin typeface="Arial"/>
                <a:cs typeface="Arial"/>
              </a:rPr>
              <a:t>d</a:t>
            </a:r>
            <a:r>
              <a:rPr sz="2600" spc="-165" dirty="0">
                <a:latin typeface="Arial"/>
                <a:cs typeface="Arial"/>
              </a:rPr>
              <a:t>a</a:t>
            </a:r>
            <a:r>
              <a:rPr sz="2600" spc="125" dirty="0">
                <a:latin typeface="Arial"/>
                <a:cs typeface="Arial"/>
              </a:rPr>
              <a:t>t</a:t>
            </a:r>
            <a:r>
              <a:rPr sz="2600" spc="-150" dirty="0">
                <a:latin typeface="Arial"/>
                <a:cs typeface="Arial"/>
              </a:rPr>
              <a:t>os,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9268" y="3794759"/>
            <a:ext cx="8689340" cy="1625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95"/>
              </a:spcBef>
            </a:pPr>
            <a:endParaRPr lang="es-AR" sz="2600" spc="-155" dirty="0">
              <a:latin typeface="Arial"/>
              <a:cs typeface="Arial"/>
            </a:endParaRPr>
          </a:p>
          <a:p>
            <a:pPr marL="527050">
              <a:lnSpc>
                <a:spcPct val="100000"/>
              </a:lnSpc>
              <a:spcBef>
                <a:spcPts val="95"/>
              </a:spcBef>
            </a:pPr>
            <a:r>
              <a:rPr sz="2600" spc="-155" dirty="0" err="1">
                <a:latin typeface="Arial"/>
                <a:cs typeface="Arial"/>
              </a:rPr>
              <a:t>almacenes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de </a:t>
            </a:r>
            <a:r>
              <a:rPr sz="2600" spc="-114" dirty="0">
                <a:latin typeface="Arial"/>
                <a:cs typeface="Arial"/>
              </a:rPr>
              <a:t>datos </a:t>
            </a:r>
            <a:r>
              <a:rPr sz="2600" spc="-125" dirty="0">
                <a:latin typeface="Arial"/>
                <a:cs typeface="Arial"/>
              </a:rPr>
              <a:t>y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-140" dirty="0">
                <a:latin typeface="Arial"/>
                <a:cs typeface="Arial"/>
              </a:rPr>
              <a:t>procesos.</a:t>
            </a:r>
            <a:endParaRPr sz="2600" dirty="0">
              <a:latin typeface="Arial"/>
              <a:cs typeface="Arial"/>
            </a:endParaRPr>
          </a:p>
          <a:p>
            <a:pPr marL="527050" marR="5080" indent="-514350">
              <a:lnSpc>
                <a:spcPct val="100000"/>
              </a:lnSpc>
              <a:buChar char="•"/>
              <a:tabLst>
                <a:tab pos="527050" algn="l"/>
                <a:tab pos="527685" algn="l"/>
              </a:tabLst>
            </a:pPr>
            <a:r>
              <a:rPr sz="2600" spc="-350" dirty="0">
                <a:latin typeface="Arial"/>
                <a:cs typeface="Arial"/>
              </a:rPr>
              <a:t>Se </a:t>
            </a:r>
            <a:r>
              <a:rPr sz="2600" spc="-95" dirty="0">
                <a:latin typeface="Arial"/>
                <a:cs typeface="Arial"/>
              </a:rPr>
              <a:t>desarrolla </a:t>
            </a:r>
            <a:r>
              <a:rPr sz="2600" spc="-75" dirty="0">
                <a:latin typeface="Arial"/>
                <a:cs typeface="Arial"/>
              </a:rPr>
              <a:t>durante </a:t>
            </a:r>
            <a:r>
              <a:rPr sz="2600" spc="-70" dirty="0">
                <a:latin typeface="Arial"/>
                <a:cs typeface="Arial"/>
              </a:rPr>
              <a:t>el </a:t>
            </a:r>
            <a:r>
              <a:rPr sz="2600" spc="-125" dirty="0">
                <a:latin typeface="Arial"/>
                <a:cs typeface="Arial"/>
              </a:rPr>
              <a:t>análisis y </a:t>
            </a:r>
            <a:r>
              <a:rPr sz="2600" spc="-225" dirty="0">
                <a:latin typeface="Arial"/>
                <a:cs typeface="Arial"/>
              </a:rPr>
              <a:t>se </a:t>
            </a:r>
            <a:r>
              <a:rPr sz="2600" spc="-60" dirty="0">
                <a:latin typeface="Arial"/>
                <a:cs typeface="Arial"/>
              </a:rPr>
              <a:t>utiliza </a:t>
            </a:r>
            <a:r>
              <a:rPr sz="2600" spc="-70" dirty="0">
                <a:latin typeface="Arial"/>
                <a:cs typeface="Arial"/>
              </a:rPr>
              <a:t>también </a:t>
            </a:r>
            <a:r>
              <a:rPr sz="2600" spc="-125" dirty="0">
                <a:latin typeface="Arial"/>
                <a:cs typeface="Arial"/>
              </a:rPr>
              <a:t>en </a:t>
            </a:r>
            <a:r>
              <a:rPr sz="2600" spc="-80" dirty="0">
                <a:latin typeface="Arial"/>
                <a:cs typeface="Arial"/>
              </a:rPr>
              <a:t>el  </a:t>
            </a:r>
            <a:r>
              <a:rPr sz="2600" spc="-114" dirty="0">
                <a:latin typeface="Arial"/>
                <a:cs typeface="Arial"/>
              </a:rPr>
              <a:t>diseño </a:t>
            </a:r>
            <a:r>
              <a:rPr sz="2600" spc="-80" dirty="0">
                <a:latin typeface="Arial"/>
                <a:cs typeface="Arial"/>
              </a:rPr>
              <a:t>del</a:t>
            </a:r>
            <a:r>
              <a:rPr sz="2600" spc="-170" dirty="0">
                <a:latin typeface="Arial"/>
                <a:cs typeface="Arial"/>
              </a:rPr>
              <a:t> </a:t>
            </a:r>
            <a:r>
              <a:rPr sz="2600" spc="-229" dirty="0">
                <a:latin typeface="Arial"/>
                <a:cs typeface="Arial"/>
              </a:rPr>
              <a:t>SI.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29000" y="5232007"/>
            <a:ext cx="2667000" cy="10586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34</a:t>
            </a:fld>
            <a:endParaRPr spc="-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4581905"/>
            <a:ext cx="4538472" cy="2276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728084" y="4586096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774191" y="0"/>
                </a:moveTo>
                <a:lnTo>
                  <a:pt x="171450" y="0"/>
                </a:lnTo>
                <a:lnTo>
                  <a:pt x="0" y="685799"/>
                </a:lnTo>
                <a:lnTo>
                  <a:pt x="602741" y="685799"/>
                </a:lnTo>
                <a:lnTo>
                  <a:pt x="774191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728084" y="4586096"/>
            <a:ext cx="774700" cy="685800"/>
          </a:xfrm>
          <a:custGeom>
            <a:avLst/>
            <a:gdLst/>
            <a:ahLst/>
            <a:cxnLst/>
            <a:rect l="l" t="t" r="r" b="b"/>
            <a:pathLst>
              <a:path w="774700" h="685800">
                <a:moveTo>
                  <a:pt x="0" y="685799"/>
                </a:moveTo>
                <a:lnTo>
                  <a:pt x="171450" y="0"/>
                </a:lnTo>
                <a:lnTo>
                  <a:pt x="774191" y="0"/>
                </a:lnTo>
                <a:lnTo>
                  <a:pt x="602741" y="685799"/>
                </a:lnTo>
                <a:lnTo>
                  <a:pt x="0" y="685799"/>
                </a:lnTo>
                <a:close/>
              </a:path>
            </a:pathLst>
          </a:custGeom>
          <a:ln w="990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9955" y="4663185"/>
            <a:ext cx="3869690" cy="1715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3410"/>
              </a:lnSpc>
              <a:spcBef>
                <a:spcPts val="100"/>
              </a:spcBef>
            </a:pPr>
            <a:r>
              <a:rPr sz="3000" b="1" spc="-45" dirty="0">
                <a:solidFill>
                  <a:srgbClr val="FFFFFF"/>
                </a:solidFill>
                <a:latin typeface="Trebuchet MS"/>
                <a:cs typeface="Trebuchet MS"/>
              </a:rPr>
              <a:t>III</a:t>
            </a:r>
            <a:endParaRPr sz="3000">
              <a:latin typeface="Trebuchet MS"/>
              <a:cs typeface="Trebuchet MS"/>
            </a:endParaRPr>
          </a:p>
          <a:p>
            <a:pPr marL="678180">
              <a:lnSpc>
                <a:spcPts val="3170"/>
              </a:lnSpc>
            </a:pPr>
            <a:r>
              <a:rPr sz="2800" b="1" spc="-155" dirty="0">
                <a:solidFill>
                  <a:srgbClr val="00338D"/>
                </a:solidFill>
                <a:latin typeface="Trebuchet MS"/>
                <a:cs typeface="Trebuchet MS"/>
              </a:rPr>
              <a:t>Evaluación</a:t>
            </a:r>
            <a:r>
              <a:rPr sz="2800" b="1" spc="-2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60" dirty="0">
                <a:solidFill>
                  <a:srgbClr val="00338D"/>
                </a:solidFill>
                <a:latin typeface="Trebuchet MS"/>
                <a:cs typeface="Trebuchet MS"/>
              </a:rPr>
              <a:t>de</a:t>
            </a:r>
            <a:endParaRPr sz="2800">
              <a:latin typeface="Trebuchet MS"/>
              <a:cs typeface="Trebuchet MS"/>
            </a:endParaRPr>
          </a:p>
          <a:p>
            <a:pPr marL="12700" marR="472440" algn="ctr">
              <a:lnSpc>
                <a:spcPct val="100000"/>
              </a:lnSpc>
            </a:pPr>
            <a:r>
              <a:rPr sz="2800" b="1" spc="-130" dirty="0">
                <a:solidFill>
                  <a:srgbClr val="00338D"/>
                </a:solidFill>
                <a:latin typeface="Trebuchet MS"/>
                <a:cs typeface="Trebuchet MS"/>
              </a:rPr>
              <a:t>Sistemas </a:t>
            </a:r>
            <a:r>
              <a:rPr sz="2800" b="1" spc="-170" dirty="0">
                <a:solidFill>
                  <a:srgbClr val="00338D"/>
                </a:solidFill>
                <a:latin typeface="Trebuchet MS"/>
                <a:cs typeface="Trebuchet MS"/>
              </a:rPr>
              <a:t>y</a:t>
            </a:r>
            <a:r>
              <a:rPr sz="2800" b="1" spc="-35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55" dirty="0">
                <a:solidFill>
                  <a:srgbClr val="00338D"/>
                </a:solidFill>
                <a:latin typeface="Trebuchet MS"/>
                <a:cs typeface="Trebuchet MS"/>
              </a:rPr>
              <a:t>Tecnologías  </a:t>
            </a:r>
            <a:r>
              <a:rPr sz="2800" b="1" spc="-165" dirty="0">
                <a:solidFill>
                  <a:srgbClr val="00338D"/>
                </a:solidFill>
                <a:latin typeface="Trebuchet MS"/>
                <a:cs typeface="Trebuchet MS"/>
              </a:rPr>
              <a:t>de </a:t>
            </a:r>
            <a:r>
              <a:rPr sz="2800" b="1" spc="-125" dirty="0">
                <a:solidFill>
                  <a:srgbClr val="00338D"/>
                </a:solidFill>
                <a:latin typeface="Trebuchet MS"/>
                <a:cs typeface="Trebuchet MS"/>
              </a:rPr>
              <a:t>la</a:t>
            </a:r>
            <a:r>
              <a:rPr sz="2800" b="1" spc="-26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2800" b="1" spc="-140" dirty="0">
                <a:solidFill>
                  <a:srgbClr val="00338D"/>
                </a:solidFill>
                <a:latin typeface="Trebuchet MS"/>
                <a:cs typeface="Trebuchet MS"/>
              </a:rPr>
              <a:t>Información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6304915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</a:t>
            </a:r>
            <a:r>
              <a:rPr spc="-409" dirty="0"/>
              <a:t> </a:t>
            </a:r>
            <a:r>
              <a:rPr spc="-100" dirty="0"/>
              <a:t>Información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3672" y="1878329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6BA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8716" y="1965198"/>
            <a:ext cx="15303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Determinación</a:t>
            </a:r>
            <a:r>
              <a:rPr sz="16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Requerimientos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3672" y="297180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70">
                <a:moveTo>
                  <a:pt x="0" y="712469"/>
                </a:moveTo>
                <a:lnTo>
                  <a:pt x="1981200" y="712469"/>
                </a:lnTo>
                <a:lnTo>
                  <a:pt x="1981200" y="0"/>
                </a:lnTo>
                <a:lnTo>
                  <a:pt x="0" y="0"/>
                </a:lnTo>
                <a:lnTo>
                  <a:pt x="0" y="71246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0887" y="3058922"/>
            <a:ext cx="18268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865" marR="5080" indent="-43180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 </a:t>
            </a:r>
            <a:r>
              <a:rPr sz="1600" b="1" spc="-114" dirty="0">
                <a:solidFill>
                  <a:srgbClr val="FFFFFF"/>
                </a:solidFill>
                <a:latin typeface="Trebuchet MS"/>
                <a:cs typeface="Trebuchet MS"/>
              </a:rPr>
              <a:t>técnica</a:t>
            </a:r>
            <a:r>
              <a:rPr sz="1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3672" y="4088129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70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9269" y="4175252"/>
            <a:ext cx="180911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705" marR="5080" indent="-29464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financiera 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3672" y="5231129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70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3258" y="5318252"/>
            <a:ext cx="20015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 marR="5080" indent="-57150">
              <a:lnSpc>
                <a:spcPct val="100000"/>
              </a:lnSpc>
              <a:spcBef>
                <a:spcPts val="1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Actividades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posteriores  </a:t>
            </a:r>
            <a:r>
              <a:rPr sz="1600" b="1" spc="-65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firma del</a:t>
            </a:r>
            <a:r>
              <a:rPr sz="1600" b="1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contrato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71955" y="2596895"/>
            <a:ext cx="485140" cy="506730"/>
          </a:xfrm>
          <a:custGeom>
            <a:avLst/>
            <a:gdLst/>
            <a:ahLst/>
            <a:cxnLst/>
            <a:rect l="l" t="t" r="r" b="b"/>
            <a:pathLst>
              <a:path w="485139" h="506730">
                <a:moveTo>
                  <a:pt x="484631" y="264413"/>
                </a:moveTo>
                <a:lnTo>
                  <a:pt x="0" y="264413"/>
                </a:lnTo>
                <a:lnTo>
                  <a:pt x="242315" y="506729"/>
                </a:lnTo>
                <a:lnTo>
                  <a:pt x="484631" y="264413"/>
                </a:lnTo>
                <a:close/>
              </a:path>
              <a:path w="485139" h="506730">
                <a:moveTo>
                  <a:pt x="363474" y="0"/>
                </a:moveTo>
                <a:lnTo>
                  <a:pt x="121157" y="0"/>
                </a:lnTo>
                <a:lnTo>
                  <a:pt x="121157" y="264413"/>
                </a:lnTo>
                <a:lnTo>
                  <a:pt x="363474" y="264413"/>
                </a:lnTo>
                <a:lnTo>
                  <a:pt x="363474" y="0"/>
                </a:lnTo>
                <a:close/>
              </a:path>
            </a:pathLst>
          </a:custGeom>
          <a:solidFill>
            <a:srgbClr val="B5D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71955" y="3684270"/>
            <a:ext cx="485140" cy="506730"/>
          </a:xfrm>
          <a:custGeom>
            <a:avLst/>
            <a:gdLst/>
            <a:ahLst/>
            <a:cxnLst/>
            <a:rect l="l" t="t" r="r" b="b"/>
            <a:pathLst>
              <a:path w="485139" h="506729">
                <a:moveTo>
                  <a:pt x="484631" y="264413"/>
                </a:moveTo>
                <a:lnTo>
                  <a:pt x="0" y="264413"/>
                </a:lnTo>
                <a:lnTo>
                  <a:pt x="242315" y="506729"/>
                </a:lnTo>
                <a:lnTo>
                  <a:pt x="484631" y="264413"/>
                </a:lnTo>
                <a:close/>
              </a:path>
              <a:path w="485139" h="506729">
                <a:moveTo>
                  <a:pt x="363474" y="0"/>
                </a:moveTo>
                <a:lnTo>
                  <a:pt x="121157" y="0"/>
                </a:lnTo>
                <a:lnTo>
                  <a:pt x="121157" y="264413"/>
                </a:lnTo>
                <a:lnTo>
                  <a:pt x="363474" y="264413"/>
                </a:lnTo>
                <a:lnTo>
                  <a:pt x="363474" y="0"/>
                </a:lnTo>
                <a:close/>
              </a:path>
            </a:pathLst>
          </a:custGeom>
          <a:solidFill>
            <a:srgbClr val="B5D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1955" y="4800600"/>
            <a:ext cx="485140" cy="506730"/>
          </a:xfrm>
          <a:custGeom>
            <a:avLst/>
            <a:gdLst/>
            <a:ahLst/>
            <a:cxnLst/>
            <a:rect l="l" t="t" r="r" b="b"/>
            <a:pathLst>
              <a:path w="485139" h="506729">
                <a:moveTo>
                  <a:pt x="484631" y="264413"/>
                </a:moveTo>
                <a:lnTo>
                  <a:pt x="0" y="264413"/>
                </a:lnTo>
                <a:lnTo>
                  <a:pt x="242315" y="506730"/>
                </a:lnTo>
                <a:lnTo>
                  <a:pt x="484631" y="264413"/>
                </a:lnTo>
                <a:close/>
              </a:path>
              <a:path w="485139" h="506729">
                <a:moveTo>
                  <a:pt x="363474" y="0"/>
                </a:moveTo>
                <a:lnTo>
                  <a:pt x="121157" y="0"/>
                </a:lnTo>
                <a:lnTo>
                  <a:pt x="121157" y="264413"/>
                </a:lnTo>
                <a:lnTo>
                  <a:pt x="363474" y="264413"/>
                </a:lnTo>
                <a:lnTo>
                  <a:pt x="363474" y="0"/>
                </a:lnTo>
                <a:close/>
              </a:path>
            </a:pathLst>
          </a:custGeom>
          <a:solidFill>
            <a:srgbClr val="B5D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33172" y="1676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6202" y="1686051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30886" y="2743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3915" y="2752851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0886" y="38260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3915" y="3835908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28600" y="495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1629" y="4962905"/>
            <a:ext cx="15430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23" name="object 23"/>
          <p:cNvSpPr txBox="1"/>
          <p:nvPr/>
        </p:nvSpPr>
        <p:spPr>
          <a:xfrm>
            <a:off x="2593594" y="1837182"/>
            <a:ext cx="510794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spc="-150" dirty="0">
                <a:latin typeface="Arial"/>
                <a:cs typeface="Arial"/>
              </a:rPr>
              <a:t>La </a:t>
            </a:r>
            <a:r>
              <a:rPr sz="1400" b="1" spc="-85" dirty="0">
                <a:latin typeface="Trebuchet MS"/>
                <a:cs typeface="Trebuchet MS"/>
              </a:rPr>
              <a:t>primera </a:t>
            </a:r>
            <a:r>
              <a:rPr sz="1400" b="1" spc="-80" dirty="0">
                <a:latin typeface="Trebuchet MS"/>
                <a:cs typeface="Trebuchet MS"/>
              </a:rPr>
              <a:t>fase </a:t>
            </a:r>
            <a:r>
              <a:rPr sz="1400" spc="-70" dirty="0">
                <a:latin typeface="Arial"/>
                <a:cs typeface="Arial"/>
              </a:rPr>
              <a:t>consiste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35" dirty="0">
                <a:latin typeface="Arial"/>
                <a:cs typeface="Arial"/>
              </a:rPr>
              <a:t>determinar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40" dirty="0">
                <a:latin typeface="Arial"/>
                <a:cs typeface="Arial"/>
              </a:rPr>
              <a:t>requerimientos </a:t>
            </a:r>
            <a:r>
              <a:rPr sz="1400" spc="-45" dirty="0">
                <a:latin typeface="Arial"/>
                <a:cs typeface="Arial"/>
              </a:rPr>
              <a:t>del </a:t>
            </a:r>
            <a:r>
              <a:rPr sz="1400" spc="-65" dirty="0">
                <a:latin typeface="Arial"/>
                <a:cs typeface="Arial"/>
              </a:rPr>
              <a:t>nuevo  </a:t>
            </a:r>
            <a:r>
              <a:rPr sz="1400" spc="-45" dirty="0">
                <a:latin typeface="Arial"/>
                <a:cs typeface="Arial"/>
              </a:rPr>
              <a:t>equipo </a:t>
            </a:r>
            <a:r>
              <a:rPr sz="1400" spc="-65" dirty="0">
                <a:latin typeface="Arial"/>
                <a:cs typeface="Arial"/>
              </a:rPr>
              <a:t>que </a:t>
            </a:r>
            <a:r>
              <a:rPr sz="1400" spc="-95" dirty="0">
                <a:latin typeface="Arial"/>
                <a:cs typeface="Arial"/>
              </a:rPr>
              <a:t>será </a:t>
            </a:r>
            <a:r>
              <a:rPr sz="1400" spc="-35" dirty="0">
                <a:latin typeface="Arial"/>
                <a:cs typeface="Arial"/>
              </a:rPr>
              <a:t>adquirido,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5" dirty="0">
                <a:latin typeface="Arial"/>
                <a:cs typeface="Arial"/>
              </a:rPr>
              <a:t>fin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20" dirty="0">
                <a:latin typeface="Arial"/>
                <a:cs typeface="Arial"/>
              </a:rPr>
              <a:t>transmitir </a:t>
            </a:r>
            <a:r>
              <a:rPr sz="1400" spc="-85" dirty="0">
                <a:latin typeface="Arial"/>
                <a:cs typeface="Arial"/>
              </a:rPr>
              <a:t>las necesidades </a:t>
            </a:r>
            <a:r>
              <a:rPr sz="1400" spc="-70" dirty="0">
                <a:latin typeface="Arial"/>
                <a:cs typeface="Arial"/>
              </a:rPr>
              <a:t>de  manera clara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los </a:t>
            </a:r>
            <a:r>
              <a:rPr sz="1400" spc="-45" dirty="0">
                <a:latin typeface="Arial"/>
                <a:cs typeface="Arial"/>
              </a:rPr>
              <a:t>diferentes</a:t>
            </a:r>
            <a:r>
              <a:rPr sz="1400" spc="-1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proveedores.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93594" y="2751582"/>
            <a:ext cx="510984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155" dirty="0">
                <a:latin typeface="Arial"/>
                <a:cs typeface="Arial"/>
              </a:rPr>
              <a:t>La </a:t>
            </a:r>
            <a:r>
              <a:rPr sz="1400" b="1" spc="-70" dirty="0">
                <a:latin typeface="Trebuchet MS"/>
                <a:cs typeface="Trebuchet MS"/>
              </a:rPr>
              <a:t>segunda </a:t>
            </a:r>
            <a:r>
              <a:rPr sz="1400" b="1" spc="-75" dirty="0">
                <a:latin typeface="Trebuchet MS"/>
                <a:cs typeface="Trebuchet MS"/>
              </a:rPr>
              <a:t>fase </a:t>
            </a:r>
            <a:r>
              <a:rPr sz="1400" spc="-40" dirty="0">
                <a:latin typeface="Arial"/>
                <a:cs typeface="Arial"/>
              </a:rPr>
              <a:t>define </a:t>
            </a:r>
            <a:r>
              <a:rPr sz="1400" spc="-70" dirty="0">
                <a:latin typeface="Arial"/>
                <a:cs typeface="Arial"/>
              </a:rPr>
              <a:t>y evalúa </a:t>
            </a:r>
            <a:r>
              <a:rPr sz="1400" spc="-85" dirty="0">
                <a:latin typeface="Arial"/>
                <a:cs typeface="Arial"/>
              </a:rPr>
              <a:t>las </a:t>
            </a:r>
            <a:r>
              <a:rPr sz="1400" spc="-65" dirty="0">
                <a:latin typeface="Arial"/>
                <a:cs typeface="Arial"/>
              </a:rPr>
              <a:t>características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5" dirty="0">
                <a:latin typeface="Arial"/>
                <a:cs typeface="Arial"/>
              </a:rPr>
              <a:t>factores </a:t>
            </a:r>
            <a:r>
              <a:rPr sz="1400" spc="-65" dirty="0">
                <a:latin typeface="Arial"/>
                <a:cs typeface="Arial"/>
              </a:rPr>
              <a:t>técnicos  de los </a:t>
            </a:r>
            <a:r>
              <a:rPr sz="1400" spc="-60" dirty="0">
                <a:latin typeface="Arial"/>
                <a:cs typeface="Arial"/>
              </a:rPr>
              <a:t>equipos </a:t>
            </a:r>
            <a:r>
              <a:rPr sz="1400" spc="-55" dirty="0">
                <a:latin typeface="Arial"/>
                <a:cs typeface="Arial"/>
              </a:rPr>
              <a:t>disponibles. </a:t>
            </a:r>
            <a:r>
              <a:rPr sz="1400" spc="-125" dirty="0">
                <a:latin typeface="Arial"/>
                <a:cs typeface="Arial"/>
              </a:rPr>
              <a:t>El </a:t>
            </a:r>
            <a:r>
              <a:rPr sz="1400" spc="-45" dirty="0">
                <a:latin typeface="Arial"/>
                <a:cs typeface="Arial"/>
              </a:rPr>
              <a:t>resultado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75" dirty="0">
                <a:latin typeface="Arial"/>
                <a:cs typeface="Arial"/>
              </a:rPr>
              <a:t>esta </a:t>
            </a:r>
            <a:r>
              <a:rPr sz="1400" spc="-65" dirty="0">
                <a:latin typeface="Arial"/>
                <a:cs typeface="Arial"/>
              </a:rPr>
              <a:t>evaluación </a:t>
            </a:r>
            <a:r>
              <a:rPr sz="1400" spc="-55" dirty="0">
                <a:latin typeface="Arial"/>
                <a:cs typeface="Arial"/>
              </a:rPr>
              <a:t>técnica,  </a:t>
            </a:r>
            <a:r>
              <a:rPr sz="1400" spc="-80" dirty="0">
                <a:latin typeface="Arial"/>
                <a:cs typeface="Arial"/>
              </a:rPr>
              <a:t>sumado </a:t>
            </a:r>
            <a:r>
              <a:rPr sz="1400" spc="-50" dirty="0">
                <a:latin typeface="Arial"/>
                <a:cs typeface="Arial"/>
              </a:rPr>
              <a:t>al </a:t>
            </a:r>
            <a:r>
              <a:rPr sz="1400" spc="-45" dirty="0">
                <a:latin typeface="Arial"/>
                <a:cs typeface="Arial"/>
              </a:rPr>
              <a:t>resultado 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60" dirty="0">
                <a:latin typeface="Arial"/>
                <a:cs typeface="Arial"/>
              </a:rPr>
              <a:t>evaluación </a:t>
            </a:r>
            <a:r>
              <a:rPr sz="1400" spc="-75" dirty="0">
                <a:latin typeface="Arial"/>
                <a:cs typeface="Arial"/>
              </a:rPr>
              <a:t>económica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50" dirty="0">
                <a:latin typeface="Arial"/>
                <a:cs typeface="Arial"/>
              </a:rPr>
              <a:t>financiera,  </a:t>
            </a:r>
            <a:r>
              <a:rPr sz="1400" spc="-45" dirty="0">
                <a:latin typeface="Arial"/>
                <a:cs typeface="Arial"/>
              </a:rPr>
              <a:t>constituyen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40" dirty="0">
                <a:latin typeface="Arial"/>
                <a:cs typeface="Arial"/>
              </a:rPr>
              <a:t>plataforma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60" dirty="0">
                <a:latin typeface="Arial"/>
                <a:cs typeface="Arial"/>
              </a:rPr>
              <a:t>decisión </a:t>
            </a:r>
            <a:r>
              <a:rPr sz="1400" spc="-40" dirty="0">
                <a:latin typeface="Arial"/>
                <a:cs typeface="Arial"/>
              </a:rPr>
              <a:t>del </a:t>
            </a:r>
            <a:r>
              <a:rPr sz="1400" spc="-45" dirty="0">
                <a:latin typeface="Arial"/>
                <a:cs typeface="Arial"/>
              </a:rPr>
              <a:t>equipo </a:t>
            </a:r>
            <a:r>
              <a:rPr sz="1400" spc="-70" dirty="0">
                <a:latin typeface="Arial"/>
                <a:cs typeface="Arial"/>
              </a:rPr>
              <a:t>y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50" dirty="0">
                <a:latin typeface="Arial"/>
                <a:cs typeface="Arial"/>
              </a:rPr>
              <a:t>la </a:t>
            </a:r>
            <a:r>
              <a:rPr sz="1400" spc="-55" dirty="0">
                <a:latin typeface="Arial"/>
                <a:cs typeface="Arial"/>
              </a:rPr>
              <a:t>solución </a:t>
            </a:r>
            <a:r>
              <a:rPr sz="1400" spc="-110" dirty="0">
                <a:latin typeface="Arial"/>
                <a:cs typeface="Arial"/>
              </a:rPr>
              <a:t>a  </a:t>
            </a:r>
            <a:r>
              <a:rPr sz="1400" spc="-45" dirty="0">
                <a:latin typeface="Arial"/>
                <a:cs typeface="Arial"/>
              </a:rPr>
              <a:t>adquirir.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93594" y="4097273"/>
            <a:ext cx="510921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spc="-150" dirty="0">
                <a:latin typeface="Arial"/>
                <a:cs typeface="Arial"/>
              </a:rPr>
              <a:t>La </a:t>
            </a:r>
            <a:r>
              <a:rPr sz="1400" b="1" spc="-110" dirty="0">
                <a:latin typeface="Trebuchet MS"/>
                <a:cs typeface="Trebuchet MS"/>
              </a:rPr>
              <a:t>tercera </a:t>
            </a:r>
            <a:r>
              <a:rPr sz="1400" b="1" spc="-80" dirty="0">
                <a:latin typeface="Trebuchet MS"/>
                <a:cs typeface="Trebuchet MS"/>
              </a:rPr>
              <a:t>fase </a:t>
            </a:r>
            <a:r>
              <a:rPr sz="1400" spc="-70" dirty="0">
                <a:latin typeface="Arial"/>
                <a:cs typeface="Arial"/>
              </a:rPr>
              <a:t>consiste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45" dirty="0">
                <a:latin typeface="Arial"/>
                <a:cs typeface="Arial"/>
              </a:rPr>
              <a:t>determinar,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10" dirty="0">
                <a:latin typeface="Arial"/>
                <a:cs typeface="Arial"/>
              </a:rPr>
              <a:t>partir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30" dirty="0">
                <a:latin typeface="Arial"/>
                <a:cs typeface="Arial"/>
              </a:rPr>
              <a:t>múltiples criterios 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60" dirty="0">
                <a:latin typeface="Arial"/>
                <a:cs typeface="Arial"/>
              </a:rPr>
              <a:t>evaluación </a:t>
            </a:r>
            <a:r>
              <a:rPr sz="1400" spc="-55" dirty="0">
                <a:latin typeface="Arial"/>
                <a:cs typeface="Arial"/>
              </a:rPr>
              <a:t>económico-financiera, la </a:t>
            </a:r>
            <a:r>
              <a:rPr sz="1400" spc="-70" dirty="0">
                <a:latin typeface="Arial"/>
                <a:cs typeface="Arial"/>
              </a:rPr>
              <a:t>conveniencia </a:t>
            </a:r>
            <a:r>
              <a:rPr sz="1400" spc="-65" dirty="0">
                <a:latin typeface="Arial"/>
                <a:cs typeface="Arial"/>
              </a:rPr>
              <a:t>de </a:t>
            </a:r>
            <a:r>
              <a:rPr sz="1400" spc="-40" dirty="0">
                <a:latin typeface="Arial"/>
                <a:cs typeface="Arial"/>
              </a:rPr>
              <a:t>llevar  </a:t>
            </a:r>
            <a:r>
              <a:rPr sz="1400" spc="-55" dirty="0">
                <a:latin typeface="Arial"/>
                <a:cs typeface="Arial"/>
              </a:rPr>
              <a:t>adelante </a:t>
            </a:r>
            <a:r>
              <a:rPr sz="1400" spc="-40" dirty="0">
                <a:latin typeface="Arial"/>
                <a:cs typeface="Arial"/>
              </a:rPr>
              <a:t>el</a:t>
            </a:r>
            <a:r>
              <a:rPr sz="1400" spc="-7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proyecto.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93594" y="5217159"/>
            <a:ext cx="511048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400" spc="-150" dirty="0">
                <a:latin typeface="Arial"/>
                <a:cs typeface="Arial"/>
              </a:rPr>
              <a:t>La </a:t>
            </a:r>
            <a:r>
              <a:rPr sz="1400" b="1" spc="-90" dirty="0">
                <a:latin typeface="Trebuchet MS"/>
                <a:cs typeface="Trebuchet MS"/>
              </a:rPr>
              <a:t>cuarta </a:t>
            </a:r>
            <a:r>
              <a:rPr sz="1400" b="1" spc="-80" dirty="0">
                <a:latin typeface="Trebuchet MS"/>
                <a:cs typeface="Trebuchet MS"/>
              </a:rPr>
              <a:t>fase </a:t>
            </a:r>
            <a:r>
              <a:rPr sz="1400" spc="-70" dirty="0">
                <a:latin typeface="Arial"/>
                <a:cs typeface="Arial"/>
              </a:rPr>
              <a:t>consiste </a:t>
            </a:r>
            <a:r>
              <a:rPr sz="1400" spc="-65" dirty="0">
                <a:latin typeface="Arial"/>
                <a:cs typeface="Arial"/>
              </a:rPr>
              <a:t>en </a:t>
            </a:r>
            <a:r>
              <a:rPr sz="1400" spc="-40" dirty="0">
                <a:latin typeface="Arial"/>
                <a:cs typeface="Arial"/>
              </a:rPr>
              <a:t>ejecutar </a:t>
            </a:r>
            <a:r>
              <a:rPr sz="1400" spc="-60" dirty="0">
                <a:latin typeface="Arial"/>
                <a:cs typeface="Arial"/>
              </a:rPr>
              <a:t>actividades </a:t>
            </a:r>
            <a:r>
              <a:rPr sz="1400" spc="-55" dirty="0">
                <a:latin typeface="Arial"/>
                <a:cs typeface="Arial"/>
              </a:rPr>
              <a:t>tales </a:t>
            </a:r>
            <a:r>
              <a:rPr sz="1400" spc="-60" dirty="0">
                <a:latin typeface="Arial"/>
                <a:cs typeface="Arial"/>
              </a:rPr>
              <a:t>como:  </a:t>
            </a:r>
            <a:r>
              <a:rPr sz="1400" spc="-50" dirty="0">
                <a:latin typeface="Arial"/>
                <a:cs typeface="Arial"/>
              </a:rPr>
              <a:t>acondicionamiento, </a:t>
            </a:r>
            <a:r>
              <a:rPr sz="1400" spc="-60" dirty="0">
                <a:latin typeface="Arial"/>
                <a:cs typeface="Arial"/>
              </a:rPr>
              <a:t>capacitación </a:t>
            </a:r>
            <a:r>
              <a:rPr sz="1400" spc="-110" dirty="0">
                <a:latin typeface="Arial"/>
                <a:cs typeface="Arial"/>
              </a:rPr>
              <a:t>a </a:t>
            </a:r>
            <a:r>
              <a:rPr sz="1400" spc="-65" dirty="0">
                <a:latin typeface="Arial"/>
                <a:cs typeface="Arial"/>
              </a:rPr>
              <a:t>usuarios, conversión de  </a:t>
            </a:r>
            <a:r>
              <a:rPr sz="1400" spc="-70" dirty="0">
                <a:latin typeface="Arial"/>
                <a:cs typeface="Arial"/>
              </a:rPr>
              <a:t>programas, </a:t>
            </a:r>
            <a:r>
              <a:rPr sz="1400" spc="-55" dirty="0">
                <a:latin typeface="Arial"/>
                <a:cs typeface="Arial"/>
              </a:rPr>
              <a:t>migración </a:t>
            </a:r>
            <a:r>
              <a:rPr sz="1400" spc="-70" dirty="0">
                <a:latin typeface="Arial"/>
                <a:cs typeface="Arial"/>
              </a:rPr>
              <a:t>de </a:t>
            </a:r>
            <a:r>
              <a:rPr sz="1400" spc="-45" dirty="0">
                <a:latin typeface="Arial"/>
                <a:cs typeface="Arial"/>
              </a:rPr>
              <a:t>información,</a:t>
            </a:r>
            <a:r>
              <a:rPr sz="1400" spc="-5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etc.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4263" y="1080262"/>
            <a:ext cx="765429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60" dirty="0">
                <a:latin typeface="Trebuchet MS"/>
                <a:cs typeface="Trebuchet MS"/>
              </a:rPr>
              <a:t>A </a:t>
            </a:r>
            <a:r>
              <a:rPr sz="2000" b="1" spc="-125" dirty="0">
                <a:latin typeface="Trebuchet MS"/>
                <a:cs typeface="Trebuchet MS"/>
              </a:rPr>
              <a:t>continuación, </a:t>
            </a:r>
            <a:r>
              <a:rPr sz="2000" b="1" spc="-105" dirty="0">
                <a:latin typeface="Trebuchet MS"/>
                <a:cs typeface="Trebuchet MS"/>
              </a:rPr>
              <a:t>se </a:t>
            </a:r>
            <a:r>
              <a:rPr sz="2000" b="1" spc="-135" dirty="0">
                <a:latin typeface="Trebuchet MS"/>
                <a:cs typeface="Trebuchet MS"/>
              </a:rPr>
              <a:t>expone </a:t>
            </a:r>
            <a:r>
              <a:rPr sz="2000" b="1" spc="-125" dirty="0">
                <a:latin typeface="Trebuchet MS"/>
                <a:cs typeface="Trebuchet MS"/>
              </a:rPr>
              <a:t>el </a:t>
            </a:r>
            <a:r>
              <a:rPr sz="2000" b="1" spc="-114" dirty="0">
                <a:latin typeface="Trebuchet MS"/>
                <a:cs typeface="Trebuchet MS"/>
              </a:rPr>
              <a:t>proceso </a:t>
            </a:r>
            <a:r>
              <a:rPr sz="2000" b="1" spc="-120" dirty="0">
                <a:latin typeface="Trebuchet MS"/>
                <a:cs typeface="Trebuchet MS"/>
              </a:rPr>
              <a:t>de </a:t>
            </a:r>
            <a:r>
              <a:rPr sz="2000" b="1" spc="-105" dirty="0">
                <a:latin typeface="Trebuchet MS"/>
                <a:cs typeface="Trebuchet MS"/>
              </a:rPr>
              <a:t>adquisición </a:t>
            </a:r>
            <a:r>
              <a:rPr sz="2000" b="1" spc="-125" dirty="0">
                <a:latin typeface="Trebuchet MS"/>
                <a:cs typeface="Trebuchet MS"/>
              </a:rPr>
              <a:t>y selección </a:t>
            </a:r>
            <a:r>
              <a:rPr sz="2000" b="1" spc="-120" dirty="0">
                <a:latin typeface="Trebuchet MS"/>
                <a:cs typeface="Trebuchet MS"/>
              </a:rPr>
              <a:t>de</a:t>
            </a:r>
            <a:r>
              <a:rPr sz="2000" b="1" spc="-350" dirty="0">
                <a:latin typeface="Trebuchet MS"/>
                <a:cs typeface="Trebuchet MS"/>
              </a:rPr>
              <a:t> </a:t>
            </a:r>
            <a:r>
              <a:rPr sz="2000" b="1" spc="-80" dirty="0">
                <a:latin typeface="Trebuchet MS"/>
                <a:cs typeface="Trebuchet MS"/>
              </a:rPr>
              <a:t>SI/TI: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39833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3672" y="119253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6BA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8716" y="1279398"/>
            <a:ext cx="15303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5080" indent="-8255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Determinación</a:t>
            </a:r>
            <a:r>
              <a:rPr sz="16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Requerimientos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3172" y="99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33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6202" y="999744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37</a:t>
            </a:fld>
            <a:endParaRPr spc="-5" dirty="0"/>
          </a:p>
        </p:txBody>
      </p:sp>
      <p:sp>
        <p:nvSpPr>
          <p:cNvPr id="9" name="object 9"/>
          <p:cNvSpPr txBox="1"/>
          <p:nvPr/>
        </p:nvSpPr>
        <p:spPr>
          <a:xfrm>
            <a:off x="2593594" y="1149095"/>
            <a:ext cx="628459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>
              <a:lnSpc>
                <a:spcPct val="100000"/>
              </a:lnSpc>
              <a:spcBef>
                <a:spcPts val="95"/>
              </a:spcBef>
            </a:pPr>
            <a:r>
              <a:rPr sz="1700" spc="-145" dirty="0">
                <a:latin typeface="Arial"/>
                <a:cs typeface="Arial"/>
              </a:rPr>
              <a:t>Para </a:t>
            </a:r>
            <a:r>
              <a:rPr sz="1700" spc="-70" dirty="0">
                <a:latin typeface="Arial"/>
                <a:cs typeface="Arial"/>
              </a:rPr>
              <a:t>hacerlo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50" dirty="0">
                <a:latin typeface="Arial"/>
                <a:cs typeface="Arial"/>
              </a:rPr>
              <a:t>éxito,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85" dirty="0">
                <a:latin typeface="Arial"/>
                <a:cs typeface="Arial"/>
              </a:rPr>
              <a:t>necesario </a:t>
            </a:r>
            <a:r>
              <a:rPr sz="1700" spc="-55" dirty="0">
                <a:latin typeface="Arial"/>
                <a:cs typeface="Arial"/>
              </a:rPr>
              <a:t>llevar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95" dirty="0">
                <a:latin typeface="Arial"/>
                <a:cs typeface="Arial"/>
              </a:rPr>
              <a:t>cabo </a:t>
            </a:r>
            <a:r>
              <a:rPr sz="1700" spc="-65" dirty="0">
                <a:latin typeface="Arial"/>
                <a:cs typeface="Arial"/>
              </a:rPr>
              <a:t>ciertas </a:t>
            </a:r>
            <a:r>
              <a:rPr sz="1700" spc="-75" dirty="0">
                <a:latin typeface="Arial"/>
                <a:cs typeface="Arial"/>
              </a:rPr>
              <a:t>actividades  previas:</a:t>
            </a:r>
            <a:endParaRPr sz="1700">
              <a:latin typeface="Arial"/>
              <a:cs typeface="Arial"/>
            </a:endParaRP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700" b="1" spc="-100" dirty="0">
                <a:latin typeface="Trebuchet MS"/>
                <a:cs typeface="Trebuchet MS"/>
              </a:rPr>
              <a:t>Conocimiento de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105" dirty="0">
                <a:latin typeface="Trebuchet MS"/>
                <a:cs typeface="Trebuchet MS"/>
              </a:rPr>
              <a:t>organización </a:t>
            </a:r>
            <a:r>
              <a:rPr sz="1700" b="1" spc="-50" dirty="0">
                <a:latin typeface="Trebuchet MS"/>
                <a:cs typeface="Trebuchet MS"/>
              </a:rPr>
              <a:t>o </a:t>
            </a:r>
            <a:r>
              <a:rPr sz="1700" b="1" spc="-85" dirty="0">
                <a:latin typeface="Trebuchet MS"/>
                <a:cs typeface="Trebuchet MS"/>
              </a:rPr>
              <a:t>unidad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90" dirty="0">
                <a:latin typeface="Trebuchet MS"/>
                <a:cs typeface="Trebuchet MS"/>
              </a:rPr>
              <a:t>negocios </a:t>
            </a:r>
            <a:r>
              <a:rPr sz="1700" b="1" spc="-70" dirty="0">
                <a:latin typeface="Trebuchet MS"/>
                <a:cs typeface="Trebuchet MS"/>
              </a:rPr>
              <a:t>a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100" dirty="0">
                <a:latin typeface="Trebuchet MS"/>
                <a:cs typeface="Trebuchet MS"/>
              </a:rPr>
              <a:t>que  </a:t>
            </a:r>
            <a:r>
              <a:rPr sz="1700" b="1" spc="-105" dirty="0">
                <a:latin typeface="Trebuchet MS"/>
                <a:cs typeface="Trebuchet MS"/>
              </a:rPr>
              <a:t>será </a:t>
            </a:r>
            <a:r>
              <a:rPr sz="1700" b="1" spc="-85" dirty="0">
                <a:latin typeface="Trebuchet MS"/>
                <a:cs typeface="Trebuchet MS"/>
              </a:rPr>
              <a:t>destinado </a:t>
            </a:r>
            <a:r>
              <a:rPr sz="1700" b="1" spc="-110" dirty="0">
                <a:latin typeface="Trebuchet MS"/>
                <a:cs typeface="Trebuchet MS"/>
              </a:rPr>
              <a:t>el</a:t>
            </a:r>
            <a:r>
              <a:rPr sz="1700" b="1" spc="-240" dirty="0">
                <a:latin typeface="Trebuchet MS"/>
                <a:cs typeface="Trebuchet MS"/>
              </a:rPr>
              <a:t> </a:t>
            </a:r>
            <a:r>
              <a:rPr sz="1700" b="1" spc="-80" dirty="0">
                <a:latin typeface="Trebuchet MS"/>
                <a:cs typeface="Trebuchet MS"/>
              </a:rPr>
              <a:t>equipo</a:t>
            </a:r>
            <a:r>
              <a:rPr sz="1700" spc="-8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50794" y="2185416"/>
            <a:ext cx="5828030" cy="2357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5080" indent="-285750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298450" algn="l"/>
              </a:tabLst>
            </a:pPr>
            <a:r>
              <a:rPr sz="1700" spc="-120" dirty="0">
                <a:latin typeface="Arial"/>
                <a:cs typeface="Arial"/>
              </a:rPr>
              <a:t>Poseer </a:t>
            </a:r>
            <a:r>
              <a:rPr sz="1700" spc="-50" dirty="0">
                <a:latin typeface="Arial"/>
                <a:cs typeface="Arial"/>
              </a:rPr>
              <a:t>conocimiento </a:t>
            </a:r>
            <a:r>
              <a:rPr sz="1700" spc="-40" dirty="0">
                <a:latin typeface="Arial"/>
                <a:cs typeface="Arial"/>
              </a:rPr>
              <a:t>profundo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organización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45" dirty="0">
                <a:latin typeface="Arial"/>
                <a:cs typeface="Arial"/>
              </a:rPr>
              <a:t>entidad 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95" dirty="0">
                <a:latin typeface="Arial"/>
                <a:cs typeface="Arial"/>
              </a:rPr>
              <a:t>negocios 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recibirá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servicio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110" dirty="0">
                <a:latin typeface="Arial"/>
                <a:cs typeface="Arial"/>
              </a:rPr>
              <a:t>será  </a:t>
            </a:r>
            <a:r>
              <a:rPr sz="1700" spc="-45" dirty="0">
                <a:latin typeface="Arial"/>
                <a:cs typeface="Arial"/>
              </a:rPr>
              <a:t>adquirido.</a:t>
            </a:r>
            <a:endParaRPr sz="1700">
              <a:latin typeface="Arial"/>
              <a:cs typeface="Arial"/>
            </a:endParaRPr>
          </a:p>
          <a:p>
            <a:pPr marL="298450" marR="5715" indent="-285750" algn="just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700" spc="-185" dirty="0">
                <a:latin typeface="Arial"/>
                <a:cs typeface="Arial"/>
              </a:rPr>
              <a:t>En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125" dirty="0">
                <a:latin typeface="Arial"/>
                <a:cs typeface="Arial"/>
              </a:rPr>
              <a:t>caso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decida </a:t>
            </a:r>
            <a:r>
              <a:rPr sz="1700" spc="-70" dirty="0">
                <a:latin typeface="Arial"/>
                <a:cs typeface="Arial"/>
              </a:rPr>
              <a:t>tercerizar, </a:t>
            </a:r>
            <a:r>
              <a:rPr sz="1700" spc="-85" dirty="0">
                <a:latin typeface="Arial"/>
                <a:cs typeface="Arial"/>
              </a:rPr>
              <a:t>este proceso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50" dirty="0">
                <a:latin typeface="Arial"/>
                <a:cs typeface="Arial"/>
              </a:rPr>
              <a:t>determinación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95" dirty="0">
                <a:latin typeface="Arial"/>
                <a:cs typeface="Arial"/>
              </a:rPr>
              <a:t>ser </a:t>
            </a:r>
            <a:r>
              <a:rPr sz="1700" spc="-65" dirty="0">
                <a:latin typeface="Arial"/>
                <a:cs typeface="Arial"/>
              </a:rPr>
              <a:t>desarrollado </a:t>
            </a:r>
            <a:r>
              <a:rPr sz="1700" spc="-35" dirty="0">
                <a:latin typeface="Arial"/>
                <a:cs typeface="Arial"/>
              </a:rPr>
              <a:t>por 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70" dirty="0">
                <a:latin typeface="Arial"/>
                <a:cs typeface="Arial"/>
              </a:rPr>
              <a:t>consultores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externos.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Char char="•"/>
              <a:tabLst>
                <a:tab pos="298450" algn="l"/>
              </a:tabLst>
            </a:pPr>
            <a:r>
              <a:rPr sz="1700" spc="-110" dirty="0">
                <a:latin typeface="Arial"/>
                <a:cs typeface="Arial"/>
              </a:rPr>
              <a:t>Además,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95" dirty="0">
                <a:latin typeface="Arial"/>
                <a:cs typeface="Arial"/>
              </a:rPr>
              <a:t>conocerse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plan </a:t>
            </a:r>
            <a:r>
              <a:rPr sz="1700" spc="-80" dirty="0">
                <a:latin typeface="Arial"/>
                <a:cs typeface="Arial"/>
              </a:rPr>
              <a:t>general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65" dirty="0">
                <a:latin typeface="Arial"/>
                <a:cs typeface="Arial"/>
              </a:rPr>
              <a:t>estratégico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80" dirty="0">
                <a:latin typeface="Arial"/>
                <a:cs typeface="Arial"/>
              </a:rPr>
              <a:t>negocio </a:t>
            </a:r>
            <a:r>
              <a:rPr sz="1700" spc="-135" dirty="0">
                <a:latin typeface="Arial"/>
                <a:cs typeface="Arial"/>
              </a:rPr>
              <a:t>así </a:t>
            </a:r>
            <a:r>
              <a:rPr sz="1700" spc="-75" dirty="0">
                <a:latin typeface="Arial"/>
                <a:cs typeface="Arial"/>
              </a:rPr>
              <a:t>como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75" dirty="0">
                <a:latin typeface="Arial"/>
                <a:cs typeface="Arial"/>
              </a:rPr>
              <a:t>índice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crecimiento </a:t>
            </a:r>
            <a:r>
              <a:rPr sz="1700" spc="-90" dirty="0">
                <a:latin typeface="Arial"/>
                <a:cs typeface="Arial"/>
              </a:rPr>
              <a:t>esperado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80" dirty="0">
                <a:latin typeface="Arial"/>
                <a:cs typeface="Arial"/>
              </a:rPr>
              <a:t>negocio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20" dirty="0">
                <a:latin typeface="Arial"/>
                <a:cs typeface="Arial"/>
              </a:rPr>
              <a:t>lo </a:t>
            </a:r>
            <a:r>
              <a:rPr sz="1700" spc="-70" dirty="0">
                <a:latin typeface="Arial"/>
                <a:cs typeface="Arial"/>
              </a:rPr>
              <a:t>largo </a:t>
            </a:r>
            <a:r>
              <a:rPr sz="1700" spc="-55" dirty="0">
                <a:latin typeface="Arial"/>
                <a:cs typeface="Arial"/>
              </a:rPr>
              <a:t>del horizonte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planeación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19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proyecto.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3594" y="4517389"/>
            <a:ext cx="6284595" cy="1838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700" b="1" spc="-90" dirty="0">
                <a:latin typeface="Trebuchet MS"/>
                <a:cs typeface="Trebuchet MS"/>
              </a:rPr>
              <a:t>Plan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90" dirty="0">
                <a:latin typeface="Trebuchet MS"/>
                <a:cs typeface="Trebuchet MS"/>
              </a:rPr>
              <a:t>desarrollo </a:t>
            </a:r>
            <a:r>
              <a:rPr sz="1700" b="1" spc="-100" dirty="0">
                <a:latin typeface="Trebuchet MS"/>
                <a:cs typeface="Trebuchet MS"/>
              </a:rPr>
              <a:t>de</a:t>
            </a:r>
            <a:r>
              <a:rPr sz="1700" b="1" spc="-290" dirty="0">
                <a:latin typeface="Trebuchet MS"/>
                <a:cs typeface="Trebuchet MS"/>
              </a:rPr>
              <a:t> </a:t>
            </a:r>
            <a:r>
              <a:rPr sz="1700" b="1" spc="-90" dirty="0">
                <a:latin typeface="Trebuchet MS"/>
                <a:cs typeface="Trebuchet MS"/>
              </a:rPr>
              <a:t>aplicaciones</a:t>
            </a:r>
            <a:r>
              <a:rPr sz="1700" spc="-9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  <a:p>
            <a:pPr marL="755650" marR="5080" lvl="1" indent="-285750" algn="just">
              <a:lnSpc>
                <a:spcPct val="100000"/>
              </a:lnSpc>
              <a:buChar char="•"/>
              <a:tabLst>
                <a:tab pos="755650" algn="l"/>
              </a:tabLst>
            </a:pPr>
            <a:r>
              <a:rPr sz="1700" spc="-100" dirty="0">
                <a:latin typeface="Arial"/>
                <a:cs typeface="Arial"/>
              </a:rPr>
              <a:t>Conocer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35" dirty="0">
                <a:latin typeface="Arial"/>
                <a:cs typeface="Arial"/>
              </a:rPr>
              <a:t>corto, </a:t>
            </a:r>
            <a:r>
              <a:rPr sz="1700" spc="-55" dirty="0">
                <a:latin typeface="Arial"/>
                <a:cs typeface="Arial"/>
              </a:rPr>
              <a:t>medio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70" dirty="0">
                <a:latin typeface="Arial"/>
                <a:cs typeface="Arial"/>
              </a:rPr>
              <a:t>largo </a:t>
            </a:r>
            <a:r>
              <a:rPr sz="1700" spc="-90" dirty="0">
                <a:latin typeface="Arial"/>
                <a:cs typeface="Arial"/>
              </a:rPr>
              <a:t>plazo,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5" dirty="0">
                <a:latin typeface="Arial"/>
                <a:cs typeface="Arial"/>
              </a:rPr>
              <a:t>aplicaciones </a:t>
            </a:r>
            <a:r>
              <a:rPr sz="1700" spc="-75" dirty="0">
                <a:latin typeface="Arial"/>
                <a:cs typeface="Arial"/>
              </a:rPr>
              <a:t>que  </a:t>
            </a:r>
            <a:r>
              <a:rPr sz="1700" spc="-100" dirty="0">
                <a:latin typeface="Arial"/>
                <a:cs typeface="Arial"/>
              </a:rPr>
              <a:t>serán </a:t>
            </a:r>
            <a:r>
              <a:rPr sz="1700" spc="-80" dirty="0">
                <a:latin typeface="Arial"/>
                <a:cs typeface="Arial"/>
              </a:rPr>
              <a:t>desarrolladas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70" dirty="0">
                <a:latin typeface="Arial"/>
                <a:cs typeface="Arial"/>
              </a:rPr>
              <a:t>operarán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20" dirty="0">
                <a:latin typeface="Arial"/>
                <a:cs typeface="Arial"/>
              </a:rPr>
              <a:t>lo </a:t>
            </a:r>
            <a:r>
              <a:rPr sz="1700" spc="-70" dirty="0">
                <a:latin typeface="Arial"/>
                <a:cs typeface="Arial"/>
              </a:rPr>
              <a:t>largo </a:t>
            </a:r>
            <a:r>
              <a:rPr sz="1700" spc="-55" dirty="0">
                <a:latin typeface="Arial"/>
                <a:cs typeface="Arial"/>
              </a:rPr>
              <a:t>del horizonte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75" dirty="0">
                <a:latin typeface="Arial"/>
                <a:cs typeface="Arial"/>
              </a:rPr>
              <a:t>planeación </a:t>
            </a:r>
            <a:r>
              <a:rPr sz="1700" spc="-55" dirty="0">
                <a:latin typeface="Arial"/>
                <a:cs typeface="Arial"/>
              </a:rPr>
              <a:t>del proyecto </a:t>
            </a:r>
            <a:r>
              <a:rPr sz="1700" spc="-85" dirty="0">
                <a:latin typeface="Arial"/>
                <a:cs typeface="Arial"/>
              </a:rPr>
              <a:t>(lapso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25" dirty="0">
                <a:latin typeface="Arial"/>
                <a:cs typeface="Arial"/>
              </a:rPr>
              <a:t>tiempo </a:t>
            </a:r>
            <a:r>
              <a:rPr sz="1700" spc="-10" dirty="0">
                <a:latin typeface="Arial"/>
                <a:cs typeface="Arial"/>
              </a:rPr>
              <a:t>futuro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125" dirty="0">
                <a:latin typeface="Arial"/>
                <a:cs typeface="Arial"/>
              </a:rPr>
              <a:t>va </a:t>
            </a:r>
            <a:r>
              <a:rPr sz="1700" spc="-135" dirty="0">
                <a:latin typeface="Arial"/>
                <a:cs typeface="Arial"/>
              </a:rPr>
              <a:t>a  </a:t>
            </a:r>
            <a:r>
              <a:rPr sz="1700" spc="-75" dirty="0">
                <a:latin typeface="Arial"/>
                <a:cs typeface="Arial"/>
              </a:rPr>
              <a:t>considerar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55" dirty="0">
                <a:latin typeface="Arial"/>
                <a:cs typeface="Arial"/>
              </a:rPr>
              <a:t>un</a:t>
            </a:r>
            <a:r>
              <a:rPr sz="1700" spc="-13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análisis).</a:t>
            </a:r>
            <a:endParaRPr sz="17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700" b="1" spc="-110" dirty="0">
                <a:latin typeface="Trebuchet MS"/>
                <a:cs typeface="Trebuchet MS"/>
              </a:rPr>
              <a:t>Tipo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85" dirty="0">
                <a:latin typeface="Trebuchet MS"/>
                <a:cs typeface="Trebuchet MS"/>
              </a:rPr>
              <a:t>solución</a:t>
            </a:r>
            <a:r>
              <a:rPr sz="1700" b="1" spc="-200" dirty="0">
                <a:latin typeface="Trebuchet MS"/>
                <a:cs typeface="Trebuchet MS"/>
              </a:rPr>
              <a:t> </a:t>
            </a:r>
            <a:r>
              <a:rPr sz="1700" b="1" spc="-100" dirty="0">
                <a:latin typeface="Trebuchet MS"/>
                <a:cs typeface="Trebuchet MS"/>
              </a:rPr>
              <a:t>requerida</a:t>
            </a:r>
            <a:r>
              <a:rPr sz="1700" spc="-10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100" dirty="0">
                <a:latin typeface="Arial"/>
                <a:cs typeface="Arial"/>
              </a:rPr>
              <a:t>Aspectos </a:t>
            </a:r>
            <a:r>
              <a:rPr sz="1700" spc="-70" dirty="0">
                <a:latin typeface="Arial"/>
                <a:cs typeface="Arial"/>
              </a:rPr>
              <a:t>tecnológicos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130" dirty="0">
                <a:latin typeface="Arial"/>
                <a:cs typeface="Arial"/>
              </a:rPr>
              <a:t>basa </a:t>
            </a:r>
            <a:r>
              <a:rPr sz="1700" spc="-105" dirty="0">
                <a:latin typeface="Arial"/>
                <a:cs typeface="Arial"/>
              </a:rPr>
              <a:t>las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solución.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7002" y="2103120"/>
            <a:ext cx="1107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75" dirty="0">
                <a:latin typeface="Arial"/>
                <a:cs typeface="Arial"/>
              </a:rPr>
              <a:t>Deben</a:t>
            </a:r>
            <a:r>
              <a:rPr sz="1200" spc="-1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estimarse: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7002" y="2286000"/>
            <a:ext cx="199580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65" dirty="0">
                <a:latin typeface="Trebuchet MS"/>
                <a:cs typeface="Trebuchet MS"/>
              </a:rPr>
              <a:t>de</a:t>
            </a:r>
            <a:r>
              <a:rPr sz="1200" i="1" spc="-165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computo</a:t>
            </a:r>
            <a:endParaRPr sz="1200">
              <a:latin typeface="Trebuchet MS"/>
              <a:cs typeface="Trebuchet MS"/>
            </a:endParaRPr>
          </a:p>
          <a:p>
            <a:pPr marL="184150" marR="76708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70" dirty="0">
                <a:latin typeface="Trebuchet MS"/>
                <a:cs typeface="Trebuchet MS"/>
              </a:rPr>
              <a:t>de  </a:t>
            </a:r>
            <a:r>
              <a:rPr sz="1200" i="1" spc="-55" dirty="0">
                <a:latin typeface="Trebuchet MS"/>
                <a:cs typeface="Trebuchet MS"/>
              </a:rPr>
              <a:t>almac</a:t>
            </a:r>
            <a:r>
              <a:rPr sz="1200" i="1" spc="-60" dirty="0">
                <a:latin typeface="Trebuchet MS"/>
                <a:cs typeface="Trebuchet MS"/>
              </a:rPr>
              <a:t>en</a:t>
            </a:r>
            <a:r>
              <a:rPr sz="1200" i="1" spc="-20" dirty="0">
                <a:latin typeface="Trebuchet MS"/>
                <a:cs typeface="Trebuchet MS"/>
              </a:rPr>
              <a:t>a</a:t>
            </a:r>
            <a:r>
              <a:rPr sz="1200" i="1" spc="-65" dirty="0">
                <a:latin typeface="Trebuchet MS"/>
                <a:cs typeface="Trebuchet MS"/>
              </a:rPr>
              <a:t>mie</a:t>
            </a:r>
            <a:r>
              <a:rPr sz="1200" i="1" spc="-75" dirty="0">
                <a:latin typeface="Trebuchet MS"/>
                <a:cs typeface="Trebuchet MS"/>
              </a:rPr>
              <a:t>n</a:t>
            </a:r>
            <a:r>
              <a:rPr sz="1200" i="1" spc="-125" dirty="0">
                <a:latin typeface="Trebuchet MS"/>
                <a:cs typeface="Trebuchet MS"/>
              </a:rPr>
              <a:t>t</a:t>
            </a:r>
            <a:r>
              <a:rPr sz="1200" i="1" spc="-30" dirty="0">
                <a:latin typeface="Trebuchet MS"/>
                <a:cs typeface="Trebuchet MS"/>
              </a:rPr>
              <a:t>o</a:t>
            </a:r>
            <a:endParaRPr sz="1200">
              <a:latin typeface="Trebuchet MS"/>
              <a:cs typeface="Trebuchet MS"/>
            </a:endParaRPr>
          </a:p>
          <a:p>
            <a:pPr marL="184150" marR="6096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70" dirty="0">
                <a:latin typeface="Trebuchet MS"/>
                <a:cs typeface="Trebuchet MS"/>
              </a:rPr>
              <a:t>de  </a:t>
            </a:r>
            <a:r>
              <a:rPr sz="1200" i="1" spc="-60" dirty="0">
                <a:latin typeface="Trebuchet MS"/>
                <a:cs typeface="Trebuchet MS"/>
              </a:rPr>
              <a:t>almacenamiento</a:t>
            </a:r>
            <a:r>
              <a:rPr sz="1200" i="1" spc="-145" dirty="0">
                <a:latin typeface="Trebuchet MS"/>
                <a:cs typeface="Trebuchet MS"/>
              </a:rPr>
              <a:t> </a:t>
            </a:r>
            <a:r>
              <a:rPr sz="1200" i="1" spc="-55" dirty="0">
                <a:latin typeface="Trebuchet MS"/>
                <a:cs typeface="Trebuchet MS"/>
              </a:rPr>
              <a:t>secundario</a:t>
            </a:r>
            <a:endParaRPr sz="1200">
              <a:latin typeface="Trebuchet MS"/>
              <a:cs typeface="Trebuchet MS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Capacidad </a:t>
            </a:r>
            <a:r>
              <a:rPr sz="1200" i="1" spc="-80" dirty="0">
                <a:latin typeface="Trebuchet MS"/>
                <a:cs typeface="Trebuchet MS"/>
              </a:rPr>
              <a:t>total </a:t>
            </a:r>
            <a:r>
              <a:rPr sz="1200" i="1" spc="-65" dirty="0">
                <a:latin typeface="Trebuchet MS"/>
                <a:cs typeface="Trebuchet MS"/>
              </a:rPr>
              <a:t>de</a:t>
            </a:r>
            <a:r>
              <a:rPr sz="1200" i="1" spc="-210" dirty="0">
                <a:latin typeface="Trebuchet MS"/>
                <a:cs typeface="Trebuchet MS"/>
              </a:rPr>
              <a:t> </a:t>
            </a:r>
            <a:r>
              <a:rPr sz="1200" i="1" spc="-60" dirty="0">
                <a:latin typeface="Trebuchet MS"/>
                <a:cs typeface="Trebuchet MS"/>
              </a:rPr>
              <a:t>impresión</a:t>
            </a:r>
            <a:endParaRPr sz="1200">
              <a:latin typeface="Trebuchet MS"/>
              <a:cs typeface="Trebuchet MS"/>
            </a:endParaRPr>
          </a:p>
          <a:p>
            <a:pPr marL="184150" marR="375285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65" dirty="0">
                <a:latin typeface="Trebuchet MS"/>
                <a:cs typeface="Trebuchet MS"/>
              </a:rPr>
              <a:t>Cantidad de</a:t>
            </a:r>
            <a:r>
              <a:rPr sz="1200" i="1" spc="-165" dirty="0">
                <a:latin typeface="Trebuchet MS"/>
                <a:cs typeface="Trebuchet MS"/>
              </a:rPr>
              <a:t> </a:t>
            </a:r>
            <a:r>
              <a:rPr sz="1200" i="1" spc="-70" dirty="0">
                <a:latin typeface="Trebuchet MS"/>
                <a:cs typeface="Trebuchet MS"/>
              </a:rPr>
              <a:t>terminales  </a:t>
            </a:r>
            <a:r>
              <a:rPr sz="1200" i="1" spc="-65" dirty="0">
                <a:latin typeface="Trebuchet MS"/>
                <a:cs typeface="Trebuchet MS"/>
              </a:rPr>
              <a:t>requeridas</a:t>
            </a:r>
            <a:endParaRPr sz="1200">
              <a:latin typeface="Trebuchet MS"/>
              <a:cs typeface="Trebuchet MS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55" dirty="0">
                <a:latin typeface="Trebuchet MS"/>
                <a:cs typeface="Trebuchet MS"/>
              </a:rPr>
              <a:t>Hardware</a:t>
            </a:r>
            <a:r>
              <a:rPr sz="1200" i="1" spc="-145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especializado</a:t>
            </a:r>
            <a:endParaRPr sz="1200">
              <a:latin typeface="Trebuchet MS"/>
              <a:cs typeface="Trebuchet MS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sz="1200" i="1" spc="-65" dirty="0">
                <a:latin typeface="Trebuchet MS"/>
                <a:cs typeface="Trebuchet MS"/>
              </a:rPr>
              <a:t>Infraestructura de</a:t>
            </a:r>
            <a:r>
              <a:rPr sz="1200" i="1" spc="-204" dirty="0">
                <a:latin typeface="Trebuchet MS"/>
                <a:cs typeface="Trebuchet MS"/>
              </a:rPr>
              <a:t> </a:t>
            </a:r>
            <a:r>
              <a:rPr sz="1200" i="1" spc="-65" dirty="0">
                <a:latin typeface="Trebuchet MS"/>
                <a:cs typeface="Trebuchet MS"/>
              </a:rPr>
              <a:t>redes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6258" y="500126"/>
            <a:ext cx="39833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1149095"/>
            <a:ext cx="6285865" cy="468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95"/>
              </a:spcBef>
            </a:pPr>
            <a:r>
              <a:rPr sz="1700" spc="-110" dirty="0">
                <a:latin typeface="Arial"/>
                <a:cs typeface="Arial"/>
              </a:rPr>
              <a:t>Una </a:t>
            </a:r>
            <a:r>
              <a:rPr sz="1700" spc="-135" dirty="0">
                <a:latin typeface="Arial"/>
                <a:cs typeface="Arial"/>
              </a:rPr>
              <a:t>vez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85" dirty="0">
                <a:latin typeface="Arial"/>
                <a:cs typeface="Arial"/>
              </a:rPr>
              <a:t>han </a:t>
            </a:r>
            <a:r>
              <a:rPr sz="1700" spc="-40" dirty="0">
                <a:latin typeface="Arial"/>
                <a:cs typeface="Arial"/>
              </a:rPr>
              <a:t>terminado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75" dirty="0">
                <a:latin typeface="Arial"/>
                <a:cs typeface="Arial"/>
              </a:rPr>
              <a:t>estimaciones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50" dirty="0">
                <a:latin typeface="Arial"/>
                <a:cs typeface="Arial"/>
              </a:rPr>
              <a:t>requerimientos 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80" dirty="0">
                <a:latin typeface="Arial"/>
                <a:cs typeface="Arial"/>
              </a:rPr>
              <a:t>nuevo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145" dirty="0">
                <a:latin typeface="Arial"/>
                <a:cs typeface="Arial"/>
              </a:rPr>
              <a:t>se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125" dirty="0">
                <a:latin typeface="Arial"/>
                <a:cs typeface="Arial"/>
              </a:rPr>
              <a:t>va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55" dirty="0">
                <a:latin typeface="Arial"/>
                <a:cs typeface="Arial"/>
              </a:rPr>
              <a:t>adquirir,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85" dirty="0">
                <a:latin typeface="Arial"/>
                <a:cs typeface="Arial"/>
              </a:rPr>
              <a:t>necesario </a:t>
            </a:r>
            <a:r>
              <a:rPr sz="1700" spc="-60" dirty="0">
                <a:latin typeface="Arial"/>
                <a:cs typeface="Arial"/>
              </a:rPr>
              <a:t>elaborar </a:t>
            </a:r>
            <a:r>
              <a:rPr sz="1700" spc="-85" dirty="0">
                <a:latin typeface="Arial"/>
                <a:cs typeface="Arial"/>
              </a:rPr>
              <a:t>una  </a:t>
            </a:r>
            <a:r>
              <a:rPr sz="1700" spc="-45" dirty="0">
                <a:latin typeface="Arial"/>
                <a:cs typeface="Arial"/>
              </a:rPr>
              <a:t>solicitud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55" dirty="0">
                <a:latin typeface="Arial"/>
                <a:cs typeface="Arial"/>
              </a:rPr>
              <a:t>requisición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propuesta. </a:t>
            </a:r>
            <a:r>
              <a:rPr sz="1700" spc="-18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requisición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propuesta  </a:t>
            </a:r>
            <a:r>
              <a:rPr sz="1700" spc="-90" dirty="0">
                <a:latin typeface="Arial"/>
                <a:cs typeface="Arial"/>
              </a:rPr>
              <a:t>(</a:t>
            </a:r>
            <a:r>
              <a:rPr sz="1700" i="1" spc="-90" dirty="0">
                <a:latin typeface="Trebuchet MS"/>
                <a:cs typeface="Trebuchet MS"/>
              </a:rPr>
              <a:t>Request </a:t>
            </a:r>
            <a:r>
              <a:rPr sz="1700" i="1" spc="-105" dirty="0">
                <a:latin typeface="Trebuchet MS"/>
                <a:cs typeface="Trebuchet MS"/>
              </a:rPr>
              <a:t>For </a:t>
            </a:r>
            <a:r>
              <a:rPr sz="1700" i="1" spc="-70" dirty="0">
                <a:latin typeface="Trebuchet MS"/>
                <a:cs typeface="Trebuchet MS"/>
              </a:rPr>
              <a:t>Proposal </a:t>
            </a:r>
            <a:r>
              <a:rPr sz="1700" spc="-50" dirty="0">
                <a:latin typeface="Arial"/>
                <a:cs typeface="Arial"/>
              </a:rPr>
              <a:t>- </a:t>
            </a:r>
            <a:r>
              <a:rPr sz="1700" spc="-220" dirty="0">
                <a:latin typeface="Arial"/>
                <a:cs typeface="Arial"/>
              </a:rPr>
              <a:t>RFP)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60" dirty="0">
                <a:latin typeface="Arial"/>
                <a:cs typeface="Arial"/>
              </a:rPr>
              <a:t>documento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0" dirty="0">
                <a:latin typeface="Arial"/>
                <a:cs typeface="Arial"/>
              </a:rPr>
              <a:t>define </a:t>
            </a:r>
            <a:r>
              <a:rPr sz="1700" spc="-75" dirty="0">
                <a:latin typeface="Arial"/>
                <a:cs typeface="Arial"/>
              </a:rPr>
              <a:t>los 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organización sobre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50" dirty="0">
                <a:latin typeface="Arial"/>
                <a:cs typeface="Arial"/>
              </a:rPr>
              <a:t>o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red </a:t>
            </a:r>
            <a:r>
              <a:rPr sz="1700" spc="-55" dirty="0">
                <a:latin typeface="Arial"/>
                <a:cs typeface="Arial"/>
              </a:rPr>
              <a:t>requerida. </a:t>
            </a:r>
            <a:r>
              <a:rPr sz="1700" spc="-160" dirty="0">
                <a:latin typeface="Arial"/>
                <a:cs typeface="Arial"/>
              </a:rPr>
              <a:t>El  </a:t>
            </a:r>
            <a:r>
              <a:rPr sz="1700" spc="-275" dirty="0">
                <a:latin typeface="Arial"/>
                <a:cs typeface="Arial"/>
              </a:rPr>
              <a:t>RFP </a:t>
            </a:r>
            <a:r>
              <a:rPr sz="1700" spc="-75" dirty="0">
                <a:latin typeface="Arial"/>
                <a:cs typeface="Arial"/>
              </a:rPr>
              <a:t>puede </a:t>
            </a:r>
            <a:r>
              <a:rPr sz="1700" spc="-35" dirty="0">
                <a:latin typeface="Arial"/>
                <a:cs typeface="Arial"/>
              </a:rPr>
              <a:t>cumplir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siguientes</a:t>
            </a:r>
            <a:r>
              <a:rPr sz="1700" spc="-18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funciones: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45" dirty="0">
                <a:latin typeface="Arial"/>
                <a:cs typeface="Arial"/>
              </a:rPr>
              <a:t>Invita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los proveedores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35" dirty="0">
                <a:latin typeface="Arial"/>
                <a:cs typeface="Arial"/>
              </a:rPr>
              <a:t>participar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16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concurso;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10" dirty="0">
                <a:latin typeface="Arial"/>
                <a:cs typeface="Arial"/>
              </a:rPr>
              <a:t>Establece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60" dirty="0">
                <a:latin typeface="Arial"/>
                <a:cs typeface="Arial"/>
              </a:rPr>
              <a:t>primeros puntos </a:t>
            </a:r>
            <a:r>
              <a:rPr sz="1700" spc="-80" dirty="0">
                <a:latin typeface="Arial"/>
                <a:cs typeface="Arial"/>
              </a:rPr>
              <a:t>de evaluación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negociación </a:t>
            </a:r>
            <a:r>
              <a:rPr sz="1700" spc="-35" dirty="0">
                <a:latin typeface="Arial"/>
                <a:cs typeface="Arial"/>
              </a:rPr>
              <a:t>entre </a:t>
            </a:r>
            <a:r>
              <a:rPr sz="1700" spc="-70" dirty="0">
                <a:latin typeface="Arial"/>
                <a:cs typeface="Arial"/>
              </a:rPr>
              <a:t>los  proveedores;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95" dirty="0">
                <a:latin typeface="Arial"/>
                <a:cs typeface="Arial"/>
              </a:rPr>
              <a:t>Formaliza </a:t>
            </a:r>
            <a:r>
              <a:rPr sz="1700" spc="-45" dirty="0">
                <a:latin typeface="Arial"/>
                <a:cs typeface="Arial"/>
              </a:rPr>
              <a:t>el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proceso;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marR="762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70" dirty="0">
                <a:latin typeface="Arial"/>
                <a:cs typeface="Arial"/>
              </a:rPr>
              <a:t>Constituye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60" dirty="0">
                <a:latin typeface="Arial"/>
                <a:cs typeface="Arial"/>
              </a:rPr>
              <a:t>documento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describe </a:t>
            </a:r>
            <a:r>
              <a:rPr sz="1700" spc="-70" dirty="0">
                <a:latin typeface="Arial"/>
                <a:cs typeface="Arial"/>
              </a:rPr>
              <a:t>claramente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60" dirty="0">
                <a:latin typeface="Arial"/>
                <a:cs typeface="Arial"/>
              </a:rPr>
              <a:t>prioridades  </a:t>
            </a:r>
            <a:r>
              <a:rPr sz="1700" spc="-85" dirty="0">
                <a:latin typeface="Arial"/>
                <a:cs typeface="Arial"/>
              </a:rPr>
              <a:t>técnicas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solución.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175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90" dirty="0">
                <a:latin typeface="Arial"/>
                <a:cs typeface="Arial"/>
              </a:rPr>
              <a:t>proceso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65" dirty="0">
                <a:latin typeface="Arial"/>
                <a:cs typeface="Arial"/>
              </a:rPr>
              <a:t>conforma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b="1" spc="-140" dirty="0">
                <a:latin typeface="Trebuchet MS"/>
                <a:cs typeface="Trebuchet MS"/>
              </a:rPr>
              <a:t>2 </a:t>
            </a:r>
            <a:r>
              <a:rPr sz="1700" b="1" spc="-130" dirty="0">
                <a:latin typeface="Trebuchet MS"/>
                <a:cs typeface="Trebuchet MS"/>
              </a:rPr>
              <a:t>ejes</a:t>
            </a:r>
            <a:r>
              <a:rPr sz="1700" b="1" spc="-40" dirty="0">
                <a:latin typeface="Trebuchet MS"/>
                <a:cs typeface="Trebuchet MS"/>
              </a:rPr>
              <a:t> </a:t>
            </a:r>
            <a:r>
              <a:rPr sz="1700" b="1" spc="-90" dirty="0">
                <a:latin typeface="Trebuchet MS"/>
                <a:cs typeface="Trebuchet MS"/>
              </a:rPr>
              <a:t>fundamentales</a:t>
            </a:r>
            <a:r>
              <a:rPr sz="1700" spc="-9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50794" y="5812790"/>
            <a:ext cx="210121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sz="1700" b="1" i="1" spc="-130" dirty="0">
                <a:latin typeface="Arial"/>
                <a:cs typeface="Arial"/>
              </a:rPr>
              <a:t>Actividades</a:t>
            </a:r>
            <a:r>
              <a:rPr sz="1700" b="1" i="1" spc="-155" dirty="0">
                <a:latin typeface="Arial"/>
                <a:cs typeface="Arial"/>
              </a:rPr>
              <a:t> </a:t>
            </a:r>
            <a:r>
              <a:rPr sz="1700" b="1" i="1" spc="-140" dirty="0">
                <a:latin typeface="Arial"/>
                <a:cs typeface="Arial"/>
              </a:rPr>
              <a:t>Previas</a:t>
            </a:r>
            <a:endParaRPr sz="17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700" b="1" i="1" spc="-145" dirty="0">
                <a:latin typeface="Arial"/>
                <a:cs typeface="Arial"/>
              </a:rPr>
              <a:t>Evaluación</a:t>
            </a:r>
            <a:r>
              <a:rPr sz="1700" b="1" i="1" spc="-135" dirty="0">
                <a:latin typeface="Arial"/>
                <a:cs typeface="Arial"/>
              </a:rPr>
              <a:t> </a:t>
            </a:r>
            <a:r>
              <a:rPr sz="1700" b="1" i="1" spc="-175" dirty="0">
                <a:latin typeface="Arial"/>
                <a:cs typeface="Arial"/>
              </a:rPr>
              <a:t>Técnica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23672" y="121920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0887" y="1306322"/>
            <a:ext cx="18268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865" marR="5080" indent="-431800">
              <a:lnSpc>
                <a:spcPct val="100000"/>
              </a:lnSpc>
              <a:spcBef>
                <a:spcPts val="100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 </a:t>
            </a:r>
            <a:r>
              <a:rPr sz="1600" b="1" spc="-114" dirty="0">
                <a:solidFill>
                  <a:srgbClr val="FFFFFF"/>
                </a:solidFill>
                <a:latin typeface="Trebuchet MS"/>
                <a:cs typeface="Trebuchet MS"/>
              </a:rPr>
              <a:t>técnica</a:t>
            </a:r>
            <a:r>
              <a:rPr sz="1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 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0886" y="99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3915" y="999744"/>
            <a:ext cx="1543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66872" y="3886200"/>
            <a:ext cx="2067767" cy="23283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4172" y="2728871"/>
            <a:ext cx="1511123" cy="10329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4" name="object 14"/>
          <p:cNvSpPr txBox="1"/>
          <p:nvPr/>
        </p:nvSpPr>
        <p:spPr>
          <a:xfrm>
            <a:off x="8726169" y="6523387"/>
            <a:ext cx="152400" cy="15367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38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39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66954" y="1039113"/>
            <a:ext cx="8572500" cy="5255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70650" algn="l"/>
              </a:tabLst>
            </a:pPr>
            <a:r>
              <a:rPr sz="2000" b="1" spc="-60" dirty="0">
                <a:latin typeface="Trebuchet MS"/>
                <a:cs typeface="Trebuchet MS"/>
              </a:rPr>
              <a:t>A </a:t>
            </a:r>
            <a:r>
              <a:rPr sz="2000" b="1" spc="-120" dirty="0">
                <a:latin typeface="Arial"/>
                <a:cs typeface="Arial"/>
              </a:rPr>
              <a:t>–</a:t>
            </a:r>
            <a:r>
              <a:rPr sz="2000" b="1" spc="-185" dirty="0">
                <a:latin typeface="Arial"/>
                <a:cs typeface="Arial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Elaborar</a:t>
            </a:r>
            <a:r>
              <a:rPr sz="2000" b="1" spc="-140" dirty="0">
                <a:latin typeface="Trebuchet MS"/>
                <a:cs typeface="Trebuchet MS"/>
              </a:rPr>
              <a:t> </a:t>
            </a:r>
            <a:r>
              <a:rPr sz="2000" b="1" spc="-225" dirty="0">
                <a:latin typeface="Trebuchet MS"/>
                <a:cs typeface="Trebuchet MS"/>
              </a:rPr>
              <a:t>RFP.	</a:t>
            </a:r>
            <a:r>
              <a:rPr sz="2000" b="1" spc="-105" dirty="0">
                <a:solidFill>
                  <a:srgbClr val="FF0000"/>
                </a:solidFill>
                <a:latin typeface="Trebuchet MS"/>
                <a:cs typeface="Trebuchet MS"/>
              </a:rPr>
              <a:t>Actividades</a:t>
            </a:r>
            <a:r>
              <a:rPr sz="2000" b="1" spc="-1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Previas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700" spc="-100" dirty="0">
                <a:latin typeface="Arial"/>
                <a:cs typeface="Arial"/>
              </a:rPr>
              <a:t>Un </a:t>
            </a:r>
            <a:r>
              <a:rPr sz="1700" spc="-275" dirty="0">
                <a:latin typeface="Arial"/>
                <a:cs typeface="Arial"/>
              </a:rPr>
              <a:t>RFP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50" dirty="0">
                <a:latin typeface="Arial"/>
                <a:cs typeface="Arial"/>
              </a:rPr>
              <a:t>incluir, </a:t>
            </a:r>
            <a:r>
              <a:rPr sz="1700" spc="-35" dirty="0">
                <a:latin typeface="Arial"/>
                <a:cs typeface="Arial"/>
              </a:rPr>
              <a:t>entre </a:t>
            </a:r>
            <a:r>
              <a:rPr sz="1700" spc="-45" dirty="0">
                <a:latin typeface="Arial"/>
                <a:cs typeface="Arial"/>
              </a:rPr>
              <a:t>otros,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0" dirty="0">
                <a:latin typeface="Arial"/>
                <a:cs typeface="Arial"/>
              </a:rPr>
              <a:t>siguientes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puntos:</a:t>
            </a:r>
            <a:endParaRPr sz="1700">
              <a:latin typeface="Arial"/>
              <a:cs typeface="Arial"/>
            </a:endParaRPr>
          </a:p>
          <a:p>
            <a:pPr marL="281305" marR="6350" indent="-268605" algn="just">
              <a:lnSpc>
                <a:spcPct val="100000"/>
              </a:lnSpc>
              <a:buAutoNum type="arabicPeriod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Introducción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75" dirty="0">
                <a:latin typeface="Arial"/>
                <a:cs typeface="Arial"/>
              </a:rPr>
              <a:t>datos </a:t>
            </a:r>
            <a:r>
              <a:rPr sz="1700" spc="-95" dirty="0">
                <a:latin typeface="Arial"/>
                <a:cs typeface="Arial"/>
              </a:rPr>
              <a:t>generales 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85" dirty="0">
                <a:latin typeface="Arial"/>
                <a:cs typeface="Arial"/>
              </a:rPr>
              <a:t>responsable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60" dirty="0">
                <a:latin typeface="Arial"/>
                <a:cs typeface="Arial"/>
              </a:rPr>
              <a:t>proyecto, </a:t>
            </a:r>
            <a:r>
              <a:rPr sz="1700" spc="-85" dirty="0">
                <a:latin typeface="Arial"/>
                <a:cs typeface="Arial"/>
              </a:rPr>
              <a:t>fecha </a:t>
            </a:r>
            <a:r>
              <a:rPr sz="1700" spc="-30" dirty="0">
                <a:latin typeface="Arial"/>
                <a:cs typeface="Arial"/>
              </a:rPr>
              <a:t>límite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entrega </a:t>
            </a:r>
            <a:r>
              <a:rPr sz="1700" spc="-85" dirty="0">
                <a:latin typeface="Arial"/>
                <a:cs typeface="Arial"/>
              </a:rPr>
              <a:t>de  </a:t>
            </a:r>
            <a:r>
              <a:rPr sz="1700" spc="-80" dirty="0">
                <a:latin typeface="Arial"/>
                <a:cs typeface="Arial"/>
              </a:rPr>
              <a:t>propuestas, </a:t>
            </a:r>
            <a:r>
              <a:rPr sz="1700" spc="-85" dirty="0">
                <a:latin typeface="Arial"/>
                <a:cs typeface="Arial"/>
              </a:rPr>
              <a:t>fecha </a:t>
            </a:r>
            <a:r>
              <a:rPr sz="1700" spc="-25" dirty="0">
                <a:latin typeface="Arial"/>
                <a:cs typeface="Arial"/>
              </a:rPr>
              <a:t>límite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70" dirty="0">
                <a:latin typeface="Arial"/>
                <a:cs typeface="Arial"/>
              </a:rPr>
              <a:t>realizar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presentaciones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5" dirty="0">
                <a:latin typeface="Arial"/>
                <a:cs typeface="Arial"/>
              </a:rPr>
              <a:t>demostración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equipos. </a:t>
            </a:r>
            <a:r>
              <a:rPr sz="1700" spc="-165" dirty="0">
                <a:latin typeface="Arial"/>
                <a:cs typeface="Arial"/>
              </a:rPr>
              <a:t>Bases </a:t>
            </a:r>
            <a:r>
              <a:rPr sz="1700" spc="-85" dirty="0">
                <a:latin typeface="Arial"/>
                <a:cs typeface="Arial"/>
              </a:rPr>
              <a:t>y  </a:t>
            </a:r>
            <a:r>
              <a:rPr sz="1700" spc="-55" dirty="0">
                <a:latin typeface="Arial"/>
                <a:cs typeface="Arial"/>
              </a:rPr>
              <a:t>lineamientos </a:t>
            </a:r>
            <a:r>
              <a:rPr sz="1700" spc="-90" dirty="0">
                <a:latin typeface="Arial"/>
                <a:cs typeface="Arial"/>
              </a:rPr>
              <a:t>generales. </a:t>
            </a:r>
            <a:r>
              <a:rPr sz="1700" spc="-105" dirty="0">
                <a:latin typeface="Arial"/>
                <a:cs typeface="Arial"/>
              </a:rPr>
              <a:t>Breve </a:t>
            </a:r>
            <a:r>
              <a:rPr sz="1700" spc="-70" dirty="0">
                <a:latin typeface="Arial"/>
                <a:cs typeface="Arial"/>
              </a:rPr>
              <a:t>descripción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situación actual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compañía.</a:t>
            </a:r>
            <a:endParaRPr sz="1700">
              <a:latin typeface="Arial"/>
              <a:cs typeface="Arial"/>
            </a:endParaRPr>
          </a:p>
          <a:p>
            <a:pPr marL="281305" indent="-268605">
              <a:lnSpc>
                <a:spcPct val="100000"/>
              </a:lnSpc>
              <a:buAutoNum type="arabicPeriod"/>
              <a:tabLst>
                <a:tab pos="281940" algn="l"/>
              </a:tabLst>
            </a:pPr>
            <a:r>
              <a:rPr sz="1700" b="1" spc="-100" dirty="0">
                <a:latin typeface="Trebuchet MS"/>
                <a:cs typeface="Trebuchet MS"/>
              </a:rPr>
              <a:t>Requerimientos </a:t>
            </a:r>
            <a:r>
              <a:rPr sz="1700" b="1" spc="-105" dirty="0">
                <a:latin typeface="Trebuchet MS"/>
                <a:cs typeface="Trebuchet MS"/>
              </a:rPr>
              <a:t>de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90" dirty="0">
                <a:latin typeface="Trebuchet MS"/>
                <a:cs typeface="Trebuchet MS"/>
              </a:rPr>
              <a:t>solución computacional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50" dirty="0">
                <a:latin typeface="Arial"/>
                <a:cs typeface="Arial"/>
              </a:rPr>
              <a:t>requerimientos del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60" dirty="0">
                <a:latin typeface="Arial"/>
                <a:cs typeface="Arial"/>
              </a:rPr>
              <a:t>actual </a:t>
            </a:r>
            <a:r>
              <a:rPr sz="1700" spc="-114" dirty="0">
                <a:latin typeface="Arial"/>
                <a:cs typeface="Arial"/>
              </a:rPr>
              <a:t>vs. </a:t>
            </a:r>
            <a:r>
              <a:rPr sz="1700" spc="-45" dirty="0">
                <a:latin typeface="Arial"/>
                <a:cs typeface="Arial"/>
              </a:rPr>
              <a:t>el</a:t>
            </a:r>
            <a:r>
              <a:rPr sz="1700" spc="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equipo</a:t>
            </a:r>
            <a:endParaRPr sz="1700">
              <a:latin typeface="Arial"/>
              <a:cs typeface="Arial"/>
            </a:endParaRPr>
          </a:p>
          <a:p>
            <a:pPr marL="281305">
              <a:lnSpc>
                <a:spcPct val="100000"/>
              </a:lnSpc>
            </a:pPr>
            <a:r>
              <a:rPr sz="1700" spc="-60" dirty="0">
                <a:latin typeface="Arial"/>
                <a:cs typeface="Arial"/>
              </a:rPr>
              <a:t>propuesto. </a:t>
            </a:r>
            <a:r>
              <a:rPr sz="1700" spc="-75" dirty="0">
                <a:latin typeface="Arial"/>
                <a:cs typeface="Arial"/>
              </a:rPr>
              <a:t>Requerimientos </a:t>
            </a:r>
            <a:r>
              <a:rPr sz="1700" spc="-55" dirty="0">
                <a:latin typeface="Arial"/>
                <a:cs typeface="Arial"/>
              </a:rPr>
              <a:t>obligatorios </a:t>
            </a:r>
            <a:r>
              <a:rPr sz="1700" spc="-85" dirty="0">
                <a:latin typeface="Arial"/>
                <a:cs typeface="Arial"/>
              </a:rPr>
              <a:t>y</a:t>
            </a:r>
            <a:r>
              <a:rPr sz="1700" spc="-16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opcionales.</a:t>
            </a:r>
            <a:endParaRPr sz="1700">
              <a:latin typeface="Arial"/>
              <a:cs typeface="Arial"/>
            </a:endParaRPr>
          </a:p>
          <a:p>
            <a:pPr marL="281305" marR="5715" indent="-268605" algn="just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105" dirty="0">
                <a:latin typeface="Trebuchet MS"/>
                <a:cs typeface="Trebuchet MS"/>
              </a:rPr>
              <a:t>Formato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90" dirty="0">
                <a:latin typeface="Trebuchet MS"/>
                <a:cs typeface="Trebuchet MS"/>
              </a:rPr>
              <a:t>propuesta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30" dirty="0">
                <a:latin typeface="Arial"/>
                <a:cs typeface="Arial"/>
              </a:rPr>
              <a:t>formato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0" dirty="0">
                <a:latin typeface="Arial"/>
                <a:cs typeface="Arial"/>
              </a:rPr>
              <a:t>propuesta </a:t>
            </a:r>
            <a:r>
              <a:rPr sz="1700" spc="-75" dirty="0">
                <a:latin typeface="Arial"/>
                <a:cs typeface="Arial"/>
              </a:rPr>
              <a:t>puede </a:t>
            </a:r>
            <a:r>
              <a:rPr sz="1700" spc="-50" dirty="0">
                <a:latin typeface="Arial"/>
                <a:cs typeface="Arial"/>
              </a:rPr>
              <a:t>variar;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60" dirty="0">
                <a:latin typeface="Arial"/>
                <a:cs typeface="Arial"/>
              </a:rPr>
              <a:t>obstante, </a:t>
            </a:r>
            <a:r>
              <a:rPr sz="1700" spc="-65" dirty="0">
                <a:latin typeface="Arial"/>
                <a:cs typeface="Arial"/>
              </a:rPr>
              <a:t>incluye </a:t>
            </a:r>
            <a:r>
              <a:rPr sz="1700" spc="-85" dirty="0">
                <a:latin typeface="Arial"/>
                <a:cs typeface="Arial"/>
              </a:rPr>
              <a:t>una  </a:t>
            </a:r>
            <a:r>
              <a:rPr sz="1700" spc="-55" dirty="0">
                <a:latin typeface="Arial"/>
                <a:cs typeface="Arial"/>
              </a:rPr>
              <a:t>lista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parámetros que </a:t>
            </a:r>
            <a:r>
              <a:rPr sz="1700" spc="-75" dirty="0">
                <a:latin typeface="Arial"/>
                <a:cs typeface="Arial"/>
              </a:rPr>
              <a:t>pueden </a:t>
            </a:r>
            <a:r>
              <a:rPr sz="1700" spc="-95" dirty="0">
                <a:latin typeface="Arial"/>
                <a:cs typeface="Arial"/>
              </a:rPr>
              <a:t>ser </a:t>
            </a:r>
            <a:r>
              <a:rPr sz="1700" spc="-90" dirty="0">
                <a:latin typeface="Arial"/>
                <a:cs typeface="Arial"/>
              </a:rPr>
              <a:t>considerados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propuestas. </a:t>
            </a: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90" dirty="0">
                <a:latin typeface="Arial"/>
                <a:cs typeface="Arial"/>
              </a:rPr>
              <a:t>sistema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70" dirty="0">
                <a:latin typeface="Arial"/>
                <a:cs typeface="Arial"/>
              </a:rPr>
              <a:t>presentado 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90" dirty="0">
                <a:latin typeface="Arial"/>
                <a:cs typeface="Arial"/>
              </a:rPr>
              <a:t>adecuado </a:t>
            </a:r>
            <a:r>
              <a:rPr sz="1700" spc="-45" dirty="0">
                <a:latin typeface="Arial"/>
                <a:cs typeface="Arial"/>
              </a:rPr>
              <a:t>detalle, </a:t>
            </a:r>
            <a:r>
              <a:rPr sz="1700" spc="-120" dirty="0">
                <a:latin typeface="Arial"/>
                <a:cs typeface="Arial"/>
              </a:rPr>
              <a:t>ya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debe </a:t>
            </a:r>
            <a:r>
              <a:rPr sz="1700" spc="-30" dirty="0">
                <a:latin typeface="Arial"/>
                <a:cs typeface="Arial"/>
              </a:rPr>
              <a:t>incluir </a:t>
            </a:r>
            <a:r>
              <a:rPr sz="1700" spc="-70" dirty="0">
                <a:latin typeface="Arial"/>
                <a:cs typeface="Arial"/>
              </a:rPr>
              <a:t>la descripción técnica </a:t>
            </a:r>
            <a:r>
              <a:rPr sz="1700" spc="-60" dirty="0">
                <a:latin typeface="Arial"/>
                <a:cs typeface="Arial"/>
              </a:rPr>
              <a:t>detallada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0" dirty="0">
                <a:latin typeface="Arial"/>
                <a:cs typeface="Arial"/>
              </a:rPr>
              <a:t>solución  propuesta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105" dirty="0">
                <a:latin typeface="Arial"/>
                <a:cs typeface="Arial"/>
              </a:rPr>
              <a:t>las capacidades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crecimiento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solución. </a:t>
            </a:r>
            <a:r>
              <a:rPr sz="1700" spc="-70" dirty="0">
                <a:latin typeface="Arial"/>
                <a:cs typeface="Arial"/>
              </a:rPr>
              <a:t>Incluye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60" dirty="0">
                <a:latin typeface="Arial"/>
                <a:cs typeface="Arial"/>
              </a:rPr>
              <a:t>instalación, </a:t>
            </a:r>
            <a:r>
              <a:rPr sz="1700" spc="-70" dirty="0">
                <a:latin typeface="Arial"/>
                <a:cs typeface="Arial"/>
              </a:rPr>
              <a:t>que pueden </a:t>
            </a:r>
            <a:r>
              <a:rPr sz="1700" spc="-40" dirty="0">
                <a:latin typeface="Arial"/>
                <a:cs typeface="Arial"/>
              </a:rPr>
              <a:t>modificar </a:t>
            </a:r>
            <a:r>
              <a:rPr sz="1700" spc="-80" dirty="0">
                <a:latin typeface="Arial"/>
                <a:cs typeface="Arial"/>
              </a:rPr>
              <a:t>una </a:t>
            </a:r>
            <a:r>
              <a:rPr sz="1700" spc="-75" dirty="0">
                <a:latin typeface="Arial"/>
                <a:cs typeface="Arial"/>
              </a:rPr>
              <a:t>decisión </a:t>
            </a:r>
            <a:r>
              <a:rPr sz="1700" spc="-120" dirty="0">
                <a:latin typeface="Arial"/>
                <a:cs typeface="Arial"/>
              </a:rPr>
              <a:t>ya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75" dirty="0">
                <a:latin typeface="Arial"/>
                <a:cs typeface="Arial"/>
              </a:rPr>
              <a:t>afecta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0" dirty="0">
                <a:latin typeface="Arial"/>
                <a:cs typeface="Arial"/>
              </a:rPr>
              <a:t>costo </a:t>
            </a:r>
            <a:r>
              <a:rPr sz="1700" spc="-10" dirty="0">
                <a:latin typeface="Arial"/>
                <a:cs typeface="Arial"/>
              </a:rPr>
              <a:t>total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28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inversión.</a:t>
            </a:r>
            <a:endParaRPr sz="1700">
              <a:latin typeface="Arial"/>
              <a:cs typeface="Arial"/>
            </a:endParaRPr>
          </a:p>
          <a:p>
            <a:pPr marL="281305" marR="5715" indent="-268605" algn="just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Soporte </a:t>
            </a:r>
            <a:r>
              <a:rPr sz="1700" b="1" spc="-95" dirty="0">
                <a:latin typeface="Trebuchet MS"/>
                <a:cs typeface="Trebuchet MS"/>
              </a:rPr>
              <a:t>del proveedor</a:t>
            </a:r>
            <a:r>
              <a:rPr sz="1700" spc="-95" dirty="0">
                <a:latin typeface="Arial"/>
                <a:cs typeface="Arial"/>
              </a:rPr>
              <a:t>: </a:t>
            </a:r>
            <a:r>
              <a:rPr sz="1700" spc="-85" dirty="0">
                <a:latin typeface="Arial"/>
                <a:cs typeface="Arial"/>
              </a:rPr>
              <a:t>debe </a:t>
            </a:r>
            <a:r>
              <a:rPr sz="1700" spc="-30" dirty="0">
                <a:latin typeface="Arial"/>
                <a:cs typeface="Arial"/>
              </a:rPr>
              <a:t>incluir </a:t>
            </a:r>
            <a:r>
              <a:rPr sz="1700" spc="-45" dirty="0">
                <a:latin typeface="Arial"/>
                <a:cs typeface="Arial"/>
              </a:rPr>
              <a:t>el entrenamiento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75" dirty="0">
                <a:latin typeface="Arial"/>
                <a:cs typeface="Arial"/>
              </a:rPr>
              <a:t>personal, </a:t>
            </a:r>
            <a:r>
              <a:rPr sz="1700" spc="-55" dirty="0">
                <a:latin typeface="Arial"/>
                <a:cs typeface="Arial"/>
              </a:rPr>
              <a:t>soporte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135" dirty="0">
                <a:latin typeface="Arial"/>
                <a:cs typeface="Arial"/>
              </a:rPr>
              <a:t>HW/SW, </a:t>
            </a:r>
            <a:r>
              <a:rPr sz="1700" spc="-85" dirty="0">
                <a:latin typeface="Arial"/>
                <a:cs typeface="Arial"/>
              </a:rPr>
              <a:t>y  </a:t>
            </a:r>
            <a:r>
              <a:rPr sz="1700" spc="-40" dirty="0">
                <a:latin typeface="Arial"/>
                <a:cs typeface="Arial"/>
              </a:rPr>
              <a:t>mantenimiento </a:t>
            </a:r>
            <a:r>
              <a:rPr sz="1700" spc="-55" dirty="0">
                <a:latin typeface="Arial"/>
                <a:cs typeface="Arial"/>
              </a:rPr>
              <a:t>del equipo. </a:t>
            </a:r>
            <a:r>
              <a:rPr sz="1700" spc="-85" dirty="0">
                <a:latin typeface="Arial"/>
                <a:cs typeface="Arial"/>
              </a:rPr>
              <a:t>Apoyo y </a:t>
            </a:r>
            <a:r>
              <a:rPr sz="1700" spc="-75" dirty="0">
                <a:latin typeface="Arial"/>
                <a:cs typeface="Arial"/>
              </a:rPr>
              <a:t>experiencia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35" dirty="0">
                <a:latin typeface="Arial"/>
                <a:cs typeface="Arial"/>
              </a:rPr>
              <a:t>convertir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los 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aplicación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75" dirty="0">
                <a:latin typeface="Arial"/>
                <a:cs typeface="Arial"/>
              </a:rPr>
              <a:t>nuevo </a:t>
            </a:r>
            <a:r>
              <a:rPr sz="1700" spc="-50" dirty="0">
                <a:latin typeface="Arial"/>
                <a:cs typeface="Arial"/>
              </a:rPr>
              <a:t>equipo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computacional.</a:t>
            </a:r>
            <a:endParaRPr sz="1700">
              <a:latin typeface="Arial"/>
              <a:cs typeface="Arial"/>
            </a:endParaRPr>
          </a:p>
          <a:p>
            <a:pPr marL="281305" indent="-268605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Información </a:t>
            </a:r>
            <a:r>
              <a:rPr sz="1700" b="1" spc="-100" dirty="0">
                <a:latin typeface="Trebuchet MS"/>
                <a:cs typeface="Trebuchet MS"/>
              </a:rPr>
              <a:t>de </a:t>
            </a:r>
            <a:r>
              <a:rPr sz="1700" b="1" spc="-80" dirty="0">
                <a:latin typeface="Trebuchet MS"/>
                <a:cs typeface="Trebuchet MS"/>
              </a:rPr>
              <a:t>costos</a:t>
            </a:r>
            <a:r>
              <a:rPr sz="1700" spc="-80" dirty="0">
                <a:latin typeface="Arial"/>
                <a:cs typeface="Arial"/>
              </a:rPr>
              <a:t>: </a:t>
            </a:r>
            <a:r>
              <a:rPr sz="1700" spc="-75" dirty="0">
                <a:latin typeface="Arial"/>
                <a:cs typeface="Arial"/>
              </a:rPr>
              <a:t>precios, </a:t>
            </a:r>
            <a:r>
              <a:rPr sz="1700" spc="-110" dirty="0">
                <a:latin typeface="Arial"/>
                <a:cs typeface="Arial"/>
              </a:rPr>
              <a:t>plazos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5" dirty="0">
                <a:latin typeface="Arial"/>
                <a:cs typeface="Arial"/>
              </a:rPr>
              <a:t>pago </a:t>
            </a:r>
            <a:r>
              <a:rPr sz="1700" spc="-85" dirty="0">
                <a:latin typeface="Arial"/>
                <a:cs typeface="Arial"/>
              </a:rPr>
              <a:t>y opciones </a:t>
            </a:r>
            <a:r>
              <a:rPr sz="1700" spc="-80" dirty="0">
                <a:latin typeface="Arial"/>
                <a:cs typeface="Arial"/>
              </a:rPr>
              <a:t>de compra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0" dirty="0">
                <a:latin typeface="Arial"/>
                <a:cs typeface="Arial"/>
              </a:rPr>
              <a:t>parte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proveedor.</a:t>
            </a:r>
            <a:endParaRPr sz="1700">
              <a:latin typeface="Arial"/>
              <a:cs typeface="Arial"/>
            </a:endParaRPr>
          </a:p>
          <a:p>
            <a:pPr marL="281305" marR="5080" indent="-268605" algn="just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81940" algn="l"/>
              </a:tabLst>
            </a:pPr>
            <a:r>
              <a:rPr sz="1700" b="1" spc="-100" dirty="0">
                <a:latin typeface="Trebuchet MS"/>
                <a:cs typeface="Trebuchet MS"/>
              </a:rPr>
              <a:t>Condiciones del </a:t>
            </a:r>
            <a:r>
              <a:rPr sz="1700" b="1" spc="-95" dirty="0">
                <a:latin typeface="Trebuchet MS"/>
                <a:cs typeface="Trebuchet MS"/>
              </a:rPr>
              <a:t>contrato</a:t>
            </a:r>
            <a:r>
              <a:rPr sz="1700" spc="-95" dirty="0">
                <a:latin typeface="Arial"/>
                <a:cs typeface="Arial"/>
              </a:rPr>
              <a:t>:</a:t>
            </a:r>
            <a:r>
              <a:rPr sz="1700" spc="28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formatos </a:t>
            </a:r>
            <a:r>
              <a:rPr sz="1700" spc="-35" dirty="0">
                <a:latin typeface="Arial"/>
                <a:cs typeface="Arial"/>
              </a:rPr>
              <a:t>fijos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120" dirty="0">
                <a:latin typeface="Arial"/>
                <a:cs typeface="Arial"/>
              </a:rPr>
              <a:t>anexa 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0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mayoría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10" dirty="0">
                <a:latin typeface="Arial"/>
                <a:cs typeface="Arial"/>
              </a:rPr>
              <a:t>las  </a:t>
            </a:r>
            <a:r>
              <a:rPr sz="1700" spc="-80" dirty="0">
                <a:latin typeface="Arial"/>
                <a:cs typeface="Arial"/>
              </a:rPr>
              <a:t>propuestas</a:t>
            </a:r>
            <a:endParaRPr sz="1700">
              <a:latin typeface="Arial"/>
              <a:cs typeface="Arial"/>
            </a:endParaRPr>
          </a:p>
          <a:p>
            <a:pPr marL="281305" marR="5080" indent="-268605" algn="just">
              <a:lnSpc>
                <a:spcPct val="100000"/>
              </a:lnSpc>
              <a:buAutoNum type="arabicPeriod" startAt="3"/>
              <a:tabLst>
                <a:tab pos="281940" algn="l"/>
              </a:tabLst>
            </a:pPr>
            <a:r>
              <a:rPr sz="1700" b="1" spc="-90" dirty="0">
                <a:latin typeface="Trebuchet MS"/>
                <a:cs typeface="Trebuchet MS"/>
              </a:rPr>
              <a:t>Nivel </a:t>
            </a:r>
            <a:r>
              <a:rPr sz="1700" b="1" spc="-50" dirty="0">
                <a:latin typeface="Trebuchet MS"/>
                <a:cs typeface="Trebuchet MS"/>
              </a:rPr>
              <a:t>o </a:t>
            </a:r>
            <a:r>
              <a:rPr sz="1700" b="1" spc="-85" dirty="0">
                <a:latin typeface="Trebuchet MS"/>
                <a:cs typeface="Trebuchet MS"/>
              </a:rPr>
              <a:t>grado </a:t>
            </a:r>
            <a:r>
              <a:rPr sz="1700" b="1" spc="-100" dirty="0">
                <a:latin typeface="Trebuchet MS"/>
                <a:cs typeface="Trebuchet MS"/>
              </a:rPr>
              <a:t>de cumplimiento de </a:t>
            </a:r>
            <a:r>
              <a:rPr sz="1700" b="1" spc="-65" dirty="0">
                <a:latin typeface="Trebuchet MS"/>
                <a:cs typeface="Trebuchet MS"/>
              </a:rPr>
              <a:t>los </a:t>
            </a:r>
            <a:r>
              <a:rPr sz="1700" b="1" spc="-105" dirty="0">
                <a:latin typeface="Trebuchet MS"/>
                <a:cs typeface="Trebuchet MS"/>
              </a:rPr>
              <a:t>requerimientos </a:t>
            </a:r>
            <a:r>
              <a:rPr sz="1700" b="1" spc="-85" dirty="0">
                <a:latin typeface="Trebuchet MS"/>
                <a:cs typeface="Trebuchet MS"/>
              </a:rPr>
              <a:t>obligatorios </a:t>
            </a:r>
            <a:r>
              <a:rPr sz="1700" b="1" spc="-105" dirty="0">
                <a:latin typeface="Trebuchet MS"/>
                <a:cs typeface="Trebuchet MS"/>
              </a:rPr>
              <a:t>y </a:t>
            </a:r>
            <a:r>
              <a:rPr sz="1700" b="1" spc="-90" dirty="0">
                <a:latin typeface="Trebuchet MS"/>
                <a:cs typeface="Trebuchet MS"/>
              </a:rPr>
              <a:t>opcionales </a:t>
            </a:r>
            <a:r>
              <a:rPr sz="1700" b="1" spc="-95" dirty="0">
                <a:latin typeface="Trebuchet MS"/>
                <a:cs typeface="Trebuchet MS"/>
              </a:rPr>
              <a:t>del </a:t>
            </a:r>
            <a:r>
              <a:rPr sz="1700" b="1" spc="-120" dirty="0">
                <a:latin typeface="Trebuchet MS"/>
                <a:cs typeface="Trebuchet MS"/>
              </a:rPr>
              <a:t>cliente  </a:t>
            </a:r>
            <a:r>
              <a:rPr sz="1700" b="1" spc="-100" dirty="0">
                <a:latin typeface="Trebuchet MS"/>
                <a:cs typeface="Trebuchet MS"/>
              </a:rPr>
              <a:t>que </a:t>
            </a:r>
            <a:r>
              <a:rPr sz="1700" b="1" spc="-105" dirty="0">
                <a:latin typeface="Trebuchet MS"/>
                <a:cs typeface="Trebuchet MS"/>
              </a:rPr>
              <a:t>tiene </a:t>
            </a:r>
            <a:r>
              <a:rPr sz="1700" b="1" spc="-80" dirty="0">
                <a:latin typeface="Trebuchet MS"/>
                <a:cs typeface="Trebuchet MS"/>
              </a:rPr>
              <a:t>la </a:t>
            </a:r>
            <a:r>
              <a:rPr sz="1700" b="1" spc="-85" dirty="0">
                <a:latin typeface="Trebuchet MS"/>
                <a:cs typeface="Trebuchet MS"/>
              </a:rPr>
              <a:t>solución </a:t>
            </a:r>
            <a:r>
              <a:rPr sz="1700" b="1" spc="-100" dirty="0">
                <a:latin typeface="Trebuchet MS"/>
                <a:cs typeface="Trebuchet MS"/>
              </a:rPr>
              <a:t>presentada </a:t>
            </a:r>
            <a:r>
              <a:rPr sz="1700" b="1" spc="-85" dirty="0">
                <a:latin typeface="Trebuchet MS"/>
                <a:cs typeface="Trebuchet MS"/>
              </a:rPr>
              <a:t>por </a:t>
            </a:r>
            <a:r>
              <a:rPr sz="1700" b="1" spc="-110" dirty="0">
                <a:latin typeface="Trebuchet MS"/>
                <a:cs typeface="Trebuchet MS"/>
              </a:rPr>
              <a:t>el</a:t>
            </a:r>
            <a:r>
              <a:rPr sz="1700" b="1" spc="-395" dirty="0">
                <a:latin typeface="Trebuchet MS"/>
                <a:cs typeface="Trebuchet MS"/>
              </a:rPr>
              <a:t> </a:t>
            </a:r>
            <a:r>
              <a:rPr sz="1700" b="1" spc="-100" dirty="0">
                <a:latin typeface="Trebuchet MS"/>
                <a:cs typeface="Trebuchet MS"/>
              </a:rPr>
              <a:t>proveedor</a:t>
            </a:r>
            <a:r>
              <a:rPr sz="1700" spc="-100" dirty="0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6954" y="1039113"/>
            <a:ext cx="8571230" cy="27101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0"/>
              </a:spcBef>
              <a:tabLst>
                <a:tab pos="5727700" algn="l"/>
              </a:tabLst>
            </a:pPr>
            <a:r>
              <a:rPr sz="2000" b="1" spc="-75" dirty="0">
                <a:latin typeface="Trebuchet MS"/>
                <a:cs typeface="Trebuchet MS"/>
              </a:rPr>
              <a:t>B </a:t>
            </a:r>
            <a:r>
              <a:rPr sz="2000" b="1" spc="-125" dirty="0">
                <a:latin typeface="Trebuchet MS"/>
                <a:cs typeface="Trebuchet MS"/>
              </a:rPr>
              <a:t>- </a:t>
            </a:r>
            <a:r>
              <a:rPr sz="2000" b="1" spc="-110" dirty="0">
                <a:latin typeface="Trebuchet MS"/>
                <a:cs typeface="Trebuchet MS"/>
              </a:rPr>
              <a:t>Abrir </a:t>
            </a:r>
            <a:r>
              <a:rPr sz="2000" b="1" spc="-125" dirty="0">
                <a:latin typeface="Trebuchet MS"/>
                <a:cs typeface="Trebuchet MS"/>
              </a:rPr>
              <a:t>concurso</a:t>
            </a:r>
            <a:r>
              <a:rPr sz="2000" b="1" spc="-240" dirty="0">
                <a:latin typeface="Trebuchet MS"/>
                <a:cs typeface="Trebuchet MS"/>
              </a:rPr>
              <a:t> </a:t>
            </a:r>
            <a:r>
              <a:rPr sz="2000" b="1" spc="-120" dirty="0">
                <a:latin typeface="Trebuchet MS"/>
                <a:cs typeface="Trebuchet MS"/>
              </a:rPr>
              <a:t>de</a:t>
            </a:r>
            <a:r>
              <a:rPr sz="2000" b="1" spc="-135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proveedores</a:t>
            </a:r>
            <a:r>
              <a:rPr sz="2000" spc="-110" dirty="0">
                <a:latin typeface="Arial"/>
                <a:cs typeface="Arial"/>
              </a:rPr>
              <a:t>:	</a:t>
            </a:r>
            <a:r>
              <a:rPr sz="2000" b="1" spc="-105" dirty="0">
                <a:solidFill>
                  <a:srgbClr val="FF0000"/>
                </a:solidFill>
                <a:latin typeface="Trebuchet MS"/>
                <a:cs typeface="Trebuchet MS"/>
              </a:rPr>
              <a:t>Actividades </a:t>
            </a: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Previas </a:t>
            </a:r>
            <a:r>
              <a:rPr sz="2000" b="1" spc="-130" dirty="0">
                <a:solidFill>
                  <a:srgbClr val="FF0000"/>
                </a:solidFill>
                <a:latin typeface="Trebuchet MS"/>
                <a:cs typeface="Trebuchet MS"/>
              </a:rPr>
              <a:t>(Cont.)  </a:t>
            </a:r>
            <a:r>
              <a:rPr sz="1700" spc="-50" dirty="0">
                <a:latin typeface="Arial"/>
                <a:cs typeface="Arial"/>
              </a:rPr>
              <a:t>Apertura </a:t>
            </a:r>
            <a:r>
              <a:rPr sz="1700" spc="-35" dirty="0">
                <a:latin typeface="Arial"/>
                <a:cs typeface="Arial"/>
              </a:rPr>
              <a:t>formal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90" dirty="0">
                <a:latin typeface="Arial"/>
                <a:cs typeface="Arial"/>
              </a:rPr>
              <a:t>concurso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proveedores, </a:t>
            </a:r>
            <a:r>
              <a:rPr sz="1700" spc="-70" dirty="0">
                <a:latin typeface="Arial"/>
                <a:cs typeface="Arial"/>
              </a:rPr>
              <a:t>entregando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20" dirty="0">
                <a:latin typeface="Arial"/>
                <a:cs typeface="Arial"/>
              </a:rPr>
              <a:t>cada </a:t>
            </a:r>
            <a:r>
              <a:rPr sz="1700" spc="-60" dirty="0">
                <a:latin typeface="Arial"/>
                <a:cs typeface="Arial"/>
              </a:rPr>
              <a:t>uno </a:t>
            </a:r>
            <a:r>
              <a:rPr sz="1700" spc="-45" dirty="0">
                <a:latin typeface="Arial"/>
                <a:cs typeface="Arial"/>
              </a:rPr>
              <a:t>(preferiblemente </a:t>
            </a:r>
            <a:r>
              <a:rPr sz="1700" spc="-35" dirty="0">
                <a:latin typeface="Arial"/>
                <a:cs typeface="Arial"/>
              </a:rPr>
              <a:t>por  </a:t>
            </a:r>
            <a:r>
              <a:rPr sz="1700" spc="-90" dirty="0">
                <a:latin typeface="Arial"/>
                <a:cs typeface="Arial"/>
              </a:rPr>
              <a:t>separado) </a:t>
            </a:r>
            <a:r>
              <a:rPr sz="1700" spc="-80" dirty="0">
                <a:latin typeface="Arial"/>
                <a:cs typeface="Arial"/>
              </a:rPr>
              <a:t>los </a:t>
            </a:r>
            <a:r>
              <a:rPr sz="1700" spc="-270" dirty="0">
                <a:latin typeface="Arial"/>
                <a:cs typeface="Arial"/>
              </a:rPr>
              <a:t>RFP, </a:t>
            </a:r>
            <a:r>
              <a:rPr sz="1700" spc="-75" dirty="0">
                <a:latin typeface="Arial"/>
                <a:cs typeface="Arial"/>
              </a:rPr>
              <a:t>haciendo </a:t>
            </a:r>
            <a:r>
              <a:rPr sz="1700" spc="-70" dirty="0">
                <a:latin typeface="Arial"/>
                <a:cs typeface="Arial"/>
              </a:rPr>
              <a:t>hincapié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95" dirty="0">
                <a:latin typeface="Arial"/>
                <a:cs typeface="Arial"/>
              </a:rPr>
              <a:t>necesidad </a:t>
            </a:r>
            <a:r>
              <a:rPr sz="1700" spc="-80" dirty="0">
                <a:latin typeface="Arial"/>
                <a:cs typeface="Arial"/>
              </a:rPr>
              <a:t>de atenerse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30" dirty="0">
                <a:latin typeface="Arial"/>
                <a:cs typeface="Arial"/>
              </a:rPr>
              <a:t>formato </a:t>
            </a:r>
            <a:r>
              <a:rPr sz="1700" spc="-55" dirty="0">
                <a:latin typeface="Arial"/>
                <a:cs typeface="Arial"/>
              </a:rPr>
              <a:t>solicitado,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sobre  </a:t>
            </a:r>
            <a:r>
              <a:rPr sz="1700" spc="-35" dirty="0">
                <a:latin typeface="Arial"/>
                <a:cs typeface="Arial"/>
              </a:rPr>
              <a:t>todo,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50" dirty="0">
                <a:latin typeface="Arial"/>
                <a:cs typeface="Arial"/>
              </a:rPr>
              <a:t>dejar </a:t>
            </a:r>
            <a:r>
              <a:rPr sz="1700" spc="-75" dirty="0">
                <a:latin typeface="Arial"/>
                <a:cs typeface="Arial"/>
              </a:rPr>
              <a:t>proveedores </a:t>
            </a:r>
            <a:r>
              <a:rPr sz="1700" spc="-55" dirty="0">
                <a:latin typeface="Arial"/>
                <a:cs typeface="Arial"/>
              </a:rPr>
              <a:t>fuera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carrera </a:t>
            </a:r>
            <a:r>
              <a:rPr sz="1700" spc="-65" dirty="0">
                <a:latin typeface="Arial"/>
                <a:cs typeface="Arial"/>
              </a:rPr>
              <a:t>simplemente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95" dirty="0">
                <a:latin typeface="Arial"/>
                <a:cs typeface="Arial"/>
              </a:rPr>
              <a:t>suposiciones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0" dirty="0">
                <a:latin typeface="Arial"/>
                <a:cs typeface="Arial"/>
              </a:rPr>
              <a:t>parte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la  </a:t>
            </a:r>
            <a:r>
              <a:rPr sz="1700" spc="-90" dirty="0">
                <a:latin typeface="Arial"/>
                <a:cs typeface="Arial"/>
              </a:rPr>
              <a:t>empresa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65" dirty="0">
                <a:latin typeface="Arial"/>
                <a:cs typeface="Arial"/>
              </a:rPr>
              <a:t>podrán </a:t>
            </a:r>
            <a:r>
              <a:rPr sz="1700" spc="-100" dirty="0">
                <a:latin typeface="Arial"/>
                <a:cs typeface="Arial"/>
              </a:rPr>
              <a:t>alcanzar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17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requerimientos.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b="1" spc="-170" dirty="0">
                <a:latin typeface="Trebuchet MS"/>
                <a:cs typeface="Trebuchet MS"/>
              </a:rPr>
              <a:t>C </a:t>
            </a:r>
            <a:r>
              <a:rPr sz="2000" b="1" spc="-125" dirty="0">
                <a:latin typeface="Trebuchet MS"/>
                <a:cs typeface="Trebuchet MS"/>
              </a:rPr>
              <a:t>- </a:t>
            </a:r>
            <a:r>
              <a:rPr sz="2000" b="1" spc="-114" dirty="0">
                <a:latin typeface="Trebuchet MS"/>
                <a:cs typeface="Trebuchet MS"/>
              </a:rPr>
              <a:t>Descartar</a:t>
            </a:r>
            <a:r>
              <a:rPr sz="2000" b="1" spc="-15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Propuestas</a:t>
            </a:r>
            <a:r>
              <a:rPr sz="2000" spc="-1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5"/>
              </a:spcBef>
            </a:pPr>
            <a:r>
              <a:rPr sz="1700" spc="-125" dirty="0">
                <a:latin typeface="Arial"/>
                <a:cs typeface="Arial"/>
              </a:rPr>
              <a:t>Luego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80" dirty="0">
                <a:latin typeface="Arial"/>
                <a:cs typeface="Arial"/>
              </a:rPr>
              <a:t>descartan </a:t>
            </a:r>
            <a:r>
              <a:rPr sz="1700" spc="-75" dirty="0">
                <a:latin typeface="Arial"/>
                <a:cs typeface="Arial"/>
              </a:rPr>
              <a:t>todas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propuestas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70" dirty="0">
                <a:latin typeface="Arial"/>
                <a:cs typeface="Arial"/>
              </a:rPr>
              <a:t>cumplan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55" dirty="0">
                <a:latin typeface="Arial"/>
                <a:cs typeface="Arial"/>
              </a:rPr>
              <a:t>obligatorios, </a:t>
            </a:r>
            <a:r>
              <a:rPr sz="1700" spc="-20" dirty="0">
                <a:latin typeface="Arial"/>
                <a:cs typeface="Arial"/>
              </a:rPr>
              <a:t>lo 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50" dirty="0">
                <a:latin typeface="Arial"/>
                <a:cs typeface="Arial"/>
              </a:rPr>
              <a:t>constituye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15" dirty="0">
                <a:latin typeface="Arial"/>
                <a:cs typeface="Arial"/>
              </a:rPr>
              <a:t>filtro </a:t>
            </a:r>
            <a:r>
              <a:rPr sz="1700" spc="-30" dirty="0">
                <a:latin typeface="Arial"/>
                <a:cs typeface="Arial"/>
              </a:rPr>
              <a:t>importante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65" dirty="0">
                <a:latin typeface="Arial"/>
                <a:cs typeface="Arial"/>
              </a:rPr>
              <a:t>la hora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realizar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90" dirty="0">
                <a:latin typeface="Arial"/>
                <a:cs typeface="Arial"/>
              </a:rPr>
              <a:t>evaluaciones </a:t>
            </a:r>
            <a:r>
              <a:rPr sz="1700" spc="-85" dirty="0">
                <a:latin typeface="Arial"/>
                <a:cs typeface="Arial"/>
              </a:rPr>
              <a:t>técnicas y </a:t>
            </a:r>
            <a:r>
              <a:rPr sz="1700" spc="-70" dirty="0">
                <a:latin typeface="Arial"/>
                <a:cs typeface="Arial"/>
              </a:rPr>
              <a:t>financieras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105" dirty="0">
                <a:latin typeface="Arial"/>
                <a:cs typeface="Arial"/>
              </a:rPr>
              <a:t>las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propuestas.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53000" y="4334255"/>
            <a:ext cx="3281172" cy="1600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4334255"/>
            <a:ext cx="3429000" cy="16200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40</a:t>
            </a:fld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140" y="1039113"/>
            <a:ext cx="8607425" cy="3182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Evaluación</a:t>
            </a:r>
            <a:r>
              <a:rPr sz="2000" b="1" spc="-1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80" dirty="0">
                <a:solidFill>
                  <a:srgbClr val="FF0000"/>
                </a:solidFill>
                <a:latin typeface="Trebuchet MS"/>
                <a:cs typeface="Trebuchet MS"/>
              </a:rPr>
              <a:t>Técnica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1700" spc="-185" dirty="0">
                <a:latin typeface="Arial"/>
                <a:cs typeface="Arial"/>
              </a:rPr>
              <a:t>La </a:t>
            </a:r>
            <a:r>
              <a:rPr sz="1700" spc="-80" dirty="0">
                <a:latin typeface="Arial"/>
                <a:cs typeface="Arial"/>
              </a:rPr>
              <a:t>evaluación </a:t>
            </a:r>
            <a:r>
              <a:rPr sz="1700" spc="-70" dirty="0">
                <a:latin typeface="Arial"/>
                <a:cs typeface="Arial"/>
              </a:rPr>
              <a:t>técnica </a:t>
            </a:r>
            <a:r>
              <a:rPr sz="1700" spc="-80" dirty="0">
                <a:latin typeface="Arial"/>
                <a:cs typeface="Arial"/>
              </a:rPr>
              <a:t>debe llevarse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95" dirty="0">
                <a:latin typeface="Arial"/>
                <a:cs typeface="Arial"/>
              </a:rPr>
              <a:t>cabo </a:t>
            </a:r>
            <a:r>
              <a:rPr sz="1700" spc="-80" dirty="0">
                <a:latin typeface="Arial"/>
                <a:cs typeface="Arial"/>
              </a:rPr>
              <a:t>sobre </a:t>
            </a:r>
            <a:r>
              <a:rPr sz="1700" spc="-85" dirty="0">
                <a:latin typeface="Arial"/>
                <a:cs typeface="Arial"/>
              </a:rPr>
              <a:t>aquellas propuestas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65" dirty="0">
                <a:latin typeface="Arial"/>
                <a:cs typeface="Arial"/>
              </a:rPr>
              <a:t>cumplen absolutamente 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50" dirty="0">
                <a:latin typeface="Arial"/>
                <a:cs typeface="Arial"/>
              </a:rPr>
              <a:t>requerimientos </a:t>
            </a:r>
            <a:r>
              <a:rPr sz="1700" spc="-55" dirty="0">
                <a:latin typeface="Arial"/>
                <a:cs typeface="Arial"/>
              </a:rPr>
              <a:t>obligatorios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35" dirty="0">
                <a:latin typeface="Arial"/>
                <a:cs typeface="Arial"/>
              </a:rPr>
              <a:t>mejor </a:t>
            </a:r>
            <a:r>
              <a:rPr sz="1700" spc="-70" dirty="0">
                <a:latin typeface="Arial"/>
                <a:cs typeface="Arial"/>
              </a:rPr>
              <a:t>cumplen </a:t>
            </a:r>
            <a:r>
              <a:rPr sz="1700" spc="-75" dirty="0">
                <a:latin typeface="Arial"/>
                <a:cs typeface="Arial"/>
              </a:rPr>
              <a:t>los opcionales. </a:t>
            </a:r>
            <a:r>
              <a:rPr sz="1700" spc="-165" dirty="0">
                <a:latin typeface="Arial"/>
                <a:cs typeface="Arial"/>
              </a:rPr>
              <a:t>Los </a:t>
            </a:r>
            <a:r>
              <a:rPr sz="1700" spc="-65" dirty="0">
                <a:latin typeface="Arial"/>
                <a:cs typeface="Arial"/>
              </a:rPr>
              <a:t>factores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35" dirty="0">
                <a:latin typeface="Arial"/>
                <a:cs typeface="Arial"/>
              </a:rPr>
              <a:t>tener </a:t>
            </a:r>
            <a:r>
              <a:rPr sz="1700" spc="-85" dirty="0">
                <a:latin typeface="Arial"/>
                <a:cs typeface="Arial"/>
              </a:rPr>
              <a:t>en  </a:t>
            </a:r>
            <a:r>
              <a:rPr sz="1700" spc="-70" dirty="0">
                <a:latin typeface="Arial"/>
                <a:cs typeface="Arial"/>
              </a:rPr>
              <a:t>cuenta </a:t>
            </a:r>
            <a:r>
              <a:rPr sz="1700" spc="-85" dirty="0">
                <a:latin typeface="Arial"/>
                <a:cs typeface="Arial"/>
              </a:rPr>
              <a:t>para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5" dirty="0">
                <a:latin typeface="Arial"/>
                <a:cs typeface="Arial"/>
              </a:rPr>
              <a:t>evaluación </a:t>
            </a:r>
            <a:r>
              <a:rPr sz="1700" spc="-100" dirty="0">
                <a:latin typeface="Arial"/>
                <a:cs typeface="Arial"/>
              </a:rPr>
              <a:t>son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principalmente: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sz="1700" b="1" i="1" spc="-150" dirty="0">
                <a:latin typeface="Arial"/>
                <a:cs typeface="Arial"/>
              </a:rPr>
              <a:t>Factores </a:t>
            </a:r>
            <a:r>
              <a:rPr sz="1700" b="1" i="1" spc="-130" dirty="0">
                <a:latin typeface="Arial"/>
                <a:cs typeface="Arial"/>
              </a:rPr>
              <a:t>de </a:t>
            </a:r>
            <a:r>
              <a:rPr sz="1700" b="1" i="1" spc="-90" dirty="0">
                <a:latin typeface="Arial"/>
                <a:cs typeface="Arial"/>
              </a:rPr>
              <a:t>hardware </a:t>
            </a:r>
            <a:r>
              <a:rPr sz="1700" spc="-85" dirty="0">
                <a:latin typeface="Arial"/>
                <a:cs typeface="Arial"/>
              </a:rPr>
              <a:t>(procesador, </a:t>
            </a:r>
            <a:r>
              <a:rPr sz="1700" spc="-55" dirty="0">
                <a:latin typeface="Arial"/>
                <a:cs typeface="Arial"/>
              </a:rPr>
              <a:t>memoria </a:t>
            </a:r>
            <a:r>
              <a:rPr sz="1700" spc="-120" dirty="0">
                <a:latin typeface="Arial"/>
                <a:cs typeface="Arial"/>
              </a:rPr>
              <a:t>RAM, </a:t>
            </a:r>
            <a:r>
              <a:rPr sz="1700" spc="-100" dirty="0">
                <a:latin typeface="Arial"/>
                <a:cs typeface="Arial"/>
              </a:rPr>
              <a:t>discos, </a:t>
            </a:r>
            <a:r>
              <a:rPr sz="1700" spc="-55" dirty="0">
                <a:latin typeface="Arial"/>
                <a:cs typeface="Arial"/>
              </a:rPr>
              <a:t>terminales, </a:t>
            </a:r>
            <a:r>
              <a:rPr sz="1700" spc="-75" dirty="0">
                <a:latin typeface="Arial"/>
                <a:cs typeface="Arial"/>
              </a:rPr>
              <a:t>impresoras,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etc.).</a:t>
            </a:r>
            <a:endParaRPr sz="17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700" b="1" i="1" spc="-150" dirty="0">
                <a:latin typeface="Arial"/>
                <a:cs typeface="Arial"/>
              </a:rPr>
              <a:t>Factores </a:t>
            </a:r>
            <a:r>
              <a:rPr sz="1700" b="1" i="1" spc="-130" dirty="0">
                <a:latin typeface="Arial"/>
                <a:cs typeface="Arial"/>
              </a:rPr>
              <a:t>de </a:t>
            </a:r>
            <a:r>
              <a:rPr sz="1700" b="1" i="1" spc="-95" dirty="0">
                <a:latin typeface="Arial"/>
                <a:cs typeface="Arial"/>
              </a:rPr>
              <a:t>software </a:t>
            </a:r>
            <a:r>
              <a:rPr sz="1700" spc="-85" dirty="0">
                <a:latin typeface="Arial"/>
                <a:cs typeface="Arial"/>
              </a:rPr>
              <a:t>(sistema </a:t>
            </a:r>
            <a:r>
              <a:rPr sz="1700" spc="-55" dirty="0">
                <a:latin typeface="Arial"/>
                <a:cs typeface="Arial"/>
              </a:rPr>
              <a:t>operativo, </a:t>
            </a:r>
            <a:r>
              <a:rPr sz="1700" spc="-50" dirty="0">
                <a:latin typeface="Arial"/>
                <a:cs typeface="Arial"/>
              </a:rPr>
              <a:t>software </a:t>
            </a:r>
            <a:r>
              <a:rPr sz="1700" spc="-80" dirty="0">
                <a:latin typeface="Arial"/>
                <a:cs typeface="Arial"/>
              </a:rPr>
              <a:t>de comunicaciones, </a:t>
            </a:r>
            <a:r>
              <a:rPr sz="1700" spc="-50" dirty="0">
                <a:latin typeface="Arial"/>
                <a:cs typeface="Arial"/>
              </a:rPr>
              <a:t>administrador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140" dirty="0">
                <a:latin typeface="Arial"/>
                <a:cs typeface="Arial"/>
              </a:rPr>
              <a:t>bases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datos,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80" dirty="0">
                <a:latin typeface="Arial"/>
                <a:cs typeface="Arial"/>
              </a:rPr>
              <a:t>paquetes </a:t>
            </a:r>
            <a:r>
              <a:rPr sz="1700" spc="-75" dirty="0">
                <a:latin typeface="Arial"/>
                <a:cs typeface="Arial"/>
              </a:rPr>
              <a:t>adicionales </a:t>
            </a:r>
            <a:r>
              <a:rPr sz="1700" spc="-70" dirty="0">
                <a:latin typeface="Arial"/>
                <a:cs typeface="Arial"/>
              </a:rPr>
              <a:t>tales </a:t>
            </a:r>
            <a:r>
              <a:rPr sz="1700" spc="-75" dirty="0">
                <a:latin typeface="Arial"/>
                <a:cs typeface="Arial"/>
              </a:rPr>
              <a:t>como simuladores, </a:t>
            </a:r>
            <a:r>
              <a:rPr sz="1700" spc="-90" dirty="0">
                <a:latin typeface="Arial"/>
                <a:cs typeface="Arial"/>
              </a:rPr>
              <a:t>análisis </a:t>
            </a:r>
            <a:r>
              <a:rPr sz="1700" spc="-65" dirty="0">
                <a:latin typeface="Arial"/>
                <a:cs typeface="Arial"/>
              </a:rPr>
              <a:t>financieros,  </a:t>
            </a:r>
            <a:r>
              <a:rPr sz="1700" spc="-70" dirty="0">
                <a:latin typeface="Arial"/>
                <a:cs typeface="Arial"/>
              </a:rPr>
              <a:t>programación </a:t>
            </a:r>
            <a:r>
              <a:rPr sz="1700" spc="-45" dirty="0">
                <a:latin typeface="Arial"/>
                <a:cs typeface="Arial"/>
              </a:rPr>
              <a:t>lineal, </a:t>
            </a:r>
            <a:r>
              <a:rPr sz="1700" spc="-30" dirty="0">
                <a:latin typeface="Arial"/>
                <a:cs typeface="Arial"/>
              </a:rPr>
              <a:t>control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proyectos, </a:t>
            </a:r>
            <a:r>
              <a:rPr sz="1700" spc="-55" dirty="0">
                <a:latin typeface="Arial"/>
                <a:cs typeface="Arial"/>
              </a:rPr>
              <a:t>etc.). </a:t>
            </a:r>
            <a:r>
              <a:rPr sz="1700" spc="-105" dirty="0">
                <a:latin typeface="Arial"/>
                <a:cs typeface="Arial"/>
              </a:rPr>
              <a:t>También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30" dirty="0">
                <a:latin typeface="Arial"/>
                <a:cs typeface="Arial"/>
              </a:rPr>
              <a:t>importante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0" dirty="0">
                <a:latin typeface="Arial"/>
                <a:cs typeface="Arial"/>
              </a:rPr>
              <a:t>grado de </a:t>
            </a:r>
            <a:r>
              <a:rPr sz="1700" spc="-50" dirty="0">
                <a:latin typeface="Arial"/>
                <a:cs typeface="Arial"/>
              </a:rPr>
              <a:t>apertura 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50" dirty="0">
                <a:latin typeface="Arial"/>
                <a:cs typeface="Arial"/>
              </a:rPr>
              <a:t>software </a:t>
            </a:r>
            <a:r>
              <a:rPr sz="1700" spc="-45" dirty="0">
                <a:latin typeface="Arial"/>
                <a:cs typeface="Arial"/>
              </a:rPr>
              <a:t>ofrecido </a:t>
            </a:r>
            <a:r>
              <a:rPr sz="1700" spc="-75" dirty="0">
                <a:latin typeface="Arial"/>
                <a:cs typeface="Arial"/>
              </a:rPr>
              <a:t>en </a:t>
            </a:r>
            <a:r>
              <a:rPr sz="1700" spc="-60" dirty="0">
                <a:latin typeface="Arial"/>
                <a:cs typeface="Arial"/>
              </a:rPr>
              <a:t>cuanto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5" dirty="0">
                <a:latin typeface="Arial"/>
                <a:cs typeface="Arial"/>
              </a:rPr>
              <a:t>posibilidad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" dirty="0">
                <a:latin typeface="Arial"/>
                <a:cs typeface="Arial"/>
              </a:rPr>
              <a:t>“correrlo”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55" dirty="0">
                <a:latin typeface="Arial"/>
                <a:cs typeface="Arial"/>
              </a:rPr>
              <a:t>distintas terminales </a:t>
            </a:r>
            <a:r>
              <a:rPr sz="1700" spc="-85" dirty="0">
                <a:latin typeface="Arial"/>
                <a:cs typeface="Arial"/>
              </a:rPr>
              <a:t>de  </a:t>
            </a:r>
            <a:r>
              <a:rPr sz="1700" spc="-65" dirty="0">
                <a:latin typeface="Arial"/>
                <a:cs typeface="Arial"/>
              </a:rPr>
              <a:t>hardware, </a:t>
            </a:r>
            <a:r>
              <a:rPr sz="1700" spc="-75" dirty="0">
                <a:latin typeface="Arial"/>
                <a:cs typeface="Arial"/>
              </a:rPr>
              <a:t>dado </a:t>
            </a:r>
            <a:r>
              <a:rPr sz="1700" spc="-70" dirty="0">
                <a:latin typeface="Arial"/>
                <a:cs typeface="Arial"/>
              </a:rPr>
              <a:t>que generalmente </a:t>
            </a:r>
            <a:r>
              <a:rPr sz="1700" spc="-110" dirty="0">
                <a:latin typeface="Arial"/>
                <a:cs typeface="Arial"/>
              </a:rPr>
              <a:t>éstas </a:t>
            </a:r>
            <a:r>
              <a:rPr sz="1700" spc="-35" dirty="0">
                <a:latin typeface="Arial"/>
                <a:cs typeface="Arial"/>
              </a:rPr>
              <a:t>tienen </a:t>
            </a:r>
            <a:r>
              <a:rPr sz="1700" spc="-80" dirty="0">
                <a:latin typeface="Arial"/>
                <a:cs typeface="Arial"/>
              </a:rPr>
              <a:t>una </a:t>
            </a:r>
            <a:r>
              <a:rPr sz="1700" spc="-65" dirty="0">
                <a:latin typeface="Arial"/>
                <a:cs typeface="Arial"/>
              </a:rPr>
              <a:t>vida </a:t>
            </a:r>
            <a:r>
              <a:rPr sz="1700" spc="10" dirty="0">
                <a:latin typeface="Arial"/>
                <a:cs typeface="Arial"/>
              </a:rPr>
              <a:t>útil </a:t>
            </a:r>
            <a:r>
              <a:rPr sz="1700" spc="-50" dirty="0">
                <a:latin typeface="Arial"/>
                <a:cs typeface="Arial"/>
              </a:rPr>
              <a:t>menor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345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softwares.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4800" y="4329684"/>
            <a:ext cx="3810000" cy="21069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65676" y="4326635"/>
            <a:ext cx="3270504" cy="18722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63461" y="4668011"/>
            <a:ext cx="1107920" cy="12428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41</a:t>
            </a:fld>
            <a:endParaRPr spc="-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42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231140" y="1039113"/>
            <a:ext cx="3561715" cy="1109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20" dirty="0">
                <a:solidFill>
                  <a:srgbClr val="FF0000"/>
                </a:solidFill>
                <a:latin typeface="Trebuchet MS"/>
                <a:cs typeface="Trebuchet MS"/>
              </a:rPr>
              <a:t>Evaluación </a:t>
            </a:r>
            <a:r>
              <a:rPr sz="2000" b="1" spc="-180" dirty="0">
                <a:solidFill>
                  <a:srgbClr val="FF0000"/>
                </a:solidFill>
                <a:latin typeface="Trebuchet MS"/>
                <a:cs typeface="Trebuchet MS"/>
              </a:rPr>
              <a:t>Técnica</a:t>
            </a:r>
            <a:r>
              <a:rPr sz="2000" b="1" spc="-1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b="1" spc="-130" dirty="0">
                <a:solidFill>
                  <a:srgbClr val="FF0000"/>
                </a:solidFill>
                <a:latin typeface="Trebuchet MS"/>
                <a:cs typeface="Trebuchet MS"/>
              </a:rPr>
              <a:t>(Cont.)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AutoNum type="arabicPeriod" startAt="3"/>
              <a:tabLst>
                <a:tab pos="354965" algn="l"/>
                <a:tab pos="355600" algn="l"/>
              </a:tabLst>
            </a:pPr>
            <a:r>
              <a:rPr sz="1700" b="1" i="1" spc="-150" dirty="0">
                <a:latin typeface="Arial"/>
                <a:cs typeface="Arial"/>
              </a:rPr>
              <a:t>Factores </a:t>
            </a:r>
            <a:r>
              <a:rPr sz="1700" b="1" i="1" spc="-130" dirty="0">
                <a:latin typeface="Arial"/>
                <a:cs typeface="Arial"/>
              </a:rPr>
              <a:t>de</a:t>
            </a:r>
            <a:r>
              <a:rPr sz="1700" b="1" i="1" dirty="0">
                <a:latin typeface="Arial"/>
                <a:cs typeface="Arial"/>
              </a:rPr>
              <a:t> </a:t>
            </a:r>
            <a:r>
              <a:rPr sz="1700" b="1" i="1" spc="-125" dirty="0">
                <a:latin typeface="Arial"/>
                <a:cs typeface="Arial"/>
              </a:rPr>
              <a:t>proveedor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Font typeface="Arial"/>
              <a:buChar char="•"/>
              <a:tabLst>
                <a:tab pos="755015" algn="l"/>
                <a:tab pos="755650" algn="l"/>
                <a:tab pos="2172970" algn="l"/>
                <a:tab pos="2593975" algn="l"/>
              </a:tabLst>
            </a:pPr>
            <a:r>
              <a:rPr sz="1700" i="1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Generalidades	</a:t>
            </a:r>
            <a:r>
              <a:rPr sz="17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	</a:t>
            </a:r>
            <a:r>
              <a:rPr sz="17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proveedor</a:t>
            </a:r>
            <a:r>
              <a:rPr sz="1700" spc="-8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24808" y="1864360"/>
            <a:ext cx="4914265" cy="284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7880" algn="l"/>
                <a:tab pos="1196340" algn="l"/>
                <a:tab pos="1513205" algn="l"/>
                <a:tab pos="2443480" algn="l"/>
                <a:tab pos="3061970" algn="l"/>
                <a:tab pos="3930650" algn="l"/>
                <a:tab pos="4187825" algn="l"/>
              </a:tabLst>
            </a:pPr>
            <a:r>
              <a:rPr sz="1700" spc="10" dirty="0">
                <a:latin typeface="Arial"/>
                <a:cs typeface="Arial"/>
              </a:rPr>
              <a:t>i</a:t>
            </a:r>
            <a:r>
              <a:rPr sz="1700" spc="-125" dirty="0">
                <a:latin typeface="Arial"/>
                <a:cs typeface="Arial"/>
              </a:rPr>
              <a:t>ma</a:t>
            </a:r>
            <a:r>
              <a:rPr sz="1700" spc="-114" dirty="0">
                <a:latin typeface="Arial"/>
                <a:cs typeface="Arial"/>
              </a:rPr>
              <a:t>g</a:t>
            </a:r>
            <a:r>
              <a:rPr sz="1700" spc="-100" dirty="0">
                <a:latin typeface="Arial"/>
                <a:cs typeface="Arial"/>
              </a:rPr>
              <a:t>e</a:t>
            </a:r>
            <a:r>
              <a:rPr sz="1700" spc="-55" dirty="0">
                <a:latin typeface="Arial"/>
                <a:cs typeface="Arial"/>
              </a:rPr>
              <a:t>n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0" dirty="0">
                <a:latin typeface="Arial"/>
                <a:cs typeface="Arial"/>
              </a:rPr>
              <a:t>en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0" dirty="0">
                <a:latin typeface="Arial"/>
                <a:cs typeface="Arial"/>
              </a:rPr>
              <a:t>e</a:t>
            </a:r>
            <a:r>
              <a:rPr sz="1700" spc="-30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5" dirty="0">
                <a:latin typeface="Arial"/>
                <a:cs typeface="Arial"/>
              </a:rPr>
              <a:t>mer</a:t>
            </a:r>
            <a:r>
              <a:rPr sz="1700" spc="-145" dirty="0">
                <a:latin typeface="Arial"/>
                <a:cs typeface="Arial"/>
              </a:rPr>
              <a:t>c</a:t>
            </a:r>
            <a:r>
              <a:rPr sz="1700" spc="-95" dirty="0">
                <a:latin typeface="Arial"/>
                <a:cs typeface="Arial"/>
              </a:rPr>
              <a:t>ad</a:t>
            </a:r>
            <a:r>
              <a:rPr sz="1700" spc="-50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5" dirty="0">
                <a:latin typeface="Arial"/>
                <a:cs typeface="Arial"/>
              </a:rPr>
              <a:t>lo</a:t>
            </a:r>
            <a:r>
              <a:rPr sz="1700" spc="-75" dirty="0">
                <a:latin typeface="Arial"/>
                <a:cs typeface="Arial"/>
              </a:rPr>
              <a:t>c</a:t>
            </a:r>
            <a:r>
              <a:rPr sz="1700" spc="-65" dirty="0">
                <a:latin typeface="Arial"/>
                <a:cs typeface="Arial"/>
              </a:rPr>
              <a:t>al</a:t>
            </a:r>
            <a:r>
              <a:rPr sz="1700" spc="-50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r</a:t>
            </a:r>
            <a:r>
              <a:rPr sz="1700" spc="-70" dirty="0">
                <a:latin typeface="Arial"/>
                <a:cs typeface="Arial"/>
              </a:rPr>
              <a:t>egional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85" dirty="0">
                <a:latin typeface="Arial"/>
                <a:cs typeface="Arial"/>
              </a:rPr>
              <a:t>y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0" dirty="0">
                <a:latin typeface="Arial"/>
                <a:cs typeface="Arial"/>
              </a:rPr>
              <a:t>mund</a:t>
            </a:r>
            <a:r>
              <a:rPr sz="1700" spc="-35" dirty="0">
                <a:latin typeface="Arial"/>
                <a:cs typeface="Arial"/>
              </a:rPr>
              <a:t>i</a:t>
            </a:r>
            <a:r>
              <a:rPr sz="1700" spc="-65" dirty="0">
                <a:latin typeface="Arial"/>
                <a:cs typeface="Arial"/>
              </a:rPr>
              <a:t>al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340" y="2123439"/>
            <a:ext cx="8150225" cy="339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sz="1700" spc="-65" dirty="0">
                <a:latin typeface="Arial"/>
                <a:cs typeface="Arial"/>
              </a:rPr>
              <a:t>(profesionalismo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5" dirty="0">
                <a:latin typeface="Arial"/>
                <a:cs typeface="Arial"/>
              </a:rPr>
              <a:t>preparación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0" dirty="0">
                <a:latin typeface="Arial"/>
                <a:cs typeface="Arial"/>
              </a:rPr>
              <a:t>vendedores, </a:t>
            </a:r>
            <a:r>
              <a:rPr sz="1700" spc="-120" dirty="0">
                <a:latin typeface="Arial"/>
                <a:cs typeface="Arial"/>
              </a:rPr>
              <a:t>su </a:t>
            </a:r>
            <a:r>
              <a:rPr sz="1700" spc="-60" dirty="0">
                <a:latin typeface="Arial"/>
                <a:cs typeface="Arial"/>
              </a:rPr>
              <a:t>situación </a:t>
            </a:r>
            <a:r>
              <a:rPr sz="1700" spc="-80" dirty="0">
                <a:latin typeface="Arial"/>
                <a:cs typeface="Arial"/>
              </a:rPr>
              <a:t>económica </a:t>
            </a:r>
            <a:r>
              <a:rPr sz="1700" spc="-85" dirty="0">
                <a:latin typeface="Arial"/>
                <a:cs typeface="Arial"/>
              </a:rPr>
              <a:t>y</a:t>
            </a:r>
            <a:r>
              <a:rPr sz="1700" spc="140" dirty="0">
                <a:latin typeface="Arial"/>
                <a:cs typeface="Arial"/>
              </a:rPr>
              <a:t> </a:t>
            </a:r>
            <a:r>
              <a:rPr sz="1700" spc="-60" dirty="0">
                <a:latin typeface="Arial"/>
                <a:cs typeface="Arial"/>
              </a:rPr>
              <a:t>financiera,</a:t>
            </a:r>
            <a:endParaRPr sz="17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</a:pPr>
            <a:r>
              <a:rPr sz="1700" spc="-70" dirty="0">
                <a:latin typeface="Arial"/>
                <a:cs typeface="Arial"/>
              </a:rPr>
              <a:t>calidad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documentación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90" dirty="0">
                <a:latin typeface="Arial"/>
                <a:cs typeface="Arial"/>
              </a:rPr>
              <a:t>manuales</a:t>
            </a:r>
            <a:r>
              <a:rPr sz="1700" spc="-15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disponibles).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8450" algn="l"/>
              </a:tabLst>
            </a:pPr>
            <a:r>
              <a:rPr sz="1700" i="1" u="heavy" spc="-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Apoyo </a:t>
            </a:r>
            <a:r>
              <a:rPr sz="1700" i="1" u="heavy" spc="-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 </a:t>
            </a:r>
            <a:r>
              <a:rPr sz="17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la </a:t>
            </a: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capacitación</a:t>
            </a:r>
            <a:r>
              <a:rPr sz="1700" spc="-75" dirty="0">
                <a:latin typeface="Arial"/>
                <a:cs typeface="Arial"/>
              </a:rPr>
              <a:t>: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75" dirty="0">
                <a:latin typeface="Arial"/>
                <a:cs typeface="Arial"/>
              </a:rPr>
              <a:t>personal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110" dirty="0">
                <a:latin typeface="Arial"/>
                <a:cs typeface="Arial"/>
              </a:rPr>
              <a:t>áreas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investigación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55" dirty="0">
                <a:latin typeface="Arial"/>
                <a:cs typeface="Arial"/>
              </a:rPr>
              <a:t>soporte </a:t>
            </a:r>
            <a:r>
              <a:rPr sz="1700" spc="-60" dirty="0">
                <a:latin typeface="Arial"/>
                <a:cs typeface="Arial"/>
              </a:rPr>
              <a:t>técnico, </a:t>
            </a:r>
            <a:r>
              <a:rPr sz="1700" spc="-65" dirty="0">
                <a:latin typeface="Arial"/>
                <a:cs typeface="Arial"/>
              </a:rPr>
              <a:t>al  </a:t>
            </a:r>
            <a:r>
              <a:rPr sz="1700" spc="-95" dirty="0">
                <a:latin typeface="Arial"/>
                <a:cs typeface="Arial"/>
              </a:rPr>
              <a:t>área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85" dirty="0">
                <a:latin typeface="Arial"/>
                <a:cs typeface="Arial"/>
              </a:rPr>
              <a:t>análisis y </a:t>
            </a:r>
            <a:r>
              <a:rPr sz="1700" spc="-70" dirty="0">
                <a:latin typeface="Arial"/>
                <a:cs typeface="Arial"/>
              </a:rPr>
              <a:t>programación,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0" dirty="0">
                <a:latin typeface="Arial"/>
                <a:cs typeface="Arial"/>
              </a:rPr>
              <a:t>operadores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85" dirty="0">
                <a:latin typeface="Arial"/>
                <a:cs typeface="Arial"/>
              </a:rPr>
              <a:t>usuarios</a:t>
            </a:r>
            <a:r>
              <a:rPr sz="1700" spc="-60" dirty="0">
                <a:latin typeface="Arial"/>
                <a:cs typeface="Arial"/>
              </a:rPr>
              <a:t> finales.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Mantenimiento </a:t>
            </a:r>
            <a:r>
              <a:rPr sz="1700" i="1" u="heavy" spc="-114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del </a:t>
            </a: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hardware </a:t>
            </a:r>
            <a:r>
              <a:rPr sz="17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software</a:t>
            </a:r>
            <a:r>
              <a:rPr sz="1700" spc="-80" dirty="0">
                <a:latin typeface="Arial"/>
                <a:cs typeface="Arial"/>
              </a:rPr>
              <a:t>: </a:t>
            </a:r>
            <a:r>
              <a:rPr sz="1700" spc="-95" dirty="0">
                <a:latin typeface="Arial"/>
                <a:cs typeface="Arial"/>
              </a:rPr>
              <a:t>capacidad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60" dirty="0">
                <a:latin typeface="Arial"/>
                <a:cs typeface="Arial"/>
              </a:rPr>
              <a:t>proveer un </a:t>
            </a:r>
            <a:r>
              <a:rPr sz="1700" spc="-65" dirty="0">
                <a:latin typeface="Arial"/>
                <a:cs typeface="Arial"/>
              </a:rPr>
              <a:t>servicio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55" dirty="0">
                <a:latin typeface="Arial"/>
                <a:cs typeface="Arial"/>
              </a:rPr>
              <a:t>soporte  </a:t>
            </a:r>
            <a:r>
              <a:rPr sz="1700" spc="-90" dirty="0">
                <a:latin typeface="Arial"/>
                <a:cs typeface="Arial"/>
              </a:rPr>
              <a:t>adecuado, para </a:t>
            </a:r>
            <a:r>
              <a:rPr sz="1700" spc="-95" dirty="0">
                <a:latin typeface="Arial"/>
                <a:cs typeface="Arial"/>
              </a:rPr>
              <a:t>asegurar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0" dirty="0">
                <a:latin typeface="Arial"/>
                <a:cs typeface="Arial"/>
              </a:rPr>
              <a:t>funcionamiento </a:t>
            </a:r>
            <a:r>
              <a:rPr sz="1700" spc="-40" dirty="0">
                <a:latin typeface="Arial"/>
                <a:cs typeface="Arial"/>
              </a:rPr>
              <a:t>continuo </a:t>
            </a:r>
            <a:r>
              <a:rPr sz="1700" spc="-105" dirty="0">
                <a:latin typeface="Arial"/>
                <a:cs typeface="Arial"/>
              </a:rPr>
              <a:t>e </a:t>
            </a:r>
            <a:r>
              <a:rPr sz="1700" spc="-30" dirty="0">
                <a:latin typeface="Arial"/>
                <a:cs typeface="Arial"/>
              </a:rPr>
              <a:t>ininterrumpido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solución.  </a:t>
            </a:r>
            <a:r>
              <a:rPr sz="1700" spc="-95" dirty="0">
                <a:latin typeface="Arial"/>
                <a:cs typeface="Arial"/>
              </a:rPr>
              <a:t>(Calidad</a:t>
            </a:r>
            <a:r>
              <a:rPr sz="1700" spc="28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0" dirty="0">
                <a:latin typeface="Arial"/>
                <a:cs typeface="Arial"/>
              </a:rPr>
              <a:t>cantidad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personal capacitado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85" dirty="0">
                <a:latin typeface="Arial"/>
                <a:cs typeface="Arial"/>
              </a:rPr>
              <a:t>asistencia, </a:t>
            </a:r>
            <a:r>
              <a:rPr sz="1700" spc="-25" dirty="0">
                <a:latin typeface="Arial"/>
                <a:cs typeface="Arial"/>
              </a:rPr>
              <a:t>tiempo </a:t>
            </a:r>
            <a:r>
              <a:rPr sz="1700" spc="-50" dirty="0">
                <a:latin typeface="Arial"/>
                <a:cs typeface="Arial"/>
              </a:rPr>
              <a:t>promedio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55" dirty="0">
                <a:latin typeface="Arial"/>
                <a:cs typeface="Arial"/>
              </a:rPr>
              <a:t>atender </a:t>
            </a:r>
            <a:r>
              <a:rPr sz="1700" spc="-70" dirty="0">
                <a:latin typeface="Arial"/>
                <a:cs typeface="Arial"/>
              </a:rPr>
              <a:t>fallas, </a:t>
            </a:r>
            <a:r>
              <a:rPr sz="1700" spc="-30" dirty="0">
                <a:latin typeface="Arial"/>
                <a:cs typeface="Arial"/>
              </a:rPr>
              <a:t>tiempo </a:t>
            </a:r>
            <a:r>
              <a:rPr sz="1700" spc="-50" dirty="0">
                <a:latin typeface="Arial"/>
                <a:cs typeface="Arial"/>
              </a:rPr>
              <a:t>promedio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80" dirty="0">
                <a:latin typeface="Arial"/>
                <a:cs typeface="Arial"/>
              </a:rPr>
              <a:t>sin </a:t>
            </a:r>
            <a:r>
              <a:rPr sz="1700" spc="-60" dirty="0">
                <a:latin typeface="Arial"/>
                <a:cs typeface="Arial"/>
              </a:rPr>
              <a:t>fallar, </a:t>
            </a:r>
            <a:r>
              <a:rPr sz="1700" spc="-100" dirty="0">
                <a:latin typeface="Arial"/>
                <a:cs typeface="Arial"/>
              </a:rPr>
              <a:t>cercanía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0" dirty="0">
                <a:latin typeface="Arial"/>
                <a:cs typeface="Arial"/>
              </a:rPr>
              <a:t>depósitos 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repuestos,</a:t>
            </a:r>
            <a:r>
              <a:rPr sz="1700" spc="-10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etc.).</a:t>
            </a:r>
            <a:endParaRPr sz="17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700" i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Equipos </a:t>
            </a:r>
            <a:r>
              <a:rPr sz="1700" i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700" i="1" u="heavy" spc="-7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respaldo</a:t>
            </a:r>
            <a:r>
              <a:rPr sz="1700" spc="-75" dirty="0">
                <a:latin typeface="Arial"/>
                <a:cs typeface="Arial"/>
              </a:rPr>
              <a:t>: </a:t>
            </a:r>
            <a:r>
              <a:rPr sz="1700" spc="-60" dirty="0">
                <a:latin typeface="Arial"/>
                <a:cs typeface="Arial"/>
              </a:rPr>
              <a:t>ante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eventual </a:t>
            </a:r>
            <a:r>
              <a:rPr sz="1700" spc="-50" dirty="0">
                <a:latin typeface="Arial"/>
                <a:cs typeface="Arial"/>
              </a:rPr>
              <a:t>falla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25" dirty="0">
                <a:latin typeface="Arial"/>
                <a:cs typeface="Arial"/>
              </a:rPr>
              <a:t>tiempo </a:t>
            </a:r>
            <a:r>
              <a:rPr sz="1700" spc="-65" dirty="0">
                <a:latin typeface="Arial"/>
                <a:cs typeface="Arial"/>
              </a:rPr>
              <a:t>prolongado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60" dirty="0">
                <a:latin typeface="Arial"/>
                <a:cs typeface="Arial"/>
              </a:rPr>
              <a:t>equipo, </a:t>
            </a:r>
            <a:r>
              <a:rPr sz="1700" spc="-80" dirty="0">
                <a:latin typeface="Arial"/>
                <a:cs typeface="Arial"/>
              </a:rPr>
              <a:t>debe  </a:t>
            </a:r>
            <a:r>
              <a:rPr sz="1700" spc="-70" dirty="0">
                <a:latin typeface="Arial"/>
                <a:cs typeface="Arial"/>
              </a:rPr>
              <a:t>tenerse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0" dirty="0">
                <a:latin typeface="Arial"/>
                <a:cs typeface="Arial"/>
              </a:rPr>
              <a:t>cuenta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95" dirty="0">
                <a:latin typeface="Arial"/>
                <a:cs typeface="Arial"/>
              </a:rPr>
              <a:t>capacidad</a:t>
            </a:r>
            <a:r>
              <a:rPr sz="1700" spc="28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proporcionar </a:t>
            </a:r>
            <a:r>
              <a:rPr sz="1700" spc="-60" dirty="0">
                <a:latin typeface="Arial"/>
                <a:cs typeface="Arial"/>
              </a:rPr>
              <a:t>uno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similares  </a:t>
            </a:r>
            <a:r>
              <a:rPr sz="1700" spc="-80" dirty="0">
                <a:latin typeface="Arial"/>
                <a:cs typeface="Arial"/>
              </a:rPr>
              <a:t>características </a:t>
            </a:r>
            <a:r>
              <a:rPr sz="1700" spc="-90" dirty="0">
                <a:latin typeface="Arial"/>
                <a:cs typeface="Arial"/>
              </a:rPr>
              <a:t>para </a:t>
            </a:r>
            <a:r>
              <a:rPr sz="1700" spc="-55" dirty="0">
                <a:latin typeface="Arial"/>
                <a:cs typeface="Arial"/>
              </a:rPr>
              <a:t>no </a:t>
            </a:r>
            <a:r>
              <a:rPr sz="1700" spc="-50" dirty="0">
                <a:latin typeface="Arial"/>
                <a:cs typeface="Arial"/>
              </a:rPr>
              <a:t>detener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25" dirty="0">
                <a:latin typeface="Arial"/>
                <a:cs typeface="Arial"/>
              </a:rPr>
              <a:t>todo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45" dirty="0">
                <a:latin typeface="Arial"/>
                <a:cs typeface="Arial"/>
              </a:rPr>
              <a:t>función </a:t>
            </a:r>
            <a:r>
              <a:rPr sz="1700" spc="-55" dirty="0">
                <a:latin typeface="Arial"/>
                <a:cs typeface="Arial"/>
              </a:rPr>
              <a:t>del equipo </a:t>
            </a:r>
            <a:r>
              <a:rPr sz="1700" spc="-85" dirty="0">
                <a:latin typeface="Arial"/>
                <a:cs typeface="Arial"/>
              </a:rPr>
              <a:t>dañado (Cantidad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70" dirty="0">
                <a:latin typeface="Arial"/>
                <a:cs typeface="Arial"/>
              </a:rPr>
              <a:t>equipos </a:t>
            </a:r>
            <a:r>
              <a:rPr sz="1700" spc="-75" dirty="0">
                <a:latin typeface="Arial"/>
                <a:cs typeface="Arial"/>
              </a:rPr>
              <a:t>existentes, </a:t>
            </a:r>
            <a:r>
              <a:rPr sz="1700" spc="-55" dirty="0">
                <a:latin typeface="Arial"/>
                <a:cs typeface="Arial"/>
              </a:rPr>
              <a:t>facilidad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0" dirty="0">
                <a:latin typeface="Arial"/>
                <a:cs typeface="Arial"/>
              </a:rPr>
              <a:t>traslado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21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mismos).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4" name="object 4"/>
          <p:cNvSpPr/>
          <p:nvPr/>
        </p:nvSpPr>
        <p:spPr>
          <a:xfrm>
            <a:off x="423672" y="126873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0886" y="10066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6258" y="500126"/>
            <a:ext cx="8550275" cy="5703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50">
              <a:latin typeface="Times New Roman"/>
              <a:cs typeface="Times New Roman"/>
            </a:endParaRPr>
          </a:p>
          <a:p>
            <a:pPr marL="69850">
              <a:lnSpc>
                <a:spcPct val="100000"/>
              </a:lnSpc>
              <a:spcBef>
                <a:spcPts val="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  <a:p>
            <a:pPr marL="529590" marR="6522720" indent="-294640">
              <a:lnSpc>
                <a:spcPct val="100000"/>
              </a:lnSpc>
              <a:spcBef>
                <a:spcPts val="275"/>
              </a:spcBef>
            </a:pP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Evaluación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5" dirty="0">
                <a:solidFill>
                  <a:srgbClr val="FFFFFF"/>
                </a:solidFill>
                <a:latin typeface="Trebuchet MS"/>
                <a:cs typeface="Trebuchet MS"/>
              </a:rPr>
              <a:t>financiera  </a:t>
            </a:r>
            <a:r>
              <a:rPr sz="1600" b="1" spc="-95" dirty="0">
                <a:solidFill>
                  <a:srgbClr val="FFFFFF"/>
                </a:solidFill>
                <a:latin typeface="Trebuchet MS"/>
                <a:cs typeface="Trebuchet MS"/>
              </a:rPr>
              <a:t>de</a:t>
            </a:r>
            <a:r>
              <a:rPr sz="16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propuestas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700" b="1" i="1" spc="-85" dirty="0">
                <a:latin typeface="Arial"/>
                <a:cs typeface="Arial"/>
              </a:rPr>
              <a:t>3 </a:t>
            </a:r>
            <a:r>
              <a:rPr sz="1700" b="1" i="1" spc="-125" dirty="0">
                <a:latin typeface="Arial"/>
                <a:cs typeface="Arial"/>
              </a:rPr>
              <a:t>modalidades </a:t>
            </a:r>
            <a:r>
              <a:rPr sz="1700" b="1" i="1" spc="-50" dirty="0">
                <a:latin typeface="Arial"/>
                <a:cs typeface="Arial"/>
              </a:rPr>
              <a:t>a</a:t>
            </a:r>
            <a:r>
              <a:rPr sz="1700" b="1" i="1" spc="-15" dirty="0">
                <a:latin typeface="Arial"/>
                <a:cs typeface="Arial"/>
              </a:rPr>
              <a:t> </a:t>
            </a:r>
            <a:r>
              <a:rPr sz="1700" b="1" i="1" spc="-135" dirty="0">
                <a:latin typeface="Arial"/>
                <a:cs typeface="Arial"/>
              </a:rPr>
              <a:t>considerar:</a:t>
            </a:r>
            <a:endParaRPr sz="1700">
              <a:latin typeface="Arial"/>
              <a:cs typeface="Arial"/>
            </a:endParaRPr>
          </a:p>
          <a:p>
            <a:pPr marL="835660" marR="5715" indent="-342900">
              <a:lnSpc>
                <a:spcPct val="100000"/>
              </a:lnSpc>
              <a:buAutoNum type="arabicPeriod"/>
              <a:tabLst>
                <a:tab pos="835660" algn="l"/>
                <a:tab pos="836294" algn="l"/>
              </a:tabLst>
            </a:pPr>
            <a:r>
              <a:rPr sz="17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Renta</a:t>
            </a:r>
            <a:r>
              <a:rPr sz="1700" spc="-90" dirty="0">
                <a:latin typeface="Arial"/>
                <a:cs typeface="Arial"/>
              </a:rPr>
              <a:t>: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70" dirty="0">
                <a:latin typeface="Arial"/>
                <a:cs typeface="Arial"/>
              </a:rPr>
              <a:t>usuario </a:t>
            </a:r>
            <a:r>
              <a:rPr sz="1700" spc="-45" dirty="0">
                <a:latin typeface="Arial"/>
                <a:cs typeface="Arial"/>
              </a:rPr>
              <a:t>toma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40" dirty="0">
                <a:latin typeface="Arial"/>
                <a:cs typeface="Arial"/>
              </a:rPr>
              <a:t>alquiler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45" dirty="0">
                <a:latin typeface="Arial"/>
                <a:cs typeface="Arial"/>
              </a:rPr>
              <a:t>periodo </a:t>
            </a:r>
            <a:r>
              <a:rPr sz="1700" spc="-55" dirty="0">
                <a:latin typeface="Arial"/>
                <a:cs typeface="Arial"/>
              </a:rPr>
              <a:t>estipulado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25" dirty="0">
                <a:latin typeface="Arial"/>
                <a:cs typeface="Arial"/>
              </a:rPr>
              <a:t>tiempo;  </a:t>
            </a:r>
            <a:r>
              <a:rPr sz="1700" spc="-45" dirty="0">
                <a:latin typeface="Arial"/>
                <a:cs typeface="Arial"/>
              </a:rPr>
              <a:t>transcurrido el </a:t>
            </a:r>
            <a:r>
              <a:rPr sz="1700" spc="-70" dirty="0">
                <a:latin typeface="Arial"/>
                <a:cs typeface="Arial"/>
              </a:rPr>
              <a:t>mismo </a:t>
            </a:r>
            <a:r>
              <a:rPr sz="1700" spc="-30" dirty="0">
                <a:latin typeface="Arial"/>
                <a:cs typeface="Arial"/>
              </a:rPr>
              <a:t>tiene </a:t>
            </a:r>
            <a:r>
              <a:rPr sz="1700" spc="-50" dirty="0">
                <a:latin typeface="Arial"/>
                <a:cs typeface="Arial"/>
              </a:rPr>
              <a:t>tres</a:t>
            </a:r>
            <a:r>
              <a:rPr sz="1700" spc="-23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opciones: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10" dirty="0">
                <a:latin typeface="Arial"/>
                <a:cs typeface="Arial"/>
              </a:rPr>
              <a:t>Cancelar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40" dirty="0">
                <a:latin typeface="Arial"/>
                <a:cs typeface="Arial"/>
              </a:rPr>
              <a:t>contrato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5" dirty="0">
                <a:latin typeface="Arial"/>
                <a:cs typeface="Arial"/>
              </a:rPr>
              <a:t>devolver </a:t>
            </a:r>
            <a:r>
              <a:rPr sz="1700" spc="-45" dirty="0">
                <a:latin typeface="Arial"/>
                <a:cs typeface="Arial"/>
              </a:rPr>
              <a:t>el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equipo.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10" dirty="0">
                <a:latin typeface="Arial"/>
                <a:cs typeface="Arial"/>
              </a:rPr>
              <a:t>Renovar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40" dirty="0">
                <a:latin typeface="Arial"/>
                <a:cs typeface="Arial"/>
              </a:rPr>
              <a:t>contrato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90" dirty="0">
                <a:latin typeface="Arial"/>
                <a:cs typeface="Arial"/>
              </a:rPr>
              <a:t>quedarse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equipo, </a:t>
            </a:r>
            <a:r>
              <a:rPr sz="1700" spc="-20" dirty="0">
                <a:latin typeface="Arial"/>
                <a:cs typeface="Arial"/>
              </a:rPr>
              <a:t>tal </a:t>
            </a:r>
            <a:r>
              <a:rPr sz="1700" spc="-135" dirty="0">
                <a:latin typeface="Arial"/>
                <a:cs typeface="Arial"/>
              </a:rPr>
              <a:t>vez </a:t>
            </a:r>
            <a:r>
              <a:rPr sz="1700" spc="-45" dirty="0">
                <a:latin typeface="Arial"/>
                <a:cs typeface="Arial"/>
              </a:rPr>
              <a:t>obteniendo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descuentos.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85" dirty="0">
                <a:latin typeface="Arial"/>
                <a:cs typeface="Arial"/>
              </a:rPr>
              <a:t>Ejercer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opción </a:t>
            </a:r>
            <a:r>
              <a:rPr sz="1700" spc="-80" dirty="0">
                <a:latin typeface="Arial"/>
                <a:cs typeface="Arial"/>
              </a:rPr>
              <a:t>de compra </a:t>
            </a:r>
            <a:r>
              <a:rPr sz="1700" spc="-50" dirty="0">
                <a:latin typeface="Arial"/>
                <a:cs typeface="Arial"/>
              </a:rPr>
              <a:t>del</a:t>
            </a:r>
            <a:r>
              <a:rPr sz="1700" spc="-15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equipo.</a:t>
            </a:r>
            <a:endParaRPr sz="1700">
              <a:latin typeface="Arial"/>
              <a:cs typeface="Arial"/>
            </a:endParaRPr>
          </a:p>
          <a:p>
            <a:pPr marL="778510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778510" algn="l"/>
                <a:tab pos="779145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10" dirty="0">
                <a:latin typeface="Arial"/>
                <a:cs typeface="Arial"/>
              </a:rPr>
              <a:t>ventajas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renta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95" dirty="0">
                <a:latin typeface="Arial"/>
                <a:cs typeface="Arial"/>
              </a:rPr>
              <a:t>No </a:t>
            </a:r>
            <a:r>
              <a:rPr sz="1700" spc="-105" dirty="0">
                <a:latin typeface="Arial"/>
                <a:cs typeface="Arial"/>
              </a:rPr>
              <a:t>hay </a:t>
            </a:r>
            <a:r>
              <a:rPr sz="1700" spc="-65" dirty="0">
                <a:latin typeface="Arial"/>
                <a:cs typeface="Arial"/>
              </a:rPr>
              <a:t>inversión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inicial.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5" dirty="0">
                <a:latin typeface="Arial"/>
                <a:cs typeface="Arial"/>
              </a:rPr>
              <a:t>responsable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0" dirty="0">
                <a:latin typeface="Arial"/>
                <a:cs typeface="Arial"/>
              </a:rPr>
              <a:t>correcto</a:t>
            </a:r>
            <a:r>
              <a:rPr sz="1700" spc="-14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funcionamiento.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50" dirty="0">
                <a:latin typeface="Arial"/>
                <a:cs typeface="Arial"/>
              </a:rPr>
              <a:t>Aporta </a:t>
            </a:r>
            <a:r>
              <a:rPr sz="1700" spc="-75" dirty="0">
                <a:latin typeface="Arial"/>
                <a:cs typeface="Arial"/>
              </a:rPr>
              <a:t>mayor </a:t>
            </a:r>
            <a:r>
              <a:rPr sz="1700" spc="-40" dirty="0">
                <a:latin typeface="Arial"/>
                <a:cs typeface="Arial"/>
              </a:rPr>
              <a:t>flexibilidad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90" dirty="0">
                <a:latin typeface="Arial"/>
                <a:cs typeface="Arial"/>
              </a:rPr>
              <a:t>si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85" dirty="0">
                <a:latin typeface="Arial"/>
                <a:cs typeface="Arial"/>
              </a:rPr>
              <a:t>necesario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5" dirty="0">
                <a:latin typeface="Arial"/>
                <a:cs typeface="Arial"/>
              </a:rPr>
              <a:t>cambio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30" dirty="0">
                <a:latin typeface="Arial"/>
                <a:cs typeface="Arial"/>
              </a:rPr>
              <a:t>corto</a:t>
            </a:r>
            <a:r>
              <a:rPr sz="1700" spc="-25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plazo.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00" dirty="0">
                <a:latin typeface="Arial"/>
                <a:cs typeface="Arial"/>
              </a:rPr>
              <a:t>Evita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95" dirty="0">
                <a:latin typeface="Arial"/>
                <a:cs typeface="Arial"/>
              </a:rPr>
              <a:t>obsolescencia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130" dirty="0">
                <a:latin typeface="Arial"/>
                <a:cs typeface="Arial"/>
              </a:rPr>
              <a:t>más </a:t>
            </a:r>
            <a:r>
              <a:rPr sz="1700" spc="-50" dirty="0">
                <a:latin typeface="Arial"/>
                <a:cs typeface="Arial"/>
              </a:rPr>
              <a:t>fácil </a:t>
            </a:r>
            <a:r>
              <a:rPr sz="1700" spc="-80" dirty="0">
                <a:latin typeface="Arial"/>
                <a:cs typeface="Arial"/>
              </a:rPr>
              <a:t>hacer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5" dirty="0">
                <a:latin typeface="Arial"/>
                <a:cs typeface="Arial"/>
              </a:rPr>
              <a:t>cambio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0" dirty="0">
                <a:latin typeface="Arial"/>
                <a:cs typeface="Arial"/>
              </a:rPr>
              <a:t>equipo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posterior.</a:t>
            </a:r>
            <a:endParaRPr sz="1700">
              <a:latin typeface="Arial"/>
              <a:cs typeface="Arial"/>
            </a:endParaRPr>
          </a:p>
          <a:p>
            <a:pPr marL="1235710" marR="508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55" dirty="0">
                <a:latin typeface="Arial"/>
                <a:cs typeface="Arial"/>
              </a:rPr>
              <a:t>A </a:t>
            </a:r>
            <a:r>
              <a:rPr sz="1700" spc="-50" dirty="0">
                <a:latin typeface="Arial"/>
                <a:cs typeface="Arial"/>
              </a:rPr>
              <a:t>nivel </a:t>
            </a:r>
            <a:r>
              <a:rPr sz="1700" spc="-60" dirty="0">
                <a:latin typeface="Arial"/>
                <a:cs typeface="Arial"/>
              </a:rPr>
              <a:t>contable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renta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75" dirty="0">
                <a:latin typeface="Arial"/>
                <a:cs typeface="Arial"/>
              </a:rPr>
              <a:t>beneficiosa </a:t>
            </a:r>
            <a:r>
              <a:rPr sz="1700" spc="-55" dirty="0">
                <a:latin typeface="Arial"/>
                <a:cs typeface="Arial"/>
              </a:rPr>
              <a:t>porque </a:t>
            </a:r>
            <a:r>
              <a:rPr sz="1700" spc="-120" dirty="0">
                <a:latin typeface="Arial"/>
                <a:cs typeface="Arial"/>
              </a:rPr>
              <a:t>mes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14" dirty="0">
                <a:latin typeface="Arial"/>
                <a:cs typeface="Arial"/>
              </a:rPr>
              <a:t>mes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90" dirty="0">
                <a:latin typeface="Arial"/>
                <a:cs typeface="Arial"/>
              </a:rPr>
              <a:t>descuenta </a:t>
            </a:r>
            <a:r>
              <a:rPr sz="1700" spc="-55" dirty="0">
                <a:latin typeface="Arial"/>
                <a:cs typeface="Arial"/>
              </a:rPr>
              <a:t>del </a:t>
            </a:r>
            <a:r>
              <a:rPr sz="1700" spc="-105" dirty="0">
                <a:latin typeface="Arial"/>
                <a:cs typeface="Arial"/>
              </a:rPr>
              <a:t>pago  </a:t>
            </a:r>
            <a:r>
              <a:rPr sz="1700" spc="-80" dirty="0">
                <a:latin typeface="Arial"/>
                <a:cs typeface="Arial"/>
              </a:rPr>
              <a:t>de</a:t>
            </a:r>
            <a:r>
              <a:rPr sz="1700" spc="-95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impuestos.</a:t>
            </a:r>
            <a:endParaRPr sz="1700">
              <a:latin typeface="Arial"/>
              <a:cs typeface="Arial"/>
            </a:endParaRPr>
          </a:p>
          <a:p>
            <a:pPr marL="778510" indent="-285750">
              <a:lnSpc>
                <a:spcPct val="100000"/>
              </a:lnSpc>
              <a:buChar char="•"/>
              <a:tabLst>
                <a:tab pos="778510" algn="l"/>
                <a:tab pos="779145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30" dirty="0">
                <a:latin typeface="Arial"/>
                <a:cs typeface="Arial"/>
              </a:rPr>
              <a:t>desventajas</a:t>
            </a:r>
            <a:r>
              <a:rPr sz="1700" b="1" i="1" spc="-24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250" dirty="0">
                <a:latin typeface="Arial"/>
                <a:cs typeface="Arial"/>
              </a:rPr>
              <a:t>Es </a:t>
            </a:r>
            <a:r>
              <a:rPr sz="1700" spc="-130" dirty="0">
                <a:latin typeface="Arial"/>
                <a:cs typeface="Arial"/>
              </a:rPr>
              <a:t>más </a:t>
            </a:r>
            <a:r>
              <a:rPr sz="1700" spc="-105" dirty="0">
                <a:latin typeface="Arial"/>
                <a:cs typeface="Arial"/>
              </a:rPr>
              <a:t>costosa </a:t>
            </a:r>
            <a:r>
              <a:rPr sz="1700" spc="-90" dirty="0">
                <a:latin typeface="Arial"/>
                <a:cs typeface="Arial"/>
              </a:rPr>
              <a:t>si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0" dirty="0">
                <a:latin typeface="Arial"/>
                <a:cs typeface="Arial"/>
              </a:rPr>
              <a:t>equipo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60" dirty="0">
                <a:latin typeface="Arial"/>
                <a:cs typeface="Arial"/>
              </a:rPr>
              <a:t>mantendrá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0" dirty="0">
                <a:latin typeface="Arial"/>
                <a:cs typeface="Arial"/>
              </a:rPr>
              <a:t>largo</a:t>
            </a:r>
            <a:r>
              <a:rPr sz="1700" spc="-250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plazo.</a:t>
            </a:r>
            <a:endParaRPr sz="1700">
              <a:latin typeface="Arial"/>
              <a:cs typeface="Arial"/>
            </a:endParaRPr>
          </a:p>
          <a:p>
            <a:pPr marL="1235710" lvl="1" indent="-285750">
              <a:lnSpc>
                <a:spcPct val="100000"/>
              </a:lnSpc>
              <a:buChar char="•"/>
              <a:tabLst>
                <a:tab pos="1235710" algn="l"/>
                <a:tab pos="1236345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spc="-70" dirty="0">
                <a:latin typeface="Arial"/>
                <a:cs typeface="Arial"/>
              </a:rPr>
              <a:t>rentas </a:t>
            </a:r>
            <a:r>
              <a:rPr sz="1700" spc="-85" dirty="0">
                <a:latin typeface="Arial"/>
                <a:cs typeface="Arial"/>
              </a:rPr>
              <a:t>están sujetas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75" dirty="0">
                <a:latin typeface="Arial"/>
                <a:cs typeface="Arial"/>
              </a:rPr>
              <a:t>aumentos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40" dirty="0">
                <a:latin typeface="Arial"/>
                <a:cs typeface="Arial"/>
              </a:rPr>
              <a:t>parte </a:t>
            </a:r>
            <a:r>
              <a:rPr sz="1700" spc="-55" dirty="0">
                <a:latin typeface="Arial"/>
                <a:cs typeface="Arial"/>
              </a:rPr>
              <a:t>del</a:t>
            </a:r>
            <a:r>
              <a:rPr sz="1700" spc="-35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proveedor.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93129" y="1162050"/>
            <a:ext cx="2855214" cy="10462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43</a:t>
            </a:fld>
            <a:endParaRPr spc="-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114" dirty="0">
                <a:latin typeface="Arial"/>
                <a:cs typeface="Arial"/>
              </a:rPr>
              <a:t>Proceso </a:t>
            </a:r>
            <a:r>
              <a:rPr sz="1800" b="0" spc="-85" dirty="0">
                <a:latin typeface="Arial"/>
                <a:cs typeface="Arial"/>
              </a:rPr>
              <a:t>de </a:t>
            </a:r>
            <a:r>
              <a:rPr sz="1800" b="0" spc="-70" dirty="0">
                <a:latin typeface="Arial"/>
                <a:cs typeface="Arial"/>
              </a:rPr>
              <a:t>adquisición </a:t>
            </a:r>
            <a:r>
              <a:rPr sz="1800" b="0" spc="-90" dirty="0">
                <a:latin typeface="Arial"/>
                <a:cs typeface="Arial"/>
              </a:rPr>
              <a:t>y selección </a:t>
            </a:r>
            <a:r>
              <a:rPr sz="1800" b="0" spc="-85" dirty="0">
                <a:latin typeface="Arial"/>
                <a:cs typeface="Arial"/>
              </a:rPr>
              <a:t>de</a:t>
            </a:r>
            <a:r>
              <a:rPr sz="1800" b="0" spc="-55" dirty="0">
                <a:latin typeface="Arial"/>
                <a:cs typeface="Arial"/>
              </a:rPr>
              <a:t> </a:t>
            </a:r>
            <a:r>
              <a:rPr sz="1800" b="0" spc="-105" dirty="0"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625" y="1086357"/>
            <a:ext cx="5417820" cy="520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sz="1700" b="1" spc="-160" dirty="0">
                <a:latin typeface="Trebuchet MS"/>
                <a:cs typeface="Trebuchet MS"/>
              </a:rPr>
              <a:t>2.	</a:t>
            </a:r>
            <a:r>
              <a:rPr sz="1700" b="1" u="heavy" spc="-9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Compra</a:t>
            </a:r>
            <a:r>
              <a:rPr sz="1700" spc="-90" dirty="0">
                <a:latin typeface="Arial"/>
                <a:cs typeface="Arial"/>
              </a:rPr>
              <a:t>:</a:t>
            </a:r>
            <a:endParaRPr sz="17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10" dirty="0">
                <a:latin typeface="Arial"/>
                <a:cs typeface="Arial"/>
              </a:rPr>
              <a:t>ventajas</a:t>
            </a:r>
            <a:r>
              <a:rPr sz="1700" b="1" i="1" spc="-24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755650" marR="5715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150" dirty="0">
                <a:latin typeface="Arial"/>
                <a:cs typeface="Arial"/>
              </a:rPr>
              <a:t>El </a:t>
            </a:r>
            <a:r>
              <a:rPr sz="1700" spc="-45" dirty="0">
                <a:latin typeface="Arial"/>
                <a:cs typeface="Arial"/>
              </a:rPr>
              <a:t>método </a:t>
            </a:r>
            <a:r>
              <a:rPr sz="1700" spc="-130" dirty="0">
                <a:latin typeface="Arial"/>
                <a:cs typeface="Arial"/>
              </a:rPr>
              <a:t>mas </a:t>
            </a:r>
            <a:r>
              <a:rPr sz="1700" spc="-60" dirty="0">
                <a:latin typeface="Arial"/>
                <a:cs typeface="Arial"/>
              </a:rPr>
              <a:t>barato </a:t>
            </a:r>
            <a:r>
              <a:rPr sz="1700" spc="-90" dirty="0">
                <a:latin typeface="Arial"/>
                <a:cs typeface="Arial"/>
              </a:rPr>
              <a:t>si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55" dirty="0">
                <a:latin typeface="Arial"/>
                <a:cs typeface="Arial"/>
              </a:rPr>
              <a:t>un equipo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55" dirty="0">
                <a:latin typeface="Arial"/>
                <a:cs typeface="Arial"/>
              </a:rPr>
              <a:t>mantener 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70" dirty="0">
                <a:latin typeface="Arial"/>
                <a:cs typeface="Arial"/>
              </a:rPr>
              <a:t>largo</a:t>
            </a:r>
            <a:r>
              <a:rPr sz="1700" spc="-204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plazo.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95" dirty="0">
                <a:latin typeface="Arial"/>
                <a:cs typeface="Arial"/>
              </a:rPr>
              <a:t>No </a:t>
            </a:r>
            <a:r>
              <a:rPr sz="1700" spc="-75" dirty="0">
                <a:latin typeface="Arial"/>
                <a:cs typeface="Arial"/>
              </a:rPr>
              <a:t>existen </a:t>
            </a:r>
            <a:r>
              <a:rPr sz="1700" spc="-65" dirty="0">
                <a:latin typeface="Arial"/>
                <a:cs typeface="Arial"/>
              </a:rPr>
              <a:t>incrementos </a:t>
            </a:r>
            <a:r>
              <a:rPr sz="1700" spc="-80" dirty="0">
                <a:latin typeface="Arial"/>
                <a:cs typeface="Arial"/>
              </a:rPr>
              <a:t>posibles en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spc="-114" dirty="0">
                <a:latin typeface="Arial"/>
                <a:cs typeface="Arial"/>
              </a:rPr>
              <a:t> </a:t>
            </a:r>
            <a:r>
              <a:rPr sz="1700" spc="-110" dirty="0">
                <a:latin typeface="Arial"/>
                <a:cs typeface="Arial"/>
              </a:rPr>
              <a:t>pagos.</a:t>
            </a:r>
            <a:endParaRPr sz="17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  <a:tab pos="1071245" algn="l"/>
                <a:tab pos="1593215" algn="l"/>
                <a:tab pos="2004695" algn="l"/>
                <a:tab pos="2882900" algn="l"/>
                <a:tab pos="3181985" algn="l"/>
                <a:tab pos="3932554" algn="l"/>
                <a:tab pos="4600575" algn="l"/>
                <a:tab pos="4968875" algn="l"/>
              </a:tabLst>
            </a:pPr>
            <a:r>
              <a:rPr sz="1700" spc="-70" dirty="0">
                <a:latin typeface="Arial"/>
                <a:cs typeface="Arial"/>
              </a:rPr>
              <a:t>Al	</a:t>
            </a:r>
            <a:r>
              <a:rPr sz="1700" spc="-35" dirty="0">
                <a:latin typeface="Arial"/>
                <a:cs typeface="Arial"/>
              </a:rPr>
              <a:t>fina</a:t>
            </a:r>
            <a:r>
              <a:rPr sz="1700" spc="-15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5" dirty="0">
                <a:latin typeface="Arial"/>
                <a:cs typeface="Arial"/>
              </a:rPr>
              <a:t>de</a:t>
            </a:r>
            <a:r>
              <a:rPr sz="1700" spc="-25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45" dirty="0">
                <a:latin typeface="Arial"/>
                <a:cs typeface="Arial"/>
              </a:rPr>
              <a:t>period</a:t>
            </a:r>
            <a:r>
              <a:rPr sz="1700" spc="-80" dirty="0">
                <a:latin typeface="Arial"/>
                <a:cs typeface="Arial"/>
              </a:rPr>
              <a:t>o</a:t>
            </a:r>
            <a:r>
              <a:rPr sz="1700" spc="-50" dirty="0">
                <a:latin typeface="Arial"/>
                <a:cs typeface="Arial"/>
              </a:rPr>
              <a:t>,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0" dirty="0">
                <a:latin typeface="Arial"/>
                <a:cs typeface="Arial"/>
              </a:rPr>
              <a:t>e</a:t>
            </a:r>
            <a:r>
              <a:rPr sz="1700" spc="-30" dirty="0">
                <a:latin typeface="Arial"/>
                <a:cs typeface="Arial"/>
              </a:rPr>
              <a:t>l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60" dirty="0">
                <a:latin typeface="Arial"/>
                <a:cs typeface="Arial"/>
              </a:rPr>
              <a:t>equ</a:t>
            </a:r>
            <a:r>
              <a:rPr sz="1700" spc="-35" dirty="0">
                <a:latin typeface="Arial"/>
                <a:cs typeface="Arial"/>
              </a:rPr>
              <a:t>i</a:t>
            </a:r>
            <a:r>
              <a:rPr sz="1700" spc="-60" dirty="0">
                <a:latin typeface="Arial"/>
                <a:cs typeface="Arial"/>
              </a:rPr>
              <a:t>p</a:t>
            </a:r>
            <a:r>
              <a:rPr sz="1700" spc="-55" dirty="0">
                <a:latin typeface="Arial"/>
                <a:cs typeface="Arial"/>
              </a:rPr>
              <a:t>o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5" dirty="0">
                <a:latin typeface="Arial"/>
                <a:cs typeface="Arial"/>
              </a:rPr>
              <a:t>pos</a:t>
            </a:r>
            <a:r>
              <a:rPr sz="1700" spc="-95" dirty="0">
                <a:latin typeface="Arial"/>
                <a:cs typeface="Arial"/>
              </a:rPr>
              <a:t>e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5" dirty="0">
                <a:latin typeface="Arial"/>
                <a:cs typeface="Arial"/>
              </a:rPr>
              <a:t>un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14" dirty="0">
                <a:latin typeface="Arial"/>
                <a:cs typeface="Arial"/>
              </a:rPr>
              <a:t>v</a:t>
            </a:r>
            <a:r>
              <a:rPr sz="1700" spc="-35" dirty="0">
                <a:latin typeface="Arial"/>
                <a:cs typeface="Arial"/>
              </a:rPr>
              <a:t>alor  </a:t>
            </a:r>
            <a:r>
              <a:rPr sz="1700" spc="-65" dirty="0">
                <a:latin typeface="Arial"/>
                <a:cs typeface="Arial"/>
              </a:rPr>
              <a:t>residual.</a:t>
            </a:r>
            <a:endParaRPr sz="17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har char="•"/>
              <a:tabLst>
                <a:tab pos="297815" algn="l"/>
                <a:tab pos="298450" algn="l"/>
              </a:tabLst>
            </a:pPr>
            <a:r>
              <a:rPr sz="1700" spc="-190" dirty="0">
                <a:latin typeface="Arial"/>
                <a:cs typeface="Arial"/>
              </a:rPr>
              <a:t>Las </a:t>
            </a:r>
            <a:r>
              <a:rPr sz="1700" b="1" i="1" spc="-130" dirty="0">
                <a:latin typeface="Arial"/>
                <a:cs typeface="Arial"/>
              </a:rPr>
              <a:t>desventajas</a:t>
            </a:r>
            <a:r>
              <a:rPr sz="1700" b="1" i="1" spc="-24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son:</a:t>
            </a:r>
            <a:endParaRPr sz="1700">
              <a:latin typeface="Arial"/>
              <a:cs typeface="Arial"/>
            </a:endParaRPr>
          </a:p>
          <a:p>
            <a:pPr marL="755650" marR="762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55" dirty="0">
                <a:latin typeface="Arial"/>
                <a:cs typeface="Arial"/>
              </a:rPr>
              <a:t>Mayor probabilidad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55" dirty="0">
                <a:latin typeface="Arial"/>
                <a:cs typeface="Arial"/>
              </a:rPr>
              <a:t>equipo </a:t>
            </a:r>
            <a:r>
              <a:rPr sz="1700" spc="-114" dirty="0">
                <a:latin typeface="Arial"/>
                <a:cs typeface="Arial"/>
              </a:rPr>
              <a:t>caiga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65" dirty="0">
                <a:latin typeface="Arial"/>
                <a:cs typeface="Arial"/>
              </a:rPr>
              <a:t>la  </a:t>
            </a:r>
            <a:r>
              <a:rPr sz="1700" spc="-90" dirty="0">
                <a:latin typeface="Arial"/>
                <a:cs typeface="Arial"/>
              </a:rPr>
              <a:t>obsolescencia.</a:t>
            </a:r>
            <a:endParaRPr sz="1700">
              <a:latin typeface="Arial"/>
              <a:cs typeface="Arial"/>
            </a:endParaRPr>
          </a:p>
          <a:p>
            <a:pPr marL="755650" marR="635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175" dirty="0">
                <a:latin typeface="Arial"/>
                <a:cs typeface="Arial"/>
              </a:rPr>
              <a:t>Si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0" dirty="0">
                <a:latin typeface="Arial"/>
                <a:cs typeface="Arial"/>
              </a:rPr>
              <a:t>solución </a:t>
            </a:r>
            <a:r>
              <a:rPr sz="1700" spc="-55" dirty="0">
                <a:latin typeface="Arial"/>
                <a:cs typeface="Arial"/>
              </a:rPr>
              <a:t>adquirida no </a:t>
            </a:r>
            <a:r>
              <a:rPr sz="1700" spc="-145" dirty="0">
                <a:latin typeface="Arial"/>
                <a:cs typeface="Arial"/>
              </a:rPr>
              <a:t>es</a:t>
            </a:r>
            <a:r>
              <a:rPr sz="1700" spc="18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correcta,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45" dirty="0">
                <a:latin typeface="Arial"/>
                <a:cs typeface="Arial"/>
              </a:rPr>
              <a:t>el  método </a:t>
            </a:r>
            <a:r>
              <a:rPr sz="1700" spc="-130" dirty="0">
                <a:latin typeface="Arial"/>
                <a:cs typeface="Arial"/>
              </a:rPr>
              <a:t>mas</a:t>
            </a:r>
            <a:r>
              <a:rPr sz="1700" spc="-10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caro.</a:t>
            </a:r>
            <a:endParaRPr sz="170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5"/>
              </a:spcBef>
              <a:buChar char="•"/>
              <a:tabLst>
                <a:tab pos="755015" algn="l"/>
                <a:tab pos="755650" algn="l"/>
              </a:tabLst>
            </a:pPr>
            <a:r>
              <a:rPr sz="1700" spc="-114" dirty="0">
                <a:latin typeface="Arial"/>
                <a:cs typeface="Arial"/>
              </a:rPr>
              <a:t>Gran </a:t>
            </a:r>
            <a:r>
              <a:rPr sz="1700" spc="-65" dirty="0">
                <a:latin typeface="Arial"/>
                <a:cs typeface="Arial"/>
              </a:rPr>
              <a:t>inversión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40" dirty="0">
                <a:latin typeface="Arial"/>
                <a:cs typeface="Arial"/>
              </a:rPr>
              <a:t>inicial.</a:t>
            </a:r>
            <a:endParaRPr sz="1700">
              <a:latin typeface="Arial"/>
              <a:cs typeface="Arial"/>
            </a:endParaRPr>
          </a:p>
          <a:p>
            <a:pPr marL="755650" marR="5080" lvl="1" indent="-285750">
              <a:lnSpc>
                <a:spcPct val="100000"/>
              </a:lnSpc>
              <a:buChar char="•"/>
              <a:tabLst>
                <a:tab pos="755015" algn="l"/>
                <a:tab pos="755650" algn="l"/>
              </a:tabLst>
            </a:pPr>
            <a:r>
              <a:rPr sz="1700" spc="-40" dirty="0">
                <a:latin typeface="Arial"/>
                <a:cs typeface="Arial"/>
              </a:rPr>
              <a:t>Incertidumbre </a:t>
            </a:r>
            <a:r>
              <a:rPr sz="1700" spc="-110" dirty="0">
                <a:latin typeface="Arial"/>
                <a:cs typeface="Arial"/>
              </a:rPr>
              <a:t>acerca </a:t>
            </a:r>
            <a:r>
              <a:rPr sz="1700" spc="-55" dirty="0">
                <a:latin typeface="Arial"/>
                <a:cs typeface="Arial"/>
              </a:rPr>
              <a:t>del valor </a:t>
            </a:r>
            <a:r>
              <a:rPr sz="1700" spc="-30" dirty="0">
                <a:latin typeface="Arial"/>
                <a:cs typeface="Arial"/>
              </a:rPr>
              <a:t>final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reventa </a:t>
            </a:r>
            <a:r>
              <a:rPr sz="1700" spc="-55" dirty="0">
                <a:latin typeface="Arial"/>
                <a:cs typeface="Arial"/>
              </a:rPr>
              <a:t>del  </a:t>
            </a:r>
            <a:r>
              <a:rPr sz="1700" spc="-50" dirty="0">
                <a:latin typeface="Arial"/>
                <a:cs typeface="Arial"/>
              </a:rPr>
              <a:t>equipo.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</a:pPr>
            <a:r>
              <a:rPr sz="1700" b="1" spc="-160" dirty="0">
                <a:latin typeface="Trebuchet MS"/>
                <a:cs typeface="Trebuchet MS"/>
              </a:rPr>
              <a:t>3. </a:t>
            </a: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Arrendamiento:</a:t>
            </a:r>
            <a:r>
              <a:rPr sz="1700" b="1" spc="-105" dirty="0">
                <a:latin typeface="Trebuchet MS"/>
                <a:cs typeface="Trebuchet MS"/>
              </a:rPr>
              <a:t>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45" dirty="0">
                <a:latin typeface="Arial"/>
                <a:cs typeface="Arial"/>
              </a:rPr>
              <a:t>tercero </a:t>
            </a:r>
            <a:r>
              <a:rPr sz="1700" spc="-75" dirty="0">
                <a:latin typeface="Arial"/>
                <a:cs typeface="Arial"/>
              </a:rPr>
              <a:t>compra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equipo,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80" dirty="0">
                <a:latin typeface="Arial"/>
                <a:cs typeface="Arial"/>
              </a:rPr>
              <a:t>cual</a:t>
            </a:r>
            <a:r>
              <a:rPr sz="1700" spc="-210" dirty="0">
                <a:latin typeface="Arial"/>
                <a:cs typeface="Arial"/>
              </a:rPr>
              <a:t> </a:t>
            </a:r>
            <a:r>
              <a:rPr sz="1700" spc="-95" dirty="0">
                <a:latin typeface="Arial"/>
                <a:cs typeface="Arial"/>
              </a:rPr>
              <a:t>está 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20" dirty="0">
                <a:latin typeface="Arial"/>
                <a:cs typeface="Arial"/>
              </a:rPr>
              <a:t>su </a:t>
            </a:r>
            <a:r>
              <a:rPr sz="1700" spc="-60" dirty="0">
                <a:latin typeface="Arial"/>
                <a:cs typeface="Arial"/>
              </a:rPr>
              <a:t>nombre </a:t>
            </a:r>
            <a:r>
              <a:rPr sz="1700" spc="-95" dirty="0">
                <a:latin typeface="Arial"/>
                <a:cs typeface="Arial"/>
              </a:rPr>
              <a:t>hasta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comprador </a:t>
            </a:r>
            <a:r>
              <a:rPr sz="1700" spc="-100" dirty="0">
                <a:latin typeface="Arial"/>
                <a:cs typeface="Arial"/>
              </a:rPr>
              <a:t>salde </a:t>
            </a:r>
            <a:r>
              <a:rPr sz="1700" spc="-120" dirty="0">
                <a:latin typeface="Arial"/>
                <a:cs typeface="Arial"/>
              </a:rPr>
              <a:t>su </a:t>
            </a:r>
            <a:r>
              <a:rPr sz="1700" spc="-85" dirty="0">
                <a:latin typeface="Arial"/>
                <a:cs typeface="Arial"/>
              </a:rPr>
              <a:t>deuda con  </a:t>
            </a:r>
            <a:r>
              <a:rPr sz="1700" spc="-75" dirty="0">
                <a:latin typeface="Arial"/>
                <a:cs typeface="Arial"/>
              </a:rPr>
              <a:t>éste. </a:t>
            </a:r>
            <a:r>
              <a:rPr sz="1700" spc="-110" dirty="0">
                <a:latin typeface="Arial"/>
                <a:cs typeface="Arial"/>
              </a:rPr>
              <a:t>Por </a:t>
            </a:r>
            <a:r>
              <a:rPr sz="1700" spc="-5" dirty="0">
                <a:latin typeface="Arial"/>
                <a:cs typeface="Arial"/>
              </a:rPr>
              <a:t>otro </a:t>
            </a:r>
            <a:r>
              <a:rPr sz="1700" spc="-60" dirty="0">
                <a:latin typeface="Arial"/>
                <a:cs typeface="Arial"/>
              </a:rPr>
              <a:t>lado,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0" dirty="0">
                <a:latin typeface="Arial"/>
                <a:cs typeface="Arial"/>
              </a:rPr>
              <a:t>comprador </a:t>
            </a:r>
            <a:r>
              <a:rPr sz="1700" spc="-30" dirty="0">
                <a:latin typeface="Arial"/>
                <a:cs typeface="Arial"/>
              </a:rPr>
              <a:t>final </a:t>
            </a:r>
            <a:r>
              <a:rPr sz="1700" spc="-45" dirty="0">
                <a:latin typeface="Arial"/>
                <a:cs typeface="Arial"/>
              </a:rPr>
              <a:t>le </a:t>
            </a:r>
            <a:r>
              <a:rPr sz="1700" spc="-130" dirty="0">
                <a:latin typeface="Arial"/>
                <a:cs typeface="Arial"/>
              </a:rPr>
              <a:t>paga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servicio 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55" dirty="0">
                <a:latin typeface="Arial"/>
                <a:cs typeface="Arial"/>
              </a:rPr>
              <a:t>soporte </a:t>
            </a:r>
            <a:r>
              <a:rPr sz="1700" spc="-65" dirty="0">
                <a:latin typeface="Arial"/>
                <a:cs typeface="Arial"/>
              </a:rPr>
              <a:t>al </a:t>
            </a:r>
            <a:r>
              <a:rPr sz="1700" spc="-60" dirty="0">
                <a:latin typeface="Arial"/>
                <a:cs typeface="Arial"/>
              </a:rPr>
              <a:t>proveedor </a:t>
            </a:r>
            <a:r>
              <a:rPr sz="1700" spc="-45" dirty="0">
                <a:latin typeface="Arial"/>
                <a:cs typeface="Arial"/>
              </a:rPr>
              <a:t>original </a:t>
            </a:r>
            <a:r>
              <a:rPr sz="1700" spc="-30" dirty="0">
                <a:latin typeface="Arial"/>
                <a:cs typeface="Arial"/>
              </a:rPr>
              <a:t>por</a:t>
            </a:r>
            <a:r>
              <a:rPr sz="1700" spc="-245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separado.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06084" y="1219200"/>
            <a:ext cx="2823971" cy="1398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60616" y="2834639"/>
            <a:ext cx="2276801" cy="1723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84214" y="4789170"/>
            <a:ext cx="2301240" cy="15308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44</a:t>
            </a:fld>
            <a:endParaRPr spc="-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</p:txBody>
      </p:sp>
      <p:sp>
        <p:nvSpPr>
          <p:cNvPr id="3" name="object 3"/>
          <p:cNvSpPr/>
          <p:nvPr/>
        </p:nvSpPr>
        <p:spPr>
          <a:xfrm>
            <a:off x="423672" y="1268730"/>
            <a:ext cx="1981200" cy="712470"/>
          </a:xfrm>
          <a:custGeom>
            <a:avLst/>
            <a:gdLst/>
            <a:ahLst/>
            <a:cxnLst/>
            <a:rect l="l" t="t" r="r" b="b"/>
            <a:pathLst>
              <a:path w="1981200" h="712469">
                <a:moveTo>
                  <a:pt x="0" y="712470"/>
                </a:moveTo>
                <a:lnTo>
                  <a:pt x="1981200" y="712470"/>
                </a:lnTo>
                <a:lnTo>
                  <a:pt x="1981200" y="0"/>
                </a:lnTo>
                <a:lnTo>
                  <a:pt x="0" y="0"/>
                </a:lnTo>
                <a:lnTo>
                  <a:pt x="0" y="71247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600" y="990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6821" y="5034"/>
                </a:lnTo>
                <a:lnTo>
                  <a:pt x="106724" y="19372"/>
                </a:lnTo>
                <a:lnTo>
                  <a:pt x="71353" y="41867"/>
                </a:lnTo>
                <a:lnTo>
                  <a:pt x="41851" y="71374"/>
                </a:lnTo>
                <a:lnTo>
                  <a:pt x="19363" y="106746"/>
                </a:lnTo>
                <a:lnTo>
                  <a:pt x="5031" y="146837"/>
                </a:lnTo>
                <a:lnTo>
                  <a:pt x="0" y="190500"/>
                </a:lnTo>
                <a:lnTo>
                  <a:pt x="5031" y="234162"/>
                </a:lnTo>
                <a:lnTo>
                  <a:pt x="19363" y="274253"/>
                </a:lnTo>
                <a:lnTo>
                  <a:pt x="41851" y="309625"/>
                </a:lnTo>
                <a:lnTo>
                  <a:pt x="71353" y="339132"/>
                </a:lnTo>
                <a:lnTo>
                  <a:pt x="106724" y="361627"/>
                </a:lnTo>
                <a:lnTo>
                  <a:pt x="146821" y="375965"/>
                </a:lnTo>
                <a:lnTo>
                  <a:pt x="190500" y="381000"/>
                </a:lnTo>
                <a:lnTo>
                  <a:pt x="234178" y="375965"/>
                </a:lnTo>
                <a:lnTo>
                  <a:pt x="274275" y="361627"/>
                </a:lnTo>
                <a:lnTo>
                  <a:pt x="309646" y="339132"/>
                </a:lnTo>
                <a:lnTo>
                  <a:pt x="339148" y="309625"/>
                </a:lnTo>
                <a:lnTo>
                  <a:pt x="361636" y="274253"/>
                </a:lnTo>
                <a:lnTo>
                  <a:pt x="375968" y="234162"/>
                </a:lnTo>
                <a:lnTo>
                  <a:pt x="381000" y="190500"/>
                </a:lnTo>
                <a:lnTo>
                  <a:pt x="375968" y="146837"/>
                </a:lnTo>
                <a:lnTo>
                  <a:pt x="361636" y="106746"/>
                </a:lnTo>
                <a:lnTo>
                  <a:pt x="339148" y="71374"/>
                </a:lnTo>
                <a:lnTo>
                  <a:pt x="309646" y="41867"/>
                </a:lnTo>
                <a:lnTo>
                  <a:pt x="274275" y="19372"/>
                </a:lnTo>
                <a:lnTo>
                  <a:pt x="234178" y="5034"/>
                </a:lnTo>
                <a:lnTo>
                  <a:pt x="19050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6258" y="500126"/>
            <a:ext cx="8597900" cy="597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Proceso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70" dirty="0">
                <a:solidFill>
                  <a:srgbClr val="FFFFFF"/>
                </a:solidFill>
                <a:latin typeface="Arial"/>
                <a:cs typeface="Arial"/>
              </a:rPr>
              <a:t>adquisición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selección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SI/TI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2000" b="1" spc="-16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  <a:p>
            <a:pPr marL="196850" marR="6475095" indent="-57150">
              <a:lnSpc>
                <a:spcPct val="100000"/>
              </a:lnSpc>
              <a:spcBef>
                <a:spcPts val="400"/>
              </a:spcBef>
            </a:pPr>
            <a:r>
              <a:rPr sz="1600" b="1" spc="-85" dirty="0">
                <a:solidFill>
                  <a:srgbClr val="FFFFFF"/>
                </a:solidFill>
                <a:latin typeface="Trebuchet MS"/>
                <a:cs typeface="Trebuchet MS"/>
              </a:rPr>
              <a:t>Actividades</a:t>
            </a:r>
            <a:r>
              <a:rPr sz="1600" b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posteriores  </a:t>
            </a:r>
            <a:r>
              <a:rPr sz="1600" b="1" spc="-65" dirty="0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sz="1600" b="1" spc="-70" dirty="0">
                <a:solidFill>
                  <a:srgbClr val="FFFFFF"/>
                </a:solidFill>
                <a:latin typeface="Trebuchet MS"/>
                <a:cs typeface="Trebuchet MS"/>
              </a:rPr>
              <a:t>la </a:t>
            </a:r>
            <a:r>
              <a:rPr sz="1600" b="1" spc="-90" dirty="0">
                <a:solidFill>
                  <a:srgbClr val="FFFFFF"/>
                </a:solidFill>
                <a:latin typeface="Trebuchet MS"/>
                <a:cs typeface="Trebuchet MS"/>
              </a:rPr>
              <a:t>firma del</a:t>
            </a:r>
            <a:r>
              <a:rPr sz="1600" b="1" spc="-3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600" b="1" spc="-100" dirty="0">
                <a:solidFill>
                  <a:srgbClr val="FFFFFF"/>
                </a:solidFill>
                <a:latin typeface="Trebuchet MS"/>
                <a:cs typeface="Trebuchet MS"/>
              </a:rPr>
              <a:t>contrato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35560">
              <a:lnSpc>
                <a:spcPct val="100000"/>
              </a:lnSpc>
            </a:pPr>
            <a:r>
              <a:rPr sz="1800" b="1" i="1" spc="-165" dirty="0">
                <a:latin typeface="Arial"/>
                <a:cs typeface="Arial"/>
              </a:rPr>
              <a:t>Tener </a:t>
            </a:r>
            <a:r>
              <a:rPr sz="1800" b="1" i="1" spc="-140" dirty="0">
                <a:latin typeface="Arial"/>
                <a:cs typeface="Arial"/>
              </a:rPr>
              <a:t>en</a:t>
            </a:r>
            <a:r>
              <a:rPr sz="1800" b="1" i="1" spc="-5" dirty="0">
                <a:latin typeface="Arial"/>
                <a:cs typeface="Arial"/>
              </a:rPr>
              <a:t> </a:t>
            </a:r>
            <a:r>
              <a:rPr sz="1800" b="1" i="1" spc="-125" dirty="0">
                <a:latin typeface="Arial"/>
                <a:cs typeface="Arial"/>
              </a:rPr>
              <a:t>cuenta:</a:t>
            </a:r>
            <a:endParaRPr sz="1800">
              <a:latin typeface="Arial"/>
              <a:cs typeface="Arial"/>
            </a:endParaRPr>
          </a:p>
          <a:p>
            <a:pPr marL="378460" marR="52069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78460" algn="l"/>
                <a:tab pos="379095" algn="l"/>
              </a:tabLst>
            </a:pPr>
            <a:r>
              <a:rPr sz="1700" b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Actividades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acondicionamiento:</a:t>
            </a:r>
            <a:r>
              <a:rPr sz="1700" b="1" spc="-100" dirty="0">
                <a:latin typeface="Trebuchet MS"/>
                <a:cs typeface="Trebuchet MS"/>
              </a:rPr>
              <a:t> </a:t>
            </a:r>
            <a:r>
              <a:rPr sz="1700" spc="-95" dirty="0">
                <a:latin typeface="Arial"/>
                <a:cs typeface="Arial"/>
              </a:rPr>
              <a:t>espacio </a:t>
            </a:r>
            <a:r>
              <a:rPr sz="1700" spc="-75" dirty="0">
                <a:latin typeface="Arial"/>
                <a:cs typeface="Arial"/>
              </a:rPr>
              <a:t>físico, instalaciones </a:t>
            </a:r>
            <a:r>
              <a:rPr sz="1700" spc="-65" dirty="0">
                <a:latin typeface="Arial"/>
                <a:cs typeface="Arial"/>
              </a:rPr>
              <a:t>eléctricas, </a:t>
            </a:r>
            <a:r>
              <a:rPr sz="1700" spc="-75" dirty="0">
                <a:latin typeface="Arial"/>
                <a:cs typeface="Arial"/>
              </a:rPr>
              <a:t>reguladores </a:t>
            </a:r>
            <a:r>
              <a:rPr sz="1700" spc="-80" dirty="0">
                <a:latin typeface="Arial"/>
                <a:cs typeface="Arial"/>
              </a:rPr>
              <a:t>de  </a:t>
            </a:r>
            <a:r>
              <a:rPr sz="1700" spc="-40" dirty="0">
                <a:latin typeface="Arial"/>
                <a:cs typeface="Arial"/>
              </a:rPr>
              <a:t>corriente, </a:t>
            </a:r>
            <a:r>
              <a:rPr sz="1700" spc="-95" dirty="0">
                <a:latin typeface="Arial"/>
                <a:cs typeface="Arial"/>
              </a:rPr>
              <a:t>accesorios </a:t>
            </a:r>
            <a:r>
              <a:rPr sz="1700" spc="-75" dirty="0">
                <a:latin typeface="Arial"/>
                <a:cs typeface="Arial"/>
              </a:rPr>
              <a:t>adicionales,</a:t>
            </a:r>
            <a:r>
              <a:rPr sz="1700" spc="-13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</a:t>
            </a:r>
            <a:endParaRPr sz="1700">
              <a:latin typeface="Arial"/>
              <a:cs typeface="Arial"/>
            </a:endParaRPr>
          </a:p>
          <a:p>
            <a:pPr marL="378460" indent="-342900">
              <a:lnSpc>
                <a:spcPct val="100000"/>
              </a:lnSpc>
              <a:buAutoNum type="arabicPeriod"/>
              <a:tabLst>
                <a:tab pos="378460" algn="l"/>
                <a:tab pos="379095" algn="l"/>
              </a:tabLst>
            </a:pP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Capacitación </a:t>
            </a: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cursos:</a:t>
            </a:r>
            <a:r>
              <a:rPr sz="1700" b="1" spc="-105" dirty="0">
                <a:latin typeface="Trebuchet MS"/>
                <a:cs typeface="Trebuchet MS"/>
              </a:rPr>
              <a:t>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110" dirty="0">
                <a:latin typeface="Arial"/>
                <a:cs typeface="Arial"/>
              </a:rPr>
              <a:t>áreas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Soporte, </a:t>
            </a:r>
            <a:r>
              <a:rPr sz="1700" spc="-85" dirty="0">
                <a:latin typeface="Arial"/>
                <a:cs typeface="Arial"/>
              </a:rPr>
              <a:t>Analistas, </a:t>
            </a:r>
            <a:r>
              <a:rPr sz="1700" spc="-90" dirty="0">
                <a:latin typeface="Arial"/>
                <a:cs typeface="Arial"/>
              </a:rPr>
              <a:t>Programadores, Operadores,</a:t>
            </a:r>
            <a:r>
              <a:rPr sz="1700" spc="-110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etc.</a:t>
            </a:r>
            <a:endParaRPr sz="1700">
              <a:latin typeface="Arial"/>
              <a:cs typeface="Arial"/>
            </a:endParaRPr>
          </a:p>
          <a:p>
            <a:pPr marL="378460" marR="51435" indent="-342900" algn="just">
              <a:lnSpc>
                <a:spcPct val="100000"/>
              </a:lnSpc>
              <a:buAutoNum type="arabicPeriod"/>
              <a:tabLst>
                <a:tab pos="379095" algn="l"/>
              </a:tabLst>
            </a:pP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Conversión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700" b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programas:</a:t>
            </a:r>
            <a:r>
              <a:rPr sz="1700" b="1" spc="-95" dirty="0">
                <a:latin typeface="Trebuchet MS"/>
                <a:cs typeface="Trebuchet MS"/>
              </a:rPr>
              <a:t> </a:t>
            </a:r>
            <a:r>
              <a:rPr sz="1700" spc="-145" dirty="0">
                <a:latin typeface="Arial"/>
                <a:cs typeface="Arial"/>
              </a:rPr>
              <a:t>es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60" dirty="0">
                <a:latin typeface="Arial"/>
                <a:cs typeface="Arial"/>
              </a:rPr>
              <a:t>tarea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0" dirty="0">
                <a:latin typeface="Arial"/>
                <a:cs typeface="Arial"/>
              </a:rPr>
              <a:t>cual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70" dirty="0">
                <a:latin typeface="Arial"/>
                <a:cs typeface="Arial"/>
              </a:rPr>
              <a:t>que </a:t>
            </a:r>
            <a:r>
              <a:rPr sz="1700" spc="-55" dirty="0">
                <a:latin typeface="Arial"/>
                <a:cs typeface="Arial"/>
              </a:rPr>
              <a:t>corren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60" dirty="0">
                <a:latin typeface="Arial"/>
                <a:cs typeface="Arial"/>
              </a:rPr>
              <a:t>un </a:t>
            </a:r>
            <a:r>
              <a:rPr sz="1700" spc="-55" dirty="0">
                <a:latin typeface="Arial"/>
                <a:cs typeface="Arial"/>
              </a:rPr>
              <a:t>equipo  </a:t>
            </a:r>
            <a:r>
              <a:rPr sz="1700" spc="-100" dirty="0">
                <a:latin typeface="Arial"/>
                <a:cs typeface="Arial"/>
              </a:rPr>
              <a:t>son </a:t>
            </a:r>
            <a:r>
              <a:rPr sz="1700" spc="-70" dirty="0">
                <a:latin typeface="Arial"/>
                <a:cs typeface="Arial"/>
              </a:rPr>
              <a:t>convertidas </a:t>
            </a:r>
            <a:r>
              <a:rPr sz="1700" spc="-85" dirty="0">
                <a:latin typeface="Arial"/>
                <a:cs typeface="Arial"/>
              </a:rPr>
              <a:t>para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puedan </a:t>
            </a:r>
            <a:r>
              <a:rPr sz="1700" spc="-40" dirty="0">
                <a:latin typeface="Arial"/>
                <a:cs typeface="Arial"/>
              </a:rPr>
              <a:t>correr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15" dirty="0">
                <a:latin typeface="Arial"/>
                <a:cs typeface="Arial"/>
              </a:rPr>
              <a:t>otro. </a:t>
            </a:r>
            <a:r>
              <a:rPr sz="1700" spc="-90" dirty="0">
                <a:latin typeface="Arial"/>
                <a:cs typeface="Arial"/>
              </a:rPr>
              <a:t>Antes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40" dirty="0">
                <a:latin typeface="Arial"/>
                <a:cs typeface="Arial"/>
              </a:rPr>
              <a:t>iniciar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75" dirty="0">
                <a:latin typeface="Arial"/>
                <a:cs typeface="Arial"/>
              </a:rPr>
              <a:t>conversión, </a:t>
            </a:r>
            <a:r>
              <a:rPr sz="1700" spc="-145" dirty="0">
                <a:latin typeface="Arial"/>
                <a:cs typeface="Arial"/>
              </a:rPr>
              <a:t>es  </a:t>
            </a:r>
            <a:r>
              <a:rPr sz="1700" spc="-50" dirty="0">
                <a:latin typeface="Arial"/>
                <a:cs typeface="Arial"/>
              </a:rPr>
              <a:t>fundamental:</a:t>
            </a:r>
            <a:endParaRPr sz="1700">
              <a:latin typeface="Arial"/>
              <a:cs typeface="Arial"/>
            </a:endParaRPr>
          </a:p>
          <a:p>
            <a:pPr marL="835660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110" dirty="0">
                <a:latin typeface="Arial"/>
                <a:cs typeface="Arial"/>
              </a:rPr>
              <a:t>Hacer </a:t>
            </a:r>
            <a:r>
              <a:rPr sz="1700" spc="-55" dirty="0">
                <a:latin typeface="Arial"/>
                <a:cs typeface="Arial"/>
              </a:rPr>
              <a:t>un </a:t>
            </a:r>
            <a:r>
              <a:rPr sz="1700" spc="-45" dirty="0">
                <a:latin typeface="Arial"/>
                <a:cs typeface="Arial"/>
              </a:rPr>
              <a:t>inventario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0" dirty="0">
                <a:latin typeface="Arial"/>
                <a:cs typeface="Arial"/>
              </a:rPr>
              <a:t>todos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40" dirty="0">
                <a:latin typeface="Arial"/>
                <a:cs typeface="Arial"/>
              </a:rPr>
              <a:t>convertir </a:t>
            </a:r>
            <a:r>
              <a:rPr sz="1700" spc="-45" dirty="0">
                <a:latin typeface="Arial"/>
                <a:cs typeface="Arial"/>
              </a:rPr>
              <a:t>teniendo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70" dirty="0">
                <a:latin typeface="Arial"/>
                <a:cs typeface="Arial"/>
              </a:rPr>
              <a:t>cuenta </a:t>
            </a:r>
            <a:r>
              <a:rPr sz="1700" spc="-120" dirty="0">
                <a:latin typeface="Arial"/>
                <a:cs typeface="Arial"/>
              </a:rPr>
              <a:t>su</a:t>
            </a:r>
            <a:r>
              <a:rPr sz="1700" spc="-190" dirty="0">
                <a:latin typeface="Arial"/>
                <a:cs typeface="Arial"/>
              </a:rPr>
              <a:t> </a:t>
            </a:r>
            <a:r>
              <a:rPr sz="1700" spc="-70" dirty="0">
                <a:latin typeface="Arial"/>
                <a:cs typeface="Arial"/>
              </a:rPr>
              <a:t>versión.</a:t>
            </a:r>
            <a:endParaRPr sz="1700">
              <a:latin typeface="Arial"/>
              <a:cs typeface="Arial"/>
            </a:endParaRPr>
          </a:p>
          <a:p>
            <a:pPr marL="835660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105" dirty="0">
                <a:latin typeface="Arial"/>
                <a:cs typeface="Arial"/>
              </a:rPr>
              <a:t>Chequear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50" dirty="0">
                <a:latin typeface="Arial"/>
                <a:cs typeface="Arial"/>
              </a:rPr>
              <a:t>disponibilidad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65" dirty="0">
                <a:latin typeface="Arial"/>
                <a:cs typeface="Arial"/>
              </a:rPr>
              <a:t>la documentación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todas </a:t>
            </a:r>
            <a:r>
              <a:rPr sz="1700" spc="-105" dirty="0">
                <a:latin typeface="Arial"/>
                <a:cs typeface="Arial"/>
              </a:rPr>
              <a:t>las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135" dirty="0">
                <a:latin typeface="Arial"/>
                <a:cs typeface="Arial"/>
              </a:rPr>
              <a:t>a</a:t>
            </a:r>
            <a:r>
              <a:rPr sz="1700" spc="-185" dirty="0">
                <a:latin typeface="Arial"/>
                <a:cs typeface="Arial"/>
              </a:rPr>
              <a:t> </a:t>
            </a:r>
            <a:r>
              <a:rPr sz="1700" spc="-55" dirty="0">
                <a:latin typeface="Arial"/>
                <a:cs typeface="Arial"/>
              </a:rPr>
              <a:t>convertir.</a:t>
            </a:r>
            <a:endParaRPr sz="1700">
              <a:latin typeface="Arial"/>
              <a:cs typeface="Arial"/>
            </a:endParaRPr>
          </a:p>
          <a:p>
            <a:pPr marL="835660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95" dirty="0">
                <a:latin typeface="Arial"/>
                <a:cs typeface="Arial"/>
              </a:rPr>
              <a:t>Diseñar </a:t>
            </a:r>
            <a:r>
              <a:rPr sz="1700" spc="-60" dirty="0">
                <a:latin typeface="Arial"/>
                <a:cs typeface="Arial"/>
              </a:rPr>
              <a:t>procedimientos </a:t>
            </a:r>
            <a:r>
              <a:rPr sz="1700" spc="-85" dirty="0">
                <a:latin typeface="Arial"/>
                <a:cs typeface="Arial"/>
              </a:rPr>
              <a:t>para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spc="-125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conversión.</a:t>
            </a:r>
            <a:endParaRPr sz="1700">
              <a:latin typeface="Arial"/>
              <a:cs typeface="Arial"/>
            </a:endParaRPr>
          </a:p>
          <a:p>
            <a:pPr marL="835660" marR="52705" lvl="1" indent="-342900">
              <a:lnSpc>
                <a:spcPct val="100000"/>
              </a:lnSpc>
              <a:buChar char="•"/>
              <a:tabLst>
                <a:tab pos="835660" algn="l"/>
                <a:tab pos="836294" algn="l"/>
              </a:tabLst>
            </a:pPr>
            <a:r>
              <a:rPr sz="1700" spc="-85" dirty="0">
                <a:latin typeface="Arial"/>
                <a:cs typeface="Arial"/>
              </a:rPr>
              <a:t>Elaborar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65" dirty="0">
                <a:latin typeface="Arial"/>
                <a:cs typeface="Arial"/>
              </a:rPr>
              <a:t>plan </a:t>
            </a:r>
            <a:r>
              <a:rPr sz="1700" spc="-85" dirty="0">
                <a:latin typeface="Arial"/>
                <a:cs typeface="Arial"/>
              </a:rPr>
              <a:t>con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100" dirty="0">
                <a:latin typeface="Arial"/>
                <a:cs typeface="Arial"/>
              </a:rPr>
              <a:t>secuencia </a:t>
            </a:r>
            <a:r>
              <a:rPr sz="1700" spc="-80" dirty="0">
                <a:latin typeface="Arial"/>
                <a:cs typeface="Arial"/>
              </a:rPr>
              <a:t>de los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135" dirty="0">
                <a:latin typeface="Arial"/>
                <a:cs typeface="Arial"/>
              </a:rPr>
              <a:t>a </a:t>
            </a:r>
            <a:r>
              <a:rPr sz="1700" spc="-55" dirty="0">
                <a:latin typeface="Arial"/>
                <a:cs typeface="Arial"/>
              </a:rPr>
              <a:t>convertir, </a:t>
            </a:r>
            <a:r>
              <a:rPr sz="1700" spc="-100" dirty="0">
                <a:latin typeface="Arial"/>
                <a:cs typeface="Arial"/>
              </a:rPr>
              <a:t>personas </a:t>
            </a:r>
            <a:r>
              <a:rPr sz="1700" spc="-110" dirty="0">
                <a:latin typeface="Arial"/>
                <a:cs typeface="Arial"/>
              </a:rPr>
              <a:t>asignadas, </a:t>
            </a:r>
            <a:r>
              <a:rPr sz="1700" spc="-85" dirty="0">
                <a:latin typeface="Arial"/>
                <a:cs typeface="Arial"/>
              </a:rPr>
              <a:t>y  </a:t>
            </a:r>
            <a:r>
              <a:rPr sz="1700" spc="-100" dirty="0">
                <a:latin typeface="Arial"/>
                <a:cs typeface="Arial"/>
              </a:rPr>
              <a:t>fechas</a:t>
            </a:r>
            <a:r>
              <a:rPr sz="1700" spc="-90" dirty="0">
                <a:latin typeface="Arial"/>
                <a:cs typeface="Arial"/>
              </a:rPr>
              <a:t> </a:t>
            </a:r>
            <a:r>
              <a:rPr sz="1700" spc="-15" dirty="0">
                <a:latin typeface="Arial"/>
                <a:cs typeface="Arial"/>
              </a:rPr>
              <a:t>limite.</a:t>
            </a:r>
            <a:endParaRPr sz="1700">
              <a:latin typeface="Arial"/>
              <a:cs typeface="Arial"/>
            </a:endParaRPr>
          </a:p>
          <a:p>
            <a:pPr marL="378460" marR="52069" indent="-342900" algn="just">
              <a:lnSpc>
                <a:spcPct val="100000"/>
              </a:lnSpc>
              <a:buAutoNum type="arabicPeriod"/>
              <a:tabLst>
                <a:tab pos="379095" algn="l"/>
              </a:tabLst>
            </a:pPr>
            <a:r>
              <a:rPr sz="1700" b="1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Traslado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de </a:t>
            </a:r>
            <a:r>
              <a:rPr sz="1700" b="1" u="heavy" spc="-9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información </a:t>
            </a:r>
            <a:r>
              <a:rPr sz="1700" b="1" u="heavy" spc="-10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y conversión </a:t>
            </a:r>
            <a:r>
              <a:rPr sz="1700" b="1" u="heavy" spc="-8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al </a:t>
            </a:r>
            <a:r>
              <a:rPr sz="1700" b="1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nuevo equipo:</a:t>
            </a:r>
            <a:r>
              <a:rPr sz="1700" b="1" spc="-100" dirty="0">
                <a:latin typeface="Trebuchet MS"/>
                <a:cs typeface="Trebuchet MS"/>
              </a:rPr>
              <a:t> </a:t>
            </a:r>
            <a:r>
              <a:rPr sz="1700" spc="-55" dirty="0">
                <a:latin typeface="Arial"/>
                <a:cs typeface="Arial"/>
              </a:rPr>
              <a:t>implica </a:t>
            </a:r>
            <a:r>
              <a:rPr sz="1700" spc="-70" dirty="0">
                <a:latin typeface="Arial"/>
                <a:cs typeface="Arial"/>
              </a:rPr>
              <a:t>la </a:t>
            </a:r>
            <a:r>
              <a:rPr sz="1700" spc="-55" dirty="0">
                <a:latin typeface="Arial"/>
                <a:cs typeface="Arial"/>
              </a:rPr>
              <a:t>transición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105" dirty="0">
                <a:latin typeface="Arial"/>
                <a:cs typeface="Arial"/>
              </a:rPr>
              <a:t>las  </a:t>
            </a:r>
            <a:r>
              <a:rPr sz="1700" spc="-80" dirty="0">
                <a:latin typeface="Arial"/>
                <a:cs typeface="Arial"/>
              </a:rPr>
              <a:t>aplicaciones </a:t>
            </a:r>
            <a:r>
              <a:rPr sz="1700" spc="-85" dirty="0">
                <a:latin typeface="Arial"/>
                <a:cs typeface="Arial"/>
              </a:rPr>
              <a:t>y </a:t>
            </a:r>
            <a:r>
              <a:rPr sz="1700" spc="-60" dirty="0">
                <a:latin typeface="Arial"/>
                <a:cs typeface="Arial"/>
              </a:rPr>
              <a:t>traslado </a:t>
            </a:r>
            <a:r>
              <a:rPr sz="1700" spc="-80" dirty="0">
                <a:latin typeface="Arial"/>
                <a:cs typeface="Arial"/>
              </a:rPr>
              <a:t>de archivos. </a:t>
            </a:r>
            <a:r>
              <a:rPr sz="1700" spc="-185" dirty="0">
                <a:latin typeface="Arial"/>
                <a:cs typeface="Arial"/>
              </a:rPr>
              <a:t>En </a:t>
            </a:r>
            <a:r>
              <a:rPr sz="1700" spc="-65" dirty="0">
                <a:latin typeface="Arial"/>
                <a:cs typeface="Arial"/>
              </a:rPr>
              <a:t>la </a:t>
            </a:r>
            <a:r>
              <a:rPr sz="1700" spc="-85" dirty="0">
                <a:latin typeface="Arial"/>
                <a:cs typeface="Arial"/>
              </a:rPr>
              <a:t>mayoría </a:t>
            </a:r>
            <a:r>
              <a:rPr sz="1700" spc="-80" dirty="0">
                <a:latin typeface="Arial"/>
                <a:cs typeface="Arial"/>
              </a:rPr>
              <a:t>de </a:t>
            </a:r>
            <a:r>
              <a:rPr sz="1700" spc="-75" dirty="0">
                <a:latin typeface="Arial"/>
                <a:cs typeface="Arial"/>
              </a:rPr>
              <a:t>los </a:t>
            </a:r>
            <a:r>
              <a:rPr sz="1700" spc="-125" dirty="0">
                <a:latin typeface="Arial"/>
                <a:cs typeface="Arial"/>
              </a:rPr>
              <a:t>casos,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45" dirty="0">
                <a:latin typeface="Arial"/>
                <a:cs typeface="Arial"/>
              </a:rPr>
              <a:t>opta </a:t>
            </a:r>
            <a:r>
              <a:rPr sz="1700" spc="-30" dirty="0">
                <a:latin typeface="Arial"/>
                <a:cs typeface="Arial"/>
              </a:rPr>
              <a:t>por </a:t>
            </a:r>
            <a:r>
              <a:rPr sz="1700" spc="-60" dirty="0">
                <a:latin typeface="Arial"/>
                <a:cs typeface="Arial"/>
              </a:rPr>
              <a:t>un período  paralelo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45" dirty="0">
                <a:latin typeface="Arial"/>
                <a:cs typeface="Arial"/>
              </a:rPr>
              <a:t>el </a:t>
            </a:r>
            <a:r>
              <a:rPr sz="1700" spc="-75" dirty="0">
                <a:latin typeface="Arial"/>
                <a:cs typeface="Arial"/>
              </a:rPr>
              <a:t>que </a:t>
            </a:r>
            <a:r>
              <a:rPr sz="1700" spc="-80" dirty="0">
                <a:latin typeface="Arial"/>
                <a:cs typeface="Arial"/>
              </a:rPr>
              <a:t>los </a:t>
            </a:r>
            <a:r>
              <a:rPr sz="1700" spc="-90" dirty="0">
                <a:latin typeface="Arial"/>
                <a:cs typeface="Arial"/>
              </a:rPr>
              <a:t>programas </a:t>
            </a:r>
            <a:r>
              <a:rPr sz="1700" spc="-145" dirty="0">
                <a:latin typeface="Arial"/>
                <a:cs typeface="Arial"/>
              </a:rPr>
              <a:t>se </a:t>
            </a:r>
            <a:r>
              <a:rPr sz="1700" spc="-55" dirty="0">
                <a:latin typeface="Arial"/>
                <a:cs typeface="Arial"/>
              </a:rPr>
              <a:t>corren </a:t>
            </a:r>
            <a:r>
              <a:rPr sz="1700" spc="-60" dirty="0">
                <a:latin typeface="Arial"/>
                <a:cs typeface="Arial"/>
              </a:rPr>
              <a:t>simultáneamente </a:t>
            </a:r>
            <a:r>
              <a:rPr sz="1700" spc="-80" dirty="0">
                <a:latin typeface="Arial"/>
                <a:cs typeface="Arial"/>
              </a:rPr>
              <a:t>en </a:t>
            </a:r>
            <a:r>
              <a:rPr sz="1700" spc="-100" dirty="0">
                <a:latin typeface="Arial"/>
                <a:cs typeface="Arial"/>
              </a:rPr>
              <a:t>ambos </a:t>
            </a:r>
            <a:r>
              <a:rPr sz="1700" spc="-75" dirty="0">
                <a:latin typeface="Arial"/>
                <a:cs typeface="Arial"/>
              </a:rPr>
              <a:t>equipos </a:t>
            </a:r>
            <a:r>
              <a:rPr sz="1700" spc="-80" dirty="0">
                <a:latin typeface="Arial"/>
                <a:cs typeface="Arial"/>
              </a:rPr>
              <a:t>(</a:t>
            </a:r>
            <a:r>
              <a:rPr sz="1700" i="1" spc="-80" dirty="0">
                <a:latin typeface="Trebuchet MS"/>
                <a:cs typeface="Trebuchet MS"/>
              </a:rPr>
              <a:t>co-living</a:t>
            </a:r>
            <a:r>
              <a:rPr sz="1700" spc="-80" dirty="0">
                <a:latin typeface="Arial"/>
                <a:cs typeface="Arial"/>
              </a:rPr>
              <a:t>),  </a:t>
            </a:r>
            <a:r>
              <a:rPr sz="1700" spc="-95" dirty="0">
                <a:latin typeface="Arial"/>
                <a:cs typeface="Arial"/>
              </a:rPr>
              <a:t>hasta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35" dirty="0">
                <a:latin typeface="Arial"/>
                <a:cs typeface="Arial"/>
              </a:rPr>
              <a:t>tener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completa</a:t>
            </a:r>
            <a:r>
              <a:rPr sz="1700" spc="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seguridad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que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spc="-65" dirty="0">
                <a:latin typeface="Arial"/>
                <a:cs typeface="Arial"/>
              </a:rPr>
              <a:t>la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conversión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80" dirty="0">
                <a:latin typeface="Arial"/>
                <a:cs typeface="Arial"/>
              </a:rPr>
              <a:t>de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75" dirty="0">
                <a:latin typeface="Arial"/>
                <a:cs typeface="Arial"/>
              </a:rPr>
              <a:t>los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90" dirty="0">
                <a:latin typeface="Arial"/>
                <a:cs typeface="Arial"/>
              </a:rPr>
              <a:t>programas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05" dirty="0">
                <a:latin typeface="Arial"/>
                <a:cs typeface="Arial"/>
              </a:rPr>
              <a:t>e</a:t>
            </a:r>
            <a:r>
              <a:rPr sz="1700" dirty="0">
                <a:latin typeface="Arial"/>
                <a:cs typeface="Arial"/>
              </a:rPr>
              <a:t> </a:t>
            </a:r>
            <a:r>
              <a:rPr sz="1700" spc="-45" dirty="0">
                <a:latin typeface="Arial"/>
                <a:cs typeface="Arial"/>
              </a:rPr>
              <a:t>información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spc="-85" dirty="0">
                <a:latin typeface="Arial"/>
                <a:cs typeface="Arial"/>
              </a:rPr>
              <a:t>han</a:t>
            </a:r>
            <a:endParaRPr sz="17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tabLst>
                <a:tab pos="378460" algn="l"/>
                <a:tab pos="8584565" algn="l"/>
              </a:tabLst>
            </a:pPr>
            <a:r>
              <a:rPr sz="1700" u="sng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	</a:t>
            </a:r>
            <a:r>
              <a:rPr sz="1700" u="sng" spc="-7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sido</a:t>
            </a:r>
            <a:r>
              <a:rPr sz="1700" u="sng" spc="-14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7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correctos.	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45</a:t>
            </a:fld>
            <a:endParaRPr spc="-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Tercerización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(Outsourcing)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57181" y="2361060"/>
            <a:ext cx="7235185" cy="20973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Outsourcing</a:t>
            </a:r>
          </a:p>
          <a:p>
            <a:pPr marL="15240" marR="5080">
              <a:lnSpc>
                <a:spcPct val="100000"/>
              </a:lnSpc>
              <a:spcBef>
                <a:spcPts val="50"/>
              </a:spcBef>
            </a:pPr>
            <a:r>
              <a:rPr sz="2000" b="0" spc="-125" dirty="0">
                <a:latin typeface="Arial"/>
                <a:cs typeface="Arial"/>
              </a:rPr>
              <a:t>Consiste </a:t>
            </a:r>
            <a:r>
              <a:rPr sz="2000" b="0" spc="-95" dirty="0">
                <a:latin typeface="Arial"/>
                <a:cs typeface="Arial"/>
              </a:rPr>
              <a:t>en </a:t>
            </a:r>
            <a:r>
              <a:rPr sz="2000" b="0" spc="-50" dirty="0">
                <a:latin typeface="Arial"/>
                <a:cs typeface="Arial"/>
              </a:rPr>
              <a:t>contratar </a:t>
            </a:r>
            <a:r>
              <a:rPr sz="2000" b="0" spc="-95" dirty="0">
                <a:latin typeface="Arial"/>
                <a:cs typeface="Arial"/>
              </a:rPr>
              <a:t>en </a:t>
            </a:r>
            <a:r>
              <a:rPr sz="2000" b="0" spc="-50" dirty="0">
                <a:latin typeface="Arial"/>
                <a:cs typeface="Arial"/>
              </a:rPr>
              <a:t>forma </a:t>
            </a:r>
            <a:r>
              <a:rPr sz="2000" b="0" spc="-70" dirty="0">
                <a:latin typeface="Arial"/>
                <a:cs typeface="Arial"/>
              </a:rPr>
              <a:t>externa </a:t>
            </a:r>
            <a:r>
              <a:rPr sz="2000" b="0" spc="-110" dirty="0">
                <a:latin typeface="Arial"/>
                <a:cs typeface="Arial"/>
              </a:rPr>
              <a:t>(a </a:t>
            </a:r>
            <a:r>
              <a:rPr sz="2000" b="0" spc="-75" dirty="0">
                <a:latin typeface="Arial"/>
                <a:cs typeface="Arial"/>
              </a:rPr>
              <a:t>terceros </a:t>
            </a:r>
            <a:r>
              <a:rPr sz="2000" b="0" spc="-110" dirty="0">
                <a:latin typeface="Arial"/>
                <a:cs typeface="Arial"/>
              </a:rPr>
              <a:t>especializados) </a:t>
            </a:r>
            <a:r>
              <a:rPr sz="2000" b="0" spc="-105" dirty="0">
                <a:latin typeface="Arial"/>
                <a:cs typeface="Arial"/>
              </a:rPr>
              <a:t>algunos </a:t>
            </a:r>
            <a:r>
              <a:rPr sz="2000" b="0" spc="-60" dirty="0">
                <a:latin typeface="Arial"/>
                <a:cs typeface="Arial"/>
              </a:rPr>
              <a:t>o </a:t>
            </a:r>
            <a:r>
              <a:rPr sz="2000" b="0" spc="-65" dirty="0">
                <a:latin typeface="Arial"/>
                <a:cs typeface="Arial"/>
              </a:rPr>
              <a:t>todos  </a:t>
            </a:r>
            <a:r>
              <a:rPr sz="2000" b="0" spc="-90" dirty="0">
                <a:latin typeface="Arial"/>
                <a:cs typeface="Arial"/>
              </a:rPr>
              <a:t>los </a:t>
            </a:r>
            <a:r>
              <a:rPr sz="2000" b="0" spc="-95" dirty="0">
                <a:latin typeface="Arial"/>
                <a:cs typeface="Arial"/>
              </a:rPr>
              <a:t>servicios </a:t>
            </a:r>
            <a:r>
              <a:rPr sz="2000" b="0" spc="-85" dirty="0">
                <a:latin typeface="Arial"/>
                <a:cs typeface="Arial"/>
              </a:rPr>
              <a:t>que </a:t>
            </a:r>
            <a:r>
              <a:rPr sz="2000" b="0" spc="-65" dirty="0">
                <a:latin typeface="Arial"/>
                <a:cs typeface="Arial"/>
              </a:rPr>
              <a:t>proporciona un </a:t>
            </a:r>
            <a:r>
              <a:rPr sz="2000" b="0" spc="-110" dirty="0">
                <a:latin typeface="Arial"/>
                <a:cs typeface="Arial"/>
              </a:rPr>
              <a:t>área </a:t>
            </a:r>
            <a:r>
              <a:rPr sz="2000" b="0" spc="-95" dirty="0">
                <a:latin typeface="Arial"/>
                <a:cs typeface="Arial"/>
              </a:rPr>
              <a:t>de </a:t>
            </a:r>
            <a:r>
              <a:rPr sz="2000" b="0" spc="-145" dirty="0">
                <a:latin typeface="Arial"/>
                <a:cs typeface="Arial"/>
              </a:rPr>
              <a:t>Sistemas </a:t>
            </a:r>
            <a:r>
              <a:rPr sz="2000" b="0" spc="-95" dirty="0">
                <a:latin typeface="Arial"/>
                <a:cs typeface="Arial"/>
              </a:rPr>
              <a:t>de</a:t>
            </a:r>
            <a:r>
              <a:rPr sz="2000" b="0" spc="-90" dirty="0">
                <a:latin typeface="Arial"/>
                <a:cs typeface="Arial"/>
              </a:rPr>
              <a:t> </a:t>
            </a:r>
            <a:r>
              <a:rPr sz="2000" b="0" spc="-60" dirty="0">
                <a:latin typeface="Arial"/>
                <a:cs typeface="Arial"/>
              </a:rPr>
              <a:t>Información.</a:t>
            </a:r>
            <a:endParaRPr sz="2000">
              <a:latin typeface="Arial"/>
              <a:cs typeface="Arial"/>
            </a:endParaRPr>
          </a:p>
          <a:p>
            <a:pPr marL="2540"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marL="2540">
              <a:lnSpc>
                <a:spcPct val="100000"/>
              </a:lnSpc>
              <a:spcBef>
                <a:spcPts val="35"/>
              </a:spcBef>
            </a:pPr>
            <a:endParaRPr sz="1750">
              <a:latin typeface="Times New Roman"/>
              <a:cs typeface="Times New Roman"/>
            </a:endParaRPr>
          </a:p>
          <a:p>
            <a:pPr marL="2540" marR="2165985" algn="r">
              <a:lnSpc>
                <a:spcPct val="100000"/>
              </a:lnSpc>
            </a:pPr>
            <a:r>
              <a:rPr sz="1600" spc="40" dirty="0"/>
              <a:t>¿</a:t>
            </a:r>
            <a:endParaRPr sz="16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46</a:t>
            </a:fld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307340" y="4681473"/>
            <a:ext cx="8528050" cy="1429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195" dirty="0">
                <a:latin typeface="Trebuchet MS"/>
                <a:cs typeface="Trebuchet MS"/>
              </a:rPr>
              <a:t>Tener </a:t>
            </a:r>
            <a:r>
              <a:rPr sz="2000" b="1" spc="-130" dirty="0">
                <a:latin typeface="Trebuchet MS"/>
                <a:cs typeface="Trebuchet MS"/>
              </a:rPr>
              <a:t>en</a:t>
            </a:r>
            <a:r>
              <a:rPr sz="2000" b="1" spc="-95" dirty="0">
                <a:latin typeface="Trebuchet MS"/>
                <a:cs typeface="Trebuchet MS"/>
              </a:rPr>
              <a:t> </a:t>
            </a:r>
            <a:r>
              <a:rPr sz="2000" b="1" spc="-140" dirty="0">
                <a:latin typeface="Trebuchet MS"/>
                <a:cs typeface="Trebuchet MS"/>
              </a:rPr>
              <a:t>cuenta:</a:t>
            </a:r>
            <a:endParaRPr sz="20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Char char="•"/>
              <a:tabLst>
                <a:tab pos="297815" algn="l"/>
                <a:tab pos="298450" algn="l"/>
              </a:tabLst>
            </a:pPr>
            <a:r>
              <a:rPr sz="1800" spc="-114" dirty="0">
                <a:latin typeface="Arial"/>
                <a:cs typeface="Arial"/>
              </a:rPr>
              <a:t>Una </a:t>
            </a:r>
            <a:r>
              <a:rPr sz="1800" spc="-95" dirty="0">
                <a:latin typeface="Arial"/>
                <a:cs typeface="Arial"/>
              </a:rPr>
              <a:t>empresa </a:t>
            </a:r>
            <a:r>
              <a:rPr sz="1800" spc="-85" dirty="0">
                <a:latin typeface="Arial"/>
                <a:cs typeface="Arial"/>
              </a:rPr>
              <a:t>debe </a:t>
            </a:r>
            <a:r>
              <a:rPr sz="1800" spc="-65" dirty="0">
                <a:latin typeface="Arial"/>
                <a:cs typeface="Arial"/>
              </a:rPr>
              <a:t>concentrar </a:t>
            </a:r>
            <a:r>
              <a:rPr sz="1800" spc="-155" dirty="0">
                <a:latin typeface="Arial"/>
                <a:cs typeface="Arial"/>
              </a:rPr>
              <a:t>sus </a:t>
            </a:r>
            <a:r>
              <a:rPr sz="1800" spc="-105" dirty="0">
                <a:latin typeface="Arial"/>
                <a:cs typeface="Arial"/>
              </a:rPr>
              <a:t>esfuerzos </a:t>
            </a:r>
            <a:r>
              <a:rPr sz="1800" spc="-85" dirty="0">
                <a:latin typeface="Arial"/>
                <a:cs typeface="Arial"/>
              </a:rPr>
              <a:t>en aquellas </a:t>
            </a:r>
            <a:r>
              <a:rPr sz="1800" spc="-75" dirty="0">
                <a:latin typeface="Arial"/>
                <a:cs typeface="Arial"/>
              </a:rPr>
              <a:t>actividades que </a:t>
            </a:r>
            <a:r>
              <a:rPr sz="1800" spc="-130" dirty="0">
                <a:latin typeface="Arial"/>
                <a:cs typeface="Arial"/>
              </a:rPr>
              <a:t>sabe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110" dirty="0">
                <a:latin typeface="Arial"/>
                <a:cs typeface="Arial"/>
              </a:rPr>
              <a:t>hacer,</a:t>
            </a:r>
            <a:endParaRPr sz="1800">
              <a:latin typeface="Arial"/>
              <a:cs typeface="Arial"/>
            </a:endParaRPr>
          </a:p>
          <a:p>
            <a:pPr marL="298450" marR="5080" indent="-285750" algn="just">
              <a:lnSpc>
                <a:spcPct val="100000"/>
              </a:lnSpc>
              <a:buChar char="•"/>
              <a:tabLst>
                <a:tab pos="298450" algn="l"/>
              </a:tabLst>
            </a:pPr>
            <a:r>
              <a:rPr sz="1800" spc="-114" dirty="0">
                <a:latin typeface="Arial"/>
                <a:cs typeface="Arial"/>
              </a:rPr>
              <a:t>Una </a:t>
            </a:r>
            <a:r>
              <a:rPr sz="1800" spc="-95" dirty="0">
                <a:latin typeface="Arial"/>
                <a:cs typeface="Arial"/>
              </a:rPr>
              <a:t>empresa </a:t>
            </a:r>
            <a:r>
              <a:rPr sz="1800" spc="-80" dirty="0">
                <a:latin typeface="Arial"/>
                <a:cs typeface="Arial"/>
              </a:rPr>
              <a:t>debe </a:t>
            </a:r>
            <a:r>
              <a:rPr sz="1800" spc="-35" dirty="0">
                <a:latin typeface="Arial"/>
                <a:cs typeface="Arial"/>
              </a:rPr>
              <a:t>utilizar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85" dirty="0">
                <a:latin typeface="Arial"/>
                <a:cs typeface="Arial"/>
              </a:rPr>
              <a:t>ventajas 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economías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25" dirty="0">
                <a:latin typeface="Arial"/>
                <a:cs typeface="Arial"/>
              </a:rPr>
              <a:t>escala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de </a:t>
            </a:r>
            <a:r>
              <a:rPr sz="1800" spc="-110" dirty="0">
                <a:latin typeface="Arial"/>
                <a:cs typeface="Arial"/>
              </a:rPr>
              <a:t>las </a:t>
            </a:r>
            <a:r>
              <a:rPr sz="1800" spc="-105" dirty="0">
                <a:latin typeface="Arial"/>
                <a:cs typeface="Arial"/>
              </a:rPr>
              <a:t>economías </a:t>
            </a:r>
            <a:r>
              <a:rPr sz="1800" spc="-80" dirty="0">
                <a:latin typeface="Arial"/>
                <a:cs typeface="Arial"/>
              </a:rPr>
              <a:t>de  </a:t>
            </a:r>
            <a:r>
              <a:rPr sz="1800" spc="-75" dirty="0">
                <a:latin typeface="Arial"/>
                <a:cs typeface="Arial"/>
              </a:rPr>
              <a:t>experiencia </a:t>
            </a:r>
            <a:r>
              <a:rPr sz="1800" spc="-70" dirty="0">
                <a:latin typeface="Arial"/>
                <a:cs typeface="Arial"/>
              </a:rPr>
              <a:t>que </a:t>
            </a:r>
            <a:r>
              <a:rPr sz="1800" spc="-35" dirty="0">
                <a:latin typeface="Arial"/>
                <a:cs typeface="Arial"/>
              </a:rPr>
              <a:t>tienen </a:t>
            </a:r>
            <a:r>
              <a:rPr sz="1800" spc="-110" dirty="0">
                <a:latin typeface="Arial"/>
                <a:cs typeface="Arial"/>
              </a:rPr>
              <a:t>las empresas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80" dirty="0">
                <a:latin typeface="Arial"/>
                <a:cs typeface="Arial"/>
              </a:rPr>
              <a:t>dedican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50" dirty="0">
                <a:latin typeface="Arial"/>
                <a:cs typeface="Arial"/>
              </a:rPr>
              <a:t>proporcionar </a:t>
            </a:r>
            <a:r>
              <a:rPr sz="1800" spc="-90" dirty="0">
                <a:latin typeface="Arial"/>
                <a:cs typeface="Arial"/>
              </a:rPr>
              <a:t>este </a:t>
            </a:r>
            <a:r>
              <a:rPr sz="1800" dirty="0">
                <a:latin typeface="Arial"/>
                <a:cs typeface="Arial"/>
              </a:rPr>
              <a:t>tipo </a:t>
            </a:r>
            <a:r>
              <a:rPr sz="1800" spc="-85" dirty="0">
                <a:latin typeface="Arial"/>
                <a:cs typeface="Arial"/>
              </a:rPr>
              <a:t>de  </a:t>
            </a:r>
            <a:r>
              <a:rPr sz="1800" spc="-80" dirty="0">
                <a:latin typeface="Arial"/>
                <a:cs typeface="Arial"/>
              </a:rPr>
              <a:t>servicios.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Tercerización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(Outsourcing)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9625" y="1084071"/>
            <a:ext cx="8526145" cy="429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spc="-175" dirty="0">
                <a:latin typeface="Arial"/>
                <a:cs typeface="Arial"/>
              </a:rPr>
              <a:t>El </a:t>
            </a:r>
            <a:r>
              <a:rPr sz="2000" spc="-105" dirty="0">
                <a:latin typeface="Arial"/>
                <a:cs typeface="Arial"/>
              </a:rPr>
              <a:t>área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40" dirty="0">
                <a:latin typeface="Arial"/>
                <a:cs typeface="Arial"/>
              </a:rPr>
              <a:t>Sistemas </a:t>
            </a:r>
            <a:r>
              <a:rPr sz="2000" spc="-100" dirty="0">
                <a:latin typeface="Arial"/>
                <a:cs typeface="Arial"/>
              </a:rPr>
              <a:t>y </a:t>
            </a:r>
            <a:r>
              <a:rPr sz="2000" spc="-140" dirty="0">
                <a:latin typeface="Arial"/>
                <a:cs typeface="Arial"/>
              </a:rPr>
              <a:t>Tecnologías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75" dirty="0">
                <a:latin typeface="Arial"/>
                <a:cs typeface="Arial"/>
              </a:rPr>
              <a:t>la </a:t>
            </a:r>
            <a:r>
              <a:rPr sz="2000" spc="-60" dirty="0">
                <a:latin typeface="Arial"/>
                <a:cs typeface="Arial"/>
              </a:rPr>
              <a:t>Información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75" dirty="0">
                <a:latin typeface="Arial"/>
                <a:cs typeface="Arial"/>
              </a:rPr>
              <a:t>aquella </a:t>
            </a:r>
            <a:r>
              <a:rPr sz="2000" spc="-95" dirty="0">
                <a:latin typeface="Arial"/>
                <a:cs typeface="Arial"/>
              </a:rPr>
              <a:t>en </a:t>
            </a:r>
            <a:r>
              <a:rPr sz="2000" spc="-80" dirty="0">
                <a:latin typeface="Arial"/>
                <a:cs typeface="Arial"/>
              </a:rPr>
              <a:t>donde </a:t>
            </a:r>
            <a:r>
              <a:rPr sz="2000" spc="-175" dirty="0">
                <a:latin typeface="Arial"/>
                <a:cs typeface="Arial"/>
              </a:rPr>
              <a:t>se </a:t>
            </a:r>
            <a:r>
              <a:rPr sz="2000" spc="-110" dirty="0">
                <a:latin typeface="Arial"/>
                <a:cs typeface="Arial"/>
              </a:rPr>
              <a:t>ha  </a:t>
            </a:r>
            <a:r>
              <a:rPr sz="2000" spc="-60" dirty="0">
                <a:latin typeface="Arial"/>
                <a:cs typeface="Arial"/>
              </a:rPr>
              <a:t>implementado </a:t>
            </a:r>
            <a:r>
              <a:rPr sz="2000" spc="-55" dirty="0">
                <a:latin typeface="Arial"/>
                <a:cs typeface="Arial"/>
              </a:rPr>
              <a:t>el </a:t>
            </a:r>
            <a:r>
              <a:rPr sz="2000" i="1" spc="-80" dirty="0">
                <a:latin typeface="Trebuchet MS"/>
                <a:cs typeface="Trebuchet MS"/>
              </a:rPr>
              <a:t>Outsourcing</a:t>
            </a:r>
            <a:r>
              <a:rPr sz="2000" spc="-80" dirty="0">
                <a:latin typeface="Arial"/>
                <a:cs typeface="Arial"/>
              </a:rPr>
              <a:t>; </a:t>
            </a:r>
            <a:r>
              <a:rPr sz="2000" spc="-65" dirty="0">
                <a:latin typeface="Arial"/>
                <a:cs typeface="Arial"/>
              </a:rPr>
              <a:t>uno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90" dirty="0">
                <a:latin typeface="Arial"/>
                <a:cs typeface="Arial"/>
              </a:rPr>
              <a:t>los </a:t>
            </a:r>
            <a:r>
              <a:rPr sz="2000" spc="-75" dirty="0">
                <a:latin typeface="Arial"/>
                <a:cs typeface="Arial"/>
              </a:rPr>
              <a:t>beneficios </a:t>
            </a:r>
            <a:r>
              <a:rPr sz="2000" spc="-70" dirty="0">
                <a:latin typeface="Arial"/>
                <a:cs typeface="Arial"/>
              </a:rPr>
              <a:t>críticos </a:t>
            </a:r>
            <a:r>
              <a:rPr sz="2000" spc="-170" dirty="0">
                <a:latin typeface="Arial"/>
                <a:cs typeface="Arial"/>
              </a:rPr>
              <a:t>es </a:t>
            </a:r>
            <a:r>
              <a:rPr sz="2000" spc="-50" dirty="0">
                <a:latin typeface="Arial"/>
                <a:cs typeface="Arial"/>
              </a:rPr>
              <a:t>el </a:t>
            </a:r>
            <a:r>
              <a:rPr sz="2000" spc="-145" dirty="0">
                <a:latin typeface="Arial"/>
                <a:cs typeface="Arial"/>
              </a:rPr>
              <a:t>acceso </a:t>
            </a:r>
            <a:r>
              <a:rPr sz="2000" spc="-160" dirty="0">
                <a:latin typeface="Arial"/>
                <a:cs typeface="Arial"/>
              </a:rPr>
              <a:t>a </a:t>
            </a:r>
            <a:r>
              <a:rPr sz="2000" spc="-80" dirty="0">
                <a:latin typeface="Arial"/>
                <a:cs typeface="Arial"/>
              </a:rPr>
              <a:t>la  tecnología </a:t>
            </a:r>
            <a:r>
              <a:rPr sz="2000" spc="-90" dirty="0">
                <a:latin typeface="Arial"/>
                <a:cs typeface="Arial"/>
              </a:rPr>
              <a:t>actualizada. </a:t>
            </a:r>
            <a:r>
              <a:rPr sz="2000" spc="-85" dirty="0">
                <a:latin typeface="Arial"/>
                <a:cs typeface="Arial"/>
              </a:rPr>
              <a:t>Otros </a:t>
            </a:r>
            <a:r>
              <a:rPr sz="2000" spc="-170" dirty="0">
                <a:latin typeface="Arial"/>
                <a:cs typeface="Arial"/>
              </a:rPr>
              <a:t>casos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0" dirty="0">
                <a:latin typeface="Arial"/>
                <a:cs typeface="Arial"/>
              </a:rPr>
              <a:t>implementación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85" dirty="0">
                <a:latin typeface="Arial"/>
                <a:cs typeface="Arial"/>
              </a:rPr>
              <a:t>Outsourcing </a:t>
            </a:r>
            <a:r>
              <a:rPr sz="2000" spc="-175" dirty="0">
                <a:latin typeface="Arial"/>
                <a:cs typeface="Arial"/>
              </a:rPr>
              <a:t>se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dan: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000" b="1" spc="-60" dirty="0">
                <a:latin typeface="Trebuchet MS"/>
                <a:cs typeface="Trebuchet MS"/>
              </a:rPr>
              <a:t>A </a:t>
            </a:r>
            <a:r>
              <a:rPr sz="2000" b="1" spc="-120" dirty="0">
                <a:latin typeface="Trebuchet MS"/>
                <a:cs typeface="Trebuchet MS"/>
              </a:rPr>
              <a:t>nivel</a:t>
            </a:r>
            <a:r>
              <a:rPr sz="2000" b="1" spc="-250" dirty="0">
                <a:latin typeface="Trebuchet MS"/>
                <a:cs typeface="Trebuchet MS"/>
              </a:rPr>
              <a:t> </a:t>
            </a:r>
            <a:r>
              <a:rPr sz="2000" b="1" spc="-114" dirty="0">
                <a:latin typeface="Trebuchet MS"/>
                <a:cs typeface="Trebuchet MS"/>
              </a:rPr>
              <a:t>estratégico</a:t>
            </a:r>
            <a:r>
              <a:rPr sz="2000" spc="-114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110" dirty="0">
                <a:latin typeface="Arial"/>
                <a:cs typeface="Arial"/>
              </a:rPr>
              <a:t>Proyectos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65" dirty="0">
                <a:latin typeface="Arial"/>
                <a:cs typeface="Arial"/>
              </a:rPr>
              <a:t>integración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Tecnología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sz="2000" i="1" spc="-75" dirty="0">
                <a:latin typeface="Trebuchet MS"/>
                <a:cs typeface="Trebuchet MS"/>
              </a:rPr>
              <a:t>Business </a:t>
            </a:r>
            <a:r>
              <a:rPr sz="2000" i="1" spc="-114" dirty="0">
                <a:latin typeface="Trebuchet MS"/>
                <a:cs typeface="Trebuchet MS"/>
              </a:rPr>
              <a:t>Intelligence </a:t>
            </a:r>
            <a:r>
              <a:rPr sz="2000" spc="-90" dirty="0">
                <a:latin typeface="Arial"/>
                <a:cs typeface="Arial"/>
              </a:rPr>
              <a:t>(diseño, </a:t>
            </a:r>
            <a:r>
              <a:rPr sz="2000" spc="-100" dirty="0">
                <a:latin typeface="Arial"/>
                <a:cs typeface="Arial"/>
              </a:rPr>
              <a:t>análisis y</a:t>
            </a:r>
            <a:r>
              <a:rPr sz="2000" spc="-204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programación)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85" dirty="0">
                <a:latin typeface="Arial"/>
                <a:cs typeface="Arial"/>
              </a:rPr>
              <a:t>Migraciones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sistemas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469900" indent="-457200" algn="just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000" b="1" spc="-55" dirty="0">
                <a:latin typeface="Trebuchet MS"/>
                <a:cs typeface="Trebuchet MS"/>
              </a:rPr>
              <a:t>A </a:t>
            </a:r>
            <a:r>
              <a:rPr sz="2000" b="1" spc="-120" dirty="0">
                <a:latin typeface="Trebuchet MS"/>
                <a:cs typeface="Trebuchet MS"/>
              </a:rPr>
              <a:t>nivel</a:t>
            </a:r>
            <a:r>
              <a:rPr sz="2000" b="1" spc="-260" dirty="0">
                <a:latin typeface="Trebuchet MS"/>
                <a:cs typeface="Trebuchet MS"/>
              </a:rPr>
              <a:t> </a:t>
            </a:r>
            <a:r>
              <a:rPr sz="2000" b="1" spc="-100" dirty="0">
                <a:latin typeface="Trebuchet MS"/>
                <a:cs typeface="Trebuchet MS"/>
              </a:rPr>
              <a:t>operativo</a:t>
            </a:r>
            <a:r>
              <a:rPr sz="2000" spc="-1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926465" algn="l"/>
                <a:tab pos="927100" algn="l"/>
              </a:tabLst>
            </a:pPr>
            <a:r>
              <a:rPr sz="2000" i="1" spc="-65" dirty="0">
                <a:latin typeface="Trebuchet MS"/>
                <a:cs typeface="Trebuchet MS"/>
              </a:rPr>
              <a:t>Data</a:t>
            </a:r>
            <a:r>
              <a:rPr sz="2000" i="1" spc="-160" dirty="0">
                <a:latin typeface="Trebuchet MS"/>
                <a:cs typeface="Trebuchet MS"/>
              </a:rPr>
              <a:t> </a:t>
            </a:r>
            <a:r>
              <a:rPr sz="2000" i="1" spc="-125" dirty="0">
                <a:latin typeface="Trebuchet MS"/>
                <a:cs typeface="Trebuchet MS"/>
              </a:rPr>
              <a:t>entry</a:t>
            </a:r>
            <a:endParaRPr sz="2000">
              <a:latin typeface="Trebuchet MS"/>
              <a:cs typeface="Trebuchet MS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80" dirty="0">
                <a:latin typeface="Arial"/>
                <a:cs typeface="Arial"/>
              </a:rPr>
              <a:t>Digitalización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datos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65" dirty="0">
                <a:latin typeface="Arial"/>
                <a:cs typeface="Arial"/>
              </a:rPr>
              <a:t>Administración </a:t>
            </a:r>
            <a:r>
              <a:rPr sz="2000" spc="-95" dirty="0">
                <a:latin typeface="Arial"/>
                <a:cs typeface="Arial"/>
              </a:rPr>
              <a:t>de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redes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2000" spc="-114" dirty="0">
                <a:latin typeface="Arial"/>
                <a:cs typeface="Arial"/>
              </a:rPr>
              <a:t>Mesa </a:t>
            </a:r>
            <a:r>
              <a:rPr sz="2000" spc="-95" dirty="0">
                <a:latin typeface="Arial"/>
                <a:cs typeface="Arial"/>
              </a:rPr>
              <a:t>de </a:t>
            </a:r>
            <a:r>
              <a:rPr sz="2000" spc="-120" dirty="0">
                <a:latin typeface="Arial"/>
                <a:cs typeface="Arial"/>
              </a:rPr>
              <a:t>Ayuda </a:t>
            </a:r>
            <a:r>
              <a:rPr sz="2000" spc="215" dirty="0">
                <a:latin typeface="Arial"/>
                <a:cs typeface="Arial"/>
              </a:rPr>
              <a:t>/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Soporte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9300" y="4724400"/>
            <a:ext cx="3009900" cy="1514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47</a:t>
            </a:fld>
            <a:endParaRPr spc="-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0227" y="6469379"/>
            <a:ext cx="8571230" cy="0"/>
          </a:xfrm>
          <a:custGeom>
            <a:avLst/>
            <a:gdLst/>
            <a:ahLst/>
            <a:cxnLst/>
            <a:rect l="l" t="t" r="r" b="b"/>
            <a:pathLst>
              <a:path w="8571230">
                <a:moveTo>
                  <a:pt x="0" y="0"/>
                </a:moveTo>
                <a:lnTo>
                  <a:pt x="8570976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Tercerización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(Outsourcing)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48</a:t>
            </a:fld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09625" y="1084071"/>
            <a:ext cx="8526780" cy="5056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000" b="1" spc="-120" dirty="0">
                <a:latin typeface="Trebuchet MS"/>
                <a:cs typeface="Trebuchet MS"/>
              </a:rPr>
              <a:t>Ventajas</a:t>
            </a:r>
            <a:r>
              <a:rPr sz="2000" spc="-12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15"/>
              </a:spcBef>
              <a:buChar char="•"/>
              <a:tabLst>
                <a:tab pos="926465" algn="l"/>
                <a:tab pos="927100" algn="l"/>
              </a:tabLst>
            </a:pPr>
            <a:r>
              <a:rPr sz="1800" spc="-140" dirty="0">
                <a:latin typeface="Arial"/>
                <a:cs typeface="Arial"/>
              </a:rPr>
              <a:t>Reduce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35" dirty="0">
                <a:latin typeface="Arial"/>
                <a:cs typeface="Arial"/>
              </a:rPr>
              <a:t>permite </a:t>
            </a:r>
            <a:r>
              <a:rPr sz="1800" spc="-40" dirty="0">
                <a:latin typeface="Arial"/>
                <a:cs typeface="Arial"/>
              </a:rPr>
              <a:t>controlar </a:t>
            </a:r>
            <a:r>
              <a:rPr sz="1800" spc="-105" dirty="0">
                <a:latin typeface="Arial"/>
                <a:cs typeface="Arial"/>
              </a:rPr>
              <a:t>costos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operativos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0" dirty="0">
                <a:latin typeface="Arial"/>
                <a:cs typeface="Arial"/>
              </a:rPr>
              <a:t>Permite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85" dirty="0">
                <a:latin typeface="Arial"/>
                <a:cs typeface="Arial"/>
              </a:rPr>
              <a:t>organización </a:t>
            </a:r>
            <a:r>
              <a:rPr sz="1800" spc="-80" dirty="0">
                <a:latin typeface="Arial"/>
                <a:cs typeface="Arial"/>
              </a:rPr>
              <a:t>reaccione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30" dirty="0">
                <a:latin typeface="Arial"/>
                <a:cs typeface="Arial"/>
              </a:rPr>
              <a:t>tiempo </a:t>
            </a:r>
            <a:r>
              <a:rPr sz="1800" spc="-60" dirty="0">
                <a:latin typeface="Arial"/>
                <a:cs typeface="Arial"/>
              </a:rPr>
              <a:t>ante </a:t>
            </a:r>
            <a:r>
              <a:rPr sz="1800" spc="-95" dirty="0">
                <a:latin typeface="Arial"/>
                <a:cs typeface="Arial"/>
              </a:rPr>
              <a:t>cambios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-145" dirty="0">
                <a:latin typeface="Arial"/>
                <a:cs typeface="Arial"/>
              </a:rPr>
              <a:t> </a:t>
            </a:r>
            <a:r>
              <a:rPr sz="1800" spc="-40" dirty="0">
                <a:latin typeface="Arial"/>
                <a:cs typeface="Arial"/>
              </a:rPr>
              <a:t>entorno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0" dirty="0">
                <a:latin typeface="Arial"/>
                <a:cs typeface="Arial"/>
              </a:rPr>
              <a:t>Permite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130" dirty="0">
                <a:latin typeface="Arial"/>
                <a:cs typeface="Arial"/>
              </a:rPr>
              <a:t>acceso </a:t>
            </a:r>
            <a:r>
              <a:rPr sz="1800" spc="-140" dirty="0">
                <a:latin typeface="Arial"/>
                <a:cs typeface="Arial"/>
              </a:rPr>
              <a:t>a </a:t>
            </a:r>
            <a:r>
              <a:rPr sz="1800" spc="-70" dirty="0">
                <a:latin typeface="Arial"/>
                <a:cs typeface="Arial"/>
              </a:rPr>
              <a:t>habilidades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0" dirty="0">
                <a:latin typeface="Arial"/>
                <a:cs typeface="Arial"/>
              </a:rPr>
              <a:t>nivel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internacional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5" dirty="0">
                <a:latin typeface="Arial"/>
                <a:cs typeface="Arial"/>
              </a:rPr>
              <a:t>Brinda </a:t>
            </a:r>
            <a:r>
              <a:rPr sz="1800" spc="-60" dirty="0">
                <a:latin typeface="Arial"/>
                <a:cs typeface="Arial"/>
              </a:rPr>
              <a:t>estabilidad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5" dirty="0">
                <a:latin typeface="Arial"/>
                <a:cs typeface="Arial"/>
              </a:rPr>
              <a:t>la</a:t>
            </a:r>
            <a:r>
              <a:rPr sz="1800" spc="-130" dirty="0">
                <a:latin typeface="Arial"/>
                <a:cs typeface="Arial"/>
              </a:rPr>
              <a:t> </a:t>
            </a:r>
            <a:r>
              <a:rPr sz="1800" spc="-75" dirty="0">
                <a:latin typeface="Arial"/>
                <a:cs typeface="Arial"/>
              </a:rPr>
              <a:t>gestión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95" dirty="0">
                <a:latin typeface="Arial"/>
                <a:cs typeface="Arial"/>
              </a:rPr>
              <a:t>Libera recursos </a:t>
            </a:r>
            <a:r>
              <a:rPr sz="1800" spc="-45" dirty="0">
                <a:latin typeface="Arial"/>
                <a:cs typeface="Arial"/>
              </a:rPr>
              <a:t>internos </a:t>
            </a:r>
            <a:r>
              <a:rPr sz="1800" spc="-90" dirty="0">
                <a:latin typeface="Arial"/>
                <a:cs typeface="Arial"/>
              </a:rPr>
              <a:t>para </a:t>
            </a:r>
            <a:r>
              <a:rPr sz="1800" spc="-45" dirty="0">
                <a:latin typeface="Arial"/>
                <a:cs typeface="Arial"/>
              </a:rPr>
              <a:t>otros</a:t>
            </a:r>
            <a:r>
              <a:rPr sz="1800" spc="-135" dirty="0">
                <a:latin typeface="Arial"/>
                <a:cs typeface="Arial"/>
              </a:rPr>
              <a:t> </a:t>
            </a:r>
            <a:r>
              <a:rPr sz="1800" spc="-65" dirty="0">
                <a:latin typeface="Arial"/>
                <a:cs typeface="Arial"/>
              </a:rPr>
              <a:t>propósitos</a:t>
            </a:r>
            <a:endParaRPr sz="1800">
              <a:latin typeface="Arial"/>
              <a:cs typeface="Arial"/>
            </a:endParaRPr>
          </a:p>
          <a:p>
            <a:pPr marL="927100" marR="508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85" dirty="0">
                <a:latin typeface="Arial"/>
                <a:cs typeface="Arial"/>
              </a:rPr>
              <a:t>Comparte </a:t>
            </a:r>
            <a:r>
              <a:rPr sz="1800" spc="-90" dirty="0">
                <a:latin typeface="Arial"/>
                <a:cs typeface="Arial"/>
              </a:rPr>
              <a:t>y </a:t>
            </a:r>
            <a:r>
              <a:rPr sz="1800" spc="-80" dirty="0">
                <a:latin typeface="Arial"/>
                <a:cs typeface="Arial"/>
              </a:rPr>
              <a:t>reduce </a:t>
            </a:r>
            <a:r>
              <a:rPr sz="1800" spc="-50" dirty="0">
                <a:latin typeface="Arial"/>
                <a:cs typeface="Arial"/>
              </a:rPr>
              <a:t>el </a:t>
            </a:r>
            <a:r>
              <a:rPr sz="1800" spc="-85" dirty="0">
                <a:latin typeface="Arial"/>
                <a:cs typeface="Arial"/>
              </a:rPr>
              <a:t>riesgo, </a:t>
            </a:r>
            <a:r>
              <a:rPr sz="1800" spc="-130" dirty="0">
                <a:latin typeface="Arial"/>
                <a:cs typeface="Arial"/>
              </a:rPr>
              <a:t>ya </a:t>
            </a:r>
            <a:r>
              <a:rPr sz="1800" spc="-75" dirty="0">
                <a:latin typeface="Arial"/>
                <a:cs typeface="Arial"/>
              </a:rPr>
              <a:t>que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70" dirty="0">
                <a:latin typeface="Arial"/>
                <a:cs typeface="Arial"/>
              </a:rPr>
              <a:t>deposita </a:t>
            </a:r>
            <a:r>
              <a:rPr sz="1800" spc="-65" dirty="0">
                <a:latin typeface="Arial"/>
                <a:cs typeface="Arial"/>
              </a:rPr>
              <a:t>la tarea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70" dirty="0">
                <a:latin typeface="Arial"/>
                <a:cs typeface="Arial"/>
              </a:rPr>
              <a:t>ejecución </a:t>
            </a:r>
            <a:r>
              <a:rPr sz="1800" spc="-85" dirty="0">
                <a:latin typeface="Arial"/>
                <a:cs typeface="Arial"/>
              </a:rPr>
              <a:t>en </a:t>
            </a:r>
            <a:r>
              <a:rPr sz="1800" spc="-60" dirty="0">
                <a:latin typeface="Arial"/>
                <a:cs typeface="Arial"/>
              </a:rPr>
              <a:t>un  </a:t>
            </a:r>
            <a:r>
              <a:rPr sz="1800" spc="-80" dirty="0">
                <a:latin typeface="Arial"/>
                <a:cs typeface="Arial"/>
              </a:rPr>
              <a:t>especialista.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75" dirty="0">
                <a:latin typeface="Arial"/>
                <a:cs typeface="Arial"/>
              </a:rPr>
              <a:t>Proporciona </a:t>
            </a:r>
            <a:r>
              <a:rPr sz="1800" spc="-85" dirty="0">
                <a:latin typeface="Arial"/>
                <a:cs typeface="Arial"/>
              </a:rPr>
              <a:t>garantía de </a:t>
            </a:r>
            <a:r>
              <a:rPr sz="1800" spc="-70" dirty="0">
                <a:latin typeface="Arial"/>
                <a:cs typeface="Arial"/>
              </a:rPr>
              <a:t>servicio </a:t>
            </a:r>
            <a:r>
              <a:rPr sz="1800" spc="-60" dirty="0">
                <a:latin typeface="Arial"/>
                <a:cs typeface="Arial"/>
              </a:rPr>
              <a:t>mediante </a:t>
            </a:r>
            <a:r>
              <a:rPr sz="1800" spc="-250" dirty="0">
                <a:latin typeface="Arial"/>
                <a:cs typeface="Arial"/>
              </a:rPr>
              <a:t>SLAs </a:t>
            </a:r>
            <a:r>
              <a:rPr sz="1800" spc="-95" dirty="0">
                <a:latin typeface="Arial"/>
                <a:cs typeface="Arial"/>
              </a:rPr>
              <a:t>(</a:t>
            </a:r>
            <a:r>
              <a:rPr sz="1800" i="1" spc="-95" dirty="0">
                <a:latin typeface="Trebuchet MS"/>
                <a:cs typeface="Trebuchet MS"/>
              </a:rPr>
              <a:t>Service </a:t>
            </a:r>
            <a:r>
              <a:rPr sz="1800" i="1" spc="-130" dirty="0">
                <a:latin typeface="Trebuchet MS"/>
                <a:cs typeface="Trebuchet MS"/>
              </a:rPr>
              <a:t>Level</a:t>
            </a:r>
            <a:r>
              <a:rPr sz="1800" i="1" spc="-295" dirty="0">
                <a:latin typeface="Trebuchet MS"/>
                <a:cs typeface="Trebuchet MS"/>
              </a:rPr>
              <a:t> </a:t>
            </a:r>
            <a:r>
              <a:rPr sz="1800" i="1" spc="-90" dirty="0">
                <a:latin typeface="Trebuchet MS"/>
                <a:cs typeface="Trebuchet MS"/>
              </a:rPr>
              <a:t>Agreement</a:t>
            </a:r>
            <a:r>
              <a:rPr sz="1800" spc="-90" dirty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20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sz="2000" b="1" spc="-110" dirty="0">
                <a:latin typeface="Trebuchet MS"/>
                <a:cs typeface="Trebuchet MS"/>
              </a:rPr>
              <a:t>Desventajas</a:t>
            </a:r>
            <a:r>
              <a:rPr sz="2000" spc="-11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spcBef>
                <a:spcPts val="15"/>
              </a:spcBef>
              <a:buChar char="•"/>
              <a:tabLst>
                <a:tab pos="926465" algn="l"/>
                <a:tab pos="927100" algn="l"/>
              </a:tabLst>
            </a:pPr>
            <a:r>
              <a:rPr sz="1800" spc="-95" dirty="0">
                <a:latin typeface="Arial"/>
                <a:cs typeface="Arial"/>
              </a:rPr>
              <a:t>Pérdida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sentido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60" dirty="0">
                <a:latin typeface="Arial"/>
                <a:cs typeface="Arial"/>
              </a:rPr>
              <a:t>pertenencia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55" dirty="0">
                <a:latin typeface="Arial"/>
                <a:cs typeface="Arial"/>
              </a:rPr>
              <a:t>Alta </a:t>
            </a:r>
            <a:r>
              <a:rPr sz="1800" spc="-45" dirty="0">
                <a:latin typeface="Arial"/>
                <a:cs typeface="Arial"/>
              </a:rPr>
              <a:t>rotación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65" dirty="0">
                <a:latin typeface="Arial"/>
                <a:cs typeface="Arial"/>
              </a:rPr>
              <a:t> </a:t>
            </a:r>
            <a:r>
              <a:rPr sz="1800" spc="-85" dirty="0">
                <a:latin typeface="Arial"/>
                <a:cs typeface="Arial"/>
              </a:rPr>
              <a:t>empleados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185" dirty="0">
                <a:latin typeface="Arial"/>
                <a:cs typeface="Arial"/>
              </a:rPr>
              <a:t>Si </a:t>
            </a:r>
            <a:r>
              <a:rPr sz="1800" spc="-65" dirty="0">
                <a:latin typeface="Arial"/>
                <a:cs typeface="Arial"/>
              </a:rPr>
              <a:t>la </a:t>
            </a:r>
            <a:r>
              <a:rPr sz="1800" spc="-75" dirty="0">
                <a:latin typeface="Arial"/>
                <a:cs typeface="Arial"/>
              </a:rPr>
              <a:t>gestión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60" dirty="0">
                <a:latin typeface="Arial"/>
                <a:cs typeface="Arial"/>
              </a:rPr>
              <a:t>proveedor </a:t>
            </a:r>
            <a:r>
              <a:rPr sz="1800" spc="-55" dirty="0">
                <a:latin typeface="Arial"/>
                <a:cs typeface="Arial"/>
              </a:rPr>
              <a:t>no </a:t>
            </a:r>
            <a:r>
              <a:rPr sz="1800" spc="-60" dirty="0">
                <a:latin typeface="Arial"/>
                <a:cs typeface="Arial"/>
              </a:rPr>
              <a:t>resulta </a:t>
            </a:r>
            <a:r>
              <a:rPr sz="1800" spc="-65" dirty="0">
                <a:latin typeface="Arial"/>
                <a:cs typeface="Arial"/>
              </a:rPr>
              <a:t>satisfactoria,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100" dirty="0">
                <a:latin typeface="Arial"/>
                <a:cs typeface="Arial"/>
              </a:rPr>
              <a:t>genera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85" dirty="0">
                <a:latin typeface="Arial"/>
                <a:cs typeface="Arial"/>
              </a:rPr>
              <a:t>costo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80" dirty="0">
                <a:latin typeface="Arial"/>
                <a:cs typeface="Arial"/>
              </a:rPr>
              <a:t>mayor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95" dirty="0">
                <a:latin typeface="Arial"/>
                <a:cs typeface="Arial"/>
              </a:rPr>
              <a:t>No </a:t>
            </a:r>
            <a:r>
              <a:rPr sz="1800" spc="-155" dirty="0">
                <a:latin typeface="Arial"/>
                <a:cs typeface="Arial"/>
              </a:rPr>
              <a:t>se </a:t>
            </a:r>
            <a:r>
              <a:rPr sz="1800" spc="-75" dirty="0">
                <a:latin typeface="Arial"/>
                <a:cs typeface="Arial"/>
              </a:rPr>
              <a:t>ejerce </a:t>
            </a:r>
            <a:r>
              <a:rPr sz="1800" spc="-60" dirty="0">
                <a:latin typeface="Arial"/>
                <a:cs typeface="Arial"/>
              </a:rPr>
              <a:t>un </a:t>
            </a:r>
            <a:r>
              <a:rPr sz="1800" spc="-35" dirty="0">
                <a:latin typeface="Arial"/>
                <a:cs typeface="Arial"/>
              </a:rPr>
              <a:t>control </a:t>
            </a:r>
            <a:r>
              <a:rPr sz="1800" spc="-40" dirty="0">
                <a:latin typeface="Arial"/>
                <a:cs typeface="Arial"/>
              </a:rPr>
              <a:t>directo </a:t>
            </a:r>
            <a:r>
              <a:rPr sz="1800" spc="-85" dirty="0">
                <a:latin typeface="Arial"/>
                <a:cs typeface="Arial"/>
              </a:rPr>
              <a:t>sobre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área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80" dirty="0">
                <a:latin typeface="Arial"/>
                <a:cs typeface="Arial"/>
              </a:rPr>
              <a:t>Potencial </a:t>
            </a:r>
            <a:r>
              <a:rPr sz="1800" spc="-105" dirty="0">
                <a:latin typeface="Arial"/>
                <a:cs typeface="Arial"/>
              </a:rPr>
              <a:t>uso </a:t>
            </a:r>
            <a:r>
              <a:rPr sz="1800" spc="-45" dirty="0">
                <a:latin typeface="Arial"/>
                <a:cs typeface="Arial"/>
              </a:rPr>
              <a:t>indebido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información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80" dirty="0">
                <a:latin typeface="Arial"/>
                <a:cs typeface="Arial"/>
              </a:rPr>
              <a:t>Posibilidad </a:t>
            </a:r>
            <a:r>
              <a:rPr sz="1800" spc="-85" dirty="0">
                <a:latin typeface="Arial"/>
                <a:cs typeface="Arial"/>
              </a:rPr>
              <a:t>de </a:t>
            </a:r>
            <a:r>
              <a:rPr sz="1800" spc="-55" dirty="0">
                <a:latin typeface="Arial"/>
                <a:cs typeface="Arial"/>
              </a:rPr>
              <a:t>perder </a:t>
            </a:r>
            <a:r>
              <a:rPr sz="1800" spc="-50" dirty="0">
                <a:latin typeface="Arial"/>
                <a:cs typeface="Arial"/>
              </a:rPr>
              <a:t>el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control</a:t>
            </a:r>
            <a:endParaRPr sz="1800">
              <a:latin typeface="Arial"/>
              <a:cs typeface="Arial"/>
            </a:endParaRPr>
          </a:p>
          <a:p>
            <a:pPr marL="927100" lvl="1" indent="-457200">
              <a:lnSpc>
                <a:spcPct val="100000"/>
              </a:lnSpc>
              <a:buChar char="•"/>
              <a:tabLst>
                <a:tab pos="926465" algn="l"/>
                <a:tab pos="927100" algn="l"/>
              </a:tabLst>
            </a:pPr>
            <a:r>
              <a:rPr sz="1800" spc="-55" dirty="0">
                <a:latin typeface="Arial"/>
                <a:cs typeface="Arial"/>
              </a:rPr>
              <a:t>Alta </a:t>
            </a:r>
            <a:r>
              <a:rPr sz="1800" spc="-85" dirty="0">
                <a:latin typeface="Arial"/>
                <a:cs typeface="Arial"/>
              </a:rPr>
              <a:t>dependencia </a:t>
            </a:r>
            <a:r>
              <a:rPr sz="1800" spc="-55" dirty="0">
                <a:latin typeface="Arial"/>
                <a:cs typeface="Arial"/>
              </a:rPr>
              <a:t>del </a:t>
            </a:r>
            <a:r>
              <a:rPr sz="1800" spc="-60" dirty="0">
                <a:latin typeface="Arial"/>
                <a:cs typeface="Arial"/>
              </a:rPr>
              <a:t>proveedor </a:t>
            </a:r>
            <a:r>
              <a:rPr sz="1800" spc="-85" dirty="0">
                <a:latin typeface="Arial"/>
                <a:cs typeface="Arial"/>
              </a:rPr>
              <a:t>de</a:t>
            </a:r>
            <a:r>
              <a:rPr sz="1800" spc="-150" dirty="0">
                <a:latin typeface="Arial"/>
                <a:cs typeface="Arial"/>
              </a:rPr>
              <a:t> </a:t>
            </a:r>
            <a:r>
              <a:rPr sz="1800" spc="-70" dirty="0">
                <a:latin typeface="Arial"/>
                <a:cs typeface="Arial"/>
              </a:rPr>
              <a:t>servicio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39428" cy="1027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66344" y="4419600"/>
            <a:ext cx="1071372" cy="1071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86258" y="193801"/>
            <a:ext cx="7085330" cy="606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III </a:t>
            </a:r>
            <a:r>
              <a:rPr spc="-120" dirty="0">
                <a:latin typeface="Arial"/>
                <a:cs typeface="Arial"/>
              </a:rPr>
              <a:t>– </a:t>
            </a:r>
            <a:r>
              <a:rPr spc="-114" dirty="0"/>
              <a:t>Evaluación </a:t>
            </a:r>
            <a:r>
              <a:rPr spc="-120" dirty="0"/>
              <a:t>de </a:t>
            </a:r>
            <a:r>
              <a:rPr spc="-95" dirty="0"/>
              <a:t>Sistemas </a:t>
            </a:r>
            <a:r>
              <a:rPr spc="-125" dirty="0"/>
              <a:t>y </a:t>
            </a:r>
            <a:r>
              <a:rPr spc="-114" dirty="0"/>
              <a:t>Tecnologías </a:t>
            </a:r>
            <a:r>
              <a:rPr spc="-120" dirty="0"/>
              <a:t>de </a:t>
            </a:r>
            <a:r>
              <a:rPr spc="-90" dirty="0"/>
              <a:t>la </a:t>
            </a:r>
            <a:r>
              <a:rPr spc="-100" dirty="0"/>
              <a:t>Información</a:t>
            </a:r>
            <a:r>
              <a:rPr spc="-440" dirty="0"/>
              <a:t> </a:t>
            </a:r>
            <a:r>
              <a:rPr spc="-125" dirty="0"/>
              <a:t>(Cont.)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b="0" spc="-90" dirty="0">
                <a:latin typeface="Arial"/>
                <a:cs typeface="Arial"/>
              </a:rPr>
              <a:t>Tercerización</a:t>
            </a:r>
            <a:r>
              <a:rPr sz="1800" b="0" spc="-75" dirty="0">
                <a:latin typeface="Arial"/>
                <a:cs typeface="Arial"/>
              </a:rPr>
              <a:t> </a:t>
            </a:r>
            <a:r>
              <a:rPr sz="1800" b="0" spc="-70" dirty="0">
                <a:latin typeface="Arial"/>
                <a:cs typeface="Arial"/>
              </a:rPr>
              <a:t>(Outsourcing)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92203" y="1172717"/>
            <a:ext cx="7664823" cy="2650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3877" y="6019546"/>
            <a:ext cx="32626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400" spc="-105" dirty="0">
                <a:latin typeface="Arial"/>
                <a:cs typeface="Arial"/>
              </a:rPr>
              <a:t>The </a:t>
            </a:r>
            <a:r>
              <a:rPr sz="1400" spc="-10" dirty="0">
                <a:latin typeface="Arial"/>
                <a:cs typeface="Arial"/>
              </a:rPr>
              <a:t>top </a:t>
            </a:r>
            <a:r>
              <a:rPr sz="1400" spc="-75" dirty="0">
                <a:latin typeface="Arial"/>
                <a:cs typeface="Arial"/>
              </a:rPr>
              <a:t>100 </a:t>
            </a:r>
            <a:r>
              <a:rPr sz="1400" spc="-65" dirty="0">
                <a:latin typeface="Arial"/>
                <a:cs typeface="Arial"/>
              </a:rPr>
              <a:t>Outsourcing </a:t>
            </a:r>
            <a:r>
              <a:rPr sz="1400" spc="-60" dirty="0">
                <a:latin typeface="Arial"/>
                <a:cs typeface="Arial"/>
              </a:rPr>
              <a:t>2016:  </a:t>
            </a:r>
            <a:r>
              <a:rPr sz="1400" u="dbl" spc="-20" dirty="0">
                <a:solidFill>
                  <a:srgbClr val="8E248D"/>
                </a:solidFill>
                <a:uFill>
                  <a:solidFill>
                    <a:srgbClr val="8E248D"/>
                  </a:solidFill>
                </a:uFill>
                <a:latin typeface="Arial"/>
                <a:cs typeface="Arial"/>
                <a:hlinkClick r:id="rId5"/>
              </a:rPr>
              <a:t>https://www.iaop.org/Content/19/165/4454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29200" y="3886200"/>
            <a:ext cx="3810000" cy="24673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" y="3933444"/>
            <a:ext cx="1395222" cy="8191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52600" y="4034028"/>
            <a:ext cx="1223772" cy="12237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6107" y="4080957"/>
            <a:ext cx="1743436" cy="3907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14692" y="4629150"/>
            <a:ext cx="1324321" cy="56197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150349" y="5327141"/>
            <a:ext cx="1015518" cy="406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23950" y="5168646"/>
            <a:ext cx="828294" cy="79095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86258" y="6490853"/>
            <a:ext cx="5132070" cy="16094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b="1" spc="-5" dirty="0">
                <a:latin typeface="Arial"/>
                <a:cs typeface="Arial"/>
              </a:rPr>
              <a:t>2019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spc="-5" dirty="0">
                <a:latin typeface="Arial"/>
                <a:cs typeface="Arial"/>
              </a:rPr>
              <a:t>Universidad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b="1" spc="5" dirty="0">
                <a:latin typeface="Arial"/>
                <a:cs typeface="Arial"/>
              </a:rPr>
              <a:t>Argentina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la </a:t>
            </a:r>
            <a:r>
              <a:rPr b="1" spc="-10" dirty="0">
                <a:latin typeface="Arial"/>
                <a:cs typeface="Arial"/>
              </a:rPr>
              <a:t>Empresa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spc="130" dirty="0"/>
              <a:t>–</a:t>
            </a:r>
            <a:r>
              <a:rPr spc="-25" dirty="0"/>
              <a:t> </a:t>
            </a:r>
            <a:r>
              <a:rPr lang="es-AR" spc="40" dirty="0" err="1"/>
              <a:t>Mag</a:t>
            </a:r>
            <a:r>
              <a:rPr lang="es-AR" spc="40" dirty="0"/>
              <a:t>.</a:t>
            </a:r>
            <a:r>
              <a:rPr lang="es-AR" spc="-30" dirty="0"/>
              <a:t> </a:t>
            </a:r>
            <a:r>
              <a:rPr lang="es-AR" spc="-5" dirty="0"/>
              <a:t>Javier F. Klus</a:t>
            </a:r>
            <a:r>
              <a:rPr lang="es-AR" spc="-40" dirty="0"/>
              <a:t> </a:t>
            </a:r>
            <a:r>
              <a:rPr lang="es-AR" spc="-30" dirty="0"/>
              <a:t>(jklus@uade.edu.ar)</a:t>
            </a:r>
            <a:endParaRPr spc="-3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5" dirty="0"/>
              <a:t>49</a:t>
            </a:fld>
            <a:endParaRPr spc="-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58983" y="4581905"/>
            <a:ext cx="679488" cy="2276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4541520" cy="22783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262125" y="827532"/>
            <a:ext cx="106553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spc="-125" dirty="0">
                <a:solidFill>
                  <a:srgbClr val="00338D"/>
                </a:solidFill>
                <a:latin typeface="Trebuchet MS"/>
                <a:cs typeface="Trebuchet MS"/>
              </a:rPr>
              <a:t>Síntesis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1119378" y="0"/>
                </a:moveTo>
                <a:lnTo>
                  <a:pt x="334898" y="0"/>
                </a:lnTo>
                <a:lnTo>
                  <a:pt x="0" y="1160526"/>
                </a:lnTo>
                <a:lnTo>
                  <a:pt x="784479" y="1160526"/>
                </a:lnTo>
                <a:lnTo>
                  <a:pt x="1119378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11804" y="1051178"/>
            <a:ext cx="1119505" cy="1160780"/>
          </a:xfrm>
          <a:custGeom>
            <a:avLst/>
            <a:gdLst/>
            <a:ahLst/>
            <a:cxnLst/>
            <a:rect l="l" t="t" r="r" b="b"/>
            <a:pathLst>
              <a:path w="1119504" h="1160780">
                <a:moveTo>
                  <a:pt x="0" y="1160526"/>
                </a:moveTo>
                <a:lnTo>
                  <a:pt x="334898" y="0"/>
                </a:lnTo>
                <a:lnTo>
                  <a:pt x="1119378" y="0"/>
                </a:lnTo>
                <a:lnTo>
                  <a:pt x="784479" y="1160526"/>
                </a:lnTo>
                <a:lnTo>
                  <a:pt x="0" y="1160526"/>
                </a:lnTo>
                <a:close/>
              </a:path>
            </a:pathLst>
          </a:custGeom>
          <a:ln w="990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19271" y="1247647"/>
            <a:ext cx="50419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1" spc="-100" dirty="0">
                <a:solidFill>
                  <a:srgbClr val="FFFFFF"/>
                </a:solidFill>
                <a:latin typeface="Trebuchet MS"/>
                <a:cs typeface="Trebuchet MS"/>
              </a:rPr>
              <a:t>IV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258" y="6485382"/>
            <a:ext cx="5132070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2019</a:t>
            </a:r>
            <a:r>
              <a:rPr sz="1000" b="1" spc="-2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-5" dirty="0">
                <a:solidFill>
                  <a:srgbClr val="00338D"/>
                </a:solidFill>
                <a:latin typeface="Arial"/>
                <a:cs typeface="Arial"/>
              </a:rPr>
              <a:t>Universidad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spc="5" dirty="0">
                <a:solidFill>
                  <a:srgbClr val="00338D"/>
                </a:solidFill>
                <a:latin typeface="Arial"/>
                <a:cs typeface="Arial"/>
              </a:rPr>
              <a:t>Argentina</a:t>
            </a:r>
            <a:r>
              <a:rPr sz="1000" b="1" spc="-15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de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00338D"/>
                </a:solidFill>
                <a:latin typeface="Arial"/>
                <a:cs typeface="Arial"/>
              </a:rPr>
              <a:t>la </a:t>
            </a:r>
            <a:r>
              <a:rPr sz="1000" b="1" spc="-10" dirty="0">
                <a:solidFill>
                  <a:srgbClr val="00338D"/>
                </a:solidFill>
                <a:latin typeface="Arial"/>
                <a:cs typeface="Arial"/>
              </a:rPr>
              <a:t>Empresa</a:t>
            </a:r>
            <a:r>
              <a:rPr sz="1000" b="1" spc="-20" dirty="0">
                <a:solidFill>
                  <a:srgbClr val="00338D"/>
                </a:solidFill>
                <a:latin typeface="Arial"/>
                <a:cs typeface="Arial"/>
              </a:rPr>
              <a:t> </a:t>
            </a:r>
            <a:r>
              <a:rPr sz="1000" spc="130" dirty="0">
                <a:solidFill>
                  <a:srgbClr val="00338D"/>
                </a:solidFill>
                <a:latin typeface="Trebuchet MS"/>
                <a:cs typeface="Trebuchet MS"/>
              </a:rPr>
              <a:t>–</a:t>
            </a:r>
            <a:r>
              <a:rPr sz="1000" spc="-2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40" dirty="0">
                <a:solidFill>
                  <a:srgbClr val="00338D"/>
                </a:solidFill>
                <a:latin typeface="Trebuchet MS"/>
                <a:cs typeface="Trebuchet MS"/>
              </a:rPr>
              <a:t>Mag.</a:t>
            </a:r>
            <a:r>
              <a:rPr sz="1000" spc="-3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-5" dirty="0">
                <a:solidFill>
                  <a:srgbClr val="00338D"/>
                </a:solidFill>
                <a:latin typeface="Trebuchet MS"/>
                <a:cs typeface="Trebuchet MS"/>
              </a:rPr>
              <a:t>Alan</a:t>
            </a:r>
            <a:r>
              <a:rPr sz="1000" spc="-3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70" dirty="0">
                <a:solidFill>
                  <a:srgbClr val="00338D"/>
                </a:solidFill>
                <a:latin typeface="Trebuchet MS"/>
                <a:cs typeface="Trebuchet MS"/>
              </a:rPr>
              <a:t>M.</a:t>
            </a:r>
            <a:r>
              <a:rPr sz="1000" spc="-15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-10" dirty="0">
                <a:solidFill>
                  <a:srgbClr val="00338D"/>
                </a:solidFill>
                <a:latin typeface="Trebuchet MS"/>
                <a:cs typeface="Trebuchet MS"/>
              </a:rPr>
              <a:t>Lerner</a:t>
            </a:r>
            <a:r>
              <a:rPr sz="1000" spc="-40" dirty="0">
                <a:solidFill>
                  <a:srgbClr val="00338D"/>
                </a:solidFill>
                <a:latin typeface="Trebuchet MS"/>
                <a:cs typeface="Trebuchet MS"/>
              </a:rPr>
              <a:t> </a:t>
            </a:r>
            <a:r>
              <a:rPr sz="1000" spc="-30" dirty="0">
                <a:solidFill>
                  <a:srgbClr val="00338D"/>
                </a:solidFill>
                <a:latin typeface="Trebuchet MS"/>
                <a:cs typeface="Trebuchet MS"/>
              </a:rPr>
              <a:t>(alerner@uade.edu.ar)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6169" y="6512559"/>
            <a:ext cx="1524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0" dirty="0">
                <a:solidFill>
                  <a:srgbClr val="00338D"/>
                </a:solidFill>
                <a:latin typeface="Arial"/>
                <a:cs typeface="Arial"/>
              </a:rPr>
              <a:t>51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6342" y="193801"/>
            <a:ext cx="8641080" cy="4935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95"/>
              </a:spcBef>
            </a:pPr>
            <a:r>
              <a:rPr sz="2000" b="1" spc="-25" dirty="0">
                <a:solidFill>
                  <a:srgbClr val="FFFFFF"/>
                </a:solidFill>
                <a:latin typeface="Trebuchet MS"/>
                <a:cs typeface="Trebuchet MS"/>
              </a:rPr>
              <a:t>II </a:t>
            </a:r>
            <a:r>
              <a:rPr sz="2000" b="1" spc="-12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2000" b="1" spc="-22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000" b="1" spc="-100" dirty="0">
                <a:solidFill>
                  <a:srgbClr val="FFFFFF"/>
                </a:solidFill>
                <a:latin typeface="Trebuchet MS"/>
                <a:cs typeface="Trebuchet MS"/>
              </a:rPr>
              <a:t>Síntesis</a:t>
            </a:r>
            <a:endParaRPr sz="2000">
              <a:latin typeface="Trebuchet MS"/>
              <a:cs typeface="Trebuchet MS"/>
            </a:endParaRPr>
          </a:p>
          <a:p>
            <a:pPr marL="102235">
              <a:lnSpc>
                <a:spcPct val="100000"/>
              </a:lnSpc>
              <a:spcBef>
                <a:spcPts val="15"/>
              </a:spcBef>
            </a:pP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Resumen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preguntas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repaso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(Cont.)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50">
              <a:latin typeface="Times New Roman"/>
              <a:cs typeface="Times New Roman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50" dirty="0">
                <a:latin typeface="Arial"/>
                <a:cs typeface="Arial"/>
              </a:rPr>
              <a:t>Explicamos </a:t>
            </a:r>
            <a:r>
              <a:rPr sz="2400" spc="-65" dirty="0">
                <a:latin typeface="Arial"/>
                <a:cs typeface="Arial"/>
              </a:rPr>
              <a:t>el</a:t>
            </a:r>
            <a:r>
              <a:rPr sz="2400" spc="53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ciclo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vida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285" dirty="0">
                <a:latin typeface="Arial"/>
                <a:cs typeface="Arial"/>
              </a:rPr>
              <a:t>SI </a:t>
            </a:r>
            <a:r>
              <a:rPr sz="2400" spc="-114" dirty="0">
                <a:latin typeface="Arial"/>
                <a:cs typeface="Arial"/>
              </a:rPr>
              <a:t>y  </a:t>
            </a:r>
            <a:r>
              <a:rPr sz="2400" spc="-204" dirty="0">
                <a:latin typeface="Arial"/>
                <a:cs typeface="Arial"/>
              </a:rPr>
              <a:t>sus </a:t>
            </a:r>
            <a:r>
              <a:rPr sz="2400" spc="-95" dirty="0">
                <a:latin typeface="Arial"/>
                <a:cs typeface="Arial"/>
              </a:rPr>
              <a:t>componentes  </a:t>
            </a:r>
            <a:r>
              <a:rPr sz="2400" spc="-85" dirty="0">
                <a:latin typeface="Arial"/>
                <a:cs typeface="Arial"/>
              </a:rPr>
              <a:t>fundamentales.</a:t>
            </a:r>
            <a:endParaRPr sz="2400">
              <a:latin typeface="Arial"/>
              <a:cs typeface="Arial"/>
            </a:endParaRPr>
          </a:p>
          <a:p>
            <a:pPr marL="279400" marR="635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30" dirty="0">
                <a:latin typeface="Arial"/>
                <a:cs typeface="Arial"/>
              </a:rPr>
              <a:t>Analizamos </a:t>
            </a:r>
            <a:r>
              <a:rPr sz="2400" spc="-95" dirty="0">
                <a:latin typeface="Arial"/>
                <a:cs typeface="Arial"/>
              </a:rPr>
              <a:t>metodologías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adquisición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75" dirty="0">
                <a:latin typeface="Arial"/>
                <a:cs typeface="Arial"/>
              </a:rPr>
              <a:t>desarrollo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20" dirty="0">
                <a:latin typeface="Arial"/>
                <a:cs typeface="Arial"/>
              </a:rPr>
              <a:t>soluciones 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tecnología.</a:t>
            </a:r>
            <a:endParaRPr sz="24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90" dirty="0">
                <a:latin typeface="Arial"/>
                <a:cs typeface="Arial"/>
              </a:rPr>
              <a:t>la</a:t>
            </a:r>
            <a:r>
              <a:rPr sz="2400" spc="484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metodología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análisis  </a:t>
            </a:r>
            <a:r>
              <a:rPr sz="2400" spc="-65" dirty="0">
                <a:latin typeface="Arial"/>
                <a:cs typeface="Arial"/>
              </a:rPr>
              <a:t>estructurado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15" dirty="0">
                <a:latin typeface="Arial"/>
                <a:cs typeface="Arial"/>
              </a:rPr>
              <a:t>SI.  </a:t>
            </a:r>
            <a:r>
              <a:rPr sz="2400" spc="-95" dirty="0">
                <a:latin typeface="Arial"/>
                <a:cs typeface="Arial"/>
              </a:rPr>
              <a:t>Definimos </a:t>
            </a:r>
            <a:r>
              <a:rPr sz="2400" spc="-105" dirty="0">
                <a:latin typeface="Arial"/>
                <a:cs typeface="Arial"/>
              </a:rPr>
              <a:t>los </a:t>
            </a:r>
            <a:r>
              <a:rPr sz="2400" spc="-95" dirty="0">
                <a:latin typeface="Arial"/>
                <a:cs typeface="Arial"/>
              </a:rPr>
              <a:t>componentes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0" dirty="0">
                <a:latin typeface="Arial"/>
                <a:cs typeface="Arial"/>
              </a:rPr>
              <a:t>variables </a:t>
            </a:r>
            <a:r>
              <a:rPr sz="2400" spc="-150" dirty="0">
                <a:latin typeface="Arial"/>
                <a:cs typeface="Arial"/>
              </a:rPr>
              <a:t>claves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esta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metodología</a:t>
            </a:r>
            <a:endParaRPr sz="2400">
              <a:latin typeface="Arial"/>
              <a:cs typeface="Arial"/>
            </a:endParaRPr>
          </a:p>
          <a:p>
            <a:pPr marL="279400" marR="5080" indent="-266700" algn="just">
              <a:lnSpc>
                <a:spcPct val="100000"/>
              </a:lnSpc>
              <a:buFont typeface="Wingdings"/>
              <a:buChar char=""/>
              <a:tabLst>
                <a:tab pos="279400" algn="l"/>
              </a:tabLst>
            </a:pPr>
            <a:r>
              <a:rPr sz="2400" spc="-95" dirty="0">
                <a:latin typeface="Arial"/>
                <a:cs typeface="Arial"/>
              </a:rPr>
              <a:t>Aprendimos </a:t>
            </a:r>
            <a:r>
              <a:rPr sz="2400" spc="-100" dirty="0">
                <a:latin typeface="Arial"/>
                <a:cs typeface="Arial"/>
              </a:rPr>
              <a:t>qué </a:t>
            </a:r>
            <a:r>
              <a:rPr sz="2400" spc="-55" dirty="0">
                <a:latin typeface="Arial"/>
                <a:cs typeface="Arial"/>
              </a:rPr>
              <a:t>tipos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30" dirty="0">
                <a:latin typeface="Arial"/>
                <a:cs typeface="Arial"/>
              </a:rPr>
              <a:t>diagramas </a:t>
            </a:r>
            <a:r>
              <a:rPr sz="2400" spc="-90" dirty="0">
                <a:latin typeface="Arial"/>
                <a:cs typeface="Arial"/>
              </a:rPr>
              <a:t>existen  </a:t>
            </a:r>
            <a:r>
              <a:rPr sz="2400" spc="-110" dirty="0">
                <a:latin typeface="Arial"/>
                <a:cs typeface="Arial"/>
              </a:rPr>
              <a:t>para </a:t>
            </a:r>
            <a:r>
              <a:rPr sz="2400" spc="-75" dirty="0">
                <a:latin typeface="Arial"/>
                <a:cs typeface="Arial"/>
              </a:rPr>
              <a:t>modelar  </a:t>
            </a:r>
            <a:r>
              <a:rPr sz="2400" spc="-60" dirty="0">
                <a:latin typeface="Arial"/>
                <a:cs typeface="Arial"/>
              </a:rPr>
              <a:t>requerimientos </a:t>
            </a:r>
            <a:r>
              <a:rPr sz="2400" spc="-95" dirty="0">
                <a:latin typeface="Arial"/>
                <a:cs typeface="Arial"/>
              </a:rPr>
              <a:t>funcionales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280" dirty="0">
                <a:latin typeface="Arial"/>
                <a:cs typeface="Arial"/>
              </a:rPr>
              <a:t>SI </a:t>
            </a:r>
            <a:r>
              <a:rPr sz="2400" spc="-75" dirty="0">
                <a:latin typeface="Arial"/>
                <a:cs typeface="Arial"/>
              </a:rPr>
              <a:t>bajo </a:t>
            </a:r>
            <a:r>
              <a:rPr sz="2400" spc="-90" dirty="0">
                <a:latin typeface="Arial"/>
                <a:cs typeface="Arial"/>
              </a:rPr>
              <a:t>la </a:t>
            </a:r>
            <a:r>
              <a:rPr sz="2400" spc="-85" dirty="0">
                <a:latin typeface="Arial"/>
                <a:cs typeface="Arial"/>
              </a:rPr>
              <a:t>metodología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14" dirty="0">
                <a:latin typeface="Arial"/>
                <a:cs typeface="Arial"/>
              </a:rPr>
              <a:t>análisis </a:t>
            </a:r>
            <a:r>
              <a:rPr sz="2400" spc="434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estructurado.</a:t>
            </a:r>
            <a:endParaRPr sz="2400">
              <a:latin typeface="Arial"/>
              <a:cs typeface="Arial"/>
            </a:endParaRPr>
          </a:p>
          <a:p>
            <a:pPr marL="279400" marR="7620" indent="-266700" algn="just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79400" algn="l"/>
              </a:tabLst>
            </a:pPr>
            <a:r>
              <a:rPr sz="2400" spc="-120" dirty="0">
                <a:latin typeface="Arial"/>
                <a:cs typeface="Arial"/>
              </a:rPr>
              <a:t>Describimos </a:t>
            </a:r>
            <a:r>
              <a:rPr sz="2400" spc="-145" dirty="0">
                <a:latin typeface="Arial"/>
                <a:cs typeface="Arial"/>
              </a:rPr>
              <a:t>las </a:t>
            </a:r>
            <a:r>
              <a:rPr sz="2400" spc="-120" dirty="0">
                <a:latin typeface="Arial"/>
                <a:cs typeface="Arial"/>
              </a:rPr>
              <a:t>etapas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00" dirty="0">
                <a:latin typeface="Arial"/>
                <a:cs typeface="Arial"/>
              </a:rPr>
              <a:t>componentes </a:t>
            </a:r>
            <a:r>
              <a:rPr sz="2400" spc="-85" dirty="0">
                <a:latin typeface="Arial"/>
                <a:cs typeface="Arial"/>
              </a:rPr>
              <a:t>fundamentales </a:t>
            </a:r>
            <a:r>
              <a:rPr sz="2400" spc="-70" dirty="0">
                <a:latin typeface="Arial"/>
                <a:cs typeface="Arial"/>
              </a:rPr>
              <a:t>del </a:t>
            </a:r>
            <a:r>
              <a:rPr sz="2400" spc="-114" dirty="0">
                <a:latin typeface="Arial"/>
                <a:cs typeface="Arial"/>
              </a:rPr>
              <a:t>proceso 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100" dirty="0">
                <a:latin typeface="Arial"/>
                <a:cs typeface="Arial"/>
              </a:rPr>
              <a:t>evaluación </a:t>
            </a:r>
            <a:r>
              <a:rPr sz="2400" spc="-110" dirty="0">
                <a:latin typeface="Arial"/>
                <a:cs typeface="Arial"/>
              </a:rPr>
              <a:t>de </a:t>
            </a:r>
            <a:r>
              <a:rPr sz="2400" spc="-90" dirty="0">
                <a:latin typeface="Arial"/>
                <a:cs typeface="Arial"/>
              </a:rPr>
              <a:t>adquisición </a:t>
            </a:r>
            <a:r>
              <a:rPr sz="2400" spc="-114" dirty="0">
                <a:latin typeface="Arial"/>
                <a:cs typeface="Arial"/>
              </a:rPr>
              <a:t>y </a:t>
            </a:r>
            <a:r>
              <a:rPr sz="2400" spc="-120" dirty="0">
                <a:latin typeface="Arial"/>
                <a:cs typeface="Arial"/>
              </a:rPr>
              <a:t>selección </a:t>
            </a:r>
            <a:r>
              <a:rPr sz="2400" spc="-110" dirty="0">
                <a:latin typeface="Arial"/>
                <a:cs typeface="Arial"/>
              </a:rPr>
              <a:t>de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135" dirty="0">
                <a:latin typeface="Arial"/>
                <a:cs typeface="Arial"/>
              </a:rPr>
              <a:t>TI/SI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750" y="2084070"/>
            <a:ext cx="191198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60" dirty="0"/>
              <a:t>¿Dudas?</a:t>
            </a:r>
            <a:endParaRPr sz="3000"/>
          </a:p>
          <a:p>
            <a:pPr marL="12700">
              <a:lnSpc>
                <a:spcPct val="100000"/>
              </a:lnSpc>
            </a:pPr>
            <a:r>
              <a:rPr sz="3000" spc="-105" dirty="0"/>
              <a:t>¿Consultas?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</TotalTime>
  <Words>5380</Words>
  <Application>Microsoft Office PowerPoint</Application>
  <PresentationFormat>Presentación en pantalla (4:3)</PresentationFormat>
  <Paragraphs>659</Paragraphs>
  <Slides>52</Slides>
  <Notes>0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9" baseType="lpstr">
      <vt:lpstr>Arial</vt:lpstr>
      <vt:lpstr>Calibri</vt:lpstr>
      <vt:lpstr>Times New Roman</vt:lpstr>
      <vt:lpstr>Trebuchet MS</vt:lpstr>
      <vt:lpstr>Verdana</vt:lpstr>
      <vt:lpstr>Wingdings</vt:lpstr>
      <vt:lpstr>Office Theme</vt:lpstr>
      <vt:lpstr>Sistemas de  Información</vt:lpstr>
      <vt:lpstr>Presentación de PowerPoint</vt:lpstr>
      <vt:lpstr>Presentación de PowerPoint</vt:lpstr>
      <vt:lpstr>Presentación de PowerPoint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Etapas del Ciclo de Vida de SI</vt:lpstr>
      <vt:lpstr>I – Ciclo de Vida de Sistemas de Información (Cont.) Métodos de adquisición de soluciones</vt:lpstr>
      <vt:lpstr>Presentación de PowerPoint</vt:lpstr>
      <vt:lpstr>Presentación de PowerPoint</vt:lpstr>
      <vt:lpstr>I – Ciclo de Vida de Sistemas de Información (Cont.) Métodos de adquisición de soluciones</vt:lpstr>
      <vt:lpstr>I – Ciclo de Vida de Sistemas de Información (Cont.) Métodos de adquisición de soluciones</vt:lpstr>
      <vt:lpstr>I – Ciclo de Vida de Sistemas de Información (Cont.) Métodos de adquisición de soluciones</vt:lpstr>
      <vt:lpstr>I – Ciclo de Vida de Sistemas de Información (Cont.) Métodos de adquisición de soluciones</vt:lpstr>
      <vt:lpstr>I – Ciclo de Vida de Sistemas de Información (Cont.) Métodos de adquisición de soluciones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II – Análisis estructurado de Sistemas (Cont.)</vt:lpstr>
      <vt:lpstr>II – Análisis estructurado de Sistemas (Cont.)</vt:lpstr>
      <vt:lpstr>II – Análisis estructurado de Sistemas (Cont.)</vt:lpstr>
      <vt:lpstr>II – Análisis estructurado de Sistemas (Cont.)</vt:lpstr>
      <vt:lpstr>II – Análisis estructurado de Sistemas (Cont.)</vt:lpstr>
      <vt:lpstr>II – Análisis estructurado de Sistemas (Cont.)</vt:lpstr>
      <vt:lpstr>II – Análisis estructurado de Sistemas (Cont.)</vt:lpstr>
      <vt:lpstr>II – Análisis estructurado de Sistemas (Cont.)</vt:lpstr>
      <vt:lpstr>II – Análisis estructurado de Sistemas (Cont.)</vt:lpstr>
      <vt:lpstr>II – Análisis estructurado de Sistemas (Cont.)</vt:lpstr>
      <vt:lpstr>Presentación de PowerPoint</vt:lpstr>
      <vt:lpstr>III – Evaluación de Sistemas y Tecnologías de la Información Proceso de adquisición y selección de SI/TI</vt:lpstr>
      <vt:lpstr>III – Evaluación de Sistemas y Tecnologías de la Información (Cont.)</vt:lpstr>
      <vt:lpstr>III – Evaluación de Sistemas y Tecnologías de la Información (Cont.)</vt:lpstr>
      <vt:lpstr>III – Evaluación de Sistemas y Tecnologías de la Información (Cont.) Proceso de adquisición y selección de SI/TI</vt:lpstr>
      <vt:lpstr>III – Evaluación de Sistemas y Tecnologías de la Información (Cont.) Proceso de adquisición y selección de SI/TI</vt:lpstr>
      <vt:lpstr>III – Evaluación de Sistemas y Tecnologías de la Información (Cont.) Proceso de adquisición y selección de SI/TI</vt:lpstr>
      <vt:lpstr>III – Evaluación de Sistemas y Tecnologías de la Información (Cont.) Proceso de adquisición y selección de SI/TI</vt:lpstr>
      <vt:lpstr>III – Evaluación de Sistemas y Tecnologías de la Información (Cont.)</vt:lpstr>
      <vt:lpstr>III – Evaluación de Sistemas y Tecnologías de la Información (Cont.) Proceso de adquisición y selección de SI/TI</vt:lpstr>
      <vt:lpstr>III – Evaluación de Sistemas y Tecnologías de la Información (Cont.)</vt:lpstr>
      <vt:lpstr>III – Evaluación de Sistemas y Tecnologías de la Información (Cont.) Tercerización (Outsourcing)</vt:lpstr>
      <vt:lpstr>III – Evaluación de Sistemas y Tecnologías de la Información (Cont.) Tercerización (Outsourcing)</vt:lpstr>
      <vt:lpstr>III – Evaluación de Sistemas y Tecnologías de la Información (Cont.) Tercerización (Outsourcing)</vt:lpstr>
      <vt:lpstr>III – Evaluación de Sistemas y Tecnologías de la Información (Cont.) Tercerización (Outsourcing)</vt:lpstr>
      <vt:lpstr>Presentación de PowerPoint</vt:lpstr>
      <vt:lpstr>Presentación de PowerPoint</vt:lpstr>
      <vt:lpstr>¿Dudas? ¿Consultas?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Datawarehousing</dc:title>
  <dc:creator>Roberto Abalde</dc:creator>
  <cp:lastModifiedBy>Klus Javier Fernando</cp:lastModifiedBy>
  <cp:revision>6</cp:revision>
  <dcterms:created xsi:type="dcterms:W3CDTF">2019-10-16T14:03:51Z</dcterms:created>
  <dcterms:modified xsi:type="dcterms:W3CDTF">2019-10-30T12:46:57Z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2019-10-16T00:00:00Z</vt:filetime>
  </property>
</Properties>
</file>