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9144000" cy="6858000" type="screen4x3"/>
  <p:notesSz cx="9144000" cy="6858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48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858983" y="4581905"/>
            <a:ext cx="679488" cy="22760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4541520" cy="22783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62125" y="827532"/>
            <a:ext cx="6619748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39428" cy="1027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39428" cy="1027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39428" cy="102717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6258" y="56642"/>
            <a:ext cx="4253865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9268" y="1498853"/>
            <a:ext cx="5795010" cy="4780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79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13469" y="6523387"/>
            <a:ext cx="177800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6.png"/><Relationship Id="rId7" Type="http://schemas.openxmlformats.org/officeDocument/2006/relationships/hyperlink" Target="mailto:alerner@uade.edu.ar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2.cfo.com/erp/2016/02/trend-spotting-erp-2016/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5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8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1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blog.trginternational.com/a-comparison-of-tier-1-erp-vendors" TargetMode="External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blog.trginternational.com/a-comparison-of-tier-1-erp-vendors" TargetMode="External"/><Relationship Id="rId5" Type="http://schemas.openxmlformats.org/officeDocument/2006/relationships/image" Target="../media/image56.jpg"/><Relationship Id="rId4" Type="http://schemas.openxmlformats.org/officeDocument/2006/relationships/image" Target="../media/image55.jp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jpg"/><Relationship Id="rId13" Type="http://schemas.openxmlformats.org/officeDocument/2006/relationships/image" Target="../media/image68.png"/><Relationship Id="rId3" Type="http://schemas.openxmlformats.org/officeDocument/2006/relationships/image" Target="../media/image58.jpg"/><Relationship Id="rId7" Type="http://schemas.openxmlformats.org/officeDocument/2006/relationships/image" Target="../media/image62.jpg"/><Relationship Id="rId12" Type="http://schemas.openxmlformats.org/officeDocument/2006/relationships/image" Target="../media/image67.jpg"/><Relationship Id="rId17" Type="http://schemas.openxmlformats.org/officeDocument/2006/relationships/image" Target="../media/image72.jpg"/><Relationship Id="rId2" Type="http://schemas.openxmlformats.org/officeDocument/2006/relationships/image" Target="../media/image57.png"/><Relationship Id="rId16" Type="http://schemas.openxmlformats.org/officeDocument/2006/relationships/image" Target="../media/image7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jpg"/><Relationship Id="rId11" Type="http://schemas.openxmlformats.org/officeDocument/2006/relationships/image" Target="../media/image66.jpg"/><Relationship Id="rId5" Type="http://schemas.openxmlformats.org/officeDocument/2006/relationships/image" Target="../media/image60.jpg"/><Relationship Id="rId15" Type="http://schemas.openxmlformats.org/officeDocument/2006/relationships/image" Target="../media/image70.jpg"/><Relationship Id="rId10" Type="http://schemas.openxmlformats.org/officeDocument/2006/relationships/image" Target="../media/image65.jpg"/><Relationship Id="rId4" Type="http://schemas.openxmlformats.org/officeDocument/2006/relationships/image" Target="../media/image59.jpg"/><Relationship Id="rId9" Type="http://schemas.openxmlformats.org/officeDocument/2006/relationships/image" Target="../media/image64.jpg"/><Relationship Id="rId14" Type="http://schemas.openxmlformats.org/officeDocument/2006/relationships/image" Target="../media/image69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2" Type="http://schemas.openxmlformats.org/officeDocument/2006/relationships/hyperlink" Target="http://www.youtube.com/watch?v=ZIFTttCEPyM" TargetMode="Externa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hyperlink" Target="http://www.youtube.com/watch?v=YA1PRnP3aAc" TargetMode="Externa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K195ohi_fU" TargetMode="External"/><Relationship Id="rId2" Type="http://schemas.openxmlformats.org/officeDocument/2006/relationships/hyperlink" Target="https://www.youtube.com/watch?v=D7ZXpwIagA0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jpg"/><Relationship Id="rId5" Type="http://schemas.openxmlformats.org/officeDocument/2006/relationships/image" Target="../media/image88.jpg"/><Relationship Id="rId4" Type="http://schemas.openxmlformats.org/officeDocument/2006/relationships/hyperlink" Target="https://www.youtube.com/watch?v=hd-Si9HdPew" TargetMode="Externa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" y="0"/>
            <a:ext cx="914018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6258" y="95249"/>
            <a:ext cx="348043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i="1" spc="-495" dirty="0">
                <a:latin typeface="Arial"/>
                <a:cs typeface="Arial"/>
              </a:rPr>
              <a:t>Sistemas </a:t>
            </a:r>
            <a:r>
              <a:rPr sz="5400" i="1" spc="-400" dirty="0">
                <a:latin typeface="Arial"/>
                <a:cs typeface="Arial"/>
              </a:rPr>
              <a:t>de  </a:t>
            </a:r>
            <a:r>
              <a:rPr sz="5400" i="1" spc="-340" dirty="0">
                <a:latin typeface="Arial"/>
                <a:cs typeface="Arial"/>
              </a:rPr>
              <a:t>Información</a:t>
            </a:r>
            <a:endParaRPr sz="5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0395" y="1959101"/>
            <a:ext cx="1607058" cy="6766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6878" y="2349245"/>
            <a:ext cx="3530346" cy="5105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6878" y="2623566"/>
            <a:ext cx="2632710" cy="5105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96925" y="2025141"/>
            <a:ext cx="3199765" cy="1969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155" dirty="0">
                <a:solidFill>
                  <a:srgbClr val="FFFFFF"/>
                </a:solidFill>
                <a:latin typeface="Arial"/>
                <a:cs typeface="Arial"/>
              </a:rPr>
              <a:t>Unidad </a:t>
            </a:r>
            <a:r>
              <a:rPr sz="2400" b="1" i="1" spc="-12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4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40"/>
              </a:spcBef>
            </a:pPr>
            <a:r>
              <a:rPr sz="1800" b="1" i="1" spc="-155" dirty="0">
                <a:solidFill>
                  <a:srgbClr val="FFFFFF"/>
                </a:solidFill>
                <a:latin typeface="Arial"/>
                <a:cs typeface="Arial"/>
              </a:rPr>
              <a:t>Aplicaciones </a:t>
            </a:r>
            <a:r>
              <a:rPr sz="1800" b="1" i="1" spc="-130" dirty="0">
                <a:solidFill>
                  <a:srgbClr val="FFFFFF"/>
                </a:solidFill>
                <a:latin typeface="Arial"/>
                <a:cs typeface="Arial"/>
              </a:rPr>
              <a:t>empresariales </a:t>
            </a:r>
            <a:r>
              <a:rPr sz="1800" b="1" i="1" spc="-13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b="1" i="1" spc="-170" dirty="0">
                <a:solidFill>
                  <a:srgbClr val="FFFFFF"/>
                </a:solidFill>
                <a:latin typeface="Arial"/>
                <a:cs typeface="Arial"/>
              </a:rPr>
              <a:t>los  Sistemas </a:t>
            </a:r>
            <a:r>
              <a:rPr sz="1800" b="1" i="1" spc="-13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b="1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i="1" spc="-114" dirty="0">
                <a:solidFill>
                  <a:srgbClr val="FFFFFF"/>
                </a:solidFill>
                <a:latin typeface="Arial"/>
                <a:cs typeface="Arial"/>
              </a:rPr>
              <a:t>Información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20" dirty="0">
                <a:solidFill>
                  <a:srgbClr val="FFFFFF"/>
                </a:solidFill>
                <a:latin typeface="Trebuchet MS"/>
                <a:cs typeface="Trebuchet MS"/>
              </a:rPr>
              <a:t>Mag. </a:t>
            </a:r>
            <a:r>
              <a:rPr lang="es-AR" sz="1400" b="1" spc="-65" dirty="0">
                <a:solidFill>
                  <a:srgbClr val="FFFFFF"/>
                </a:solidFill>
                <a:latin typeface="Trebuchet MS"/>
                <a:cs typeface="Trebuchet MS"/>
              </a:rPr>
              <a:t>Javier F. Klus</a:t>
            </a:r>
            <a:endParaRPr lang="es-AR" sz="1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lang="es-AR" sz="1100" spc="-50" dirty="0">
                <a:solidFill>
                  <a:srgbClr val="FFFFFF"/>
                </a:solidFill>
                <a:latin typeface="Arial"/>
                <a:cs typeface="Arial"/>
                <a:hlinkClick r:id="rId7"/>
              </a:rPr>
              <a:t>jklus@uade.edu.ar</a:t>
            </a:r>
            <a:endParaRPr lang="es-AR"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120" dirty="0">
                <a:solidFill>
                  <a:srgbClr val="FFFFFF"/>
                </a:solidFill>
                <a:latin typeface="Trebuchet MS"/>
                <a:cs typeface="Trebuchet MS"/>
              </a:rPr>
              <a:t>20</a:t>
            </a:r>
            <a:r>
              <a:rPr lang="es-AR" sz="1400" b="1" spc="-120" dirty="0">
                <a:solidFill>
                  <a:srgbClr val="FFFFFF"/>
                </a:solidFill>
                <a:latin typeface="Trebuchet MS"/>
                <a:cs typeface="Trebuchet MS"/>
              </a:rPr>
              <a:t>20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4800" y="4361688"/>
            <a:ext cx="1639824" cy="8199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36285" y="736854"/>
            <a:ext cx="2833877" cy="5090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86908" y="789940"/>
            <a:ext cx="253492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80" dirty="0">
                <a:solidFill>
                  <a:srgbClr val="003186"/>
                </a:solidFill>
                <a:latin typeface="Trebuchet MS"/>
                <a:cs typeface="Trebuchet MS"/>
              </a:rPr>
              <a:t>Integración </a:t>
            </a:r>
            <a:r>
              <a:rPr sz="1600" b="1" spc="-9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600" b="1" spc="-75" dirty="0">
                <a:solidFill>
                  <a:srgbClr val="003186"/>
                </a:solidFill>
                <a:latin typeface="Trebuchet MS"/>
                <a:cs typeface="Trebuchet MS"/>
              </a:rPr>
              <a:t>Sistemas </a:t>
            </a:r>
            <a:r>
              <a:rPr sz="1600" b="1" spc="60" dirty="0">
                <a:solidFill>
                  <a:srgbClr val="003186"/>
                </a:solidFill>
                <a:latin typeface="Trebuchet MS"/>
                <a:cs typeface="Trebuchet MS"/>
              </a:rPr>
              <a:t>/</a:t>
            </a:r>
            <a:r>
              <a:rPr sz="1600" b="1" spc="-33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600" b="1" spc="-100" dirty="0">
                <a:solidFill>
                  <a:srgbClr val="003186"/>
                </a:solidFill>
                <a:latin typeface="Trebuchet MS"/>
                <a:cs typeface="Trebuchet MS"/>
              </a:rPr>
              <a:t>ERP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25186" y="686180"/>
            <a:ext cx="485775" cy="549910"/>
          </a:xfrm>
          <a:custGeom>
            <a:avLst/>
            <a:gdLst/>
            <a:ahLst/>
            <a:cxnLst/>
            <a:rect l="l" t="t" r="r" b="b"/>
            <a:pathLst>
              <a:path w="485775" h="549910">
                <a:moveTo>
                  <a:pt x="485393" y="0"/>
                </a:moveTo>
                <a:lnTo>
                  <a:pt x="121285" y="0"/>
                </a:lnTo>
                <a:lnTo>
                  <a:pt x="0" y="549402"/>
                </a:lnTo>
                <a:lnTo>
                  <a:pt x="363982" y="549402"/>
                </a:lnTo>
                <a:lnTo>
                  <a:pt x="485393" y="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25186" y="686180"/>
            <a:ext cx="485775" cy="549910"/>
          </a:xfrm>
          <a:custGeom>
            <a:avLst/>
            <a:gdLst/>
            <a:ahLst/>
            <a:cxnLst/>
            <a:rect l="l" t="t" r="r" b="b"/>
            <a:pathLst>
              <a:path w="485775" h="549910">
                <a:moveTo>
                  <a:pt x="0" y="549402"/>
                </a:moveTo>
                <a:lnTo>
                  <a:pt x="121285" y="0"/>
                </a:lnTo>
                <a:lnTo>
                  <a:pt x="485393" y="0"/>
                </a:lnTo>
                <a:lnTo>
                  <a:pt x="363982" y="549402"/>
                </a:lnTo>
                <a:lnTo>
                  <a:pt x="0" y="549402"/>
                </a:lnTo>
                <a:close/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20640" y="779525"/>
            <a:ext cx="933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66157" y="1235583"/>
            <a:ext cx="3481070" cy="0"/>
          </a:xfrm>
          <a:custGeom>
            <a:avLst/>
            <a:gdLst/>
            <a:ahLst/>
            <a:cxnLst/>
            <a:rect l="l" t="t" r="r" b="b"/>
            <a:pathLst>
              <a:path w="3481070">
                <a:moveTo>
                  <a:pt x="0" y="0"/>
                </a:moveTo>
                <a:lnTo>
                  <a:pt x="3481069" y="0"/>
                </a:lnTo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8208" y="2020570"/>
            <a:ext cx="25196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0095" marR="5080" indent="-748030">
              <a:lnSpc>
                <a:spcPct val="100000"/>
              </a:lnSpc>
              <a:spcBef>
                <a:spcPts val="100"/>
              </a:spcBef>
            </a:pPr>
            <a:r>
              <a:rPr sz="3000" b="1" spc="-160" dirty="0">
                <a:solidFill>
                  <a:srgbClr val="FFFFFF"/>
                </a:solidFill>
                <a:latin typeface="Trebuchet MS"/>
                <a:cs typeface="Trebuchet MS"/>
              </a:rPr>
              <a:t>Contenido </a:t>
            </a:r>
            <a:r>
              <a:rPr sz="3000" b="1" spc="-17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3000" b="1" spc="-3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b="1" spc="-135" dirty="0">
                <a:solidFill>
                  <a:srgbClr val="FFFFFF"/>
                </a:solidFill>
                <a:latin typeface="Trebuchet MS"/>
                <a:cs typeface="Trebuchet MS"/>
              </a:rPr>
              <a:t>la  sesión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94655" y="1317244"/>
            <a:ext cx="3136900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241300" algn="l"/>
              </a:tabLst>
            </a:pP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Necesidades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integración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400" b="1" spc="-40" dirty="0">
                <a:solidFill>
                  <a:srgbClr val="003186"/>
                </a:solidFill>
                <a:latin typeface="Trebuchet MS"/>
                <a:cs typeface="Trebuchet MS"/>
              </a:rPr>
              <a:t>SI </a:t>
            </a:r>
            <a:r>
              <a:rPr sz="1400" b="1" spc="-95" dirty="0">
                <a:solidFill>
                  <a:srgbClr val="003186"/>
                </a:solidFill>
                <a:latin typeface="Trebuchet MS"/>
                <a:cs typeface="Trebuchet MS"/>
              </a:rPr>
              <a:t>en</a:t>
            </a:r>
            <a:r>
              <a:rPr sz="1400" b="1" spc="-28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003186"/>
                </a:solidFill>
                <a:latin typeface="Trebuchet MS"/>
                <a:cs typeface="Trebuchet MS"/>
              </a:rPr>
              <a:t>las 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organizaciones.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300" algn="l"/>
              </a:tabLst>
            </a:pPr>
            <a:r>
              <a:rPr sz="1400" b="1" spc="-100" dirty="0">
                <a:solidFill>
                  <a:srgbClr val="003186"/>
                </a:solidFill>
                <a:latin typeface="Trebuchet MS"/>
                <a:cs typeface="Trebuchet MS"/>
              </a:rPr>
              <a:t>ERP: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51855" y="2063699"/>
            <a:ext cx="2670810" cy="11988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4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Conceptos </a:t>
            </a:r>
            <a:r>
              <a:rPr sz="1400" b="1" spc="-70" dirty="0">
                <a:solidFill>
                  <a:srgbClr val="003186"/>
                </a:solidFill>
                <a:latin typeface="Trebuchet MS"/>
                <a:cs typeface="Trebuchet MS"/>
              </a:rPr>
              <a:t>básicos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y</a:t>
            </a:r>
            <a:r>
              <a:rPr sz="1400" b="1" spc="-17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objetivos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Beneficios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y</a:t>
            </a:r>
            <a:r>
              <a:rPr sz="1400" b="1" spc="-14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003186"/>
                </a:solidFill>
                <a:latin typeface="Trebuchet MS"/>
                <a:cs typeface="Trebuchet MS"/>
              </a:rPr>
              <a:t>costos</a:t>
            </a:r>
            <a:endParaRPr sz="1400">
              <a:latin typeface="Trebuchet MS"/>
              <a:cs typeface="Trebuchet MS"/>
            </a:endParaRPr>
          </a:p>
          <a:p>
            <a:pPr marL="241300" marR="5080" indent="-228600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400" b="1" spc="-70" dirty="0">
                <a:solidFill>
                  <a:srgbClr val="003186"/>
                </a:solidFill>
                <a:latin typeface="Trebuchet MS"/>
                <a:cs typeface="Trebuchet MS"/>
              </a:rPr>
              <a:t>Puntos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críticos </a:t>
            </a:r>
            <a:r>
              <a:rPr sz="1400" b="1" spc="-70" dirty="0">
                <a:solidFill>
                  <a:srgbClr val="003186"/>
                </a:solidFill>
                <a:latin typeface="Trebuchet MS"/>
                <a:cs typeface="Trebuchet MS"/>
              </a:rPr>
              <a:t>para </a:t>
            </a:r>
            <a:r>
              <a:rPr sz="1400" b="1" spc="-65" dirty="0">
                <a:solidFill>
                  <a:srgbClr val="003186"/>
                </a:solidFill>
                <a:latin typeface="Trebuchet MS"/>
                <a:cs typeface="Trebuchet MS"/>
              </a:rPr>
              <a:t>su</a:t>
            </a:r>
            <a:r>
              <a:rPr sz="1400" b="1" spc="-229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adecuada  </a:t>
            </a:r>
            <a:r>
              <a:rPr sz="1400" b="1" spc="-70" dirty="0">
                <a:solidFill>
                  <a:srgbClr val="003186"/>
                </a:solidFill>
                <a:latin typeface="Trebuchet MS"/>
                <a:cs typeface="Trebuchet MS"/>
              </a:rPr>
              <a:t>gestión </a:t>
            </a:r>
            <a:r>
              <a:rPr sz="1400" b="1" spc="-95" dirty="0">
                <a:solidFill>
                  <a:srgbClr val="003186"/>
                </a:solidFill>
                <a:latin typeface="Trebuchet MS"/>
                <a:cs typeface="Trebuchet MS"/>
              </a:rPr>
              <a:t>en </a:t>
            </a:r>
            <a:r>
              <a:rPr sz="1400" b="1" spc="-60" dirty="0">
                <a:solidFill>
                  <a:srgbClr val="003186"/>
                </a:solidFill>
                <a:latin typeface="Trebuchet MS"/>
                <a:cs typeface="Trebuchet MS"/>
              </a:rPr>
              <a:t>las</a:t>
            </a:r>
            <a:r>
              <a:rPr sz="1400" b="1" spc="-17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organizaciones.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40427" y="5620130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487680" y="0"/>
                </a:moveTo>
                <a:lnTo>
                  <a:pt x="121920" y="0"/>
                </a:lnTo>
                <a:lnTo>
                  <a:pt x="0" y="549402"/>
                </a:lnTo>
                <a:lnTo>
                  <a:pt x="365760" y="549402"/>
                </a:lnTo>
                <a:lnTo>
                  <a:pt x="48768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940427" y="5620130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0" y="549402"/>
                </a:moveTo>
                <a:lnTo>
                  <a:pt x="121920" y="0"/>
                </a:lnTo>
                <a:lnTo>
                  <a:pt x="487680" y="0"/>
                </a:lnTo>
                <a:lnTo>
                  <a:pt x="365760" y="549402"/>
                </a:lnTo>
                <a:lnTo>
                  <a:pt x="0" y="549402"/>
                </a:lnTo>
                <a:close/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069585" y="5713984"/>
            <a:ext cx="2292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III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069204" y="6166484"/>
            <a:ext cx="3493770" cy="0"/>
          </a:xfrm>
          <a:custGeom>
            <a:avLst/>
            <a:gdLst/>
            <a:ahLst/>
            <a:cxnLst/>
            <a:rect l="l" t="t" r="r" b="b"/>
            <a:pathLst>
              <a:path w="3493770">
                <a:moveTo>
                  <a:pt x="0" y="0"/>
                </a:moveTo>
                <a:lnTo>
                  <a:pt x="3493389" y="0"/>
                </a:lnTo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346953" y="5689091"/>
            <a:ext cx="966977" cy="5090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497829" y="5741923"/>
            <a:ext cx="6667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80" dirty="0">
                <a:solidFill>
                  <a:srgbClr val="003186"/>
                </a:solidFill>
                <a:latin typeface="Trebuchet MS"/>
                <a:cs typeface="Trebuchet MS"/>
              </a:rPr>
              <a:t>Síntesis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93640" y="6267703"/>
            <a:ext cx="261048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30" dirty="0">
                <a:solidFill>
                  <a:srgbClr val="003186"/>
                </a:solidFill>
                <a:latin typeface="Trebuchet MS"/>
                <a:cs typeface="Trebuchet MS"/>
              </a:rPr>
              <a:t>1. </a:t>
            </a: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Resumen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y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preguntas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repaso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940427" y="3456813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487680" y="0"/>
                </a:moveTo>
                <a:lnTo>
                  <a:pt x="121920" y="0"/>
                </a:lnTo>
                <a:lnTo>
                  <a:pt x="0" y="549401"/>
                </a:lnTo>
                <a:lnTo>
                  <a:pt x="365760" y="549401"/>
                </a:lnTo>
                <a:lnTo>
                  <a:pt x="487680" y="0"/>
                </a:lnTo>
                <a:close/>
              </a:path>
            </a:pathLst>
          </a:custGeom>
          <a:solidFill>
            <a:srgbClr val="C5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940427" y="3456813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0" y="549401"/>
                </a:moveTo>
                <a:lnTo>
                  <a:pt x="121920" y="0"/>
                </a:lnTo>
                <a:lnTo>
                  <a:pt x="487680" y="0"/>
                </a:lnTo>
                <a:lnTo>
                  <a:pt x="365760" y="549401"/>
                </a:lnTo>
                <a:lnTo>
                  <a:pt x="0" y="549401"/>
                </a:lnTo>
                <a:close/>
              </a:path>
            </a:pathLst>
          </a:custGeom>
          <a:ln w="9906">
            <a:solidFill>
              <a:srgbClr val="C5E7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103876" y="3550665"/>
            <a:ext cx="1612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069204" y="4003166"/>
            <a:ext cx="3493770" cy="0"/>
          </a:xfrm>
          <a:custGeom>
            <a:avLst/>
            <a:gdLst/>
            <a:ahLst/>
            <a:cxnLst/>
            <a:rect l="l" t="t" r="r" b="b"/>
            <a:pathLst>
              <a:path w="3493770">
                <a:moveTo>
                  <a:pt x="0" y="0"/>
                </a:moveTo>
                <a:lnTo>
                  <a:pt x="3493389" y="0"/>
                </a:lnTo>
              </a:path>
            </a:pathLst>
          </a:custGeom>
          <a:ln w="9906">
            <a:solidFill>
              <a:srgbClr val="C5E7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346953" y="3525773"/>
            <a:ext cx="3163824" cy="5090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497829" y="3578605"/>
            <a:ext cx="2863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5" dirty="0">
                <a:solidFill>
                  <a:srgbClr val="003186"/>
                </a:solidFill>
                <a:latin typeface="Trebuchet MS"/>
                <a:cs typeface="Trebuchet MS"/>
              </a:rPr>
              <a:t>SCM </a:t>
            </a:r>
            <a:r>
              <a:rPr sz="1600" b="1" spc="-150" dirty="0">
                <a:solidFill>
                  <a:srgbClr val="003186"/>
                </a:solidFill>
                <a:latin typeface="Trebuchet MS"/>
                <a:cs typeface="Trebuchet MS"/>
              </a:rPr>
              <a:t>(</a:t>
            </a:r>
            <a:r>
              <a:rPr sz="1600" b="1" i="1" spc="-150" dirty="0">
                <a:solidFill>
                  <a:srgbClr val="003186"/>
                </a:solidFill>
                <a:latin typeface="Arial"/>
                <a:cs typeface="Arial"/>
              </a:rPr>
              <a:t>Supply </a:t>
            </a:r>
            <a:r>
              <a:rPr sz="1600" b="1" i="1" spc="-140" dirty="0">
                <a:solidFill>
                  <a:srgbClr val="003186"/>
                </a:solidFill>
                <a:latin typeface="Arial"/>
                <a:cs typeface="Arial"/>
              </a:rPr>
              <a:t>Chain</a:t>
            </a:r>
            <a:r>
              <a:rPr sz="1600" b="1" i="1" spc="-170" dirty="0">
                <a:solidFill>
                  <a:srgbClr val="003186"/>
                </a:solidFill>
                <a:latin typeface="Arial"/>
                <a:cs typeface="Arial"/>
              </a:rPr>
              <a:t> </a:t>
            </a:r>
            <a:r>
              <a:rPr sz="1600" b="1" i="1" spc="-75" dirty="0">
                <a:solidFill>
                  <a:srgbClr val="003186"/>
                </a:solidFill>
                <a:latin typeface="Arial"/>
                <a:cs typeface="Arial"/>
              </a:rPr>
              <a:t>Management</a:t>
            </a:r>
            <a:r>
              <a:rPr sz="1600" b="1" spc="-75" dirty="0">
                <a:solidFill>
                  <a:srgbClr val="003186"/>
                </a:solidFill>
                <a:latin typeface="Trebuchet MS"/>
                <a:cs typeface="Trebuchet MS"/>
              </a:rPr>
              <a:t>)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93640" y="3997147"/>
            <a:ext cx="2563495" cy="130556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241935" algn="l"/>
              </a:tabLst>
            </a:pP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Concepto y</a:t>
            </a:r>
            <a:r>
              <a:rPr sz="1400" b="1" spc="-15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objetivos.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935" algn="l"/>
              </a:tabLst>
            </a:pP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Aplicaciones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935" algn="l"/>
              </a:tabLst>
            </a:pP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Procesos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y </a:t>
            </a:r>
            <a:r>
              <a:rPr sz="1400" b="1" spc="-65" dirty="0">
                <a:solidFill>
                  <a:srgbClr val="003186"/>
                </a:solidFill>
                <a:latin typeface="Trebuchet MS"/>
                <a:cs typeface="Trebuchet MS"/>
              </a:rPr>
              <a:t>módulos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</a:t>
            </a:r>
            <a:r>
              <a:rPr sz="1400" b="1" spc="-22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gestión.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935" algn="l"/>
              </a:tabLst>
            </a:pPr>
            <a:r>
              <a:rPr sz="1400" b="1" spc="-90" dirty="0">
                <a:solidFill>
                  <a:srgbClr val="003186"/>
                </a:solidFill>
                <a:latin typeface="Trebuchet MS"/>
                <a:cs typeface="Trebuchet MS"/>
              </a:rPr>
              <a:t>Ejemplos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</a:t>
            </a:r>
            <a:r>
              <a:rPr sz="1400" b="1" spc="-14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aplicación.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81905"/>
            <a:ext cx="4538472" cy="22760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28084" y="4572380"/>
            <a:ext cx="774700" cy="685800"/>
          </a:xfrm>
          <a:custGeom>
            <a:avLst/>
            <a:gdLst/>
            <a:ahLst/>
            <a:cxnLst/>
            <a:rect l="l" t="t" r="r" b="b"/>
            <a:pathLst>
              <a:path w="774700" h="685800">
                <a:moveTo>
                  <a:pt x="774191" y="0"/>
                </a:moveTo>
                <a:lnTo>
                  <a:pt x="171450" y="0"/>
                </a:lnTo>
                <a:lnTo>
                  <a:pt x="0" y="685800"/>
                </a:lnTo>
                <a:lnTo>
                  <a:pt x="602741" y="685800"/>
                </a:lnTo>
                <a:lnTo>
                  <a:pt x="774191" y="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28084" y="4572380"/>
            <a:ext cx="774700" cy="685800"/>
          </a:xfrm>
          <a:custGeom>
            <a:avLst/>
            <a:gdLst/>
            <a:ahLst/>
            <a:cxnLst/>
            <a:rect l="l" t="t" r="r" b="b"/>
            <a:pathLst>
              <a:path w="774700" h="685800">
                <a:moveTo>
                  <a:pt x="0" y="685800"/>
                </a:moveTo>
                <a:lnTo>
                  <a:pt x="171450" y="0"/>
                </a:lnTo>
                <a:lnTo>
                  <a:pt x="774191" y="0"/>
                </a:lnTo>
                <a:lnTo>
                  <a:pt x="602741" y="685800"/>
                </a:lnTo>
                <a:lnTo>
                  <a:pt x="0" y="685800"/>
                </a:lnTo>
                <a:close/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5077" y="4457999"/>
            <a:ext cx="3173730" cy="1707514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610"/>
              </a:spcBef>
            </a:pPr>
            <a:r>
              <a:rPr sz="3000" b="1" spc="-4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endParaRPr sz="3000">
              <a:latin typeface="Trebuchet MS"/>
              <a:cs typeface="Trebuchet MS"/>
            </a:endParaRPr>
          </a:p>
          <a:p>
            <a:pPr marL="12700" marR="965835" indent="27305">
              <a:lnSpc>
                <a:spcPct val="100000"/>
              </a:lnSpc>
              <a:spcBef>
                <a:spcPts val="1410"/>
              </a:spcBef>
            </a:pPr>
            <a:r>
              <a:rPr sz="2800" b="1" spc="-140" dirty="0">
                <a:solidFill>
                  <a:srgbClr val="00338D"/>
                </a:solidFill>
                <a:latin typeface="Trebuchet MS"/>
                <a:cs typeface="Trebuchet MS"/>
              </a:rPr>
              <a:t>Integracion </a:t>
            </a:r>
            <a:r>
              <a:rPr sz="2800" b="1" spc="-165" dirty="0">
                <a:solidFill>
                  <a:srgbClr val="00338D"/>
                </a:solidFill>
                <a:latin typeface="Trebuchet MS"/>
                <a:cs typeface="Trebuchet MS"/>
              </a:rPr>
              <a:t>de  </a:t>
            </a:r>
            <a:r>
              <a:rPr sz="2800" b="1" spc="-130" dirty="0">
                <a:solidFill>
                  <a:srgbClr val="00338D"/>
                </a:solidFill>
                <a:latin typeface="Trebuchet MS"/>
                <a:cs typeface="Trebuchet MS"/>
              </a:rPr>
              <a:t>Sistemas </a:t>
            </a:r>
            <a:r>
              <a:rPr sz="2800" b="1" spc="110" dirty="0">
                <a:solidFill>
                  <a:srgbClr val="00338D"/>
                </a:solidFill>
                <a:latin typeface="Trebuchet MS"/>
                <a:cs typeface="Trebuchet MS"/>
              </a:rPr>
              <a:t>/</a:t>
            </a:r>
            <a:r>
              <a:rPr sz="2800" b="1" spc="-340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800" b="1" spc="-175" dirty="0">
                <a:solidFill>
                  <a:srgbClr val="00338D"/>
                </a:solidFill>
                <a:latin typeface="Trebuchet MS"/>
                <a:cs typeface="Trebuchet MS"/>
              </a:rPr>
              <a:t>ERP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1708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05" dirty="0"/>
              <a:t>Integración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75" dirty="0"/>
              <a:t>/</a:t>
            </a:r>
            <a:r>
              <a:rPr spc="-375" dirty="0"/>
              <a:t> </a:t>
            </a:r>
            <a:r>
              <a:rPr spc="-125" dirty="0"/>
              <a:t>ERP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14" dirty="0">
                <a:latin typeface="Arial"/>
                <a:cs typeface="Arial"/>
              </a:rPr>
              <a:t>Necesidades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60" dirty="0">
                <a:latin typeface="Arial"/>
                <a:cs typeface="Arial"/>
              </a:rPr>
              <a:t>Integración </a:t>
            </a:r>
            <a:r>
              <a:rPr sz="1800" b="0" spc="-85" dirty="0">
                <a:latin typeface="Arial"/>
                <a:cs typeface="Arial"/>
              </a:rPr>
              <a:t>en </a:t>
            </a:r>
            <a:r>
              <a:rPr sz="1800" b="0" spc="-110" dirty="0">
                <a:latin typeface="Arial"/>
                <a:cs typeface="Arial"/>
              </a:rPr>
              <a:t>las</a:t>
            </a:r>
            <a:r>
              <a:rPr sz="1800" b="0" spc="-60" dirty="0">
                <a:latin typeface="Arial"/>
                <a:cs typeface="Arial"/>
              </a:rPr>
              <a:t> </a:t>
            </a:r>
            <a:r>
              <a:rPr sz="1800" b="0" spc="-90" dirty="0">
                <a:latin typeface="Arial"/>
                <a:cs typeface="Arial"/>
              </a:rPr>
              <a:t>organizaciones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268" y="1098041"/>
            <a:ext cx="5871210" cy="5059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600" b="1" spc="-175" dirty="0">
                <a:latin typeface="Trebuchet MS"/>
                <a:cs typeface="Trebuchet MS"/>
              </a:rPr>
              <a:t>El </a:t>
            </a:r>
            <a:r>
              <a:rPr sz="2600" b="1" spc="-145" dirty="0">
                <a:latin typeface="Trebuchet MS"/>
                <a:cs typeface="Trebuchet MS"/>
              </a:rPr>
              <a:t>rol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00" dirty="0">
                <a:latin typeface="Trebuchet MS"/>
                <a:cs typeface="Trebuchet MS"/>
              </a:rPr>
              <a:t>los </a:t>
            </a:r>
            <a:r>
              <a:rPr sz="2600" b="1" spc="-130" dirty="0">
                <a:latin typeface="Trebuchet MS"/>
                <a:cs typeface="Trebuchet MS"/>
              </a:rPr>
              <a:t>Sistemas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35" dirty="0">
                <a:latin typeface="Trebuchet MS"/>
                <a:cs typeface="Trebuchet MS"/>
              </a:rPr>
              <a:t>Información  </a:t>
            </a:r>
            <a:r>
              <a:rPr sz="2600" b="1" spc="-145" dirty="0">
                <a:latin typeface="Trebuchet MS"/>
                <a:cs typeface="Trebuchet MS"/>
              </a:rPr>
              <a:t>empresariales </a:t>
            </a:r>
            <a:r>
              <a:rPr sz="2600" b="1" spc="-135" dirty="0">
                <a:latin typeface="Trebuchet MS"/>
                <a:cs typeface="Trebuchet MS"/>
              </a:rPr>
              <a:t>es </a:t>
            </a:r>
            <a:r>
              <a:rPr sz="2600" b="1" spc="-160" dirty="0">
                <a:latin typeface="Trebuchet MS"/>
                <a:cs typeface="Trebuchet MS"/>
              </a:rPr>
              <a:t>integrar </a:t>
            </a:r>
            <a:r>
              <a:rPr sz="2600" b="1" spc="-100" dirty="0">
                <a:latin typeface="Trebuchet MS"/>
                <a:cs typeface="Trebuchet MS"/>
              </a:rPr>
              <a:t>los </a:t>
            </a:r>
            <a:r>
              <a:rPr sz="2600" b="1" spc="-125" dirty="0">
                <a:latin typeface="Trebuchet MS"/>
                <a:cs typeface="Trebuchet MS"/>
              </a:rPr>
              <a:t>distintos  </a:t>
            </a:r>
            <a:r>
              <a:rPr sz="2600" b="1" spc="-145" dirty="0">
                <a:latin typeface="Trebuchet MS"/>
                <a:cs typeface="Trebuchet MS"/>
              </a:rPr>
              <a:t>componentes </a:t>
            </a:r>
            <a:r>
              <a:rPr sz="2600" b="1" spc="-155" dirty="0">
                <a:latin typeface="Trebuchet MS"/>
                <a:cs typeface="Trebuchet MS"/>
              </a:rPr>
              <a:t>que </a:t>
            </a:r>
            <a:r>
              <a:rPr sz="2600" b="1" spc="-105" dirty="0">
                <a:latin typeface="Trebuchet MS"/>
                <a:cs typeface="Trebuchet MS"/>
              </a:rPr>
              <a:t>lo </a:t>
            </a:r>
            <a:r>
              <a:rPr sz="2600" b="1" spc="-160" dirty="0">
                <a:latin typeface="Trebuchet MS"/>
                <a:cs typeface="Trebuchet MS"/>
              </a:rPr>
              <a:t>conforman, </a:t>
            </a:r>
            <a:r>
              <a:rPr sz="2600" b="1" spc="-105" dirty="0">
                <a:latin typeface="Trebuchet MS"/>
                <a:cs typeface="Trebuchet MS"/>
              </a:rPr>
              <a:t>a </a:t>
            </a:r>
            <a:r>
              <a:rPr sz="2600" b="1" spc="-165" dirty="0">
                <a:latin typeface="Trebuchet MS"/>
                <a:cs typeface="Trebuchet MS"/>
              </a:rPr>
              <a:t>efectos  </a:t>
            </a:r>
            <a:r>
              <a:rPr sz="2600" b="1" spc="-150" dirty="0">
                <a:latin typeface="Trebuchet MS"/>
                <a:cs typeface="Trebuchet MS"/>
              </a:rPr>
              <a:t>de perseguir que </a:t>
            </a:r>
            <a:r>
              <a:rPr sz="2600" b="1" spc="-165" dirty="0">
                <a:latin typeface="Arial"/>
                <a:cs typeface="Arial"/>
              </a:rPr>
              <a:t>“el </a:t>
            </a:r>
            <a:r>
              <a:rPr sz="2600" b="1" spc="-110" dirty="0">
                <a:latin typeface="Trebuchet MS"/>
                <a:cs typeface="Trebuchet MS"/>
              </a:rPr>
              <a:t>todo </a:t>
            </a:r>
            <a:r>
              <a:rPr sz="2600" b="1" spc="-125" dirty="0">
                <a:latin typeface="Trebuchet MS"/>
                <a:cs typeface="Trebuchet MS"/>
              </a:rPr>
              <a:t>sea </a:t>
            </a:r>
            <a:r>
              <a:rPr sz="2600" b="1" spc="-145" dirty="0">
                <a:latin typeface="Trebuchet MS"/>
                <a:cs typeface="Trebuchet MS"/>
              </a:rPr>
              <a:t>mayor </a:t>
            </a:r>
            <a:r>
              <a:rPr sz="2600" b="1" spc="-150" dirty="0">
                <a:latin typeface="Trebuchet MS"/>
                <a:cs typeface="Trebuchet MS"/>
              </a:rPr>
              <a:t>que  </a:t>
            </a:r>
            <a:r>
              <a:rPr sz="2600" b="1" spc="-105" dirty="0">
                <a:latin typeface="Trebuchet MS"/>
                <a:cs typeface="Trebuchet MS"/>
              </a:rPr>
              <a:t>sus</a:t>
            </a:r>
            <a:r>
              <a:rPr sz="2600" b="1" spc="-195" dirty="0">
                <a:latin typeface="Trebuchet MS"/>
                <a:cs typeface="Trebuchet MS"/>
              </a:rPr>
              <a:t> </a:t>
            </a:r>
            <a:r>
              <a:rPr sz="2600" b="1" spc="-210" dirty="0">
                <a:latin typeface="Arial"/>
                <a:cs typeface="Arial"/>
              </a:rPr>
              <a:t>partes”</a:t>
            </a:r>
            <a:r>
              <a:rPr sz="2600" b="1" spc="-210" dirty="0">
                <a:latin typeface="Trebuchet MS"/>
                <a:cs typeface="Trebuchet MS"/>
              </a:rPr>
              <a:t>.</a:t>
            </a:r>
            <a:endParaRPr sz="2600">
              <a:latin typeface="Trebuchet MS"/>
              <a:cs typeface="Trebuchet MS"/>
            </a:endParaRPr>
          </a:p>
          <a:p>
            <a:pPr marL="298450" marR="6985" indent="-285750" algn="just">
              <a:lnSpc>
                <a:spcPct val="100000"/>
              </a:lnSpc>
              <a:spcBef>
                <a:spcPts val="40"/>
              </a:spcBef>
              <a:buFont typeface="Wingdings"/>
              <a:buChar char=""/>
              <a:tabLst>
                <a:tab pos="299085" algn="l"/>
              </a:tabLst>
            </a:pPr>
            <a:r>
              <a:rPr sz="2000" spc="-130" dirty="0">
                <a:latin typeface="Arial"/>
                <a:cs typeface="Arial"/>
              </a:rPr>
              <a:t>Una </a:t>
            </a:r>
            <a:r>
              <a:rPr sz="2000" spc="-70" dirty="0">
                <a:latin typeface="Arial"/>
                <a:cs typeface="Arial"/>
              </a:rPr>
              <a:t>visión integradora </a:t>
            </a:r>
            <a:r>
              <a:rPr sz="2000" spc="-80" dirty="0">
                <a:latin typeface="Arial"/>
                <a:cs typeface="Arial"/>
              </a:rPr>
              <a:t>(y </a:t>
            </a:r>
            <a:r>
              <a:rPr sz="2000" spc="-65" dirty="0">
                <a:latin typeface="Arial"/>
                <a:cs typeface="Arial"/>
              </a:rPr>
              <a:t>no </a:t>
            </a:r>
            <a:r>
              <a:rPr sz="2000" spc="-35" dirty="0">
                <a:latin typeface="Arial"/>
                <a:cs typeface="Arial"/>
              </a:rPr>
              <a:t>por </a:t>
            </a:r>
            <a:r>
              <a:rPr sz="2000" spc="-75" dirty="0">
                <a:latin typeface="Arial"/>
                <a:cs typeface="Arial"/>
              </a:rPr>
              <a:t>partes) </a:t>
            </a:r>
            <a:r>
              <a:rPr sz="2000" spc="-170" dirty="0">
                <a:latin typeface="Arial"/>
                <a:cs typeface="Arial"/>
              </a:rPr>
              <a:t>es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85" dirty="0">
                <a:latin typeface="Arial"/>
                <a:cs typeface="Arial"/>
              </a:rPr>
              <a:t>que  provee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80" dirty="0">
                <a:latin typeface="Arial"/>
                <a:cs typeface="Arial"/>
              </a:rPr>
              <a:t>solución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90" dirty="0">
                <a:latin typeface="Arial"/>
                <a:cs typeface="Arial"/>
              </a:rPr>
              <a:t>los problemas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05" dirty="0">
                <a:latin typeface="Arial"/>
                <a:cs typeface="Arial"/>
              </a:rPr>
              <a:t>negocios.</a:t>
            </a:r>
            <a:endParaRPr sz="2000">
              <a:latin typeface="Arial"/>
              <a:cs typeface="Arial"/>
            </a:endParaRPr>
          </a:p>
          <a:p>
            <a:pPr marL="298450" marR="6985" indent="-285750" algn="just">
              <a:lnSpc>
                <a:spcPct val="100000"/>
              </a:lnSpc>
              <a:buFont typeface="Wingdings"/>
              <a:buChar char=""/>
              <a:tabLst>
                <a:tab pos="299085" algn="l"/>
              </a:tabLst>
            </a:pPr>
            <a:r>
              <a:rPr sz="2000" spc="-170" dirty="0">
                <a:latin typeface="Arial"/>
                <a:cs typeface="Arial"/>
              </a:rPr>
              <a:t>Dos </a:t>
            </a:r>
            <a:r>
              <a:rPr sz="2000" spc="-95" dirty="0">
                <a:latin typeface="Arial"/>
                <a:cs typeface="Arial"/>
              </a:rPr>
              <a:t>tareas </a:t>
            </a:r>
            <a:r>
              <a:rPr sz="2000" spc="-75" dirty="0">
                <a:latin typeface="Arial"/>
                <a:cs typeface="Arial"/>
              </a:rPr>
              <a:t>fundamentales </a:t>
            </a:r>
            <a:r>
              <a:rPr sz="2000" spc="-95" dirty="0">
                <a:latin typeface="Arial"/>
                <a:cs typeface="Arial"/>
              </a:rPr>
              <a:t>para </a:t>
            </a:r>
            <a:r>
              <a:rPr sz="2000" spc="-80" dirty="0">
                <a:latin typeface="Arial"/>
                <a:cs typeface="Arial"/>
              </a:rPr>
              <a:t>gobernar </a:t>
            </a:r>
            <a:r>
              <a:rPr sz="2000" spc="-50" dirty="0">
                <a:latin typeface="Arial"/>
                <a:cs typeface="Arial"/>
              </a:rPr>
              <a:t>el </a:t>
            </a:r>
            <a:r>
              <a:rPr sz="2000" spc="-85" dirty="0">
                <a:latin typeface="Arial"/>
                <a:cs typeface="Arial"/>
              </a:rPr>
              <a:t>negocio:  </a:t>
            </a:r>
            <a:r>
              <a:rPr sz="2000" spc="-55" dirty="0">
                <a:latin typeface="Arial"/>
                <a:cs typeface="Arial"/>
              </a:rPr>
              <a:t>Administrar </a:t>
            </a:r>
            <a:r>
              <a:rPr sz="2000" spc="-100" dirty="0">
                <a:latin typeface="Arial"/>
                <a:cs typeface="Arial"/>
              </a:rPr>
              <a:t>transacciones y </a:t>
            </a:r>
            <a:r>
              <a:rPr sz="2000" spc="-130" dirty="0">
                <a:latin typeface="Arial"/>
                <a:cs typeface="Arial"/>
              </a:rPr>
              <a:t>Procesar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datos.</a:t>
            </a:r>
            <a:endParaRPr sz="2000">
              <a:latin typeface="Arial"/>
              <a:cs typeface="Arial"/>
            </a:endParaRPr>
          </a:p>
          <a:p>
            <a:pPr marL="298450" marR="6350" indent="-285750" algn="just">
              <a:lnSpc>
                <a:spcPct val="100000"/>
              </a:lnSpc>
              <a:buFont typeface="Wingdings"/>
              <a:buChar char=""/>
              <a:tabLst>
                <a:tab pos="299085" algn="l"/>
              </a:tabLst>
            </a:pPr>
            <a:r>
              <a:rPr sz="2000" spc="-80" dirty="0">
                <a:latin typeface="Arial"/>
                <a:cs typeface="Arial"/>
              </a:rPr>
              <a:t>Dominar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55" dirty="0">
                <a:latin typeface="Arial"/>
                <a:cs typeface="Arial"/>
              </a:rPr>
              <a:t>información </a:t>
            </a:r>
            <a:r>
              <a:rPr sz="2000" spc="-100" dirty="0">
                <a:latin typeface="Arial"/>
                <a:cs typeface="Arial"/>
              </a:rPr>
              <a:t>para </a:t>
            </a:r>
            <a:r>
              <a:rPr sz="2000" spc="-55" dirty="0">
                <a:latin typeface="Arial"/>
                <a:cs typeface="Arial"/>
              </a:rPr>
              <a:t>administrar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75" dirty="0">
                <a:latin typeface="Arial"/>
                <a:cs typeface="Arial"/>
              </a:rPr>
              <a:t>gestionar  </a:t>
            </a:r>
            <a:r>
              <a:rPr sz="2000" spc="-55" dirty="0">
                <a:latin typeface="Arial"/>
                <a:cs typeface="Arial"/>
              </a:rPr>
              <a:t>el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negocio.</a:t>
            </a:r>
            <a:endParaRPr sz="20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"/>
              <a:tabLst>
                <a:tab pos="298450" algn="l"/>
                <a:tab pos="299085" algn="l"/>
              </a:tabLst>
            </a:pPr>
            <a:r>
              <a:rPr sz="2000" spc="-90" dirty="0">
                <a:latin typeface="Arial"/>
                <a:cs typeface="Arial"/>
              </a:rPr>
              <a:t>Gestionar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55" dirty="0">
                <a:latin typeface="Arial"/>
                <a:cs typeface="Arial"/>
              </a:rPr>
              <a:t>administrar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70" dirty="0">
                <a:latin typeface="Arial"/>
                <a:cs typeface="Arial"/>
              </a:rPr>
              <a:t>realidad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cotidiana.</a:t>
            </a:r>
            <a:endParaRPr sz="2000">
              <a:latin typeface="Arial"/>
              <a:cs typeface="Arial"/>
            </a:endParaRPr>
          </a:p>
          <a:p>
            <a:pPr marL="298450" marR="6350" indent="-285750" algn="just">
              <a:lnSpc>
                <a:spcPct val="100000"/>
              </a:lnSpc>
              <a:buFont typeface="Wingdings"/>
              <a:buChar char=""/>
              <a:tabLst>
                <a:tab pos="299085" algn="l"/>
              </a:tabLst>
            </a:pPr>
            <a:r>
              <a:rPr sz="2000" spc="-175" dirty="0">
                <a:latin typeface="Arial"/>
                <a:cs typeface="Arial"/>
              </a:rPr>
              <a:t>El </a:t>
            </a:r>
            <a:r>
              <a:rPr sz="2000" spc="-100" dirty="0">
                <a:latin typeface="Arial"/>
                <a:cs typeface="Arial"/>
              </a:rPr>
              <a:t>sistema </a:t>
            </a:r>
            <a:r>
              <a:rPr sz="2000" spc="-90" dirty="0">
                <a:latin typeface="Arial"/>
                <a:cs typeface="Arial"/>
              </a:rPr>
              <a:t>de </a:t>
            </a:r>
            <a:r>
              <a:rPr sz="2000" spc="-60" dirty="0">
                <a:latin typeface="Arial"/>
                <a:cs typeface="Arial"/>
              </a:rPr>
              <a:t>Información </a:t>
            </a:r>
            <a:r>
              <a:rPr sz="2000" spc="-95" dirty="0">
                <a:latin typeface="Arial"/>
                <a:cs typeface="Arial"/>
              </a:rPr>
              <a:t>debe </a:t>
            </a:r>
            <a:r>
              <a:rPr sz="2000" spc="-80" dirty="0">
                <a:latin typeface="Arial"/>
                <a:cs typeface="Arial"/>
              </a:rPr>
              <a:t>estar </a:t>
            </a:r>
            <a:r>
              <a:rPr sz="2000" spc="-50" dirty="0">
                <a:latin typeface="Arial"/>
                <a:cs typeface="Arial"/>
              </a:rPr>
              <a:t>orientado </a:t>
            </a:r>
            <a:r>
              <a:rPr sz="2000" spc="-160" dirty="0">
                <a:latin typeface="Arial"/>
                <a:cs typeface="Arial"/>
              </a:rPr>
              <a:t>a  </a:t>
            </a:r>
            <a:r>
              <a:rPr sz="2000" spc="-65" dirty="0">
                <a:latin typeface="Arial"/>
                <a:cs typeface="Arial"/>
              </a:rPr>
              <a:t>capturar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55" dirty="0">
                <a:latin typeface="Arial"/>
                <a:cs typeface="Arial"/>
              </a:rPr>
              <a:t>información </a:t>
            </a:r>
            <a:r>
              <a:rPr sz="2000" spc="-40" dirty="0">
                <a:latin typeface="Arial"/>
                <a:cs typeface="Arial"/>
              </a:rPr>
              <a:t>interna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125" dirty="0">
                <a:latin typeface="Arial"/>
                <a:cs typeface="Arial"/>
              </a:rPr>
              <a:t>surge </a:t>
            </a:r>
            <a:r>
              <a:rPr sz="2000" spc="-90" dirty="0">
                <a:latin typeface="Arial"/>
                <a:cs typeface="Arial"/>
              </a:rPr>
              <a:t>de </a:t>
            </a:r>
            <a:r>
              <a:rPr sz="2000" spc="-120" dirty="0">
                <a:latin typeface="Arial"/>
                <a:cs typeface="Arial"/>
              </a:rPr>
              <a:t>las  </a:t>
            </a:r>
            <a:r>
              <a:rPr sz="2000" spc="-95" dirty="0">
                <a:latin typeface="Arial"/>
                <a:cs typeface="Arial"/>
              </a:rPr>
              <a:t>operaciones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básicas.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24600" y="1066800"/>
            <a:ext cx="2667000" cy="20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27114" y="3048000"/>
            <a:ext cx="2059685" cy="15430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53200" y="4343400"/>
            <a:ext cx="2257805" cy="202920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6258" y="193801"/>
            <a:ext cx="530542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5" dirty="0">
                <a:solidFill>
                  <a:srgbClr val="FFFFFF"/>
                </a:solidFill>
                <a:latin typeface="Trebuchet MS"/>
                <a:cs typeface="Trebuchet MS"/>
              </a:rPr>
              <a:t>Integración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 </a:t>
            </a:r>
            <a:r>
              <a:rPr sz="2000" b="1" spc="75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2000" b="1" spc="-4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ERP 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Necesidades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Integración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47720" y="1098041"/>
            <a:ext cx="116141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60" dirty="0">
                <a:latin typeface="Trebuchet MS"/>
                <a:cs typeface="Trebuchet MS"/>
              </a:rPr>
              <a:t>necesita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68" y="1098041"/>
            <a:ext cx="2546985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917064" algn="l"/>
              </a:tabLst>
            </a:pPr>
            <a:r>
              <a:rPr sz="2600" b="1" spc="-145" dirty="0">
                <a:latin typeface="Trebuchet MS"/>
                <a:cs typeface="Trebuchet MS"/>
              </a:rPr>
              <a:t>Cual</a:t>
            </a:r>
            <a:r>
              <a:rPr sz="2600" b="1" spc="-150" dirty="0">
                <a:latin typeface="Trebuchet MS"/>
                <a:cs typeface="Trebuchet MS"/>
              </a:rPr>
              <a:t>q</a:t>
            </a:r>
            <a:r>
              <a:rPr sz="2600" b="1" spc="-165" dirty="0">
                <a:latin typeface="Trebuchet MS"/>
                <a:cs typeface="Trebuchet MS"/>
              </a:rPr>
              <a:t>uier</a:t>
            </a:r>
            <a:r>
              <a:rPr sz="2600" b="1" dirty="0">
                <a:latin typeface="Trebuchet MS"/>
                <a:cs typeface="Trebuchet MS"/>
              </a:rPr>
              <a:t>	</a:t>
            </a:r>
            <a:r>
              <a:rPr sz="2600" b="1" spc="-170" dirty="0">
                <a:latin typeface="Trebuchet MS"/>
                <a:cs typeface="Trebuchet MS"/>
              </a:rPr>
              <a:t>e</a:t>
            </a:r>
            <a:r>
              <a:rPr sz="2600" b="1" spc="-200" dirty="0">
                <a:latin typeface="Trebuchet MS"/>
                <a:cs typeface="Trebuchet MS"/>
              </a:rPr>
              <a:t>n</a:t>
            </a:r>
            <a:r>
              <a:rPr sz="2600" b="1" spc="-165" dirty="0">
                <a:latin typeface="Trebuchet MS"/>
                <a:cs typeface="Trebuchet MS"/>
              </a:rPr>
              <a:t>t</a:t>
            </a:r>
            <a:r>
              <a:rPr sz="2600" b="1" spc="-130" dirty="0">
                <a:latin typeface="Trebuchet MS"/>
                <a:cs typeface="Trebuchet MS"/>
              </a:rPr>
              <a:t>e  </a:t>
            </a:r>
            <a:r>
              <a:rPr sz="2600" b="1" spc="-145" dirty="0">
                <a:latin typeface="Trebuchet MS"/>
                <a:cs typeface="Trebuchet MS"/>
              </a:rPr>
              <a:t>operaciones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95596" y="1098041"/>
            <a:ext cx="121285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73355">
              <a:lnSpc>
                <a:spcPct val="100000"/>
              </a:lnSpc>
              <a:spcBef>
                <a:spcPts val="95"/>
              </a:spcBef>
            </a:pPr>
            <a:r>
              <a:rPr sz="2600" b="1" spc="-215" dirty="0">
                <a:latin typeface="Trebuchet MS"/>
                <a:cs typeface="Trebuchet MS"/>
              </a:rPr>
              <a:t>r</a:t>
            </a:r>
            <a:r>
              <a:rPr sz="2600" b="1" spc="-180" dirty="0">
                <a:latin typeface="Trebuchet MS"/>
                <a:cs typeface="Trebuchet MS"/>
              </a:rPr>
              <a:t>eali</a:t>
            </a:r>
            <a:r>
              <a:rPr sz="2600" b="1" spc="-240" dirty="0">
                <a:latin typeface="Trebuchet MS"/>
                <a:cs typeface="Trebuchet MS"/>
              </a:rPr>
              <a:t>z</a:t>
            </a:r>
            <a:r>
              <a:rPr sz="2600" b="1" spc="-120" dirty="0">
                <a:latin typeface="Trebuchet MS"/>
                <a:cs typeface="Trebuchet MS"/>
              </a:rPr>
              <a:t>ar  </a:t>
            </a:r>
            <a:r>
              <a:rPr sz="2600" b="1" spc="-160" dirty="0">
                <a:latin typeface="Trebuchet MS"/>
                <a:cs typeface="Trebuchet MS"/>
              </a:rPr>
              <a:t>em</a:t>
            </a:r>
            <a:r>
              <a:rPr sz="2600" b="1" spc="-120" dirty="0">
                <a:latin typeface="Trebuchet MS"/>
                <a:cs typeface="Trebuchet MS"/>
              </a:rPr>
              <a:t>p</a:t>
            </a:r>
            <a:r>
              <a:rPr sz="2600" b="1" spc="-215" dirty="0">
                <a:latin typeface="Trebuchet MS"/>
                <a:cs typeface="Trebuchet MS"/>
              </a:rPr>
              <a:t>r</a:t>
            </a:r>
            <a:r>
              <a:rPr sz="2600" b="1" spc="-130" dirty="0">
                <a:latin typeface="Trebuchet MS"/>
                <a:cs typeface="Trebuchet MS"/>
              </a:rPr>
              <a:t>esa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9268" y="1890522"/>
            <a:ext cx="192532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57020" algn="l"/>
              </a:tabLst>
            </a:pPr>
            <a:r>
              <a:rPr sz="2600" b="1" spc="-200" dirty="0">
                <a:latin typeface="Trebuchet MS"/>
                <a:cs typeface="Trebuchet MS"/>
              </a:rPr>
              <a:t>ne</a:t>
            </a:r>
            <a:r>
              <a:rPr sz="2600" b="1" spc="-170" dirty="0">
                <a:latin typeface="Trebuchet MS"/>
                <a:cs typeface="Trebuchet MS"/>
              </a:rPr>
              <a:t>c</a:t>
            </a:r>
            <a:r>
              <a:rPr sz="2600" b="1" spc="-160" dirty="0">
                <a:latin typeface="Trebuchet MS"/>
                <a:cs typeface="Trebuchet MS"/>
              </a:rPr>
              <a:t>e</a:t>
            </a:r>
            <a:r>
              <a:rPr sz="2600" b="1" spc="-120" dirty="0">
                <a:latin typeface="Trebuchet MS"/>
                <a:cs typeface="Trebuchet MS"/>
              </a:rPr>
              <a:t>s</a:t>
            </a:r>
            <a:r>
              <a:rPr sz="2600" b="1" spc="-114" dirty="0">
                <a:latin typeface="Trebuchet MS"/>
                <a:cs typeface="Trebuchet MS"/>
              </a:rPr>
              <a:t>i</a:t>
            </a:r>
            <a:r>
              <a:rPr sz="2600" b="1" spc="-185" dirty="0">
                <a:latin typeface="Trebuchet MS"/>
                <a:cs typeface="Trebuchet MS"/>
              </a:rPr>
              <a:t>t</a:t>
            </a:r>
            <a:r>
              <a:rPr sz="2600" b="1" spc="-105" dirty="0">
                <a:latin typeface="Trebuchet MS"/>
                <a:cs typeface="Trebuchet MS"/>
              </a:rPr>
              <a:t>a</a:t>
            </a:r>
            <a:r>
              <a:rPr sz="2600" b="1" dirty="0">
                <a:latin typeface="Trebuchet MS"/>
                <a:cs typeface="Trebuchet MS"/>
              </a:rPr>
              <a:t>	</a:t>
            </a:r>
            <a:r>
              <a:rPr sz="2600" b="1" spc="-145" dirty="0">
                <a:latin typeface="Trebuchet MS"/>
                <a:cs typeface="Trebuchet MS"/>
              </a:rPr>
              <a:t>un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28164" y="1494282"/>
            <a:ext cx="3780154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05585" algn="l"/>
              </a:tabLst>
            </a:pPr>
            <a:r>
              <a:rPr sz="2600" b="1" spc="-145" dirty="0">
                <a:latin typeface="Trebuchet MS"/>
                <a:cs typeface="Trebuchet MS"/>
              </a:rPr>
              <a:t>básicas.	</a:t>
            </a:r>
            <a:r>
              <a:rPr sz="2600" b="1" spc="-204" dirty="0">
                <a:latin typeface="Trebuchet MS"/>
                <a:cs typeface="Trebuchet MS"/>
              </a:rPr>
              <a:t>Toda</a:t>
            </a:r>
            <a:endParaRPr sz="2600">
              <a:latin typeface="Trebuchet MS"/>
              <a:cs typeface="Trebuchet MS"/>
            </a:endParaRPr>
          </a:p>
          <a:p>
            <a:pPr marL="231775">
              <a:lnSpc>
                <a:spcPct val="100000"/>
              </a:lnSpc>
              <a:tabLst>
                <a:tab pos="1698625" algn="l"/>
              </a:tabLst>
            </a:pPr>
            <a:r>
              <a:rPr sz="2600" b="1" spc="-130" dirty="0">
                <a:latin typeface="Trebuchet MS"/>
                <a:cs typeface="Trebuchet MS"/>
              </a:rPr>
              <a:t>soporte	</a:t>
            </a:r>
            <a:r>
              <a:rPr sz="2600" b="1" spc="-150" dirty="0">
                <a:latin typeface="Trebuchet MS"/>
                <a:cs typeface="Trebuchet MS"/>
              </a:rPr>
              <a:t>administrativo,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268" y="2286508"/>
            <a:ext cx="5870575" cy="3779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155" dirty="0">
                <a:latin typeface="Trebuchet MS"/>
                <a:cs typeface="Trebuchet MS"/>
              </a:rPr>
              <a:t>financiero </a:t>
            </a:r>
            <a:r>
              <a:rPr sz="2600" b="1" spc="-160" dirty="0">
                <a:latin typeface="Trebuchet MS"/>
                <a:cs typeface="Trebuchet MS"/>
              </a:rPr>
              <a:t>y </a:t>
            </a:r>
            <a:r>
              <a:rPr sz="2600" b="1" spc="-155" dirty="0">
                <a:latin typeface="Trebuchet MS"/>
                <a:cs typeface="Trebuchet MS"/>
              </a:rPr>
              <a:t>contable </a:t>
            </a:r>
            <a:r>
              <a:rPr sz="2600" b="1" spc="-160" dirty="0">
                <a:latin typeface="Trebuchet MS"/>
                <a:cs typeface="Trebuchet MS"/>
              </a:rPr>
              <a:t>y</a:t>
            </a:r>
            <a:r>
              <a:rPr sz="2600" b="1" spc="-270" dirty="0">
                <a:latin typeface="Trebuchet MS"/>
                <a:cs typeface="Trebuchet MS"/>
              </a:rPr>
              <a:t> </a:t>
            </a:r>
            <a:r>
              <a:rPr sz="2600" b="1" spc="-150" dirty="0">
                <a:latin typeface="Trebuchet MS"/>
                <a:cs typeface="Trebuchet MS"/>
              </a:rPr>
              <a:t>presupuestario.</a:t>
            </a:r>
            <a:endParaRPr sz="2600">
              <a:latin typeface="Trebuchet MS"/>
              <a:cs typeface="Trebuchet MS"/>
            </a:endParaRPr>
          </a:p>
          <a:p>
            <a:pPr marL="298450" marR="6350" indent="-285750">
              <a:lnSpc>
                <a:spcPct val="100000"/>
              </a:lnSpc>
              <a:spcBef>
                <a:spcPts val="35"/>
              </a:spcBef>
              <a:buFont typeface="Wingdings"/>
              <a:buChar char=""/>
              <a:tabLst>
                <a:tab pos="298450" algn="l"/>
                <a:tab pos="299085" algn="l"/>
              </a:tabLst>
            </a:pPr>
            <a:r>
              <a:rPr sz="2000" spc="-165" dirty="0">
                <a:latin typeface="Arial"/>
                <a:cs typeface="Arial"/>
              </a:rPr>
              <a:t>Hay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114" dirty="0">
                <a:latin typeface="Arial"/>
                <a:cs typeface="Arial"/>
              </a:rPr>
              <a:t>escuchar </a:t>
            </a:r>
            <a:r>
              <a:rPr sz="2000" spc="-50" dirty="0">
                <a:latin typeface="Arial"/>
                <a:cs typeface="Arial"/>
              </a:rPr>
              <a:t>el </a:t>
            </a:r>
            <a:r>
              <a:rPr sz="2000" spc="-70" dirty="0">
                <a:latin typeface="Arial"/>
                <a:cs typeface="Arial"/>
              </a:rPr>
              <a:t>problema </a:t>
            </a:r>
            <a:r>
              <a:rPr sz="2000" spc="-65" dirty="0">
                <a:latin typeface="Arial"/>
                <a:cs typeface="Arial"/>
              </a:rPr>
              <a:t>real </a:t>
            </a:r>
            <a:r>
              <a:rPr sz="2000" spc="-60" dirty="0">
                <a:latin typeface="Arial"/>
                <a:cs typeface="Arial"/>
              </a:rPr>
              <a:t>del </a:t>
            </a:r>
            <a:r>
              <a:rPr sz="2000" spc="-95" dirty="0">
                <a:latin typeface="Arial"/>
                <a:cs typeface="Arial"/>
              </a:rPr>
              <a:t>negocio </a:t>
            </a:r>
            <a:r>
              <a:rPr sz="2000" spc="-100" dirty="0">
                <a:latin typeface="Arial"/>
                <a:cs typeface="Arial"/>
              </a:rPr>
              <a:t>para  </a:t>
            </a:r>
            <a:r>
              <a:rPr sz="2000" spc="-85" dirty="0">
                <a:latin typeface="Arial"/>
                <a:cs typeface="Arial"/>
              </a:rPr>
              <a:t>luego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optimizarlo.</a:t>
            </a:r>
            <a:endParaRPr sz="20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"/>
              <a:tabLst>
                <a:tab pos="298450" algn="l"/>
                <a:tab pos="299085" algn="l"/>
              </a:tabLst>
            </a:pPr>
            <a:r>
              <a:rPr sz="2000" spc="-75" dirty="0">
                <a:latin typeface="Arial"/>
                <a:cs typeface="Arial"/>
              </a:rPr>
              <a:t>Primero </a:t>
            </a:r>
            <a:r>
              <a:rPr sz="2000" spc="-120" dirty="0">
                <a:latin typeface="Arial"/>
                <a:cs typeface="Arial"/>
              </a:rPr>
              <a:t>hay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75" dirty="0">
                <a:latin typeface="Arial"/>
                <a:cs typeface="Arial"/>
              </a:rPr>
              <a:t>relevar </a:t>
            </a:r>
            <a:r>
              <a:rPr sz="2000" spc="-120" dirty="0">
                <a:latin typeface="Arial"/>
                <a:cs typeface="Arial"/>
              </a:rPr>
              <a:t>las necesidades </a:t>
            </a:r>
            <a:r>
              <a:rPr sz="2000" spc="-60" dirty="0">
                <a:latin typeface="Arial"/>
                <a:cs typeface="Arial"/>
              </a:rPr>
              <a:t>del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negocio.</a:t>
            </a:r>
            <a:endParaRPr sz="2000">
              <a:latin typeface="Arial"/>
              <a:cs typeface="Arial"/>
            </a:endParaRPr>
          </a:p>
          <a:p>
            <a:pPr marL="298450" marR="6985" indent="-285750">
              <a:lnSpc>
                <a:spcPct val="100000"/>
              </a:lnSpc>
              <a:buFont typeface="Wingdings"/>
              <a:buChar char=""/>
              <a:tabLst>
                <a:tab pos="298450" algn="l"/>
                <a:tab pos="299085" algn="l"/>
              </a:tabLst>
            </a:pPr>
            <a:r>
              <a:rPr sz="2000" spc="-215" dirty="0">
                <a:latin typeface="Arial"/>
                <a:cs typeface="Arial"/>
              </a:rPr>
              <a:t>La </a:t>
            </a:r>
            <a:r>
              <a:rPr sz="2000" spc="-80" dirty="0">
                <a:latin typeface="Arial"/>
                <a:cs typeface="Arial"/>
              </a:rPr>
              <a:t>tecnología </a:t>
            </a:r>
            <a:r>
              <a:rPr sz="2000" spc="-170" dirty="0">
                <a:latin typeface="Arial"/>
                <a:cs typeface="Arial"/>
              </a:rPr>
              <a:t>es </a:t>
            </a:r>
            <a:r>
              <a:rPr sz="2000" spc="-90" dirty="0">
                <a:latin typeface="Arial"/>
                <a:cs typeface="Arial"/>
              </a:rPr>
              <a:t>secundaria: </a:t>
            </a:r>
            <a:r>
              <a:rPr sz="2000" spc="-75" dirty="0">
                <a:latin typeface="Arial"/>
                <a:cs typeface="Arial"/>
              </a:rPr>
              <a:t>Distintas </a:t>
            </a:r>
            <a:r>
              <a:rPr sz="2000" spc="-120" dirty="0">
                <a:latin typeface="Arial"/>
                <a:cs typeface="Arial"/>
              </a:rPr>
              <a:t>empresas </a:t>
            </a:r>
            <a:r>
              <a:rPr sz="2000" spc="-105" dirty="0">
                <a:latin typeface="Arial"/>
                <a:cs typeface="Arial"/>
              </a:rPr>
              <a:t>con 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100" dirty="0">
                <a:latin typeface="Arial"/>
                <a:cs typeface="Arial"/>
              </a:rPr>
              <a:t>misma </a:t>
            </a:r>
            <a:r>
              <a:rPr sz="2000" spc="-80" dirty="0">
                <a:latin typeface="Arial"/>
                <a:cs typeface="Arial"/>
              </a:rPr>
              <a:t>tecnología </a:t>
            </a:r>
            <a:r>
              <a:rPr sz="2000" spc="-85" dirty="0">
                <a:latin typeface="Arial"/>
                <a:cs typeface="Arial"/>
              </a:rPr>
              <a:t>pueden </a:t>
            </a:r>
            <a:r>
              <a:rPr sz="2000" spc="-110" dirty="0">
                <a:latin typeface="Arial"/>
                <a:cs typeface="Arial"/>
              </a:rPr>
              <a:t>ser exitosas </a:t>
            </a:r>
            <a:r>
              <a:rPr sz="2000" spc="-60" dirty="0">
                <a:latin typeface="Arial"/>
                <a:cs typeface="Arial"/>
              </a:rPr>
              <a:t>o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fracasar.</a:t>
            </a:r>
            <a:endParaRPr sz="2000">
              <a:latin typeface="Arial"/>
              <a:cs typeface="Arial"/>
            </a:endParaRPr>
          </a:p>
          <a:p>
            <a:pPr marL="298450" marR="5080" indent="-285750">
              <a:lnSpc>
                <a:spcPct val="100000"/>
              </a:lnSpc>
              <a:buFont typeface="Wingdings"/>
              <a:buChar char=""/>
              <a:tabLst>
                <a:tab pos="298450" algn="l"/>
                <a:tab pos="299085" algn="l"/>
              </a:tabLst>
            </a:pPr>
            <a:r>
              <a:rPr sz="2000" spc="-75" dirty="0">
                <a:latin typeface="Arial"/>
                <a:cs typeface="Arial"/>
              </a:rPr>
              <a:t>Primero </a:t>
            </a:r>
            <a:r>
              <a:rPr sz="2000" spc="-55" dirty="0">
                <a:latin typeface="Arial"/>
                <a:cs typeface="Arial"/>
              </a:rPr>
              <a:t>el </a:t>
            </a:r>
            <a:r>
              <a:rPr sz="2000" spc="-85" dirty="0">
                <a:latin typeface="Arial"/>
                <a:cs typeface="Arial"/>
              </a:rPr>
              <a:t>qué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50" dirty="0">
                <a:latin typeface="Arial"/>
                <a:cs typeface="Arial"/>
              </a:rPr>
              <a:t>el </a:t>
            </a:r>
            <a:r>
              <a:rPr sz="2000" spc="-100" dirty="0">
                <a:latin typeface="Arial"/>
                <a:cs typeface="Arial"/>
              </a:rPr>
              <a:t>para </a:t>
            </a:r>
            <a:r>
              <a:rPr sz="2000" spc="-80" dirty="0">
                <a:latin typeface="Arial"/>
                <a:cs typeface="Arial"/>
              </a:rPr>
              <a:t>qué, </a:t>
            </a:r>
            <a:r>
              <a:rPr sz="2000" spc="-125" dirty="0">
                <a:latin typeface="Arial"/>
                <a:cs typeface="Arial"/>
              </a:rPr>
              <a:t>después </a:t>
            </a:r>
            <a:r>
              <a:rPr sz="2000" spc="-50" dirty="0">
                <a:latin typeface="Arial"/>
                <a:cs typeface="Arial"/>
              </a:rPr>
              <a:t>el </a:t>
            </a:r>
            <a:r>
              <a:rPr sz="2000" spc="-95" dirty="0">
                <a:latin typeface="Arial"/>
                <a:cs typeface="Arial"/>
              </a:rPr>
              <a:t>cómo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50" dirty="0">
                <a:latin typeface="Arial"/>
                <a:cs typeface="Arial"/>
              </a:rPr>
              <a:t>el  </a:t>
            </a:r>
            <a:r>
              <a:rPr sz="2000" spc="-65" dirty="0">
                <a:latin typeface="Arial"/>
                <a:cs typeface="Arial"/>
              </a:rPr>
              <a:t>quién.</a:t>
            </a:r>
            <a:endParaRPr sz="2000">
              <a:latin typeface="Arial"/>
              <a:cs typeface="Arial"/>
            </a:endParaRPr>
          </a:p>
          <a:p>
            <a:pPr marL="298450" marR="6350" indent="-285750">
              <a:lnSpc>
                <a:spcPct val="100000"/>
              </a:lnSpc>
              <a:buFont typeface="Wingdings"/>
              <a:buChar char=""/>
              <a:tabLst>
                <a:tab pos="298450" algn="l"/>
                <a:tab pos="299085" algn="l"/>
              </a:tabLst>
            </a:pPr>
            <a:r>
              <a:rPr sz="2000" spc="-200" dirty="0">
                <a:latin typeface="Arial"/>
                <a:cs typeface="Arial"/>
              </a:rPr>
              <a:t>Si </a:t>
            </a:r>
            <a:r>
              <a:rPr sz="2000" spc="-170" dirty="0">
                <a:latin typeface="Arial"/>
                <a:cs typeface="Arial"/>
              </a:rPr>
              <a:t>se </a:t>
            </a:r>
            <a:r>
              <a:rPr sz="2000" spc="-80" dirty="0">
                <a:latin typeface="Arial"/>
                <a:cs typeface="Arial"/>
              </a:rPr>
              <a:t>logra </a:t>
            </a:r>
            <a:r>
              <a:rPr sz="2000" spc="-65" dirty="0">
                <a:latin typeface="Arial"/>
                <a:cs typeface="Arial"/>
              </a:rPr>
              <a:t>un </a:t>
            </a:r>
            <a:r>
              <a:rPr sz="2000" spc="-235" dirty="0">
                <a:latin typeface="Arial"/>
                <a:cs typeface="Arial"/>
              </a:rPr>
              <a:t>SI </a:t>
            </a:r>
            <a:r>
              <a:rPr sz="2000" spc="-65" dirty="0">
                <a:latin typeface="Arial"/>
                <a:cs typeface="Arial"/>
              </a:rPr>
              <a:t>integrado, </a:t>
            </a:r>
            <a:r>
              <a:rPr sz="2000" spc="-95" dirty="0">
                <a:latin typeface="Arial"/>
                <a:cs typeface="Arial"/>
              </a:rPr>
              <a:t>una </a:t>
            </a:r>
            <a:r>
              <a:rPr sz="2000" spc="-85" dirty="0">
                <a:latin typeface="Arial"/>
                <a:cs typeface="Arial"/>
              </a:rPr>
              <a:t>transacción </a:t>
            </a:r>
            <a:r>
              <a:rPr sz="2000" spc="-70" dirty="0">
                <a:latin typeface="Arial"/>
                <a:cs typeface="Arial"/>
              </a:rPr>
              <a:t>impacta  </a:t>
            </a:r>
            <a:r>
              <a:rPr sz="2000" spc="-90" dirty="0">
                <a:latin typeface="Arial"/>
                <a:cs typeface="Arial"/>
              </a:rPr>
              <a:t>en </a:t>
            </a:r>
            <a:r>
              <a:rPr sz="2000" spc="-85" dirty="0">
                <a:latin typeface="Arial"/>
                <a:cs typeface="Arial"/>
              </a:rPr>
              <a:t>todas </a:t>
            </a:r>
            <a:r>
              <a:rPr sz="2000" spc="-120" dirty="0">
                <a:latin typeface="Arial"/>
                <a:cs typeface="Arial"/>
              </a:rPr>
              <a:t>las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áreas.</a:t>
            </a:r>
            <a:endParaRPr sz="2000">
              <a:latin typeface="Arial"/>
              <a:cs typeface="Arial"/>
            </a:endParaRPr>
          </a:p>
          <a:p>
            <a:pPr marL="298450" marR="5080" indent="-28575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298450" algn="l"/>
                <a:tab pos="299085" algn="l"/>
              </a:tabLst>
            </a:pPr>
            <a:r>
              <a:rPr sz="2000" spc="-165" dirty="0">
                <a:latin typeface="Arial"/>
                <a:cs typeface="Arial"/>
              </a:rPr>
              <a:t>Hay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55" dirty="0">
                <a:latin typeface="Arial"/>
                <a:cs typeface="Arial"/>
              </a:rPr>
              <a:t>entender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114" dirty="0">
                <a:latin typeface="Arial"/>
                <a:cs typeface="Arial"/>
              </a:rPr>
              <a:t>necesidades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55" dirty="0">
                <a:latin typeface="Arial"/>
                <a:cs typeface="Arial"/>
              </a:rPr>
              <a:t>información </a:t>
            </a:r>
            <a:r>
              <a:rPr sz="2000" spc="-95" dirty="0">
                <a:latin typeface="Arial"/>
                <a:cs typeface="Arial"/>
              </a:rPr>
              <a:t>de  </a:t>
            </a:r>
            <a:r>
              <a:rPr sz="2000" spc="-140" dirty="0">
                <a:latin typeface="Arial"/>
                <a:cs typeface="Arial"/>
              </a:rPr>
              <a:t>cada</a:t>
            </a:r>
            <a:r>
              <a:rPr sz="2000" spc="-95" dirty="0">
                <a:latin typeface="Arial"/>
                <a:cs typeface="Arial"/>
              </a:rPr>
              <a:t> área.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324600" y="1143000"/>
            <a:ext cx="2448305" cy="1866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48400" y="3048000"/>
            <a:ext cx="2609850" cy="1752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705600" y="4913418"/>
            <a:ext cx="1572074" cy="145911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30542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05" dirty="0"/>
              <a:t>Integración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75" dirty="0"/>
              <a:t>/</a:t>
            </a:r>
            <a:r>
              <a:rPr spc="-400" dirty="0"/>
              <a:t> </a:t>
            </a:r>
            <a:r>
              <a:rPr spc="-125" dirty="0"/>
              <a:t>ERP 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14" dirty="0">
                <a:latin typeface="Arial"/>
                <a:cs typeface="Arial"/>
              </a:rPr>
              <a:t>Necesidades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60" dirty="0">
                <a:latin typeface="Arial"/>
                <a:cs typeface="Arial"/>
              </a:rPr>
              <a:t>Integración </a:t>
            </a:r>
            <a:r>
              <a:rPr sz="1800" b="0" spc="-85" dirty="0">
                <a:latin typeface="Arial"/>
                <a:cs typeface="Arial"/>
              </a:rPr>
              <a:t>en </a:t>
            </a:r>
            <a:r>
              <a:rPr sz="1800" b="0" spc="-110" dirty="0">
                <a:latin typeface="Arial"/>
                <a:cs typeface="Arial"/>
              </a:rPr>
              <a:t>las </a:t>
            </a:r>
            <a:r>
              <a:rPr sz="1800" b="0" spc="-90" dirty="0">
                <a:latin typeface="Arial"/>
                <a:cs typeface="Arial"/>
              </a:rPr>
              <a:t>organizaciones</a:t>
            </a:r>
            <a:r>
              <a:rPr sz="1800" b="0" spc="-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991241" y="1181100"/>
            <a:ext cx="2686404" cy="2181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8600" y="1066800"/>
            <a:ext cx="5115306" cy="24483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05050" y="3543300"/>
            <a:ext cx="4857750" cy="2895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315200" y="3505200"/>
            <a:ext cx="927100" cy="2070100"/>
          </a:xfrm>
          <a:custGeom>
            <a:avLst/>
            <a:gdLst/>
            <a:ahLst/>
            <a:cxnLst/>
            <a:rect l="l" t="t" r="r" b="b"/>
            <a:pathLst>
              <a:path w="927100" h="2070100">
                <a:moveTo>
                  <a:pt x="231648" y="1606295"/>
                </a:moveTo>
                <a:lnTo>
                  <a:pt x="0" y="1837944"/>
                </a:lnTo>
                <a:lnTo>
                  <a:pt x="231648" y="2069591"/>
                </a:lnTo>
                <a:lnTo>
                  <a:pt x="231648" y="1953768"/>
                </a:lnTo>
                <a:lnTo>
                  <a:pt x="810768" y="1953768"/>
                </a:lnTo>
                <a:lnTo>
                  <a:pt x="810768" y="1722120"/>
                </a:lnTo>
                <a:lnTo>
                  <a:pt x="231648" y="1722120"/>
                </a:lnTo>
                <a:lnTo>
                  <a:pt x="231648" y="1606295"/>
                </a:lnTo>
                <a:close/>
              </a:path>
              <a:path w="927100" h="2070100">
                <a:moveTo>
                  <a:pt x="810768" y="231648"/>
                </a:moveTo>
                <a:lnTo>
                  <a:pt x="579120" y="231648"/>
                </a:lnTo>
                <a:lnTo>
                  <a:pt x="579120" y="1722120"/>
                </a:lnTo>
                <a:lnTo>
                  <a:pt x="810768" y="1722120"/>
                </a:lnTo>
                <a:lnTo>
                  <a:pt x="810768" y="231648"/>
                </a:lnTo>
                <a:close/>
              </a:path>
              <a:path w="927100" h="2070100">
                <a:moveTo>
                  <a:pt x="694944" y="0"/>
                </a:moveTo>
                <a:lnTo>
                  <a:pt x="463296" y="231648"/>
                </a:lnTo>
                <a:lnTo>
                  <a:pt x="926592" y="231648"/>
                </a:lnTo>
                <a:lnTo>
                  <a:pt x="694944" y="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3000" y="3505200"/>
            <a:ext cx="914400" cy="2070100"/>
          </a:xfrm>
          <a:custGeom>
            <a:avLst/>
            <a:gdLst/>
            <a:ahLst/>
            <a:cxnLst/>
            <a:rect l="l" t="t" r="r" b="b"/>
            <a:pathLst>
              <a:path w="914400" h="2070100">
                <a:moveTo>
                  <a:pt x="342900" y="228600"/>
                </a:moveTo>
                <a:lnTo>
                  <a:pt x="114300" y="228600"/>
                </a:lnTo>
                <a:lnTo>
                  <a:pt x="114300" y="1955291"/>
                </a:lnTo>
                <a:lnTo>
                  <a:pt x="685800" y="1955291"/>
                </a:lnTo>
                <a:lnTo>
                  <a:pt x="685800" y="2069591"/>
                </a:lnTo>
                <a:lnTo>
                  <a:pt x="914400" y="1840991"/>
                </a:lnTo>
                <a:lnTo>
                  <a:pt x="800100" y="1726692"/>
                </a:lnTo>
                <a:lnTo>
                  <a:pt x="342900" y="1726692"/>
                </a:lnTo>
                <a:lnTo>
                  <a:pt x="342900" y="228600"/>
                </a:lnTo>
                <a:close/>
              </a:path>
              <a:path w="914400" h="2070100">
                <a:moveTo>
                  <a:pt x="685800" y="1612392"/>
                </a:moveTo>
                <a:lnTo>
                  <a:pt x="685800" y="1726692"/>
                </a:lnTo>
                <a:lnTo>
                  <a:pt x="800100" y="1726692"/>
                </a:lnTo>
                <a:lnTo>
                  <a:pt x="685800" y="1612392"/>
                </a:lnTo>
                <a:close/>
              </a:path>
              <a:path w="914400" h="2070100">
                <a:moveTo>
                  <a:pt x="228600" y="0"/>
                </a:moveTo>
                <a:lnTo>
                  <a:pt x="0" y="228600"/>
                </a:lnTo>
                <a:lnTo>
                  <a:pt x="4572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34000" y="2667000"/>
            <a:ext cx="685800" cy="367030"/>
          </a:xfrm>
          <a:custGeom>
            <a:avLst/>
            <a:gdLst/>
            <a:ahLst/>
            <a:cxnLst/>
            <a:rect l="l" t="t" r="r" b="b"/>
            <a:pathLst>
              <a:path w="685800" h="367030">
                <a:moveTo>
                  <a:pt x="183261" y="0"/>
                </a:moveTo>
                <a:lnTo>
                  <a:pt x="0" y="183261"/>
                </a:lnTo>
                <a:lnTo>
                  <a:pt x="183261" y="366522"/>
                </a:lnTo>
                <a:lnTo>
                  <a:pt x="183261" y="274827"/>
                </a:lnTo>
                <a:lnTo>
                  <a:pt x="594233" y="274827"/>
                </a:lnTo>
                <a:lnTo>
                  <a:pt x="685800" y="183261"/>
                </a:lnTo>
                <a:lnTo>
                  <a:pt x="594105" y="91566"/>
                </a:lnTo>
                <a:lnTo>
                  <a:pt x="183261" y="91566"/>
                </a:lnTo>
                <a:lnTo>
                  <a:pt x="183261" y="0"/>
                </a:lnTo>
                <a:close/>
              </a:path>
              <a:path w="685800" h="367030">
                <a:moveTo>
                  <a:pt x="594233" y="274827"/>
                </a:moveTo>
                <a:lnTo>
                  <a:pt x="502538" y="274827"/>
                </a:lnTo>
                <a:lnTo>
                  <a:pt x="502538" y="366522"/>
                </a:lnTo>
                <a:lnTo>
                  <a:pt x="594233" y="274827"/>
                </a:lnTo>
                <a:close/>
              </a:path>
              <a:path w="685800" h="367030">
                <a:moveTo>
                  <a:pt x="502538" y="0"/>
                </a:moveTo>
                <a:lnTo>
                  <a:pt x="502538" y="91566"/>
                </a:lnTo>
                <a:lnTo>
                  <a:pt x="594105" y="91566"/>
                </a:lnTo>
                <a:lnTo>
                  <a:pt x="502538" y="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268" y="193801"/>
            <a:ext cx="8613775" cy="4834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5" dirty="0">
                <a:solidFill>
                  <a:srgbClr val="FFFFFF"/>
                </a:solidFill>
                <a:latin typeface="Trebuchet MS"/>
                <a:cs typeface="Trebuchet MS"/>
              </a:rPr>
              <a:t>Integración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 </a:t>
            </a:r>
            <a:r>
              <a:rPr sz="2000" b="1" spc="75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2000" b="1" spc="-4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ERP (Cont.)</a:t>
            </a:r>
            <a:endParaRPr sz="2000">
              <a:latin typeface="Trebuchet MS"/>
              <a:cs typeface="Trebuchet MS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Necesidades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Integración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600" b="1" spc="-170" dirty="0">
                <a:latin typeface="Trebuchet MS"/>
                <a:cs typeface="Trebuchet MS"/>
              </a:rPr>
              <a:t>Los </a:t>
            </a:r>
            <a:r>
              <a:rPr sz="2600" b="1" spc="-130" dirty="0">
                <a:latin typeface="Trebuchet MS"/>
                <a:cs typeface="Trebuchet MS"/>
              </a:rPr>
              <a:t>Sistemas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35" dirty="0">
                <a:latin typeface="Trebuchet MS"/>
                <a:cs typeface="Trebuchet MS"/>
              </a:rPr>
              <a:t>Información </a:t>
            </a:r>
            <a:r>
              <a:rPr sz="2600" b="1" spc="-145" dirty="0">
                <a:latin typeface="Trebuchet MS"/>
                <a:cs typeface="Trebuchet MS"/>
              </a:rPr>
              <a:t>Empresariales </a:t>
            </a:r>
            <a:r>
              <a:rPr sz="2600" b="1" spc="-150" dirty="0">
                <a:latin typeface="Trebuchet MS"/>
                <a:cs typeface="Trebuchet MS"/>
              </a:rPr>
              <a:t>deben </a:t>
            </a:r>
            <a:r>
              <a:rPr sz="2600" b="1" spc="-140" dirty="0">
                <a:latin typeface="Trebuchet MS"/>
                <a:cs typeface="Trebuchet MS"/>
              </a:rPr>
              <a:t>hallarse  </a:t>
            </a:r>
            <a:r>
              <a:rPr sz="2600" b="1" u="heavy" spc="-15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adecuadamente integrados</a:t>
            </a:r>
            <a:r>
              <a:rPr sz="2600" b="1" spc="-150" dirty="0">
                <a:latin typeface="Trebuchet MS"/>
                <a:cs typeface="Trebuchet MS"/>
              </a:rPr>
              <a:t>, </a:t>
            </a:r>
            <a:r>
              <a:rPr sz="2600" b="1" spc="-105" dirty="0">
                <a:latin typeface="Trebuchet MS"/>
                <a:cs typeface="Trebuchet MS"/>
              </a:rPr>
              <a:t>a </a:t>
            </a:r>
            <a:r>
              <a:rPr sz="2600" b="1" spc="-165" dirty="0">
                <a:latin typeface="Trebuchet MS"/>
                <a:cs typeface="Trebuchet MS"/>
              </a:rPr>
              <a:t>efectos</a:t>
            </a:r>
            <a:r>
              <a:rPr sz="2600" b="1" spc="450" dirty="0">
                <a:latin typeface="Trebuchet MS"/>
                <a:cs typeface="Trebuchet MS"/>
              </a:rPr>
              <a:t> </a:t>
            </a:r>
            <a:r>
              <a:rPr sz="2600" b="1" spc="-155" dirty="0">
                <a:latin typeface="Trebuchet MS"/>
                <a:cs typeface="Trebuchet MS"/>
              </a:rPr>
              <a:t>de permitir </a:t>
            </a:r>
            <a:r>
              <a:rPr sz="2600" b="1" spc="-150" dirty="0">
                <a:latin typeface="Trebuchet MS"/>
                <a:cs typeface="Trebuchet MS"/>
              </a:rPr>
              <a:t>que </a:t>
            </a:r>
            <a:r>
              <a:rPr sz="2600" b="1" spc="-105" dirty="0">
                <a:latin typeface="Trebuchet MS"/>
                <a:cs typeface="Trebuchet MS"/>
              </a:rPr>
              <a:t>las  </a:t>
            </a:r>
            <a:r>
              <a:rPr sz="2600" b="1" spc="-155" dirty="0">
                <a:latin typeface="Trebuchet MS"/>
                <a:cs typeface="Trebuchet MS"/>
              </a:rPr>
              <a:t>organizaciones </a:t>
            </a:r>
            <a:r>
              <a:rPr sz="2600" b="1" spc="-160" dirty="0">
                <a:latin typeface="Trebuchet MS"/>
                <a:cs typeface="Trebuchet MS"/>
              </a:rPr>
              <a:t>extraigan el </a:t>
            </a:r>
            <a:r>
              <a:rPr sz="2600" b="1" spc="-145" dirty="0">
                <a:latin typeface="Trebuchet MS"/>
                <a:cs typeface="Trebuchet MS"/>
              </a:rPr>
              <a:t>mayor </a:t>
            </a:r>
            <a:r>
              <a:rPr sz="2600" b="1" spc="-135" dirty="0">
                <a:latin typeface="Trebuchet MS"/>
                <a:cs typeface="Trebuchet MS"/>
              </a:rPr>
              <a:t>valor </a:t>
            </a:r>
            <a:r>
              <a:rPr sz="2600" b="1" spc="-125" dirty="0">
                <a:latin typeface="Trebuchet MS"/>
                <a:cs typeface="Trebuchet MS"/>
              </a:rPr>
              <a:t>posible </a:t>
            </a:r>
            <a:r>
              <a:rPr sz="2600" b="1" spc="-145" dirty="0">
                <a:latin typeface="Trebuchet MS"/>
                <a:cs typeface="Trebuchet MS"/>
              </a:rPr>
              <a:t>para </a:t>
            </a:r>
            <a:r>
              <a:rPr sz="2600" b="1" spc="-125" dirty="0">
                <a:latin typeface="Trebuchet MS"/>
                <a:cs typeface="Trebuchet MS"/>
              </a:rPr>
              <a:t>la  </a:t>
            </a:r>
            <a:r>
              <a:rPr sz="2600" b="1" spc="-175" dirty="0">
                <a:latin typeface="Trebuchet MS"/>
                <a:cs typeface="Trebuchet MS"/>
              </a:rPr>
              <a:t>creación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35" dirty="0">
                <a:latin typeface="Trebuchet MS"/>
                <a:cs typeface="Trebuchet MS"/>
              </a:rPr>
              <a:t>resultados </a:t>
            </a:r>
            <a:r>
              <a:rPr sz="2600" b="1" spc="-125" dirty="0">
                <a:latin typeface="Trebuchet MS"/>
                <a:cs typeface="Trebuchet MS"/>
              </a:rPr>
              <a:t>alineados </a:t>
            </a:r>
            <a:r>
              <a:rPr sz="2600" b="1" spc="-160" dirty="0">
                <a:latin typeface="Trebuchet MS"/>
                <a:cs typeface="Trebuchet MS"/>
              </a:rPr>
              <a:t>con </a:t>
            </a:r>
            <a:r>
              <a:rPr sz="2600" b="1" spc="-95" dirty="0">
                <a:latin typeface="Trebuchet MS"/>
                <a:cs typeface="Trebuchet MS"/>
              </a:rPr>
              <a:t>los </a:t>
            </a:r>
            <a:r>
              <a:rPr sz="2600" b="1" spc="-145" dirty="0">
                <a:latin typeface="Trebuchet MS"/>
                <a:cs typeface="Trebuchet MS"/>
              </a:rPr>
              <a:t>objetivos</a:t>
            </a:r>
            <a:r>
              <a:rPr sz="2600" b="1" spc="-375" dirty="0">
                <a:latin typeface="Trebuchet MS"/>
                <a:cs typeface="Trebuchet MS"/>
              </a:rPr>
              <a:t> </a:t>
            </a:r>
            <a:r>
              <a:rPr sz="2600" b="1" spc="-140" dirty="0">
                <a:latin typeface="Trebuchet MS"/>
                <a:cs typeface="Trebuchet MS"/>
              </a:rPr>
              <a:t>planteados.</a:t>
            </a:r>
            <a:endParaRPr sz="2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7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600" spc="-220" dirty="0">
                <a:latin typeface="Arial"/>
                <a:cs typeface="Arial"/>
              </a:rPr>
              <a:t>Esta </a:t>
            </a:r>
            <a:r>
              <a:rPr sz="2600" spc="-85" dirty="0">
                <a:latin typeface="Arial"/>
                <a:cs typeface="Arial"/>
              </a:rPr>
              <a:t>integración </a:t>
            </a:r>
            <a:r>
              <a:rPr sz="2600" spc="-225" dirty="0">
                <a:latin typeface="Arial"/>
                <a:cs typeface="Arial"/>
              </a:rPr>
              <a:t>se </a:t>
            </a:r>
            <a:r>
              <a:rPr sz="2600" spc="-75" dirty="0">
                <a:latin typeface="Arial"/>
                <a:cs typeface="Arial"/>
              </a:rPr>
              <a:t>define </a:t>
            </a:r>
            <a:r>
              <a:rPr sz="2600" spc="-120" dirty="0">
                <a:latin typeface="Arial"/>
                <a:cs typeface="Arial"/>
              </a:rPr>
              <a:t>como </a:t>
            </a:r>
            <a:r>
              <a:rPr sz="2600" i="1" spc="-140" dirty="0">
                <a:latin typeface="Trebuchet MS"/>
                <a:cs typeface="Trebuchet MS"/>
              </a:rPr>
              <a:t>la </a:t>
            </a:r>
            <a:r>
              <a:rPr sz="2600" i="1" spc="-100" dirty="0">
                <a:latin typeface="Trebuchet MS"/>
                <a:cs typeface="Trebuchet MS"/>
              </a:rPr>
              <a:t>capacidad </a:t>
            </a:r>
            <a:r>
              <a:rPr sz="2600" i="1" spc="-130" dirty="0">
                <a:latin typeface="Trebuchet MS"/>
                <a:cs typeface="Trebuchet MS"/>
              </a:rPr>
              <a:t>que </a:t>
            </a:r>
            <a:r>
              <a:rPr sz="2600" i="1" spc="-155" dirty="0">
                <a:latin typeface="Trebuchet MS"/>
                <a:cs typeface="Trebuchet MS"/>
              </a:rPr>
              <a:t>tienen </a:t>
            </a:r>
            <a:r>
              <a:rPr sz="2600" i="1" spc="-114" dirty="0">
                <a:latin typeface="Trebuchet MS"/>
                <a:cs typeface="Trebuchet MS"/>
              </a:rPr>
              <a:t>los </a:t>
            </a:r>
            <a:r>
              <a:rPr sz="2600" i="1" spc="-75" dirty="0">
                <a:latin typeface="Trebuchet MS"/>
                <a:cs typeface="Trebuchet MS"/>
              </a:rPr>
              <a:t>SI  </a:t>
            </a:r>
            <a:r>
              <a:rPr sz="2600" i="1" spc="-135" dirty="0">
                <a:latin typeface="Trebuchet MS"/>
                <a:cs typeface="Trebuchet MS"/>
              </a:rPr>
              <a:t>de </a:t>
            </a:r>
            <a:r>
              <a:rPr sz="2600" i="1" spc="-145" dirty="0">
                <a:latin typeface="Trebuchet MS"/>
                <a:cs typeface="Trebuchet MS"/>
              </a:rPr>
              <a:t>presentar </a:t>
            </a:r>
            <a:r>
              <a:rPr sz="2600" i="1" spc="-80" dirty="0">
                <a:latin typeface="Trebuchet MS"/>
                <a:cs typeface="Trebuchet MS"/>
              </a:rPr>
              <a:t>una </a:t>
            </a:r>
            <a:r>
              <a:rPr sz="2600" i="1" spc="-120" dirty="0">
                <a:latin typeface="Trebuchet MS"/>
                <a:cs typeface="Trebuchet MS"/>
              </a:rPr>
              <a:t>visión </a:t>
            </a:r>
            <a:r>
              <a:rPr sz="2600" i="1" spc="-165" dirty="0">
                <a:latin typeface="Trebuchet MS"/>
                <a:cs typeface="Trebuchet MS"/>
              </a:rPr>
              <a:t>integral, </a:t>
            </a:r>
            <a:r>
              <a:rPr sz="2600" i="1" spc="-85" dirty="0">
                <a:latin typeface="Trebuchet MS"/>
                <a:cs typeface="Trebuchet MS"/>
              </a:rPr>
              <a:t>homogénea </a:t>
            </a:r>
            <a:r>
              <a:rPr sz="2600" i="1" spc="-125" dirty="0">
                <a:latin typeface="Trebuchet MS"/>
                <a:cs typeface="Trebuchet MS"/>
              </a:rPr>
              <a:t>y </a:t>
            </a:r>
            <a:r>
              <a:rPr sz="2600" i="1" spc="-120" dirty="0">
                <a:latin typeface="Trebuchet MS"/>
                <a:cs typeface="Trebuchet MS"/>
              </a:rPr>
              <a:t>única </a:t>
            </a:r>
            <a:r>
              <a:rPr sz="2600" i="1" spc="-135" dirty="0">
                <a:latin typeface="Trebuchet MS"/>
                <a:cs typeface="Trebuchet MS"/>
              </a:rPr>
              <a:t>de </a:t>
            </a:r>
            <a:r>
              <a:rPr sz="2600" i="1" spc="-114" dirty="0">
                <a:latin typeface="Trebuchet MS"/>
                <a:cs typeface="Trebuchet MS"/>
              </a:rPr>
              <a:t>los  </a:t>
            </a:r>
            <a:r>
              <a:rPr sz="2600" i="1" spc="-145" dirty="0">
                <a:latin typeface="Trebuchet MS"/>
                <a:cs typeface="Trebuchet MS"/>
              </a:rPr>
              <a:t>distintos </a:t>
            </a:r>
            <a:r>
              <a:rPr sz="2600" i="1" spc="-105" dirty="0">
                <a:latin typeface="Trebuchet MS"/>
                <a:cs typeface="Trebuchet MS"/>
              </a:rPr>
              <a:t>aspectos </a:t>
            </a:r>
            <a:r>
              <a:rPr sz="2600" i="1" spc="-130" dirty="0">
                <a:latin typeface="Trebuchet MS"/>
                <a:cs typeface="Trebuchet MS"/>
              </a:rPr>
              <a:t>que </a:t>
            </a:r>
            <a:r>
              <a:rPr sz="2600" i="1" spc="-135" dirty="0">
                <a:latin typeface="Trebuchet MS"/>
                <a:cs typeface="Trebuchet MS"/>
              </a:rPr>
              <a:t>describen </a:t>
            </a:r>
            <a:r>
              <a:rPr sz="2600" i="1" spc="-80" dirty="0">
                <a:latin typeface="Trebuchet MS"/>
                <a:cs typeface="Trebuchet MS"/>
              </a:rPr>
              <a:t>una</a:t>
            </a:r>
            <a:r>
              <a:rPr sz="2600" i="1" spc="-425" dirty="0">
                <a:latin typeface="Trebuchet MS"/>
                <a:cs typeface="Trebuchet MS"/>
              </a:rPr>
              <a:t> </a:t>
            </a:r>
            <a:r>
              <a:rPr sz="2600" i="1" spc="-110" dirty="0">
                <a:latin typeface="Trebuchet MS"/>
                <a:cs typeface="Trebuchet MS"/>
              </a:rPr>
              <a:t>organización</a:t>
            </a:r>
            <a:r>
              <a:rPr sz="2600" spc="-110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7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200" spc="-195" dirty="0">
                <a:latin typeface="Arial"/>
                <a:cs typeface="Arial"/>
              </a:rPr>
              <a:t>Tres </a:t>
            </a:r>
            <a:r>
              <a:rPr sz="2200" spc="-125" dirty="0">
                <a:latin typeface="Arial"/>
                <a:cs typeface="Arial"/>
              </a:rPr>
              <a:t>grados 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spc="-70" dirty="0">
                <a:latin typeface="Arial"/>
                <a:cs typeface="Arial"/>
              </a:rPr>
              <a:t>integración: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239268" y="5001767"/>
            <a:ext cx="288480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900" algn="l"/>
                <a:tab pos="1656080" algn="l"/>
              </a:tabLst>
            </a:pPr>
            <a:r>
              <a:rPr sz="2200" i="1" spc="-150" dirty="0">
                <a:latin typeface="Trebuchet MS"/>
                <a:cs typeface="Trebuchet MS"/>
              </a:rPr>
              <a:t>1.	</a:t>
            </a:r>
            <a:r>
              <a:rPr sz="2200" i="1" spc="-105" dirty="0">
                <a:latin typeface="Trebuchet MS"/>
                <a:cs typeface="Trebuchet MS"/>
              </a:rPr>
              <a:t>Sistemas	</a:t>
            </a:r>
            <a:r>
              <a:rPr sz="2200" i="1" spc="-100" dirty="0">
                <a:latin typeface="Trebuchet MS"/>
                <a:cs typeface="Trebuchet MS"/>
              </a:rPr>
              <a:t>personales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92855" y="5001767"/>
            <a:ext cx="394144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970" algn="l"/>
                <a:tab pos="1991995" algn="l"/>
                <a:tab pos="3635375" algn="l"/>
              </a:tabLst>
            </a:pPr>
            <a:r>
              <a:rPr sz="2200" i="1" spc="-120" dirty="0">
                <a:latin typeface="Trebuchet MS"/>
                <a:cs typeface="Trebuchet MS"/>
              </a:rPr>
              <a:t>s</a:t>
            </a:r>
            <a:r>
              <a:rPr sz="2200" i="1" spc="-105" dirty="0">
                <a:latin typeface="Trebuchet MS"/>
                <a:cs typeface="Trebuchet MS"/>
              </a:rPr>
              <a:t>i</a:t>
            </a:r>
            <a:r>
              <a:rPr sz="2200" i="1" spc="-70" dirty="0">
                <a:latin typeface="Trebuchet MS"/>
                <a:cs typeface="Trebuchet MS"/>
              </a:rPr>
              <a:t>n</a:t>
            </a:r>
            <a:r>
              <a:rPr sz="2200" i="1" dirty="0">
                <a:latin typeface="Trebuchet MS"/>
                <a:cs typeface="Trebuchet MS"/>
              </a:rPr>
              <a:t>	</a:t>
            </a:r>
            <a:r>
              <a:rPr sz="2200" i="1" spc="-180" dirty="0">
                <a:latin typeface="Trebuchet MS"/>
                <a:cs typeface="Trebuchet MS"/>
              </a:rPr>
              <a:t>i</a:t>
            </a:r>
            <a:r>
              <a:rPr sz="2200" i="1" spc="-95" dirty="0">
                <a:latin typeface="Trebuchet MS"/>
                <a:cs typeface="Trebuchet MS"/>
              </a:rPr>
              <a:t>n</a:t>
            </a:r>
            <a:r>
              <a:rPr sz="2200" i="1" spc="-215" dirty="0">
                <a:latin typeface="Trebuchet MS"/>
                <a:cs typeface="Trebuchet MS"/>
              </a:rPr>
              <a:t>t</a:t>
            </a:r>
            <a:r>
              <a:rPr sz="2200" i="1" spc="-140" dirty="0">
                <a:latin typeface="Trebuchet MS"/>
                <a:cs typeface="Trebuchet MS"/>
              </a:rPr>
              <a:t>e</a:t>
            </a:r>
            <a:r>
              <a:rPr sz="2200" i="1" spc="-80" dirty="0">
                <a:latin typeface="Trebuchet MS"/>
                <a:cs typeface="Trebuchet MS"/>
              </a:rPr>
              <a:t>g</a:t>
            </a:r>
            <a:r>
              <a:rPr sz="2200" i="1" spc="-75" dirty="0">
                <a:latin typeface="Trebuchet MS"/>
                <a:cs typeface="Trebuchet MS"/>
              </a:rPr>
              <a:t>r</a:t>
            </a:r>
            <a:r>
              <a:rPr sz="2200" i="1" spc="-70" dirty="0">
                <a:latin typeface="Trebuchet MS"/>
                <a:cs typeface="Trebuchet MS"/>
              </a:rPr>
              <a:t>a</a:t>
            </a:r>
            <a:r>
              <a:rPr sz="2200" i="1" spc="-65" dirty="0">
                <a:latin typeface="Trebuchet MS"/>
                <a:cs typeface="Trebuchet MS"/>
              </a:rPr>
              <a:t>c</a:t>
            </a:r>
            <a:r>
              <a:rPr sz="2200" i="1" spc="-180" dirty="0">
                <a:latin typeface="Trebuchet MS"/>
                <a:cs typeface="Trebuchet MS"/>
              </a:rPr>
              <a:t>i</a:t>
            </a:r>
            <a:r>
              <a:rPr sz="2200" i="1" spc="-60" dirty="0">
                <a:latin typeface="Trebuchet MS"/>
                <a:cs typeface="Trebuchet MS"/>
              </a:rPr>
              <a:t>ó</a:t>
            </a:r>
            <a:r>
              <a:rPr sz="2200" i="1" spc="-70" dirty="0">
                <a:latin typeface="Trebuchet MS"/>
                <a:cs typeface="Trebuchet MS"/>
              </a:rPr>
              <a:t>n</a:t>
            </a:r>
            <a:r>
              <a:rPr sz="2200" i="1" dirty="0">
                <a:latin typeface="Trebuchet MS"/>
                <a:cs typeface="Trebuchet MS"/>
              </a:rPr>
              <a:t>	</a:t>
            </a:r>
            <a:r>
              <a:rPr sz="2200" spc="-95" dirty="0">
                <a:latin typeface="Arial"/>
                <a:cs typeface="Arial"/>
              </a:rPr>
              <a:t>(</a:t>
            </a:r>
            <a:r>
              <a:rPr sz="2200" spc="-160" dirty="0">
                <a:latin typeface="Arial"/>
                <a:cs typeface="Arial"/>
              </a:rPr>
              <a:t>a</a:t>
            </a:r>
            <a:r>
              <a:rPr sz="2200" spc="35" dirty="0">
                <a:latin typeface="Arial"/>
                <a:cs typeface="Arial"/>
              </a:rPr>
              <a:t>u</a:t>
            </a:r>
            <a:r>
              <a:rPr sz="2200" spc="-10" dirty="0">
                <a:latin typeface="Arial"/>
                <a:cs typeface="Arial"/>
              </a:rPr>
              <a:t>t</a:t>
            </a:r>
            <a:r>
              <a:rPr sz="2200" spc="-105" dirty="0">
                <a:latin typeface="Arial"/>
                <a:cs typeface="Arial"/>
              </a:rPr>
              <a:t>ónomos</a:t>
            </a:r>
            <a:r>
              <a:rPr sz="2200" spc="-45" dirty="0">
                <a:latin typeface="Arial"/>
                <a:cs typeface="Arial"/>
              </a:rPr>
              <a:t>,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75" dirty="0">
                <a:latin typeface="Arial"/>
                <a:cs typeface="Arial"/>
              </a:rPr>
              <a:t>no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05623" y="5001767"/>
            <a:ext cx="144716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24280" algn="l"/>
              </a:tabLst>
            </a:pPr>
            <a:r>
              <a:rPr sz="2200" spc="-165" dirty="0">
                <a:latin typeface="Arial"/>
                <a:cs typeface="Arial"/>
              </a:rPr>
              <a:t>e</a:t>
            </a:r>
            <a:r>
              <a:rPr sz="2200" spc="-30" dirty="0">
                <a:latin typeface="Arial"/>
                <a:cs typeface="Arial"/>
              </a:rPr>
              <a:t>xpor</a:t>
            </a:r>
            <a:r>
              <a:rPr sz="2200" spc="-55" dirty="0">
                <a:latin typeface="Arial"/>
                <a:cs typeface="Arial"/>
              </a:rPr>
              <a:t>t</a:t>
            </a:r>
            <a:r>
              <a:rPr sz="2200" spc="-120" dirty="0">
                <a:latin typeface="Arial"/>
                <a:cs typeface="Arial"/>
              </a:rPr>
              <a:t>an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35" dirty="0">
                <a:latin typeface="Arial"/>
                <a:cs typeface="Arial"/>
              </a:rPr>
              <a:t>ni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9268" y="5337555"/>
            <a:ext cx="7161530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2200" spc="-40" dirty="0">
                <a:latin typeface="Arial"/>
                <a:cs typeface="Arial"/>
              </a:rPr>
              <a:t>importan</a:t>
            </a:r>
            <a:r>
              <a:rPr sz="2200" spc="-150" dirty="0">
                <a:latin typeface="Arial"/>
                <a:cs typeface="Arial"/>
              </a:rPr>
              <a:t> </a:t>
            </a:r>
            <a:r>
              <a:rPr sz="2200" spc="-85" dirty="0">
                <a:latin typeface="Arial"/>
                <a:cs typeface="Arial"/>
              </a:rPr>
              <a:t>datos).</a:t>
            </a:r>
            <a:endParaRPr sz="2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2"/>
              <a:tabLst>
                <a:tab pos="469900" algn="l"/>
                <a:tab pos="470534" algn="l"/>
              </a:tabLst>
            </a:pPr>
            <a:r>
              <a:rPr sz="2200" i="1" spc="-100" dirty="0">
                <a:latin typeface="Trebuchet MS"/>
                <a:cs typeface="Trebuchet MS"/>
              </a:rPr>
              <a:t>Sistemas </a:t>
            </a:r>
            <a:r>
              <a:rPr sz="2200" i="1" spc="-120" dirty="0">
                <a:latin typeface="Trebuchet MS"/>
                <a:cs typeface="Trebuchet MS"/>
              </a:rPr>
              <a:t>integrables </a:t>
            </a:r>
            <a:r>
              <a:rPr sz="2200" i="1" spc="-110" dirty="0">
                <a:latin typeface="Trebuchet MS"/>
                <a:cs typeface="Trebuchet MS"/>
              </a:rPr>
              <a:t>por medio </a:t>
            </a:r>
            <a:r>
              <a:rPr sz="2200" i="1" spc="-114" dirty="0">
                <a:latin typeface="Trebuchet MS"/>
                <a:cs typeface="Trebuchet MS"/>
              </a:rPr>
              <a:t>de </a:t>
            </a:r>
            <a:r>
              <a:rPr sz="2200" i="1" spc="-135" dirty="0">
                <a:latin typeface="Trebuchet MS"/>
                <a:cs typeface="Trebuchet MS"/>
              </a:rPr>
              <a:t>interfaces</a:t>
            </a:r>
            <a:r>
              <a:rPr sz="2200" i="1" spc="-480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Arial"/>
                <a:cs typeface="Arial"/>
              </a:rPr>
              <a:t>(middleware).</a:t>
            </a:r>
            <a:endParaRPr sz="2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2"/>
              <a:tabLst>
                <a:tab pos="469900" algn="l"/>
                <a:tab pos="470534" algn="l"/>
              </a:tabLst>
            </a:pPr>
            <a:r>
              <a:rPr sz="2200" i="1" spc="-100" dirty="0">
                <a:latin typeface="Trebuchet MS"/>
                <a:cs typeface="Trebuchet MS"/>
              </a:rPr>
              <a:t>Sistemas </a:t>
            </a:r>
            <a:r>
              <a:rPr sz="2200" i="1" spc="-130" dirty="0">
                <a:latin typeface="Trebuchet MS"/>
                <a:cs typeface="Trebuchet MS"/>
              </a:rPr>
              <a:t>altamente </a:t>
            </a:r>
            <a:r>
              <a:rPr sz="2200" i="1" spc="-100" dirty="0">
                <a:latin typeface="Trebuchet MS"/>
                <a:cs typeface="Trebuchet MS"/>
              </a:rPr>
              <a:t>integrados </a:t>
            </a:r>
            <a:r>
              <a:rPr sz="2200" spc="-295" dirty="0">
                <a:latin typeface="Arial"/>
                <a:cs typeface="Arial"/>
              </a:rPr>
              <a:t>(ERPs</a:t>
            </a:r>
            <a:r>
              <a:rPr sz="2200" spc="-325" dirty="0">
                <a:latin typeface="Arial"/>
                <a:cs typeface="Arial"/>
              </a:rPr>
              <a:t> </a:t>
            </a:r>
            <a:r>
              <a:rPr sz="2200" spc="-85" dirty="0">
                <a:latin typeface="Arial"/>
                <a:cs typeface="Arial"/>
              </a:rPr>
              <a:t>modulares).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616954" y="1098041"/>
            <a:ext cx="223520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88340" algn="l"/>
                <a:tab pos="1216660" algn="l"/>
                <a:tab pos="1845945" algn="l"/>
              </a:tabLst>
            </a:pPr>
            <a:r>
              <a:rPr sz="2600" b="1" spc="-100" dirty="0">
                <a:latin typeface="Trebuchet MS"/>
                <a:cs typeface="Trebuchet MS"/>
              </a:rPr>
              <a:t>los	</a:t>
            </a:r>
            <a:r>
              <a:rPr sz="2600" b="1" spc="-70" dirty="0">
                <a:latin typeface="Trebuchet MS"/>
                <a:cs typeface="Trebuchet MS"/>
              </a:rPr>
              <a:t>SI	</a:t>
            </a:r>
            <a:r>
              <a:rPr sz="2600" b="1" spc="-160" dirty="0">
                <a:latin typeface="Trebuchet MS"/>
                <a:cs typeface="Trebuchet MS"/>
              </a:rPr>
              <a:t>e</a:t>
            </a:r>
            <a:r>
              <a:rPr sz="2600" b="1" spc="-170" dirty="0">
                <a:latin typeface="Trebuchet MS"/>
                <a:cs typeface="Trebuchet MS"/>
              </a:rPr>
              <a:t>n</a:t>
            </a:r>
            <a:r>
              <a:rPr sz="2600" b="1" dirty="0">
                <a:latin typeface="Trebuchet MS"/>
                <a:cs typeface="Trebuchet MS"/>
              </a:rPr>
              <a:t>	</a:t>
            </a:r>
            <a:r>
              <a:rPr sz="2600" b="1" spc="-105" dirty="0">
                <a:latin typeface="Trebuchet MS"/>
                <a:cs typeface="Trebuchet MS"/>
              </a:rPr>
              <a:t>las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68" y="193801"/>
            <a:ext cx="6117590" cy="172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5" dirty="0">
                <a:solidFill>
                  <a:srgbClr val="FFFFFF"/>
                </a:solidFill>
                <a:latin typeface="Trebuchet MS"/>
                <a:cs typeface="Trebuchet MS"/>
              </a:rPr>
              <a:t>Integración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 </a:t>
            </a:r>
            <a:r>
              <a:rPr sz="2000" b="1" spc="75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2000" b="1" spc="-4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ERP (Cont.)</a:t>
            </a:r>
            <a:endParaRPr sz="2000">
              <a:latin typeface="Trebuchet MS"/>
              <a:cs typeface="Trebuchet MS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Necesidades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Integración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tabLst>
                <a:tab pos="1249045" algn="l"/>
                <a:tab pos="1692275" algn="l"/>
                <a:tab pos="2592070" algn="l"/>
                <a:tab pos="3399154" algn="l"/>
                <a:tab pos="4728845" algn="l"/>
              </a:tabLst>
            </a:pPr>
            <a:r>
              <a:rPr sz="2600" b="1" spc="-95" dirty="0">
                <a:latin typeface="Trebuchet MS"/>
                <a:cs typeface="Trebuchet MS"/>
              </a:rPr>
              <a:t>¿Cóm</a:t>
            </a:r>
            <a:r>
              <a:rPr sz="2600" b="1" spc="-80" dirty="0">
                <a:latin typeface="Trebuchet MS"/>
                <a:cs typeface="Trebuchet MS"/>
              </a:rPr>
              <a:t>o</a:t>
            </a:r>
            <a:r>
              <a:rPr sz="2600" b="1" dirty="0">
                <a:latin typeface="Trebuchet MS"/>
                <a:cs typeface="Trebuchet MS"/>
              </a:rPr>
              <a:t>	</a:t>
            </a:r>
            <a:r>
              <a:rPr sz="2600" b="1" spc="-160" dirty="0">
                <a:latin typeface="Trebuchet MS"/>
                <a:cs typeface="Trebuchet MS"/>
              </a:rPr>
              <a:t>y</a:t>
            </a:r>
            <a:r>
              <a:rPr sz="2600" b="1" dirty="0">
                <a:latin typeface="Trebuchet MS"/>
                <a:cs typeface="Trebuchet MS"/>
              </a:rPr>
              <a:t>	</a:t>
            </a:r>
            <a:r>
              <a:rPr sz="2600" b="1" spc="-150" dirty="0">
                <a:latin typeface="Trebuchet MS"/>
                <a:cs typeface="Trebuchet MS"/>
              </a:rPr>
              <a:t>pa</a:t>
            </a:r>
            <a:r>
              <a:rPr sz="2600" b="1" spc="-165" dirty="0">
                <a:latin typeface="Trebuchet MS"/>
                <a:cs typeface="Trebuchet MS"/>
              </a:rPr>
              <a:t>r</a:t>
            </a:r>
            <a:r>
              <a:rPr sz="2600" b="1" spc="-105" dirty="0">
                <a:latin typeface="Trebuchet MS"/>
                <a:cs typeface="Trebuchet MS"/>
              </a:rPr>
              <a:t>a</a:t>
            </a:r>
            <a:r>
              <a:rPr sz="2600" b="1" dirty="0">
                <a:latin typeface="Trebuchet MS"/>
                <a:cs typeface="Trebuchet MS"/>
              </a:rPr>
              <a:t>	</a:t>
            </a:r>
            <a:r>
              <a:rPr sz="2600" b="1" spc="-155" dirty="0">
                <a:latin typeface="Trebuchet MS"/>
                <a:cs typeface="Trebuchet MS"/>
              </a:rPr>
              <a:t>qué</a:t>
            </a:r>
            <a:r>
              <a:rPr sz="2600" b="1" dirty="0">
                <a:latin typeface="Trebuchet MS"/>
                <a:cs typeface="Trebuchet MS"/>
              </a:rPr>
              <a:t>	</a:t>
            </a:r>
            <a:r>
              <a:rPr sz="2600" b="1" spc="-155" dirty="0">
                <a:latin typeface="Trebuchet MS"/>
                <a:cs typeface="Trebuchet MS"/>
              </a:rPr>
              <a:t>pu</a:t>
            </a:r>
            <a:r>
              <a:rPr sz="2600" b="1" spc="-140" dirty="0">
                <a:latin typeface="Trebuchet MS"/>
                <a:cs typeface="Trebuchet MS"/>
              </a:rPr>
              <a:t>e</a:t>
            </a:r>
            <a:r>
              <a:rPr sz="2600" b="1" spc="-114" dirty="0">
                <a:latin typeface="Trebuchet MS"/>
                <a:cs typeface="Trebuchet MS"/>
              </a:rPr>
              <a:t>d</a:t>
            </a:r>
            <a:r>
              <a:rPr sz="2600" b="1" spc="-170" dirty="0">
                <a:latin typeface="Trebuchet MS"/>
                <a:cs typeface="Trebuchet MS"/>
              </a:rPr>
              <a:t>en</a:t>
            </a:r>
            <a:r>
              <a:rPr sz="2600" b="1" dirty="0">
                <a:latin typeface="Trebuchet MS"/>
                <a:cs typeface="Trebuchet MS"/>
              </a:rPr>
              <a:t>	</a:t>
            </a:r>
            <a:r>
              <a:rPr sz="2600" b="1" spc="-95" dirty="0">
                <a:latin typeface="Trebuchet MS"/>
                <a:cs typeface="Trebuchet MS"/>
              </a:rPr>
              <a:t>i</a:t>
            </a:r>
            <a:r>
              <a:rPr sz="2600" b="1" spc="-210" dirty="0">
                <a:latin typeface="Trebuchet MS"/>
                <a:cs typeface="Trebuchet MS"/>
              </a:rPr>
              <a:t>n</a:t>
            </a:r>
            <a:r>
              <a:rPr sz="2600" b="1" spc="-165" dirty="0">
                <a:latin typeface="Trebuchet MS"/>
                <a:cs typeface="Trebuchet MS"/>
              </a:rPr>
              <a:t>t</a:t>
            </a:r>
            <a:r>
              <a:rPr sz="2600" b="1" spc="-145" dirty="0">
                <a:latin typeface="Trebuchet MS"/>
                <a:cs typeface="Trebuchet MS"/>
              </a:rPr>
              <a:t>e</a:t>
            </a:r>
            <a:r>
              <a:rPr sz="2600" b="1" spc="-120" dirty="0">
                <a:latin typeface="Trebuchet MS"/>
                <a:cs typeface="Trebuchet MS"/>
              </a:rPr>
              <a:t>g</a:t>
            </a:r>
            <a:r>
              <a:rPr sz="2600" b="1" spc="-245" dirty="0">
                <a:latin typeface="Trebuchet MS"/>
                <a:cs typeface="Trebuchet MS"/>
              </a:rPr>
              <a:t>r</a:t>
            </a:r>
            <a:r>
              <a:rPr sz="2600" b="1" spc="-165" dirty="0">
                <a:latin typeface="Trebuchet MS"/>
                <a:cs typeface="Trebuchet MS"/>
              </a:rPr>
              <a:t>a</a:t>
            </a:r>
            <a:r>
              <a:rPr sz="2600" b="1" spc="-160" dirty="0">
                <a:latin typeface="Trebuchet MS"/>
                <a:cs typeface="Trebuchet MS"/>
              </a:rPr>
              <a:t>r</a:t>
            </a:r>
            <a:r>
              <a:rPr sz="2600" b="1" spc="-110" dirty="0">
                <a:latin typeface="Trebuchet MS"/>
                <a:cs typeface="Trebuchet MS"/>
              </a:rPr>
              <a:t>se  </a:t>
            </a:r>
            <a:r>
              <a:rPr sz="2600" b="1" spc="-140" dirty="0">
                <a:latin typeface="Trebuchet MS"/>
                <a:cs typeface="Trebuchet MS"/>
              </a:rPr>
              <a:t>organizaciones?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68" y="2288794"/>
            <a:ext cx="8612505" cy="1032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469900" algn="l"/>
                <a:tab pos="470534" algn="l"/>
              </a:tabLst>
            </a:pPr>
            <a:r>
              <a:rPr sz="2200" b="1" spc="-110" dirty="0">
                <a:latin typeface="Trebuchet MS"/>
                <a:cs typeface="Trebuchet MS"/>
              </a:rPr>
              <a:t>Sistemas </a:t>
            </a:r>
            <a:r>
              <a:rPr sz="2200" b="1" spc="-120" dirty="0">
                <a:latin typeface="Trebuchet MS"/>
                <a:cs typeface="Trebuchet MS"/>
              </a:rPr>
              <a:t>integrados</a:t>
            </a:r>
            <a:r>
              <a:rPr sz="2200" b="1" spc="-240" dirty="0">
                <a:latin typeface="Trebuchet MS"/>
                <a:cs typeface="Trebuchet MS"/>
              </a:rPr>
              <a:t> </a:t>
            </a:r>
            <a:r>
              <a:rPr sz="2200" b="1" spc="-130" dirty="0">
                <a:latin typeface="Trebuchet MS"/>
                <a:cs typeface="Trebuchet MS"/>
              </a:rPr>
              <a:t>funcionalmente</a:t>
            </a:r>
            <a:endParaRPr sz="2200">
              <a:latin typeface="Trebuchet MS"/>
              <a:cs typeface="Trebuchet MS"/>
            </a:endParaRPr>
          </a:p>
          <a:p>
            <a:pPr marL="927100" marR="5080" lvl="1" indent="-457200">
              <a:lnSpc>
                <a:spcPct val="100000"/>
              </a:lnSpc>
              <a:buChar char="•"/>
              <a:tabLst>
                <a:tab pos="927100" algn="l"/>
                <a:tab pos="927735" algn="l"/>
              </a:tabLst>
            </a:pPr>
            <a:r>
              <a:rPr sz="2200" spc="-80" dirty="0">
                <a:latin typeface="Arial"/>
                <a:cs typeface="Arial"/>
              </a:rPr>
              <a:t>Integran </a:t>
            </a:r>
            <a:r>
              <a:rPr sz="2200" spc="-75" dirty="0">
                <a:latin typeface="Arial"/>
                <a:cs typeface="Arial"/>
              </a:rPr>
              <a:t>todos </a:t>
            </a:r>
            <a:r>
              <a:rPr sz="2200" spc="-100" dirty="0">
                <a:latin typeface="Arial"/>
                <a:cs typeface="Arial"/>
              </a:rPr>
              <a:t>los </a:t>
            </a:r>
            <a:r>
              <a:rPr sz="2200" spc="-130" dirty="0">
                <a:latin typeface="Arial"/>
                <a:cs typeface="Arial"/>
              </a:rPr>
              <a:t>procesos </a:t>
            </a:r>
            <a:r>
              <a:rPr sz="2200" spc="-90" dirty="0">
                <a:latin typeface="Arial"/>
                <a:cs typeface="Arial"/>
              </a:rPr>
              <a:t>funcionales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70" dirty="0">
                <a:latin typeface="Arial"/>
                <a:cs typeface="Arial"/>
              </a:rPr>
              <a:t>distintas </a:t>
            </a:r>
            <a:r>
              <a:rPr sz="2200" spc="-145" dirty="0">
                <a:latin typeface="Arial"/>
                <a:cs typeface="Arial"/>
              </a:rPr>
              <a:t>áreas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100" dirty="0">
                <a:latin typeface="Arial"/>
                <a:cs typeface="Arial"/>
              </a:rPr>
              <a:t>niveles  organizativos.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268" y="3295142"/>
            <a:ext cx="2419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204" dirty="0">
                <a:latin typeface="Trebuchet MS"/>
                <a:cs typeface="Trebuchet MS"/>
              </a:rPr>
              <a:t>2.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6722" y="3295142"/>
            <a:ext cx="54870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110" dirty="0">
                <a:latin typeface="Trebuchet MS"/>
                <a:cs typeface="Trebuchet MS"/>
              </a:rPr>
              <a:t>Sistemas </a:t>
            </a:r>
            <a:r>
              <a:rPr sz="2200" b="1" spc="-114" dirty="0">
                <a:latin typeface="Trebuchet MS"/>
                <a:cs typeface="Trebuchet MS"/>
              </a:rPr>
              <a:t>integrados </a:t>
            </a:r>
            <a:r>
              <a:rPr sz="2200" b="1" spc="-125" dirty="0">
                <a:latin typeface="Trebuchet MS"/>
                <a:cs typeface="Trebuchet MS"/>
              </a:rPr>
              <a:t>para </a:t>
            </a:r>
            <a:r>
              <a:rPr sz="2200" b="1" spc="-100" dirty="0">
                <a:latin typeface="Trebuchet MS"/>
                <a:cs typeface="Trebuchet MS"/>
              </a:rPr>
              <a:t>la toma </a:t>
            </a:r>
            <a:r>
              <a:rPr sz="2200" b="1" spc="-130" dirty="0">
                <a:latin typeface="Trebuchet MS"/>
                <a:cs typeface="Trebuchet MS"/>
              </a:rPr>
              <a:t>de</a:t>
            </a:r>
            <a:r>
              <a:rPr sz="2200" b="1" spc="-459" dirty="0">
                <a:latin typeface="Trebuchet MS"/>
                <a:cs typeface="Trebuchet MS"/>
              </a:rPr>
              <a:t> </a:t>
            </a:r>
            <a:r>
              <a:rPr sz="2200" b="1" spc="-120" dirty="0">
                <a:latin typeface="Trebuchet MS"/>
                <a:cs typeface="Trebuchet MS"/>
              </a:rPr>
              <a:t>decisiones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6722" y="3630422"/>
            <a:ext cx="8155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Char char="•"/>
              <a:tabLst>
                <a:tab pos="469265" algn="l"/>
                <a:tab pos="469900" algn="l"/>
              </a:tabLst>
            </a:pPr>
            <a:r>
              <a:rPr sz="2200" spc="-80" dirty="0">
                <a:latin typeface="Arial"/>
                <a:cs typeface="Arial"/>
              </a:rPr>
              <a:t>Integran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105" dirty="0">
                <a:latin typeface="Arial"/>
                <a:cs typeface="Arial"/>
              </a:rPr>
              <a:t>una única </a:t>
            </a:r>
            <a:r>
              <a:rPr sz="2200" spc="-95" dirty="0">
                <a:latin typeface="Arial"/>
                <a:cs typeface="Arial"/>
              </a:rPr>
              <a:t>aplicación </a:t>
            </a:r>
            <a:r>
              <a:rPr sz="2200" spc="-70" dirty="0">
                <a:latin typeface="Arial"/>
                <a:cs typeface="Arial"/>
              </a:rPr>
              <a:t>distintas </a:t>
            </a:r>
            <a:r>
              <a:rPr sz="2200" spc="-85" dirty="0">
                <a:latin typeface="Arial"/>
                <a:cs typeface="Arial"/>
              </a:rPr>
              <a:t>herramientas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55" dirty="0">
                <a:latin typeface="Arial"/>
                <a:cs typeface="Arial"/>
              </a:rPr>
              <a:t>toma </a:t>
            </a:r>
            <a:r>
              <a:rPr sz="2200" spc="-100" dirty="0">
                <a:latin typeface="Arial"/>
                <a:cs typeface="Arial"/>
              </a:rPr>
              <a:t>de  </a:t>
            </a:r>
            <a:r>
              <a:rPr sz="2200" spc="-110" dirty="0">
                <a:latin typeface="Arial"/>
                <a:cs typeface="Arial"/>
              </a:rPr>
              <a:t>decisiones.</a:t>
            </a:r>
            <a:endParaRPr sz="2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57600" y="4114800"/>
            <a:ext cx="5181600" cy="21762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30542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05" dirty="0"/>
              <a:t>Integración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75" dirty="0"/>
              <a:t>/</a:t>
            </a:r>
            <a:r>
              <a:rPr spc="-400" dirty="0"/>
              <a:t> </a:t>
            </a:r>
            <a:r>
              <a:rPr spc="-125" dirty="0"/>
              <a:t>ERP 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14" dirty="0">
                <a:latin typeface="Arial"/>
                <a:cs typeface="Arial"/>
              </a:rPr>
              <a:t>Necesidades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60" dirty="0">
                <a:latin typeface="Arial"/>
                <a:cs typeface="Arial"/>
              </a:rPr>
              <a:t>Integración </a:t>
            </a:r>
            <a:r>
              <a:rPr sz="1800" b="0" spc="-85" dirty="0">
                <a:latin typeface="Arial"/>
                <a:cs typeface="Arial"/>
              </a:rPr>
              <a:t>en </a:t>
            </a:r>
            <a:r>
              <a:rPr sz="1800" b="0" spc="-110" dirty="0">
                <a:latin typeface="Arial"/>
                <a:cs typeface="Arial"/>
              </a:rPr>
              <a:t>las </a:t>
            </a:r>
            <a:r>
              <a:rPr sz="1800" b="0" spc="-90" dirty="0">
                <a:latin typeface="Arial"/>
                <a:cs typeface="Arial"/>
              </a:rPr>
              <a:t>organizaciones</a:t>
            </a:r>
            <a:r>
              <a:rPr sz="1800" b="0" spc="-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66304" y="1373337"/>
            <a:ext cx="8011390" cy="48632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 err="1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30542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05" dirty="0"/>
              <a:t>Integración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75" dirty="0"/>
              <a:t>/</a:t>
            </a:r>
            <a:r>
              <a:rPr spc="-400" dirty="0"/>
              <a:t> </a:t>
            </a:r>
            <a:r>
              <a:rPr spc="-125" dirty="0"/>
              <a:t>ERP 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14" dirty="0">
                <a:latin typeface="Arial"/>
                <a:cs typeface="Arial"/>
              </a:rPr>
              <a:t>Necesidades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60" dirty="0">
                <a:latin typeface="Arial"/>
                <a:cs typeface="Arial"/>
              </a:rPr>
              <a:t>Integración </a:t>
            </a:r>
            <a:r>
              <a:rPr sz="1800" b="0" spc="-85" dirty="0">
                <a:latin typeface="Arial"/>
                <a:cs typeface="Arial"/>
              </a:rPr>
              <a:t>en </a:t>
            </a:r>
            <a:r>
              <a:rPr sz="1800" b="0" spc="-110" dirty="0">
                <a:latin typeface="Arial"/>
                <a:cs typeface="Arial"/>
              </a:rPr>
              <a:t>las </a:t>
            </a:r>
            <a:r>
              <a:rPr sz="1800" b="0" spc="-90" dirty="0">
                <a:latin typeface="Arial"/>
                <a:cs typeface="Arial"/>
              </a:rPr>
              <a:t>organizaciones</a:t>
            </a:r>
            <a:r>
              <a:rPr sz="1800" b="0" spc="-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22113" y="1311266"/>
            <a:ext cx="8101746" cy="47107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268" y="193801"/>
            <a:ext cx="8615045" cy="6207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5" dirty="0">
                <a:solidFill>
                  <a:srgbClr val="FFFFFF"/>
                </a:solidFill>
                <a:latin typeface="Trebuchet MS"/>
                <a:cs typeface="Trebuchet MS"/>
              </a:rPr>
              <a:t>Integración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 </a:t>
            </a:r>
            <a:r>
              <a:rPr sz="2000" b="1" spc="75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2000" b="1" spc="-4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ERP (Cont.)</a:t>
            </a:r>
            <a:endParaRPr sz="2000">
              <a:latin typeface="Trebuchet MS"/>
              <a:cs typeface="Trebuchet MS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240" dirty="0">
                <a:solidFill>
                  <a:srgbClr val="FFFFFF"/>
                </a:solidFill>
                <a:latin typeface="Arial"/>
                <a:cs typeface="Arial"/>
              </a:rPr>
              <a:t>ERP: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puntos 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</a:t>
            </a:r>
            <a:r>
              <a:rPr sz="1800" spc="-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spc="-165" dirty="0">
                <a:latin typeface="Trebuchet MS"/>
                <a:cs typeface="Trebuchet MS"/>
              </a:rPr>
              <a:t>ERP </a:t>
            </a:r>
            <a:r>
              <a:rPr sz="2600" b="1" spc="-160" dirty="0">
                <a:latin typeface="Trebuchet MS"/>
                <a:cs typeface="Trebuchet MS"/>
              </a:rPr>
              <a:t>-</a:t>
            </a:r>
            <a:r>
              <a:rPr sz="2600" b="1" spc="-229" dirty="0">
                <a:latin typeface="Trebuchet MS"/>
                <a:cs typeface="Trebuchet MS"/>
              </a:rPr>
              <a:t> </a:t>
            </a:r>
            <a:r>
              <a:rPr sz="2600" b="1" spc="-160" dirty="0">
                <a:latin typeface="Trebuchet MS"/>
                <a:cs typeface="Trebuchet MS"/>
              </a:rPr>
              <a:t>Concepto</a:t>
            </a:r>
            <a:endParaRPr sz="26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40"/>
              </a:spcBef>
            </a:pPr>
            <a:r>
              <a:rPr sz="2000" u="heavy" spc="-11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Un </a:t>
            </a:r>
            <a:r>
              <a:rPr sz="2000" u="heavy" spc="-1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sistema </a:t>
            </a:r>
            <a:r>
              <a:rPr sz="2000" b="1" i="1" u="heavy" spc="-3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ERP </a:t>
            </a:r>
            <a:r>
              <a:rPr sz="2000" b="1" i="1" u="heavy" spc="-1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(Enterprise </a:t>
            </a:r>
            <a:r>
              <a:rPr sz="2000" b="1" i="1" u="heavy" spc="-2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Resource </a:t>
            </a:r>
            <a:r>
              <a:rPr sz="2000" b="1" i="1" u="heavy" spc="-1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Planning) </a:t>
            </a:r>
            <a:r>
              <a:rPr sz="2000" u="heavy" spc="-17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es </a:t>
            </a:r>
            <a:r>
              <a:rPr sz="2000" u="heavy" spc="-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un </a:t>
            </a:r>
            <a:r>
              <a:rPr sz="2000" u="heavy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conjunto </a:t>
            </a:r>
            <a:r>
              <a:rPr sz="2000" u="heavy" spc="-1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 </a:t>
            </a:r>
            <a:r>
              <a:rPr sz="2000" u="heavy" spc="-9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aplicaciones 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u="heavy" spc="-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integradas </a:t>
            </a:r>
            <a:r>
              <a:rPr sz="2000" u="heavy" spc="-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funcionalmente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(básicamente </a:t>
            </a:r>
            <a:r>
              <a:rPr sz="2000" spc="-75" dirty="0">
                <a:latin typeface="Arial"/>
                <a:cs typeface="Arial"/>
              </a:rPr>
              <a:t>Contabilidad, </a:t>
            </a:r>
            <a:r>
              <a:rPr sz="2000" spc="-140" dirty="0">
                <a:latin typeface="Arial"/>
                <a:cs typeface="Arial"/>
              </a:rPr>
              <a:t>Finanzas, </a:t>
            </a:r>
            <a:r>
              <a:rPr sz="2000" spc="-130" dirty="0">
                <a:latin typeface="Arial"/>
                <a:cs typeface="Arial"/>
              </a:rPr>
              <a:t>Compras, </a:t>
            </a:r>
            <a:r>
              <a:rPr sz="2000" spc="-125" dirty="0">
                <a:latin typeface="Arial"/>
                <a:cs typeface="Arial"/>
              </a:rPr>
              <a:t>Ventas,  Tesorería, </a:t>
            </a:r>
            <a:r>
              <a:rPr sz="2000" spc="-105" dirty="0">
                <a:latin typeface="Arial"/>
                <a:cs typeface="Arial"/>
              </a:rPr>
              <a:t>Presupuesto, </a:t>
            </a:r>
            <a:r>
              <a:rPr sz="2000" spc="-70" dirty="0">
                <a:latin typeface="Arial"/>
                <a:cs typeface="Arial"/>
              </a:rPr>
              <a:t>Inventarios, </a:t>
            </a:r>
            <a:r>
              <a:rPr sz="2000" spc="-85" dirty="0">
                <a:latin typeface="Arial"/>
                <a:cs typeface="Arial"/>
              </a:rPr>
              <a:t>Activos </a:t>
            </a:r>
            <a:r>
              <a:rPr sz="2000" spc="-100" dirty="0">
                <a:latin typeface="Arial"/>
                <a:cs typeface="Arial"/>
              </a:rPr>
              <a:t>Fijos, </a:t>
            </a:r>
            <a:r>
              <a:rPr sz="2000" spc="-90" dirty="0">
                <a:latin typeface="Arial"/>
                <a:cs typeface="Arial"/>
              </a:rPr>
              <a:t>Producción, </a:t>
            </a:r>
            <a:r>
              <a:rPr sz="2000" spc="-120" dirty="0">
                <a:latin typeface="Arial"/>
                <a:cs typeface="Arial"/>
              </a:rPr>
              <a:t>Logística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235" dirty="0">
                <a:latin typeface="Arial"/>
                <a:cs typeface="Arial"/>
              </a:rPr>
              <a:t>RRHH)  </a:t>
            </a:r>
            <a:r>
              <a:rPr sz="2000" spc="-90" dirty="0">
                <a:latin typeface="Arial"/>
                <a:cs typeface="Arial"/>
              </a:rPr>
              <a:t>desarrolladas </a:t>
            </a:r>
            <a:r>
              <a:rPr sz="2000" spc="-35" dirty="0">
                <a:latin typeface="Arial"/>
                <a:cs typeface="Arial"/>
              </a:rPr>
              <a:t>por </a:t>
            </a:r>
            <a:r>
              <a:rPr sz="2000" spc="-70" dirty="0">
                <a:latin typeface="Arial"/>
                <a:cs typeface="Arial"/>
              </a:rPr>
              <a:t>un proveedor </a:t>
            </a:r>
            <a:r>
              <a:rPr sz="2000" spc="-45" dirty="0">
                <a:latin typeface="Arial"/>
                <a:cs typeface="Arial"/>
              </a:rPr>
              <a:t>(ej: </a:t>
            </a:r>
            <a:r>
              <a:rPr sz="2000" spc="-305" dirty="0">
                <a:latin typeface="Arial"/>
                <a:cs typeface="Arial"/>
              </a:rPr>
              <a:t>SAP, </a:t>
            </a:r>
            <a:r>
              <a:rPr sz="2000" spc="-105" dirty="0">
                <a:latin typeface="Arial"/>
                <a:cs typeface="Arial"/>
              </a:rPr>
              <a:t>Oracle, </a:t>
            </a:r>
            <a:r>
              <a:rPr sz="2000" spc="-65" dirty="0">
                <a:latin typeface="Arial"/>
                <a:cs typeface="Arial"/>
              </a:rPr>
              <a:t>etc.) </a:t>
            </a:r>
            <a:r>
              <a:rPr sz="2000" u="heavy" spc="-8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que </a:t>
            </a:r>
            <a:r>
              <a:rPr sz="2000" u="heavy" spc="-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incorpora </a:t>
            </a:r>
            <a:r>
              <a:rPr sz="2000" u="heavy" spc="-1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las </a:t>
            </a:r>
            <a:r>
              <a:rPr sz="2000" u="heavy" spc="-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mejores 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u="heavy" spc="-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prácticas </a:t>
            </a:r>
            <a:r>
              <a:rPr sz="2000" u="heavy" spc="-9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 </a:t>
            </a:r>
            <a:r>
              <a:rPr sz="2000" u="heavy" spc="-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los </a:t>
            </a:r>
            <a:r>
              <a:rPr sz="2000" u="heavy" spc="-10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negocios</a:t>
            </a:r>
            <a:r>
              <a:rPr sz="2000" spc="-105" dirty="0">
                <a:latin typeface="Arial"/>
                <a:cs typeface="Arial"/>
              </a:rPr>
              <a:t>. </a:t>
            </a:r>
            <a:r>
              <a:rPr sz="2000" b="1" spc="-105" dirty="0">
                <a:latin typeface="Trebuchet MS"/>
                <a:cs typeface="Trebuchet MS"/>
              </a:rPr>
              <a:t>Implican </a:t>
            </a:r>
            <a:r>
              <a:rPr sz="2000" b="1" spc="-110" dirty="0">
                <a:latin typeface="Trebuchet MS"/>
                <a:cs typeface="Trebuchet MS"/>
              </a:rPr>
              <a:t>un </a:t>
            </a:r>
            <a:r>
              <a:rPr sz="2000" b="1" spc="-105" dirty="0">
                <a:latin typeface="Trebuchet MS"/>
                <a:cs typeface="Trebuchet MS"/>
              </a:rPr>
              <a:t>cambio </a:t>
            </a:r>
            <a:r>
              <a:rPr sz="2000" b="1" spc="-130" dirty="0">
                <a:latin typeface="Trebuchet MS"/>
                <a:cs typeface="Trebuchet MS"/>
              </a:rPr>
              <a:t>cultural </a:t>
            </a:r>
            <a:r>
              <a:rPr sz="2000" b="1" spc="-120" dirty="0">
                <a:latin typeface="Trebuchet MS"/>
                <a:cs typeface="Trebuchet MS"/>
              </a:rPr>
              <a:t>de </a:t>
            </a:r>
            <a:r>
              <a:rPr sz="2000" b="1" spc="-90" dirty="0">
                <a:latin typeface="Trebuchet MS"/>
                <a:cs typeface="Trebuchet MS"/>
              </a:rPr>
              <a:t>la </a:t>
            </a:r>
            <a:r>
              <a:rPr sz="2000" b="1" spc="-114" dirty="0">
                <a:latin typeface="Trebuchet MS"/>
                <a:cs typeface="Trebuchet MS"/>
              </a:rPr>
              <a:t>organización</a:t>
            </a:r>
            <a:r>
              <a:rPr sz="2000" spc="-114" dirty="0">
                <a:latin typeface="Arial"/>
                <a:cs typeface="Arial"/>
              </a:rPr>
              <a:t>. </a:t>
            </a:r>
            <a:r>
              <a:rPr sz="2000" spc="-185" dirty="0">
                <a:latin typeface="Arial"/>
                <a:cs typeface="Arial"/>
              </a:rPr>
              <a:t>Son  </a:t>
            </a:r>
            <a:r>
              <a:rPr sz="2000" spc="-114" dirty="0">
                <a:latin typeface="Arial"/>
                <a:cs typeface="Arial"/>
              </a:rPr>
              <a:t>sistemas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80" dirty="0">
                <a:latin typeface="Arial"/>
                <a:cs typeface="Arial"/>
              </a:rPr>
              <a:t>gestión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55" dirty="0">
                <a:latin typeface="Arial"/>
                <a:cs typeface="Arial"/>
              </a:rPr>
              <a:t>información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i="1" u="heavy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integran </a:t>
            </a:r>
            <a:r>
              <a:rPr sz="2000" i="1" u="heavy" spc="-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y </a:t>
            </a:r>
            <a:r>
              <a:rPr sz="2000" i="1" u="heavy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automatizan </a:t>
            </a:r>
            <a:r>
              <a:rPr sz="2000" i="1" u="heavy" spc="-7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muchas </a:t>
            </a:r>
            <a:r>
              <a:rPr sz="2000" i="1" u="heavy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 </a:t>
            </a:r>
            <a:r>
              <a:rPr sz="2000" i="1" u="heavy" spc="-8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las </a:t>
            </a:r>
            <a:r>
              <a:rPr sz="2000" i="1" spc="-80" dirty="0">
                <a:latin typeface="Trebuchet MS"/>
                <a:cs typeface="Trebuchet MS"/>
              </a:rPr>
              <a:t> </a:t>
            </a:r>
            <a:r>
              <a:rPr sz="2000" i="1" u="heavy" spc="-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prácticas </a:t>
            </a:r>
            <a:r>
              <a:rPr sz="2000" i="1" u="heavy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 </a:t>
            </a:r>
            <a:r>
              <a:rPr sz="2000" i="1" u="heavy" spc="-8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negocio</a:t>
            </a:r>
            <a:r>
              <a:rPr sz="2000" i="1" spc="-80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Arial"/>
                <a:cs typeface="Arial"/>
              </a:rPr>
              <a:t>asociadas </a:t>
            </a:r>
            <a:r>
              <a:rPr sz="2000" spc="-100" dirty="0">
                <a:latin typeface="Arial"/>
                <a:cs typeface="Arial"/>
              </a:rPr>
              <a:t>con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114" dirty="0">
                <a:latin typeface="Arial"/>
                <a:cs typeface="Arial"/>
              </a:rPr>
              <a:t>aspectos </a:t>
            </a:r>
            <a:r>
              <a:rPr sz="2000" spc="-75" dirty="0">
                <a:latin typeface="Arial"/>
                <a:cs typeface="Arial"/>
              </a:rPr>
              <a:t>operativos </a:t>
            </a:r>
            <a:r>
              <a:rPr sz="2000" spc="-60" dirty="0">
                <a:latin typeface="Arial"/>
                <a:cs typeface="Arial"/>
              </a:rPr>
              <a:t>o </a:t>
            </a:r>
            <a:r>
              <a:rPr sz="2000" spc="-65" dirty="0">
                <a:latin typeface="Arial"/>
                <a:cs typeface="Arial"/>
              </a:rPr>
              <a:t>productivos </a:t>
            </a:r>
            <a:r>
              <a:rPr sz="2000" spc="-95" dirty="0">
                <a:latin typeface="Arial"/>
                <a:cs typeface="Arial"/>
              </a:rPr>
              <a:t>de una  </a:t>
            </a:r>
            <a:r>
              <a:rPr sz="2000" spc="-100" dirty="0">
                <a:latin typeface="Arial"/>
                <a:cs typeface="Arial"/>
              </a:rPr>
              <a:t>empresa.</a:t>
            </a:r>
            <a:endParaRPr sz="2000">
              <a:latin typeface="Arial"/>
              <a:cs typeface="Arial"/>
            </a:endParaRPr>
          </a:p>
          <a:p>
            <a:pPr marL="12700" marR="6350" algn="just">
              <a:lnSpc>
                <a:spcPct val="100000"/>
              </a:lnSpc>
            </a:pPr>
            <a:r>
              <a:rPr sz="2000" spc="-290" dirty="0">
                <a:latin typeface="Arial"/>
                <a:cs typeface="Arial"/>
              </a:rPr>
              <a:t>Es </a:t>
            </a:r>
            <a:r>
              <a:rPr sz="2000" spc="-65" dirty="0">
                <a:latin typeface="Arial"/>
                <a:cs typeface="Arial"/>
              </a:rPr>
              <a:t>un desarrollo </a:t>
            </a:r>
            <a:r>
              <a:rPr sz="2000" spc="-85" dirty="0">
                <a:latin typeface="Arial"/>
                <a:cs typeface="Arial"/>
              </a:rPr>
              <a:t>genérico que </a:t>
            </a:r>
            <a:r>
              <a:rPr sz="2000" spc="-65" dirty="0">
                <a:latin typeface="Arial"/>
                <a:cs typeface="Arial"/>
              </a:rPr>
              <a:t>integra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114" dirty="0">
                <a:latin typeface="Arial"/>
                <a:cs typeface="Arial"/>
              </a:rPr>
              <a:t>procesos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95" dirty="0">
                <a:latin typeface="Arial"/>
                <a:cs typeface="Arial"/>
              </a:rPr>
              <a:t>organización, </a:t>
            </a:r>
            <a:r>
              <a:rPr sz="2000" spc="-45" dirty="0">
                <a:latin typeface="Arial"/>
                <a:cs typeface="Arial"/>
              </a:rPr>
              <a:t>admitiendo  </a:t>
            </a:r>
            <a:r>
              <a:rPr sz="2000" spc="-95" dirty="0">
                <a:latin typeface="Arial"/>
                <a:cs typeface="Arial"/>
              </a:rPr>
              <a:t>una </a:t>
            </a:r>
            <a:r>
              <a:rPr sz="2000" spc="-85" dirty="0">
                <a:latin typeface="Arial"/>
                <a:cs typeface="Arial"/>
              </a:rPr>
              <a:t>serie </a:t>
            </a:r>
            <a:r>
              <a:rPr sz="2000" spc="-40" dirty="0">
                <a:latin typeface="Arial"/>
                <a:cs typeface="Arial"/>
              </a:rPr>
              <a:t>limitada </a:t>
            </a:r>
            <a:r>
              <a:rPr sz="2000" spc="-95" dirty="0">
                <a:latin typeface="Arial"/>
                <a:cs typeface="Arial"/>
              </a:rPr>
              <a:t>de adaptaciones </a:t>
            </a:r>
            <a:r>
              <a:rPr sz="2000" spc="-165" dirty="0">
                <a:latin typeface="Arial"/>
                <a:cs typeface="Arial"/>
              </a:rPr>
              <a:t>(</a:t>
            </a:r>
            <a:r>
              <a:rPr sz="2000" b="1" i="1" spc="-165" dirty="0">
                <a:latin typeface="Arial"/>
                <a:cs typeface="Arial"/>
              </a:rPr>
              <a:t>customizaciones</a:t>
            </a:r>
            <a:r>
              <a:rPr sz="2000" spc="-165" dirty="0">
                <a:latin typeface="Arial"/>
                <a:cs typeface="Arial"/>
              </a:rPr>
              <a:t>)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110" dirty="0">
                <a:latin typeface="Arial"/>
                <a:cs typeface="Arial"/>
              </a:rPr>
              <a:t>diversas </a:t>
            </a:r>
            <a:r>
              <a:rPr sz="2000" spc="-120" dirty="0">
                <a:latin typeface="Arial"/>
                <a:cs typeface="Arial"/>
              </a:rPr>
              <a:t>empresas </a:t>
            </a:r>
            <a:r>
              <a:rPr sz="2000" spc="-85" dirty="0">
                <a:latin typeface="Arial"/>
                <a:cs typeface="Arial"/>
              </a:rPr>
              <a:t>que  </a:t>
            </a:r>
            <a:r>
              <a:rPr sz="2000" spc="-25" dirty="0">
                <a:latin typeface="Arial"/>
                <a:cs typeface="Arial"/>
              </a:rPr>
              <a:t>lo </a:t>
            </a:r>
            <a:r>
              <a:rPr sz="2000" spc="-120" dirty="0">
                <a:latin typeface="Arial"/>
                <a:cs typeface="Arial"/>
              </a:rPr>
              <a:t>van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60" dirty="0">
                <a:latin typeface="Arial"/>
                <a:cs typeface="Arial"/>
              </a:rPr>
              <a:t>utilizar. </a:t>
            </a:r>
            <a:r>
              <a:rPr sz="2000" spc="-85" dirty="0">
                <a:latin typeface="Arial"/>
                <a:cs typeface="Arial"/>
              </a:rPr>
              <a:t>Proporciona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105" dirty="0">
                <a:latin typeface="Arial"/>
                <a:cs typeface="Arial"/>
              </a:rPr>
              <a:t>empresa </a:t>
            </a:r>
            <a:r>
              <a:rPr sz="2000" spc="-95" dirty="0">
                <a:latin typeface="Arial"/>
                <a:cs typeface="Arial"/>
              </a:rPr>
              <a:t>una </a:t>
            </a:r>
            <a:r>
              <a:rPr sz="2000" spc="-70" dirty="0">
                <a:latin typeface="Arial"/>
                <a:cs typeface="Arial"/>
              </a:rPr>
              <a:t>visión </a:t>
            </a:r>
            <a:r>
              <a:rPr sz="2000" spc="-75" dirty="0">
                <a:latin typeface="Arial"/>
                <a:cs typeface="Arial"/>
              </a:rPr>
              <a:t>integrada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30" dirty="0">
                <a:latin typeface="Arial"/>
                <a:cs typeface="Arial"/>
              </a:rPr>
              <a:t>tiempo </a:t>
            </a:r>
            <a:r>
              <a:rPr sz="2000" spc="-65" dirty="0">
                <a:latin typeface="Arial"/>
                <a:cs typeface="Arial"/>
              </a:rPr>
              <a:t>real </a:t>
            </a:r>
            <a:r>
              <a:rPr sz="2000" spc="-95" dirty="0">
                <a:latin typeface="Arial"/>
                <a:cs typeface="Arial"/>
              </a:rPr>
              <a:t>de  </a:t>
            </a:r>
            <a:r>
              <a:rPr sz="2000" spc="-170" dirty="0">
                <a:latin typeface="Arial"/>
                <a:cs typeface="Arial"/>
              </a:rPr>
              <a:t>sus </a:t>
            </a:r>
            <a:r>
              <a:rPr sz="2000" spc="-114" dirty="0">
                <a:latin typeface="Arial"/>
                <a:cs typeface="Arial"/>
              </a:rPr>
              <a:t>procesos </a:t>
            </a:r>
            <a:r>
              <a:rPr sz="2000" spc="-85" dirty="0">
                <a:latin typeface="Arial"/>
                <a:cs typeface="Arial"/>
              </a:rPr>
              <a:t>centrales 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negocio.</a:t>
            </a:r>
            <a:endParaRPr sz="2000">
              <a:latin typeface="Arial"/>
              <a:cs typeface="Arial"/>
            </a:endParaRPr>
          </a:p>
          <a:p>
            <a:pPr marL="12700" marR="5715" algn="just">
              <a:lnSpc>
                <a:spcPct val="100000"/>
              </a:lnSpc>
            </a:pPr>
            <a:r>
              <a:rPr sz="2000" spc="-110" dirty="0">
                <a:latin typeface="Arial"/>
                <a:cs typeface="Arial"/>
              </a:rPr>
              <a:t>No </a:t>
            </a:r>
            <a:r>
              <a:rPr sz="2000" spc="-65" dirty="0">
                <a:latin typeface="Arial"/>
                <a:cs typeface="Arial"/>
              </a:rPr>
              <a:t>resulta </a:t>
            </a:r>
            <a:r>
              <a:rPr sz="2000" spc="-75" dirty="0">
                <a:latin typeface="Arial"/>
                <a:cs typeface="Arial"/>
              </a:rPr>
              <a:t>posible </a:t>
            </a:r>
            <a:r>
              <a:rPr sz="2000" spc="-65" dirty="0">
                <a:latin typeface="Arial"/>
                <a:cs typeface="Arial"/>
              </a:rPr>
              <a:t>hablar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345" dirty="0">
                <a:latin typeface="Arial"/>
                <a:cs typeface="Arial"/>
              </a:rPr>
              <a:t>ERP </a:t>
            </a:r>
            <a:r>
              <a:rPr sz="2000" spc="-90" dirty="0">
                <a:latin typeface="Arial"/>
                <a:cs typeface="Arial"/>
              </a:rPr>
              <a:t>en </a:t>
            </a:r>
            <a:r>
              <a:rPr sz="2000" spc="-50" dirty="0">
                <a:latin typeface="Arial"/>
                <a:cs typeface="Arial"/>
              </a:rPr>
              <a:t>el </a:t>
            </a:r>
            <a:r>
              <a:rPr sz="2000" spc="-55" dirty="0">
                <a:latin typeface="Arial"/>
                <a:cs typeface="Arial"/>
              </a:rPr>
              <a:t>momento </a:t>
            </a:r>
            <a:r>
              <a:rPr sz="2000" spc="-90" dirty="0">
                <a:latin typeface="Arial"/>
                <a:cs typeface="Arial"/>
              </a:rPr>
              <a:t>que </a:t>
            </a:r>
            <a:r>
              <a:rPr sz="2000" spc="-45" dirty="0">
                <a:latin typeface="Arial"/>
                <a:cs typeface="Arial"/>
              </a:rPr>
              <a:t>tan </a:t>
            </a:r>
            <a:r>
              <a:rPr sz="2000" spc="-85" dirty="0">
                <a:latin typeface="Arial"/>
                <a:cs typeface="Arial"/>
              </a:rPr>
              <a:t>sólo </a:t>
            </a:r>
            <a:r>
              <a:rPr sz="2000" spc="-170" dirty="0">
                <a:latin typeface="Arial"/>
                <a:cs typeface="Arial"/>
              </a:rPr>
              <a:t>se </a:t>
            </a:r>
            <a:r>
              <a:rPr sz="2000" spc="-65" dirty="0">
                <a:latin typeface="Arial"/>
                <a:cs typeface="Arial"/>
              </a:rPr>
              <a:t>integra </a:t>
            </a:r>
            <a:r>
              <a:rPr sz="2000" spc="-100" dirty="0">
                <a:latin typeface="Arial"/>
                <a:cs typeface="Arial"/>
              </a:rPr>
              <a:t>una  </a:t>
            </a:r>
            <a:r>
              <a:rPr sz="2000" spc="-95" dirty="0">
                <a:latin typeface="Arial"/>
                <a:cs typeface="Arial"/>
              </a:rPr>
              <a:t>pequeña </a:t>
            </a:r>
            <a:r>
              <a:rPr sz="2000" spc="-45" dirty="0">
                <a:latin typeface="Arial"/>
                <a:cs typeface="Arial"/>
              </a:rPr>
              <a:t>parte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114" dirty="0">
                <a:latin typeface="Arial"/>
                <a:cs typeface="Arial"/>
              </a:rPr>
              <a:t>procesos </a:t>
            </a:r>
            <a:r>
              <a:rPr sz="2000" spc="-95" dirty="0">
                <a:latin typeface="Arial"/>
                <a:cs typeface="Arial"/>
              </a:rPr>
              <a:t>de negocio de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95" dirty="0">
                <a:latin typeface="Arial"/>
                <a:cs typeface="Arial"/>
              </a:rPr>
              <a:t>organización. </a:t>
            </a:r>
            <a:r>
              <a:rPr sz="2000" spc="-215" dirty="0">
                <a:latin typeface="Arial"/>
                <a:cs typeface="Arial"/>
              </a:rPr>
              <a:t>La </a:t>
            </a:r>
            <a:r>
              <a:rPr sz="2000" spc="-60" dirty="0">
                <a:latin typeface="Arial"/>
                <a:cs typeface="Arial"/>
              </a:rPr>
              <a:t>propia </a:t>
            </a:r>
            <a:r>
              <a:rPr sz="2000" spc="-45" dirty="0">
                <a:latin typeface="Arial"/>
                <a:cs typeface="Arial"/>
              </a:rPr>
              <a:t>definición 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340" dirty="0">
                <a:latin typeface="Arial"/>
                <a:cs typeface="Arial"/>
              </a:rPr>
              <a:t>ERP </a:t>
            </a:r>
            <a:r>
              <a:rPr sz="2000" spc="-70" dirty="0">
                <a:latin typeface="Arial"/>
                <a:cs typeface="Arial"/>
              </a:rPr>
              <a:t>indica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105" dirty="0">
                <a:latin typeface="Arial"/>
                <a:cs typeface="Arial"/>
              </a:rPr>
              <a:t>necesidad </a:t>
            </a:r>
            <a:r>
              <a:rPr sz="2000" spc="-90" dirty="0">
                <a:latin typeface="Arial"/>
                <a:cs typeface="Arial"/>
              </a:rPr>
              <a:t>de </a:t>
            </a:r>
            <a:r>
              <a:rPr sz="2000" spc="-125" dirty="0">
                <a:latin typeface="Arial"/>
                <a:cs typeface="Arial"/>
              </a:rPr>
              <a:t>"</a:t>
            </a:r>
            <a:r>
              <a:rPr sz="2000" b="1" i="1" spc="-125" dirty="0">
                <a:latin typeface="Arial"/>
                <a:cs typeface="Arial"/>
              </a:rPr>
              <a:t>Disponibilidad </a:t>
            </a:r>
            <a:r>
              <a:rPr sz="2000" b="1" i="1" spc="-150" dirty="0">
                <a:latin typeface="Arial"/>
                <a:cs typeface="Arial"/>
              </a:rPr>
              <a:t>de </a:t>
            </a:r>
            <a:r>
              <a:rPr sz="2000" b="1" i="1" spc="-105" dirty="0">
                <a:latin typeface="Arial"/>
                <a:cs typeface="Arial"/>
              </a:rPr>
              <a:t>toda </a:t>
            </a:r>
            <a:r>
              <a:rPr sz="2000" b="1" i="1" spc="-65" dirty="0">
                <a:latin typeface="Arial"/>
                <a:cs typeface="Arial"/>
              </a:rPr>
              <a:t>la </a:t>
            </a:r>
            <a:r>
              <a:rPr sz="2000" b="1" i="1" spc="-140" dirty="0">
                <a:latin typeface="Arial"/>
                <a:cs typeface="Arial"/>
              </a:rPr>
              <a:t>información </a:t>
            </a:r>
            <a:r>
              <a:rPr sz="2000" b="1" i="1" spc="-95" dirty="0">
                <a:latin typeface="Arial"/>
                <a:cs typeface="Arial"/>
              </a:rPr>
              <a:t>para </a:t>
            </a:r>
            <a:r>
              <a:rPr sz="2000" b="1" i="1" spc="-135" dirty="0">
                <a:latin typeface="Arial"/>
                <a:cs typeface="Arial"/>
              </a:rPr>
              <a:t>todo </a:t>
            </a:r>
            <a:r>
              <a:rPr sz="2000" b="1" i="1" spc="-105" dirty="0">
                <a:latin typeface="Arial"/>
                <a:cs typeface="Arial"/>
              </a:rPr>
              <a:t>el  </a:t>
            </a:r>
            <a:r>
              <a:rPr sz="2000" b="1" i="1" spc="-170" dirty="0">
                <a:latin typeface="Arial"/>
                <a:cs typeface="Arial"/>
              </a:rPr>
              <a:t>mundo </a:t>
            </a:r>
            <a:r>
              <a:rPr sz="2000" b="1" i="1" spc="-130" dirty="0">
                <a:latin typeface="Arial"/>
                <a:cs typeface="Arial"/>
              </a:rPr>
              <a:t>todo </a:t>
            </a:r>
            <a:r>
              <a:rPr sz="2000" b="1" i="1" spc="-100" dirty="0">
                <a:latin typeface="Arial"/>
                <a:cs typeface="Arial"/>
              </a:rPr>
              <a:t>el</a:t>
            </a:r>
            <a:r>
              <a:rPr sz="2000" b="1" i="1" spc="-50" dirty="0">
                <a:latin typeface="Arial"/>
                <a:cs typeface="Arial"/>
              </a:rPr>
              <a:t> </a:t>
            </a:r>
            <a:r>
              <a:rPr sz="2000" b="1" i="1" spc="-80" dirty="0">
                <a:latin typeface="Arial"/>
                <a:cs typeface="Arial"/>
              </a:rPr>
              <a:t>tiempo</a:t>
            </a:r>
            <a:r>
              <a:rPr sz="2000" spc="-80" dirty="0">
                <a:latin typeface="Arial"/>
                <a:cs typeface="Arial"/>
              </a:rPr>
              <a:t>".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268" y="56642"/>
            <a:ext cx="8614410" cy="6040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5" dirty="0">
                <a:solidFill>
                  <a:srgbClr val="FFFFFF"/>
                </a:solidFill>
                <a:latin typeface="Trebuchet MS"/>
                <a:cs typeface="Trebuchet MS"/>
              </a:rPr>
              <a:t>Integración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 </a:t>
            </a:r>
            <a:r>
              <a:rPr sz="2000" b="1" spc="75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2000" b="1" spc="-4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ERP (Cont.)</a:t>
            </a:r>
            <a:endParaRPr sz="2000">
              <a:latin typeface="Trebuchet MS"/>
              <a:cs typeface="Trebuchet MS"/>
            </a:endParaRPr>
          </a:p>
          <a:p>
            <a:pPr marL="59055" marR="377825">
              <a:lnSpc>
                <a:spcPct val="100000"/>
              </a:lnSpc>
              <a:spcBef>
                <a:spcPts val="15"/>
              </a:spcBef>
            </a:pPr>
            <a:r>
              <a:rPr sz="1800" spc="-240" dirty="0">
                <a:solidFill>
                  <a:srgbClr val="FFFFFF"/>
                </a:solidFill>
                <a:latin typeface="Arial"/>
                <a:cs typeface="Arial"/>
              </a:rPr>
              <a:t>ERP: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puntos 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 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2600" b="1" spc="-165" dirty="0">
                <a:latin typeface="Trebuchet MS"/>
                <a:cs typeface="Trebuchet MS"/>
              </a:rPr>
              <a:t>ERP </a:t>
            </a:r>
            <a:r>
              <a:rPr sz="2600" b="1" spc="-160" dirty="0">
                <a:latin typeface="Trebuchet MS"/>
                <a:cs typeface="Trebuchet MS"/>
              </a:rPr>
              <a:t>-</a:t>
            </a:r>
            <a:r>
              <a:rPr sz="2600" b="1" spc="-229" dirty="0">
                <a:latin typeface="Trebuchet MS"/>
                <a:cs typeface="Trebuchet MS"/>
              </a:rPr>
              <a:t> </a:t>
            </a:r>
            <a:r>
              <a:rPr sz="2600" b="1" spc="-145" dirty="0">
                <a:latin typeface="Trebuchet MS"/>
                <a:cs typeface="Trebuchet MS"/>
              </a:rPr>
              <a:t>Objetivos</a:t>
            </a:r>
            <a:endParaRPr sz="2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2000" spc="-190" dirty="0">
                <a:latin typeface="Arial"/>
                <a:cs typeface="Arial"/>
              </a:rPr>
              <a:t>Los </a:t>
            </a:r>
            <a:r>
              <a:rPr sz="2000" spc="-60" dirty="0">
                <a:latin typeface="Arial"/>
                <a:cs typeface="Arial"/>
              </a:rPr>
              <a:t>objetivos </a:t>
            </a:r>
            <a:r>
              <a:rPr sz="2000" spc="-75" dirty="0">
                <a:latin typeface="Arial"/>
                <a:cs typeface="Arial"/>
              </a:rPr>
              <a:t>principales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345" dirty="0">
                <a:latin typeface="Arial"/>
                <a:cs typeface="Arial"/>
              </a:rPr>
              <a:t>ERP</a:t>
            </a:r>
            <a:r>
              <a:rPr sz="2000" spc="-27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son: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900" algn="l"/>
                <a:tab pos="470534" algn="l"/>
              </a:tabLst>
            </a:pPr>
            <a:r>
              <a:rPr sz="2000" spc="-80" dirty="0">
                <a:latin typeface="Arial"/>
                <a:cs typeface="Arial"/>
              </a:rPr>
              <a:t>Optimización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114" dirty="0">
                <a:latin typeface="Arial"/>
                <a:cs typeface="Arial"/>
              </a:rPr>
              <a:t>procesos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empresariales.</a:t>
            </a:r>
            <a:endParaRPr sz="2000">
              <a:latin typeface="Arial"/>
              <a:cs typeface="Arial"/>
            </a:endParaRPr>
          </a:p>
          <a:p>
            <a:pPr marL="469900" marR="5715" indent="-457200">
              <a:lnSpc>
                <a:spcPct val="100000"/>
              </a:lnSpc>
              <a:buAutoNum type="arabicPeriod"/>
              <a:tabLst>
                <a:tab pos="469900" algn="l"/>
                <a:tab pos="470534" algn="l"/>
                <a:tab pos="1362075" algn="l"/>
                <a:tab pos="1652270" algn="l"/>
                <a:tab pos="2292350" algn="l"/>
                <a:tab pos="2641600" algn="l"/>
                <a:tab pos="4054475" algn="l"/>
                <a:tab pos="4482465" algn="l"/>
                <a:tab pos="5271135" algn="l"/>
                <a:tab pos="6452235" algn="l"/>
                <a:tab pos="7354570" algn="l"/>
                <a:tab pos="7637780" algn="l"/>
              </a:tabLst>
            </a:pPr>
            <a:r>
              <a:rPr sz="2000" spc="-195" dirty="0">
                <a:latin typeface="Arial"/>
                <a:cs typeface="Arial"/>
              </a:rPr>
              <a:t>A</a:t>
            </a:r>
            <a:r>
              <a:rPr sz="2000" spc="-140" dirty="0">
                <a:latin typeface="Arial"/>
                <a:cs typeface="Arial"/>
              </a:rPr>
              <a:t>c</a:t>
            </a:r>
            <a:r>
              <a:rPr sz="2000" spc="-160" dirty="0">
                <a:latin typeface="Arial"/>
                <a:cs typeface="Arial"/>
              </a:rPr>
              <a:t>c</a:t>
            </a:r>
            <a:r>
              <a:rPr sz="2000" spc="-114" dirty="0">
                <a:latin typeface="Arial"/>
                <a:cs typeface="Arial"/>
              </a:rPr>
              <a:t>e</a:t>
            </a:r>
            <a:r>
              <a:rPr sz="2000" spc="-140" dirty="0">
                <a:latin typeface="Arial"/>
                <a:cs typeface="Arial"/>
              </a:rPr>
              <a:t>s</a:t>
            </a:r>
            <a:r>
              <a:rPr sz="2000" spc="-150" dirty="0">
                <a:latin typeface="Arial"/>
                <a:cs typeface="Arial"/>
              </a:rPr>
              <a:t>o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60" dirty="0">
                <a:latin typeface="Arial"/>
                <a:cs typeface="Arial"/>
              </a:rPr>
              <a:t>a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90" dirty="0">
                <a:latin typeface="Arial"/>
                <a:cs typeface="Arial"/>
              </a:rPr>
              <a:t>t</a:t>
            </a:r>
            <a:r>
              <a:rPr sz="2000" spc="-100" dirty="0">
                <a:latin typeface="Arial"/>
                <a:cs typeface="Arial"/>
              </a:rPr>
              <a:t>od</a:t>
            </a:r>
            <a:r>
              <a:rPr sz="2000" spc="-95" dirty="0">
                <a:latin typeface="Arial"/>
                <a:cs typeface="Arial"/>
              </a:rPr>
              <a:t>a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75" dirty="0">
                <a:latin typeface="Arial"/>
                <a:cs typeface="Arial"/>
              </a:rPr>
              <a:t>la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5" dirty="0">
                <a:latin typeface="Arial"/>
                <a:cs typeface="Arial"/>
              </a:rPr>
              <a:t>i</a:t>
            </a:r>
            <a:r>
              <a:rPr sz="2000" spc="-50" dirty="0">
                <a:latin typeface="Arial"/>
                <a:cs typeface="Arial"/>
              </a:rPr>
              <a:t>n</a:t>
            </a:r>
            <a:r>
              <a:rPr sz="2000" spc="5" dirty="0">
                <a:latin typeface="Arial"/>
                <a:cs typeface="Arial"/>
              </a:rPr>
              <a:t>f</a:t>
            </a:r>
            <a:r>
              <a:rPr sz="2000" spc="-25" dirty="0">
                <a:latin typeface="Arial"/>
                <a:cs typeface="Arial"/>
              </a:rPr>
              <a:t>o</a:t>
            </a:r>
            <a:r>
              <a:rPr sz="2000" spc="-10" dirty="0">
                <a:latin typeface="Arial"/>
                <a:cs typeface="Arial"/>
              </a:rPr>
              <a:t>r</a:t>
            </a:r>
            <a:r>
              <a:rPr sz="2000" spc="-135" dirty="0">
                <a:latin typeface="Arial"/>
                <a:cs typeface="Arial"/>
              </a:rPr>
              <a:t>m</a:t>
            </a:r>
            <a:r>
              <a:rPr sz="2000" spc="-90" dirty="0">
                <a:latin typeface="Arial"/>
                <a:cs typeface="Arial"/>
              </a:rPr>
              <a:t>a</a:t>
            </a:r>
            <a:r>
              <a:rPr sz="2000" spc="-160" dirty="0">
                <a:latin typeface="Arial"/>
                <a:cs typeface="Arial"/>
              </a:rPr>
              <a:t>c</a:t>
            </a:r>
            <a:r>
              <a:rPr sz="2000" spc="-40" dirty="0">
                <a:latin typeface="Arial"/>
                <a:cs typeface="Arial"/>
              </a:rPr>
              <a:t>ión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5" dirty="0">
                <a:latin typeface="Arial"/>
                <a:cs typeface="Arial"/>
              </a:rPr>
              <a:t>f</a:t>
            </a:r>
            <a:r>
              <a:rPr sz="2000" spc="-70" dirty="0">
                <a:latin typeface="Arial"/>
                <a:cs typeface="Arial"/>
              </a:rPr>
              <a:t>orm</a:t>
            </a:r>
            <a:r>
              <a:rPr sz="2000" spc="-65" dirty="0">
                <a:latin typeface="Arial"/>
                <a:cs typeface="Arial"/>
              </a:rPr>
              <a:t>a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80" dirty="0">
                <a:latin typeface="Arial"/>
                <a:cs typeface="Arial"/>
              </a:rPr>
              <a:t>c</a:t>
            </a:r>
            <a:r>
              <a:rPr sz="2000" spc="-70" dirty="0">
                <a:latin typeface="Arial"/>
                <a:cs typeface="Arial"/>
              </a:rPr>
              <a:t>o</a:t>
            </a:r>
            <a:r>
              <a:rPr sz="2000" spc="-75" dirty="0">
                <a:latin typeface="Arial"/>
                <a:cs typeface="Arial"/>
              </a:rPr>
              <a:t>n</a:t>
            </a:r>
            <a:r>
              <a:rPr sz="2000" spc="-30" dirty="0">
                <a:latin typeface="Arial"/>
                <a:cs typeface="Arial"/>
              </a:rPr>
              <a:t>fi</a:t>
            </a:r>
            <a:r>
              <a:rPr sz="2000" spc="-45" dirty="0">
                <a:latin typeface="Arial"/>
                <a:cs typeface="Arial"/>
              </a:rPr>
              <a:t>a</a:t>
            </a:r>
            <a:r>
              <a:rPr sz="2000" spc="-60" dirty="0">
                <a:latin typeface="Arial"/>
                <a:cs typeface="Arial"/>
              </a:rPr>
              <a:t>b</a:t>
            </a:r>
            <a:r>
              <a:rPr sz="2000" spc="-55" dirty="0">
                <a:latin typeface="Arial"/>
                <a:cs typeface="Arial"/>
              </a:rPr>
              <a:t>le,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p</a:t>
            </a:r>
            <a:r>
              <a:rPr sz="2000" spc="-40" dirty="0">
                <a:latin typeface="Arial"/>
                <a:cs typeface="Arial"/>
              </a:rPr>
              <a:t>r</a:t>
            </a:r>
            <a:r>
              <a:rPr sz="2000" spc="-145" dirty="0">
                <a:latin typeface="Arial"/>
                <a:cs typeface="Arial"/>
              </a:rPr>
              <a:t>e</a:t>
            </a:r>
            <a:r>
              <a:rPr sz="2000" spc="-125" dirty="0">
                <a:latin typeface="Arial"/>
                <a:cs typeface="Arial"/>
              </a:rPr>
              <a:t>c</a:t>
            </a:r>
            <a:r>
              <a:rPr sz="2000" spc="-65" dirty="0">
                <a:latin typeface="Arial"/>
                <a:cs typeface="Arial"/>
              </a:rPr>
              <a:t>i</a:t>
            </a:r>
            <a:r>
              <a:rPr sz="2000" spc="-140" dirty="0">
                <a:latin typeface="Arial"/>
                <a:cs typeface="Arial"/>
              </a:rPr>
              <a:t>s</a:t>
            </a:r>
            <a:r>
              <a:rPr sz="2000" spc="-160" dirty="0">
                <a:latin typeface="Arial"/>
                <a:cs typeface="Arial"/>
              </a:rPr>
              <a:t>a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00" dirty="0">
                <a:latin typeface="Arial"/>
                <a:cs typeface="Arial"/>
              </a:rPr>
              <a:t>y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45" dirty="0">
                <a:latin typeface="Arial"/>
                <a:cs typeface="Arial"/>
              </a:rPr>
              <a:t>oportuna  </a:t>
            </a:r>
            <a:r>
              <a:rPr sz="2000" spc="-55" dirty="0">
                <a:latin typeface="Arial"/>
                <a:cs typeface="Arial"/>
              </a:rPr>
              <a:t>(integridad 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datos).</a:t>
            </a:r>
            <a:endParaRPr sz="2000">
              <a:latin typeface="Arial"/>
              <a:cs typeface="Arial"/>
            </a:endParaRPr>
          </a:p>
          <a:p>
            <a:pPr marL="469900" marR="5080" indent="-457200">
              <a:lnSpc>
                <a:spcPct val="100000"/>
              </a:lnSpc>
              <a:buAutoNum type="arabicPeriod"/>
              <a:tabLst>
                <a:tab pos="469900" algn="l"/>
                <a:tab pos="470534" algn="l"/>
              </a:tabLst>
            </a:pPr>
            <a:r>
              <a:rPr sz="2000" spc="-215" dirty="0">
                <a:latin typeface="Arial"/>
                <a:cs typeface="Arial"/>
              </a:rPr>
              <a:t>La </a:t>
            </a:r>
            <a:r>
              <a:rPr sz="2000" spc="-60" dirty="0">
                <a:latin typeface="Arial"/>
                <a:cs typeface="Arial"/>
              </a:rPr>
              <a:t>posibilidad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40" dirty="0">
                <a:latin typeface="Arial"/>
                <a:cs typeface="Arial"/>
              </a:rPr>
              <a:t>compartir </a:t>
            </a:r>
            <a:r>
              <a:rPr sz="2000" spc="-55" dirty="0">
                <a:latin typeface="Arial"/>
                <a:cs typeface="Arial"/>
              </a:rPr>
              <a:t>información </a:t>
            </a:r>
            <a:r>
              <a:rPr sz="2000" spc="-40" dirty="0">
                <a:latin typeface="Arial"/>
                <a:cs typeface="Arial"/>
              </a:rPr>
              <a:t>entre </a:t>
            </a:r>
            <a:r>
              <a:rPr sz="2000" spc="-65" dirty="0">
                <a:latin typeface="Arial"/>
                <a:cs typeface="Arial"/>
              </a:rPr>
              <a:t>todos </a:t>
            </a:r>
            <a:r>
              <a:rPr sz="2000" spc="-90" dirty="0">
                <a:latin typeface="Arial"/>
                <a:cs typeface="Arial"/>
              </a:rPr>
              <a:t>los componentes de </a:t>
            </a:r>
            <a:r>
              <a:rPr sz="2000" spc="-75" dirty="0">
                <a:latin typeface="Arial"/>
                <a:cs typeface="Arial"/>
              </a:rPr>
              <a:t>la  </a:t>
            </a:r>
            <a:r>
              <a:rPr sz="2000" spc="-95" dirty="0">
                <a:latin typeface="Arial"/>
                <a:cs typeface="Arial"/>
              </a:rPr>
              <a:t>organización.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900" algn="l"/>
                <a:tab pos="470534" algn="l"/>
              </a:tabLst>
            </a:pPr>
            <a:r>
              <a:rPr sz="2000" spc="-85" dirty="0">
                <a:latin typeface="Arial"/>
                <a:cs typeface="Arial"/>
              </a:rPr>
              <a:t>Eliminación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90" dirty="0">
                <a:latin typeface="Arial"/>
                <a:cs typeface="Arial"/>
              </a:rPr>
              <a:t>datos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95" dirty="0">
                <a:latin typeface="Arial"/>
                <a:cs typeface="Arial"/>
              </a:rPr>
              <a:t>operaciones </a:t>
            </a:r>
            <a:r>
              <a:rPr sz="2000" spc="-100" dirty="0">
                <a:latin typeface="Arial"/>
                <a:cs typeface="Arial"/>
              </a:rPr>
              <a:t>innecesarias</a:t>
            </a:r>
            <a:endParaRPr sz="2000">
              <a:latin typeface="Arial"/>
              <a:cs typeface="Arial"/>
            </a:endParaRPr>
          </a:p>
          <a:p>
            <a:pPr marL="469900" marR="5080" indent="-457200">
              <a:lnSpc>
                <a:spcPct val="100000"/>
              </a:lnSpc>
              <a:buAutoNum type="arabicPeriod"/>
              <a:tabLst>
                <a:tab pos="469900" algn="l"/>
                <a:tab pos="470534" algn="l"/>
              </a:tabLst>
            </a:pPr>
            <a:r>
              <a:rPr sz="2000" spc="-120" dirty="0">
                <a:latin typeface="Arial"/>
                <a:cs typeface="Arial"/>
              </a:rPr>
              <a:t>Reducción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60" dirty="0">
                <a:latin typeface="Arial"/>
                <a:cs typeface="Arial"/>
              </a:rPr>
              <a:t>tiempos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120" dirty="0">
                <a:latin typeface="Arial"/>
                <a:cs typeface="Arial"/>
              </a:rPr>
              <a:t>costes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114" dirty="0">
                <a:latin typeface="Arial"/>
                <a:cs typeface="Arial"/>
              </a:rPr>
              <a:t>procesos </a:t>
            </a:r>
            <a:r>
              <a:rPr sz="2000" spc="-60" dirty="0">
                <a:latin typeface="Arial"/>
                <a:cs typeface="Arial"/>
              </a:rPr>
              <a:t>(mediante </a:t>
            </a:r>
            <a:r>
              <a:rPr sz="2000" spc="-114" dirty="0">
                <a:latin typeface="Arial"/>
                <a:cs typeface="Arial"/>
              </a:rPr>
              <a:t>procesos </a:t>
            </a:r>
            <a:r>
              <a:rPr sz="2000" spc="-85" dirty="0">
                <a:latin typeface="Arial"/>
                <a:cs typeface="Arial"/>
              </a:rPr>
              <a:t>de  </a:t>
            </a:r>
            <a:r>
              <a:rPr sz="2000" spc="-70" dirty="0">
                <a:latin typeface="Arial"/>
                <a:cs typeface="Arial"/>
              </a:rPr>
              <a:t>reingeniería).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i="1" u="heavy" spc="-1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El </a:t>
            </a:r>
            <a:r>
              <a:rPr sz="2000" i="1" u="heavy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propósito </a:t>
            </a:r>
            <a:r>
              <a:rPr sz="2000" i="1" u="heavy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fundamental de </a:t>
            </a:r>
            <a:r>
              <a:rPr sz="2000" i="1" u="heavy" spc="-8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un ERP</a:t>
            </a:r>
            <a:r>
              <a:rPr sz="2000" i="1" spc="-80" dirty="0">
                <a:latin typeface="Trebuchet MS"/>
                <a:cs typeface="Trebuchet MS"/>
              </a:rPr>
              <a:t> es </a:t>
            </a:r>
            <a:r>
              <a:rPr sz="2000" i="1" spc="-90" dirty="0">
                <a:latin typeface="Trebuchet MS"/>
                <a:cs typeface="Trebuchet MS"/>
              </a:rPr>
              <a:t>otorgar </a:t>
            </a:r>
            <a:r>
              <a:rPr sz="2000" i="1" spc="-70" dirty="0">
                <a:latin typeface="Trebuchet MS"/>
                <a:cs typeface="Trebuchet MS"/>
              </a:rPr>
              <a:t>apoyo </a:t>
            </a:r>
            <a:r>
              <a:rPr sz="2000" i="1" spc="-25" dirty="0">
                <a:latin typeface="Trebuchet MS"/>
                <a:cs typeface="Trebuchet MS"/>
              </a:rPr>
              <a:t>a </a:t>
            </a:r>
            <a:r>
              <a:rPr sz="2000" i="1" spc="-90" dirty="0">
                <a:latin typeface="Trebuchet MS"/>
                <a:cs typeface="Trebuchet MS"/>
              </a:rPr>
              <a:t>los </a:t>
            </a:r>
            <a:r>
              <a:rPr sz="2000" i="1" spc="-125" dirty="0">
                <a:latin typeface="Trebuchet MS"/>
                <a:cs typeface="Trebuchet MS"/>
              </a:rPr>
              <a:t>clientes </a:t>
            </a:r>
            <a:r>
              <a:rPr sz="2000" i="1" spc="-135" dirty="0">
                <a:latin typeface="Trebuchet MS"/>
                <a:cs typeface="Trebuchet MS"/>
              </a:rPr>
              <a:t>del </a:t>
            </a:r>
            <a:r>
              <a:rPr sz="2000" i="1" spc="-105" dirty="0">
                <a:latin typeface="Trebuchet MS"/>
                <a:cs typeface="Trebuchet MS"/>
              </a:rPr>
              <a:t>negocio,  </a:t>
            </a:r>
            <a:r>
              <a:rPr sz="2000" i="1" spc="-100" dirty="0">
                <a:latin typeface="Trebuchet MS"/>
                <a:cs typeface="Trebuchet MS"/>
              </a:rPr>
              <a:t>tiempos </a:t>
            </a:r>
            <a:r>
              <a:rPr sz="2000" i="1" spc="-85" dirty="0">
                <a:latin typeface="Trebuchet MS"/>
                <a:cs typeface="Trebuchet MS"/>
              </a:rPr>
              <a:t>rápidos </a:t>
            </a:r>
            <a:r>
              <a:rPr sz="2000" i="1" spc="-105" dirty="0">
                <a:latin typeface="Trebuchet MS"/>
                <a:cs typeface="Trebuchet MS"/>
              </a:rPr>
              <a:t>de respuesta </a:t>
            </a:r>
            <a:r>
              <a:rPr sz="2000" i="1" spc="-25" dirty="0">
                <a:latin typeface="Trebuchet MS"/>
                <a:cs typeface="Trebuchet MS"/>
              </a:rPr>
              <a:t>a </a:t>
            </a:r>
            <a:r>
              <a:rPr sz="2000" i="1" spc="-55" dirty="0">
                <a:latin typeface="Trebuchet MS"/>
                <a:cs typeface="Trebuchet MS"/>
              </a:rPr>
              <a:t>sus </a:t>
            </a:r>
            <a:r>
              <a:rPr sz="2000" i="1" spc="-110" dirty="0">
                <a:latin typeface="Trebuchet MS"/>
                <a:cs typeface="Trebuchet MS"/>
              </a:rPr>
              <a:t>problemas, </a:t>
            </a:r>
            <a:r>
              <a:rPr sz="2000" i="1" spc="-75" dirty="0">
                <a:latin typeface="Trebuchet MS"/>
                <a:cs typeface="Trebuchet MS"/>
              </a:rPr>
              <a:t>así </a:t>
            </a:r>
            <a:r>
              <a:rPr sz="2000" i="1" spc="-70" dirty="0">
                <a:latin typeface="Trebuchet MS"/>
                <a:cs typeface="Trebuchet MS"/>
              </a:rPr>
              <a:t>como </a:t>
            </a:r>
            <a:r>
              <a:rPr sz="2000" i="1" spc="-80" dirty="0">
                <a:latin typeface="Trebuchet MS"/>
                <a:cs typeface="Trebuchet MS"/>
              </a:rPr>
              <a:t>un </a:t>
            </a:r>
            <a:r>
              <a:rPr sz="2000" i="1" spc="-140" dirty="0">
                <a:latin typeface="Trebuchet MS"/>
                <a:cs typeface="Trebuchet MS"/>
              </a:rPr>
              <a:t>eficiente </a:t>
            </a:r>
            <a:r>
              <a:rPr sz="2000" i="1" spc="-105" dirty="0">
                <a:latin typeface="Trebuchet MS"/>
                <a:cs typeface="Trebuchet MS"/>
              </a:rPr>
              <a:t>manejo </a:t>
            </a:r>
            <a:r>
              <a:rPr sz="2000" i="1" spc="-114" dirty="0">
                <a:latin typeface="Trebuchet MS"/>
                <a:cs typeface="Trebuchet MS"/>
              </a:rPr>
              <a:t>de  </a:t>
            </a:r>
            <a:r>
              <a:rPr sz="2000" i="1" spc="-100" dirty="0">
                <a:latin typeface="Trebuchet MS"/>
                <a:cs typeface="Trebuchet MS"/>
              </a:rPr>
              <a:t>información </a:t>
            </a:r>
            <a:r>
              <a:rPr sz="2000" i="1" spc="-105" dirty="0">
                <a:latin typeface="Trebuchet MS"/>
                <a:cs typeface="Trebuchet MS"/>
              </a:rPr>
              <a:t>que </a:t>
            </a:r>
            <a:r>
              <a:rPr sz="2000" i="1" spc="-120" dirty="0">
                <a:latin typeface="Trebuchet MS"/>
                <a:cs typeface="Trebuchet MS"/>
              </a:rPr>
              <a:t>permita </a:t>
            </a:r>
            <a:r>
              <a:rPr sz="2000" i="1" spc="-105" dirty="0">
                <a:latin typeface="Trebuchet MS"/>
                <a:cs typeface="Trebuchet MS"/>
              </a:rPr>
              <a:t>la </a:t>
            </a:r>
            <a:r>
              <a:rPr sz="2000" i="1" spc="-90" dirty="0">
                <a:latin typeface="Trebuchet MS"/>
                <a:cs typeface="Trebuchet MS"/>
              </a:rPr>
              <a:t>toma oportuna </a:t>
            </a:r>
            <a:r>
              <a:rPr sz="2000" i="1" spc="-110" dirty="0">
                <a:latin typeface="Trebuchet MS"/>
                <a:cs typeface="Trebuchet MS"/>
              </a:rPr>
              <a:t>de </a:t>
            </a:r>
            <a:r>
              <a:rPr sz="2000" i="1" spc="-95" dirty="0">
                <a:latin typeface="Trebuchet MS"/>
                <a:cs typeface="Trebuchet MS"/>
              </a:rPr>
              <a:t>decisiones y </a:t>
            </a:r>
            <a:r>
              <a:rPr sz="2000" i="1" spc="-100" dirty="0">
                <a:latin typeface="Trebuchet MS"/>
                <a:cs typeface="Trebuchet MS"/>
              </a:rPr>
              <a:t>disminución </a:t>
            </a:r>
            <a:r>
              <a:rPr sz="2000" i="1" spc="-110" dirty="0">
                <a:latin typeface="Trebuchet MS"/>
                <a:cs typeface="Trebuchet MS"/>
              </a:rPr>
              <a:t>de </a:t>
            </a:r>
            <a:r>
              <a:rPr sz="2000" i="1" spc="-95" dirty="0">
                <a:latin typeface="Trebuchet MS"/>
                <a:cs typeface="Trebuchet MS"/>
              </a:rPr>
              <a:t>los  </a:t>
            </a:r>
            <a:r>
              <a:rPr sz="2000" i="1" spc="-85" dirty="0">
                <a:latin typeface="Trebuchet MS"/>
                <a:cs typeface="Trebuchet MS"/>
              </a:rPr>
              <a:t>costos </a:t>
            </a:r>
            <a:r>
              <a:rPr sz="2000" i="1" spc="-120" dirty="0">
                <a:latin typeface="Trebuchet MS"/>
                <a:cs typeface="Trebuchet MS"/>
              </a:rPr>
              <a:t>totales </a:t>
            </a:r>
            <a:r>
              <a:rPr sz="2000" i="1" spc="-110" dirty="0">
                <a:latin typeface="Trebuchet MS"/>
                <a:cs typeface="Trebuchet MS"/>
              </a:rPr>
              <a:t>de</a:t>
            </a:r>
            <a:r>
              <a:rPr sz="2000" i="1" spc="-265" dirty="0">
                <a:latin typeface="Trebuchet MS"/>
                <a:cs typeface="Trebuchet MS"/>
              </a:rPr>
              <a:t> </a:t>
            </a:r>
            <a:r>
              <a:rPr sz="2000" i="1" spc="-110" dirty="0">
                <a:latin typeface="Trebuchet MS"/>
                <a:cs typeface="Trebuchet MS"/>
              </a:rPr>
              <a:t>operación.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34200" y="1066800"/>
            <a:ext cx="1981200" cy="14836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268" y="56642"/>
            <a:ext cx="8241030" cy="6219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5" dirty="0">
                <a:solidFill>
                  <a:srgbClr val="FFFFFF"/>
                </a:solidFill>
                <a:latin typeface="Trebuchet MS"/>
                <a:cs typeface="Trebuchet MS"/>
              </a:rPr>
              <a:t>Integración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 </a:t>
            </a:r>
            <a:r>
              <a:rPr sz="2000" b="1" spc="75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2000" b="1" spc="-4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ERP (Cont.)</a:t>
            </a:r>
            <a:endParaRPr sz="2000">
              <a:latin typeface="Trebuchet MS"/>
              <a:cs typeface="Trebuchet MS"/>
            </a:endParaRPr>
          </a:p>
          <a:p>
            <a:pPr marL="59055" marR="5080">
              <a:lnSpc>
                <a:spcPct val="100000"/>
              </a:lnSpc>
              <a:spcBef>
                <a:spcPts val="15"/>
              </a:spcBef>
            </a:pPr>
            <a:r>
              <a:rPr sz="1800" spc="-240" dirty="0">
                <a:solidFill>
                  <a:srgbClr val="FFFFFF"/>
                </a:solidFill>
                <a:latin typeface="Arial"/>
                <a:cs typeface="Arial"/>
              </a:rPr>
              <a:t>ERP: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puntos 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 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2600" b="1" spc="-165" dirty="0">
                <a:latin typeface="Trebuchet MS"/>
                <a:cs typeface="Trebuchet MS"/>
              </a:rPr>
              <a:t>ERP </a:t>
            </a:r>
            <a:r>
              <a:rPr sz="2600" b="1" spc="-155" dirty="0">
                <a:latin typeface="Arial"/>
                <a:cs typeface="Arial"/>
              </a:rPr>
              <a:t>– </a:t>
            </a:r>
            <a:r>
              <a:rPr sz="2600" b="1" spc="-165" dirty="0">
                <a:latin typeface="Trebuchet MS"/>
                <a:cs typeface="Trebuchet MS"/>
              </a:rPr>
              <a:t>Características</a:t>
            </a:r>
            <a:r>
              <a:rPr sz="2600" b="1" spc="-180" dirty="0">
                <a:latin typeface="Trebuchet MS"/>
                <a:cs typeface="Trebuchet MS"/>
              </a:rPr>
              <a:t> </a:t>
            </a:r>
            <a:r>
              <a:rPr sz="2600" b="1" spc="-155" dirty="0">
                <a:latin typeface="Trebuchet MS"/>
                <a:cs typeface="Trebuchet MS"/>
              </a:rPr>
              <a:t>Fundamentales</a:t>
            </a:r>
            <a:endParaRPr sz="2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400" i="1" spc="-45" dirty="0">
                <a:latin typeface="Trebuchet MS"/>
                <a:cs typeface="Trebuchet MS"/>
              </a:rPr>
              <a:t>1 </a:t>
            </a:r>
            <a:r>
              <a:rPr sz="2400" i="1" spc="-140" dirty="0">
                <a:latin typeface="Arial"/>
                <a:cs typeface="Arial"/>
              </a:rPr>
              <a:t>–</a:t>
            </a:r>
            <a:r>
              <a:rPr sz="2400" i="1" spc="-280" dirty="0">
                <a:latin typeface="Arial"/>
                <a:cs typeface="Arial"/>
              </a:rPr>
              <a:t> </a:t>
            </a:r>
            <a:r>
              <a:rPr sz="2400" i="1" spc="-114" dirty="0">
                <a:latin typeface="Trebuchet MS"/>
                <a:cs typeface="Trebuchet MS"/>
              </a:rPr>
              <a:t>Integrales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 marR="2145665" algn="just">
              <a:lnSpc>
                <a:spcPct val="100000"/>
              </a:lnSpc>
            </a:pPr>
            <a:r>
              <a:rPr sz="2400" spc="-90" dirty="0">
                <a:latin typeface="Arial"/>
                <a:cs typeface="Arial"/>
              </a:rPr>
              <a:t>Permiten </a:t>
            </a:r>
            <a:r>
              <a:rPr sz="2400" spc="-55" dirty="0">
                <a:latin typeface="Arial"/>
                <a:cs typeface="Arial"/>
              </a:rPr>
              <a:t>controlar </a:t>
            </a:r>
            <a:r>
              <a:rPr sz="2400" spc="-105" dirty="0">
                <a:latin typeface="Arial"/>
                <a:cs typeface="Arial"/>
              </a:rPr>
              <a:t>los </a:t>
            </a:r>
            <a:r>
              <a:rPr sz="2400" spc="-75" dirty="0">
                <a:latin typeface="Arial"/>
                <a:cs typeface="Arial"/>
              </a:rPr>
              <a:t>diferentes </a:t>
            </a:r>
            <a:r>
              <a:rPr sz="2400" spc="-140" dirty="0">
                <a:latin typeface="Arial"/>
                <a:cs typeface="Arial"/>
              </a:rPr>
              <a:t>procesos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85" dirty="0">
                <a:latin typeface="Arial"/>
                <a:cs typeface="Arial"/>
              </a:rPr>
              <a:t>la  </a:t>
            </a:r>
            <a:r>
              <a:rPr sz="2400" spc="-130" dirty="0">
                <a:latin typeface="Arial"/>
                <a:cs typeface="Arial"/>
              </a:rPr>
              <a:t>compañía </a:t>
            </a:r>
            <a:r>
              <a:rPr sz="2400" spc="-70" dirty="0">
                <a:latin typeface="Arial"/>
                <a:cs typeface="Arial"/>
              </a:rPr>
              <a:t>entendiendo </a:t>
            </a:r>
            <a:r>
              <a:rPr sz="2400" spc="-100" dirty="0">
                <a:latin typeface="Arial"/>
                <a:cs typeface="Arial"/>
              </a:rPr>
              <a:t>que </a:t>
            </a:r>
            <a:r>
              <a:rPr sz="2400" spc="-80" dirty="0">
                <a:latin typeface="Arial"/>
                <a:cs typeface="Arial"/>
              </a:rPr>
              <a:t>todos </a:t>
            </a:r>
            <a:r>
              <a:rPr sz="2400" spc="-105" dirty="0">
                <a:latin typeface="Arial"/>
                <a:cs typeface="Arial"/>
              </a:rPr>
              <a:t>los  </a:t>
            </a:r>
            <a:r>
              <a:rPr sz="2400" spc="-85" dirty="0">
                <a:latin typeface="Arial"/>
                <a:cs typeface="Arial"/>
              </a:rPr>
              <a:t>departamentos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14" dirty="0">
                <a:latin typeface="Arial"/>
                <a:cs typeface="Arial"/>
              </a:rPr>
              <a:t>una </a:t>
            </a:r>
            <a:r>
              <a:rPr sz="2400" spc="-130" dirty="0">
                <a:latin typeface="Arial"/>
                <a:cs typeface="Arial"/>
              </a:rPr>
              <a:t>empresa </a:t>
            </a:r>
            <a:r>
              <a:rPr sz="2400" spc="-204" dirty="0">
                <a:latin typeface="Arial"/>
                <a:cs typeface="Arial"/>
              </a:rPr>
              <a:t>se </a:t>
            </a:r>
            <a:r>
              <a:rPr sz="2400" spc="-90" dirty="0">
                <a:latin typeface="Arial"/>
                <a:cs typeface="Arial"/>
              </a:rPr>
              <a:t>relacionan  </a:t>
            </a:r>
            <a:r>
              <a:rPr sz="2400" spc="-50" dirty="0">
                <a:latin typeface="Arial"/>
                <a:cs typeface="Arial"/>
              </a:rPr>
              <a:t>entre </a:t>
            </a:r>
            <a:r>
              <a:rPr sz="2400" spc="-155" dirty="0">
                <a:latin typeface="Arial"/>
                <a:cs typeface="Arial"/>
              </a:rPr>
              <a:t>sí, </a:t>
            </a:r>
            <a:r>
              <a:rPr sz="2400" spc="-204" dirty="0">
                <a:latin typeface="Arial"/>
                <a:cs typeface="Arial"/>
              </a:rPr>
              <a:t>es </a:t>
            </a:r>
            <a:r>
              <a:rPr sz="2400" spc="-110" dirty="0">
                <a:latin typeface="Arial"/>
                <a:cs typeface="Arial"/>
              </a:rPr>
              <a:t>decir, </a:t>
            </a:r>
            <a:r>
              <a:rPr sz="2400" spc="-100" dirty="0">
                <a:latin typeface="Arial"/>
                <a:cs typeface="Arial"/>
              </a:rPr>
              <a:t>que </a:t>
            </a:r>
            <a:r>
              <a:rPr sz="2400" spc="-65" dirty="0">
                <a:latin typeface="Arial"/>
                <a:cs typeface="Arial"/>
              </a:rPr>
              <a:t>el </a:t>
            </a:r>
            <a:r>
              <a:rPr sz="2400" spc="-80" dirty="0">
                <a:latin typeface="Arial"/>
                <a:cs typeface="Arial"/>
              </a:rPr>
              <a:t>resultado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75" dirty="0">
                <a:latin typeface="Arial"/>
                <a:cs typeface="Arial"/>
              </a:rPr>
              <a:t>un </a:t>
            </a:r>
            <a:r>
              <a:rPr sz="2400" spc="-120" dirty="0">
                <a:latin typeface="Arial"/>
                <a:cs typeface="Arial"/>
              </a:rPr>
              <a:t>proceso  </a:t>
            </a:r>
            <a:r>
              <a:rPr sz="2400" spc="-204" dirty="0">
                <a:latin typeface="Arial"/>
                <a:cs typeface="Arial"/>
              </a:rPr>
              <a:t>es </a:t>
            </a:r>
            <a:r>
              <a:rPr sz="2400" spc="-45" dirty="0">
                <a:latin typeface="Arial"/>
                <a:cs typeface="Arial"/>
              </a:rPr>
              <a:t>punto </a:t>
            </a:r>
            <a:r>
              <a:rPr sz="2400" spc="-114" dirty="0">
                <a:latin typeface="Arial"/>
                <a:cs typeface="Arial"/>
              </a:rPr>
              <a:t>de </a:t>
            </a:r>
            <a:r>
              <a:rPr sz="2400" spc="-50" dirty="0">
                <a:latin typeface="Arial"/>
                <a:cs typeface="Arial"/>
              </a:rPr>
              <a:t>inicio </a:t>
            </a:r>
            <a:r>
              <a:rPr sz="2400" spc="-70" dirty="0">
                <a:latin typeface="Arial"/>
                <a:cs typeface="Arial"/>
              </a:rPr>
              <a:t>del </a:t>
            </a:r>
            <a:r>
              <a:rPr sz="2400" spc="-90" dirty="0">
                <a:latin typeface="Arial"/>
                <a:cs typeface="Arial"/>
              </a:rPr>
              <a:t>siguiente. </a:t>
            </a:r>
            <a:r>
              <a:rPr sz="2400" spc="-245" dirty="0">
                <a:latin typeface="Arial"/>
                <a:cs typeface="Arial"/>
              </a:rPr>
              <a:t>Si </a:t>
            </a:r>
            <a:r>
              <a:rPr sz="2400" spc="-85" dirty="0">
                <a:latin typeface="Arial"/>
                <a:cs typeface="Arial"/>
              </a:rPr>
              <a:t>la </a:t>
            </a:r>
            <a:r>
              <a:rPr sz="2400" spc="-130" dirty="0">
                <a:latin typeface="Arial"/>
                <a:cs typeface="Arial"/>
              </a:rPr>
              <a:t>empresa </a:t>
            </a:r>
            <a:r>
              <a:rPr sz="2400" spc="-80" dirty="0">
                <a:latin typeface="Arial"/>
                <a:cs typeface="Arial"/>
              </a:rPr>
              <a:t>no  </a:t>
            </a:r>
            <a:r>
              <a:rPr sz="2400" spc="-60" dirty="0">
                <a:latin typeface="Arial"/>
                <a:cs typeface="Arial"/>
              </a:rPr>
              <a:t>utiliza </a:t>
            </a:r>
            <a:r>
              <a:rPr sz="2400" spc="-80" dirty="0">
                <a:latin typeface="Arial"/>
                <a:cs typeface="Arial"/>
              </a:rPr>
              <a:t>un </a:t>
            </a:r>
            <a:r>
              <a:rPr sz="2400" spc="-400" dirty="0">
                <a:latin typeface="Arial"/>
                <a:cs typeface="Arial"/>
              </a:rPr>
              <a:t>ERP, </a:t>
            </a:r>
            <a:r>
              <a:rPr sz="2400" spc="-110" dirty="0">
                <a:latin typeface="Arial"/>
                <a:cs typeface="Arial"/>
              </a:rPr>
              <a:t>necesitará </a:t>
            </a:r>
            <a:r>
              <a:rPr sz="2400" spc="-45" dirty="0">
                <a:latin typeface="Arial"/>
                <a:cs typeface="Arial"/>
              </a:rPr>
              <a:t>tener </a:t>
            </a:r>
            <a:r>
              <a:rPr sz="2400" spc="-105" dirty="0">
                <a:latin typeface="Arial"/>
                <a:cs typeface="Arial"/>
              </a:rPr>
              <a:t>varios </a:t>
            </a:r>
            <a:r>
              <a:rPr sz="2400" spc="-125" dirty="0">
                <a:latin typeface="Arial"/>
                <a:cs typeface="Arial"/>
              </a:rPr>
              <a:t>programas  </a:t>
            </a:r>
            <a:r>
              <a:rPr sz="2400" spc="-100" dirty="0">
                <a:latin typeface="Arial"/>
                <a:cs typeface="Arial"/>
              </a:rPr>
              <a:t>que </a:t>
            </a:r>
            <a:r>
              <a:rPr sz="2400" spc="-60" dirty="0">
                <a:latin typeface="Arial"/>
                <a:cs typeface="Arial"/>
              </a:rPr>
              <a:t>controlen </a:t>
            </a:r>
            <a:r>
              <a:rPr sz="2400" spc="-80" dirty="0">
                <a:latin typeface="Arial"/>
                <a:cs typeface="Arial"/>
              </a:rPr>
              <a:t>todos </a:t>
            </a:r>
            <a:r>
              <a:rPr sz="2400" spc="-110" dirty="0">
                <a:latin typeface="Arial"/>
                <a:cs typeface="Arial"/>
              </a:rPr>
              <a:t>los </a:t>
            </a:r>
            <a:r>
              <a:rPr sz="2400" spc="-140" dirty="0">
                <a:latin typeface="Arial"/>
                <a:cs typeface="Arial"/>
              </a:rPr>
              <a:t>procesos </a:t>
            </a:r>
            <a:r>
              <a:rPr sz="2400" spc="-110" dirty="0">
                <a:latin typeface="Arial"/>
                <a:cs typeface="Arial"/>
              </a:rPr>
              <a:t>mencionados,  </a:t>
            </a:r>
            <a:r>
              <a:rPr sz="2400" spc="-120" dirty="0">
                <a:latin typeface="Arial"/>
                <a:cs typeface="Arial"/>
              </a:rPr>
              <a:t>con </a:t>
            </a:r>
            <a:r>
              <a:rPr sz="2400" spc="-90" dirty="0">
                <a:latin typeface="Arial"/>
                <a:cs typeface="Arial"/>
              </a:rPr>
              <a:t>la </a:t>
            </a:r>
            <a:r>
              <a:rPr sz="2400" spc="-114" dirty="0">
                <a:latin typeface="Arial"/>
                <a:cs typeface="Arial"/>
              </a:rPr>
              <a:t>desventaja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95" dirty="0">
                <a:latin typeface="Arial"/>
                <a:cs typeface="Arial"/>
              </a:rPr>
              <a:t>que, </a:t>
            </a:r>
            <a:r>
              <a:rPr sz="2400" spc="-85" dirty="0">
                <a:latin typeface="Arial"/>
                <a:cs typeface="Arial"/>
              </a:rPr>
              <a:t>al </a:t>
            </a:r>
            <a:r>
              <a:rPr sz="2400" spc="-75" dirty="0">
                <a:latin typeface="Arial"/>
                <a:cs typeface="Arial"/>
              </a:rPr>
              <a:t>no </a:t>
            </a:r>
            <a:r>
              <a:rPr sz="2400" spc="-95" dirty="0">
                <a:latin typeface="Arial"/>
                <a:cs typeface="Arial"/>
              </a:rPr>
              <a:t>estar integrados,  </a:t>
            </a:r>
            <a:r>
              <a:rPr sz="2400" spc="-85" dirty="0">
                <a:latin typeface="Arial"/>
                <a:cs typeface="Arial"/>
              </a:rPr>
              <a:t>la </a:t>
            </a:r>
            <a:r>
              <a:rPr sz="2400" spc="-65" dirty="0">
                <a:latin typeface="Arial"/>
                <a:cs typeface="Arial"/>
              </a:rPr>
              <a:t>información </a:t>
            </a:r>
            <a:r>
              <a:rPr sz="2400" spc="-204" dirty="0">
                <a:latin typeface="Arial"/>
                <a:cs typeface="Arial"/>
              </a:rPr>
              <a:t>se </a:t>
            </a:r>
            <a:r>
              <a:rPr sz="2400" spc="-85" dirty="0">
                <a:latin typeface="Arial"/>
                <a:cs typeface="Arial"/>
              </a:rPr>
              <a:t>duplica, </a:t>
            </a:r>
            <a:r>
              <a:rPr sz="2400" spc="-135" dirty="0">
                <a:latin typeface="Arial"/>
                <a:cs typeface="Arial"/>
              </a:rPr>
              <a:t>crece </a:t>
            </a:r>
            <a:r>
              <a:rPr sz="2400" spc="-65" dirty="0">
                <a:latin typeface="Arial"/>
                <a:cs typeface="Arial"/>
              </a:rPr>
              <a:t>el </a:t>
            </a:r>
            <a:r>
              <a:rPr sz="2400" spc="-120" dirty="0">
                <a:latin typeface="Arial"/>
                <a:cs typeface="Arial"/>
              </a:rPr>
              <a:t>margen </a:t>
            </a:r>
            <a:r>
              <a:rPr sz="2400" spc="-105" dirty="0">
                <a:latin typeface="Arial"/>
                <a:cs typeface="Arial"/>
              </a:rPr>
              <a:t>de  </a:t>
            </a:r>
            <a:r>
              <a:rPr sz="2400" spc="-85" dirty="0">
                <a:latin typeface="Arial"/>
                <a:cs typeface="Arial"/>
              </a:rPr>
              <a:t>contaminación </a:t>
            </a:r>
            <a:r>
              <a:rPr sz="2400" spc="-110" dirty="0">
                <a:latin typeface="Arial"/>
                <a:cs typeface="Arial"/>
              </a:rPr>
              <a:t>en </a:t>
            </a:r>
            <a:r>
              <a:rPr sz="2400" spc="-85" dirty="0">
                <a:latin typeface="Arial"/>
                <a:cs typeface="Arial"/>
              </a:rPr>
              <a:t>la </a:t>
            </a:r>
            <a:r>
              <a:rPr sz="2400" spc="-65" dirty="0">
                <a:latin typeface="Arial"/>
                <a:cs typeface="Arial"/>
              </a:rPr>
              <a:t>información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204" dirty="0">
                <a:latin typeface="Arial"/>
                <a:cs typeface="Arial"/>
              </a:rPr>
              <a:t>se </a:t>
            </a:r>
            <a:r>
              <a:rPr sz="2400" spc="-130" dirty="0">
                <a:latin typeface="Arial"/>
                <a:cs typeface="Arial"/>
              </a:rPr>
              <a:t>crea </a:t>
            </a:r>
            <a:r>
              <a:rPr sz="2400" spc="-80" dirty="0">
                <a:latin typeface="Arial"/>
                <a:cs typeface="Arial"/>
              </a:rPr>
              <a:t>un  </a:t>
            </a:r>
            <a:r>
              <a:rPr sz="2400" spc="-114" dirty="0">
                <a:latin typeface="Arial"/>
                <a:cs typeface="Arial"/>
              </a:rPr>
              <a:t>escenario </a:t>
            </a:r>
            <a:r>
              <a:rPr sz="2400" spc="-95" dirty="0">
                <a:latin typeface="Arial"/>
                <a:cs typeface="Arial"/>
              </a:rPr>
              <a:t>favorable </a:t>
            </a:r>
            <a:r>
              <a:rPr sz="2400" spc="-120" dirty="0">
                <a:latin typeface="Arial"/>
                <a:cs typeface="Arial"/>
              </a:rPr>
              <a:t>para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malversaciones.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00800" y="1143000"/>
            <a:ext cx="2667000" cy="27660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525006" y="4171950"/>
            <a:ext cx="2466594" cy="18478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268" y="56642"/>
            <a:ext cx="8241030" cy="2927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5" dirty="0">
                <a:solidFill>
                  <a:srgbClr val="FFFFFF"/>
                </a:solidFill>
                <a:latin typeface="Trebuchet MS"/>
                <a:cs typeface="Trebuchet MS"/>
              </a:rPr>
              <a:t>Integración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 </a:t>
            </a:r>
            <a:r>
              <a:rPr sz="2000" b="1" spc="75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2000" b="1" spc="-4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ERP (Cont.)</a:t>
            </a:r>
            <a:endParaRPr sz="2000">
              <a:latin typeface="Trebuchet MS"/>
              <a:cs typeface="Trebuchet MS"/>
            </a:endParaRPr>
          </a:p>
          <a:p>
            <a:pPr marL="59055" marR="5080">
              <a:lnSpc>
                <a:spcPct val="100000"/>
              </a:lnSpc>
              <a:spcBef>
                <a:spcPts val="15"/>
              </a:spcBef>
            </a:pPr>
            <a:r>
              <a:rPr sz="1800" spc="-240" dirty="0">
                <a:solidFill>
                  <a:srgbClr val="FFFFFF"/>
                </a:solidFill>
                <a:latin typeface="Arial"/>
                <a:cs typeface="Arial"/>
              </a:rPr>
              <a:t>ERP: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puntos 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 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2600" b="1" spc="-165" dirty="0">
                <a:latin typeface="Trebuchet MS"/>
                <a:cs typeface="Trebuchet MS"/>
              </a:rPr>
              <a:t>ERP </a:t>
            </a:r>
            <a:r>
              <a:rPr sz="2600" b="1" spc="-155" dirty="0">
                <a:latin typeface="Arial"/>
                <a:cs typeface="Arial"/>
              </a:rPr>
              <a:t>– </a:t>
            </a:r>
            <a:r>
              <a:rPr sz="2600" b="1" spc="-165" dirty="0">
                <a:latin typeface="Trebuchet MS"/>
                <a:cs typeface="Trebuchet MS"/>
              </a:rPr>
              <a:t>Características </a:t>
            </a:r>
            <a:r>
              <a:rPr sz="2600" b="1" spc="-155" dirty="0">
                <a:latin typeface="Trebuchet MS"/>
                <a:cs typeface="Trebuchet MS"/>
              </a:rPr>
              <a:t>Fundamentales</a:t>
            </a:r>
            <a:r>
              <a:rPr sz="2600" b="1" spc="-175" dirty="0">
                <a:latin typeface="Trebuchet MS"/>
                <a:cs typeface="Trebuchet MS"/>
              </a:rPr>
              <a:t> </a:t>
            </a:r>
            <a:r>
              <a:rPr sz="2600" b="1" spc="-165" dirty="0">
                <a:latin typeface="Trebuchet MS"/>
                <a:cs typeface="Trebuchet MS"/>
              </a:rPr>
              <a:t>(Cont.)</a:t>
            </a:r>
            <a:endParaRPr sz="2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400" i="1" spc="-45" dirty="0">
                <a:latin typeface="Trebuchet MS"/>
                <a:cs typeface="Trebuchet MS"/>
              </a:rPr>
              <a:t>2 </a:t>
            </a:r>
            <a:r>
              <a:rPr sz="2400" i="1" spc="-150" dirty="0">
                <a:latin typeface="Trebuchet MS"/>
                <a:cs typeface="Trebuchet MS"/>
              </a:rPr>
              <a:t>-</a:t>
            </a:r>
            <a:r>
              <a:rPr sz="2400" i="1" spc="-335" dirty="0">
                <a:latin typeface="Trebuchet MS"/>
                <a:cs typeface="Trebuchet MS"/>
              </a:rPr>
              <a:t> </a:t>
            </a:r>
            <a:r>
              <a:rPr sz="2400" i="1" spc="-75" dirty="0">
                <a:latin typeface="Trebuchet MS"/>
                <a:cs typeface="Trebuchet MS"/>
              </a:rPr>
              <a:t>Modulares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 marR="2071370">
              <a:lnSpc>
                <a:spcPct val="100000"/>
              </a:lnSpc>
              <a:tabLst>
                <a:tab pos="619760" algn="l"/>
                <a:tab pos="1245235" algn="l"/>
                <a:tab pos="1290955" algn="l"/>
                <a:tab pos="1692275" algn="l"/>
                <a:tab pos="2756535" algn="l"/>
                <a:tab pos="3428365" algn="l"/>
                <a:tab pos="3728085" algn="l"/>
                <a:tab pos="4095115" algn="l"/>
                <a:tab pos="4335780" algn="l"/>
                <a:tab pos="4741545" algn="l"/>
                <a:tab pos="5369560" algn="l"/>
                <a:tab pos="5840730" algn="l"/>
              </a:tabLst>
            </a:pPr>
            <a:r>
              <a:rPr sz="2400" spc="-235" dirty="0">
                <a:latin typeface="Arial"/>
                <a:cs typeface="Arial"/>
              </a:rPr>
              <a:t>Lo</a:t>
            </a:r>
            <a:r>
              <a:rPr sz="2400" spc="-204" dirty="0">
                <a:latin typeface="Arial"/>
                <a:cs typeface="Arial"/>
              </a:rPr>
              <a:t>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420" dirty="0">
                <a:latin typeface="Arial"/>
                <a:cs typeface="Arial"/>
              </a:rPr>
              <a:t>ER</a:t>
            </a:r>
            <a:r>
              <a:rPr sz="2400" spc="-395" dirty="0">
                <a:latin typeface="Arial"/>
                <a:cs typeface="Arial"/>
              </a:rPr>
              <a:t>P</a:t>
            </a:r>
            <a:r>
              <a:rPr sz="2400" dirty="0">
                <a:latin typeface="Arial"/>
                <a:cs typeface="Arial"/>
              </a:rPr>
              <a:t>		</a:t>
            </a:r>
            <a:r>
              <a:rPr sz="2400" spc="-110" dirty="0">
                <a:latin typeface="Arial"/>
                <a:cs typeface="Arial"/>
              </a:rPr>
              <a:t>e</a:t>
            </a:r>
            <a:r>
              <a:rPr sz="2400" spc="-140" dirty="0">
                <a:latin typeface="Arial"/>
                <a:cs typeface="Arial"/>
              </a:rPr>
              <a:t>n</a:t>
            </a:r>
            <a:r>
              <a:rPr sz="2400" spc="-50" dirty="0">
                <a:latin typeface="Arial"/>
                <a:cs typeface="Arial"/>
              </a:rPr>
              <a:t>tienden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05" dirty="0">
                <a:latin typeface="Arial"/>
                <a:cs typeface="Arial"/>
              </a:rPr>
              <a:t>qu</a:t>
            </a:r>
            <a:r>
              <a:rPr sz="2400" spc="-10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14" dirty="0">
                <a:latin typeface="Arial"/>
                <a:cs typeface="Arial"/>
              </a:rPr>
              <a:t>un</a:t>
            </a:r>
            <a:r>
              <a:rPr sz="2400" spc="-1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75" dirty="0">
                <a:latin typeface="Arial"/>
                <a:cs typeface="Arial"/>
              </a:rPr>
              <a:t>empr</a:t>
            </a:r>
            <a:r>
              <a:rPr sz="2400" spc="-195" dirty="0">
                <a:latin typeface="Arial"/>
                <a:cs typeface="Arial"/>
              </a:rPr>
              <a:t>esa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204" dirty="0">
                <a:latin typeface="Arial"/>
                <a:cs typeface="Arial"/>
              </a:rPr>
              <a:t>es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60" dirty="0">
                <a:latin typeface="Arial"/>
                <a:cs typeface="Arial"/>
              </a:rPr>
              <a:t>un  </a:t>
            </a:r>
            <a:r>
              <a:rPr sz="2400" spc="-210" dirty="0">
                <a:latin typeface="Arial"/>
                <a:cs typeface="Arial"/>
              </a:rPr>
              <a:t>c</a:t>
            </a:r>
            <a:r>
              <a:rPr sz="2400" spc="-55" dirty="0">
                <a:latin typeface="Arial"/>
                <a:cs typeface="Arial"/>
              </a:rPr>
              <a:t>onju</a:t>
            </a:r>
            <a:r>
              <a:rPr sz="2400" spc="-85" dirty="0">
                <a:latin typeface="Arial"/>
                <a:cs typeface="Arial"/>
              </a:rPr>
              <a:t>n</a:t>
            </a:r>
            <a:r>
              <a:rPr sz="2400" spc="110" dirty="0">
                <a:latin typeface="Arial"/>
                <a:cs typeface="Arial"/>
              </a:rPr>
              <a:t>t</a:t>
            </a:r>
            <a:r>
              <a:rPr sz="2400" spc="-70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20" dirty="0">
                <a:latin typeface="Arial"/>
                <a:cs typeface="Arial"/>
              </a:rPr>
              <a:t>d</a:t>
            </a:r>
            <a:r>
              <a:rPr sz="2400" spc="-11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05" dirty="0">
                <a:latin typeface="Arial"/>
                <a:cs typeface="Arial"/>
              </a:rPr>
              <a:t>de</a:t>
            </a:r>
            <a:r>
              <a:rPr sz="2400" spc="-95" dirty="0">
                <a:latin typeface="Arial"/>
                <a:cs typeface="Arial"/>
              </a:rPr>
              <a:t>p</a:t>
            </a:r>
            <a:r>
              <a:rPr sz="2400" spc="-5" dirty="0">
                <a:latin typeface="Arial"/>
                <a:cs typeface="Arial"/>
              </a:rPr>
              <a:t>ar</a:t>
            </a:r>
            <a:r>
              <a:rPr sz="2400" spc="-40" dirty="0">
                <a:latin typeface="Arial"/>
                <a:cs typeface="Arial"/>
              </a:rPr>
              <a:t>t</a:t>
            </a:r>
            <a:r>
              <a:rPr sz="2400" spc="-125" dirty="0">
                <a:latin typeface="Arial"/>
                <a:cs typeface="Arial"/>
              </a:rPr>
              <a:t>ame</a:t>
            </a:r>
            <a:r>
              <a:rPr sz="2400" spc="-140" dirty="0">
                <a:latin typeface="Arial"/>
                <a:cs typeface="Arial"/>
              </a:rPr>
              <a:t>n</a:t>
            </a:r>
            <a:r>
              <a:rPr sz="2400" spc="110" dirty="0">
                <a:latin typeface="Arial"/>
                <a:cs typeface="Arial"/>
              </a:rPr>
              <a:t>t</a:t>
            </a:r>
            <a:r>
              <a:rPr sz="2400" spc="-180" dirty="0">
                <a:latin typeface="Arial"/>
                <a:cs typeface="Arial"/>
              </a:rPr>
              <a:t>o</a:t>
            </a:r>
            <a:r>
              <a:rPr sz="2400" spc="-160" dirty="0">
                <a:latin typeface="Arial"/>
                <a:cs typeface="Arial"/>
              </a:rPr>
              <a:t>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05" dirty="0">
                <a:latin typeface="Arial"/>
                <a:cs typeface="Arial"/>
              </a:rPr>
              <a:t>qu</a:t>
            </a:r>
            <a:r>
              <a:rPr sz="2400" spc="-10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200" dirty="0">
                <a:latin typeface="Arial"/>
                <a:cs typeface="Arial"/>
              </a:rPr>
              <a:t>s</a:t>
            </a:r>
            <a:r>
              <a:rPr sz="2400" spc="-215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10" dirty="0">
                <a:latin typeface="Arial"/>
                <a:cs typeface="Arial"/>
              </a:rPr>
              <a:t>e</a:t>
            </a:r>
            <a:r>
              <a:rPr sz="2400" spc="-105" dirty="0">
                <a:latin typeface="Arial"/>
                <a:cs typeface="Arial"/>
              </a:rPr>
              <a:t>n</a:t>
            </a:r>
            <a:r>
              <a:rPr sz="2400" spc="-120" dirty="0">
                <a:latin typeface="Arial"/>
                <a:cs typeface="Arial"/>
              </a:rPr>
              <a:t>cue</a:t>
            </a:r>
            <a:r>
              <a:rPr sz="2400" spc="-145" dirty="0">
                <a:latin typeface="Arial"/>
                <a:cs typeface="Arial"/>
              </a:rPr>
              <a:t>n</a:t>
            </a:r>
            <a:r>
              <a:rPr sz="2400" spc="75" dirty="0">
                <a:latin typeface="Arial"/>
                <a:cs typeface="Arial"/>
              </a:rPr>
              <a:t>t</a:t>
            </a:r>
            <a:r>
              <a:rPr sz="2400" spc="40" dirty="0">
                <a:latin typeface="Arial"/>
                <a:cs typeface="Arial"/>
              </a:rPr>
              <a:t>r</a:t>
            </a:r>
            <a:r>
              <a:rPr sz="2400" spc="-130" dirty="0">
                <a:latin typeface="Arial"/>
                <a:cs typeface="Arial"/>
              </a:rPr>
              <a:t>an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68" y="2958338"/>
            <a:ext cx="21875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80" dirty="0">
                <a:latin typeface="Arial"/>
                <a:cs typeface="Arial"/>
              </a:rPr>
              <a:t>interrelacionados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68" y="3324097"/>
            <a:ext cx="2368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55750" algn="l"/>
                <a:tab pos="1883410" algn="l"/>
              </a:tabLst>
            </a:pPr>
            <a:r>
              <a:rPr sz="2400" spc="-210" dirty="0">
                <a:latin typeface="Arial"/>
                <a:cs typeface="Arial"/>
              </a:rPr>
              <a:t>c</a:t>
            </a:r>
            <a:r>
              <a:rPr sz="2400" spc="-90" dirty="0">
                <a:latin typeface="Arial"/>
                <a:cs typeface="Arial"/>
              </a:rPr>
              <a:t>ompa</a:t>
            </a:r>
            <a:r>
              <a:rPr sz="2400" spc="-55" dirty="0">
                <a:latin typeface="Arial"/>
                <a:cs typeface="Arial"/>
              </a:rPr>
              <a:t>r</a:t>
            </a:r>
            <a:r>
              <a:rPr sz="2400" spc="110" dirty="0">
                <a:latin typeface="Arial"/>
                <a:cs typeface="Arial"/>
              </a:rPr>
              <a:t>t</a:t>
            </a:r>
            <a:r>
              <a:rPr sz="2400" spc="-110" dirty="0">
                <a:latin typeface="Arial"/>
                <a:cs typeface="Arial"/>
              </a:rPr>
              <a:t>en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14" dirty="0">
                <a:latin typeface="Arial"/>
                <a:cs typeface="Arial"/>
              </a:rPr>
              <a:t>y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05" dirty="0">
                <a:latin typeface="Arial"/>
                <a:cs typeface="Arial"/>
              </a:rPr>
              <a:t>que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44977" y="2958338"/>
            <a:ext cx="13639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84860" algn="l"/>
              </a:tabLst>
            </a:pPr>
            <a:r>
              <a:rPr sz="2400" spc="-40" dirty="0">
                <a:latin typeface="Arial"/>
                <a:cs typeface="Arial"/>
              </a:rPr>
              <a:t>por	</a:t>
            </a:r>
            <a:r>
              <a:rPr sz="2400" spc="-85" dirty="0">
                <a:latin typeface="Arial"/>
                <a:cs typeface="Arial"/>
              </a:rPr>
              <a:t>la</a:t>
            </a:r>
            <a:endParaRPr sz="24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tabLst>
                <a:tab pos="499109" algn="l"/>
              </a:tabLst>
            </a:pPr>
            <a:r>
              <a:rPr sz="2400" spc="-204" dirty="0">
                <a:latin typeface="Arial"/>
                <a:cs typeface="Arial"/>
              </a:rPr>
              <a:t>se	</a:t>
            </a:r>
            <a:r>
              <a:rPr sz="2400" spc="-229" dirty="0">
                <a:latin typeface="Arial"/>
                <a:cs typeface="Arial"/>
              </a:rPr>
              <a:t>g</a:t>
            </a:r>
            <a:r>
              <a:rPr sz="2400" spc="-90" dirty="0">
                <a:latin typeface="Arial"/>
                <a:cs typeface="Arial"/>
              </a:rPr>
              <a:t>ene</a:t>
            </a:r>
            <a:r>
              <a:rPr sz="2400" spc="-105" dirty="0">
                <a:latin typeface="Arial"/>
                <a:cs typeface="Arial"/>
              </a:rPr>
              <a:t>r</a:t>
            </a:r>
            <a:r>
              <a:rPr sz="2400" spc="-190" dirty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73041" y="3324097"/>
            <a:ext cx="15525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8615" algn="l"/>
                <a:tab pos="1227455" algn="l"/>
              </a:tabLst>
            </a:pPr>
            <a:r>
              <a:rPr sz="2400" spc="-190" dirty="0">
                <a:latin typeface="Arial"/>
                <a:cs typeface="Arial"/>
              </a:rPr>
              <a:t>a	</a:t>
            </a:r>
            <a:r>
              <a:rPr sz="2400" spc="-20" dirty="0">
                <a:latin typeface="Arial"/>
                <a:cs typeface="Arial"/>
              </a:rPr>
              <a:t>parti</a:t>
            </a:r>
            <a:r>
              <a:rPr sz="2400" spc="35" dirty="0">
                <a:latin typeface="Arial"/>
                <a:cs typeface="Arial"/>
              </a:rPr>
              <a:t>r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14" dirty="0">
                <a:latin typeface="Arial"/>
                <a:cs typeface="Arial"/>
              </a:rPr>
              <a:t>de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79240" y="2958338"/>
            <a:ext cx="23355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985" algn="r">
              <a:lnSpc>
                <a:spcPct val="100000"/>
              </a:lnSpc>
              <a:spcBef>
                <a:spcPts val="100"/>
              </a:spcBef>
              <a:tabLst>
                <a:tab pos="1835785" algn="l"/>
              </a:tabLst>
            </a:pPr>
            <a:r>
              <a:rPr sz="2400" spc="-20" dirty="0">
                <a:latin typeface="Arial"/>
                <a:cs typeface="Arial"/>
              </a:rPr>
              <a:t>i</a:t>
            </a:r>
            <a:r>
              <a:rPr sz="2400" spc="-60" dirty="0">
                <a:latin typeface="Arial"/>
                <a:cs typeface="Arial"/>
              </a:rPr>
              <a:t>n</a:t>
            </a:r>
            <a:r>
              <a:rPr sz="2400" spc="15" dirty="0">
                <a:latin typeface="Arial"/>
                <a:cs typeface="Arial"/>
              </a:rPr>
              <a:t>f</a:t>
            </a:r>
            <a:r>
              <a:rPr sz="2400" spc="-85" dirty="0">
                <a:latin typeface="Arial"/>
                <a:cs typeface="Arial"/>
              </a:rPr>
              <a:t>orma</a:t>
            </a:r>
            <a:r>
              <a:rPr sz="2400" spc="-80" dirty="0">
                <a:latin typeface="Arial"/>
                <a:cs typeface="Arial"/>
              </a:rPr>
              <a:t>ción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05" dirty="0">
                <a:latin typeface="Arial"/>
                <a:cs typeface="Arial"/>
              </a:rPr>
              <a:t>que</a:t>
            </a:r>
            <a:endParaRPr sz="24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2400" spc="-204" dirty="0">
                <a:latin typeface="Arial"/>
                <a:cs typeface="Arial"/>
              </a:rPr>
              <a:t>sus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268" y="3689857"/>
            <a:ext cx="617601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130" dirty="0">
                <a:latin typeface="Arial"/>
                <a:cs typeface="Arial"/>
              </a:rPr>
              <a:t>procesos. </a:t>
            </a:r>
            <a:r>
              <a:rPr sz="2400" spc="-155" dirty="0">
                <a:latin typeface="Arial"/>
                <a:cs typeface="Arial"/>
              </a:rPr>
              <a:t>Una </a:t>
            </a:r>
            <a:r>
              <a:rPr sz="2400" spc="-90" dirty="0">
                <a:latin typeface="Arial"/>
                <a:cs typeface="Arial"/>
              </a:rPr>
              <a:t>ventaja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05" dirty="0">
                <a:latin typeface="Arial"/>
                <a:cs typeface="Arial"/>
              </a:rPr>
              <a:t>los </a:t>
            </a:r>
            <a:r>
              <a:rPr sz="2400" spc="-405" dirty="0">
                <a:latin typeface="Arial"/>
                <a:cs typeface="Arial"/>
              </a:rPr>
              <a:t>ERP, </a:t>
            </a:r>
            <a:r>
              <a:rPr sz="2400" spc="-30" dirty="0">
                <a:latin typeface="Arial"/>
                <a:cs typeface="Arial"/>
              </a:rPr>
              <a:t>tanto  </a:t>
            </a:r>
            <a:r>
              <a:rPr sz="2400" spc="-120" dirty="0">
                <a:latin typeface="Arial"/>
                <a:cs typeface="Arial"/>
              </a:rPr>
              <a:t>económica </a:t>
            </a:r>
            <a:r>
              <a:rPr sz="2400" spc="-114" dirty="0">
                <a:latin typeface="Arial"/>
                <a:cs typeface="Arial"/>
              </a:rPr>
              <a:t>como </a:t>
            </a:r>
            <a:r>
              <a:rPr sz="2400" spc="-95" dirty="0">
                <a:latin typeface="Arial"/>
                <a:cs typeface="Arial"/>
              </a:rPr>
              <a:t>técnica </a:t>
            </a:r>
            <a:r>
              <a:rPr sz="2400" spc="-204" dirty="0">
                <a:latin typeface="Arial"/>
                <a:cs typeface="Arial"/>
              </a:rPr>
              <a:t>es </a:t>
            </a:r>
            <a:r>
              <a:rPr sz="2400" spc="-100" dirty="0">
                <a:latin typeface="Arial"/>
                <a:cs typeface="Arial"/>
              </a:rPr>
              <a:t>que </a:t>
            </a:r>
            <a:r>
              <a:rPr sz="2400" spc="-85" dirty="0">
                <a:latin typeface="Arial"/>
                <a:cs typeface="Arial"/>
              </a:rPr>
              <a:t>la </a:t>
            </a:r>
            <a:r>
              <a:rPr sz="2400" spc="-70" dirty="0">
                <a:latin typeface="Arial"/>
                <a:cs typeface="Arial"/>
              </a:rPr>
              <a:t>funcionalidad  </a:t>
            </a:r>
            <a:r>
              <a:rPr sz="2400" spc="-204" dirty="0">
                <a:latin typeface="Arial"/>
                <a:cs typeface="Arial"/>
              </a:rPr>
              <a:t>se </a:t>
            </a:r>
            <a:r>
              <a:rPr sz="2400" spc="-90" dirty="0">
                <a:latin typeface="Arial"/>
                <a:cs typeface="Arial"/>
              </a:rPr>
              <a:t>encuentra </a:t>
            </a:r>
            <a:r>
              <a:rPr sz="2400" spc="-65" dirty="0">
                <a:latin typeface="Arial"/>
                <a:cs typeface="Arial"/>
              </a:rPr>
              <a:t>dividida </a:t>
            </a:r>
            <a:r>
              <a:rPr sz="2400" spc="-110" dirty="0">
                <a:latin typeface="Arial"/>
                <a:cs typeface="Arial"/>
              </a:rPr>
              <a:t>en </a:t>
            </a:r>
            <a:r>
              <a:rPr sz="2400" spc="-85" dirty="0">
                <a:latin typeface="Arial"/>
                <a:cs typeface="Arial"/>
              </a:rPr>
              <a:t>módulos, </a:t>
            </a:r>
            <a:r>
              <a:rPr sz="2400" spc="-105" dirty="0">
                <a:latin typeface="Arial"/>
                <a:cs typeface="Arial"/>
              </a:rPr>
              <a:t>los </a:t>
            </a:r>
            <a:r>
              <a:rPr sz="2400" spc="-140" dirty="0">
                <a:latin typeface="Arial"/>
                <a:cs typeface="Arial"/>
              </a:rPr>
              <a:t>cuales  </a:t>
            </a:r>
            <a:r>
              <a:rPr sz="2400" spc="-100" dirty="0">
                <a:latin typeface="Arial"/>
                <a:cs typeface="Arial"/>
              </a:rPr>
              <a:t>pueden </a:t>
            </a:r>
            <a:r>
              <a:rPr sz="2400" spc="-105" dirty="0">
                <a:latin typeface="Arial"/>
                <a:cs typeface="Arial"/>
              </a:rPr>
              <a:t>instalarse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05" dirty="0">
                <a:latin typeface="Arial"/>
                <a:cs typeface="Arial"/>
              </a:rPr>
              <a:t>acuerdo </a:t>
            </a:r>
            <a:r>
              <a:rPr sz="2400" spc="-120" dirty="0">
                <a:latin typeface="Arial"/>
                <a:cs typeface="Arial"/>
              </a:rPr>
              <a:t>con </a:t>
            </a:r>
            <a:r>
              <a:rPr sz="2400" spc="-105" dirty="0">
                <a:latin typeface="Arial"/>
                <a:cs typeface="Arial"/>
              </a:rPr>
              <a:t>los  </a:t>
            </a:r>
            <a:r>
              <a:rPr sz="2400" spc="-65" dirty="0">
                <a:latin typeface="Arial"/>
                <a:cs typeface="Arial"/>
              </a:rPr>
              <a:t>requerimientos</a:t>
            </a:r>
            <a:r>
              <a:rPr sz="2400" spc="535" dirty="0">
                <a:latin typeface="Arial"/>
                <a:cs typeface="Arial"/>
              </a:rPr>
              <a:t> </a:t>
            </a:r>
            <a:r>
              <a:rPr sz="2400" spc="-70" dirty="0">
                <a:latin typeface="Arial"/>
                <a:cs typeface="Arial"/>
              </a:rPr>
              <a:t>del </a:t>
            </a:r>
            <a:r>
              <a:rPr sz="2400" spc="-65" dirty="0">
                <a:latin typeface="Arial"/>
                <a:cs typeface="Arial"/>
              </a:rPr>
              <a:t>cliente.  </a:t>
            </a:r>
            <a:r>
              <a:rPr sz="2400" spc="-100" dirty="0">
                <a:latin typeface="Arial"/>
                <a:cs typeface="Arial"/>
              </a:rPr>
              <a:t>Ejemplo: </a:t>
            </a:r>
            <a:r>
              <a:rPr sz="2400" spc="-114" dirty="0">
                <a:latin typeface="Arial"/>
                <a:cs typeface="Arial"/>
              </a:rPr>
              <a:t>ventas,  </a:t>
            </a:r>
            <a:r>
              <a:rPr sz="2400" spc="-85" dirty="0">
                <a:latin typeface="Arial"/>
                <a:cs typeface="Arial"/>
              </a:rPr>
              <a:t>materiales, </a:t>
            </a:r>
            <a:r>
              <a:rPr sz="2400" spc="-125" dirty="0">
                <a:latin typeface="Arial"/>
                <a:cs typeface="Arial"/>
              </a:rPr>
              <a:t>finanzas, </a:t>
            </a:r>
            <a:r>
              <a:rPr sz="2400" spc="-45" dirty="0">
                <a:latin typeface="Arial"/>
                <a:cs typeface="Arial"/>
              </a:rPr>
              <a:t>control </a:t>
            </a:r>
            <a:r>
              <a:rPr sz="2400" spc="-110" dirty="0">
                <a:latin typeface="Arial"/>
                <a:cs typeface="Arial"/>
              </a:rPr>
              <a:t>de</a:t>
            </a:r>
            <a:r>
              <a:rPr sz="2400" spc="310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almacén,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48805" y="1485900"/>
            <a:ext cx="2695194" cy="2019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511290" y="3581400"/>
            <a:ext cx="2547763" cy="2286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268" y="5960871"/>
            <a:ext cx="288544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400" spc="-130" dirty="0">
                <a:latin typeface="Arial"/>
                <a:cs typeface="Arial"/>
              </a:rPr>
              <a:t>recursos </a:t>
            </a:r>
            <a:r>
              <a:rPr sz="2400" spc="-120" dirty="0">
                <a:latin typeface="Arial"/>
                <a:cs typeface="Arial"/>
              </a:rPr>
              <a:t>humanos,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etc.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268" y="56642"/>
            <a:ext cx="8241030" cy="5853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5" dirty="0">
                <a:solidFill>
                  <a:srgbClr val="FFFFFF"/>
                </a:solidFill>
                <a:latin typeface="Trebuchet MS"/>
                <a:cs typeface="Trebuchet MS"/>
              </a:rPr>
              <a:t>Integración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 </a:t>
            </a:r>
            <a:r>
              <a:rPr sz="2000" b="1" spc="75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2000" b="1" spc="-4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ERP (Cont.)</a:t>
            </a:r>
            <a:endParaRPr sz="2000">
              <a:latin typeface="Trebuchet MS"/>
              <a:cs typeface="Trebuchet MS"/>
            </a:endParaRPr>
          </a:p>
          <a:p>
            <a:pPr marL="59055" marR="5080">
              <a:lnSpc>
                <a:spcPct val="100000"/>
              </a:lnSpc>
              <a:spcBef>
                <a:spcPts val="15"/>
              </a:spcBef>
            </a:pPr>
            <a:r>
              <a:rPr sz="1800" spc="-240" dirty="0">
                <a:solidFill>
                  <a:srgbClr val="FFFFFF"/>
                </a:solidFill>
                <a:latin typeface="Arial"/>
                <a:cs typeface="Arial"/>
              </a:rPr>
              <a:t>ERP: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puntos 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 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2600" b="1" spc="-165" dirty="0">
                <a:latin typeface="Trebuchet MS"/>
                <a:cs typeface="Trebuchet MS"/>
              </a:rPr>
              <a:t>ERP </a:t>
            </a:r>
            <a:r>
              <a:rPr sz="2600" b="1" spc="-155" dirty="0">
                <a:latin typeface="Arial"/>
                <a:cs typeface="Arial"/>
              </a:rPr>
              <a:t>– </a:t>
            </a:r>
            <a:r>
              <a:rPr sz="2600" b="1" spc="-165" dirty="0">
                <a:latin typeface="Trebuchet MS"/>
                <a:cs typeface="Trebuchet MS"/>
              </a:rPr>
              <a:t>Características </a:t>
            </a:r>
            <a:r>
              <a:rPr sz="2600" b="1" spc="-155" dirty="0">
                <a:latin typeface="Trebuchet MS"/>
                <a:cs typeface="Trebuchet MS"/>
              </a:rPr>
              <a:t>Fundamentales</a:t>
            </a:r>
            <a:r>
              <a:rPr sz="2600" b="1" spc="-175" dirty="0">
                <a:latin typeface="Trebuchet MS"/>
                <a:cs typeface="Trebuchet MS"/>
              </a:rPr>
              <a:t> </a:t>
            </a:r>
            <a:r>
              <a:rPr sz="2600" b="1" spc="-165" dirty="0">
                <a:latin typeface="Trebuchet MS"/>
                <a:cs typeface="Trebuchet MS"/>
              </a:rPr>
              <a:t>(Cont.)</a:t>
            </a:r>
            <a:endParaRPr sz="2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400" i="1" spc="-45" dirty="0">
                <a:latin typeface="Trebuchet MS"/>
                <a:cs typeface="Trebuchet MS"/>
              </a:rPr>
              <a:t>3 </a:t>
            </a:r>
            <a:r>
              <a:rPr sz="2400" i="1" spc="-140" dirty="0">
                <a:latin typeface="Arial"/>
                <a:cs typeface="Arial"/>
              </a:rPr>
              <a:t>–</a:t>
            </a:r>
            <a:r>
              <a:rPr sz="2400" i="1" spc="-280" dirty="0">
                <a:latin typeface="Arial"/>
                <a:cs typeface="Arial"/>
              </a:rPr>
              <a:t> </a:t>
            </a:r>
            <a:r>
              <a:rPr sz="2400" i="1" spc="-114" dirty="0">
                <a:latin typeface="Trebuchet MS"/>
                <a:cs typeface="Trebuchet MS"/>
              </a:rPr>
              <a:t>Adaptables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 marR="1917064" algn="just">
              <a:lnSpc>
                <a:spcPct val="100000"/>
              </a:lnSpc>
            </a:pPr>
            <a:r>
              <a:rPr sz="2400" spc="-225" dirty="0">
                <a:latin typeface="Arial"/>
                <a:cs typeface="Arial"/>
              </a:rPr>
              <a:t>Los </a:t>
            </a:r>
            <a:r>
              <a:rPr sz="2400" spc="-409" dirty="0">
                <a:latin typeface="Arial"/>
                <a:cs typeface="Arial"/>
              </a:rPr>
              <a:t>ERP </a:t>
            </a:r>
            <a:r>
              <a:rPr sz="2400" spc="-120" dirty="0">
                <a:latin typeface="Arial"/>
                <a:cs typeface="Arial"/>
              </a:rPr>
              <a:t>están </a:t>
            </a:r>
            <a:r>
              <a:rPr sz="2400" spc="-135" dirty="0">
                <a:latin typeface="Arial"/>
                <a:cs typeface="Arial"/>
              </a:rPr>
              <a:t>creados </a:t>
            </a:r>
            <a:r>
              <a:rPr sz="2400" spc="-120" dirty="0">
                <a:latin typeface="Arial"/>
                <a:cs typeface="Arial"/>
              </a:rPr>
              <a:t>para </a:t>
            </a:r>
            <a:r>
              <a:rPr sz="2400" spc="-114" dirty="0">
                <a:latin typeface="Arial"/>
                <a:cs typeface="Arial"/>
              </a:rPr>
              <a:t>adaptarse</a:t>
            </a:r>
            <a:r>
              <a:rPr sz="2400" spc="434" dirty="0">
                <a:latin typeface="Arial"/>
                <a:cs typeface="Arial"/>
              </a:rPr>
              <a:t> </a:t>
            </a:r>
            <a:r>
              <a:rPr sz="2400" spc="-185" dirty="0">
                <a:latin typeface="Arial"/>
                <a:cs typeface="Arial"/>
              </a:rPr>
              <a:t>a </a:t>
            </a:r>
            <a:r>
              <a:rPr sz="2400" spc="-95" dirty="0">
                <a:latin typeface="Arial"/>
                <a:cs typeface="Arial"/>
              </a:rPr>
              <a:t>la  </a:t>
            </a:r>
            <a:r>
              <a:rPr sz="2400" spc="-100" dirty="0">
                <a:latin typeface="Arial"/>
                <a:cs typeface="Arial"/>
              </a:rPr>
              <a:t>idiosincrasia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65" dirty="0">
                <a:latin typeface="Arial"/>
                <a:cs typeface="Arial"/>
              </a:rPr>
              <a:t>cada </a:t>
            </a:r>
            <a:r>
              <a:rPr sz="2400" spc="-114" dirty="0">
                <a:latin typeface="Arial"/>
                <a:cs typeface="Arial"/>
              </a:rPr>
              <a:t>organización. </a:t>
            </a:r>
            <a:r>
              <a:rPr sz="2400" spc="-175" dirty="0">
                <a:latin typeface="Arial"/>
                <a:cs typeface="Arial"/>
              </a:rPr>
              <a:t>Esto </a:t>
            </a:r>
            <a:r>
              <a:rPr sz="2400" spc="-204" dirty="0">
                <a:latin typeface="Arial"/>
                <a:cs typeface="Arial"/>
              </a:rPr>
              <a:t>se </a:t>
            </a:r>
            <a:r>
              <a:rPr sz="2400" spc="-95" dirty="0">
                <a:latin typeface="Arial"/>
                <a:cs typeface="Arial"/>
              </a:rPr>
              <a:t>logra  </a:t>
            </a:r>
            <a:r>
              <a:rPr sz="2400" spc="-40" dirty="0">
                <a:latin typeface="Arial"/>
                <a:cs typeface="Arial"/>
              </a:rPr>
              <a:t>por </a:t>
            </a:r>
            <a:r>
              <a:rPr sz="2400" spc="-70" dirty="0">
                <a:latin typeface="Arial"/>
                <a:cs typeface="Arial"/>
              </a:rPr>
              <a:t>medio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85" dirty="0">
                <a:latin typeface="Arial"/>
                <a:cs typeface="Arial"/>
              </a:rPr>
              <a:t>la configuración </a:t>
            </a:r>
            <a:r>
              <a:rPr sz="2400" spc="-70" dirty="0">
                <a:latin typeface="Arial"/>
                <a:cs typeface="Arial"/>
              </a:rPr>
              <a:t>o </a:t>
            </a:r>
            <a:r>
              <a:rPr sz="2400" spc="-90" dirty="0">
                <a:latin typeface="Arial"/>
                <a:cs typeface="Arial"/>
              </a:rPr>
              <a:t>parametrización 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05" dirty="0">
                <a:latin typeface="Arial"/>
                <a:cs typeface="Arial"/>
              </a:rPr>
              <a:t>los </a:t>
            </a:r>
            <a:r>
              <a:rPr sz="2400" spc="-140" dirty="0">
                <a:latin typeface="Arial"/>
                <a:cs typeface="Arial"/>
              </a:rPr>
              <a:t>procesos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05" dirty="0">
                <a:latin typeface="Arial"/>
                <a:cs typeface="Arial"/>
              </a:rPr>
              <a:t>acuerdo </a:t>
            </a:r>
            <a:r>
              <a:rPr sz="2400" spc="-120" dirty="0">
                <a:latin typeface="Arial"/>
                <a:cs typeface="Arial"/>
              </a:rPr>
              <a:t>con </a:t>
            </a:r>
            <a:r>
              <a:rPr sz="2400" spc="-145" dirty="0">
                <a:latin typeface="Arial"/>
                <a:cs typeface="Arial"/>
              </a:rPr>
              <a:t>las </a:t>
            </a:r>
            <a:r>
              <a:rPr sz="2400" spc="-140" dirty="0">
                <a:latin typeface="Arial"/>
                <a:cs typeface="Arial"/>
              </a:rPr>
              <a:t>salidas </a:t>
            </a:r>
            <a:r>
              <a:rPr sz="2400" spc="-100" dirty="0">
                <a:latin typeface="Arial"/>
                <a:cs typeface="Arial"/>
              </a:rPr>
              <a:t>que </a:t>
            </a:r>
            <a:r>
              <a:rPr sz="2400" spc="-204" dirty="0">
                <a:latin typeface="Arial"/>
                <a:cs typeface="Arial"/>
              </a:rPr>
              <a:t>se  </a:t>
            </a:r>
            <a:r>
              <a:rPr sz="2400" spc="-105" dirty="0">
                <a:latin typeface="Arial"/>
                <a:cs typeface="Arial"/>
              </a:rPr>
              <a:t>necesiten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65" dirty="0">
                <a:latin typeface="Arial"/>
                <a:cs typeface="Arial"/>
              </a:rPr>
              <a:t>cada </a:t>
            </a:r>
            <a:r>
              <a:rPr sz="2400" spc="-75" dirty="0">
                <a:latin typeface="Arial"/>
                <a:cs typeface="Arial"/>
              </a:rPr>
              <a:t>uno. </a:t>
            </a:r>
            <a:r>
              <a:rPr sz="2400" spc="-155" dirty="0">
                <a:latin typeface="Arial"/>
                <a:cs typeface="Arial"/>
              </a:rPr>
              <a:t>Por </a:t>
            </a:r>
            <a:r>
              <a:rPr sz="2400" spc="-75" dirty="0">
                <a:latin typeface="Arial"/>
                <a:cs typeface="Arial"/>
              </a:rPr>
              <a:t>ejemplo, </a:t>
            </a:r>
            <a:r>
              <a:rPr sz="2400" spc="-120" dirty="0">
                <a:latin typeface="Arial"/>
                <a:cs typeface="Arial"/>
              </a:rPr>
              <a:t>para  </a:t>
            </a:r>
            <a:r>
              <a:rPr sz="2400" spc="-55" dirty="0">
                <a:latin typeface="Arial"/>
                <a:cs typeface="Arial"/>
              </a:rPr>
              <a:t>controlar </a:t>
            </a:r>
            <a:r>
              <a:rPr sz="2400" spc="-75" dirty="0">
                <a:latin typeface="Arial"/>
                <a:cs typeface="Arial"/>
              </a:rPr>
              <a:t>inventarios, </a:t>
            </a:r>
            <a:r>
              <a:rPr sz="2400" spc="-204" dirty="0">
                <a:latin typeface="Arial"/>
                <a:cs typeface="Arial"/>
              </a:rPr>
              <a:t>es </a:t>
            </a:r>
            <a:r>
              <a:rPr sz="2400" spc="-90" dirty="0">
                <a:latin typeface="Arial"/>
                <a:cs typeface="Arial"/>
              </a:rPr>
              <a:t>posible </a:t>
            </a:r>
            <a:r>
              <a:rPr sz="2400" spc="-100" dirty="0">
                <a:latin typeface="Arial"/>
                <a:cs typeface="Arial"/>
              </a:rPr>
              <a:t>que </a:t>
            </a:r>
            <a:r>
              <a:rPr sz="2400" spc="-114" dirty="0">
                <a:latin typeface="Arial"/>
                <a:cs typeface="Arial"/>
              </a:rPr>
              <a:t>una </a:t>
            </a:r>
            <a:r>
              <a:rPr sz="2400" spc="-130" dirty="0">
                <a:latin typeface="Arial"/>
                <a:cs typeface="Arial"/>
              </a:rPr>
              <a:t>empresa  </a:t>
            </a:r>
            <a:r>
              <a:rPr sz="2400" spc="-105" dirty="0">
                <a:latin typeface="Arial"/>
                <a:cs typeface="Arial"/>
              </a:rPr>
              <a:t>necesite </a:t>
            </a:r>
            <a:r>
              <a:rPr sz="2400" spc="-85" dirty="0">
                <a:latin typeface="Arial"/>
                <a:cs typeface="Arial"/>
              </a:rPr>
              <a:t>manejar la </a:t>
            </a:r>
            <a:r>
              <a:rPr sz="2400" spc="-50" dirty="0">
                <a:latin typeface="Arial"/>
                <a:cs typeface="Arial"/>
              </a:rPr>
              <a:t>partición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70" dirty="0">
                <a:latin typeface="Arial"/>
                <a:cs typeface="Arial"/>
              </a:rPr>
              <a:t>lotes </a:t>
            </a:r>
            <a:r>
              <a:rPr sz="2400" spc="-80" dirty="0">
                <a:latin typeface="Arial"/>
                <a:cs typeface="Arial"/>
              </a:rPr>
              <a:t>pero </a:t>
            </a:r>
            <a:r>
              <a:rPr sz="2400" spc="-40" dirty="0">
                <a:latin typeface="Arial"/>
                <a:cs typeface="Arial"/>
              </a:rPr>
              <a:t>otra  </a:t>
            </a:r>
            <a:r>
              <a:rPr sz="2400" spc="-125" dirty="0">
                <a:latin typeface="Arial"/>
                <a:cs typeface="Arial"/>
              </a:rPr>
              <a:t>empresa </a:t>
            </a:r>
            <a:r>
              <a:rPr sz="2400" spc="-70" dirty="0">
                <a:latin typeface="Arial"/>
                <a:cs typeface="Arial"/>
              </a:rPr>
              <a:t>no. </a:t>
            </a:r>
            <a:r>
              <a:rPr sz="2400" spc="-265" dirty="0">
                <a:latin typeface="Arial"/>
                <a:cs typeface="Arial"/>
              </a:rPr>
              <a:t>La </a:t>
            </a:r>
            <a:r>
              <a:rPr sz="2400" spc="-90" dirty="0">
                <a:latin typeface="Arial"/>
                <a:cs typeface="Arial"/>
              </a:rPr>
              <a:t>parametrización</a:t>
            </a:r>
            <a:r>
              <a:rPr sz="2400" spc="484" dirty="0">
                <a:latin typeface="Arial"/>
                <a:cs typeface="Arial"/>
              </a:rPr>
              <a:t> </a:t>
            </a:r>
            <a:r>
              <a:rPr sz="2400" spc="-200" dirty="0">
                <a:latin typeface="Arial"/>
                <a:cs typeface="Arial"/>
              </a:rPr>
              <a:t>es </a:t>
            </a:r>
            <a:r>
              <a:rPr sz="2400" spc="-65" dirty="0">
                <a:latin typeface="Arial"/>
                <a:cs typeface="Arial"/>
              </a:rPr>
              <a:t>el  </a:t>
            </a:r>
            <a:r>
              <a:rPr sz="2400" spc="-70" dirty="0">
                <a:latin typeface="Arial"/>
                <a:cs typeface="Arial"/>
              </a:rPr>
              <a:t>valor  </a:t>
            </a:r>
            <a:r>
              <a:rPr sz="2400" spc="-140" dirty="0">
                <a:latin typeface="Arial"/>
                <a:cs typeface="Arial"/>
              </a:rPr>
              <a:t>agregado </a:t>
            </a:r>
            <a:r>
              <a:rPr sz="2400" spc="-120" dirty="0">
                <a:latin typeface="Arial"/>
                <a:cs typeface="Arial"/>
              </a:rPr>
              <a:t>con </a:t>
            </a:r>
            <a:r>
              <a:rPr sz="2400" spc="-65" dirty="0">
                <a:latin typeface="Arial"/>
                <a:cs typeface="Arial"/>
              </a:rPr>
              <a:t>el </a:t>
            </a:r>
            <a:r>
              <a:rPr sz="2400" spc="-100" dirty="0">
                <a:latin typeface="Arial"/>
                <a:cs typeface="Arial"/>
              </a:rPr>
              <a:t>que </a:t>
            </a:r>
            <a:r>
              <a:rPr sz="2400" spc="-110" dirty="0">
                <a:latin typeface="Arial"/>
                <a:cs typeface="Arial"/>
              </a:rPr>
              <a:t>debe </a:t>
            </a:r>
            <a:r>
              <a:rPr sz="2400" spc="-70" dirty="0">
                <a:latin typeface="Arial"/>
                <a:cs typeface="Arial"/>
              </a:rPr>
              <a:t>contar </a:t>
            </a:r>
            <a:r>
              <a:rPr sz="2400" spc="-75" dirty="0">
                <a:latin typeface="Arial"/>
                <a:cs typeface="Arial"/>
              </a:rPr>
              <a:t>cualquier </a:t>
            </a:r>
            <a:r>
              <a:rPr sz="2400" spc="-415" dirty="0">
                <a:latin typeface="Arial"/>
                <a:cs typeface="Arial"/>
              </a:rPr>
              <a:t>ERP  </a:t>
            </a:r>
            <a:r>
              <a:rPr sz="2400" spc="-120" dirty="0">
                <a:latin typeface="Arial"/>
                <a:cs typeface="Arial"/>
              </a:rPr>
              <a:t>para </a:t>
            </a:r>
            <a:r>
              <a:rPr sz="2400" spc="-70" dirty="0">
                <a:latin typeface="Arial"/>
                <a:cs typeface="Arial"/>
              </a:rPr>
              <a:t>adaptarlo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145" dirty="0">
                <a:latin typeface="Arial"/>
                <a:cs typeface="Arial"/>
              </a:rPr>
              <a:t>las necesidades </a:t>
            </a:r>
            <a:r>
              <a:rPr sz="2400" spc="-120" dirty="0">
                <a:latin typeface="Arial"/>
                <a:cs typeface="Arial"/>
              </a:rPr>
              <a:t>concretas</a:t>
            </a:r>
            <a:r>
              <a:rPr sz="2400" spc="215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de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29400" y="1482852"/>
            <a:ext cx="2438400" cy="22509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010400" y="4191000"/>
            <a:ext cx="1905000" cy="1905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9268" y="5960871"/>
            <a:ext cx="182435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400" spc="-165" dirty="0">
                <a:latin typeface="Arial"/>
                <a:cs typeface="Arial"/>
              </a:rPr>
              <a:t>cada</a:t>
            </a:r>
            <a:r>
              <a:rPr sz="2400" spc="-200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empresa.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56642"/>
            <a:ext cx="8194040" cy="8807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05" dirty="0"/>
              <a:t>Integración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75" dirty="0"/>
              <a:t>/</a:t>
            </a:r>
            <a:r>
              <a:rPr spc="-400" dirty="0"/>
              <a:t> </a:t>
            </a:r>
            <a:r>
              <a:rPr spc="-125" dirty="0"/>
              <a:t>ERP (Cont.)</a:t>
            </a:r>
          </a:p>
          <a:p>
            <a:pPr marL="12700" marR="5080">
              <a:lnSpc>
                <a:spcPct val="100000"/>
              </a:lnSpc>
              <a:spcBef>
                <a:spcPts val="15"/>
              </a:spcBef>
            </a:pPr>
            <a:r>
              <a:rPr sz="1800" b="0" spc="-240" dirty="0">
                <a:latin typeface="Arial"/>
                <a:cs typeface="Arial"/>
              </a:rPr>
              <a:t>ERP: </a:t>
            </a:r>
            <a:r>
              <a:rPr sz="1800" b="0" spc="-80" dirty="0">
                <a:latin typeface="Arial"/>
                <a:cs typeface="Arial"/>
              </a:rPr>
              <a:t>conceptos </a:t>
            </a:r>
            <a:r>
              <a:rPr sz="1800" b="0" spc="-114" dirty="0">
                <a:latin typeface="Arial"/>
                <a:cs typeface="Arial"/>
              </a:rPr>
              <a:t>básicos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60" dirty="0">
                <a:latin typeface="Arial"/>
                <a:cs typeface="Arial"/>
              </a:rPr>
              <a:t>puntos críticos </a:t>
            </a:r>
            <a:r>
              <a:rPr sz="1800" b="0" spc="-80" dirty="0">
                <a:latin typeface="Arial"/>
                <a:cs typeface="Arial"/>
              </a:rPr>
              <a:t>para </a:t>
            </a:r>
            <a:r>
              <a:rPr sz="1800" b="0" spc="-130" dirty="0">
                <a:latin typeface="Arial"/>
                <a:cs typeface="Arial"/>
              </a:rPr>
              <a:t>su </a:t>
            </a:r>
            <a:r>
              <a:rPr sz="1800" b="0" spc="-105" dirty="0">
                <a:latin typeface="Arial"/>
                <a:cs typeface="Arial"/>
              </a:rPr>
              <a:t>adecuada </a:t>
            </a:r>
            <a:r>
              <a:rPr sz="1800" b="0" spc="-65" dirty="0">
                <a:latin typeface="Arial"/>
                <a:cs typeface="Arial"/>
              </a:rPr>
              <a:t>gestión </a:t>
            </a:r>
            <a:r>
              <a:rPr sz="1800" b="0" spc="-85" dirty="0">
                <a:latin typeface="Arial"/>
                <a:cs typeface="Arial"/>
              </a:rPr>
              <a:t>en </a:t>
            </a:r>
            <a:r>
              <a:rPr sz="1800" b="0" spc="-110" dirty="0">
                <a:latin typeface="Arial"/>
                <a:cs typeface="Arial"/>
              </a:rPr>
              <a:t>las </a:t>
            </a:r>
            <a:r>
              <a:rPr sz="1800" b="0" spc="-90" dirty="0">
                <a:latin typeface="Arial"/>
                <a:cs typeface="Arial"/>
              </a:rPr>
              <a:t>organizaciones 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05580" y="1371980"/>
            <a:ext cx="1981200" cy="4953000"/>
          </a:xfrm>
          <a:custGeom>
            <a:avLst/>
            <a:gdLst/>
            <a:ahLst/>
            <a:cxnLst/>
            <a:rect l="l" t="t" r="r" b="b"/>
            <a:pathLst>
              <a:path w="1981200" h="4953000">
                <a:moveTo>
                  <a:pt x="0" y="4953000"/>
                </a:moveTo>
                <a:lnTo>
                  <a:pt x="1981200" y="4953000"/>
                </a:lnTo>
                <a:lnTo>
                  <a:pt x="1981200" y="0"/>
                </a:lnTo>
                <a:lnTo>
                  <a:pt x="0" y="0"/>
                </a:lnTo>
                <a:lnTo>
                  <a:pt x="0" y="4953000"/>
                </a:lnTo>
                <a:close/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99484" y="1457452"/>
            <a:ext cx="99186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Verdana"/>
                <a:cs typeface="Verdana"/>
              </a:rPr>
              <a:t>Accionistas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18534" y="6029705"/>
            <a:ext cx="9550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Verdana"/>
                <a:cs typeface="Verdana"/>
              </a:rPr>
              <a:t>Empleados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0580" y="1981580"/>
            <a:ext cx="5791200" cy="3733800"/>
          </a:xfrm>
          <a:custGeom>
            <a:avLst/>
            <a:gdLst/>
            <a:ahLst/>
            <a:cxnLst/>
            <a:rect l="l" t="t" r="r" b="b"/>
            <a:pathLst>
              <a:path w="5791200" h="3733800">
                <a:moveTo>
                  <a:pt x="0" y="3733800"/>
                </a:moveTo>
                <a:lnTo>
                  <a:pt x="5791200" y="3733800"/>
                </a:lnTo>
                <a:lnTo>
                  <a:pt x="5791200" y="0"/>
                </a:lnTo>
                <a:lnTo>
                  <a:pt x="0" y="0"/>
                </a:lnTo>
                <a:lnTo>
                  <a:pt x="0" y="3733800"/>
                </a:lnTo>
                <a:close/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5181" y="1524380"/>
            <a:ext cx="2971800" cy="4648200"/>
          </a:xfrm>
          <a:custGeom>
            <a:avLst/>
            <a:gdLst/>
            <a:ahLst/>
            <a:cxnLst/>
            <a:rect l="l" t="t" r="r" b="b"/>
            <a:pathLst>
              <a:path w="2971800" h="4648200">
                <a:moveTo>
                  <a:pt x="0" y="4648200"/>
                </a:moveTo>
                <a:lnTo>
                  <a:pt x="2971799" y="4648200"/>
                </a:lnTo>
                <a:lnTo>
                  <a:pt x="2971799" y="0"/>
                </a:lnTo>
                <a:lnTo>
                  <a:pt x="0" y="0"/>
                </a:lnTo>
                <a:lnTo>
                  <a:pt x="0" y="4648200"/>
                </a:lnTo>
                <a:close/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111755" y="3755333"/>
            <a:ext cx="981710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latin typeface="Verdana"/>
                <a:cs typeface="Verdana"/>
              </a:rPr>
              <a:t>Proveedo</a:t>
            </a:r>
            <a:r>
              <a:rPr sz="1200" b="1" spc="-5" dirty="0">
                <a:latin typeface="Verdana"/>
                <a:cs typeface="Verdana"/>
              </a:rPr>
              <a:t>re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15380" y="1524380"/>
            <a:ext cx="3124200" cy="4648200"/>
          </a:xfrm>
          <a:custGeom>
            <a:avLst/>
            <a:gdLst/>
            <a:ahLst/>
            <a:cxnLst/>
            <a:rect l="l" t="t" r="r" b="b"/>
            <a:pathLst>
              <a:path w="3124200" h="4648200">
                <a:moveTo>
                  <a:pt x="0" y="4648200"/>
                </a:moveTo>
                <a:lnTo>
                  <a:pt x="3124200" y="4648200"/>
                </a:lnTo>
                <a:lnTo>
                  <a:pt x="3124200" y="0"/>
                </a:lnTo>
                <a:lnTo>
                  <a:pt x="0" y="0"/>
                </a:lnTo>
                <a:lnTo>
                  <a:pt x="0" y="4648200"/>
                </a:lnTo>
                <a:close/>
              </a:path>
            </a:pathLst>
          </a:custGeom>
          <a:ln w="990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049006" y="3743452"/>
            <a:ext cx="710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Verdana"/>
                <a:cs typeface="Verdana"/>
              </a:rPr>
              <a:t>Cl</a:t>
            </a:r>
            <a:r>
              <a:rPr sz="1200" b="1" spc="-5" dirty="0">
                <a:latin typeface="Verdana"/>
                <a:cs typeface="Verdana"/>
              </a:rPr>
              <a:t>ientes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08857" y="3353180"/>
            <a:ext cx="1371600" cy="889635"/>
          </a:xfrm>
          <a:prstGeom prst="rect">
            <a:avLst/>
          </a:prstGeom>
          <a:solidFill>
            <a:srgbClr val="4F81BC"/>
          </a:solidFill>
          <a:ln w="9905">
            <a:solidFill>
              <a:srgbClr val="000000"/>
            </a:solidFill>
          </a:ln>
        </p:spPr>
        <p:txBody>
          <a:bodyPr vert="horz" wrap="square" lIns="0" tIns="123189" rIns="0" bIns="0" rtlCol="0">
            <a:spAutoFit/>
          </a:bodyPr>
          <a:lstStyle/>
          <a:p>
            <a:pPr marL="295910" marR="288925" algn="ctr">
              <a:lnSpc>
                <a:spcPct val="100000"/>
              </a:lnSpc>
              <a:spcBef>
                <a:spcPts val="969"/>
              </a:spcBef>
            </a:pPr>
            <a:r>
              <a:rPr sz="1400" b="1" spc="-5" dirty="0">
                <a:solidFill>
                  <a:srgbClr val="FFFFFF"/>
                </a:solidFill>
                <a:latin typeface="Verdana"/>
                <a:cs typeface="Verdana"/>
              </a:rPr>
              <a:t>Base</a:t>
            </a:r>
            <a:r>
              <a:rPr sz="1400" b="1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de  datos  </a:t>
            </a:r>
            <a:r>
              <a:rPr sz="1400" b="1" spc="-5" dirty="0">
                <a:solidFill>
                  <a:srgbClr val="FFFFFF"/>
                </a:solidFill>
                <a:latin typeface="Verdana"/>
                <a:cs typeface="Verdana"/>
              </a:rPr>
              <a:t>central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08857" y="2159126"/>
            <a:ext cx="1373505" cy="889635"/>
          </a:xfrm>
          <a:prstGeom prst="rect">
            <a:avLst/>
          </a:prstGeom>
          <a:solidFill>
            <a:srgbClr val="C0504D"/>
          </a:solidFill>
          <a:ln w="9905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2300">
              <a:latin typeface="Times New Roman"/>
              <a:cs typeface="Times New Roman"/>
            </a:endParaRPr>
          </a:p>
          <a:p>
            <a:pPr marL="238125">
              <a:lnSpc>
                <a:spcPct val="100000"/>
              </a:lnSpc>
            </a:pP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Reportes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08857" y="4572380"/>
            <a:ext cx="1373505" cy="889635"/>
          </a:xfrm>
          <a:prstGeom prst="rect">
            <a:avLst/>
          </a:prstGeom>
          <a:solidFill>
            <a:srgbClr val="C0504D"/>
          </a:solidFill>
          <a:ln w="9905">
            <a:solidFill>
              <a:srgbClr val="0000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550">
              <a:latin typeface="Times New Roman"/>
              <a:cs typeface="Times New Roman"/>
            </a:endParaRPr>
          </a:p>
          <a:p>
            <a:pPr marL="398780" marR="271145" indent="-121285">
              <a:lnSpc>
                <a:spcPct val="100000"/>
              </a:lnSpc>
            </a:pPr>
            <a:r>
              <a:rPr sz="1400" b="1" spc="-5" dirty="0">
                <a:solidFill>
                  <a:srgbClr val="FFFFFF"/>
                </a:solidFill>
                <a:latin typeface="Verdana"/>
                <a:cs typeface="Verdana"/>
              </a:rPr>
              <a:t>Adm.</a:t>
            </a:r>
            <a:r>
              <a:rPr sz="1400" b="1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de  RRHH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752980" y="3378327"/>
            <a:ext cx="1371600" cy="889635"/>
          </a:xfrm>
          <a:custGeom>
            <a:avLst/>
            <a:gdLst/>
            <a:ahLst/>
            <a:cxnLst/>
            <a:rect l="l" t="t" r="r" b="b"/>
            <a:pathLst>
              <a:path w="1371600" h="889635">
                <a:moveTo>
                  <a:pt x="0" y="889254"/>
                </a:moveTo>
                <a:lnTo>
                  <a:pt x="1371600" y="889254"/>
                </a:lnTo>
                <a:lnTo>
                  <a:pt x="1371600" y="0"/>
                </a:lnTo>
                <a:lnTo>
                  <a:pt x="0" y="0"/>
                </a:lnTo>
                <a:lnTo>
                  <a:pt x="0" y="889254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752980" y="3378327"/>
            <a:ext cx="1371600" cy="889635"/>
          </a:xfrm>
          <a:custGeom>
            <a:avLst/>
            <a:gdLst/>
            <a:ahLst/>
            <a:cxnLst/>
            <a:rect l="l" t="t" r="r" b="b"/>
            <a:pathLst>
              <a:path w="1371600" h="889635">
                <a:moveTo>
                  <a:pt x="0" y="889254"/>
                </a:moveTo>
                <a:lnTo>
                  <a:pt x="1371600" y="889254"/>
                </a:lnTo>
                <a:lnTo>
                  <a:pt x="1371600" y="0"/>
                </a:lnTo>
                <a:lnTo>
                  <a:pt x="0" y="0"/>
                </a:lnTo>
                <a:lnTo>
                  <a:pt x="0" y="889254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870964" y="3702811"/>
            <a:ext cx="132524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solidFill>
                  <a:srgbClr val="FFFFFF"/>
                </a:solidFill>
                <a:latin typeface="Verdana"/>
                <a:cs typeface="Verdana"/>
              </a:rPr>
              <a:t>Producción</a:t>
            </a:r>
            <a:r>
              <a:rPr sz="1400" b="1" spc="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-7" baseline="-4629" dirty="0">
                <a:latin typeface="Verdana"/>
                <a:cs typeface="Verdana"/>
              </a:rPr>
              <a:t>s</a:t>
            </a:r>
            <a:endParaRPr sz="1800" baseline="-4629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67780" y="2743580"/>
            <a:ext cx="1371600" cy="889635"/>
          </a:xfrm>
          <a:prstGeom prst="rect">
            <a:avLst/>
          </a:prstGeom>
          <a:solidFill>
            <a:srgbClr val="C0504D"/>
          </a:solidFill>
          <a:ln w="9905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550">
              <a:latin typeface="Times New Roman"/>
              <a:cs typeface="Times New Roman"/>
            </a:endParaRPr>
          </a:p>
          <a:p>
            <a:pPr marL="213995" marR="207010" indent="40005">
              <a:lnSpc>
                <a:spcPct val="100000"/>
              </a:lnSpc>
            </a:pPr>
            <a:r>
              <a:rPr sz="1400" b="1" spc="-5" dirty="0">
                <a:solidFill>
                  <a:srgbClr val="FFFFFF"/>
                </a:solidFill>
                <a:latin typeface="Verdana"/>
                <a:cs typeface="Verdana"/>
              </a:rPr>
              <a:t>Ventas y  </a:t>
            </a: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desp</a:t>
            </a:r>
            <a:r>
              <a:rPr sz="1400" b="1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cho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67780" y="3962780"/>
            <a:ext cx="1371600" cy="889635"/>
          </a:xfrm>
          <a:prstGeom prst="rect">
            <a:avLst/>
          </a:prstGeom>
          <a:solidFill>
            <a:srgbClr val="C0504D"/>
          </a:solidFill>
          <a:ln w="9905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2300">
              <a:latin typeface="Times New Roman"/>
              <a:cs typeface="Times New Roman"/>
            </a:endParaRPr>
          </a:p>
          <a:p>
            <a:pPr marL="234315">
              <a:lnSpc>
                <a:spcPct val="100000"/>
              </a:lnSpc>
            </a:pP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Servicios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52980" y="2311526"/>
            <a:ext cx="1371600" cy="889635"/>
          </a:xfrm>
          <a:prstGeom prst="rect">
            <a:avLst/>
          </a:prstGeom>
          <a:solidFill>
            <a:srgbClr val="C0504D"/>
          </a:solidFill>
          <a:ln w="9905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2300">
              <a:latin typeface="Times New Roman"/>
              <a:cs typeface="Times New Roman"/>
            </a:endParaRPr>
          </a:p>
          <a:p>
            <a:pPr marL="245110">
              <a:lnSpc>
                <a:spcPct val="100000"/>
              </a:lnSpc>
            </a:pPr>
            <a:r>
              <a:rPr sz="1400" b="1" spc="-5" dirty="0">
                <a:solidFill>
                  <a:srgbClr val="FFFFFF"/>
                </a:solidFill>
                <a:latin typeface="Verdana"/>
                <a:cs typeface="Verdana"/>
              </a:rPr>
              <a:t>Finanzas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52980" y="4419980"/>
            <a:ext cx="1371600" cy="889635"/>
          </a:xfrm>
          <a:prstGeom prst="rect">
            <a:avLst/>
          </a:prstGeom>
          <a:solidFill>
            <a:srgbClr val="C0504D"/>
          </a:solidFill>
          <a:ln w="9905">
            <a:solidFill>
              <a:srgbClr val="000000"/>
            </a:solidFill>
          </a:ln>
        </p:spPr>
        <p:txBody>
          <a:bodyPr vert="horz" wrap="square" lIns="0" tIns="123189" rIns="0" bIns="0" rtlCol="0">
            <a:spAutoFit/>
          </a:bodyPr>
          <a:lstStyle/>
          <a:p>
            <a:pPr marL="143510" marR="137160" indent="-635" algn="ctr">
              <a:lnSpc>
                <a:spcPct val="100000"/>
              </a:lnSpc>
              <a:spcBef>
                <a:spcPts val="969"/>
              </a:spcBef>
            </a:pPr>
            <a:r>
              <a:rPr sz="1400" b="1" spc="-5" dirty="0">
                <a:solidFill>
                  <a:srgbClr val="FFFFFF"/>
                </a:solidFill>
                <a:latin typeface="Verdana"/>
                <a:cs typeface="Verdana"/>
              </a:rPr>
              <a:t>Inventario  y      </a:t>
            </a:r>
            <a:r>
              <a:rPr sz="1400" b="1" spc="4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Verdana"/>
                <a:cs typeface="Verdana"/>
              </a:rPr>
              <a:t>aba</a:t>
            </a: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stecim.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124580" y="2743580"/>
            <a:ext cx="685800" cy="762000"/>
          </a:xfrm>
          <a:custGeom>
            <a:avLst/>
            <a:gdLst/>
            <a:ahLst/>
            <a:cxnLst/>
            <a:rect l="l" t="t" r="r" b="b"/>
            <a:pathLst>
              <a:path w="685800" h="762000">
                <a:moveTo>
                  <a:pt x="596151" y="671788"/>
                </a:moveTo>
                <a:lnTo>
                  <a:pt x="553593" y="710057"/>
                </a:lnTo>
                <a:lnTo>
                  <a:pt x="685799" y="762000"/>
                </a:lnTo>
                <a:lnTo>
                  <a:pt x="663546" y="681228"/>
                </a:lnTo>
                <a:lnTo>
                  <a:pt x="604646" y="681228"/>
                </a:lnTo>
                <a:lnTo>
                  <a:pt x="596151" y="671788"/>
                </a:lnTo>
                <a:close/>
              </a:path>
              <a:path w="685800" h="762000">
                <a:moveTo>
                  <a:pt x="605515" y="663368"/>
                </a:moveTo>
                <a:lnTo>
                  <a:pt x="596151" y="671788"/>
                </a:lnTo>
                <a:lnTo>
                  <a:pt x="604646" y="681228"/>
                </a:lnTo>
                <a:lnTo>
                  <a:pt x="614044" y="672846"/>
                </a:lnTo>
                <a:lnTo>
                  <a:pt x="605515" y="663368"/>
                </a:lnTo>
                <a:close/>
              </a:path>
              <a:path w="685800" h="762000">
                <a:moveTo>
                  <a:pt x="648081" y="625094"/>
                </a:moveTo>
                <a:lnTo>
                  <a:pt x="605515" y="663368"/>
                </a:lnTo>
                <a:lnTo>
                  <a:pt x="614044" y="672846"/>
                </a:lnTo>
                <a:lnTo>
                  <a:pt x="604646" y="681228"/>
                </a:lnTo>
                <a:lnTo>
                  <a:pt x="663546" y="681228"/>
                </a:lnTo>
                <a:lnTo>
                  <a:pt x="648081" y="625094"/>
                </a:lnTo>
                <a:close/>
              </a:path>
              <a:path w="685800" h="762000">
                <a:moveTo>
                  <a:pt x="89648" y="90211"/>
                </a:moveTo>
                <a:lnTo>
                  <a:pt x="80284" y="98631"/>
                </a:lnTo>
                <a:lnTo>
                  <a:pt x="596151" y="671788"/>
                </a:lnTo>
                <a:lnTo>
                  <a:pt x="605515" y="663368"/>
                </a:lnTo>
                <a:lnTo>
                  <a:pt x="89648" y="90211"/>
                </a:lnTo>
                <a:close/>
              </a:path>
              <a:path w="685800" h="762000">
                <a:moveTo>
                  <a:pt x="0" y="0"/>
                </a:moveTo>
                <a:lnTo>
                  <a:pt x="37718" y="136906"/>
                </a:lnTo>
                <a:lnTo>
                  <a:pt x="80284" y="98631"/>
                </a:lnTo>
                <a:lnTo>
                  <a:pt x="71755" y="89154"/>
                </a:lnTo>
                <a:lnTo>
                  <a:pt x="81152" y="80772"/>
                </a:lnTo>
                <a:lnTo>
                  <a:pt x="100146" y="80772"/>
                </a:lnTo>
                <a:lnTo>
                  <a:pt x="132206" y="51943"/>
                </a:lnTo>
                <a:lnTo>
                  <a:pt x="0" y="0"/>
                </a:lnTo>
                <a:close/>
              </a:path>
              <a:path w="685800" h="762000">
                <a:moveTo>
                  <a:pt x="81152" y="80772"/>
                </a:moveTo>
                <a:lnTo>
                  <a:pt x="71755" y="89154"/>
                </a:lnTo>
                <a:lnTo>
                  <a:pt x="80284" y="98631"/>
                </a:lnTo>
                <a:lnTo>
                  <a:pt x="89648" y="90211"/>
                </a:lnTo>
                <a:lnTo>
                  <a:pt x="81152" y="80772"/>
                </a:lnTo>
                <a:close/>
              </a:path>
              <a:path w="685800" h="762000">
                <a:moveTo>
                  <a:pt x="100146" y="80772"/>
                </a:moveTo>
                <a:lnTo>
                  <a:pt x="81152" y="80772"/>
                </a:lnTo>
                <a:lnTo>
                  <a:pt x="89648" y="90211"/>
                </a:lnTo>
                <a:lnTo>
                  <a:pt x="100146" y="807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124580" y="403898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52705" y="477774"/>
                </a:moveTo>
                <a:lnTo>
                  <a:pt x="0" y="609600"/>
                </a:lnTo>
                <a:lnTo>
                  <a:pt x="137159" y="572643"/>
                </a:lnTo>
                <a:lnTo>
                  <a:pt x="106634" y="538353"/>
                </a:lnTo>
                <a:lnTo>
                  <a:pt x="89662" y="538353"/>
                </a:lnTo>
                <a:lnTo>
                  <a:pt x="81152" y="528955"/>
                </a:lnTo>
                <a:lnTo>
                  <a:pt x="90707" y="520462"/>
                </a:lnTo>
                <a:lnTo>
                  <a:pt x="52705" y="477774"/>
                </a:lnTo>
                <a:close/>
              </a:path>
              <a:path w="685800" h="609600">
                <a:moveTo>
                  <a:pt x="90707" y="520462"/>
                </a:moveTo>
                <a:lnTo>
                  <a:pt x="81152" y="528955"/>
                </a:lnTo>
                <a:lnTo>
                  <a:pt x="89662" y="538353"/>
                </a:lnTo>
                <a:lnTo>
                  <a:pt x="99137" y="529931"/>
                </a:lnTo>
                <a:lnTo>
                  <a:pt x="90707" y="520462"/>
                </a:lnTo>
                <a:close/>
              </a:path>
              <a:path w="685800" h="609600">
                <a:moveTo>
                  <a:pt x="99137" y="529931"/>
                </a:moveTo>
                <a:lnTo>
                  <a:pt x="89662" y="538353"/>
                </a:lnTo>
                <a:lnTo>
                  <a:pt x="106634" y="538353"/>
                </a:lnTo>
                <a:lnTo>
                  <a:pt x="99137" y="529931"/>
                </a:lnTo>
                <a:close/>
              </a:path>
              <a:path w="685800" h="609600">
                <a:moveTo>
                  <a:pt x="586662" y="79668"/>
                </a:moveTo>
                <a:lnTo>
                  <a:pt x="90707" y="520462"/>
                </a:lnTo>
                <a:lnTo>
                  <a:pt x="99137" y="529931"/>
                </a:lnTo>
                <a:lnTo>
                  <a:pt x="595092" y="89137"/>
                </a:lnTo>
                <a:lnTo>
                  <a:pt x="586662" y="79668"/>
                </a:lnTo>
                <a:close/>
              </a:path>
              <a:path w="685800" h="609600">
                <a:moveTo>
                  <a:pt x="657314" y="71247"/>
                </a:moveTo>
                <a:lnTo>
                  <a:pt x="596138" y="71247"/>
                </a:lnTo>
                <a:lnTo>
                  <a:pt x="604646" y="80645"/>
                </a:lnTo>
                <a:lnTo>
                  <a:pt x="595092" y="89137"/>
                </a:lnTo>
                <a:lnTo>
                  <a:pt x="633094" y="131826"/>
                </a:lnTo>
                <a:lnTo>
                  <a:pt x="657314" y="71247"/>
                </a:lnTo>
                <a:close/>
              </a:path>
              <a:path w="685800" h="609600">
                <a:moveTo>
                  <a:pt x="596138" y="71247"/>
                </a:moveTo>
                <a:lnTo>
                  <a:pt x="586662" y="79668"/>
                </a:lnTo>
                <a:lnTo>
                  <a:pt x="595092" y="89137"/>
                </a:lnTo>
                <a:lnTo>
                  <a:pt x="604646" y="80645"/>
                </a:lnTo>
                <a:lnTo>
                  <a:pt x="596138" y="71247"/>
                </a:lnTo>
                <a:close/>
              </a:path>
              <a:path w="685800" h="609600">
                <a:moveTo>
                  <a:pt x="685799" y="0"/>
                </a:moveTo>
                <a:lnTo>
                  <a:pt x="548640" y="36957"/>
                </a:lnTo>
                <a:lnTo>
                  <a:pt x="586662" y="79668"/>
                </a:lnTo>
                <a:lnTo>
                  <a:pt x="596138" y="71247"/>
                </a:lnTo>
                <a:lnTo>
                  <a:pt x="657314" y="71247"/>
                </a:lnTo>
                <a:lnTo>
                  <a:pt x="6857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124580" y="3670680"/>
            <a:ext cx="685800" cy="127000"/>
          </a:xfrm>
          <a:custGeom>
            <a:avLst/>
            <a:gdLst/>
            <a:ahLst/>
            <a:cxnLst/>
            <a:rect l="l" t="t" r="r" b="b"/>
            <a:pathLst>
              <a:path w="685800" h="127000">
                <a:moveTo>
                  <a:pt x="126999" y="0"/>
                </a:moveTo>
                <a:lnTo>
                  <a:pt x="0" y="63500"/>
                </a:lnTo>
                <a:lnTo>
                  <a:pt x="126999" y="127000"/>
                </a:lnTo>
                <a:lnTo>
                  <a:pt x="126999" y="69850"/>
                </a:lnTo>
                <a:lnTo>
                  <a:pt x="114300" y="69850"/>
                </a:lnTo>
                <a:lnTo>
                  <a:pt x="114300" y="57150"/>
                </a:lnTo>
                <a:lnTo>
                  <a:pt x="126999" y="57150"/>
                </a:lnTo>
                <a:lnTo>
                  <a:pt x="126999" y="0"/>
                </a:lnTo>
                <a:close/>
              </a:path>
              <a:path w="685800" h="127000">
                <a:moveTo>
                  <a:pt x="558799" y="0"/>
                </a:moveTo>
                <a:lnTo>
                  <a:pt x="558799" y="127000"/>
                </a:lnTo>
                <a:lnTo>
                  <a:pt x="673099" y="69850"/>
                </a:lnTo>
                <a:lnTo>
                  <a:pt x="571499" y="69850"/>
                </a:lnTo>
                <a:lnTo>
                  <a:pt x="571499" y="57150"/>
                </a:lnTo>
                <a:lnTo>
                  <a:pt x="673099" y="57150"/>
                </a:lnTo>
                <a:lnTo>
                  <a:pt x="558799" y="0"/>
                </a:lnTo>
                <a:close/>
              </a:path>
              <a:path w="685800" h="127000">
                <a:moveTo>
                  <a:pt x="126999" y="57150"/>
                </a:moveTo>
                <a:lnTo>
                  <a:pt x="114300" y="57150"/>
                </a:lnTo>
                <a:lnTo>
                  <a:pt x="114300" y="69850"/>
                </a:lnTo>
                <a:lnTo>
                  <a:pt x="126999" y="69850"/>
                </a:lnTo>
                <a:lnTo>
                  <a:pt x="126999" y="57150"/>
                </a:lnTo>
                <a:close/>
              </a:path>
              <a:path w="685800" h="127000">
                <a:moveTo>
                  <a:pt x="558799" y="57150"/>
                </a:moveTo>
                <a:lnTo>
                  <a:pt x="126999" y="57150"/>
                </a:lnTo>
                <a:lnTo>
                  <a:pt x="126999" y="69850"/>
                </a:lnTo>
                <a:lnTo>
                  <a:pt x="558799" y="69850"/>
                </a:lnTo>
                <a:lnTo>
                  <a:pt x="558799" y="57150"/>
                </a:lnTo>
                <a:close/>
              </a:path>
              <a:path w="685800" h="127000">
                <a:moveTo>
                  <a:pt x="673099" y="57150"/>
                </a:moveTo>
                <a:lnTo>
                  <a:pt x="571499" y="57150"/>
                </a:lnTo>
                <a:lnTo>
                  <a:pt x="571499" y="69850"/>
                </a:lnTo>
                <a:lnTo>
                  <a:pt x="673099" y="69850"/>
                </a:lnTo>
                <a:lnTo>
                  <a:pt x="685799" y="63500"/>
                </a:lnTo>
                <a:lnTo>
                  <a:pt x="673099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432680" y="4267580"/>
            <a:ext cx="127000" cy="304800"/>
          </a:xfrm>
          <a:custGeom>
            <a:avLst/>
            <a:gdLst/>
            <a:ahLst/>
            <a:cxnLst/>
            <a:rect l="l" t="t" r="r" b="b"/>
            <a:pathLst>
              <a:path w="127000" h="304800">
                <a:moveTo>
                  <a:pt x="57150" y="177800"/>
                </a:moveTo>
                <a:lnTo>
                  <a:pt x="0" y="177800"/>
                </a:lnTo>
                <a:lnTo>
                  <a:pt x="63500" y="304800"/>
                </a:lnTo>
                <a:lnTo>
                  <a:pt x="120650" y="190500"/>
                </a:lnTo>
                <a:lnTo>
                  <a:pt x="57150" y="190500"/>
                </a:lnTo>
                <a:lnTo>
                  <a:pt x="57150" y="177800"/>
                </a:lnTo>
                <a:close/>
              </a:path>
              <a:path w="127000" h="304800">
                <a:moveTo>
                  <a:pt x="69850" y="114300"/>
                </a:moveTo>
                <a:lnTo>
                  <a:pt x="57150" y="114300"/>
                </a:lnTo>
                <a:lnTo>
                  <a:pt x="57150" y="190500"/>
                </a:lnTo>
                <a:lnTo>
                  <a:pt x="69850" y="190500"/>
                </a:lnTo>
                <a:lnTo>
                  <a:pt x="69850" y="114300"/>
                </a:lnTo>
                <a:close/>
              </a:path>
              <a:path w="127000" h="304800">
                <a:moveTo>
                  <a:pt x="127000" y="177800"/>
                </a:moveTo>
                <a:lnTo>
                  <a:pt x="69850" y="177800"/>
                </a:lnTo>
                <a:lnTo>
                  <a:pt x="69850" y="190500"/>
                </a:lnTo>
                <a:lnTo>
                  <a:pt x="120650" y="190500"/>
                </a:lnTo>
                <a:lnTo>
                  <a:pt x="127000" y="177800"/>
                </a:lnTo>
                <a:close/>
              </a:path>
              <a:path w="127000" h="304800">
                <a:moveTo>
                  <a:pt x="63500" y="0"/>
                </a:moveTo>
                <a:lnTo>
                  <a:pt x="0" y="127000"/>
                </a:lnTo>
                <a:lnTo>
                  <a:pt x="57150" y="127000"/>
                </a:lnTo>
                <a:lnTo>
                  <a:pt x="5715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304800">
                <a:moveTo>
                  <a:pt x="120650" y="114300"/>
                </a:moveTo>
                <a:lnTo>
                  <a:pt x="69850" y="114300"/>
                </a:lnTo>
                <a:lnTo>
                  <a:pt x="6985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432680" y="3048380"/>
            <a:ext cx="127000" cy="304800"/>
          </a:xfrm>
          <a:custGeom>
            <a:avLst/>
            <a:gdLst/>
            <a:ahLst/>
            <a:cxnLst/>
            <a:rect l="l" t="t" r="r" b="b"/>
            <a:pathLst>
              <a:path w="127000" h="304800">
                <a:moveTo>
                  <a:pt x="57150" y="177800"/>
                </a:moveTo>
                <a:lnTo>
                  <a:pt x="0" y="177800"/>
                </a:lnTo>
                <a:lnTo>
                  <a:pt x="63500" y="304800"/>
                </a:lnTo>
                <a:lnTo>
                  <a:pt x="120650" y="190500"/>
                </a:lnTo>
                <a:lnTo>
                  <a:pt x="57150" y="190500"/>
                </a:lnTo>
                <a:lnTo>
                  <a:pt x="57150" y="177800"/>
                </a:lnTo>
                <a:close/>
              </a:path>
              <a:path w="127000" h="304800">
                <a:moveTo>
                  <a:pt x="69850" y="114300"/>
                </a:moveTo>
                <a:lnTo>
                  <a:pt x="57150" y="114300"/>
                </a:lnTo>
                <a:lnTo>
                  <a:pt x="57150" y="190500"/>
                </a:lnTo>
                <a:lnTo>
                  <a:pt x="69850" y="190500"/>
                </a:lnTo>
                <a:lnTo>
                  <a:pt x="69850" y="114300"/>
                </a:lnTo>
                <a:close/>
              </a:path>
              <a:path w="127000" h="304800">
                <a:moveTo>
                  <a:pt x="127000" y="177800"/>
                </a:moveTo>
                <a:lnTo>
                  <a:pt x="69850" y="177800"/>
                </a:lnTo>
                <a:lnTo>
                  <a:pt x="69850" y="190500"/>
                </a:lnTo>
                <a:lnTo>
                  <a:pt x="120650" y="190500"/>
                </a:lnTo>
                <a:lnTo>
                  <a:pt x="127000" y="177800"/>
                </a:lnTo>
                <a:close/>
              </a:path>
              <a:path w="127000" h="304800">
                <a:moveTo>
                  <a:pt x="63500" y="0"/>
                </a:moveTo>
                <a:lnTo>
                  <a:pt x="0" y="127000"/>
                </a:lnTo>
                <a:lnTo>
                  <a:pt x="57150" y="127000"/>
                </a:lnTo>
                <a:lnTo>
                  <a:pt x="57150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304800">
                <a:moveTo>
                  <a:pt x="120650" y="114300"/>
                </a:moveTo>
                <a:lnTo>
                  <a:pt x="69850" y="114300"/>
                </a:lnTo>
                <a:lnTo>
                  <a:pt x="69850" y="127000"/>
                </a:lnTo>
                <a:lnTo>
                  <a:pt x="127000" y="127000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181980" y="3124580"/>
            <a:ext cx="685800" cy="457200"/>
          </a:xfrm>
          <a:custGeom>
            <a:avLst/>
            <a:gdLst/>
            <a:ahLst/>
            <a:cxnLst/>
            <a:rect l="l" t="t" r="r" b="b"/>
            <a:pathLst>
              <a:path w="685800" h="457200">
                <a:moveTo>
                  <a:pt x="70485" y="333883"/>
                </a:moveTo>
                <a:lnTo>
                  <a:pt x="0" y="457200"/>
                </a:lnTo>
                <a:lnTo>
                  <a:pt x="140843" y="439547"/>
                </a:lnTo>
                <a:lnTo>
                  <a:pt x="113866" y="399034"/>
                </a:lnTo>
                <a:lnTo>
                  <a:pt x="98679" y="399034"/>
                </a:lnTo>
                <a:lnTo>
                  <a:pt x="91567" y="388493"/>
                </a:lnTo>
                <a:lnTo>
                  <a:pt x="102150" y="381438"/>
                </a:lnTo>
                <a:lnTo>
                  <a:pt x="70485" y="333883"/>
                </a:lnTo>
                <a:close/>
              </a:path>
              <a:path w="685800" h="457200">
                <a:moveTo>
                  <a:pt x="102150" y="381438"/>
                </a:moveTo>
                <a:lnTo>
                  <a:pt x="91567" y="388493"/>
                </a:lnTo>
                <a:lnTo>
                  <a:pt x="98679" y="399034"/>
                </a:lnTo>
                <a:lnTo>
                  <a:pt x="109197" y="392022"/>
                </a:lnTo>
                <a:lnTo>
                  <a:pt x="102150" y="381438"/>
                </a:lnTo>
                <a:close/>
              </a:path>
              <a:path w="685800" h="457200">
                <a:moveTo>
                  <a:pt x="109197" y="392022"/>
                </a:moveTo>
                <a:lnTo>
                  <a:pt x="98679" y="399034"/>
                </a:lnTo>
                <a:lnTo>
                  <a:pt x="113866" y="399034"/>
                </a:lnTo>
                <a:lnTo>
                  <a:pt x="109197" y="392022"/>
                </a:lnTo>
                <a:close/>
              </a:path>
              <a:path w="685800" h="457200">
                <a:moveTo>
                  <a:pt x="576602" y="65177"/>
                </a:moveTo>
                <a:lnTo>
                  <a:pt x="102150" y="381438"/>
                </a:lnTo>
                <a:lnTo>
                  <a:pt x="109197" y="392022"/>
                </a:lnTo>
                <a:lnTo>
                  <a:pt x="583649" y="75761"/>
                </a:lnTo>
                <a:lnTo>
                  <a:pt x="576602" y="65177"/>
                </a:lnTo>
                <a:close/>
              </a:path>
              <a:path w="685800" h="457200">
                <a:moveTo>
                  <a:pt x="652553" y="58166"/>
                </a:moveTo>
                <a:lnTo>
                  <a:pt x="587121" y="58166"/>
                </a:lnTo>
                <a:lnTo>
                  <a:pt x="594233" y="68707"/>
                </a:lnTo>
                <a:lnTo>
                  <a:pt x="583649" y="75761"/>
                </a:lnTo>
                <a:lnTo>
                  <a:pt x="615315" y="123317"/>
                </a:lnTo>
                <a:lnTo>
                  <a:pt x="652553" y="58166"/>
                </a:lnTo>
                <a:close/>
              </a:path>
              <a:path w="685800" h="457200">
                <a:moveTo>
                  <a:pt x="587121" y="58166"/>
                </a:moveTo>
                <a:lnTo>
                  <a:pt x="576602" y="65177"/>
                </a:lnTo>
                <a:lnTo>
                  <a:pt x="583649" y="75761"/>
                </a:lnTo>
                <a:lnTo>
                  <a:pt x="594233" y="68707"/>
                </a:lnTo>
                <a:lnTo>
                  <a:pt x="587121" y="58166"/>
                </a:lnTo>
                <a:close/>
              </a:path>
              <a:path w="685800" h="457200">
                <a:moveTo>
                  <a:pt x="685800" y="0"/>
                </a:moveTo>
                <a:lnTo>
                  <a:pt x="544957" y="17653"/>
                </a:lnTo>
                <a:lnTo>
                  <a:pt x="576602" y="65177"/>
                </a:lnTo>
                <a:lnTo>
                  <a:pt x="587121" y="58166"/>
                </a:lnTo>
                <a:lnTo>
                  <a:pt x="652553" y="58166"/>
                </a:lnTo>
                <a:lnTo>
                  <a:pt x="685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181980" y="3962780"/>
            <a:ext cx="685800" cy="457200"/>
          </a:xfrm>
          <a:custGeom>
            <a:avLst/>
            <a:gdLst/>
            <a:ahLst/>
            <a:cxnLst/>
            <a:rect l="l" t="t" r="r" b="b"/>
            <a:pathLst>
              <a:path w="685800" h="457200">
                <a:moveTo>
                  <a:pt x="576602" y="392022"/>
                </a:moveTo>
                <a:lnTo>
                  <a:pt x="544957" y="439547"/>
                </a:lnTo>
                <a:lnTo>
                  <a:pt x="685800" y="457200"/>
                </a:lnTo>
                <a:lnTo>
                  <a:pt x="652553" y="399034"/>
                </a:lnTo>
                <a:lnTo>
                  <a:pt x="587121" y="399034"/>
                </a:lnTo>
                <a:lnTo>
                  <a:pt x="576602" y="392022"/>
                </a:lnTo>
                <a:close/>
              </a:path>
              <a:path w="685800" h="457200">
                <a:moveTo>
                  <a:pt x="583649" y="381438"/>
                </a:moveTo>
                <a:lnTo>
                  <a:pt x="576602" y="392022"/>
                </a:lnTo>
                <a:lnTo>
                  <a:pt x="587121" y="399034"/>
                </a:lnTo>
                <a:lnTo>
                  <a:pt x="594233" y="388493"/>
                </a:lnTo>
                <a:lnTo>
                  <a:pt x="583649" y="381438"/>
                </a:lnTo>
                <a:close/>
              </a:path>
              <a:path w="685800" h="457200">
                <a:moveTo>
                  <a:pt x="615315" y="333883"/>
                </a:moveTo>
                <a:lnTo>
                  <a:pt x="583649" y="381438"/>
                </a:lnTo>
                <a:lnTo>
                  <a:pt x="594233" y="388493"/>
                </a:lnTo>
                <a:lnTo>
                  <a:pt x="587121" y="399034"/>
                </a:lnTo>
                <a:lnTo>
                  <a:pt x="652553" y="399034"/>
                </a:lnTo>
                <a:lnTo>
                  <a:pt x="615315" y="333883"/>
                </a:lnTo>
                <a:close/>
              </a:path>
              <a:path w="685800" h="457200">
                <a:moveTo>
                  <a:pt x="109197" y="65177"/>
                </a:moveTo>
                <a:lnTo>
                  <a:pt x="102150" y="75761"/>
                </a:lnTo>
                <a:lnTo>
                  <a:pt x="576602" y="392022"/>
                </a:lnTo>
                <a:lnTo>
                  <a:pt x="583649" y="381438"/>
                </a:lnTo>
                <a:lnTo>
                  <a:pt x="109197" y="65177"/>
                </a:lnTo>
                <a:close/>
              </a:path>
              <a:path w="685800" h="457200">
                <a:moveTo>
                  <a:pt x="0" y="0"/>
                </a:moveTo>
                <a:lnTo>
                  <a:pt x="70485" y="123317"/>
                </a:lnTo>
                <a:lnTo>
                  <a:pt x="102150" y="75761"/>
                </a:lnTo>
                <a:lnTo>
                  <a:pt x="91567" y="68707"/>
                </a:lnTo>
                <a:lnTo>
                  <a:pt x="98679" y="58166"/>
                </a:lnTo>
                <a:lnTo>
                  <a:pt x="113866" y="58166"/>
                </a:lnTo>
                <a:lnTo>
                  <a:pt x="140843" y="17653"/>
                </a:lnTo>
                <a:lnTo>
                  <a:pt x="0" y="0"/>
                </a:lnTo>
                <a:close/>
              </a:path>
              <a:path w="685800" h="457200">
                <a:moveTo>
                  <a:pt x="98679" y="58166"/>
                </a:moveTo>
                <a:lnTo>
                  <a:pt x="91567" y="68707"/>
                </a:lnTo>
                <a:lnTo>
                  <a:pt x="102150" y="75761"/>
                </a:lnTo>
                <a:lnTo>
                  <a:pt x="109197" y="65177"/>
                </a:lnTo>
                <a:lnTo>
                  <a:pt x="98679" y="58166"/>
                </a:lnTo>
                <a:close/>
              </a:path>
              <a:path w="685800" h="457200">
                <a:moveTo>
                  <a:pt x="113866" y="58166"/>
                </a:moveTo>
                <a:lnTo>
                  <a:pt x="98679" y="58166"/>
                </a:lnTo>
                <a:lnTo>
                  <a:pt x="109197" y="65177"/>
                </a:lnTo>
                <a:lnTo>
                  <a:pt x="113866" y="581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219580" y="3213480"/>
            <a:ext cx="685800" cy="127000"/>
          </a:xfrm>
          <a:custGeom>
            <a:avLst/>
            <a:gdLst/>
            <a:ahLst/>
            <a:cxnLst/>
            <a:rect l="l" t="t" r="r" b="b"/>
            <a:pathLst>
              <a:path w="685800" h="127000">
                <a:moveTo>
                  <a:pt x="127000" y="0"/>
                </a:moveTo>
                <a:lnTo>
                  <a:pt x="0" y="63500"/>
                </a:lnTo>
                <a:lnTo>
                  <a:pt x="127000" y="127000"/>
                </a:lnTo>
                <a:lnTo>
                  <a:pt x="127000" y="69850"/>
                </a:lnTo>
                <a:lnTo>
                  <a:pt x="114300" y="69850"/>
                </a:lnTo>
                <a:lnTo>
                  <a:pt x="114300" y="57150"/>
                </a:lnTo>
                <a:lnTo>
                  <a:pt x="127000" y="57150"/>
                </a:lnTo>
                <a:lnTo>
                  <a:pt x="127000" y="0"/>
                </a:lnTo>
                <a:close/>
              </a:path>
              <a:path w="685800" h="127000">
                <a:moveTo>
                  <a:pt x="558800" y="0"/>
                </a:moveTo>
                <a:lnTo>
                  <a:pt x="558800" y="127000"/>
                </a:lnTo>
                <a:lnTo>
                  <a:pt x="673100" y="69850"/>
                </a:lnTo>
                <a:lnTo>
                  <a:pt x="571500" y="69850"/>
                </a:lnTo>
                <a:lnTo>
                  <a:pt x="571500" y="57150"/>
                </a:lnTo>
                <a:lnTo>
                  <a:pt x="673100" y="57150"/>
                </a:lnTo>
                <a:lnTo>
                  <a:pt x="558800" y="0"/>
                </a:lnTo>
                <a:close/>
              </a:path>
              <a:path w="685800" h="127000">
                <a:moveTo>
                  <a:pt x="127000" y="57150"/>
                </a:moveTo>
                <a:lnTo>
                  <a:pt x="114300" y="57150"/>
                </a:lnTo>
                <a:lnTo>
                  <a:pt x="114300" y="69850"/>
                </a:lnTo>
                <a:lnTo>
                  <a:pt x="127000" y="69850"/>
                </a:lnTo>
                <a:lnTo>
                  <a:pt x="127000" y="57150"/>
                </a:lnTo>
                <a:close/>
              </a:path>
              <a:path w="685800" h="127000">
                <a:moveTo>
                  <a:pt x="558800" y="57150"/>
                </a:moveTo>
                <a:lnTo>
                  <a:pt x="127000" y="57150"/>
                </a:lnTo>
                <a:lnTo>
                  <a:pt x="127000" y="69850"/>
                </a:lnTo>
                <a:lnTo>
                  <a:pt x="558800" y="69850"/>
                </a:lnTo>
                <a:lnTo>
                  <a:pt x="558800" y="57150"/>
                </a:lnTo>
                <a:close/>
              </a:path>
              <a:path w="685800" h="127000">
                <a:moveTo>
                  <a:pt x="673100" y="57150"/>
                </a:moveTo>
                <a:lnTo>
                  <a:pt x="571500" y="57150"/>
                </a:lnTo>
                <a:lnTo>
                  <a:pt x="571500" y="69850"/>
                </a:lnTo>
                <a:lnTo>
                  <a:pt x="673100" y="69850"/>
                </a:lnTo>
                <a:lnTo>
                  <a:pt x="685800" y="63500"/>
                </a:lnTo>
                <a:lnTo>
                  <a:pt x="67310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010781" y="3746880"/>
            <a:ext cx="685800" cy="127000"/>
          </a:xfrm>
          <a:custGeom>
            <a:avLst/>
            <a:gdLst/>
            <a:ahLst/>
            <a:cxnLst/>
            <a:rect l="l" t="t" r="r" b="b"/>
            <a:pathLst>
              <a:path w="685800" h="127000">
                <a:moveTo>
                  <a:pt x="127000" y="0"/>
                </a:moveTo>
                <a:lnTo>
                  <a:pt x="0" y="63500"/>
                </a:lnTo>
                <a:lnTo>
                  <a:pt x="127000" y="127000"/>
                </a:lnTo>
                <a:lnTo>
                  <a:pt x="127000" y="69850"/>
                </a:lnTo>
                <a:lnTo>
                  <a:pt x="114300" y="69850"/>
                </a:lnTo>
                <a:lnTo>
                  <a:pt x="114300" y="57150"/>
                </a:lnTo>
                <a:lnTo>
                  <a:pt x="127000" y="57150"/>
                </a:lnTo>
                <a:lnTo>
                  <a:pt x="127000" y="0"/>
                </a:lnTo>
                <a:close/>
              </a:path>
              <a:path w="685800" h="127000">
                <a:moveTo>
                  <a:pt x="558800" y="0"/>
                </a:moveTo>
                <a:lnTo>
                  <a:pt x="558800" y="127000"/>
                </a:lnTo>
                <a:lnTo>
                  <a:pt x="673100" y="69850"/>
                </a:lnTo>
                <a:lnTo>
                  <a:pt x="571500" y="69850"/>
                </a:lnTo>
                <a:lnTo>
                  <a:pt x="571500" y="57150"/>
                </a:lnTo>
                <a:lnTo>
                  <a:pt x="673100" y="57150"/>
                </a:lnTo>
                <a:lnTo>
                  <a:pt x="558800" y="0"/>
                </a:lnTo>
                <a:close/>
              </a:path>
              <a:path w="685800" h="127000">
                <a:moveTo>
                  <a:pt x="127000" y="57150"/>
                </a:moveTo>
                <a:lnTo>
                  <a:pt x="114300" y="57150"/>
                </a:lnTo>
                <a:lnTo>
                  <a:pt x="114300" y="69850"/>
                </a:lnTo>
                <a:lnTo>
                  <a:pt x="127000" y="69850"/>
                </a:lnTo>
                <a:lnTo>
                  <a:pt x="127000" y="57150"/>
                </a:lnTo>
                <a:close/>
              </a:path>
              <a:path w="685800" h="127000">
                <a:moveTo>
                  <a:pt x="558800" y="57150"/>
                </a:moveTo>
                <a:lnTo>
                  <a:pt x="127000" y="57150"/>
                </a:lnTo>
                <a:lnTo>
                  <a:pt x="127000" y="69850"/>
                </a:lnTo>
                <a:lnTo>
                  <a:pt x="558800" y="69850"/>
                </a:lnTo>
                <a:lnTo>
                  <a:pt x="558800" y="57150"/>
                </a:lnTo>
                <a:close/>
              </a:path>
              <a:path w="685800" h="127000">
                <a:moveTo>
                  <a:pt x="673100" y="57150"/>
                </a:moveTo>
                <a:lnTo>
                  <a:pt x="571500" y="57150"/>
                </a:lnTo>
                <a:lnTo>
                  <a:pt x="571500" y="69850"/>
                </a:lnTo>
                <a:lnTo>
                  <a:pt x="673100" y="69850"/>
                </a:lnTo>
                <a:lnTo>
                  <a:pt x="685800" y="63500"/>
                </a:lnTo>
                <a:lnTo>
                  <a:pt x="67310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66598" y="3670300"/>
            <a:ext cx="9213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Verdana"/>
                <a:cs typeface="Verdana"/>
              </a:rPr>
              <a:t>Proveedores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32" name="object 32"/>
          <p:cNvSpPr txBox="1"/>
          <p:nvPr/>
        </p:nvSpPr>
        <p:spPr>
          <a:xfrm>
            <a:off x="8726169" y="6523387"/>
            <a:ext cx="15240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solidFill>
                  <a:srgbClr val="00338D"/>
                </a:solidFill>
                <a:latin typeface="Arial"/>
                <a:cs typeface="Arial"/>
              </a:rPr>
              <a:t>16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268" y="56642"/>
            <a:ext cx="8241030" cy="6219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5" dirty="0">
                <a:solidFill>
                  <a:srgbClr val="FFFFFF"/>
                </a:solidFill>
                <a:latin typeface="Trebuchet MS"/>
                <a:cs typeface="Trebuchet MS"/>
              </a:rPr>
              <a:t>Integración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 </a:t>
            </a:r>
            <a:r>
              <a:rPr sz="2000" b="1" spc="75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2000" b="1" spc="-4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ERP (Cont.)</a:t>
            </a:r>
            <a:endParaRPr sz="2000">
              <a:latin typeface="Trebuchet MS"/>
              <a:cs typeface="Trebuchet MS"/>
            </a:endParaRPr>
          </a:p>
          <a:p>
            <a:pPr marL="59055" marR="5080">
              <a:lnSpc>
                <a:spcPct val="100000"/>
              </a:lnSpc>
              <a:spcBef>
                <a:spcPts val="15"/>
              </a:spcBef>
            </a:pPr>
            <a:r>
              <a:rPr sz="1800" spc="-240" dirty="0">
                <a:solidFill>
                  <a:srgbClr val="FFFFFF"/>
                </a:solidFill>
                <a:latin typeface="Arial"/>
                <a:cs typeface="Arial"/>
              </a:rPr>
              <a:t>ERP: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puntos 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 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2600" b="1" spc="-165" dirty="0">
                <a:latin typeface="Trebuchet MS"/>
                <a:cs typeface="Trebuchet MS"/>
              </a:rPr>
              <a:t>ERP </a:t>
            </a:r>
            <a:r>
              <a:rPr sz="2600" b="1" spc="-155" dirty="0">
                <a:latin typeface="Arial"/>
                <a:cs typeface="Arial"/>
              </a:rPr>
              <a:t>– </a:t>
            </a:r>
            <a:r>
              <a:rPr sz="2600" b="1" spc="-150" dirty="0">
                <a:latin typeface="Trebuchet MS"/>
                <a:cs typeface="Trebuchet MS"/>
              </a:rPr>
              <a:t>Beneficios </a:t>
            </a:r>
            <a:r>
              <a:rPr sz="2600" b="1" spc="-155" dirty="0">
                <a:latin typeface="Trebuchet MS"/>
                <a:cs typeface="Trebuchet MS"/>
              </a:rPr>
              <a:t>que</a:t>
            </a:r>
            <a:r>
              <a:rPr sz="2600" b="1" spc="-215" dirty="0">
                <a:latin typeface="Trebuchet MS"/>
                <a:cs typeface="Trebuchet MS"/>
              </a:rPr>
              <a:t> </a:t>
            </a:r>
            <a:r>
              <a:rPr sz="2600" b="1" spc="-180" dirty="0">
                <a:latin typeface="Trebuchet MS"/>
                <a:cs typeface="Trebuchet MS"/>
              </a:rPr>
              <a:t>ofrece</a:t>
            </a:r>
            <a:endParaRPr sz="2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5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900" algn="l"/>
                <a:tab pos="470534" algn="l"/>
              </a:tabLst>
            </a:pPr>
            <a:r>
              <a:rPr sz="2400" b="1" i="1" spc="-85" dirty="0">
                <a:latin typeface="Arial"/>
                <a:cs typeface="Arial"/>
              </a:rPr>
              <a:t>Mejora </a:t>
            </a:r>
            <a:r>
              <a:rPr sz="2400" b="1" i="1" spc="-170" dirty="0">
                <a:latin typeface="Arial"/>
                <a:cs typeface="Arial"/>
              </a:rPr>
              <a:t>Calidad </a:t>
            </a:r>
            <a:r>
              <a:rPr sz="2400" b="1" i="1" spc="-210" dirty="0">
                <a:latin typeface="Arial"/>
                <a:cs typeface="Arial"/>
              </a:rPr>
              <a:t>y</a:t>
            </a:r>
            <a:r>
              <a:rPr sz="2400" b="1" i="1" spc="-165" dirty="0">
                <a:latin typeface="Arial"/>
                <a:cs typeface="Arial"/>
              </a:rPr>
              <a:t> </a:t>
            </a:r>
            <a:r>
              <a:rPr sz="2400" b="1" i="1" spc="-195" dirty="0">
                <a:latin typeface="Arial"/>
                <a:cs typeface="Arial"/>
              </a:rPr>
              <a:t>Eficiencia</a:t>
            </a:r>
            <a:endParaRPr sz="2400">
              <a:latin typeface="Arial"/>
              <a:cs typeface="Arial"/>
            </a:endParaRPr>
          </a:p>
          <a:p>
            <a:pPr marL="469900" marR="2451100" algn="just">
              <a:lnSpc>
                <a:spcPct val="100000"/>
              </a:lnSpc>
            </a:pPr>
            <a:r>
              <a:rPr sz="2400" spc="-200" dirty="0">
                <a:latin typeface="Arial"/>
                <a:cs typeface="Arial"/>
              </a:rPr>
              <a:t>Crea </a:t>
            </a:r>
            <a:r>
              <a:rPr sz="2400" spc="-114" dirty="0">
                <a:latin typeface="Arial"/>
                <a:cs typeface="Arial"/>
              </a:rPr>
              <a:t>una </a:t>
            </a:r>
            <a:r>
              <a:rPr sz="2400" spc="-70" dirty="0">
                <a:latin typeface="Arial"/>
                <a:cs typeface="Arial"/>
              </a:rPr>
              <a:t>estructura </a:t>
            </a:r>
            <a:r>
              <a:rPr sz="2400" spc="-100" dirty="0">
                <a:latin typeface="Arial"/>
                <a:cs typeface="Arial"/>
              </a:rPr>
              <a:t>que </a:t>
            </a:r>
            <a:r>
              <a:rPr sz="2400" spc="-75" dirty="0">
                <a:latin typeface="Arial"/>
                <a:cs typeface="Arial"/>
              </a:rPr>
              <a:t>integra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75" dirty="0">
                <a:latin typeface="Arial"/>
                <a:cs typeface="Arial"/>
              </a:rPr>
              <a:t>mejora  </a:t>
            </a:r>
            <a:r>
              <a:rPr sz="2400" spc="-105" dirty="0">
                <a:latin typeface="Arial"/>
                <a:cs typeface="Arial"/>
              </a:rPr>
              <a:t>los </a:t>
            </a:r>
            <a:r>
              <a:rPr sz="2400" spc="-140" dirty="0">
                <a:latin typeface="Arial"/>
                <a:cs typeface="Arial"/>
              </a:rPr>
              <a:t>procesos </a:t>
            </a:r>
            <a:r>
              <a:rPr sz="2400" spc="-60" dirty="0">
                <a:latin typeface="Arial"/>
                <a:cs typeface="Arial"/>
              </a:rPr>
              <a:t>internos </a:t>
            </a:r>
            <a:r>
              <a:rPr sz="2400" spc="-110" dirty="0">
                <a:latin typeface="Arial"/>
                <a:cs typeface="Arial"/>
              </a:rPr>
              <a:t>de negocio de </a:t>
            </a:r>
            <a:r>
              <a:rPr sz="2400" spc="-120" dirty="0">
                <a:latin typeface="Arial"/>
                <a:cs typeface="Arial"/>
              </a:rPr>
              <a:t>una  </a:t>
            </a:r>
            <a:r>
              <a:rPr sz="2400" spc="-114" dirty="0">
                <a:latin typeface="Arial"/>
                <a:cs typeface="Arial"/>
              </a:rPr>
              <a:t>empresa;</a:t>
            </a:r>
            <a:endParaRPr sz="24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2"/>
              <a:tabLst>
                <a:tab pos="469900" algn="l"/>
                <a:tab pos="470534" algn="l"/>
              </a:tabLst>
            </a:pPr>
            <a:r>
              <a:rPr sz="2400" b="1" i="1" spc="-204" dirty="0">
                <a:latin typeface="Arial"/>
                <a:cs typeface="Arial"/>
              </a:rPr>
              <a:t>Disminución </a:t>
            </a:r>
            <a:r>
              <a:rPr sz="2400" b="1" i="1" spc="-180" dirty="0">
                <a:latin typeface="Arial"/>
                <a:cs typeface="Arial"/>
              </a:rPr>
              <a:t>de</a:t>
            </a:r>
            <a:r>
              <a:rPr sz="2400" b="1" i="1" spc="-80" dirty="0">
                <a:latin typeface="Arial"/>
                <a:cs typeface="Arial"/>
              </a:rPr>
              <a:t> </a:t>
            </a:r>
            <a:r>
              <a:rPr sz="2400" b="1" i="1" spc="-285" dirty="0">
                <a:latin typeface="Arial"/>
                <a:cs typeface="Arial"/>
              </a:rPr>
              <a:t>Costos</a:t>
            </a:r>
            <a:endParaRPr sz="2400">
              <a:latin typeface="Arial"/>
              <a:cs typeface="Arial"/>
            </a:endParaRPr>
          </a:p>
          <a:p>
            <a:pPr marL="469900" marR="2453005" algn="just">
              <a:lnSpc>
                <a:spcPct val="100000"/>
              </a:lnSpc>
            </a:pPr>
            <a:r>
              <a:rPr sz="2400" spc="-110" dirty="0">
                <a:latin typeface="Arial"/>
                <a:cs typeface="Arial"/>
              </a:rPr>
              <a:t>Propicia menores </a:t>
            </a:r>
            <a:r>
              <a:rPr sz="2400" spc="-135" dirty="0">
                <a:latin typeface="Arial"/>
                <a:cs typeface="Arial"/>
              </a:rPr>
              <a:t>costos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80" dirty="0">
                <a:latin typeface="Arial"/>
                <a:cs typeface="Arial"/>
              </a:rPr>
              <a:t>IT </a:t>
            </a:r>
            <a:r>
              <a:rPr sz="2400" spc="-114" dirty="0">
                <a:latin typeface="Arial"/>
                <a:cs typeface="Arial"/>
              </a:rPr>
              <a:t>y de  </a:t>
            </a:r>
            <a:r>
              <a:rPr sz="2400" spc="-95" dirty="0">
                <a:latin typeface="Arial"/>
                <a:cs typeface="Arial"/>
              </a:rPr>
              <a:t>procesamiento </a:t>
            </a:r>
            <a:r>
              <a:rPr sz="2400" spc="-110" dirty="0">
                <a:latin typeface="Arial"/>
                <a:cs typeface="Arial"/>
              </a:rPr>
              <a:t>de</a:t>
            </a:r>
            <a:r>
              <a:rPr sz="2400" spc="-165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transacciones;</a:t>
            </a:r>
            <a:endParaRPr sz="2400">
              <a:latin typeface="Arial"/>
              <a:cs typeface="Arial"/>
            </a:endParaRPr>
          </a:p>
          <a:p>
            <a:pPr marL="469900" marR="2453005" indent="-457200">
              <a:lnSpc>
                <a:spcPct val="100000"/>
              </a:lnSpc>
              <a:buAutoNum type="arabicPeriod" startAt="3"/>
              <a:tabLst>
                <a:tab pos="469900" algn="l"/>
                <a:tab pos="470534" algn="l"/>
              </a:tabLst>
            </a:pPr>
            <a:r>
              <a:rPr sz="2400" b="1" i="1" spc="-225" dirty="0">
                <a:latin typeface="Arial"/>
                <a:cs typeface="Arial"/>
              </a:rPr>
              <a:t>Apoyo </a:t>
            </a:r>
            <a:r>
              <a:rPr sz="2400" b="1" i="1" spc="-70" dirty="0">
                <a:latin typeface="Arial"/>
                <a:cs typeface="Arial"/>
              </a:rPr>
              <a:t>a </a:t>
            </a:r>
            <a:r>
              <a:rPr sz="2400" b="1" i="1" spc="-80" dirty="0">
                <a:latin typeface="Arial"/>
                <a:cs typeface="Arial"/>
              </a:rPr>
              <a:t>la </a:t>
            </a:r>
            <a:r>
              <a:rPr sz="2400" b="1" i="1" spc="-240" dirty="0">
                <a:latin typeface="Arial"/>
                <a:cs typeface="Arial"/>
              </a:rPr>
              <a:t>Toma </a:t>
            </a:r>
            <a:r>
              <a:rPr sz="2400" b="1" i="1" spc="-180" dirty="0">
                <a:latin typeface="Arial"/>
                <a:cs typeface="Arial"/>
              </a:rPr>
              <a:t>de </a:t>
            </a:r>
            <a:r>
              <a:rPr sz="2400" b="1" i="1" spc="-229" dirty="0">
                <a:latin typeface="Arial"/>
                <a:cs typeface="Arial"/>
              </a:rPr>
              <a:t>Decisiones  </a:t>
            </a:r>
            <a:r>
              <a:rPr sz="2400" spc="-100" dirty="0">
                <a:latin typeface="Arial"/>
                <a:cs typeface="Arial"/>
              </a:rPr>
              <a:t>Proporciona </a:t>
            </a:r>
            <a:r>
              <a:rPr sz="2400" spc="-120" dirty="0">
                <a:latin typeface="Arial"/>
                <a:cs typeface="Arial"/>
              </a:rPr>
              <a:t>con </a:t>
            </a:r>
            <a:r>
              <a:rPr sz="2400" spc="-125" dirty="0">
                <a:latin typeface="Arial"/>
                <a:cs typeface="Arial"/>
              </a:rPr>
              <a:t>gran </a:t>
            </a:r>
            <a:r>
              <a:rPr sz="2400" spc="-110" dirty="0">
                <a:latin typeface="Arial"/>
                <a:cs typeface="Arial"/>
              </a:rPr>
              <a:t>rapidez </a:t>
            </a:r>
            <a:r>
              <a:rPr sz="2400" spc="-65" dirty="0">
                <a:latin typeface="Arial"/>
                <a:cs typeface="Arial"/>
              </a:rPr>
              <a:t>información 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25" dirty="0">
                <a:latin typeface="Arial"/>
                <a:cs typeface="Arial"/>
              </a:rPr>
              <a:t>desempeño </a:t>
            </a:r>
            <a:r>
              <a:rPr sz="2400" spc="-70" dirty="0">
                <a:latin typeface="Arial"/>
                <a:cs typeface="Arial"/>
              </a:rPr>
              <a:t>del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negocio;</a:t>
            </a:r>
            <a:endParaRPr sz="24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469900" algn="l"/>
                <a:tab pos="470534" algn="l"/>
              </a:tabLst>
            </a:pPr>
            <a:r>
              <a:rPr sz="2400" b="1" i="1" spc="-150" dirty="0">
                <a:latin typeface="Arial"/>
                <a:cs typeface="Arial"/>
              </a:rPr>
              <a:t>Agilidad</a:t>
            </a:r>
            <a:r>
              <a:rPr sz="2400" b="1" i="1" spc="-155" dirty="0">
                <a:latin typeface="Arial"/>
                <a:cs typeface="Arial"/>
              </a:rPr>
              <a:t> </a:t>
            </a:r>
            <a:r>
              <a:rPr sz="2400" b="1" i="1" spc="-175" dirty="0">
                <a:latin typeface="Arial"/>
                <a:cs typeface="Arial"/>
              </a:rPr>
              <a:t>Empresarial</a:t>
            </a:r>
            <a:endParaRPr sz="2400">
              <a:latin typeface="Arial"/>
              <a:cs typeface="Arial"/>
            </a:endParaRPr>
          </a:p>
          <a:p>
            <a:pPr marL="469900" algn="just">
              <a:lnSpc>
                <a:spcPct val="100000"/>
              </a:lnSpc>
            </a:pPr>
            <a:r>
              <a:rPr sz="2400" spc="-80" dirty="0">
                <a:latin typeface="Arial"/>
                <a:cs typeface="Arial"/>
              </a:rPr>
              <a:t>Quita </a:t>
            </a:r>
            <a:r>
              <a:rPr sz="2400" spc="-45" dirty="0">
                <a:latin typeface="Arial"/>
                <a:cs typeface="Arial"/>
              </a:rPr>
              <a:t>“islas”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40" dirty="0">
                <a:latin typeface="Arial"/>
                <a:cs typeface="Arial"/>
              </a:rPr>
              <a:t>procesos </a:t>
            </a:r>
            <a:r>
              <a:rPr sz="2400" spc="-110" dirty="0">
                <a:latin typeface="Arial"/>
                <a:cs typeface="Arial"/>
              </a:rPr>
              <a:t>de</a:t>
            </a:r>
            <a:r>
              <a:rPr sz="2400" spc="-280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negocio.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24600" y="1143000"/>
            <a:ext cx="2514600" cy="24589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77000" y="3657600"/>
            <a:ext cx="2209800" cy="26517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6182" y="1727377"/>
            <a:ext cx="6886990" cy="45835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05" dirty="0"/>
              <a:t>Integración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75" dirty="0"/>
              <a:t>/</a:t>
            </a:r>
            <a:r>
              <a:rPr spc="-395" dirty="0"/>
              <a:t> </a:t>
            </a:r>
            <a:r>
              <a:rPr spc="-125" dirty="0"/>
              <a:t>ERP (Cont.)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18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239268" y="362965"/>
            <a:ext cx="8241030" cy="1156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 marR="5080">
              <a:lnSpc>
                <a:spcPct val="100000"/>
              </a:lnSpc>
              <a:spcBef>
                <a:spcPts val="100"/>
              </a:spcBef>
            </a:pPr>
            <a:r>
              <a:rPr sz="1800" spc="-240" dirty="0">
                <a:solidFill>
                  <a:srgbClr val="FFFFFF"/>
                </a:solidFill>
                <a:latin typeface="Arial"/>
                <a:cs typeface="Arial"/>
              </a:rPr>
              <a:t>ERP: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puntos 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 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2600" b="1" spc="-165" dirty="0">
                <a:latin typeface="Trebuchet MS"/>
                <a:cs typeface="Trebuchet MS"/>
              </a:rPr>
              <a:t>ERP </a:t>
            </a:r>
            <a:r>
              <a:rPr sz="2600" b="1" spc="-155" dirty="0">
                <a:latin typeface="Arial"/>
                <a:cs typeface="Arial"/>
              </a:rPr>
              <a:t>– </a:t>
            </a:r>
            <a:r>
              <a:rPr sz="2600" b="1" spc="-160" dirty="0">
                <a:latin typeface="Trebuchet MS"/>
                <a:cs typeface="Trebuchet MS"/>
              </a:rPr>
              <a:t>Razones </a:t>
            </a:r>
            <a:r>
              <a:rPr sz="2600" b="1" spc="-145" dirty="0">
                <a:latin typeface="Trebuchet MS"/>
                <a:cs typeface="Trebuchet MS"/>
              </a:rPr>
              <a:t>para </a:t>
            </a:r>
            <a:r>
              <a:rPr sz="2600" b="1" spc="-150" dirty="0">
                <a:latin typeface="Trebuchet MS"/>
                <a:cs typeface="Trebuchet MS"/>
              </a:rPr>
              <a:t>implementar </a:t>
            </a:r>
            <a:r>
              <a:rPr sz="2600" b="1" spc="-145" dirty="0">
                <a:latin typeface="Trebuchet MS"/>
                <a:cs typeface="Trebuchet MS"/>
              </a:rPr>
              <a:t>un</a:t>
            </a:r>
            <a:r>
              <a:rPr sz="2600" b="1" spc="-270" dirty="0">
                <a:latin typeface="Trebuchet MS"/>
                <a:cs typeface="Trebuchet MS"/>
              </a:rPr>
              <a:t> </a:t>
            </a:r>
            <a:r>
              <a:rPr sz="2600" b="1" spc="-165" dirty="0">
                <a:latin typeface="Trebuchet MS"/>
                <a:cs typeface="Trebuchet MS"/>
              </a:rPr>
              <a:t>ERP</a:t>
            </a:r>
            <a:endParaRPr sz="2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00200" y="1676400"/>
            <a:ext cx="5943600" cy="4572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05" dirty="0"/>
              <a:t>Integración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75" dirty="0"/>
              <a:t>/</a:t>
            </a:r>
            <a:r>
              <a:rPr spc="-395" dirty="0"/>
              <a:t> </a:t>
            </a:r>
            <a:r>
              <a:rPr spc="-125" dirty="0"/>
              <a:t>ERP (Cont.)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19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239268" y="362965"/>
            <a:ext cx="8241030" cy="1156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 marR="5080">
              <a:lnSpc>
                <a:spcPct val="100000"/>
              </a:lnSpc>
              <a:spcBef>
                <a:spcPts val="100"/>
              </a:spcBef>
            </a:pPr>
            <a:r>
              <a:rPr sz="1800" spc="-240" dirty="0">
                <a:solidFill>
                  <a:srgbClr val="FFFFFF"/>
                </a:solidFill>
                <a:latin typeface="Arial"/>
                <a:cs typeface="Arial"/>
              </a:rPr>
              <a:t>ERP: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puntos 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 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2600" b="1" spc="-165" dirty="0">
                <a:latin typeface="Trebuchet MS"/>
                <a:cs typeface="Trebuchet MS"/>
              </a:rPr>
              <a:t>ERP </a:t>
            </a:r>
            <a:r>
              <a:rPr sz="2600" b="1" spc="-155" dirty="0">
                <a:latin typeface="Arial"/>
                <a:cs typeface="Arial"/>
              </a:rPr>
              <a:t>– </a:t>
            </a:r>
            <a:r>
              <a:rPr sz="2600" b="1" spc="-160" dirty="0">
                <a:latin typeface="Trebuchet MS"/>
                <a:cs typeface="Trebuchet MS"/>
              </a:rPr>
              <a:t>Razones </a:t>
            </a:r>
            <a:r>
              <a:rPr sz="2600" b="1" spc="-145" dirty="0">
                <a:latin typeface="Trebuchet MS"/>
                <a:cs typeface="Trebuchet MS"/>
              </a:rPr>
              <a:t>para </a:t>
            </a:r>
            <a:r>
              <a:rPr sz="2600" b="1" spc="-150" dirty="0">
                <a:latin typeface="Trebuchet MS"/>
                <a:cs typeface="Trebuchet MS"/>
              </a:rPr>
              <a:t>implementar </a:t>
            </a:r>
            <a:r>
              <a:rPr sz="2600" b="1" spc="-145" dirty="0">
                <a:latin typeface="Trebuchet MS"/>
                <a:cs typeface="Trebuchet MS"/>
              </a:rPr>
              <a:t>un</a:t>
            </a:r>
            <a:r>
              <a:rPr sz="2600" b="1" spc="-270" dirty="0">
                <a:latin typeface="Trebuchet MS"/>
                <a:cs typeface="Trebuchet MS"/>
              </a:rPr>
              <a:t> </a:t>
            </a:r>
            <a:r>
              <a:rPr sz="2600" b="1" spc="-165" dirty="0">
                <a:latin typeface="Trebuchet MS"/>
                <a:cs typeface="Trebuchet MS"/>
              </a:rPr>
              <a:t>ERP</a:t>
            </a:r>
            <a:endParaRPr sz="2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1600200"/>
            <a:ext cx="6124194" cy="46390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05" dirty="0"/>
              <a:t>Integración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75" dirty="0"/>
              <a:t>/</a:t>
            </a:r>
            <a:r>
              <a:rPr spc="-395" dirty="0"/>
              <a:t> </a:t>
            </a:r>
            <a:r>
              <a:rPr spc="-125" dirty="0"/>
              <a:t>ERP (Cont.)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20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239268" y="362965"/>
            <a:ext cx="8241030" cy="1156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 marR="5080">
              <a:lnSpc>
                <a:spcPct val="100000"/>
              </a:lnSpc>
              <a:spcBef>
                <a:spcPts val="100"/>
              </a:spcBef>
            </a:pPr>
            <a:r>
              <a:rPr sz="1800" spc="-240" dirty="0">
                <a:solidFill>
                  <a:srgbClr val="FFFFFF"/>
                </a:solidFill>
                <a:latin typeface="Arial"/>
                <a:cs typeface="Arial"/>
              </a:rPr>
              <a:t>ERP: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puntos 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 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2600" b="1" spc="-165" dirty="0">
                <a:latin typeface="Trebuchet MS"/>
                <a:cs typeface="Trebuchet MS"/>
              </a:rPr>
              <a:t>ERP </a:t>
            </a:r>
            <a:r>
              <a:rPr sz="2600" b="1" spc="-155" dirty="0">
                <a:latin typeface="Arial"/>
                <a:cs typeface="Arial"/>
              </a:rPr>
              <a:t>– </a:t>
            </a:r>
            <a:r>
              <a:rPr sz="2600" b="1" spc="-135" dirty="0">
                <a:latin typeface="Trebuchet MS"/>
                <a:cs typeface="Trebuchet MS"/>
              </a:rPr>
              <a:t>Niveles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254" dirty="0">
                <a:latin typeface="Trebuchet MS"/>
                <a:cs typeface="Trebuchet MS"/>
              </a:rPr>
              <a:t> </a:t>
            </a:r>
            <a:r>
              <a:rPr sz="2600" b="1" spc="-165" dirty="0">
                <a:latin typeface="Trebuchet MS"/>
                <a:cs typeface="Trebuchet MS"/>
              </a:rPr>
              <a:t>customización</a:t>
            </a:r>
            <a:endParaRPr sz="2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268" y="56642"/>
            <a:ext cx="8613775" cy="5487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5" dirty="0">
                <a:solidFill>
                  <a:srgbClr val="FFFFFF"/>
                </a:solidFill>
                <a:latin typeface="Trebuchet MS"/>
                <a:cs typeface="Trebuchet MS"/>
              </a:rPr>
              <a:t>Integración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 </a:t>
            </a:r>
            <a:r>
              <a:rPr sz="2000" b="1" spc="75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2000" b="1" spc="-4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ERP (Cont.)</a:t>
            </a:r>
            <a:endParaRPr sz="2000">
              <a:latin typeface="Trebuchet MS"/>
              <a:cs typeface="Trebuchet MS"/>
            </a:endParaRPr>
          </a:p>
          <a:p>
            <a:pPr marL="59055" marR="377825">
              <a:lnSpc>
                <a:spcPct val="100000"/>
              </a:lnSpc>
              <a:spcBef>
                <a:spcPts val="15"/>
              </a:spcBef>
            </a:pPr>
            <a:r>
              <a:rPr sz="1800" spc="-240" dirty="0">
                <a:solidFill>
                  <a:srgbClr val="FFFFFF"/>
                </a:solidFill>
                <a:latin typeface="Arial"/>
                <a:cs typeface="Arial"/>
              </a:rPr>
              <a:t>ERP: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puntos 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 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2600" b="1" spc="-165" dirty="0">
                <a:latin typeface="Trebuchet MS"/>
                <a:cs typeface="Trebuchet MS"/>
              </a:rPr>
              <a:t>ERP </a:t>
            </a:r>
            <a:r>
              <a:rPr sz="2600" b="1" spc="-155" dirty="0">
                <a:latin typeface="Arial"/>
                <a:cs typeface="Arial"/>
              </a:rPr>
              <a:t>– </a:t>
            </a:r>
            <a:r>
              <a:rPr sz="2600" b="1" spc="-160" dirty="0">
                <a:latin typeface="Trebuchet MS"/>
                <a:cs typeface="Trebuchet MS"/>
              </a:rPr>
              <a:t>Criterios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215" dirty="0">
                <a:latin typeface="Trebuchet MS"/>
                <a:cs typeface="Trebuchet MS"/>
              </a:rPr>
              <a:t> </a:t>
            </a:r>
            <a:r>
              <a:rPr sz="2600" b="1" spc="-165" dirty="0">
                <a:latin typeface="Trebuchet MS"/>
                <a:cs typeface="Trebuchet MS"/>
              </a:rPr>
              <a:t>Selección</a:t>
            </a:r>
            <a:endParaRPr sz="2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5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900" algn="l"/>
                <a:tab pos="470534" algn="l"/>
              </a:tabLst>
            </a:pPr>
            <a:r>
              <a:rPr sz="2400" spc="-105" dirty="0">
                <a:latin typeface="Arial"/>
                <a:cs typeface="Arial"/>
              </a:rPr>
              <a:t>Soporte </a:t>
            </a:r>
            <a:r>
              <a:rPr sz="2400" spc="-85" dirty="0">
                <a:latin typeface="Arial"/>
                <a:cs typeface="Arial"/>
              </a:rPr>
              <a:t>técnico, </a:t>
            </a:r>
            <a:r>
              <a:rPr sz="2400" spc="-100" dirty="0">
                <a:latin typeface="Arial"/>
                <a:cs typeface="Arial"/>
              </a:rPr>
              <a:t>actualización </a:t>
            </a:r>
            <a:r>
              <a:rPr sz="2400" spc="-114" dirty="0">
                <a:latin typeface="Arial"/>
                <a:cs typeface="Arial"/>
              </a:rPr>
              <a:t>y</a:t>
            </a:r>
            <a:r>
              <a:rPr sz="2400" spc="-260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mantenimiento;</a:t>
            </a:r>
            <a:endParaRPr sz="2400">
              <a:latin typeface="Arial"/>
              <a:cs typeface="Arial"/>
            </a:endParaRPr>
          </a:p>
          <a:p>
            <a:pPr marL="469900" marR="5080" indent="-457200">
              <a:lnSpc>
                <a:spcPct val="100000"/>
              </a:lnSpc>
              <a:buAutoNum type="arabicPeriod"/>
              <a:tabLst>
                <a:tab pos="469900" algn="l"/>
                <a:tab pos="470534" algn="l"/>
              </a:tabLst>
            </a:pPr>
            <a:r>
              <a:rPr sz="2400" spc="-160" dirty="0">
                <a:latin typeface="Arial"/>
                <a:cs typeface="Arial"/>
              </a:rPr>
              <a:t>Capacidad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35" dirty="0">
                <a:latin typeface="Arial"/>
                <a:cs typeface="Arial"/>
              </a:rPr>
              <a:t>incluir </a:t>
            </a:r>
            <a:r>
              <a:rPr sz="2400" spc="-60" dirty="0">
                <a:latin typeface="Arial"/>
                <a:cs typeface="Arial"/>
              </a:rPr>
              <a:t>otros </a:t>
            </a:r>
            <a:r>
              <a:rPr sz="2400" spc="-130" dirty="0">
                <a:latin typeface="Arial"/>
                <a:cs typeface="Arial"/>
              </a:rPr>
              <a:t>negocios </a:t>
            </a:r>
            <a:r>
              <a:rPr sz="2400" spc="-140" dirty="0">
                <a:latin typeface="Arial"/>
                <a:cs typeface="Arial"/>
              </a:rPr>
              <a:t>e </a:t>
            </a:r>
            <a:r>
              <a:rPr sz="2400" spc="-75" dirty="0">
                <a:latin typeface="Arial"/>
                <a:cs typeface="Arial"/>
              </a:rPr>
              <a:t>industrias </a:t>
            </a:r>
            <a:r>
              <a:rPr sz="2400" spc="-120" dirty="0">
                <a:latin typeface="Arial"/>
                <a:cs typeface="Arial"/>
              </a:rPr>
              <a:t>para </a:t>
            </a:r>
            <a:r>
              <a:rPr sz="2400" spc="-80" dirty="0">
                <a:latin typeface="Arial"/>
                <a:cs typeface="Arial"/>
              </a:rPr>
              <a:t>un </a:t>
            </a:r>
            <a:r>
              <a:rPr sz="2400" spc="-85" dirty="0">
                <a:latin typeface="Arial"/>
                <a:cs typeface="Arial"/>
              </a:rPr>
              <a:t>grupo  </a:t>
            </a:r>
            <a:r>
              <a:rPr sz="2400" spc="-60" dirty="0">
                <a:latin typeface="Arial"/>
                <a:cs typeface="Arial"/>
              </a:rPr>
              <a:t>corporativo;</a:t>
            </a:r>
            <a:endParaRPr sz="24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900" algn="l"/>
                <a:tab pos="470534" algn="l"/>
              </a:tabLst>
            </a:pPr>
            <a:r>
              <a:rPr sz="2400" spc="-90" dirty="0">
                <a:latin typeface="Arial"/>
                <a:cs typeface="Arial"/>
              </a:rPr>
              <a:t>Flexibilidad </a:t>
            </a:r>
            <a:r>
              <a:rPr sz="2400" spc="-114" dirty="0">
                <a:latin typeface="Arial"/>
                <a:cs typeface="Arial"/>
              </a:rPr>
              <a:t>y</a:t>
            </a:r>
            <a:r>
              <a:rPr sz="2400" spc="-170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escalabilidad;</a:t>
            </a:r>
            <a:endParaRPr sz="24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900" algn="l"/>
                <a:tab pos="470534" algn="l"/>
              </a:tabLst>
            </a:pPr>
            <a:r>
              <a:rPr sz="2400" spc="-160" dirty="0">
                <a:latin typeface="Arial"/>
                <a:cs typeface="Arial"/>
              </a:rPr>
              <a:t>Proceso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70" dirty="0">
                <a:latin typeface="Arial"/>
                <a:cs typeface="Arial"/>
              </a:rPr>
              <a:t>implementación, </a:t>
            </a:r>
            <a:r>
              <a:rPr sz="2400" spc="-105" dirty="0">
                <a:latin typeface="Arial"/>
                <a:cs typeface="Arial"/>
              </a:rPr>
              <a:t>capacitación </a:t>
            </a:r>
            <a:r>
              <a:rPr sz="2400" spc="-114" dirty="0">
                <a:latin typeface="Arial"/>
                <a:cs typeface="Arial"/>
              </a:rPr>
              <a:t>y</a:t>
            </a:r>
            <a:r>
              <a:rPr sz="2400" spc="-245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uso;</a:t>
            </a:r>
            <a:endParaRPr sz="24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900" algn="l"/>
                <a:tab pos="470534" algn="l"/>
              </a:tabLst>
            </a:pPr>
            <a:r>
              <a:rPr sz="2400" spc="-160" dirty="0">
                <a:latin typeface="Arial"/>
                <a:cs typeface="Arial"/>
              </a:rPr>
              <a:t>Costo </a:t>
            </a:r>
            <a:r>
              <a:rPr sz="2400" spc="-5" dirty="0">
                <a:latin typeface="Arial"/>
                <a:cs typeface="Arial"/>
              </a:rPr>
              <a:t>total </a:t>
            </a:r>
            <a:r>
              <a:rPr sz="2400" spc="-90" dirty="0">
                <a:latin typeface="Arial"/>
                <a:cs typeface="Arial"/>
              </a:rPr>
              <a:t>proyectado </a:t>
            </a:r>
            <a:r>
              <a:rPr sz="2400" spc="-110" dirty="0">
                <a:latin typeface="Arial"/>
                <a:cs typeface="Arial"/>
              </a:rPr>
              <a:t>en </a:t>
            </a:r>
            <a:r>
              <a:rPr sz="2400" spc="-65" dirty="0">
                <a:latin typeface="Arial"/>
                <a:cs typeface="Arial"/>
              </a:rPr>
              <a:t>el </a:t>
            </a:r>
            <a:r>
              <a:rPr sz="2400" spc="-40" dirty="0">
                <a:latin typeface="Arial"/>
                <a:cs typeface="Arial"/>
              </a:rPr>
              <a:t>tiempo</a:t>
            </a:r>
            <a:r>
              <a:rPr sz="2400" spc="-380" dirty="0">
                <a:latin typeface="Arial"/>
                <a:cs typeface="Arial"/>
              </a:rPr>
              <a:t> </a:t>
            </a:r>
            <a:r>
              <a:rPr sz="2400" spc="-215" dirty="0">
                <a:latin typeface="Arial"/>
                <a:cs typeface="Arial"/>
              </a:rPr>
              <a:t>(TCO);</a:t>
            </a:r>
            <a:endParaRPr sz="2400">
              <a:latin typeface="Arial"/>
              <a:cs typeface="Arial"/>
            </a:endParaRPr>
          </a:p>
          <a:p>
            <a:pPr marL="469900" marR="5080" indent="-457200" algn="just">
              <a:lnSpc>
                <a:spcPct val="100000"/>
              </a:lnSpc>
              <a:buAutoNum type="arabicPeriod"/>
              <a:tabLst>
                <a:tab pos="470534" algn="l"/>
              </a:tabLst>
            </a:pPr>
            <a:r>
              <a:rPr sz="2400" spc="-75" dirty="0">
                <a:latin typeface="Arial"/>
                <a:cs typeface="Arial"/>
              </a:rPr>
              <a:t>Definición </a:t>
            </a:r>
            <a:r>
              <a:rPr sz="2400" spc="-114" dirty="0">
                <a:latin typeface="Arial"/>
                <a:cs typeface="Arial"/>
              </a:rPr>
              <a:t>de </a:t>
            </a:r>
            <a:r>
              <a:rPr sz="2400" spc="-95" dirty="0">
                <a:latin typeface="Arial"/>
                <a:cs typeface="Arial"/>
              </a:rPr>
              <a:t>resultados </a:t>
            </a:r>
            <a:r>
              <a:rPr sz="2400" spc="-125" dirty="0">
                <a:latin typeface="Arial"/>
                <a:cs typeface="Arial"/>
              </a:rPr>
              <a:t>esperados: </a:t>
            </a:r>
            <a:r>
              <a:rPr sz="2400" spc="-70" dirty="0">
                <a:latin typeface="Arial"/>
                <a:cs typeface="Arial"/>
              </a:rPr>
              <a:t>cualitativos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65" dirty="0">
                <a:latin typeface="Arial"/>
                <a:cs typeface="Arial"/>
              </a:rPr>
              <a:t>cuantitativos, </a:t>
            </a:r>
            <a:r>
              <a:rPr sz="2400" spc="-190" dirty="0">
                <a:latin typeface="Arial"/>
                <a:cs typeface="Arial"/>
              </a:rPr>
              <a:t>a  </a:t>
            </a:r>
            <a:r>
              <a:rPr sz="2400" spc="-110" dirty="0">
                <a:latin typeface="Arial"/>
                <a:cs typeface="Arial"/>
              </a:rPr>
              <a:t>través de </a:t>
            </a:r>
            <a:r>
              <a:rPr sz="2400" spc="-85" dirty="0">
                <a:latin typeface="Arial"/>
                <a:cs typeface="Arial"/>
              </a:rPr>
              <a:t>la metodología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14" dirty="0">
                <a:latin typeface="Arial"/>
                <a:cs typeface="Arial"/>
              </a:rPr>
              <a:t>análisis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80" dirty="0">
                <a:latin typeface="Arial"/>
                <a:cs typeface="Arial"/>
              </a:rPr>
              <a:t>un </a:t>
            </a:r>
            <a:r>
              <a:rPr sz="2400" spc="-75" dirty="0">
                <a:latin typeface="Arial"/>
                <a:cs typeface="Arial"/>
              </a:rPr>
              <a:t>proyecto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90" dirty="0">
                <a:latin typeface="Arial"/>
                <a:cs typeface="Arial"/>
              </a:rPr>
              <a:t>inversión </a:t>
            </a:r>
            <a:r>
              <a:rPr sz="2400" spc="484" dirty="0">
                <a:latin typeface="Arial"/>
                <a:cs typeface="Arial"/>
              </a:rPr>
              <a:t> </a:t>
            </a:r>
            <a:r>
              <a:rPr sz="2400" spc="-150" dirty="0">
                <a:latin typeface="Arial"/>
                <a:cs typeface="Arial"/>
              </a:rPr>
              <a:t>(VAN/ROI);</a:t>
            </a:r>
            <a:endParaRPr sz="24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69900" algn="l"/>
                <a:tab pos="470534" algn="l"/>
              </a:tabLst>
            </a:pPr>
            <a:r>
              <a:rPr sz="2400" spc="-150" dirty="0">
                <a:latin typeface="Arial"/>
                <a:cs typeface="Arial"/>
              </a:rPr>
              <a:t>Referencias </a:t>
            </a:r>
            <a:r>
              <a:rPr sz="2400" spc="-110" dirty="0">
                <a:latin typeface="Arial"/>
                <a:cs typeface="Arial"/>
              </a:rPr>
              <a:t>de usuarios. </a:t>
            </a:r>
            <a:r>
              <a:rPr sz="2400" spc="-254" dirty="0">
                <a:latin typeface="Arial"/>
                <a:cs typeface="Arial"/>
              </a:rPr>
              <a:t>Casos </a:t>
            </a:r>
            <a:r>
              <a:rPr sz="2400" spc="-110" dirty="0">
                <a:latin typeface="Arial"/>
                <a:cs typeface="Arial"/>
              </a:rPr>
              <a:t>de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éxito.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21</a:t>
            </a:fld>
            <a:endParaRPr spc="-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05" dirty="0"/>
              <a:t>Integración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75" dirty="0"/>
              <a:t>/</a:t>
            </a:r>
            <a:r>
              <a:rPr spc="-395" dirty="0"/>
              <a:t> </a:t>
            </a:r>
            <a:r>
              <a:rPr spc="-125" dirty="0"/>
              <a:t>ERP 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9268" y="362965"/>
            <a:ext cx="8241030" cy="1156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 marR="5080">
              <a:lnSpc>
                <a:spcPct val="100000"/>
              </a:lnSpc>
              <a:spcBef>
                <a:spcPts val="100"/>
              </a:spcBef>
            </a:pPr>
            <a:r>
              <a:rPr sz="1800" spc="-240" dirty="0">
                <a:solidFill>
                  <a:srgbClr val="FFFFFF"/>
                </a:solidFill>
                <a:latin typeface="Arial"/>
                <a:cs typeface="Arial"/>
              </a:rPr>
              <a:t>ERP: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puntos 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 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2600" b="1" spc="-165" dirty="0">
                <a:latin typeface="Trebuchet MS"/>
                <a:cs typeface="Trebuchet MS"/>
              </a:rPr>
              <a:t>ERP </a:t>
            </a:r>
            <a:r>
              <a:rPr sz="2600" b="1" spc="-155" dirty="0">
                <a:latin typeface="Arial"/>
                <a:cs typeface="Arial"/>
              </a:rPr>
              <a:t>– </a:t>
            </a:r>
            <a:r>
              <a:rPr sz="2600" b="1" spc="-150" dirty="0">
                <a:latin typeface="Trebuchet MS"/>
                <a:cs typeface="Trebuchet MS"/>
              </a:rPr>
              <a:t>Consideraciones </a:t>
            </a:r>
            <a:r>
              <a:rPr sz="2600" b="1" spc="-105" dirty="0">
                <a:latin typeface="Trebuchet MS"/>
                <a:cs typeface="Trebuchet MS"/>
              </a:rPr>
              <a:t>a </a:t>
            </a:r>
            <a:r>
              <a:rPr sz="2600" b="1" spc="-180" dirty="0">
                <a:latin typeface="Trebuchet MS"/>
                <a:cs typeface="Trebuchet MS"/>
              </a:rPr>
              <a:t>tener </a:t>
            </a:r>
            <a:r>
              <a:rPr sz="2600" b="1" spc="-165" dirty="0">
                <a:latin typeface="Trebuchet MS"/>
                <a:cs typeface="Trebuchet MS"/>
              </a:rPr>
              <a:t>en</a:t>
            </a:r>
            <a:r>
              <a:rPr sz="2600" b="1" spc="-295" dirty="0">
                <a:latin typeface="Trebuchet MS"/>
                <a:cs typeface="Trebuchet MS"/>
              </a:rPr>
              <a:t> </a:t>
            </a:r>
            <a:r>
              <a:rPr sz="2600" b="1" spc="-170" dirty="0">
                <a:latin typeface="Trebuchet MS"/>
                <a:cs typeface="Trebuchet MS"/>
              </a:rPr>
              <a:t>cuenta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3370" y="1733075"/>
            <a:ext cx="7297559" cy="45199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22</a:t>
            </a:fld>
            <a:endParaRPr spc="-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05" dirty="0"/>
              <a:t>Integración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75" dirty="0"/>
              <a:t>/</a:t>
            </a:r>
            <a:r>
              <a:rPr spc="-395" dirty="0"/>
              <a:t> </a:t>
            </a:r>
            <a:r>
              <a:rPr spc="-125" dirty="0"/>
              <a:t>ERP 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9268" y="362965"/>
            <a:ext cx="8241030" cy="1156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 marR="5080">
              <a:lnSpc>
                <a:spcPct val="100000"/>
              </a:lnSpc>
              <a:spcBef>
                <a:spcPts val="100"/>
              </a:spcBef>
            </a:pPr>
            <a:r>
              <a:rPr sz="1800" spc="-240" dirty="0">
                <a:solidFill>
                  <a:srgbClr val="FFFFFF"/>
                </a:solidFill>
                <a:latin typeface="Arial"/>
                <a:cs typeface="Arial"/>
              </a:rPr>
              <a:t>ERP: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puntos 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 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2600" b="1" spc="-165" dirty="0">
                <a:latin typeface="Trebuchet MS"/>
                <a:cs typeface="Trebuchet MS"/>
              </a:rPr>
              <a:t>ERP </a:t>
            </a:r>
            <a:r>
              <a:rPr sz="2600" b="1" spc="-155" dirty="0">
                <a:latin typeface="Arial"/>
                <a:cs typeface="Arial"/>
              </a:rPr>
              <a:t>– </a:t>
            </a:r>
            <a:r>
              <a:rPr sz="2600" b="1" spc="-150" dirty="0">
                <a:latin typeface="Trebuchet MS"/>
                <a:cs typeface="Trebuchet MS"/>
              </a:rPr>
              <a:t>Consideraciones </a:t>
            </a:r>
            <a:r>
              <a:rPr sz="2600" b="1" spc="-105" dirty="0">
                <a:latin typeface="Trebuchet MS"/>
                <a:cs typeface="Trebuchet MS"/>
              </a:rPr>
              <a:t>a </a:t>
            </a:r>
            <a:r>
              <a:rPr sz="2600" b="1" spc="-180" dirty="0">
                <a:latin typeface="Trebuchet MS"/>
                <a:cs typeface="Trebuchet MS"/>
              </a:rPr>
              <a:t>tener </a:t>
            </a:r>
            <a:r>
              <a:rPr sz="2600" b="1" spc="-165" dirty="0">
                <a:latin typeface="Trebuchet MS"/>
                <a:cs typeface="Trebuchet MS"/>
              </a:rPr>
              <a:t>en </a:t>
            </a:r>
            <a:r>
              <a:rPr sz="2600" b="1" spc="-170" dirty="0">
                <a:latin typeface="Trebuchet MS"/>
                <a:cs typeface="Trebuchet MS"/>
              </a:rPr>
              <a:t>cuenta</a:t>
            </a:r>
            <a:r>
              <a:rPr sz="2600" b="1" spc="-300" dirty="0">
                <a:latin typeface="Trebuchet MS"/>
                <a:cs typeface="Trebuchet MS"/>
              </a:rPr>
              <a:t> </a:t>
            </a:r>
            <a:r>
              <a:rPr sz="2600" b="1" spc="-165" dirty="0">
                <a:latin typeface="Trebuchet MS"/>
                <a:cs typeface="Trebuchet MS"/>
              </a:rPr>
              <a:t>(Cont.)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2262" y="1750134"/>
            <a:ext cx="7446410" cy="30526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23</a:t>
            </a:fld>
            <a:endParaRPr spc="-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4013" y="1565498"/>
            <a:ext cx="4050171" cy="47903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49090" y="1546097"/>
            <a:ext cx="4842510" cy="2971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47005" y="4916932"/>
            <a:ext cx="3733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48665">
              <a:lnSpc>
                <a:spcPct val="100000"/>
              </a:lnSpc>
              <a:spcBef>
                <a:spcPts val="100"/>
              </a:spcBef>
            </a:pPr>
            <a:r>
              <a:rPr sz="1200" u="sng" spc="-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Fuente</a:t>
            </a:r>
            <a:r>
              <a:rPr sz="1200" spc="-55" dirty="0">
                <a:latin typeface="Arial"/>
                <a:cs typeface="Arial"/>
              </a:rPr>
              <a:t>: </a:t>
            </a:r>
            <a:r>
              <a:rPr sz="1200" spc="-75" dirty="0">
                <a:latin typeface="Arial"/>
                <a:cs typeface="Arial"/>
              </a:rPr>
              <a:t>Trend </a:t>
            </a:r>
            <a:r>
              <a:rPr sz="1200" spc="-45" dirty="0">
                <a:latin typeface="Arial"/>
                <a:cs typeface="Arial"/>
              </a:rPr>
              <a:t>Spotting: </a:t>
            </a:r>
            <a:r>
              <a:rPr sz="1200" spc="-204" dirty="0">
                <a:latin typeface="Arial"/>
                <a:cs typeface="Arial"/>
              </a:rPr>
              <a:t>ERP </a:t>
            </a:r>
            <a:r>
              <a:rPr sz="1200" spc="-15" dirty="0">
                <a:latin typeface="Arial"/>
                <a:cs typeface="Arial"/>
              </a:rPr>
              <a:t>in </a:t>
            </a:r>
            <a:r>
              <a:rPr sz="1200" spc="-65" dirty="0">
                <a:latin typeface="Arial"/>
                <a:cs typeface="Arial"/>
              </a:rPr>
              <a:t>2016  </a:t>
            </a:r>
            <a:r>
              <a:rPr sz="1200" u="sng" spc="-15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Arial"/>
                <a:cs typeface="Arial"/>
                <a:hlinkClick r:id="rId4"/>
              </a:rPr>
              <a:t>http://ww2.cfo.com/erp/2016/02/trend-spotting-erp-2016/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24</a:t>
            </a:fld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05" dirty="0"/>
              <a:t>Integración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75" dirty="0"/>
              <a:t>/</a:t>
            </a:r>
            <a:r>
              <a:rPr spc="-395" dirty="0"/>
              <a:t> </a:t>
            </a:r>
            <a:r>
              <a:rPr spc="-125" dirty="0"/>
              <a:t>ERP (Cont.)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9268" y="362965"/>
            <a:ext cx="8241030" cy="1073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 marR="5080">
              <a:lnSpc>
                <a:spcPct val="100000"/>
              </a:lnSpc>
              <a:spcBef>
                <a:spcPts val="100"/>
              </a:spcBef>
            </a:pPr>
            <a:r>
              <a:rPr sz="1800" spc="-240" dirty="0">
                <a:solidFill>
                  <a:srgbClr val="FFFFFF"/>
                </a:solidFill>
                <a:latin typeface="Arial"/>
                <a:cs typeface="Arial"/>
              </a:rPr>
              <a:t>ERP: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puntos 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 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600" b="1" spc="-165" dirty="0">
                <a:latin typeface="Trebuchet MS"/>
                <a:cs typeface="Trebuchet MS"/>
              </a:rPr>
              <a:t>ERP </a:t>
            </a:r>
            <a:r>
              <a:rPr sz="2600" b="1" spc="-155" dirty="0">
                <a:latin typeface="Arial"/>
                <a:cs typeface="Arial"/>
              </a:rPr>
              <a:t>– </a:t>
            </a:r>
            <a:r>
              <a:rPr sz="2600" b="1" spc="-125" dirty="0">
                <a:latin typeface="Trebuchet MS"/>
                <a:cs typeface="Trebuchet MS"/>
              </a:rPr>
              <a:t>Costos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270" dirty="0">
                <a:latin typeface="Trebuchet MS"/>
                <a:cs typeface="Trebuchet MS"/>
              </a:rPr>
              <a:t> </a:t>
            </a:r>
            <a:r>
              <a:rPr sz="2600" b="1" spc="-140" dirty="0">
                <a:latin typeface="Trebuchet MS"/>
                <a:cs typeface="Trebuchet MS"/>
              </a:rPr>
              <a:t>Implementación</a:t>
            </a:r>
            <a:endParaRPr sz="2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05" dirty="0"/>
              <a:t>Integración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75" dirty="0"/>
              <a:t>/</a:t>
            </a:r>
            <a:r>
              <a:rPr spc="-395" dirty="0"/>
              <a:t> </a:t>
            </a:r>
            <a:r>
              <a:rPr spc="-125" dirty="0"/>
              <a:t>ERP 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9268" y="362965"/>
            <a:ext cx="8241030" cy="1156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 marR="5080">
              <a:lnSpc>
                <a:spcPct val="100000"/>
              </a:lnSpc>
              <a:spcBef>
                <a:spcPts val="100"/>
              </a:spcBef>
            </a:pPr>
            <a:r>
              <a:rPr sz="1800" spc="-240" dirty="0">
                <a:solidFill>
                  <a:srgbClr val="FFFFFF"/>
                </a:solidFill>
                <a:latin typeface="Arial"/>
                <a:cs typeface="Arial"/>
              </a:rPr>
              <a:t>ERP: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puntos 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 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2600" b="1" spc="-165" dirty="0">
                <a:latin typeface="Trebuchet MS"/>
                <a:cs typeface="Trebuchet MS"/>
              </a:rPr>
              <a:t>ERP </a:t>
            </a:r>
            <a:r>
              <a:rPr sz="2600" b="1" spc="-155" dirty="0">
                <a:latin typeface="Arial"/>
                <a:cs typeface="Arial"/>
              </a:rPr>
              <a:t>– </a:t>
            </a:r>
            <a:r>
              <a:rPr sz="2600" b="1" spc="-125" dirty="0">
                <a:latin typeface="Trebuchet MS"/>
                <a:cs typeface="Trebuchet MS"/>
              </a:rPr>
              <a:t>Costos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50" dirty="0">
                <a:latin typeface="Trebuchet MS"/>
                <a:cs typeface="Trebuchet MS"/>
              </a:rPr>
              <a:t>implementación</a:t>
            </a:r>
            <a:r>
              <a:rPr sz="2600" b="1" spc="-265" dirty="0">
                <a:latin typeface="Trebuchet MS"/>
                <a:cs typeface="Trebuchet MS"/>
              </a:rPr>
              <a:t> </a:t>
            </a:r>
            <a:r>
              <a:rPr sz="2600" b="1" spc="-120" dirty="0">
                <a:latin typeface="Trebuchet MS"/>
                <a:cs typeface="Trebuchet MS"/>
              </a:rPr>
              <a:t>estimados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97810" y="2338704"/>
            <a:ext cx="1148080" cy="1677035"/>
          </a:xfrm>
          <a:custGeom>
            <a:avLst/>
            <a:gdLst/>
            <a:ahLst/>
            <a:cxnLst/>
            <a:rect l="l" t="t" r="r" b="b"/>
            <a:pathLst>
              <a:path w="1148079" h="1677035">
                <a:moveTo>
                  <a:pt x="0" y="0"/>
                </a:moveTo>
                <a:lnTo>
                  <a:pt x="0" y="1676781"/>
                </a:lnTo>
                <a:lnTo>
                  <a:pt x="1147826" y="454533"/>
                </a:lnTo>
                <a:lnTo>
                  <a:pt x="1110045" y="420119"/>
                </a:lnTo>
                <a:lnTo>
                  <a:pt x="1071342" y="386961"/>
                </a:lnTo>
                <a:lnTo>
                  <a:pt x="1031746" y="355070"/>
                </a:lnTo>
                <a:lnTo>
                  <a:pt x="991291" y="324460"/>
                </a:lnTo>
                <a:lnTo>
                  <a:pt x="950008" y="295143"/>
                </a:lnTo>
                <a:lnTo>
                  <a:pt x="907930" y="267133"/>
                </a:lnTo>
                <a:lnTo>
                  <a:pt x="865089" y="240441"/>
                </a:lnTo>
                <a:lnTo>
                  <a:pt x="821516" y="215080"/>
                </a:lnTo>
                <a:lnTo>
                  <a:pt x="777245" y="191064"/>
                </a:lnTo>
                <a:lnTo>
                  <a:pt x="732306" y="168405"/>
                </a:lnTo>
                <a:lnTo>
                  <a:pt x="686732" y="147115"/>
                </a:lnTo>
                <a:lnTo>
                  <a:pt x="640556" y="127207"/>
                </a:lnTo>
                <a:lnTo>
                  <a:pt x="593808" y="108695"/>
                </a:lnTo>
                <a:lnTo>
                  <a:pt x="546522" y="91591"/>
                </a:lnTo>
                <a:lnTo>
                  <a:pt x="498730" y="75907"/>
                </a:lnTo>
                <a:lnTo>
                  <a:pt x="450462" y="61656"/>
                </a:lnTo>
                <a:lnTo>
                  <a:pt x="401753" y="48852"/>
                </a:lnTo>
                <a:lnTo>
                  <a:pt x="352633" y="37506"/>
                </a:lnTo>
                <a:lnTo>
                  <a:pt x="303135" y="27632"/>
                </a:lnTo>
                <a:lnTo>
                  <a:pt x="253290" y="19242"/>
                </a:lnTo>
                <a:lnTo>
                  <a:pt x="203132" y="12348"/>
                </a:lnTo>
                <a:lnTo>
                  <a:pt x="152692" y="6965"/>
                </a:lnTo>
                <a:lnTo>
                  <a:pt x="102001" y="3104"/>
                </a:lnTo>
                <a:lnTo>
                  <a:pt x="51093" y="778"/>
                </a:lnTo>
                <a:lnTo>
                  <a:pt x="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97810" y="2793238"/>
            <a:ext cx="1677035" cy="1432560"/>
          </a:xfrm>
          <a:custGeom>
            <a:avLst/>
            <a:gdLst/>
            <a:ahLst/>
            <a:cxnLst/>
            <a:rect l="l" t="t" r="r" b="b"/>
            <a:pathLst>
              <a:path w="1677035" h="1432560">
                <a:moveTo>
                  <a:pt x="1147826" y="0"/>
                </a:moveTo>
                <a:lnTo>
                  <a:pt x="0" y="1222248"/>
                </a:lnTo>
                <a:lnTo>
                  <a:pt x="1663446" y="1432433"/>
                </a:lnTo>
                <a:lnTo>
                  <a:pt x="1668999" y="1382515"/>
                </a:lnTo>
                <a:lnTo>
                  <a:pt x="1673045" y="1332627"/>
                </a:lnTo>
                <a:lnTo>
                  <a:pt x="1675594" y="1282800"/>
                </a:lnTo>
                <a:lnTo>
                  <a:pt x="1676659" y="1233063"/>
                </a:lnTo>
                <a:lnTo>
                  <a:pt x="1676249" y="1183448"/>
                </a:lnTo>
                <a:lnTo>
                  <a:pt x="1674376" y="1133983"/>
                </a:lnTo>
                <a:lnTo>
                  <a:pt x="1671050" y="1084700"/>
                </a:lnTo>
                <a:lnTo>
                  <a:pt x="1666283" y="1035629"/>
                </a:lnTo>
                <a:lnTo>
                  <a:pt x="1660085" y="986799"/>
                </a:lnTo>
                <a:lnTo>
                  <a:pt x="1652468" y="938242"/>
                </a:lnTo>
                <a:lnTo>
                  <a:pt x="1643442" y="889987"/>
                </a:lnTo>
                <a:lnTo>
                  <a:pt x="1633018" y="842064"/>
                </a:lnTo>
                <a:lnTo>
                  <a:pt x="1621207" y="794504"/>
                </a:lnTo>
                <a:lnTo>
                  <a:pt x="1608020" y="747337"/>
                </a:lnTo>
                <a:lnTo>
                  <a:pt x="1593468" y="700594"/>
                </a:lnTo>
                <a:lnTo>
                  <a:pt x="1577562" y="654304"/>
                </a:lnTo>
                <a:lnTo>
                  <a:pt x="1560313" y="608497"/>
                </a:lnTo>
                <a:lnTo>
                  <a:pt x="1541731" y="563204"/>
                </a:lnTo>
                <a:lnTo>
                  <a:pt x="1521828" y="518456"/>
                </a:lnTo>
                <a:lnTo>
                  <a:pt x="1500615" y="474282"/>
                </a:lnTo>
                <a:lnTo>
                  <a:pt x="1478103" y="430713"/>
                </a:lnTo>
                <a:lnTo>
                  <a:pt x="1454301" y="387778"/>
                </a:lnTo>
                <a:lnTo>
                  <a:pt x="1429223" y="345509"/>
                </a:lnTo>
                <a:lnTo>
                  <a:pt x="1402877" y="303934"/>
                </a:lnTo>
                <a:lnTo>
                  <a:pt x="1375276" y="263086"/>
                </a:lnTo>
                <a:lnTo>
                  <a:pt x="1346430" y="222993"/>
                </a:lnTo>
                <a:lnTo>
                  <a:pt x="1316350" y="183686"/>
                </a:lnTo>
                <a:lnTo>
                  <a:pt x="1285048" y="145195"/>
                </a:lnTo>
                <a:lnTo>
                  <a:pt x="1252533" y="107551"/>
                </a:lnTo>
                <a:lnTo>
                  <a:pt x="1218817" y="70784"/>
                </a:lnTo>
                <a:lnTo>
                  <a:pt x="1183911" y="34923"/>
                </a:lnTo>
                <a:lnTo>
                  <a:pt x="1147826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97810" y="4015485"/>
            <a:ext cx="1663700" cy="1469390"/>
          </a:xfrm>
          <a:custGeom>
            <a:avLst/>
            <a:gdLst/>
            <a:ahLst/>
            <a:cxnLst/>
            <a:rect l="l" t="t" r="r" b="b"/>
            <a:pathLst>
              <a:path w="1663700" h="1469389">
                <a:moveTo>
                  <a:pt x="0" y="0"/>
                </a:moveTo>
                <a:lnTo>
                  <a:pt x="807719" y="1469389"/>
                </a:lnTo>
                <a:lnTo>
                  <a:pt x="851371" y="1444539"/>
                </a:lnTo>
                <a:lnTo>
                  <a:pt x="894112" y="1418487"/>
                </a:lnTo>
                <a:lnTo>
                  <a:pt x="935925" y="1391260"/>
                </a:lnTo>
                <a:lnTo>
                  <a:pt x="976792" y="1362886"/>
                </a:lnTo>
                <a:lnTo>
                  <a:pt x="1016694" y="1333390"/>
                </a:lnTo>
                <a:lnTo>
                  <a:pt x="1055613" y="1302799"/>
                </a:lnTo>
                <a:lnTo>
                  <a:pt x="1093532" y="1271139"/>
                </a:lnTo>
                <a:lnTo>
                  <a:pt x="1130432" y="1238438"/>
                </a:lnTo>
                <a:lnTo>
                  <a:pt x="1166296" y="1204722"/>
                </a:lnTo>
                <a:lnTo>
                  <a:pt x="1201104" y="1170017"/>
                </a:lnTo>
                <a:lnTo>
                  <a:pt x="1234840" y="1134350"/>
                </a:lnTo>
                <a:lnTo>
                  <a:pt x="1267485" y="1097747"/>
                </a:lnTo>
                <a:lnTo>
                  <a:pt x="1299020" y="1060236"/>
                </a:lnTo>
                <a:lnTo>
                  <a:pt x="1329429" y="1021842"/>
                </a:lnTo>
                <a:lnTo>
                  <a:pt x="1358692" y="982593"/>
                </a:lnTo>
                <a:lnTo>
                  <a:pt x="1386792" y="942514"/>
                </a:lnTo>
                <a:lnTo>
                  <a:pt x="1413711" y="901633"/>
                </a:lnTo>
                <a:lnTo>
                  <a:pt x="1439430" y="859976"/>
                </a:lnTo>
                <a:lnTo>
                  <a:pt x="1463932" y="817570"/>
                </a:lnTo>
                <a:lnTo>
                  <a:pt x="1487198" y="774440"/>
                </a:lnTo>
                <a:lnTo>
                  <a:pt x="1509211" y="730615"/>
                </a:lnTo>
                <a:lnTo>
                  <a:pt x="1529952" y="686120"/>
                </a:lnTo>
                <a:lnTo>
                  <a:pt x="1549403" y="640981"/>
                </a:lnTo>
                <a:lnTo>
                  <a:pt x="1567547" y="595227"/>
                </a:lnTo>
                <a:lnTo>
                  <a:pt x="1584364" y="548882"/>
                </a:lnTo>
                <a:lnTo>
                  <a:pt x="1599838" y="501974"/>
                </a:lnTo>
                <a:lnTo>
                  <a:pt x="1613950" y="454529"/>
                </a:lnTo>
                <a:lnTo>
                  <a:pt x="1626681" y="406574"/>
                </a:lnTo>
                <a:lnTo>
                  <a:pt x="1638015" y="358136"/>
                </a:lnTo>
                <a:lnTo>
                  <a:pt x="1647932" y="309240"/>
                </a:lnTo>
                <a:lnTo>
                  <a:pt x="1656415" y="259914"/>
                </a:lnTo>
                <a:lnTo>
                  <a:pt x="1663446" y="210184"/>
                </a:lnTo>
                <a:lnTo>
                  <a:pt x="0" y="0"/>
                </a:lnTo>
                <a:close/>
              </a:path>
            </a:pathLst>
          </a:custGeom>
          <a:solidFill>
            <a:srgbClr val="9BBA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83816" y="4015485"/>
            <a:ext cx="1522095" cy="1677035"/>
          </a:xfrm>
          <a:custGeom>
            <a:avLst/>
            <a:gdLst/>
            <a:ahLst/>
            <a:cxnLst/>
            <a:rect l="l" t="t" r="r" b="b"/>
            <a:pathLst>
              <a:path w="1522095" h="1677035">
                <a:moveTo>
                  <a:pt x="713994" y="0"/>
                </a:moveTo>
                <a:lnTo>
                  <a:pt x="0" y="1517142"/>
                </a:lnTo>
                <a:lnTo>
                  <a:pt x="45758" y="1537850"/>
                </a:lnTo>
                <a:lnTo>
                  <a:pt x="91955" y="1557116"/>
                </a:lnTo>
                <a:lnTo>
                  <a:pt x="138556" y="1574941"/>
                </a:lnTo>
                <a:lnTo>
                  <a:pt x="185531" y="1591325"/>
                </a:lnTo>
                <a:lnTo>
                  <a:pt x="232846" y="1606269"/>
                </a:lnTo>
                <a:lnTo>
                  <a:pt x="280471" y="1619776"/>
                </a:lnTo>
                <a:lnTo>
                  <a:pt x="328372" y="1631845"/>
                </a:lnTo>
                <a:lnTo>
                  <a:pt x="376517" y="1642477"/>
                </a:lnTo>
                <a:lnTo>
                  <a:pt x="424874" y="1651674"/>
                </a:lnTo>
                <a:lnTo>
                  <a:pt x="473412" y="1659437"/>
                </a:lnTo>
                <a:lnTo>
                  <a:pt x="522098" y="1665767"/>
                </a:lnTo>
                <a:lnTo>
                  <a:pt x="570899" y="1670664"/>
                </a:lnTo>
                <a:lnTo>
                  <a:pt x="619784" y="1674130"/>
                </a:lnTo>
                <a:lnTo>
                  <a:pt x="668720" y="1676166"/>
                </a:lnTo>
                <a:lnTo>
                  <a:pt x="717676" y="1676772"/>
                </a:lnTo>
                <a:lnTo>
                  <a:pt x="766619" y="1675950"/>
                </a:lnTo>
                <a:lnTo>
                  <a:pt x="815517" y="1673701"/>
                </a:lnTo>
                <a:lnTo>
                  <a:pt x="864338" y="1670026"/>
                </a:lnTo>
                <a:lnTo>
                  <a:pt x="913049" y="1664925"/>
                </a:lnTo>
                <a:lnTo>
                  <a:pt x="961619" y="1658401"/>
                </a:lnTo>
                <a:lnTo>
                  <a:pt x="1010015" y="1650453"/>
                </a:lnTo>
                <a:lnTo>
                  <a:pt x="1058206" y="1641083"/>
                </a:lnTo>
                <a:lnTo>
                  <a:pt x="1106158" y="1630292"/>
                </a:lnTo>
                <a:lnTo>
                  <a:pt x="1153840" y="1618081"/>
                </a:lnTo>
                <a:lnTo>
                  <a:pt x="1201220" y="1604451"/>
                </a:lnTo>
                <a:lnTo>
                  <a:pt x="1248266" y="1589402"/>
                </a:lnTo>
                <a:lnTo>
                  <a:pt x="1294944" y="1572937"/>
                </a:lnTo>
                <a:lnTo>
                  <a:pt x="1341224" y="1555055"/>
                </a:lnTo>
                <a:lnTo>
                  <a:pt x="1387074" y="1535759"/>
                </a:lnTo>
                <a:lnTo>
                  <a:pt x="1432460" y="1515048"/>
                </a:lnTo>
                <a:lnTo>
                  <a:pt x="1477350" y="1492925"/>
                </a:lnTo>
                <a:lnTo>
                  <a:pt x="1521714" y="1469389"/>
                </a:lnTo>
                <a:lnTo>
                  <a:pt x="713994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1017" y="2338704"/>
            <a:ext cx="1677035" cy="3194050"/>
          </a:xfrm>
          <a:custGeom>
            <a:avLst/>
            <a:gdLst/>
            <a:ahLst/>
            <a:cxnLst/>
            <a:rect l="l" t="t" r="r" b="b"/>
            <a:pathLst>
              <a:path w="1677035" h="3194050">
                <a:moveTo>
                  <a:pt x="1676793" y="0"/>
                </a:moveTo>
                <a:lnTo>
                  <a:pt x="1628217" y="690"/>
                </a:lnTo>
                <a:lnTo>
                  <a:pt x="1579983" y="2748"/>
                </a:lnTo>
                <a:lnTo>
                  <a:pt x="1532111" y="6155"/>
                </a:lnTo>
                <a:lnTo>
                  <a:pt x="1484618" y="10893"/>
                </a:lnTo>
                <a:lnTo>
                  <a:pt x="1437524" y="16943"/>
                </a:lnTo>
                <a:lnTo>
                  <a:pt x="1390846" y="24286"/>
                </a:lnTo>
                <a:lnTo>
                  <a:pt x="1344605" y="32904"/>
                </a:lnTo>
                <a:lnTo>
                  <a:pt x="1298817" y="42778"/>
                </a:lnTo>
                <a:lnTo>
                  <a:pt x="1253503" y="53889"/>
                </a:lnTo>
                <a:lnTo>
                  <a:pt x="1208681" y="66219"/>
                </a:lnTo>
                <a:lnTo>
                  <a:pt x="1164368" y="79749"/>
                </a:lnTo>
                <a:lnTo>
                  <a:pt x="1120585" y="94460"/>
                </a:lnTo>
                <a:lnTo>
                  <a:pt x="1077349" y="110334"/>
                </a:lnTo>
                <a:lnTo>
                  <a:pt x="1034679" y="127353"/>
                </a:lnTo>
                <a:lnTo>
                  <a:pt x="992594" y="145496"/>
                </a:lnTo>
                <a:lnTo>
                  <a:pt x="951113" y="164747"/>
                </a:lnTo>
                <a:lnTo>
                  <a:pt x="910254" y="185085"/>
                </a:lnTo>
                <a:lnTo>
                  <a:pt x="870035" y="206493"/>
                </a:lnTo>
                <a:lnTo>
                  <a:pt x="830476" y="228952"/>
                </a:lnTo>
                <a:lnTo>
                  <a:pt x="791595" y="252443"/>
                </a:lnTo>
                <a:lnTo>
                  <a:pt x="753410" y="276948"/>
                </a:lnTo>
                <a:lnTo>
                  <a:pt x="715941" y="302447"/>
                </a:lnTo>
                <a:lnTo>
                  <a:pt x="679206" y="328923"/>
                </a:lnTo>
                <a:lnTo>
                  <a:pt x="643223" y="356356"/>
                </a:lnTo>
                <a:lnTo>
                  <a:pt x="608012" y="384729"/>
                </a:lnTo>
                <a:lnTo>
                  <a:pt x="573591" y="414021"/>
                </a:lnTo>
                <a:lnTo>
                  <a:pt x="539978" y="444215"/>
                </a:lnTo>
                <a:lnTo>
                  <a:pt x="507192" y="475292"/>
                </a:lnTo>
                <a:lnTo>
                  <a:pt x="475252" y="507234"/>
                </a:lnTo>
                <a:lnTo>
                  <a:pt x="444176" y="540021"/>
                </a:lnTo>
                <a:lnTo>
                  <a:pt x="413984" y="573635"/>
                </a:lnTo>
                <a:lnTo>
                  <a:pt x="384693" y="608057"/>
                </a:lnTo>
                <a:lnTo>
                  <a:pt x="356322" y="643269"/>
                </a:lnTo>
                <a:lnTo>
                  <a:pt x="328891" y="679253"/>
                </a:lnTo>
                <a:lnTo>
                  <a:pt x="302417" y="715988"/>
                </a:lnTo>
                <a:lnTo>
                  <a:pt x="276919" y="753458"/>
                </a:lnTo>
                <a:lnTo>
                  <a:pt x="252416" y="791642"/>
                </a:lnTo>
                <a:lnTo>
                  <a:pt x="228927" y="830523"/>
                </a:lnTo>
                <a:lnTo>
                  <a:pt x="206470" y="870082"/>
                </a:lnTo>
                <a:lnTo>
                  <a:pt x="185064" y="910300"/>
                </a:lnTo>
                <a:lnTo>
                  <a:pt x="164728" y="951158"/>
                </a:lnTo>
                <a:lnTo>
                  <a:pt x="145479" y="992638"/>
                </a:lnTo>
                <a:lnTo>
                  <a:pt x="127337" y="1034722"/>
                </a:lnTo>
                <a:lnTo>
                  <a:pt x="110321" y="1077390"/>
                </a:lnTo>
                <a:lnTo>
                  <a:pt x="94449" y="1120624"/>
                </a:lnTo>
                <a:lnTo>
                  <a:pt x="79739" y="1164405"/>
                </a:lnTo>
                <a:lnTo>
                  <a:pt x="66210" y="1208714"/>
                </a:lnTo>
                <a:lnTo>
                  <a:pt x="53882" y="1253534"/>
                </a:lnTo>
                <a:lnTo>
                  <a:pt x="42772" y="1298845"/>
                </a:lnTo>
                <a:lnTo>
                  <a:pt x="32900" y="1344629"/>
                </a:lnTo>
                <a:lnTo>
                  <a:pt x="24283" y="1390866"/>
                </a:lnTo>
                <a:lnTo>
                  <a:pt x="16941" y="1437539"/>
                </a:lnTo>
                <a:lnTo>
                  <a:pt x="10891" y="1484629"/>
                </a:lnTo>
                <a:lnTo>
                  <a:pt x="6154" y="1532116"/>
                </a:lnTo>
                <a:lnTo>
                  <a:pt x="2747" y="1579983"/>
                </a:lnTo>
                <a:lnTo>
                  <a:pt x="690" y="1628211"/>
                </a:lnTo>
                <a:lnTo>
                  <a:pt x="0" y="1676781"/>
                </a:lnTo>
                <a:lnTo>
                  <a:pt x="737" y="1726630"/>
                </a:lnTo>
                <a:lnTo>
                  <a:pt x="2937" y="1776223"/>
                </a:lnTo>
                <a:lnTo>
                  <a:pt x="6585" y="1825534"/>
                </a:lnTo>
                <a:lnTo>
                  <a:pt x="11663" y="1874535"/>
                </a:lnTo>
                <a:lnTo>
                  <a:pt x="18155" y="1923202"/>
                </a:lnTo>
                <a:lnTo>
                  <a:pt x="26044" y="1971509"/>
                </a:lnTo>
                <a:lnTo>
                  <a:pt x="35315" y="2019429"/>
                </a:lnTo>
                <a:lnTo>
                  <a:pt x="45950" y="2066937"/>
                </a:lnTo>
                <a:lnTo>
                  <a:pt x="57934" y="2114007"/>
                </a:lnTo>
                <a:lnTo>
                  <a:pt x="71249" y="2160613"/>
                </a:lnTo>
                <a:lnTo>
                  <a:pt x="85880" y="2206729"/>
                </a:lnTo>
                <a:lnTo>
                  <a:pt x="101809" y="2252329"/>
                </a:lnTo>
                <a:lnTo>
                  <a:pt x="119022" y="2297387"/>
                </a:lnTo>
                <a:lnTo>
                  <a:pt x="137500" y="2341878"/>
                </a:lnTo>
                <a:lnTo>
                  <a:pt x="157227" y="2385775"/>
                </a:lnTo>
                <a:lnTo>
                  <a:pt x="178188" y="2429053"/>
                </a:lnTo>
                <a:lnTo>
                  <a:pt x="200366" y="2471686"/>
                </a:lnTo>
                <a:lnTo>
                  <a:pt x="223743" y="2513647"/>
                </a:lnTo>
                <a:lnTo>
                  <a:pt x="248305" y="2554911"/>
                </a:lnTo>
                <a:lnTo>
                  <a:pt x="274033" y="2595452"/>
                </a:lnTo>
                <a:lnTo>
                  <a:pt x="300913" y="2635245"/>
                </a:lnTo>
                <a:lnTo>
                  <a:pt x="328927" y="2674262"/>
                </a:lnTo>
                <a:lnTo>
                  <a:pt x="358059" y="2712479"/>
                </a:lnTo>
                <a:lnTo>
                  <a:pt x="388293" y="2749869"/>
                </a:lnTo>
                <a:lnTo>
                  <a:pt x="419612" y="2786407"/>
                </a:lnTo>
                <a:lnTo>
                  <a:pt x="451999" y="2822067"/>
                </a:lnTo>
                <a:lnTo>
                  <a:pt x="485439" y="2856822"/>
                </a:lnTo>
                <a:lnTo>
                  <a:pt x="519914" y="2890647"/>
                </a:lnTo>
                <a:lnTo>
                  <a:pt x="555409" y="2923515"/>
                </a:lnTo>
                <a:lnTo>
                  <a:pt x="591906" y="2955402"/>
                </a:lnTo>
                <a:lnTo>
                  <a:pt x="629390" y="2986281"/>
                </a:lnTo>
                <a:lnTo>
                  <a:pt x="667844" y="3016127"/>
                </a:lnTo>
                <a:lnTo>
                  <a:pt x="707252" y="3044912"/>
                </a:lnTo>
                <a:lnTo>
                  <a:pt x="747596" y="3072612"/>
                </a:lnTo>
                <a:lnTo>
                  <a:pt x="788861" y="3099201"/>
                </a:lnTo>
                <a:lnTo>
                  <a:pt x="831031" y="3124652"/>
                </a:lnTo>
                <a:lnTo>
                  <a:pt x="874088" y="3148940"/>
                </a:lnTo>
                <a:lnTo>
                  <a:pt x="918016" y="3172039"/>
                </a:lnTo>
                <a:lnTo>
                  <a:pt x="962799" y="3193923"/>
                </a:lnTo>
                <a:lnTo>
                  <a:pt x="1676793" y="1676781"/>
                </a:lnTo>
                <a:lnTo>
                  <a:pt x="1676793" y="0"/>
                </a:lnTo>
                <a:close/>
              </a:path>
            </a:pathLst>
          </a:custGeom>
          <a:solidFill>
            <a:srgbClr val="4AAC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558795" y="2569718"/>
            <a:ext cx="50545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solidFill>
                  <a:srgbClr val="FFFFFF"/>
                </a:solidFill>
                <a:latin typeface="Verdana"/>
                <a:cs typeface="Verdana"/>
              </a:rPr>
              <a:t>12%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49497" y="3493515"/>
            <a:ext cx="50545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solidFill>
                  <a:srgbClr val="FFFFFF"/>
                </a:solidFill>
                <a:latin typeface="Verdana"/>
                <a:cs typeface="Verdana"/>
              </a:rPr>
              <a:t>15%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06495" y="4598670"/>
            <a:ext cx="50545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FFFF"/>
                </a:solidFill>
                <a:latin typeface="Verdana"/>
                <a:cs typeface="Verdana"/>
              </a:rPr>
              <a:t>15%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82545" y="5370322"/>
            <a:ext cx="50545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FFFF"/>
                </a:solidFill>
                <a:latin typeface="Verdana"/>
                <a:cs typeface="Verdana"/>
              </a:rPr>
              <a:t>15%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44600" y="3566667"/>
            <a:ext cx="50545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solidFill>
                  <a:srgbClr val="FFFFFF"/>
                </a:solidFill>
                <a:latin typeface="Verdana"/>
                <a:cs typeface="Verdana"/>
              </a:rPr>
              <a:t>43%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701540" y="2634995"/>
            <a:ext cx="111760" cy="111760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251"/>
                </a:moveTo>
                <a:lnTo>
                  <a:pt x="111251" y="111251"/>
                </a:lnTo>
                <a:lnTo>
                  <a:pt x="111251" y="0"/>
                </a:lnTo>
                <a:lnTo>
                  <a:pt x="0" y="0"/>
                </a:lnTo>
                <a:lnTo>
                  <a:pt x="0" y="111251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851400" y="2544317"/>
            <a:ext cx="10096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Verdana"/>
                <a:cs typeface="Verdana"/>
              </a:rPr>
              <a:t>Hardw</a:t>
            </a:r>
            <a:r>
              <a:rPr sz="1600" spc="-10" dirty="0">
                <a:latin typeface="Verdana"/>
                <a:cs typeface="Verdana"/>
              </a:rPr>
              <a:t>a</a:t>
            </a:r>
            <a:r>
              <a:rPr sz="1600" dirty="0">
                <a:latin typeface="Verdana"/>
                <a:cs typeface="Verdana"/>
              </a:rPr>
              <a:t>re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701540" y="3277361"/>
            <a:ext cx="111760" cy="111760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251"/>
                </a:moveTo>
                <a:lnTo>
                  <a:pt x="111251" y="111251"/>
                </a:lnTo>
                <a:lnTo>
                  <a:pt x="111251" y="0"/>
                </a:lnTo>
                <a:lnTo>
                  <a:pt x="0" y="0"/>
                </a:lnTo>
                <a:lnTo>
                  <a:pt x="0" y="111251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851400" y="3186937"/>
            <a:ext cx="9359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Verdana"/>
                <a:cs typeface="Verdana"/>
              </a:rPr>
              <a:t>Software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701540" y="3920490"/>
            <a:ext cx="111760" cy="110489"/>
          </a:xfrm>
          <a:custGeom>
            <a:avLst/>
            <a:gdLst/>
            <a:ahLst/>
            <a:cxnLst/>
            <a:rect l="l" t="t" r="r" b="b"/>
            <a:pathLst>
              <a:path w="111760" h="110489">
                <a:moveTo>
                  <a:pt x="0" y="110489"/>
                </a:moveTo>
                <a:lnTo>
                  <a:pt x="111251" y="110489"/>
                </a:lnTo>
                <a:lnTo>
                  <a:pt x="111251" y="0"/>
                </a:lnTo>
                <a:lnTo>
                  <a:pt x="0" y="0"/>
                </a:lnTo>
                <a:lnTo>
                  <a:pt x="0" y="110489"/>
                </a:lnTo>
                <a:close/>
              </a:path>
            </a:pathLst>
          </a:custGeom>
          <a:solidFill>
            <a:srgbClr val="9BBA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51400" y="3829811"/>
            <a:ext cx="23368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Verdana"/>
                <a:cs typeface="Verdana"/>
              </a:rPr>
              <a:t>Conversiones de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datos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701540" y="4562855"/>
            <a:ext cx="111760" cy="111760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252"/>
                </a:moveTo>
                <a:lnTo>
                  <a:pt x="111251" y="111252"/>
                </a:lnTo>
                <a:lnTo>
                  <a:pt x="111251" y="0"/>
                </a:lnTo>
                <a:lnTo>
                  <a:pt x="0" y="0"/>
                </a:lnTo>
                <a:lnTo>
                  <a:pt x="0" y="111252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701540" y="5205221"/>
            <a:ext cx="111760" cy="111760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251"/>
                </a:moveTo>
                <a:lnTo>
                  <a:pt x="111251" y="111251"/>
                </a:lnTo>
                <a:lnTo>
                  <a:pt x="111251" y="0"/>
                </a:lnTo>
                <a:lnTo>
                  <a:pt x="0" y="0"/>
                </a:lnTo>
                <a:lnTo>
                  <a:pt x="0" y="111251"/>
                </a:lnTo>
                <a:close/>
              </a:path>
            </a:pathLst>
          </a:custGeom>
          <a:solidFill>
            <a:srgbClr val="4AAC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851400" y="4472432"/>
            <a:ext cx="3448685" cy="91249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75"/>
              </a:spcBef>
            </a:pPr>
            <a:r>
              <a:rPr sz="1600" spc="-5" dirty="0">
                <a:latin typeface="Verdana"/>
                <a:cs typeface="Verdana"/>
              </a:rPr>
              <a:t>Capacitación </a:t>
            </a:r>
            <a:r>
              <a:rPr sz="1600" dirty="0">
                <a:latin typeface="Verdana"/>
                <a:cs typeface="Verdana"/>
              </a:rPr>
              <a:t>y </a:t>
            </a:r>
            <a:r>
              <a:rPr sz="1600" spc="-5" dirty="0">
                <a:latin typeface="Verdana"/>
                <a:cs typeface="Verdana"/>
              </a:rPr>
              <a:t>administración del  </a:t>
            </a:r>
            <a:r>
              <a:rPr sz="1600" dirty="0">
                <a:latin typeface="Verdana"/>
                <a:cs typeface="Verdana"/>
              </a:rPr>
              <a:t>cambio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600" spc="-5" dirty="0">
                <a:latin typeface="Verdana"/>
                <a:cs typeface="Verdana"/>
              </a:rPr>
              <a:t>Reingeniería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25</a:t>
            </a:fld>
            <a:endParaRPr spc="-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268" y="56642"/>
            <a:ext cx="8241030" cy="146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5" dirty="0">
                <a:solidFill>
                  <a:srgbClr val="FFFFFF"/>
                </a:solidFill>
                <a:latin typeface="Trebuchet MS"/>
                <a:cs typeface="Trebuchet MS"/>
              </a:rPr>
              <a:t>Integración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 </a:t>
            </a:r>
            <a:r>
              <a:rPr sz="2000" b="1" spc="75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2000" b="1" spc="-4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ERP (Cont.)</a:t>
            </a:r>
            <a:endParaRPr sz="2000">
              <a:latin typeface="Trebuchet MS"/>
              <a:cs typeface="Trebuchet MS"/>
            </a:endParaRPr>
          </a:p>
          <a:p>
            <a:pPr marL="59055" marR="5080">
              <a:lnSpc>
                <a:spcPct val="100000"/>
              </a:lnSpc>
              <a:spcBef>
                <a:spcPts val="15"/>
              </a:spcBef>
            </a:pPr>
            <a:r>
              <a:rPr sz="1800" spc="-240" dirty="0">
                <a:solidFill>
                  <a:srgbClr val="FFFFFF"/>
                </a:solidFill>
                <a:latin typeface="Arial"/>
                <a:cs typeface="Arial"/>
              </a:rPr>
              <a:t>ERP: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puntos 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 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2600" b="1" spc="-165" dirty="0">
                <a:latin typeface="Trebuchet MS"/>
                <a:cs typeface="Trebuchet MS"/>
              </a:rPr>
              <a:t>ERP </a:t>
            </a:r>
            <a:r>
              <a:rPr sz="2600" b="1" spc="-155" dirty="0">
                <a:latin typeface="Arial"/>
                <a:cs typeface="Arial"/>
              </a:rPr>
              <a:t>– </a:t>
            </a:r>
            <a:r>
              <a:rPr sz="2600" b="1" spc="-130" dirty="0">
                <a:latin typeface="Trebuchet MS"/>
                <a:cs typeface="Trebuchet MS"/>
              </a:rPr>
              <a:t>Causas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250" dirty="0">
                <a:latin typeface="Trebuchet MS"/>
                <a:cs typeface="Trebuchet MS"/>
              </a:rPr>
              <a:t> </a:t>
            </a:r>
            <a:r>
              <a:rPr sz="2600" b="1" spc="-125" dirty="0">
                <a:latin typeface="Trebuchet MS"/>
                <a:cs typeface="Trebuchet MS"/>
              </a:rPr>
              <a:t>fallas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68" y="1860803"/>
            <a:ext cx="4363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469900" algn="l"/>
                <a:tab pos="470534" algn="l"/>
                <a:tab pos="2237105" algn="l"/>
                <a:tab pos="2841625" algn="l"/>
              </a:tabLst>
            </a:pPr>
            <a:r>
              <a:rPr sz="2400" i="1" spc="-120" dirty="0">
                <a:latin typeface="Trebuchet MS"/>
                <a:cs typeface="Trebuchet MS"/>
              </a:rPr>
              <a:t>Subestimar	</a:t>
            </a:r>
            <a:r>
              <a:rPr sz="2400" i="1" spc="-125" dirty="0">
                <a:latin typeface="Trebuchet MS"/>
                <a:cs typeface="Trebuchet MS"/>
              </a:rPr>
              <a:t>la	</a:t>
            </a:r>
            <a:r>
              <a:rPr sz="2400" i="1" spc="-140" dirty="0">
                <a:latin typeface="Trebuchet MS"/>
                <a:cs typeface="Trebuchet MS"/>
              </a:rPr>
              <a:t>complejidad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58079" y="1860803"/>
            <a:ext cx="922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3420" algn="l"/>
              </a:tabLst>
            </a:pPr>
            <a:r>
              <a:rPr sz="2400" i="1" spc="-114" dirty="0">
                <a:latin typeface="Trebuchet MS"/>
                <a:cs typeface="Trebuchet MS"/>
              </a:rPr>
              <a:t>en</a:t>
            </a:r>
            <a:r>
              <a:rPr sz="2400" i="1" dirty="0">
                <a:latin typeface="Trebuchet MS"/>
                <a:cs typeface="Trebuchet MS"/>
              </a:rPr>
              <a:t>	</a:t>
            </a:r>
            <a:r>
              <a:rPr sz="2400" i="1" spc="-190" dirty="0">
                <a:latin typeface="Trebuchet MS"/>
                <a:cs typeface="Trebuchet MS"/>
              </a:rPr>
              <a:t>el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268" y="2226310"/>
            <a:ext cx="564197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2400" i="1" spc="-140" dirty="0">
                <a:latin typeface="Trebuchet MS"/>
                <a:cs typeface="Trebuchet MS"/>
              </a:rPr>
              <a:t>planeamiento, </a:t>
            </a:r>
            <a:r>
              <a:rPr sz="2400" i="1" spc="-125" dirty="0">
                <a:latin typeface="Trebuchet MS"/>
                <a:cs typeface="Trebuchet MS"/>
              </a:rPr>
              <a:t>desarrollo </a:t>
            </a:r>
            <a:r>
              <a:rPr sz="2400" i="1" spc="-110" dirty="0">
                <a:latin typeface="Trebuchet MS"/>
                <a:cs typeface="Trebuchet MS"/>
              </a:rPr>
              <a:t>y</a:t>
            </a:r>
            <a:r>
              <a:rPr sz="2400" i="1" spc="-254" dirty="0">
                <a:latin typeface="Trebuchet MS"/>
                <a:cs typeface="Trebuchet MS"/>
              </a:rPr>
              <a:t> </a:t>
            </a:r>
            <a:r>
              <a:rPr sz="2400" i="1" spc="-125" dirty="0">
                <a:latin typeface="Trebuchet MS"/>
                <a:cs typeface="Trebuchet MS"/>
              </a:rPr>
              <a:t>capacitación.</a:t>
            </a:r>
            <a:endParaRPr sz="2400">
              <a:latin typeface="Trebuchet MS"/>
              <a:cs typeface="Trebuchet MS"/>
            </a:endParaRPr>
          </a:p>
          <a:p>
            <a:pPr marL="469900" marR="6985" indent="-4572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469900" algn="l"/>
                <a:tab pos="470534" algn="l"/>
              </a:tabLst>
            </a:pPr>
            <a:r>
              <a:rPr sz="2400" i="1" spc="-20" dirty="0">
                <a:latin typeface="Trebuchet MS"/>
                <a:cs typeface="Trebuchet MS"/>
              </a:rPr>
              <a:t>No </a:t>
            </a:r>
            <a:r>
              <a:rPr sz="2400" i="1" spc="-130" dirty="0">
                <a:latin typeface="Trebuchet MS"/>
                <a:cs typeface="Trebuchet MS"/>
              </a:rPr>
              <a:t>involucrar </a:t>
            </a:r>
            <a:r>
              <a:rPr sz="2400" i="1" spc="-30" dirty="0">
                <a:latin typeface="Trebuchet MS"/>
                <a:cs typeface="Trebuchet MS"/>
              </a:rPr>
              <a:t>a </a:t>
            </a:r>
            <a:r>
              <a:rPr sz="2400" i="1" spc="-105" dirty="0">
                <a:latin typeface="Trebuchet MS"/>
                <a:cs typeface="Trebuchet MS"/>
              </a:rPr>
              <a:t>los empleados </a:t>
            </a:r>
            <a:r>
              <a:rPr sz="2400" i="1" spc="-114" dirty="0">
                <a:latin typeface="Trebuchet MS"/>
                <a:cs typeface="Trebuchet MS"/>
              </a:rPr>
              <a:t>afectados  en </a:t>
            </a:r>
            <a:r>
              <a:rPr sz="2400" i="1" spc="-125" dirty="0">
                <a:latin typeface="Trebuchet MS"/>
                <a:cs typeface="Trebuchet MS"/>
              </a:rPr>
              <a:t>la fase de </a:t>
            </a:r>
            <a:r>
              <a:rPr sz="2400" i="1" spc="-120" dirty="0">
                <a:latin typeface="Trebuchet MS"/>
                <a:cs typeface="Trebuchet MS"/>
              </a:rPr>
              <a:t>planeamiento </a:t>
            </a:r>
            <a:r>
              <a:rPr sz="2400" i="1" spc="-114" dirty="0">
                <a:latin typeface="Trebuchet MS"/>
                <a:cs typeface="Trebuchet MS"/>
              </a:rPr>
              <a:t>y</a:t>
            </a:r>
            <a:r>
              <a:rPr sz="2400" i="1" spc="-490" dirty="0">
                <a:latin typeface="Trebuchet MS"/>
                <a:cs typeface="Trebuchet MS"/>
              </a:rPr>
              <a:t> </a:t>
            </a:r>
            <a:r>
              <a:rPr sz="2400" i="1" spc="-140" dirty="0">
                <a:latin typeface="Trebuchet MS"/>
                <a:cs typeface="Trebuchet MS"/>
              </a:rPr>
              <a:t>desarrollo.</a:t>
            </a:r>
            <a:endParaRPr sz="2400">
              <a:latin typeface="Trebuchet MS"/>
              <a:cs typeface="Trebuchet MS"/>
            </a:endParaRPr>
          </a:p>
          <a:p>
            <a:pPr marL="469900" marR="5080" indent="-457200">
              <a:lnSpc>
                <a:spcPct val="100000"/>
              </a:lnSpc>
              <a:buFont typeface="Arial"/>
              <a:buChar char="•"/>
              <a:tabLst>
                <a:tab pos="469900" algn="l"/>
                <a:tab pos="470534" algn="l"/>
                <a:tab pos="1673860" algn="l"/>
                <a:tab pos="2581275" algn="l"/>
                <a:tab pos="4160520" algn="l"/>
                <a:tab pos="4512945" algn="l"/>
                <a:tab pos="5033010" algn="l"/>
              </a:tabLst>
            </a:pPr>
            <a:r>
              <a:rPr sz="2400" i="1" spc="-50" dirty="0">
                <a:latin typeface="Trebuchet MS"/>
                <a:cs typeface="Trebuchet MS"/>
              </a:rPr>
              <a:t>I</a:t>
            </a:r>
            <a:r>
              <a:rPr sz="2400" i="1" spc="-125" dirty="0">
                <a:latin typeface="Trebuchet MS"/>
                <a:cs typeface="Trebuchet MS"/>
              </a:rPr>
              <a:t>n</a:t>
            </a:r>
            <a:r>
              <a:rPr sz="2400" i="1" spc="-229" dirty="0">
                <a:latin typeface="Trebuchet MS"/>
                <a:cs typeface="Trebuchet MS"/>
              </a:rPr>
              <a:t>t</a:t>
            </a:r>
            <a:r>
              <a:rPr sz="2400" i="1" spc="-110" dirty="0">
                <a:latin typeface="Trebuchet MS"/>
                <a:cs typeface="Trebuchet MS"/>
              </a:rPr>
              <a:t>e</a:t>
            </a:r>
            <a:r>
              <a:rPr sz="2400" i="1" spc="-140" dirty="0">
                <a:latin typeface="Trebuchet MS"/>
                <a:cs typeface="Trebuchet MS"/>
              </a:rPr>
              <a:t>n</a:t>
            </a:r>
            <a:r>
              <a:rPr sz="2400" i="1" spc="-245" dirty="0">
                <a:latin typeface="Trebuchet MS"/>
                <a:cs typeface="Trebuchet MS"/>
              </a:rPr>
              <a:t>t</a:t>
            </a:r>
            <a:r>
              <a:rPr sz="2400" i="1" spc="-120" dirty="0">
                <a:latin typeface="Trebuchet MS"/>
                <a:cs typeface="Trebuchet MS"/>
              </a:rPr>
              <a:t>a</a:t>
            </a:r>
            <a:r>
              <a:rPr sz="2400" i="1" spc="-95" dirty="0">
                <a:latin typeface="Trebuchet MS"/>
                <a:cs typeface="Trebuchet MS"/>
              </a:rPr>
              <a:t>r</a:t>
            </a:r>
            <a:r>
              <a:rPr sz="2400" i="1" dirty="0">
                <a:latin typeface="Trebuchet MS"/>
                <a:cs typeface="Trebuchet MS"/>
              </a:rPr>
              <a:t>	</a:t>
            </a:r>
            <a:r>
              <a:rPr sz="2400" i="1" spc="-105" dirty="0">
                <a:latin typeface="Trebuchet MS"/>
                <a:cs typeface="Trebuchet MS"/>
              </a:rPr>
              <a:t>h</a:t>
            </a:r>
            <a:r>
              <a:rPr sz="2400" i="1" spc="-80" dirty="0">
                <a:latin typeface="Trebuchet MS"/>
                <a:cs typeface="Trebuchet MS"/>
              </a:rPr>
              <a:t>ac</a:t>
            </a:r>
            <a:r>
              <a:rPr sz="2400" i="1" spc="-160" dirty="0">
                <a:latin typeface="Trebuchet MS"/>
                <a:cs typeface="Trebuchet MS"/>
              </a:rPr>
              <a:t>er</a:t>
            </a:r>
            <a:r>
              <a:rPr sz="2400" i="1" dirty="0">
                <a:latin typeface="Trebuchet MS"/>
                <a:cs typeface="Trebuchet MS"/>
              </a:rPr>
              <a:t>	</a:t>
            </a:r>
            <a:r>
              <a:rPr sz="2400" i="1" spc="-135" dirty="0">
                <a:latin typeface="Trebuchet MS"/>
                <a:cs typeface="Trebuchet MS"/>
              </a:rPr>
              <a:t>d</a:t>
            </a:r>
            <a:r>
              <a:rPr sz="2400" i="1" spc="-125" dirty="0">
                <a:latin typeface="Trebuchet MS"/>
                <a:cs typeface="Trebuchet MS"/>
              </a:rPr>
              <a:t>e</a:t>
            </a:r>
            <a:r>
              <a:rPr sz="2400" i="1" spc="-55" dirty="0">
                <a:latin typeface="Trebuchet MS"/>
                <a:cs typeface="Trebuchet MS"/>
              </a:rPr>
              <a:t>mas</a:t>
            </a:r>
            <a:r>
              <a:rPr sz="2400" i="1" spc="-95" dirty="0">
                <a:latin typeface="Trebuchet MS"/>
                <a:cs typeface="Trebuchet MS"/>
              </a:rPr>
              <a:t>ia</a:t>
            </a:r>
            <a:r>
              <a:rPr sz="2400" i="1" spc="-120" dirty="0">
                <a:latin typeface="Trebuchet MS"/>
                <a:cs typeface="Trebuchet MS"/>
              </a:rPr>
              <a:t>d</a:t>
            </a:r>
            <a:r>
              <a:rPr sz="2400" i="1" spc="-60" dirty="0">
                <a:latin typeface="Trebuchet MS"/>
                <a:cs typeface="Trebuchet MS"/>
              </a:rPr>
              <a:t>o</a:t>
            </a:r>
            <a:r>
              <a:rPr sz="2400" i="1" dirty="0">
                <a:latin typeface="Trebuchet MS"/>
                <a:cs typeface="Trebuchet MS"/>
              </a:rPr>
              <a:t>	</a:t>
            </a:r>
            <a:r>
              <a:rPr sz="2400" i="1" spc="-114" dirty="0">
                <a:latin typeface="Trebuchet MS"/>
                <a:cs typeface="Trebuchet MS"/>
              </a:rPr>
              <a:t>y</a:t>
            </a:r>
            <a:r>
              <a:rPr sz="2400" i="1" dirty="0">
                <a:latin typeface="Trebuchet MS"/>
                <a:cs typeface="Trebuchet MS"/>
              </a:rPr>
              <a:t>	</a:t>
            </a:r>
            <a:r>
              <a:rPr sz="2400" i="1" spc="-105" dirty="0">
                <a:latin typeface="Trebuchet MS"/>
                <a:cs typeface="Trebuchet MS"/>
              </a:rPr>
              <a:t>e</a:t>
            </a:r>
            <a:r>
              <a:rPr sz="2400" i="1" spc="-114" dirty="0">
                <a:latin typeface="Trebuchet MS"/>
                <a:cs typeface="Trebuchet MS"/>
              </a:rPr>
              <a:t>n</a:t>
            </a:r>
            <a:r>
              <a:rPr sz="2400" i="1" dirty="0">
                <a:latin typeface="Trebuchet MS"/>
                <a:cs typeface="Trebuchet MS"/>
              </a:rPr>
              <a:t>	</a:t>
            </a:r>
            <a:r>
              <a:rPr sz="2400" i="1" spc="-105" dirty="0">
                <a:latin typeface="Trebuchet MS"/>
                <a:cs typeface="Trebuchet MS"/>
              </a:rPr>
              <a:t>p</a:t>
            </a:r>
            <a:r>
              <a:rPr sz="2400" i="1" spc="-95" dirty="0">
                <a:latin typeface="Trebuchet MS"/>
                <a:cs typeface="Trebuchet MS"/>
              </a:rPr>
              <a:t>o</a:t>
            </a:r>
            <a:r>
              <a:rPr sz="2400" i="1" spc="-85" dirty="0">
                <a:latin typeface="Trebuchet MS"/>
                <a:cs typeface="Trebuchet MS"/>
              </a:rPr>
              <a:t>c</a:t>
            </a:r>
            <a:r>
              <a:rPr sz="2400" i="1" spc="-45" dirty="0">
                <a:latin typeface="Trebuchet MS"/>
                <a:cs typeface="Trebuchet MS"/>
              </a:rPr>
              <a:t>o </a:t>
            </a:r>
            <a:r>
              <a:rPr sz="2400" i="1" spc="-35" dirty="0">
                <a:latin typeface="Trebuchet MS"/>
                <a:cs typeface="Trebuchet MS"/>
              </a:rPr>
              <a:t> </a:t>
            </a:r>
            <a:r>
              <a:rPr sz="2400" i="1" spc="-135" dirty="0">
                <a:latin typeface="Trebuchet MS"/>
                <a:cs typeface="Trebuchet MS"/>
              </a:rPr>
              <a:t>tiempo </a:t>
            </a:r>
            <a:r>
              <a:rPr sz="2400" i="1" spc="-114" dirty="0">
                <a:latin typeface="Trebuchet MS"/>
                <a:cs typeface="Trebuchet MS"/>
              </a:rPr>
              <a:t>en </a:t>
            </a:r>
            <a:r>
              <a:rPr sz="2400" i="1" spc="-185" dirty="0">
                <a:latin typeface="Trebuchet MS"/>
                <a:cs typeface="Trebuchet MS"/>
              </a:rPr>
              <a:t>el </a:t>
            </a:r>
            <a:r>
              <a:rPr sz="2400" i="1" spc="-105" dirty="0">
                <a:latin typeface="Trebuchet MS"/>
                <a:cs typeface="Trebuchet MS"/>
              </a:rPr>
              <a:t>proceso </a:t>
            </a:r>
            <a:r>
              <a:rPr sz="2400" i="1" spc="-125" dirty="0">
                <a:latin typeface="Trebuchet MS"/>
                <a:cs typeface="Trebuchet MS"/>
              </a:rPr>
              <a:t>de</a:t>
            </a:r>
            <a:r>
              <a:rPr sz="2400" i="1" spc="-355" dirty="0">
                <a:latin typeface="Trebuchet MS"/>
                <a:cs typeface="Trebuchet MS"/>
              </a:rPr>
              <a:t> </a:t>
            </a:r>
            <a:r>
              <a:rPr sz="2400" i="1" spc="-125" dirty="0">
                <a:latin typeface="Trebuchet MS"/>
                <a:cs typeface="Trebuchet MS"/>
              </a:rPr>
              <a:t>conversión.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9268" y="4055617"/>
            <a:ext cx="5142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469900" algn="l"/>
                <a:tab pos="470534" algn="l"/>
                <a:tab pos="1184275" algn="l"/>
                <a:tab pos="2470150" algn="l"/>
                <a:tab pos="4131945" algn="l"/>
              </a:tabLst>
            </a:pPr>
            <a:r>
              <a:rPr sz="2400" i="1" spc="-20" dirty="0">
                <a:latin typeface="Trebuchet MS"/>
                <a:cs typeface="Trebuchet MS"/>
              </a:rPr>
              <a:t>No	</a:t>
            </a:r>
            <a:r>
              <a:rPr sz="2400" i="1" spc="-150" dirty="0">
                <a:latin typeface="Trebuchet MS"/>
                <a:cs typeface="Trebuchet MS"/>
              </a:rPr>
              <a:t>realizar	</a:t>
            </a:r>
            <a:r>
              <a:rPr sz="2400" i="1" spc="-140" dirty="0">
                <a:latin typeface="Trebuchet MS"/>
                <a:cs typeface="Trebuchet MS"/>
              </a:rPr>
              <a:t>suficientes	</a:t>
            </a:r>
            <a:r>
              <a:rPr sz="2400" i="1" spc="-105" dirty="0">
                <a:latin typeface="Trebuchet MS"/>
                <a:cs typeface="Trebuchet MS"/>
              </a:rPr>
              <a:t>pruebas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18555" y="4055617"/>
            <a:ext cx="161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114" dirty="0">
                <a:latin typeface="Trebuchet MS"/>
                <a:cs typeface="Trebuchet MS"/>
              </a:rPr>
              <a:t>y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268" y="4421378"/>
            <a:ext cx="564197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2400" i="1" spc="-110" dirty="0">
                <a:latin typeface="Trebuchet MS"/>
                <a:cs typeface="Trebuchet MS"/>
              </a:rPr>
              <a:t>conversiones </a:t>
            </a:r>
            <a:r>
              <a:rPr sz="2400" i="1" spc="-125" dirty="0">
                <a:latin typeface="Trebuchet MS"/>
                <a:cs typeface="Trebuchet MS"/>
              </a:rPr>
              <a:t>de</a:t>
            </a:r>
            <a:r>
              <a:rPr sz="2400" i="1" spc="-235" dirty="0">
                <a:latin typeface="Trebuchet MS"/>
                <a:cs typeface="Trebuchet MS"/>
              </a:rPr>
              <a:t> </a:t>
            </a:r>
            <a:r>
              <a:rPr sz="2400" i="1" spc="-125" dirty="0">
                <a:latin typeface="Trebuchet MS"/>
                <a:cs typeface="Trebuchet MS"/>
              </a:rPr>
              <a:t>datos.</a:t>
            </a:r>
            <a:endParaRPr sz="2400">
              <a:latin typeface="Trebuchet MS"/>
              <a:cs typeface="Trebuchet MS"/>
            </a:endParaRPr>
          </a:p>
          <a:p>
            <a:pPr marL="469900" marR="5080" indent="-457200">
              <a:lnSpc>
                <a:spcPct val="100000"/>
              </a:lnSpc>
              <a:buFont typeface="Arial"/>
              <a:buChar char="•"/>
              <a:tabLst>
                <a:tab pos="469900" algn="l"/>
                <a:tab pos="470534" algn="l"/>
                <a:tab pos="1453515" algn="l"/>
                <a:tab pos="1920875" algn="l"/>
                <a:tab pos="3272154" algn="l"/>
                <a:tab pos="3738245" algn="l"/>
                <a:tab pos="4129404" algn="l"/>
                <a:tab pos="4752340" algn="l"/>
                <a:tab pos="5413375" algn="l"/>
              </a:tabLst>
            </a:pPr>
            <a:r>
              <a:rPr sz="2400" i="1" spc="-150" dirty="0">
                <a:latin typeface="Trebuchet MS"/>
                <a:cs typeface="Trebuchet MS"/>
              </a:rPr>
              <a:t>E</a:t>
            </a:r>
            <a:r>
              <a:rPr sz="2400" i="1" spc="-190" dirty="0">
                <a:latin typeface="Trebuchet MS"/>
                <a:cs typeface="Trebuchet MS"/>
              </a:rPr>
              <a:t>x</a:t>
            </a:r>
            <a:r>
              <a:rPr sz="2400" i="1" spc="-130" dirty="0">
                <a:latin typeface="Trebuchet MS"/>
                <a:cs typeface="Trebuchet MS"/>
              </a:rPr>
              <a:t>c</a:t>
            </a:r>
            <a:r>
              <a:rPr sz="2400" i="1" spc="-105" dirty="0">
                <a:latin typeface="Trebuchet MS"/>
                <a:cs typeface="Trebuchet MS"/>
              </a:rPr>
              <a:t>e</a:t>
            </a:r>
            <a:r>
              <a:rPr sz="2400" i="1" spc="-70" dirty="0">
                <a:latin typeface="Trebuchet MS"/>
                <a:cs typeface="Trebuchet MS"/>
              </a:rPr>
              <a:t>s</a:t>
            </a:r>
            <a:r>
              <a:rPr sz="2400" i="1" spc="-60" dirty="0">
                <a:latin typeface="Trebuchet MS"/>
                <a:cs typeface="Trebuchet MS"/>
              </a:rPr>
              <a:t>o</a:t>
            </a:r>
            <a:r>
              <a:rPr sz="2400" i="1" dirty="0">
                <a:latin typeface="Trebuchet MS"/>
                <a:cs typeface="Trebuchet MS"/>
              </a:rPr>
              <a:t>	</a:t>
            </a:r>
            <a:r>
              <a:rPr sz="2400" i="1" spc="-125" dirty="0">
                <a:latin typeface="Trebuchet MS"/>
                <a:cs typeface="Trebuchet MS"/>
              </a:rPr>
              <a:t>de</a:t>
            </a:r>
            <a:r>
              <a:rPr sz="2400" i="1" dirty="0">
                <a:latin typeface="Trebuchet MS"/>
                <a:cs typeface="Trebuchet MS"/>
              </a:rPr>
              <a:t>	</a:t>
            </a:r>
            <a:r>
              <a:rPr sz="2400" i="1" spc="-130" dirty="0">
                <a:latin typeface="Trebuchet MS"/>
                <a:cs typeface="Trebuchet MS"/>
              </a:rPr>
              <a:t>c</a:t>
            </a:r>
            <a:r>
              <a:rPr sz="2400" i="1" spc="-75" dirty="0">
                <a:latin typeface="Trebuchet MS"/>
                <a:cs typeface="Trebuchet MS"/>
              </a:rPr>
              <a:t>o</a:t>
            </a:r>
            <a:r>
              <a:rPr sz="2400" i="1" spc="-70" dirty="0">
                <a:latin typeface="Trebuchet MS"/>
                <a:cs typeface="Trebuchet MS"/>
              </a:rPr>
              <a:t>n</a:t>
            </a:r>
            <a:r>
              <a:rPr sz="2400" i="1" spc="-135" dirty="0">
                <a:latin typeface="Trebuchet MS"/>
                <a:cs typeface="Trebuchet MS"/>
              </a:rPr>
              <a:t>fi</a:t>
            </a:r>
            <a:r>
              <a:rPr sz="2400" i="1" spc="-190" dirty="0">
                <a:latin typeface="Trebuchet MS"/>
                <a:cs typeface="Trebuchet MS"/>
              </a:rPr>
              <a:t>a</a:t>
            </a:r>
            <a:r>
              <a:rPr sz="2400" i="1" spc="-150" dirty="0">
                <a:latin typeface="Trebuchet MS"/>
                <a:cs typeface="Trebuchet MS"/>
              </a:rPr>
              <a:t>n</a:t>
            </a:r>
            <a:r>
              <a:rPr sz="2400" i="1" spc="-170" dirty="0">
                <a:latin typeface="Trebuchet MS"/>
                <a:cs typeface="Trebuchet MS"/>
              </a:rPr>
              <a:t>z</a:t>
            </a:r>
            <a:r>
              <a:rPr sz="2400" i="1" spc="-30" dirty="0">
                <a:latin typeface="Trebuchet MS"/>
                <a:cs typeface="Trebuchet MS"/>
              </a:rPr>
              <a:t>a</a:t>
            </a:r>
            <a:r>
              <a:rPr sz="2400" i="1" dirty="0">
                <a:latin typeface="Trebuchet MS"/>
                <a:cs typeface="Trebuchet MS"/>
              </a:rPr>
              <a:t>	</a:t>
            </a:r>
            <a:r>
              <a:rPr sz="2400" i="1" spc="-114" dirty="0">
                <a:latin typeface="Trebuchet MS"/>
                <a:cs typeface="Trebuchet MS"/>
              </a:rPr>
              <a:t>en</a:t>
            </a:r>
            <a:r>
              <a:rPr sz="2400" i="1" dirty="0">
                <a:latin typeface="Trebuchet MS"/>
                <a:cs typeface="Trebuchet MS"/>
              </a:rPr>
              <a:t>	</a:t>
            </a:r>
            <a:r>
              <a:rPr sz="2400" i="1" spc="-100" dirty="0">
                <a:latin typeface="Trebuchet MS"/>
                <a:cs typeface="Trebuchet MS"/>
              </a:rPr>
              <a:t>l</a:t>
            </a:r>
            <a:r>
              <a:rPr sz="2400" i="1" spc="-175" dirty="0">
                <a:latin typeface="Trebuchet MS"/>
                <a:cs typeface="Trebuchet MS"/>
              </a:rPr>
              <a:t>o</a:t>
            </a:r>
            <a:r>
              <a:rPr sz="2400" i="1" dirty="0">
                <a:latin typeface="Trebuchet MS"/>
                <a:cs typeface="Trebuchet MS"/>
              </a:rPr>
              <a:t>	</a:t>
            </a:r>
            <a:r>
              <a:rPr sz="2400" i="1" spc="-120" dirty="0">
                <a:latin typeface="Trebuchet MS"/>
                <a:cs typeface="Trebuchet MS"/>
              </a:rPr>
              <a:t>que</a:t>
            </a:r>
            <a:r>
              <a:rPr sz="2400" i="1" dirty="0">
                <a:latin typeface="Trebuchet MS"/>
                <a:cs typeface="Trebuchet MS"/>
              </a:rPr>
              <a:t>	</a:t>
            </a:r>
            <a:r>
              <a:rPr sz="2400" i="1" spc="-135" dirty="0">
                <a:latin typeface="Trebuchet MS"/>
                <a:cs typeface="Trebuchet MS"/>
              </a:rPr>
              <a:t>di</a:t>
            </a:r>
            <a:r>
              <a:rPr sz="2400" i="1" spc="-160" dirty="0">
                <a:latin typeface="Trebuchet MS"/>
                <a:cs typeface="Trebuchet MS"/>
              </a:rPr>
              <a:t>c</a:t>
            </a:r>
            <a:r>
              <a:rPr sz="2400" i="1" spc="-145" dirty="0">
                <a:latin typeface="Trebuchet MS"/>
                <a:cs typeface="Trebuchet MS"/>
              </a:rPr>
              <a:t>e</a:t>
            </a:r>
            <a:r>
              <a:rPr sz="2400" i="1" dirty="0">
                <a:latin typeface="Trebuchet MS"/>
                <a:cs typeface="Trebuchet MS"/>
              </a:rPr>
              <a:t>	</a:t>
            </a:r>
            <a:r>
              <a:rPr sz="2400" i="1" spc="-170" dirty="0">
                <a:latin typeface="Trebuchet MS"/>
                <a:cs typeface="Trebuchet MS"/>
              </a:rPr>
              <a:t>el </a:t>
            </a:r>
            <a:r>
              <a:rPr sz="2400" i="1" spc="-135" dirty="0">
                <a:latin typeface="Trebuchet MS"/>
                <a:cs typeface="Trebuchet MS"/>
              </a:rPr>
              <a:t> </a:t>
            </a:r>
            <a:r>
              <a:rPr sz="2400" i="1" spc="-114" dirty="0">
                <a:latin typeface="Trebuchet MS"/>
                <a:cs typeface="Trebuchet MS"/>
              </a:rPr>
              <a:t>vendedor </a:t>
            </a:r>
            <a:r>
              <a:rPr sz="2400" i="1" spc="-125" dirty="0">
                <a:latin typeface="Trebuchet MS"/>
                <a:cs typeface="Trebuchet MS"/>
              </a:rPr>
              <a:t>de</a:t>
            </a:r>
            <a:r>
              <a:rPr sz="2400" i="1" spc="-229" dirty="0">
                <a:latin typeface="Trebuchet MS"/>
                <a:cs typeface="Trebuchet MS"/>
              </a:rPr>
              <a:t> </a:t>
            </a:r>
            <a:r>
              <a:rPr sz="2400" i="1" spc="-215" dirty="0">
                <a:latin typeface="Trebuchet MS"/>
                <a:cs typeface="Trebuchet MS"/>
              </a:rPr>
              <a:t>ERP.</a:t>
            </a:r>
            <a:endParaRPr sz="2400">
              <a:latin typeface="Trebuchet MS"/>
              <a:cs typeface="Trebuchet MS"/>
            </a:endParaRPr>
          </a:p>
          <a:p>
            <a:pPr marL="469900" indent="-457200">
              <a:lnSpc>
                <a:spcPct val="100000"/>
              </a:lnSpc>
              <a:buFont typeface="Arial"/>
              <a:buChar char="•"/>
              <a:tabLst>
                <a:tab pos="469900" algn="l"/>
                <a:tab pos="470534" algn="l"/>
              </a:tabLst>
            </a:pPr>
            <a:r>
              <a:rPr sz="2400" i="1" spc="-85" dirty="0">
                <a:latin typeface="Trebuchet MS"/>
                <a:cs typeface="Trebuchet MS"/>
              </a:rPr>
              <a:t>Poca</a:t>
            </a:r>
            <a:r>
              <a:rPr sz="2400" i="1" spc="-175" dirty="0">
                <a:latin typeface="Trebuchet MS"/>
                <a:cs typeface="Trebuchet MS"/>
              </a:rPr>
              <a:t> </a:t>
            </a:r>
            <a:r>
              <a:rPr sz="2400" i="1" spc="-125" dirty="0">
                <a:latin typeface="Trebuchet MS"/>
                <a:cs typeface="Trebuchet MS"/>
              </a:rPr>
              <a:t>capacitación.</a:t>
            </a:r>
            <a:endParaRPr sz="2400">
              <a:latin typeface="Trebuchet MS"/>
              <a:cs typeface="Trebuchet MS"/>
            </a:endParaRPr>
          </a:p>
          <a:p>
            <a:pPr marL="469900" indent="-457200">
              <a:lnSpc>
                <a:spcPct val="100000"/>
              </a:lnSpc>
              <a:buFont typeface="Arial"/>
              <a:buChar char="•"/>
              <a:tabLst>
                <a:tab pos="469900" algn="l"/>
                <a:tab pos="470534" algn="l"/>
              </a:tabLst>
            </a:pPr>
            <a:r>
              <a:rPr sz="2400" i="1" spc="-85" dirty="0">
                <a:latin typeface="Trebuchet MS"/>
                <a:cs typeface="Trebuchet MS"/>
              </a:rPr>
              <a:t>Poca</a:t>
            </a:r>
            <a:r>
              <a:rPr sz="2400" i="1" spc="-175" dirty="0">
                <a:latin typeface="Trebuchet MS"/>
                <a:cs typeface="Trebuchet MS"/>
              </a:rPr>
              <a:t> flexibilidad.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96000" y="1143000"/>
            <a:ext cx="2867405" cy="15910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096000" y="2895600"/>
            <a:ext cx="2867405" cy="15430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096000" y="4588764"/>
            <a:ext cx="2860548" cy="17434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26</a:t>
            </a:fld>
            <a:endParaRPr spc="-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56642"/>
            <a:ext cx="8241030" cy="4400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5" dirty="0">
                <a:solidFill>
                  <a:srgbClr val="FFFFFF"/>
                </a:solidFill>
                <a:latin typeface="Trebuchet MS"/>
                <a:cs typeface="Trebuchet MS"/>
              </a:rPr>
              <a:t>Integración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 </a:t>
            </a:r>
            <a:r>
              <a:rPr sz="2000" b="1" spc="75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2000" b="1" spc="-4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ERP (Cont.)</a:t>
            </a:r>
            <a:endParaRPr sz="2000">
              <a:latin typeface="Trebuchet MS"/>
              <a:cs typeface="Trebuchet MS"/>
            </a:endParaRPr>
          </a:p>
          <a:p>
            <a:pPr marL="59055" marR="5080">
              <a:lnSpc>
                <a:spcPct val="100000"/>
              </a:lnSpc>
              <a:spcBef>
                <a:spcPts val="15"/>
              </a:spcBef>
            </a:pPr>
            <a:r>
              <a:rPr sz="1800" spc="-240" dirty="0">
                <a:solidFill>
                  <a:srgbClr val="FFFFFF"/>
                </a:solidFill>
                <a:latin typeface="Arial"/>
                <a:cs typeface="Arial"/>
              </a:rPr>
              <a:t>ERP: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puntos 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 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600" b="1" spc="-165" dirty="0">
                <a:latin typeface="Trebuchet MS"/>
                <a:cs typeface="Trebuchet MS"/>
              </a:rPr>
              <a:t>ERP </a:t>
            </a:r>
            <a:r>
              <a:rPr sz="2600" b="1" spc="-155" dirty="0">
                <a:latin typeface="Arial"/>
                <a:cs typeface="Arial"/>
              </a:rPr>
              <a:t>– </a:t>
            </a:r>
            <a:r>
              <a:rPr sz="2600" b="1" spc="-120" dirty="0">
                <a:latin typeface="Trebuchet MS"/>
                <a:cs typeface="Trebuchet MS"/>
              </a:rPr>
              <a:t>Casos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265" dirty="0">
                <a:latin typeface="Trebuchet MS"/>
                <a:cs typeface="Trebuchet MS"/>
              </a:rPr>
              <a:t> </a:t>
            </a:r>
            <a:r>
              <a:rPr sz="2600" b="1" spc="-150" dirty="0">
                <a:latin typeface="Trebuchet MS"/>
                <a:cs typeface="Trebuchet MS"/>
              </a:rPr>
              <a:t>fracaso</a:t>
            </a:r>
            <a:endParaRPr sz="2600">
              <a:latin typeface="Trebuchet MS"/>
              <a:cs typeface="Trebuchet MS"/>
            </a:endParaRPr>
          </a:p>
          <a:p>
            <a:pPr marL="469900" marR="1688464" indent="-457834" algn="just">
              <a:lnSpc>
                <a:spcPct val="100000"/>
              </a:lnSpc>
              <a:spcBef>
                <a:spcPts val="25"/>
              </a:spcBef>
            </a:pPr>
            <a:r>
              <a:rPr sz="2200" b="1" i="1" spc="-70" dirty="0">
                <a:latin typeface="Arial"/>
                <a:cs typeface="Arial"/>
              </a:rPr>
              <a:t>1. </a:t>
            </a:r>
            <a:r>
              <a:rPr sz="2200" b="1" i="1" spc="-114" dirty="0">
                <a:latin typeface="Arial"/>
                <a:cs typeface="Arial"/>
              </a:rPr>
              <a:t>Definitely </a:t>
            </a:r>
            <a:r>
              <a:rPr sz="2200" b="1" i="1" spc="-105" dirty="0">
                <a:latin typeface="Arial"/>
                <a:cs typeface="Arial"/>
              </a:rPr>
              <a:t>Not </a:t>
            </a:r>
            <a:r>
              <a:rPr sz="2200" b="1" i="1" spc="-65" dirty="0">
                <a:latin typeface="Arial"/>
                <a:cs typeface="Arial"/>
              </a:rPr>
              <a:t>a</a:t>
            </a:r>
            <a:r>
              <a:rPr sz="2200" b="1" i="1" spc="480" dirty="0">
                <a:latin typeface="Arial"/>
                <a:cs typeface="Arial"/>
              </a:rPr>
              <a:t> </a:t>
            </a:r>
            <a:r>
              <a:rPr sz="2200" b="1" i="1" spc="-170" dirty="0">
                <a:latin typeface="Arial"/>
                <a:cs typeface="Arial"/>
              </a:rPr>
              <a:t>Sweet </a:t>
            </a:r>
            <a:r>
              <a:rPr sz="2200" b="1" i="1" spc="-195" dirty="0">
                <a:latin typeface="Arial"/>
                <a:cs typeface="Arial"/>
              </a:rPr>
              <a:t>Experience </a:t>
            </a:r>
            <a:r>
              <a:rPr sz="2200" b="1" i="1" spc="-110" dirty="0">
                <a:latin typeface="Arial"/>
                <a:cs typeface="Arial"/>
              </a:rPr>
              <a:t>for </a:t>
            </a:r>
            <a:r>
              <a:rPr sz="2200" b="1" i="1" spc="-195" dirty="0">
                <a:latin typeface="Arial"/>
                <a:cs typeface="Arial"/>
              </a:rPr>
              <a:t>Hershey  </a:t>
            </a:r>
            <a:r>
              <a:rPr sz="2200" spc="-125" dirty="0">
                <a:latin typeface="Arial"/>
                <a:cs typeface="Arial"/>
              </a:rPr>
              <a:t>Could </a:t>
            </a:r>
            <a:r>
              <a:rPr sz="2200" spc="-170" dirty="0">
                <a:latin typeface="Arial"/>
                <a:cs typeface="Arial"/>
              </a:rPr>
              <a:t>a </a:t>
            </a:r>
            <a:r>
              <a:rPr sz="2200" spc="-60" dirty="0">
                <a:latin typeface="Arial"/>
                <a:cs typeface="Arial"/>
              </a:rPr>
              <a:t>failed </a:t>
            </a:r>
            <a:r>
              <a:rPr sz="2200" spc="-80" dirty="0">
                <a:latin typeface="Arial"/>
                <a:cs typeface="Arial"/>
              </a:rPr>
              <a:t>technology </a:t>
            </a:r>
            <a:r>
              <a:rPr sz="2200" spc="-50" dirty="0">
                <a:latin typeface="Arial"/>
                <a:cs typeface="Arial"/>
              </a:rPr>
              <a:t>implementation </a:t>
            </a:r>
            <a:r>
              <a:rPr sz="2200" spc="-45" dirty="0">
                <a:latin typeface="Arial"/>
                <a:cs typeface="Arial"/>
              </a:rPr>
              <a:t>(in this  </a:t>
            </a:r>
            <a:r>
              <a:rPr sz="2200" spc="-185" dirty="0">
                <a:latin typeface="Arial"/>
                <a:cs typeface="Arial"/>
              </a:rPr>
              <a:t>case </a:t>
            </a:r>
            <a:r>
              <a:rPr sz="2200" spc="-240" dirty="0">
                <a:latin typeface="Arial"/>
                <a:cs typeface="Arial"/>
              </a:rPr>
              <a:t>SAP's </a:t>
            </a:r>
            <a:r>
              <a:rPr sz="2200" spc="-90" dirty="0">
                <a:latin typeface="Arial"/>
                <a:cs typeface="Arial"/>
              </a:rPr>
              <a:t>R/3 </a:t>
            </a:r>
            <a:r>
              <a:rPr sz="2200" spc="-380" dirty="0">
                <a:latin typeface="Arial"/>
                <a:cs typeface="Arial"/>
              </a:rPr>
              <a:t>ERP </a:t>
            </a:r>
            <a:r>
              <a:rPr sz="2200" spc="-60" dirty="0">
                <a:latin typeface="Arial"/>
                <a:cs typeface="Arial"/>
              </a:rPr>
              <a:t>software) </a:t>
            </a:r>
            <a:r>
              <a:rPr sz="2200" spc="-95" dirty="0">
                <a:latin typeface="Arial"/>
                <a:cs typeface="Arial"/>
              </a:rPr>
              <a:t>take </a:t>
            </a:r>
            <a:r>
              <a:rPr sz="2200" spc="-60" dirty="0">
                <a:latin typeface="Arial"/>
                <a:cs typeface="Arial"/>
              </a:rPr>
              <a:t>down </a:t>
            </a:r>
            <a:r>
              <a:rPr sz="2200" spc="-170" dirty="0">
                <a:latin typeface="Arial"/>
                <a:cs typeface="Arial"/>
              </a:rPr>
              <a:t>a </a:t>
            </a:r>
            <a:r>
              <a:rPr sz="2200" spc="-85" dirty="0">
                <a:latin typeface="Arial"/>
                <a:cs typeface="Arial"/>
              </a:rPr>
              <a:t>Fortune  </a:t>
            </a:r>
            <a:r>
              <a:rPr sz="2200" spc="-114" dirty="0">
                <a:latin typeface="Arial"/>
                <a:cs typeface="Arial"/>
              </a:rPr>
              <a:t>500 </a:t>
            </a:r>
            <a:r>
              <a:rPr sz="2200" spc="-120" dirty="0">
                <a:latin typeface="Arial"/>
                <a:cs typeface="Arial"/>
              </a:rPr>
              <a:t>company </a:t>
            </a:r>
            <a:r>
              <a:rPr sz="2200" spc="-45" dirty="0">
                <a:latin typeface="Arial"/>
                <a:cs typeface="Arial"/>
              </a:rPr>
              <a:t>(in this </a:t>
            </a:r>
            <a:r>
              <a:rPr sz="2200" spc="-185" dirty="0">
                <a:latin typeface="Arial"/>
                <a:cs typeface="Arial"/>
              </a:rPr>
              <a:t>case </a:t>
            </a:r>
            <a:r>
              <a:rPr sz="2200" spc="-135" dirty="0">
                <a:latin typeface="Arial"/>
                <a:cs typeface="Arial"/>
              </a:rPr>
              <a:t>Hershey </a:t>
            </a:r>
            <a:r>
              <a:rPr sz="2200" spc="-155" dirty="0">
                <a:latin typeface="Arial"/>
                <a:cs typeface="Arial"/>
              </a:rPr>
              <a:t>Foods)? </a:t>
            </a:r>
            <a:r>
              <a:rPr sz="2200" spc="-65" dirty="0">
                <a:latin typeface="Arial"/>
                <a:cs typeface="Arial"/>
              </a:rPr>
              <a:t>In </a:t>
            </a:r>
            <a:r>
              <a:rPr sz="2200" spc="-25" dirty="0">
                <a:latin typeface="Arial"/>
                <a:cs typeface="Arial"/>
              </a:rPr>
              <a:t>the  </a:t>
            </a:r>
            <a:r>
              <a:rPr sz="2200" spc="-85" dirty="0">
                <a:latin typeface="Arial"/>
                <a:cs typeface="Arial"/>
              </a:rPr>
              <a:t>end, </a:t>
            </a:r>
            <a:r>
              <a:rPr sz="2200" spc="-125" dirty="0">
                <a:latin typeface="Arial"/>
                <a:cs typeface="Arial"/>
              </a:rPr>
              <a:t>Hershey's </a:t>
            </a:r>
            <a:r>
              <a:rPr sz="2200" spc="-95" dirty="0">
                <a:latin typeface="Arial"/>
                <a:cs typeface="Arial"/>
              </a:rPr>
              <a:t>ghastly </a:t>
            </a:r>
            <a:r>
              <a:rPr sz="2200" spc="-85" dirty="0">
                <a:latin typeface="Arial"/>
                <a:cs typeface="Arial"/>
              </a:rPr>
              <a:t>problems </a:t>
            </a:r>
            <a:r>
              <a:rPr sz="2200" spc="10" dirty="0">
                <a:latin typeface="Arial"/>
                <a:cs typeface="Arial"/>
              </a:rPr>
              <a:t>with </a:t>
            </a:r>
            <a:r>
              <a:rPr sz="2200" spc="-40" dirty="0">
                <a:latin typeface="Arial"/>
                <a:cs typeface="Arial"/>
              </a:rPr>
              <a:t>its </a:t>
            </a:r>
            <a:r>
              <a:rPr sz="2200" spc="-335" dirty="0">
                <a:latin typeface="Arial"/>
                <a:cs typeface="Arial"/>
              </a:rPr>
              <a:t>SAP </a:t>
            </a:r>
            <a:r>
              <a:rPr sz="2200" spc="-370" dirty="0">
                <a:latin typeface="Arial"/>
                <a:cs typeface="Arial"/>
              </a:rPr>
              <a:t>ERP,  </a:t>
            </a:r>
            <a:r>
              <a:rPr sz="2200" spc="-130" dirty="0">
                <a:latin typeface="Arial"/>
                <a:cs typeface="Arial"/>
              </a:rPr>
              <a:t>Siebel </a:t>
            </a:r>
            <a:r>
              <a:rPr sz="2200" spc="-254" dirty="0">
                <a:latin typeface="Arial"/>
                <a:cs typeface="Arial"/>
              </a:rPr>
              <a:t>CRM </a:t>
            </a:r>
            <a:r>
              <a:rPr sz="2200" spc="-110" dirty="0">
                <a:latin typeface="Arial"/>
                <a:cs typeface="Arial"/>
              </a:rPr>
              <a:t>and </a:t>
            </a:r>
            <a:r>
              <a:rPr sz="2200" spc="-95" dirty="0">
                <a:latin typeface="Arial"/>
                <a:cs typeface="Arial"/>
              </a:rPr>
              <a:t>Manugistics supply </a:t>
            </a:r>
            <a:r>
              <a:rPr sz="2200" spc="-100" dirty="0">
                <a:latin typeface="Arial"/>
                <a:cs typeface="Arial"/>
              </a:rPr>
              <a:t>chain  </a:t>
            </a:r>
            <a:r>
              <a:rPr sz="2200" spc="-80" dirty="0">
                <a:latin typeface="Arial"/>
                <a:cs typeface="Arial"/>
              </a:rPr>
              <a:t>applications </a:t>
            </a:r>
            <a:r>
              <a:rPr sz="2200" spc="-75" dirty="0">
                <a:latin typeface="Arial"/>
                <a:cs typeface="Arial"/>
              </a:rPr>
              <a:t>prevented </a:t>
            </a:r>
            <a:r>
              <a:rPr sz="2200" spc="65" dirty="0">
                <a:latin typeface="Arial"/>
                <a:cs typeface="Arial"/>
              </a:rPr>
              <a:t>it </a:t>
            </a:r>
            <a:r>
              <a:rPr sz="2200" spc="-25" dirty="0">
                <a:latin typeface="Arial"/>
                <a:cs typeface="Arial"/>
              </a:rPr>
              <a:t>from </a:t>
            </a:r>
            <a:r>
              <a:rPr sz="2200" spc="-70" dirty="0">
                <a:latin typeface="Arial"/>
                <a:cs typeface="Arial"/>
              </a:rPr>
              <a:t>delivering </a:t>
            </a:r>
            <a:r>
              <a:rPr sz="2200" spc="-114" dirty="0">
                <a:latin typeface="Arial"/>
                <a:cs typeface="Arial"/>
              </a:rPr>
              <a:t>$100</a:t>
            </a:r>
            <a:r>
              <a:rPr sz="2200" spc="-375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million  </a:t>
            </a:r>
            <a:r>
              <a:rPr sz="2200" spc="-5" dirty="0">
                <a:latin typeface="Arial"/>
                <a:cs typeface="Arial"/>
              </a:rPr>
              <a:t>worth of </a:t>
            </a:r>
            <a:r>
              <a:rPr sz="2200" spc="-200" dirty="0">
                <a:latin typeface="Arial"/>
                <a:cs typeface="Arial"/>
              </a:rPr>
              <a:t>Kisses </a:t>
            </a:r>
            <a:r>
              <a:rPr sz="2200" spc="-10" dirty="0">
                <a:latin typeface="Arial"/>
                <a:cs typeface="Arial"/>
              </a:rPr>
              <a:t>for </a:t>
            </a:r>
            <a:r>
              <a:rPr sz="2200" spc="-95" dirty="0">
                <a:latin typeface="Arial"/>
                <a:cs typeface="Arial"/>
              </a:rPr>
              <a:t>Halloween </a:t>
            </a:r>
            <a:r>
              <a:rPr sz="2200" spc="-5" dirty="0">
                <a:latin typeface="Arial"/>
                <a:cs typeface="Arial"/>
              </a:rPr>
              <a:t>that </a:t>
            </a:r>
            <a:r>
              <a:rPr sz="2200" spc="-100" dirty="0">
                <a:latin typeface="Arial"/>
                <a:cs typeface="Arial"/>
              </a:rPr>
              <a:t>year </a:t>
            </a:r>
            <a:r>
              <a:rPr sz="2200" spc="-105" dirty="0">
                <a:latin typeface="Arial"/>
                <a:cs typeface="Arial"/>
              </a:rPr>
              <a:t>and </a:t>
            </a:r>
            <a:r>
              <a:rPr sz="2200" spc="-145" dirty="0">
                <a:latin typeface="Arial"/>
                <a:cs typeface="Arial"/>
              </a:rPr>
              <a:t>caused  </a:t>
            </a:r>
            <a:r>
              <a:rPr sz="2200" spc="-25" dirty="0">
                <a:latin typeface="Arial"/>
                <a:cs typeface="Arial"/>
              </a:rPr>
              <a:t>the </a:t>
            </a:r>
            <a:r>
              <a:rPr sz="2200" spc="-105" dirty="0">
                <a:latin typeface="Arial"/>
                <a:cs typeface="Arial"/>
              </a:rPr>
              <a:t>stock </a:t>
            </a:r>
            <a:r>
              <a:rPr sz="2200" spc="15" dirty="0">
                <a:latin typeface="Arial"/>
                <a:cs typeface="Arial"/>
              </a:rPr>
              <a:t>to </a:t>
            </a:r>
            <a:r>
              <a:rPr sz="2200" spc="-45" dirty="0">
                <a:latin typeface="Arial"/>
                <a:cs typeface="Arial"/>
              </a:rPr>
              <a:t>dip </a:t>
            </a:r>
            <a:r>
              <a:rPr sz="2200" spc="-110" dirty="0">
                <a:latin typeface="Arial"/>
                <a:cs typeface="Arial"/>
              </a:rPr>
              <a:t>8</a:t>
            </a:r>
            <a:r>
              <a:rPr sz="2200" spc="-440" dirty="0">
                <a:latin typeface="Arial"/>
                <a:cs typeface="Arial"/>
              </a:rPr>
              <a:t> </a:t>
            </a:r>
            <a:r>
              <a:rPr sz="2200" spc="-70" dirty="0">
                <a:latin typeface="Arial"/>
                <a:cs typeface="Arial"/>
              </a:rPr>
              <a:t>percent.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268" y="4431284"/>
            <a:ext cx="152908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900" algn="l"/>
                <a:tab pos="1191895" algn="l"/>
              </a:tabLst>
            </a:pPr>
            <a:r>
              <a:rPr sz="2200" b="1" i="1" spc="-95" dirty="0">
                <a:latin typeface="Arial"/>
                <a:cs typeface="Arial"/>
              </a:rPr>
              <a:t>2</a:t>
            </a:r>
            <a:r>
              <a:rPr sz="2200" b="1" i="1" spc="-45" dirty="0">
                <a:latin typeface="Arial"/>
                <a:cs typeface="Arial"/>
              </a:rPr>
              <a:t>.</a:t>
            </a:r>
            <a:r>
              <a:rPr sz="2200" b="1" i="1" dirty="0">
                <a:latin typeface="Arial"/>
                <a:cs typeface="Arial"/>
              </a:rPr>
              <a:t>	</a:t>
            </a:r>
            <a:r>
              <a:rPr sz="2200" b="1" i="1" spc="-355" dirty="0">
                <a:latin typeface="Arial"/>
                <a:cs typeface="Arial"/>
              </a:rPr>
              <a:t>Ju</a:t>
            </a:r>
            <a:r>
              <a:rPr sz="2200" b="1" i="1" spc="-365" dirty="0">
                <a:latin typeface="Arial"/>
                <a:cs typeface="Arial"/>
              </a:rPr>
              <a:t>s</a:t>
            </a:r>
            <a:r>
              <a:rPr sz="2200" b="1" i="1" spc="30" dirty="0">
                <a:latin typeface="Arial"/>
                <a:cs typeface="Arial"/>
              </a:rPr>
              <a:t>t</a:t>
            </a:r>
            <a:r>
              <a:rPr sz="2200" b="1" i="1" dirty="0">
                <a:latin typeface="Arial"/>
                <a:cs typeface="Arial"/>
              </a:rPr>
              <a:t>	</a:t>
            </a:r>
            <a:r>
              <a:rPr sz="2200" b="1" i="1" spc="-200" dirty="0">
                <a:latin typeface="Arial"/>
                <a:cs typeface="Arial"/>
              </a:rPr>
              <a:t>Do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22601" y="4431284"/>
            <a:ext cx="477393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1020" algn="l"/>
                <a:tab pos="1146810" algn="l"/>
                <a:tab pos="1859914" algn="l"/>
                <a:tab pos="2914015" algn="l"/>
                <a:tab pos="3849370" algn="l"/>
              </a:tabLst>
            </a:pPr>
            <a:r>
              <a:rPr sz="2200" b="1" i="1" dirty="0">
                <a:latin typeface="Arial"/>
                <a:cs typeface="Arial"/>
              </a:rPr>
              <a:t>I</a:t>
            </a:r>
            <a:r>
              <a:rPr sz="2200" b="1" i="1" spc="-5" dirty="0">
                <a:latin typeface="Arial"/>
                <a:cs typeface="Arial"/>
              </a:rPr>
              <a:t>t</a:t>
            </a:r>
            <a:r>
              <a:rPr sz="2200" b="1" i="1" spc="-130" dirty="0">
                <a:latin typeface="Arial"/>
                <a:cs typeface="Arial"/>
              </a:rPr>
              <a:t>:</a:t>
            </a:r>
            <a:r>
              <a:rPr sz="2200" b="1" i="1" dirty="0">
                <a:latin typeface="Arial"/>
                <a:cs typeface="Arial"/>
              </a:rPr>
              <a:t>	</a:t>
            </a:r>
            <a:r>
              <a:rPr sz="2200" b="1" i="1" spc="-210" dirty="0">
                <a:latin typeface="Arial"/>
                <a:cs typeface="Arial"/>
              </a:rPr>
              <a:t>Fix</a:t>
            </a:r>
            <a:r>
              <a:rPr sz="2200" b="1" i="1" dirty="0">
                <a:latin typeface="Arial"/>
                <a:cs typeface="Arial"/>
              </a:rPr>
              <a:t>	</a:t>
            </a:r>
            <a:r>
              <a:rPr sz="2200" b="1" i="1" spc="-204" dirty="0">
                <a:latin typeface="Arial"/>
                <a:cs typeface="Arial"/>
              </a:rPr>
              <a:t>Ou</a:t>
            </a:r>
            <a:r>
              <a:rPr sz="2200" b="1" i="1" spc="-114" dirty="0">
                <a:latin typeface="Arial"/>
                <a:cs typeface="Arial"/>
              </a:rPr>
              <a:t>r</a:t>
            </a:r>
            <a:r>
              <a:rPr sz="2200" b="1" i="1" dirty="0">
                <a:latin typeface="Arial"/>
                <a:cs typeface="Arial"/>
              </a:rPr>
              <a:t>	</a:t>
            </a:r>
            <a:r>
              <a:rPr sz="2200" b="1" i="1" spc="-280" dirty="0">
                <a:latin typeface="Arial"/>
                <a:cs typeface="Arial"/>
              </a:rPr>
              <a:t>Su</a:t>
            </a:r>
            <a:r>
              <a:rPr sz="2200" b="1" i="1" spc="-265" dirty="0">
                <a:latin typeface="Arial"/>
                <a:cs typeface="Arial"/>
              </a:rPr>
              <a:t>p</a:t>
            </a:r>
            <a:r>
              <a:rPr sz="2200" b="1" i="1" spc="-150" dirty="0">
                <a:latin typeface="Arial"/>
                <a:cs typeface="Arial"/>
              </a:rPr>
              <a:t>ply</a:t>
            </a:r>
            <a:r>
              <a:rPr sz="2200" b="1" i="1" dirty="0">
                <a:latin typeface="Arial"/>
                <a:cs typeface="Arial"/>
              </a:rPr>
              <a:t>	</a:t>
            </a:r>
            <a:r>
              <a:rPr sz="2200" b="1" i="1" spc="-459" dirty="0">
                <a:latin typeface="Arial"/>
                <a:cs typeface="Arial"/>
              </a:rPr>
              <a:t>C</a:t>
            </a:r>
            <a:r>
              <a:rPr sz="2200" b="1" i="1" spc="-125" dirty="0">
                <a:latin typeface="Arial"/>
                <a:cs typeface="Arial"/>
              </a:rPr>
              <a:t>hai</a:t>
            </a:r>
            <a:r>
              <a:rPr sz="2200" b="1" i="1" spc="-150" dirty="0">
                <a:latin typeface="Arial"/>
                <a:cs typeface="Arial"/>
              </a:rPr>
              <a:t>n</a:t>
            </a:r>
            <a:r>
              <a:rPr sz="2200" b="1" i="1" dirty="0">
                <a:latin typeface="Arial"/>
                <a:cs typeface="Arial"/>
              </a:rPr>
              <a:t>	</a:t>
            </a:r>
            <a:r>
              <a:rPr sz="2200" b="1" i="1" spc="-475" dirty="0">
                <a:latin typeface="Arial"/>
                <a:cs typeface="Arial"/>
              </a:rPr>
              <a:t>S</a:t>
            </a:r>
            <a:r>
              <a:rPr sz="2200" b="1" i="1" spc="-280" dirty="0">
                <a:latin typeface="Arial"/>
                <a:cs typeface="Arial"/>
              </a:rPr>
              <a:t>y</a:t>
            </a:r>
            <a:r>
              <a:rPr sz="2200" b="1" i="1" spc="-300" dirty="0">
                <a:latin typeface="Arial"/>
                <a:cs typeface="Arial"/>
              </a:rPr>
              <a:t>s</a:t>
            </a:r>
            <a:r>
              <a:rPr sz="2200" b="1" i="1" dirty="0">
                <a:latin typeface="Arial"/>
                <a:cs typeface="Arial"/>
              </a:rPr>
              <a:t>t</a:t>
            </a:r>
            <a:r>
              <a:rPr sz="2200" b="1" i="1" spc="-155" dirty="0">
                <a:latin typeface="Arial"/>
                <a:cs typeface="Arial"/>
              </a:rPr>
              <a:t>e</a:t>
            </a:r>
            <a:r>
              <a:rPr sz="2200" b="1" i="1" spc="-105" dirty="0">
                <a:latin typeface="Arial"/>
                <a:cs typeface="Arial"/>
              </a:rPr>
              <a:t>m!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7527" y="4766564"/>
            <a:ext cx="8596630" cy="1702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1640" marR="2092325" algn="just">
              <a:lnSpc>
                <a:spcPct val="100000"/>
              </a:lnSpc>
              <a:spcBef>
                <a:spcPts val="100"/>
              </a:spcBef>
            </a:pPr>
            <a:r>
              <a:rPr sz="2200" spc="-65" dirty="0">
                <a:latin typeface="Arial"/>
                <a:cs typeface="Arial"/>
              </a:rPr>
              <a:t>What </a:t>
            </a:r>
            <a:r>
              <a:rPr sz="2200" spc="-50" dirty="0">
                <a:latin typeface="Arial"/>
                <a:cs typeface="Arial"/>
              </a:rPr>
              <a:t>did </a:t>
            </a:r>
            <a:r>
              <a:rPr sz="2200" spc="-170" dirty="0">
                <a:latin typeface="Arial"/>
                <a:cs typeface="Arial"/>
              </a:rPr>
              <a:t>a </a:t>
            </a:r>
            <a:r>
              <a:rPr sz="2200" spc="-114" dirty="0">
                <a:latin typeface="Arial"/>
                <a:cs typeface="Arial"/>
              </a:rPr>
              <a:t>$400 </a:t>
            </a:r>
            <a:r>
              <a:rPr sz="2200" spc="-25" dirty="0">
                <a:latin typeface="Arial"/>
                <a:cs typeface="Arial"/>
              </a:rPr>
              <a:t>million </a:t>
            </a:r>
            <a:r>
              <a:rPr sz="2200" spc="-105" dirty="0">
                <a:latin typeface="Arial"/>
                <a:cs typeface="Arial"/>
              </a:rPr>
              <a:t>upgrade </a:t>
            </a:r>
            <a:r>
              <a:rPr sz="2200" spc="15" dirty="0">
                <a:latin typeface="Arial"/>
                <a:cs typeface="Arial"/>
              </a:rPr>
              <a:t>to </a:t>
            </a:r>
            <a:r>
              <a:rPr sz="2200" spc="-105" dirty="0">
                <a:latin typeface="Arial"/>
                <a:cs typeface="Arial"/>
              </a:rPr>
              <a:t>Nike's </a:t>
            </a:r>
            <a:r>
              <a:rPr sz="2200" spc="-95" dirty="0">
                <a:latin typeface="Arial"/>
                <a:cs typeface="Arial"/>
              </a:rPr>
              <a:t>supply  </a:t>
            </a:r>
            <a:r>
              <a:rPr sz="2200" spc="-100" dirty="0">
                <a:latin typeface="Arial"/>
                <a:cs typeface="Arial"/>
              </a:rPr>
              <a:t>chain </a:t>
            </a:r>
            <a:r>
              <a:rPr sz="2200" spc="-105" dirty="0">
                <a:latin typeface="Arial"/>
                <a:cs typeface="Arial"/>
              </a:rPr>
              <a:t>and </a:t>
            </a:r>
            <a:r>
              <a:rPr sz="2200" spc="-380" dirty="0">
                <a:latin typeface="Arial"/>
                <a:cs typeface="Arial"/>
              </a:rPr>
              <a:t>ERP </a:t>
            </a:r>
            <a:r>
              <a:rPr sz="2200" spc="-145" dirty="0">
                <a:latin typeface="Arial"/>
                <a:cs typeface="Arial"/>
              </a:rPr>
              <a:t>systems </a:t>
            </a:r>
            <a:r>
              <a:rPr sz="2200" spc="-70" dirty="0">
                <a:latin typeface="Arial"/>
                <a:cs typeface="Arial"/>
              </a:rPr>
              <a:t>get </a:t>
            </a:r>
            <a:r>
              <a:rPr sz="2200" spc="-25" dirty="0">
                <a:latin typeface="Arial"/>
                <a:cs typeface="Arial"/>
              </a:rPr>
              <a:t>the </a:t>
            </a:r>
            <a:r>
              <a:rPr sz="2200" spc="-55" dirty="0">
                <a:latin typeface="Arial"/>
                <a:cs typeface="Arial"/>
              </a:rPr>
              <a:t>world-renowned  </a:t>
            </a:r>
            <a:r>
              <a:rPr sz="2200" spc="-114" dirty="0">
                <a:latin typeface="Arial"/>
                <a:cs typeface="Arial"/>
              </a:rPr>
              <a:t>shoe-   </a:t>
            </a:r>
            <a:r>
              <a:rPr sz="2200" spc="-105" dirty="0">
                <a:latin typeface="Arial"/>
                <a:cs typeface="Arial"/>
              </a:rPr>
              <a:t>and   </a:t>
            </a:r>
            <a:r>
              <a:rPr sz="2200" spc="-40" dirty="0">
                <a:latin typeface="Arial"/>
                <a:cs typeface="Arial"/>
              </a:rPr>
              <a:t>athletic  </a:t>
            </a:r>
            <a:r>
              <a:rPr sz="2200" spc="-114" dirty="0">
                <a:latin typeface="Arial"/>
                <a:cs typeface="Arial"/>
              </a:rPr>
              <a:t>gear-maker?   </a:t>
            </a:r>
            <a:r>
              <a:rPr sz="2200" spc="-75" dirty="0">
                <a:latin typeface="Arial"/>
                <a:cs typeface="Arial"/>
              </a:rPr>
              <a:t>Well,  </a:t>
            </a:r>
            <a:r>
              <a:rPr sz="2200" spc="-10" dirty="0">
                <a:latin typeface="Arial"/>
                <a:cs typeface="Arial"/>
              </a:rPr>
              <a:t>for</a:t>
            </a:r>
            <a:r>
              <a:rPr sz="2200" spc="-160" dirty="0">
                <a:latin typeface="Arial"/>
                <a:cs typeface="Arial"/>
              </a:rPr>
              <a:t> </a:t>
            </a:r>
            <a:r>
              <a:rPr sz="2200" spc="-75" dirty="0">
                <a:latin typeface="Arial"/>
                <a:cs typeface="Arial"/>
              </a:rPr>
              <a:t>starters,</a:t>
            </a:r>
            <a:endParaRPr sz="2200">
              <a:latin typeface="Arial"/>
              <a:cs typeface="Arial"/>
            </a:endParaRPr>
          </a:p>
          <a:p>
            <a:pPr marL="421640" algn="just">
              <a:lnSpc>
                <a:spcPct val="100000"/>
              </a:lnSpc>
            </a:pPr>
            <a:r>
              <a:rPr sz="2200" spc="-114" dirty="0">
                <a:latin typeface="Arial"/>
                <a:cs typeface="Arial"/>
              </a:rPr>
              <a:t>$100  </a:t>
            </a:r>
            <a:r>
              <a:rPr sz="2200" spc="-25" dirty="0">
                <a:latin typeface="Arial"/>
                <a:cs typeface="Arial"/>
              </a:rPr>
              <a:t>million  </a:t>
            </a:r>
            <a:r>
              <a:rPr sz="2200" spc="-30" dirty="0">
                <a:latin typeface="Arial"/>
                <a:cs typeface="Arial"/>
              </a:rPr>
              <a:t>in  </a:t>
            </a:r>
            <a:r>
              <a:rPr sz="2200" spc="-50" dirty="0">
                <a:latin typeface="Arial"/>
                <a:cs typeface="Arial"/>
              </a:rPr>
              <a:t>lost  </a:t>
            </a:r>
            <a:r>
              <a:rPr sz="2200" spc="-140" dirty="0">
                <a:latin typeface="Arial"/>
                <a:cs typeface="Arial"/>
              </a:rPr>
              <a:t>sales,  </a:t>
            </a:r>
            <a:r>
              <a:rPr sz="2200" spc="-170" dirty="0">
                <a:latin typeface="Arial"/>
                <a:cs typeface="Arial"/>
              </a:rPr>
              <a:t>a   </a:t>
            </a:r>
            <a:r>
              <a:rPr sz="2200" spc="-204" dirty="0">
                <a:latin typeface="Arial"/>
                <a:cs typeface="Arial"/>
              </a:rPr>
              <a:t>20%   </a:t>
            </a:r>
            <a:r>
              <a:rPr sz="2200" spc="-100" dirty="0">
                <a:latin typeface="Arial"/>
                <a:cs typeface="Arial"/>
              </a:rPr>
              <a:t>stock  </a:t>
            </a:r>
            <a:r>
              <a:rPr sz="2200" spc="-45" dirty="0">
                <a:latin typeface="Arial"/>
                <a:cs typeface="Arial"/>
              </a:rPr>
              <a:t>dip  </a:t>
            </a:r>
            <a:r>
              <a:rPr sz="2200" spc="-110" dirty="0">
                <a:latin typeface="Arial"/>
                <a:cs typeface="Arial"/>
              </a:rPr>
              <a:t>and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spc="-170" dirty="0">
                <a:latin typeface="Arial"/>
                <a:cs typeface="Arial"/>
              </a:rPr>
              <a:t>a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421640" algn="l"/>
                <a:tab pos="8583295" algn="l"/>
              </a:tabLst>
            </a:pPr>
            <a:r>
              <a:rPr sz="2200" u="sng" spc="-11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r>
              <a:rPr sz="2200" u="sng" spc="-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collection </a:t>
            </a:r>
            <a:r>
              <a:rPr sz="2200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 </a:t>
            </a:r>
            <a:r>
              <a:rPr sz="2200" u="sng" spc="-10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class-action</a:t>
            </a:r>
            <a:r>
              <a:rPr sz="2200" u="sng" spc="-3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u="sng" spc="-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lawsuits.	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934200" y="1524000"/>
            <a:ext cx="1991105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58000" y="2200655"/>
            <a:ext cx="2143505" cy="21427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34200" y="4572000"/>
            <a:ext cx="2001011" cy="1447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0" name="object 10"/>
          <p:cNvSpPr txBox="1"/>
          <p:nvPr/>
        </p:nvSpPr>
        <p:spPr>
          <a:xfrm>
            <a:off x="5743194" y="6514909"/>
            <a:ext cx="2711450" cy="306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5430">
              <a:lnSpc>
                <a:spcPts val="1050"/>
              </a:lnSpc>
            </a:pPr>
            <a:r>
              <a:rPr sz="1000" b="1" u="sng" spc="-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Fuente</a:t>
            </a:r>
            <a:r>
              <a:rPr sz="1000" b="1" spc="-75" dirty="0">
                <a:latin typeface="Trebuchet MS"/>
                <a:cs typeface="Trebuchet MS"/>
              </a:rPr>
              <a:t>: </a:t>
            </a:r>
            <a:r>
              <a:rPr sz="1000" b="1" spc="-50" dirty="0">
                <a:latin typeface="Trebuchet MS"/>
                <a:cs typeface="Trebuchet MS"/>
              </a:rPr>
              <a:t>Wailgum, </a:t>
            </a:r>
            <a:r>
              <a:rPr sz="1000" b="1" spc="-114" dirty="0">
                <a:latin typeface="Trebuchet MS"/>
                <a:cs typeface="Trebuchet MS"/>
              </a:rPr>
              <a:t>T. </a:t>
            </a:r>
            <a:r>
              <a:rPr sz="1000" b="1" i="1" spc="-50" dirty="0">
                <a:latin typeface="Arial"/>
                <a:cs typeface="Arial"/>
              </a:rPr>
              <a:t>10 </a:t>
            </a:r>
            <a:r>
              <a:rPr sz="1000" b="1" i="1" spc="-100" dirty="0">
                <a:latin typeface="Arial"/>
                <a:cs typeface="Arial"/>
              </a:rPr>
              <a:t>Famous </a:t>
            </a:r>
            <a:r>
              <a:rPr sz="1000" b="1" i="1" spc="-160" dirty="0">
                <a:latin typeface="Arial"/>
                <a:cs typeface="Arial"/>
              </a:rPr>
              <a:t>ERP </a:t>
            </a:r>
            <a:r>
              <a:rPr sz="1000" b="1" i="1" spc="-155" dirty="0">
                <a:latin typeface="Arial"/>
                <a:cs typeface="Arial"/>
              </a:rPr>
              <a:t> </a:t>
            </a:r>
            <a:r>
              <a:rPr sz="1000" b="1" i="1" spc="-80" dirty="0">
                <a:latin typeface="Arial"/>
                <a:cs typeface="Arial"/>
              </a:rPr>
              <a:t>Disasters,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 i="1" spc="-100" dirty="0">
                <a:latin typeface="Arial"/>
                <a:cs typeface="Arial"/>
              </a:rPr>
              <a:t>Dustups </a:t>
            </a:r>
            <a:r>
              <a:rPr sz="1000" b="1" i="1" spc="-65" dirty="0">
                <a:latin typeface="Arial"/>
                <a:cs typeface="Arial"/>
              </a:rPr>
              <a:t>and </a:t>
            </a:r>
            <a:r>
              <a:rPr sz="1000" b="1" i="1" spc="-75" dirty="0">
                <a:latin typeface="Arial"/>
                <a:cs typeface="Arial"/>
              </a:rPr>
              <a:t>Disappointments</a:t>
            </a:r>
            <a:r>
              <a:rPr sz="1000" b="1" spc="-75" dirty="0">
                <a:latin typeface="Trebuchet MS"/>
                <a:cs typeface="Trebuchet MS"/>
              </a:rPr>
              <a:t>. </a:t>
            </a:r>
            <a:r>
              <a:rPr sz="1000" b="1" spc="-45" dirty="0">
                <a:latin typeface="Trebuchet MS"/>
                <a:cs typeface="Trebuchet MS"/>
              </a:rPr>
              <a:t>CIO Magazine,</a:t>
            </a:r>
            <a:r>
              <a:rPr sz="1000" b="1" spc="-160" dirty="0">
                <a:latin typeface="Trebuchet MS"/>
                <a:cs typeface="Trebuchet MS"/>
              </a:rPr>
              <a:t> </a:t>
            </a:r>
            <a:r>
              <a:rPr sz="1000" b="1" spc="-80" dirty="0">
                <a:latin typeface="Trebuchet MS"/>
                <a:cs typeface="Trebuchet MS"/>
              </a:rPr>
              <a:t>2009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27</a:t>
            </a:fld>
            <a:endParaRPr spc="-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268" y="56642"/>
            <a:ext cx="8241030" cy="2724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5" dirty="0">
                <a:solidFill>
                  <a:srgbClr val="FFFFFF"/>
                </a:solidFill>
                <a:latin typeface="Trebuchet MS"/>
                <a:cs typeface="Trebuchet MS"/>
              </a:rPr>
              <a:t>Integración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 </a:t>
            </a:r>
            <a:r>
              <a:rPr sz="2000" b="1" spc="75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2000" b="1" spc="-4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ERP (Cont.)</a:t>
            </a:r>
            <a:endParaRPr sz="2000">
              <a:latin typeface="Trebuchet MS"/>
              <a:cs typeface="Trebuchet MS"/>
            </a:endParaRPr>
          </a:p>
          <a:p>
            <a:pPr marL="59055" marR="5080">
              <a:lnSpc>
                <a:spcPct val="100000"/>
              </a:lnSpc>
              <a:spcBef>
                <a:spcPts val="15"/>
              </a:spcBef>
            </a:pPr>
            <a:r>
              <a:rPr sz="1800" spc="-240" dirty="0">
                <a:solidFill>
                  <a:srgbClr val="FFFFFF"/>
                </a:solidFill>
                <a:latin typeface="Arial"/>
                <a:cs typeface="Arial"/>
              </a:rPr>
              <a:t>ERP: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puntos 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 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600" b="1" spc="-165" dirty="0">
                <a:latin typeface="Trebuchet MS"/>
                <a:cs typeface="Trebuchet MS"/>
              </a:rPr>
              <a:t>ERP </a:t>
            </a:r>
            <a:r>
              <a:rPr sz="2600" b="1" spc="-155" dirty="0">
                <a:latin typeface="Arial"/>
                <a:cs typeface="Arial"/>
              </a:rPr>
              <a:t>– </a:t>
            </a:r>
            <a:r>
              <a:rPr sz="2600" b="1" spc="-120" dirty="0">
                <a:latin typeface="Trebuchet MS"/>
                <a:cs typeface="Trebuchet MS"/>
              </a:rPr>
              <a:t>Casos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50" dirty="0">
                <a:latin typeface="Trebuchet MS"/>
                <a:cs typeface="Trebuchet MS"/>
              </a:rPr>
              <a:t>fracaso</a:t>
            </a:r>
            <a:r>
              <a:rPr sz="2600" b="1" spc="-290" dirty="0">
                <a:latin typeface="Trebuchet MS"/>
                <a:cs typeface="Trebuchet MS"/>
              </a:rPr>
              <a:t> </a:t>
            </a:r>
            <a:r>
              <a:rPr sz="2600" b="1" spc="-165" dirty="0">
                <a:latin typeface="Trebuchet MS"/>
                <a:cs typeface="Trebuchet MS"/>
              </a:rPr>
              <a:t>(Cont.)</a:t>
            </a:r>
            <a:endParaRPr sz="2600">
              <a:latin typeface="Trebuchet MS"/>
              <a:cs typeface="Trebuchet MS"/>
            </a:endParaRPr>
          </a:p>
          <a:p>
            <a:pPr marL="469900" marR="1461135" indent="-457834" algn="just">
              <a:lnSpc>
                <a:spcPct val="100000"/>
              </a:lnSpc>
              <a:spcBef>
                <a:spcPts val="25"/>
              </a:spcBef>
            </a:pPr>
            <a:r>
              <a:rPr sz="2200" b="1" i="1" spc="-70" dirty="0">
                <a:latin typeface="Arial"/>
                <a:cs typeface="Arial"/>
              </a:rPr>
              <a:t>3. </a:t>
            </a:r>
            <a:r>
              <a:rPr sz="2200" b="1" i="1" spc="-215" dirty="0">
                <a:latin typeface="Arial"/>
                <a:cs typeface="Arial"/>
              </a:rPr>
              <a:t>HP's </a:t>
            </a:r>
            <a:r>
              <a:rPr sz="2200" b="1" i="1" spc="-145" dirty="0">
                <a:latin typeface="Arial"/>
                <a:cs typeface="Arial"/>
              </a:rPr>
              <a:t>"Perfect </a:t>
            </a:r>
            <a:r>
              <a:rPr sz="2200" b="1" i="1" spc="-165" dirty="0">
                <a:latin typeface="Arial"/>
                <a:cs typeface="Arial"/>
              </a:rPr>
              <a:t>Storm" </a:t>
            </a:r>
            <a:r>
              <a:rPr sz="2200" b="1" i="1" spc="-110" dirty="0">
                <a:latin typeface="Arial"/>
                <a:cs typeface="Arial"/>
              </a:rPr>
              <a:t>of </a:t>
            </a:r>
            <a:r>
              <a:rPr sz="2200" b="1" i="1" spc="-350" dirty="0">
                <a:latin typeface="Arial"/>
                <a:cs typeface="Arial"/>
              </a:rPr>
              <a:t>ERP </a:t>
            </a:r>
            <a:r>
              <a:rPr sz="2200" b="1" i="1" spc="-190" dirty="0">
                <a:latin typeface="Arial"/>
                <a:cs typeface="Arial"/>
              </a:rPr>
              <a:t>Problems  </a:t>
            </a:r>
            <a:r>
              <a:rPr sz="2200" spc="-160" dirty="0">
                <a:latin typeface="Arial"/>
                <a:cs typeface="Arial"/>
              </a:rPr>
              <a:t>The </a:t>
            </a:r>
            <a:r>
              <a:rPr sz="2200" spc="-90" dirty="0">
                <a:latin typeface="Arial"/>
                <a:cs typeface="Arial"/>
              </a:rPr>
              <a:t>epic </a:t>
            </a:r>
            <a:r>
              <a:rPr sz="2200" spc="-50" dirty="0">
                <a:latin typeface="Arial"/>
                <a:cs typeface="Arial"/>
              </a:rPr>
              <a:t>tale </a:t>
            </a:r>
            <a:r>
              <a:rPr sz="2200" spc="-5" dirty="0">
                <a:latin typeface="Arial"/>
                <a:cs typeface="Arial"/>
              </a:rPr>
              <a:t>of </a:t>
            </a:r>
            <a:r>
              <a:rPr sz="2200" spc="-185" dirty="0">
                <a:latin typeface="Arial"/>
                <a:cs typeface="Arial"/>
              </a:rPr>
              <a:t>HP's </a:t>
            </a:r>
            <a:r>
              <a:rPr sz="2200" spc="-65" dirty="0">
                <a:latin typeface="Arial"/>
                <a:cs typeface="Arial"/>
              </a:rPr>
              <a:t>centralization </a:t>
            </a:r>
            <a:r>
              <a:rPr sz="2200" spc="-5" dirty="0">
                <a:latin typeface="Arial"/>
                <a:cs typeface="Arial"/>
              </a:rPr>
              <a:t>of </a:t>
            </a:r>
            <a:r>
              <a:rPr sz="2200" spc="-35" dirty="0">
                <a:latin typeface="Arial"/>
                <a:cs typeface="Arial"/>
              </a:rPr>
              <a:t>its </a:t>
            </a:r>
            <a:r>
              <a:rPr sz="2200" spc="-90" dirty="0">
                <a:latin typeface="Arial"/>
                <a:cs typeface="Arial"/>
              </a:rPr>
              <a:t>disparate  </a:t>
            </a:r>
            <a:r>
              <a:rPr sz="2200" spc="-30" dirty="0">
                <a:latin typeface="Arial"/>
                <a:cs typeface="Arial"/>
              </a:rPr>
              <a:t>North </a:t>
            </a:r>
            <a:r>
              <a:rPr sz="2200" spc="-100" dirty="0">
                <a:latin typeface="Arial"/>
                <a:cs typeface="Arial"/>
              </a:rPr>
              <a:t>American </a:t>
            </a:r>
            <a:r>
              <a:rPr sz="2200" spc="-380" dirty="0">
                <a:latin typeface="Arial"/>
                <a:cs typeface="Arial"/>
              </a:rPr>
              <a:t>ERP </a:t>
            </a:r>
            <a:r>
              <a:rPr sz="2200" spc="-145" dirty="0">
                <a:latin typeface="Arial"/>
                <a:cs typeface="Arial"/>
              </a:rPr>
              <a:t>systems </a:t>
            </a:r>
            <a:r>
              <a:rPr sz="2200" spc="-30" dirty="0">
                <a:latin typeface="Arial"/>
                <a:cs typeface="Arial"/>
              </a:rPr>
              <a:t>onto </a:t>
            </a:r>
            <a:r>
              <a:rPr sz="2200" spc="-90" dirty="0">
                <a:latin typeface="Arial"/>
                <a:cs typeface="Arial"/>
              </a:rPr>
              <a:t>one </a:t>
            </a:r>
            <a:r>
              <a:rPr sz="2200" spc="-335" dirty="0">
                <a:latin typeface="Arial"/>
                <a:cs typeface="Arial"/>
              </a:rPr>
              <a:t>SAP </a:t>
            </a:r>
            <a:r>
              <a:rPr sz="2200" spc="-130" dirty="0">
                <a:latin typeface="Arial"/>
                <a:cs typeface="Arial"/>
              </a:rPr>
              <a:t>system  </a:t>
            </a:r>
            <a:r>
              <a:rPr sz="2200" spc="-114" dirty="0">
                <a:latin typeface="Arial"/>
                <a:cs typeface="Arial"/>
              </a:rPr>
              <a:t>proves </a:t>
            </a:r>
            <a:r>
              <a:rPr sz="2200" spc="-5" dirty="0">
                <a:latin typeface="Arial"/>
                <a:cs typeface="Arial"/>
              </a:rPr>
              <a:t>that </a:t>
            </a:r>
            <a:r>
              <a:rPr sz="2200" spc="-90" dirty="0">
                <a:latin typeface="Arial"/>
                <a:cs typeface="Arial"/>
              </a:rPr>
              <a:t>one </a:t>
            </a:r>
            <a:r>
              <a:rPr sz="2200" spc="-145" dirty="0">
                <a:latin typeface="Arial"/>
                <a:cs typeface="Arial"/>
              </a:rPr>
              <a:t>can </a:t>
            </a:r>
            <a:r>
              <a:rPr sz="2200" spc="-90" dirty="0">
                <a:latin typeface="Arial"/>
                <a:cs typeface="Arial"/>
              </a:rPr>
              <a:t>never </a:t>
            </a:r>
            <a:r>
              <a:rPr sz="2200" spc="-100" dirty="0">
                <a:latin typeface="Arial"/>
                <a:cs typeface="Arial"/>
              </a:rPr>
              <a:t>be </a:t>
            </a:r>
            <a:r>
              <a:rPr sz="2200" spc="-10" dirty="0">
                <a:latin typeface="Arial"/>
                <a:cs typeface="Arial"/>
              </a:rPr>
              <a:t>too </a:t>
            </a:r>
            <a:r>
              <a:rPr sz="2200" spc="-100" dirty="0">
                <a:latin typeface="Arial"/>
                <a:cs typeface="Arial"/>
              </a:rPr>
              <a:t>pessimistic </a:t>
            </a:r>
            <a:r>
              <a:rPr sz="2200" spc="-75" dirty="0">
                <a:latin typeface="Arial"/>
                <a:cs typeface="Arial"/>
              </a:rPr>
              <a:t>when</a:t>
            </a:r>
            <a:r>
              <a:rPr sz="2200" spc="305" dirty="0">
                <a:latin typeface="Arial"/>
                <a:cs typeface="Arial"/>
              </a:rPr>
              <a:t> </a:t>
            </a:r>
            <a:r>
              <a:rPr sz="2200" spc="65" dirty="0">
                <a:latin typeface="Arial"/>
                <a:cs typeface="Arial"/>
              </a:rPr>
              <a:t>it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6722" y="2778251"/>
            <a:ext cx="281813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1705" algn="l"/>
                <a:tab pos="1374140" algn="l"/>
                <a:tab pos="2000250" algn="l"/>
              </a:tabLst>
            </a:pPr>
            <a:r>
              <a:rPr sz="2200" spc="-145" dirty="0">
                <a:latin typeface="Arial"/>
                <a:cs typeface="Arial"/>
              </a:rPr>
              <a:t>comes	</a:t>
            </a:r>
            <a:r>
              <a:rPr sz="2200" spc="15" dirty="0">
                <a:latin typeface="Arial"/>
                <a:cs typeface="Arial"/>
              </a:rPr>
              <a:t>to	</a:t>
            </a:r>
            <a:r>
              <a:rPr sz="2200" spc="-380" dirty="0">
                <a:latin typeface="Arial"/>
                <a:cs typeface="Arial"/>
              </a:rPr>
              <a:t>ERP	</a:t>
            </a:r>
            <a:r>
              <a:rPr sz="2200" spc="-45" dirty="0">
                <a:latin typeface="Arial"/>
                <a:cs typeface="Arial"/>
              </a:rPr>
              <a:t>project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2238" y="2753105"/>
            <a:ext cx="3341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3714" algn="l"/>
                <a:tab pos="2451100" algn="l"/>
              </a:tabLst>
            </a:pPr>
            <a:r>
              <a:rPr sz="2200" spc="-95" dirty="0">
                <a:latin typeface="Arial"/>
                <a:cs typeface="Arial"/>
              </a:rPr>
              <a:t>management.	</a:t>
            </a:r>
            <a:r>
              <a:rPr sz="2400" spc="-175" dirty="0">
                <a:latin typeface="Arial"/>
                <a:cs typeface="Arial"/>
              </a:rPr>
              <a:t>The	</a:t>
            </a:r>
            <a:r>
              <a:rPr sz="2400" spc="-50" dirty="0">
                <a:latin typeface="Arial"/>
                <a:cs typeface="Arial"/>
              </a:rPr>
              <a:t>project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268" y="3119120"/>
            <a:ext cx="6784975" cy="3136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75" dirty="0">
                <a:latin typeface="Arial"/>
                <a:cs typeface="Arial"/>
              </a:rPr>
              <a:t>eventually </a:t>
            </a:r>
            <a:r>
              <a:rPr sz="2400" spc="-110" dirty="0">
                <a:latin typeface="Arial"/>
                <a:cs typeface="Arial"/>
              </a:rPr>
              <a:t>cost </a:t>
            </a:r>
            <a:r>
              <a:rPr sz="2400" spc="-305" dirty="0">
                <a:latin typeface="Arial"/>
                <a:cs typeface="Arial"/>
              </a:rPr>
              <a:t>HP </a:t>
            </a:r>
            <a:r>
              <a:rPr sz="2400" spc="-125" dirty="0">
                <a:latin typeface="Arial"/>
                <a:cs typeface="Arial"/>
              </a:rPr>
              <a:t>$160 </a:t>
            </a:r>
            <a:r>
              <a:rPr sz="2400" spc="-25" dirty="0">
                <a:latin typeface="Arial"/>
                <a:cs typeface="Arial"/>
              </a:rPr>
              <a:t>million </a:t>
            </a:r>
            <a:r>
              <a:rPr sz="2400" spc="-35" dirty="0">
                <a:latin typeface="Arial"/>
                <a:cs typeface="Arial"/>
              </a:rPr>
              <a:t>in </a:t>
            </a:r>
            <a:r>
              <a:rPr sz="2400" spc="-55" dirty="0">
                <a:latin typeface="Arial"/>
                <a:cs typeface="Arial"/>
              </a:rPr>
              <a:t>order </a:t>
            </a:r>
            <a:r>
              <a:rPr sz="2400" spc="-140" dirty="0">
                <a:latin typeface="Arial"/>
                <a:cs typeface="Arial"/>
              </a:rPr>
              <a:t>backlogs  </a:t>
            </a:r>
            <a:r>
              <a:rPr sz="2400" spc="-114" dirty="0">
                <a:latin typeface="Arial"/>
                <a:cs typeface="Arial"/>
              </a:rPr>
              <a:t>and</a:t>
            </a:r>
            <a:r>
              <a:rPr sz="2400" spc="434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lost </a:t>
            </a:r>
            <a:r>
              <a:rPr sz="2400" spc="-105" dirty="0">
                <a:latin typeface="Arial"/>
                <a:cs typeface="Arial"/>
              </a:rPr>
              <a:t>revenue—more </a:t>
            </a:r>
            <a:r>
              <a:rPr sz="2400" spc="-50" dirty="0">
                <a:latin typeface="Arial"/>
                <a:cs typeface="Arial"/>
              </a:rPr>
              <a:t>than </a:t>
            </a:r>
            <a:r>
              <a:rPr sz="2400" spc="-55" dirty="0">
                <a:latin typeface="Arial"/>
                <a:cs typeface="Arial"/>
              </a:rPr>
              <a:t>five </a:t>
            </a:r>
            <a:r>
              <a:rPr sz="2400" spc="-70" dirty="0">
                <a:latin typeface="Arial"/>
                <a:cs typeface="Arial"/>
              </a:rPr>
              <a:t>times </a:t>
            </a:r>
            <a:r>
              <a:rPr sz="2400" spc="-30" dirty="0">
                <a:latin typeface="Arial"/>
                <a:cs typeface="Arial"/>
              </a:rPr>
              <a:t>the  </a:t>
            </a:r>
            <a:r>
              <a:rPr sz="2400" spc="-60" dirty="0">
                <a:latin typeface="Arial"/>
                <a:cs typeface="Arial"/>
              </a:rPr>
              <a:t>project's </a:t>
            </a:r>
            <a:r>
              <a:rPr sz="2400" spc="-75" dirty="0">
                <a:latin typeface="Arial"/>
                <a:cs typeface="Arial"/>
              </a:rPr>
              <a:t>estimated</a:t>
            </a:r>
            <a:r>
              <a:rPr sz="2400" spc="-210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cost.</a:t>
            </a:r>
            <a:endParaRPr sz="2400">
              <a:latin typeface="Arial"/>
              <a:cs typeface="Arial"/>
            </a:endParaRPr>
          </a:p>
          <a:p>
            <a:pPr marL="469900" marR="5080" indent="-457834" algn="just">
              <a:lnSpc>
                <a:spcPct val="100000"/>
              </a:lnSpc>
              <a:spcBef>
                <a:spcPts val="10"/>
              </a:spcBef>
            </a:pPr>
            <a:r>
              <a:rPr sz="2200" b="1" i="1" spc="-70" dirty="0">
                <a:latin typeface="Arial"/>
                <a:cs typeface="Arial"/>
              </a:rPr>
              <a:t>4. </a:t>
            </a:r>
            <a:r>
              <a:rPr sz="2200" b="1" i="1" spc="-254" dirty="0">
                <a:latin typeface="Arial"/>
                <a:cs typeface="Arial"/>
              </a:rPr>
              <a:t>A </a:t>
            </a:r>
            <a:r>
              <a:rPr sz="2200" b="1" i="1" spc="-130" dirty="0">
                <a:latin typeface="Arial"/>
                <a:cs typeface="Arial"/>
              </a:rPr>
              <a:t>New </a:t>
            </a:r>
            <a:r>
              <a:rPr sz="2200" b="1" i="1" spc="-210" dirty="0">
                <a:latin typeface="Arial"/>
                <a:cs typeface="Arial"/>
              </a:rPr>
              <a:t>Type </a:t>
            </a:r>
            <a:r>
              <a:rPr sz="2200" b="1" i="1" spc="-110" dirty="0">
                <a:latin typeface="Arial"/>
                <a:cs typeface="Arial"/>
              </a:rPr>
              <a:t>of </a:t>
            </a:r>
            <a:r>
              <a:rPr sz="2200" b="1" i="1" spc="-200" dirty="0">
                <a:latin typeface="Arial"/>
                <a:cs typeface="Arial"/>
              </a:rPr>
              <a:t>Freshman </a:t>
            </a:r>
            <a:r>
              <a:rPr sz="2200" b="1" i="1" spc="-135" dirty="0">
                <a:latin typeface="Arial"/>
                <a:cs typeface="Arial"/>
              </a:rPr>
              <a:t>Hazing. </a:t>
            </a:r>
            <a:r>
              <a:rPr sz="2200" spc="-35" dirty="0">
                <a:latin typeface="Arial"/>
                <a:cs typeface="Arial"/>
              </a:rPr>
              <a:t>More </a:t>
            </a:r>
            <a:r>
              <a:rPr sz="2200" spc="-50" dirty="0">
                <a:latin typeface="Arial"/>
                <a:cs typeface="Arial"/>
              </a:rPr>
              <a:t>than </a:t>
            </a:r>
            <a:r>
              <a:rPr sz="2200" spc="-110" dirty="0">
                <a:latin typeface="Arial"/>
                <a:cs typeface="Arial"/>
              </a:rPr>
              <a:t>27,000  </a:t>
            </a:r>
            <a:r>
              <a:rPr sz="2200" spc="-80" dirty="0">
                <a:latin typeface="Arial"/>
                <a:cs typeface="Arial"/>
              </a:rPr>
              <a:t>students </a:t>
            </a:r>
            <a:r>
              <a:rPr sz="2200" spc="-35" dirty="0">
                <a:latin typeface="Arial"/>
                <a:cs typeface="Arial"/>
              </a:rPr>
              <a:t>at </a:t>
            </a:r>
            <a:r>
              <a:rPr sz="2200" spc="-25" dirty="0">
                <a:latin typeface="Arial"/>
                <a:cs typeface="Arial"/>
              </a:rPr>
              <a:t>the </a:t>
            </a:r>
            <a:r>
              <a:rPr sz="2200" spc="-75" dirty="0">
                <a:latin typeface="Arial"/>
                <a:cs typeface="Arial"/>
              </a:rPr>
              <a:t>University </a:t>
            </a:r>
            <a:r>
              <a:rPr sz="2200" spc="-5" dirty="0">
                <a:latin typeface="Arial"/>
                <a:cs typeface="Arial"/>
              </a:rPr>
              <a:t>of </a:t>
            </a:r>
            <a:r>
              <a:rPr sz="2200" spc="-120" dirty="0">
                <a:latin typeface="Arial"/>
                <a:cs typeface="Arial"/>
              </a:rPr>
              <a:t>Massachusetts </a:t>
            </a:r>
            <a:r>
              <a:rPr sz="2200" spc="-204" dirty="0">
                <a:latin typeface="Arial"/>
                <a:cs typeface="Arial"/>
              </a:rPr>
              <a:t>as </a:t>
            </a:r>
            <a:r>
              <a:rPr sz="2200" spc="-35" dirty="0">
                <a:latin typeface="Arial"/>
                <a:cs typeface="Arial"/>
              </a:rPr>
              <a:t>well </a:t>
            </a:r>
            <a:r>
              <a:rPr sz="2200" spc="-204" dirty="0">
                <a:latin typeface="Arial"/>
                <a:cs typeface="Arial"/>
              </a:rPr>
              <a:t>as  </a:t>
            </a:r>
            <a:r>
              <a:rPr sz="2200" spc="-95" dirty="0">
                <a:latin typeface="Arial"/>
                <a:cs typeface="Arial"/>
              </a:rPr>
              <a:t>Stanford </a:t>
            </a:r>
            <a:r>
              <a:rPr sz="2200" spc="-105" dirty="0">
                <a:latin typeface="Arial"/>
                <a:cs typeface="Arial"/>
              </a:rPr>
              <a:t>and </a:t>
            </a:r>
            <a:r>
              <a:rPr sz="2200" spc="-90" dirty="0">
                <a:latin typeface="Arial"/>
                <a:cs typeface="Arial"/>
              </a:rPr>
              <a:t>Indiana </a:t>
            </a:r>
            <a:r>
              <a:rPr sz="2200" spc="-75" dirty="0">
                <a:latin typeface="Arial"/>
                <a:cs typeface="Arial"/>
              </a:rPr>
              <a:t>University were </a:t>
            </a:r>
            <a:r>
              <a:rPr sz="2200" spc="-70" dirty="0">
                <a:latin typeface="Arial"/>
                <a:cs typeface="Arial"/>
              </a:rPr>
              <a:t>forced </a:t>
            </a:r>
            <a:r>
              <a:rPr sz="2200" spc="15" dirty="0">
                <a:latin typeface="Arial"/>
                <a:cs typeface="Arial"/>
              </a:rPr>
              <a:t>to </a:t>
            </a:r>
            <a:r>
              <a:rPr sz="2200" spc="-70" dirty="0">
                <a:latin typeface="Arial"/>
                <a:cs typeface="Arial"/>
              </a:rPr>
              <a:t>do  </a:t>
            </a:r>
            <a:r>
              <a:rPr sz="2200" spc="-30" dirty="0">
                <a:latin typeface="Arial"/>
                <a:cs typeface="Arial"/>
              </a:rPr>
              <a:t>battle </a:t>
            </a:r>
            <a:r>
              <a:rPr sz="2200" spc="10" dirty="0">
                <a:latin typeface="Arial"/>
                <a:cs typeface="Arial"/>
              </a:rPr>
              <a:t>with </a:t>
            </a:r>
            <a:r>
              <a:rPr sz="2200" spc="-125" dirty="0">
                <a:latin typeface="Arial"/>
                <a:cs typeface="Arial"/>
              </a:rPr>
              <a:t>buggy </a:t>
            </a:r>
            <a:r>
              <a:rPr sz="2200" spc="-65" dirty="0">
                <a:latin typeface="Arial"/>
                <a:cs typeface="Arial"/>
              </a:rPr>
              <a:t>portals </a:t>
            </a:r>
            <a:r>
              <a:rPr sz="2200" spc="-105" dirty="0">
                <a:latin typeface="Arial"/>
                <a:cs typeface="Arial"/>
              </a:rPr>
              <a:t>and </a:t>
            </a:r>
            <a:r>
              <a:rPr sz="2200" spc="-380" dirty="0">
                <a:latin typeface="Arial"/>
                <a:cs typeface="Arial"/>
              </a:rPr>
              <a:t>ERP </a:t>
            </a:r>
            <a:r>
              <a:rPr sz="2200" spc="-80" dirty="0">
                <a:latin typeface="Arial"/>
                <a:cs typeface="Arial"/>
              </a:rPr>
              <a:t>applications </a:t>
            </a:r>
            <a:r>
              <a:rPr sz="2200" spc="-5" dirty="0">
                <a:latin typeface="Arial"/>
                <a:cs typeface="Arial"/>
              </a:rPr>
              <a:t>that </a:t>
            </a:r>
            <a:r>
              <a:rPr sz="2200" spc="10" dirty="0">
                <a:latin typeface="Arial"/>
                <a:cs typeface="Arial"/>
              </a:rPr>
              <a:t>left  </a:t>
            </a:r>
            <a:r>
              <a:rPr sz="2200" spc="-40" dirty="0">
                <a:latin typeface="Arial"/>
                <a:cs typeface="Arial"/>
              </a:rPr>
              <a:t>them </a:t>
            </a:r>
            <a:r>
              <a:rPr sz="2200" spc="-35" dirty="0">
                <a:latin typeface="Arial"/>
                <a:cs typeface="Arial"/>
              </a:rPr>
              <a:t>at </a:t>
            </a:r>
            <a:r>
              <a:rPr sz="2200" spc="-90" dirty="0">
                <a:latin typeface="Arial"/>
                <a:cs typeface="Arial"/>
              </a:rPr>
              <a:t>best unable </a:t>
            </a:r>
            <a:r>
              <a:rPr sz="2200" spc="15" dirty="0">
                <a:latin typeface="Arial"/>
                <a:cs typeface="Arial"/>
              </a:rPr>
              <a:t>to </a:t>
            </a:r>
            <a:r>
              <a:rPr sz="2200" spc="-20" dirty="0">
                <a:latin typeface="Arial"/>
                <a:cs typeface="Arial"/>
              </a:rPr>
              <a:t>find </a:t>
            </a:r>
            <a:r>
              <a:rPr sz="2200" spc="-10" dirty="0">
                <a:latin typeface="Arial"/>
                <a:cs typeface="Arial"/>
              </a:rPr>
              <a:t>their </a:t>
            </a:r>
            <a:r>
              <a:rPr sz="2200" spc="-170" dirty="0">
                <a:latin typeface="Arial"/>
                <a:cs typeface="Arial"/>
              </a:rPr>
              <a:t>classes </a:t>
            </a:r>
            <a:r>
              <a:rPr sz="2200" spc="-105" dirty="0">
                <a:latin typeface="Arial"/>
                <a:cs typeface="Arial"/>
              </a:rPr>
              <a:t>and </a:t>
            </a:r>
            <a:r>
              <a:rPr sz="2200" spc="-35" dirty="0">
                <a:latin typeface="Arial"/>
                <a:cs typeface="Arial"/>
              </a:rPr>
              <a:t>at </a:t>
            </a:r>
            <a:r>
              <a:rPr sz="2200" spc="-50" dirty="0">
                <a:latin typeface="Arial"/>
                <a:cs typeface="Arial"/>
              </a:rPr>
              <a:t>worst  </a:t>
            </a:r>
            <a:r>
              <a:rPr sz="2200" spc="-85" dirty="0">
                <a:latin typeface="Arial"/>
                <a:cs typeface="Arial"/>
              </a:rPr>
              <a:t>unable</a:t>
            </a:r>
            <a:r>
              <a:rPr sz="2200" spc="-130" dirty="0">
                <a:latin typeface="Arial"/>
                <a:cs typeface="Arial"/>
              </a:rPr>
              <a:t> </a:t>
            </a:r>
            <a:r>
              <a:rPr sz="2200" spc="20" dirty="0">
                <a:latin typeface="Arial"/>
                <a:cs typeface="Arial"/>
              </a:rPr>
              <a:t>to</a:t>
            </a:r>
            <a:r>
              <a:rPr sz="2200" spc="-114" dirty="0">
                <a:latin typeface="Arial"/>
                <a:cs typeface="Arial"/>
              </a:rPr>
              <a:t> </a:t>
            </a:r>
            <a:r>
              <a:rPr sz="2200" spc="-60" dirty="0">
                <a:latin typeface="Arial"/>
                <a:cs typeface="Arial"/>
              </a:rPr>
              <a:t>collect</a:t>
            </a:r>
            <a:r>
              <a:rPr sz="2200" spc="-12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their</a:t>
            </a:r>
            <a:r>
              <a:rPr sz="2200" spc="-135" dirty="0">
                <a:latin typeface="Arial"/>
                <a:cs typeface="Arial"/>
              </a:rPr>
              <a:t> </a:t>
            </a:r>
            <a:r>
              <a:rPr sz="2200" spc="-65" dirty="0">
                <a:latin typeface="Arial"/>
                <a:cs typeface="Arial"/>
              </a:rPr>
              <a:t>financial</a:t>
            </a:r>
            <a:r>
              <a:rPr sz="2200" spc="-125" dirty="0">
                <a:latin typeface="Arial"/>
                <a:cs typeface="Arial"/>
              </a:rPr>
              <a:t> </a:t>
            </a:r>
            <a:r>
              <a:rPr sz="2200" spc="-80" dirty="0">
                <a:latin typeface="Arial"/>
                <a:cs typeface="Arial"/>
              </a:rPr>
              <a:t>aid</a:t>
            </a:r>
            <a:r>
              <a:rPr sz="2200" spc="-140" dirty="0">
                <a:latin typeface="Arial"/>
                <a:cs typeface="Arial"/>
              </a:rPr>
              <a:t> checks.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001256" y="1642110"/>
            <a:ext cx="2142744" cy="21427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467600" y="4114800"/>
            <a:ext cx="1147572" cy="11475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661909" y="5334000"/>
            <a:ext cx="735473" cy="10009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1" name="object 11"/>
          <p:cNvSpPr txBox="1"/>
          <p:nvPr/>
        </p:nvSpPr>
        <p:spPr>
          <a:xfrm>
            <a:off x="5743194" y="6514909"/>
            <a:ext cx="2711450" cy="306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5430">
              <a:lnSpc>
                <a:spcPts val="1050"/>
              </a:lnSpc>
            </a:pPr>
            <a:r>
              <a:rPr sz="1000" b="1" u="sng" spc="-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Fuente</a:t>
            </a:r>
            <a:r>
              <a:rPr sz="1000" b="1" spc="-75" dirty="0">
                <a:latin typeface="Trebuchet MS"/>
                <a:cs typeface="Trebuchet MS"/>
              </a:rPr>
              <a:t>: </a:t>
            </a:r>
            <a:r>
              <a:rPr sz="1000" b="1" spc="-50" dirty="0">
                <a:latin typeface="Trebuchet MS"/>
                <a:cs typeface="Trebuchet MS"/>
              </a:rPr>
              <a:t>Wailgum, </a:t>
            </a:r>
            <a:r>
              <a:rPr sz="1000" b="1" spc="-114" dirty="0">
                <a:latin typeface="Trebuchet MS"/>
                <a:cs typeface="Trebuchet MS"/>
              </a:rPr>
              <a:t>T. </a:t>
            </a:r>
            <a:r>
              <a:rPr sz="1000" b="1" i="1" spc="-50" dirty="0">
                <a:latin typeface="Arial"/>
                <a:cs typeface="Arial"/>
              </a:rPr>
              <a:t>10 </a:t>
            </a:r>
            <a:r>
              <a:rPr sz="1000" b="1" i="1" spc="-100" dirty="0">
                <a:latin typeface="Arial"/>
                <a:cs typeface="Arial"/>
              </a:rPr>
              <a:t>Famous </a:t>
            </a:r>
            <a:r>
              <a:rPr sz="1000" b="1" i="1" spc="-160" dirty="0">
                <a:latin typeface="Arial"/>
                <a:cs typeface="Arial"/>
              </a:rPr>
              <a:t>ERP </a:t>
            </a:r>
            <a:r>
              <a:rPr sz="1000" b="1" i="1" spc="-155" dirty="0">
                <a:latin typeface="Arial"/>
                <a:cs typeface="Arial"/>
              </a:rPr>
              <a:t> </a:t>
            </a:r>
            <a:r>
              <a:rPr sz="1000" b="1" i="1" spc="-80" dirty="0">
                <a:latin typeface="Arial"/>
                <a:cs typeface="Arial"/>
              </a:rPr>
              <a:t>Disasters,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 i="1" spc="-100" dirty="0">
                <a:latin typeface="Arial"/>
                <a:cs typeface="Arial"/>
              </a:rPr>
              <a:t>Dustups </a:t>
            </a:r>
            <a:r>
              <a:rPr sz="1000" b="1" i="1" spc="-65" dirty="0">
                <a:latin typeface="Arial"/>
                <a:cs typeface="Arial"/>
              </a:rPr>
              <a:t>and </a:t>
            </a:r>
            <a:r>
              <a:rPr sz="1000" b="1" i="1" spc="-75" dirty="0">
                <a:latin typeface="Arial"/>
                <a:cs typeface="Arial"/>
              </a:rPr>
              <a:t>Disappointments</a:t>
            </a:r>
            <a:r>
              <a:rPr sz="1000" b="1" spc="-75" dirty="0">
                <a:latin typeface="Trebuchet MS"/>
                <a:cs typeface="Trebuchet MS"/>
              </a:rPr>
              <a:t>. </a:t>
            </a:r>
            <a:r>
              <a:rPr sz="1000" b="1" spc="-45" dirty="0">
                <a:latin typeface="Trebuchet MS"/>
                <a:cs typeface="Trebuchet MS"/>
              </a:rPr>
              <a:t>CIO Magazine,</a:t>
            </a:r>
            <a:r>
              <a:rPr sz="1000" b="1" spc="-160" dirty="0">
                <a:latin typeface="Trebuchet MS"/>
                <a:cs typeface="Trebuchet MS"/>
              </a:rPr>
              <a:t> </a:t>
            </a:r>
            <a:r>
              <a:rPr sz="1000" b="1" spc="-80" dirty="0">
                <a:latin typeface="Trebuchet MS"/>
                <a:cs typeface="Trebuchet MS"/>
              </a:rPr>
              <a:t>2009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28</a:t>
            </a:fld>
            <a:endParaRPr spc="-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6485382"/>
            <a:ext cx="513207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2019</a:t>
            </a:r>
            <a:r>
              <a:rPr sz="1000" b="1" spc="-2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Universidad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00338D"/>
                </a:solidFill>
                <a:latin typeface="Arial"/>
                <a:cs typeface="Arial"/>
              </a:rPr>
              <a:t>Argentina</a:t>
            </a:r>
            <a:r>
              <a:rPr sz="1000" b="1" spc="-1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de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la 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Empresa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spc="130" dirty="0">
                <a:solidFill>
                  <a:srgbClr val="00338D"/>
                </a:solidFill>
                <a:latin typeface="Trebuchet MS"/>
                <a:cs typeface="Trebuchet MS"/>
              </a:rPr>
              <a:t>–</a:t>
            </a:r>
            <a:r>
              <a:rPr sz="1000" spc="-2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lang="es-AR" sz="1000" spc="40" dirty="0" err="1"/>
              <a:t>Mag</a:t>
            </a:r>
            <a:r>
              <a:rPr lang="es-AR" sz="1000" spc="40" dirty="0"/>
              <a:t>.</a:t>
            </a:r>
            <a:r>
              <a:rPr lang="es-AR" sz="1000" spc="-30" dirty="0"/>
              <a:t> </a:t>
            </a:r>
            <a:r>
              <a:rPr lang="es-AR" sz="1000" spc="-5" dirty="0" err="1"/>
              <a:t>Javer</a:t>
            </a:r>
            <a:r>
              <a:rPr lang="es-AR" sz="1000" spc="-5" dirty="0"/>
              <a:t> F. Klus </a:t>
            </a:r>
            <a:r>
              <a:rPr lang="es-AR" sz="1000" spc="-30" dirty="0"/>
              <a:t>(jklus@uade.edu.ar)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26169" y="6512559"/>
            <a:ext cx="1524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00338D"/>
                </a:solidFill>
                <a:latin typeface="Arial"/>
                <a:cs typeface="Arial"/>
              </a:rPr>
              <a:t>29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76305" y="1752600"/>
            <a:ext cx="6824694" cy="42481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6939" y="6108191"/>
            <a:ext cx="728853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Fuente: Yvanovich, </a:t>
            </a:r>
            <a:r>
              <a:rPr sz="1000" dirty="0">
                <a:latin typeface="Arial"/>
                <a:cs typeface="Arial"/>
              </a:rPr>
              <a:t>G. </a:t>
            </a:r>
            <a:r>
              <a:rPr sz="1000" spc="-5" dirty="0">
                <a:latin typeface="Arial"/>
                <a:cs typeface="Arial"/>
              </a:rPr>
              <a:t>(2016). </a:t>
            </a:r>
            <a:r>
              <a:rPr sz="1000" dirty="0">
                <a:latin typeface="Arial"/>
                <a:cs typeface="Arial"/>
              </a:rPr>
              <a:t>A </a:t>
            </a:r>
            <a:r>
              <a:rPr sz="1000" spc="-5" dirty="0">
                <a:latin typeface="Arial"/>
                <a:cs typeface="Arial"/>
              </a:rPr>
              <a:t>comparison </a:t>
            </a:r>
            <a:r>
              <a:rPr sz="1000" dirty="0">
                <a:latin typeface="Arial"/>
                <a:cs typeface="Arial"/>
              </a:rPr>
              <a:t>of Tier 1 </a:t>
            </a:r>
            <a:r>
              <a:rPr sz="1000" spc="-5" dirty="0">
                <a:latin typeface="Arial"/>
                <a:cs typeface="Arial"/>
              </a:rPr>
              <a:t>Vendors.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u="sng" spc="-5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Arial"/>
                <a:cs typeface="Arial"/>
                <a:hlinkClick r:id="rId3"/>
              </a:rPr>
              <a:t>http://blog.trginternational.com/a-comparison-of-tier-1-erp-vendors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05" dirty="0"/>
              <a:t>Integración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75" dirty="0"/>
              <a:t>/</a:t>
            </a:r>
            <a:r>
              <a:rPr spc="-395" dirty="0"/>
              <a:t> </a:t>
            </a:r>
            <a:r>
              <a:rPr spc="-125" dirty="0"/>
              <a:t>ERP (Cont.)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1902" y="362965"/>
            <a:ext cx="8248650" cy="17392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675" marR="5080">
              <a:lnSpc>
                <a:spcPct val="100000"/>
              </a:lnSpc>
              <a:spcBef>
                <a:spcPts val="100"/>
              </a:spcBef>
            </a:pPr>
            <a:r>
              <a:rPr sz="1800" spc="-240" dirty="0">
                <a:solidFill>
                  <a:srgbClr val="FFFFFF"/>
                </a:solidFill>
                <a:latin typeface="Arial"/>
                <a:cs typeface="Arial"/>
              </a:rPr>
              <a:t>ERP: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puntos 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 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 marL="19685">
              <a:lnSpc>
                <a:spcPct val="100000"/>
              </a:lnSpc>
              <a:spcBef>
                <a:spcPts val="1465"/>
              </a:spcBef>
            </a:pPr>
            <a:r>
              <a:rPr sz="2600" b="1" spc="-165" dirty="0">
                <a:latin typeface="Trebuchet MS"/>
                <a:cs typeface="Trebuchet MS"/>
              </a:rPr>
              <a:t>ERP </a:t>
            </a:r>
            <a:r>
              <a:rPr sz="2600" b="1" spc="-155" dirty="0">
                <a:latin typeface="Arial"/>
                <a:cs typeface="Arial"/>
              </a:rPr>
              <a:t>– </a:t>
            </a:r>
            <a:r>
              <a:rPr sz="2600" b="1" spc="-95" dirty="0">
                <a:latin typeface="Trebuchet MS"/>
                <a:cs typeface="Trebuchet MS"/>
              </a:rPr>
              <a:t>Mercado </a:t>
            </a:r>
            <a:r>
              <a:rPr sz="2600" b="1" spc="-160" dirty="0">
                <a:latin typeface="Trebuchet MS"/>
                <a:cs typeface="Trebuchet MS"/>
              </a:rPr>
              <a:t>y </a:t>
            </a:r>
            <a:r>
              <a:rPr sz="2600" b="1" spc="-150" dirty="0">
                <a:latin typeface="Trebuchet MS"/>
                <a:cs typeface="Trebuchet MS"/>
              </a:rPr>
              <a:t>principales</a:t>
            </a:r>
            <a:r>
              <a:rPr sz="2600" b="1" spc="-285" dirty="0">
                <a:latin typeface="Trebuchet MS"/>
                <a:cs typeface="Trebuchet MS"/>
              </a:rPr>
              <a:t> </a:t>
            </a:r>
            <a:r>
              <a:rPr sz="2600" b="1" spc="-155" dirty="0">
                <a:latin typeface="Trebuchet MS"/>
                <a:cs typeface="Trebuchet MS"/>
              </a:rPr>
              <a:t>jugadores</a:t>
            </a:r>
            <a:endParaRPr sz="2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90"/>
              </a:spcBef>
            </a:pPr>
            <a:r>
              <a:rPr sz="2000" b="1" spc="-160" dirty="0">
                <a:latin typeface="Trebuchet MS"/>
                <a:cs typeface="Trebuchet MS"/>
              </a:rPr>
              <a:t>2017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26169" y="6512559"/>
            <a:ext cx="1524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00338D"/>
                </a:solidFill>
                <a:latin typeface="Arial"/>
                <a:cs typeface="Arial"/>
              </a:rPr>
              <a:t>30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268" y="1098041"/>
            <a:ext cx="530161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65" dirty="0">
                <a:latin typeface="Trebuchet MS"/>
                <a:cs typeface="Trebuchet MS"/>
              </a:rPr>
              <a:t>ERP </a:t>
            </a:r>
            <a:r>
              <a:rPr sz="2600" b="1" spc="-155" dirty="0">
                <a:latin typeface="Arial"/>
                <a:cs typeface="Arial"/>
              </a:rPr>
              <a:t>– </a:t>
            </a:r>
            <a:r>
              <a:rPr sz="2600" b="1" spc="-95" dirty="0">
                <a:latin typeface="Trebuchet MS"/>
                <a:cs typeface="Trebuchet MS"/>
              </a:rPr>
              <a:t>Mercado </a:t>
            </a:r>
            <a:r>
              <a:rPr sz="2600" b="1" spc="-160" dirty="0">
                <a:latin typeface="Trebuchet MS"/>
                <a:cs typeface="Trebuchet MS"/>
              </a:rPr>
              <a:t>y </a:t>
            </a:r>
            <a:r>
              <a:rPr sz="2600" b="1" spc="-150" dirty="0">
                <a:latin typeface="Trebuchet MS"/>
                <a:cs typeface="Trebuchet MS"/>
              </a:rPr>
              <a:t>principales</a:t>
            </a:r>
            <a:r>
              <a:rPr sz="2600" b="1" spc="-265" dirty="0">
                <a:latin typeface="Trebuchet MS"/>
                <a:cs typeface="Trebuchet MS"/>
              </a:rPr>
              <a:t> </a:t>
            </a:r>
            <a:r>
              <a:rPr sz="2600" b="1" spc="-155" dirty="0">
                <a:latin typeface="Trebuchet MS"/>
                <a:cs typeface="Trebuchet MS"/>
              </a:rPr>
              <a:t>jugadores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6742" y="1558460"/>
            <a:ext cx="4203460" cy="2363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17476" y="1565227"/>
            <a:ext cx="4408136" cy="21108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3391" y="3992749"/>
            <a:ext cx="3917084" cy="24097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68190" y="3962400"/>
            <a:ext cx="4123734" cy="240161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86258" y="6485382"/>
            <a:ext cx="729234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2019</a:t>
            </a:r>
            <a:r>
              <a:rPr sz="1000" b="1" spc="-3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Universidad</a:t>
            </a:r>
            <a:r>
              <a:rPr sz="1000" b="1" spc="-2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00338D"/>
                </a:solidFill>
                <a:latin typeface="Arial"/>
                <a:cs typeface="Arial"/>
              </a:rPr>
              <a:t>Argentina</a:t>
            </a:r>
            <a:r>
              <a:rPr sz="1000" b="1" spc="-2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de</a:t>
            </a:r>
            <a:r>
              <a:rPr sz="1000" b="1" spc="-1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la</a:t>
            </a: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-10" dirty="0" err="1">
                <a:solidFill>
                  <a:srgbClr val="00338D"/>
                </a:solidFill>
                <a:latin typeface="Arial"/>
                <a:cs typeface="Arial"/>
              </a:rPr>
              <a:t>Empresa</a:t>
            </a:r>
            <a:r>
              <a:rPr sz="1000" b="1" spc="-2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lang="es-AR" sz="1000" b="1" spc="-25" dirty="0">
                <a:solidFill>
                  <a:srgbClr val="00338D"/>
                </a:solidFill>
                <a:latin typeface="Arial"/>
                <a:cs typeface="Arial"/>
              </a:rPr>
              <a:t> - </a:t>
            </a:r>
            <a:r>
              <a:rPr lang="es-AR" sz="1000" spc="40" dirty="0" err="1"/>
              <a:t>Mag</a:t>
            </a:r>
            <a:r>
              <a:rPr lang="es-AR" sz="1000" spc="40" dirty="0"/>
              <a:t>.</a:t>
            </a:r>
            <a:r>
              <a:rPr lang="es-AR" sz="1000" spc="-30" dirty="0"/>
              <a:t> </a:t>
            </a:r>
            <a:r>
              <a:rPr lang="es-AR" sz="1000" spc="-5" dirty="0" err="1"/>
              <a:t>Javer</a:t>
            </a:r>
            <a:r>
              <a:rPr lang="es-AR" sz="1000" spc="-5" dirty="0"/>
              <a:t> F. Klus </a:t>
            </a:r>
            <a:r>
              <a:rPr lang="es-AR" sz="1000" spc="-30" dirty="0"/>
              <a:t>(jklus@uade.edu.ar)</a:t>
            </a:r>
            <a:r>
              <a:rPr sz="1000" spc="-5" dirty="0">
                <a:latin typeface="Arial"/>
                <a:cs typeface="Arial"/>
              </a:rPr>
              <a:t>Fuente: Yvanovich, </a:t>
            </a:r>
            <a:r>
              <a:rPr sz="1000" dirty="0">
                <a:latin typeface="Arial"/>
                <a:cs typeface="Arial"/>
              </a:rPr>
              <a:t>G. </a:t>
            </a:r>
            <a:r>
              <a:rPr sz="1000" spc="-5" dirty="0">
                <a:latin typeface="Arial"/>
                <a:cs typeface="Arial"/>
              </a:rPr>
              <a:t>(2016). </a:t>
            </a:r>
            <a:r>
              <a:rPr sz="1000" dirty="0">
                <a:latin typeface="Arial"/>
                <a:cs typeface="Arial"/>
              </a:rPr>
              <a:t>A </a:t>
            </a:r>
            <a:r>
              <a:rPr sz="1000" spc="-5" dirty="0">
                <a:latin typeface="Arial"/>
                <a:cs typeface="Arial"/>
              </a:rPr>
              <a:t>comparison </a:t>
            </a:r>
            <a:r>
              <a:rPr sz="1000" dirty="0">
                <a:latin typeface="Arial"/>
                <a:cs typeface="Arial"/>
              </a:rPr>
              <a:t>of Tier 1 </a:t>
            </a:r>
            <a:r>
              <a:rPr sz="1000" spc="-5" dirty="0">
                <a:latin typeface="Arial"/>
                <a:cs typeface="Arial"/>
              </a:rPr>
              <a:t>Vendors.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u="sng" spc="-5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Arial"/>
                <a:cs typeface="Arial"/>
                <a:hlinkClick r:id="rId6"/>
              </a:rPr>
              <a:t>http://blog.trginternational.com/a-comparison-of-tier-1-erp-vendors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28152" y="1152397"/>
            <a:ext cx="54102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60" dirty="0">
                <a:latin typeface="Trebuchet MS"/>
                <a:cs typeface="Trebuchet MS"/>
              </a:rPr>
              <a:t>2017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05" dirty="0"/>
              <a:t>Integración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75" dirty="0"/>
              <a:t>/</a:t>
            </a:r>
            <a:r>
              <a:rPr spc="-395" dirty="0"/>
              <a:t> </a:t>
            </a:r>
            <a:r>
              <a:rPr spc="-125" dirty="0"/>
              <a:t>ERP (Cont.)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86258" y="362965"/>
            <a:ext cx="81940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40" dirty="0">
                <a:solidFill>
                  <a:srgbClr val="FFFFFF"/>
                </a:solidFill>
                <a:latin typeface="Arial"/>
                <a:cs typeface="Arial"/>
              </a:rPr>
              <a:t>ERP: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puntos 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 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1098041"/>
            <a:ext cx="530161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65" dirty="0">
                <a:latin typeface="Trebuchet MS"/>
                <a:cs typeface="Trebuchet MS"/>
              </a:rPr>
              <a:t>ERP </a:t>
            </a:r>
            <a:r>
              <a:rPr sz="2600" b="1" spc="-155" dirty="0">
                <a:latin typeface="Arial"/>
                <a:cs typeface="Arial"/>
              </a:rPr>
              <a:t>– </a:t>
            </a:r>
            <a:r>
              <a:rPr sz="2600" b="1" spc="-95" dirty="0">
                <a:latin typeface="Trebuchet MS"/>
                <a:cs typeface="Trebuchet MS"/>
              </a:rPr>
              <a:t>Mercado </a:t>
            </a:r>
            <a:r>
              <a:rPr sz="2600" b="1" spc="-160" dirty="0">
                <a:latin typeface="Trebuchet MS"/>
                <a:cs typeface="Trebuchet MS"/>
              </a:rPr>
              <a:t>y </a:t>
            </a:r>
            <a:r>
              <a:rPr sz="2600" b="1" spc="-150" dirty="0">
                <a:latin typeface="Trebuchet MS"/>
                <a:cs typeface="Trebuchet MS"/>
              </a:rPr>
              <a:t>principales</a:t>
            </a:r>
            <a:r>
              <a:rPr sz="2600" b="1" spc="-265" dirty="0">
                <a:latin typeface="Trebuchet MS"/>
                <a:cs typeface="Trebuchet MS"/>
              </a:rPr>
              <a:t> </a:t>
            </a:r>
            <a:r>
              <a:rPr sz="2600" b="1" spc="-155" dirty="0">
                <a:latin typeface="Trebuchet MS"/>
                <a:cs typeface="Trebuchet MS"/>
              </a:rPr>
              <a:t>jugadores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31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04038" y="6260591"/>
            <a:ext cx="51885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Fuente: elaboración </a:t>
            </a:r>
            <a:r>
              <a:rPr sz="1000" dirty="0">
                <a:latin typeface="Arial"/>
                <a:cs typeface="Arial"/>
              </a:rPr>
              <a:t>propia en base a </a:t>
            </a:r>
            <a:r>
              <a:rPr sz="1000" spc="-5" dirty="0">
                <a:latin typeface="Arial"/>
                <a:cs typeface="Arial"/>
              </a:rPr>
              <a:t>Panorama </a:t>
            </a:r>
            <a:r>
              <a:rPr sz="1000" dirty="0">
                <a:latin typeface="Arial"/>
                <a:cs typeface="Arial"/>
              </a:rPr>
              <a:t>Top </a:t>
            </a:r>
            <a:r>
              <a:rPr sz="1000" spc="-5" dirty="0">
                <a:latin typeface="Arial"/>
                <a:cs typeface="Arial"/>
              </a:rPr>
              <a:t>2017 </a:t>
            </a:r>
            <a:r>
              <a:rPr sz="1000" dirty="0">
                <a:latin typeface="Arial"/>
                <a:cs typeface="Arial"/>
              </a:rPr>
              <a:t>10 ERP Systems </a:t>
            </a:r>
            <a:r>
              <a:rPr sz="1000" spc="-5" dirty="0">
                <a:latin typeface="Arial"/>
                <a:cs typeface="Arial"/>
              </a:rPr>
              <a:t>Ranking</a:t>
            </a:r>
            <a:r>
              <a:rPr sz="1000" spc="-19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(2016)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28152" y="1152397"/>
            <a:ext cx="54102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60" dirty="0">
                <a:latin typeface="Trebuchet MS"/>
                <a:cs typeface="Trebuchet MS"/>
              </a:rPr>
              <a:t>2017</a:t>
            </a:r>
            <a:endParaRPr sz="2000">
              <a:latin typeface="Trebuchet MS"/>
              <a:cs typeface="Trebuchet M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45706" y="1714119"/>
          <a:ext cx="8587103" cy="4435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7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9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00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308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</a:pPr>
                      <a:r>
                        <a:rPr sz="1400" b="1" spc="-9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Proveedor </a:t>
                      </a:r>
                      <a:r>
                        <a:rPr sz="1400" b="1" spc="5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1400" b="1" spc="-13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b="1" spc="-9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Criterio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marL="345440" marR="159385" indent="-16637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400" b="1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MKT</a:t>
                      </a:r>
                      <a:r>
                        <a:rPr sz="1400" b="1" spc="-19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b="1" spc="-8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Share  </a:t>
                      </a:r>
                      <a:r>
                        <a:rPr sz="1400" b="1" spc="-9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(en</a:t>
                      </a:r>
                      <a:r>
                        <a:rPr sz="1400" b="1" spc="-1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%)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403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marL="100965" marR="80645" indent="12192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400" b="1" spc="-8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Evaluación  </a:t>
                      </a:r>
                      <a:r>
                        <a:rPr sz="1400" b="1" spc="-9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Funcional</a:t>
                      </a:r>
                      <a:r>
                        <a:rPr sz="1400" b="1" spc="-1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b="1" spc="-5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(/5)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403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marL="290830" marR="269875" indent="126364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400" b="1" spc="-7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Repago  </a:t>
                      </a:r>
                      <a:r>
                        <a:rPr sz="1400" b="1" spc="-9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(en</a:t>
                      </a:r>
                      <a:r>
                        <a:rPr sz="1400" b="1" spc="-17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b="1" spc="-8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meses)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403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marL="117475" marR="9525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b="1" spc="-7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Costo </a:t>
                      </a:r>
                      <a:r>
                        <a:rPr sz="1400" b="1" spc="-8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1400" b="1" spc="-2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b="1" spc="-8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Implem. 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(% </a:t>
                      </a:r>
                      <a:r>
                        <a:rPr sz="1400" b="1" spc="-8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  facturación)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marL="299720" marR="279400" indent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b="1" spc="-9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Tiempo </a:t>
                      </a:r>
                      <a:r>
                        <a:rPr sz="1400" b="1" spc="-8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  </a:t>
                      </a:r>
                      <a:r>
                        <a:rPr sz="1400" b="1" spc="-7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Implem.  </a:t>
                      </a:r>
                      <a:r>
                        <a:rPr sz="1400" b="1" spc="-9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(en</a:t>
                      </a:r>
                      <a:r>
                        <a:rPr sz="1400" b="1" spc="-17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b="1" spc="-8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meses)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235" dirty="0">
                          <a:latin typeface="Arial"/>
                          <a:cs typeface="Arial"/>
                        </a:rPr>
                        <a:t>EPICOR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125" dirty="0">
                          <a:latin typeface="Arial"/>
                          <a:cs typeface="Arial"/>
                        </a:rPr>
                        <a:t>3.5%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45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3.2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711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40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8.6</a:t>
                      </a:r>
                      <a:r>
                        <a:rPr sz="1600" b="1" spc="-145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b="1" spc="-85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meses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125" dirty="0">
                          <a:latin typeface="Arial"/>
                          <a:cs typeface="Arial"/>
                        </a:rPr>
                        <a:t>5.4%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75" dirty="0">
                          <a:latin typeface="Arial"/>
                          <a:cs typeface="Arial"/>
                        </a:rPr>
                        <a:t>37.5</a:t>
                      </a:r>
                      <a:r>
                        <a:rPr sz="16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20" dirty="0">
                          <a:latin typeface="Arial"/>
                          <a:cs typeface="Arial"/>
                        </a:rPr>
                        <a:t>meses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180" dirty="0">
                          <a:latin typeface="Arial"/>
                          <a:cs typeface="Arial"/>
                        </a:rPr>
                        <a:t>INFOR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90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7.4%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75" dirty="0">
                          <a:latin typeface="Arial"/>
                          <a:cs typeface="Arial"/>
                        </a:rPr>
                        <a:t>2.9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7749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70" dirty="0">
                          <a:latin typeface="Arial"/>
                          <a:cs typeface="Arial"/>
                        </a:rPr>
                        <a:t>9.8</a:t>
                      </a:r>
                      <a:r>
                        <a:rPr sz="1600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20" dirty="0">
                          <a:latin typeface="Arial"/>
                          <a:cs typeface="Arial"/>
                        </a:rPr>
                        <a:t>meses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125" dirty="0">
                          <a:latin typeface="Arial"/>
                          <a:cs typeface="Arial"/>
                        </a:rPr>
                        <a:t>5.1%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30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30</a:t>
                      </a:r>
                      <a:r>
                        <a:rPr sz="1600" b="1" spc="-135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b="1" spc="-85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meses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245" dirty="0">
                          <a:latin typeface="Arial"/>
                          <a:cs typeface="Arial"/>
                        </a:rPr>
                        <a:t>SAP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00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20.3%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75" dirty="0">
                          <a:latin typeface="Arial"/>
                          <a:cs typeface="Arial"/>
                        </a:rPr>
                        <a:t>2.9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711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40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8.5</a:t>
                      </a:r>
                      <a:r>
                        <a:rPr sz="1600" b="1" spc="-145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b="1" spc="-85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meses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125" dirty="0">
                          <a:latin typeface="Arial"/>
                          <a:cs typeface="Arial"/>
                        </a:rPr>
                        <a:t>5.2%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2923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40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34.3</a:t>
                      </a:r>
                      <a:r>
                        <a:rPr sz="1600" b="1" spc="-130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b="1" spc="-85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meses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215" dirty="0">
                          <a:latin typeface="Arial"/>
                          <a:cs typeface="Arial"/>
                        </a:rPr>
                        <a:t>IFS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125" dirty="0">
                          <a:latin typeface="Arial"/>
                          <a:cs typeface="Arial"/>
                        </a:rPr>
                        <a:t>1.5%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45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3.6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80" dirty="0">
                          <a:latin typeface="Arial"/>
                          <a:cs typeface="Arial"/>
                        </a:rPr>
                        <a:t>48</a:t>
                      </a:r>
                      <a:r>
                        <a:rPr sz="16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20" dirty="0">
                          <a:latin typeface="Arial"/>
                          <a:cs typeface="Arial"/>
                        </a:rPr>
                        <a:t>meses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90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4.0%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80" dirty="0">
                          <a:latin typeface="Arial"/>
                          <a:cs typeface="Arial"/>
                        </a:rPr>
                        <a:t>54</a:t>
                      </a:r>
                      <a:r>
                        <a:rPr sz="16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20" dirty="0">
                          <a:latin typeface="Arial"/>
                          <a:cs typeface="Arial"/>
                        </a:rPr>
                        <a:t>meses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245" dirty="0">
                          <a:latin typeface="Arial"/>
                          <a:cs typeface="Arial"/>
                        </a:rPr>
                        <a:t>ORACLE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00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13.9%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45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3.3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2606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75" dirty="0">
                          <a:latin typeface="Arial"/>
                          <a:cs typeface="Arial"/>
                        </a:rPr>
                        <a:t>22.1</a:t>
                      </a:r>
                      <a:r>
                        <a:rPr sz="16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20" dirty="0">
                          <a:latin typeface="Arial"/>
                          <a:cs typeface="Arial"/>
                        </a:rPr>
                        <a:t>meses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125" dirty="0">
                          <a:latin typeface="Arial"/>
                          <a:cs typeface="Arial"/>
                        </a:rPr>
                        <a:t>5.7%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2923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40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25.3</a:t>
                      </a:r>
                      <a:r>
                        <a:rPr sz="1600" b="1" spc="-130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b="1" spc="-85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meses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204" dirty="0">
                          <a:latin typeface="Arial"/>
                          <a:cs typeface="Arial"/>
                        </a:rPr>
                        <a:t>NETSUITE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125" dirty="0">
                          <a:latin typeface="Arial"/>
                          <a:cs typeface="Arial"/>
                        </a:rPr>
                        <a:t>2.9%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75" dirty="0">
                          <a:latin typeface="Arial"/>
                          <a:cs typeface="Arial"/>
                        </a:rPr>
                        <a:t>2.8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711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40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8.7</a:t>
                      </a:r>
                      <a:r>
                        <a:rPr sz="1600" b="1" spc="-145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b="1" spc="-85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meses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90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2.8%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80" dirty="0">
                          <a:latin typeface="Arial"/>
                          <a:cs typeface="Arial"/>
                        </a:rPr>
                        <a:t>44</a:t>
                      </a:r>
                      <a:r>
                        <a:rPr sz="16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20" dirty="0">
                          <a:latin typeface="Arial"/>
                          <a:cs typeface="Arial"/>
                        </a:rPr>
                        <a:t>meses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200" dirty="0">
                          <a:latin typeface="Arial"/>
                          <a:cs typeface="Arial"/>
                        </a:rPr>
                        <a:t>MICROSOFT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90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9.4%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75" dirty="0">
                          <a:latin typeface="Arial"/>
                          <a:cs typeface="Arial"/>
                        </a:rPr>
                        <a:t>2.9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2606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75" dirty="0">
                          <a:latin typeface="Arial"/>
                          <a:cs typeface="Arial"/>
                        </a:rPr>
                        <a:t>11.9</a:t>
                      </a:r>
                      <a:r>
                        <a:rPr sz="16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20" dirty="0">
                          <a:latin typeface="Arial"/>
                          <a:cs typeface="Arial"/>
                        </a:rPr>
                        <a:t>meses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125" dirty="0">
                          <a:latin typeface="Arial"/>
                          <a:cs typeface="Arial"/>
                        </a:rPr>
                        <a:t>5.2%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2923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40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36.1</a:t>
                      </a:r>
                      <a:r>
                        <a:rPr sz="1600" b="1" spc="-130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b="1" spc="-85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meses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260" dirty="0">
                          <a:latin typeface="Arial"/>
                          <a:cs typeface="Arial"/>
                        </a:rPr>
                        <a:t>SAGE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120" dirty="0">
                          <a:latin typeface="Arial"/>
                          <a:cs typeface="Arial"/>
                        </a:rPr>
                        <a:t>3.5%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70" dirty="0">
                          <a:latin typeface="Arial"/>
                          <a:cs typeface="Arial"/>
                        </a:rPr>
                        <a:t>2.8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711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40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9.6</a:t>
                      </a:r>
                      <a:r>
                        <a:rPr sz="1600" b="1" spc="-135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b="1" spc="-85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meses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90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4.1%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75" dirty="0">
                          <a:latin typeface="Arial"/>
                          <a:cs typeface="Arial"/>
                        </a:rPr>
                        <a:t>40.5</a:t>
                      </a:r>
                      <a:r>
                        <a:rPr sz="1600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20" dirty="0">
                          <a:latin typeface="Arial"/>
                          <a:cs typeface="Arial"/>
                        </a:rPr>
                        <a:t>meses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90" dirty="0">
                          <a:latin typeface="Arial"/>
                          <a:cs typeface="Arial"/>
                        </a:rPr>
                        <a:t>SYSPRO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25" dirty="0">
                          <a:latin typeface="Arial"/>
                          <a:cs typeface="Arial"/>
                        </a:rPr>
                        <a:t>1.1%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145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3.1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0" dirty="0">
                          <a:latin typeface="Arial"/>
                          <a:cs typeface="Arial"/>
                        </a:rPr>
                        <a:t>N/A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25" dirty="0">
                          <a:latin typeface="Arial"/>
                          <a:cs typeface="Arial"/>
                        </a:rPr>
                        <a:t>5.3%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0" dirty="0">
                          <a:latin typeface="Arial"/>
                          <a:cs typeface="Arial"/>
                        </a:rPr>
                        <a:t>N/A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30" dirty="0">
                          <a:latin typeface="Arial"/>
                          <a:cs typeface="Arial"/>
                        </a:rPr>
                        <a:t>IQMS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25" dirty="0">
                          <a:latin typeface="Arial"/>
                          <a:cs typeface="Arial"/>
                        </a:rPr>
                        <a:t>1.2%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75" dirty="0">
                          <a:latin typeface="Arial"/>
                          <a:cs typeface="Arial"/>
                        </a:rPr>
                        <a:t>3.0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0" dirty="0">
                          <a:latin typeface="Arial"/>
                          <a:cs typeface="Arial"/>
                        </a:rPr>
                        <a:t>N/A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90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2.9%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0" dirty="0">
                          <a:latin typeface="Arial"/>
                          <a:cs typeface="Arial"/>
                        </a:rPr>
                        <a:t>N/A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05" dirty="0"/>
              <a:t>Integración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75" dirty="0"/>
              <a:t>/</a:t>
            </a:r>
            <a:r>
              <a:rPr spc="-395" dirty="0"/>
              <a:t> </a:t>
            </a:r>
            <a:r>
              <a:rPr spc="-125" dirty="0"/>
              <a:t>ERP (Cont.)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86258" y="362965"/>
            <a:ext cx="81940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40" dirty="0">
                <a:solidFill>
                  <a:srgbClr val="FFFFFF"/>
                </a:solidFill>
                <a:latin typeface="Arial"/>
                <a:cs typeface="Arial"/>
              </a:rPr>
              <a:t>ERP: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puntos 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 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2795" y="5005578"/>
            <a:ext cx="1143000" cy="381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1480" y="5551170"/>
            <a:ext cx="914400" cy="6195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44574" y="5647112"/>
            <a:ext cx="1319022" cy="35218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38364" y="1289199"/>
            <a:ext cx="1068927" cy="3403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71112" y="5628894"/>
            <a:ext cx="1035483" cy="4358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49936" y="1751838"/>
            <a:ext cx="1943100" cy="32080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62200" y="1687067"/>
            <a:ext cx="845058" cy="84962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1000" y="2144267"/>
            <a:ext cx="1523010" cy="80194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31893" y="2638261"/>
            <a:ext cx="1219271" cy="51772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41191" y="1676400"/>
            <a:ext cx="832865" cy="86029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495550" y="3262134"/>
            <a:ext cx="1666875" cy="56234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8506" y="3046325"/>
            <a:ext cx="1923257" cy="129874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495550" y="3756659"/>
            <a:ext cx="1604772" cy="60578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54736" y="4973573"/>
            <a:ext cx="1416639" cy="42138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010661" y="4965191"/>
            <a:ext cx="1180338" cy="36347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85241" y="4632705"/>
            <a:ext cx="1789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85" dirty="0">
                <a:latin typeface="Trebuchet MS"/>
                <a:cs typeface="Trebuchet MS"/>
              </a:rPr>
              <a:t>Otros</a:t>
            </a:r>
            <a:r>
              <a:rPr sz="1800" b="1" spc="-190" dirty="0">
                <a:latin typeface="Trebuchet MS"/>
                <a:cs typeface="Trebuchet MS"/>
              </a:rPr>
              <a:t> </a:t>
            </a:r>
            <a:r>
              <a:rPr sz="1800" b="1" spc="-110" dirty="0">
                <a:latin typeface="Trebuchet MS"/>
                <a:cs typeface="Trebuchet MS"/>
              </a:rPr>
              <a:t>proveedores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467453" y="1687067"/>
            <a:ext cx="4517593" cy="454883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05" dirty="0"/>
              <a:t>Integración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75" dirty="0"/>
              <a:t>/</a:t>
            </a:r>
            <a:r>
              <a:rPr spc="-395" dirty="0"/>
              <a:t> </a:t>
            </a:r>
            <a:r>
              <a:rPr spc="-125" dirty="0"/>
              <a:t>ERP (Cont.)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32</a:t>
            </a:fld>
            <a:endParaRPr spc="-5" dirty="0"/>
          </a:p>
        </p:txBody>
      </p:sp>
      <p:sp>
        <p:nvSpPr>
          <p:cNvPr id="20" name="object 20"/>
          <p:cNvSpPr txBox="1"/>
          <p:nvPr/>
        </p:nvSpPr>
        <p:spPr>
          <a:xfrm>
            <a:off x="239268" y="362965"/>
            <a:ext cx="8241030" cy="1156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 marR="5080">
              <a:lnSpc>
                <a:spcPct val="100000"/>
              </a:lnSpc>
              <a:spcBef>
                <a:spcPts val="100"/>
              </a:spcBef>
            </a:pPr>
            <a:r>
              <a:rPr sz="1800" spc="-240" dirty="0">
                <a:solidFill>
                  <a:srgbClr val="FFFFFF"/>
                </a:solidFill>
                <a:latin typeface="Arial"/>
                <a:cs typeface="Arial"/>
              </a:rPr>
              <a:t>ERP: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puntos 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 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2600" b="1" spc="-165" dirty="0">
                <a:latin typeface="Trebuchet MS"/>
                <a:cs typeface="Trebuchet MS"/>
              </a:rPr>
              <a:t>ERP </a:t>
            </a:r>
            <a:r>
              <a:rPr sz="2600" b="1" spc="-155" dirty="0">
                <a:latin typeface="Arial"/>
                <a:cs typeface="Arial"/>
              </a:rPr>
              <a:t>– </a:t>
            </a:r>
            <a:r>
              <a:rPr sz="2600" b="1" spc="-95" dirty="0">
                <a:latin typeface="Trebuchet MS"/>
                <a:cs typeface="Trebuchet MS"/>
              </a:rPr>
              <a:t>Mercado </a:t>
            </a:r>
            <a:r>
              <a:rPr sz="2600" b="1" spc="-160" dirty="0">
                <a:latin typeface="Trebuchet MS"/>
                <a:cs typeface="Trebuchet MS"/>
              </a:rPr>
              <a:t>y </a:t>
            </a:r>
            <a:r>
              <a:rPr sz="2600" b="1" spc="-150" dirty="0">
                <a:latin typeface="Trebuchet MS"/>
                <a:cs typeface="Trebuchet MS"/>
              </a:rPr>
              <a:t>principales</a:t>
            </a:r>
            <a:r>
              <a:rPr sz="2600" b="1" spc="-285" dirty="0">
                <a:latin typeface="Trebuchet MS"/>
                <a:cs typeface="Trebuchet MS"/>
              </a:rPr>
              <a:t> </a:t>
            </a:r>
            <a:r>
              <a:rPr sz="2600" b="1" spc="-155" dirty="0">
                <a:latin typeface="Trebuchet MS"/>
                <a:cs typeface="Trebuchet MS"/>
              </a:rPr>
              <a:t>jugadores</a:t>
            </a:r>
            <a:endParaRPr sz="2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268" y="56642"/>
            <a:ext cx="8241030" cy="146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5" dirty="0">
                <a:solidFill>
                  <a:srgbClr val="FFFFFF"/>
                </a:solidFill>
                <a:latin typeface="Trebuchet MS"/>
                <a:cs typeface="Trebuchet MS"/>
              </a:rPr>
              <a:t>Integración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 </a:t>
            </a:r>
            <a:r>
              <a:rPr sz="2000" b="1" spc="75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2000" b="1" spc="-4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ERP (Cont.)</a:t>
            </a:r>
            <a:endParaRPr sz="2000">
              <a:latin typeface="Trebuchet MS"/>
              <a:cs typeface="Trebuchet MS"/>
            </a:endParaRPr>
          </a:p>
          <a:p>
            <a:pPr marL="59055" marR="5080">
              <a:lnSpc>
                <a:spcPct val="100000"/>
              </a:lnSpc>
              <a:spcBef>
                <a:spcPts val="15"/>
              </a:spcBef>
            </a:pPr>
            <a:r>
              <a:rPr sz="1800" spc="-240" dirty="0">
                <a:solidFill>
                  <a:srgbClr val="FFFFFF"/>
                </a:solidFill>
                <a:latin typeface="Arial"/>
                <a:cs typeface="Arial"/>
              </a:rPr>
              <a:t>ERP: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puntos 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 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2600" b="1" spc="-165" dirty="0">
                <a:latin typeface="Trebuchet MS"/>
                <a:cs typeface="Trebuchet MS"/>
              </a:rPr>
              <a:t>Ejemplo</a:t>
            </a:r>
            <a:r>
              <a:rPr sz="2600" b="1" spc="-195" dirty="0">
                <a:latin typeface="Trebuchet MS"/>
                <a:cs typeface="Trebuchet MS"/>
              </a:rPr>
              <a:t> </a:t>
            </a:r>
            <a:r>
              <a:rPr sz="2600" b="1" spc="-225" dirty="0">
                <a:latin typeface="Trebuchet MS"/>
                <a:cs typeface="Trebuchet MS"/>
              </a:rPr>
              <a:t>1: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68" y="1890522"/>
            <a:ext cx="7523480" cy="2402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har char="•"/>
              <a:tabLst>
                <a:tab pos="241935" algn="l"/>
              </a:tabLst>
            </a:pPr>
            <a:r>
              <a:rPr sz="2600" spc="-85" dirty="0">
                <a:latin typeface="Arial"/>
                <a:cs typeface="Arial"/>
              </a:rPr>
              <a:t>Implantación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445" dirty="0">
                <a:latin typeface="Arial"/>
                <a:cs typeface="Arial"/>
              </a:rPr>
              <a:t>ERP </a:t>
            </a:r>
            <a:r>
              <a:rPr sz="2600" spc="-120" dirty="0">
                <a:latin typeface="Arial"/>
                <a:cs typeface="Arial"/>
              </a:rPr>
              <a:t>en </a:t>
            </a:r>
            <a:r>
              <a:rPr sz="2600" spc="-70" dirty="0">
                <a:latin typeface="Arial"/>
                <a:cs typeface="Arial"/>
              </a:rPr>
              <a:t>el </a:t>
            </a:r>
            <a:r>
              <a:rPr sz="2600" spc="-85" dirty="0">
                <a:latin typeface="Arial"/>
                <a:cs typeface="Arial"/>
              </a:rPr>
              <a:t>grupo</a:t>
            </a:r>
            <a:r>
              <a:rPr sz="2600" spc="-250" dirty="0">
                <a:latin typeface="Arial"/>
                <a:cs typeface="Arial"/>
              </a:rPr>
              <a:t> </a:t>
            </a:r>
            <a:r>
              <a:rPr sz="2600" spc="-125" dirty="0">
                <a:latin typeface="Arial"/>
                <a:cs typeface="Arial"/>
              </a:rPr>
              <a:t>Belloc</a:t>
            </a:r>
            <a:endParaRPr sz="26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935" algn="l"/>
              </a:tabLst>
            </a:pPr>
            <a:r>
              <a:rPr sz="2600" spc="-204" dirty="0">
                <a:latin typeface="Arial"/>
                <a:cs typeface="Arial"/>
              </a:rPr>
              <a:t>España,</a:t>
            </a:r>
            <a:r>
              <a:rPr sz="2600" spc="-135" dirty="0">
                <a:latin typeface="Arial"/>
                <a:cs typeface="Arial"/>
              </a:rPr>
              <a:t> </a:t>
            </a:r>
            <a:r>
              <a:rPr sz="2600" spc="-155" dirty="0">
                <a:latin typeface="Arial"/>
                <a:cs typeface="Arial"/>
              </a:rPr>
              <a:t>Valencia</a:t>
            </a:r>
            <a:endParaRPr sz="26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har char="•"/>
              <a:tabLst>
                <a:tab pos="241935" algn="l"/>
              </a:tabLst>
            </a:pPr>
            <a:r>
              <a:rPr sz="2600" spc="-160" dirty="0">
                <a:latin typeface="Arial"/>
                <a:cs typeface="Arial"/>
              </a:rPr>
              <a:t>Cosmética </a:t>
            </a:r>
            <a:r>
              <a:rPr sz="2600" spc="-125" dirty="0">
                <a:latin typeface="Arial"/>
                <a:cs typeface="Arial"/>
              </a:rPr>
              <a:t>y </a:t>
            </a:r>
            <a:r>
              <a:rPr sz="2600" spc="-105" dirty="0">
                <a:latin typeface="Arial"/>
                <a:cs typeface="Arial"/>
              </a:rPr>
              <a:t>cuidado </a:t>
            </a:r>
            <a:r>
              <a:rPr sz="2600" spc="-80" dirty="0">
                <a:latin typeface="Arial"/>
                <a:cs typeface="Arial"/>
              </a:rPr>
              <a:t>del</a:t>
            </a:r>
            <a:r>
              <a:rPr sz="2600" spc="-135" dirty="0">
                <a:latin typeface="Arial"/>
                <a:cs typeface="Arial"/>
              </a:rPr>
              <a:t> </a:t>
            </a:r>
            <a:r>
              <a:rPr sz="2600" spc="-105" dirty="0">
                <a:latin typeface="Arial"/>
                <a:cs typeface="Arial"/>
              </a:rPr>
              <a:t>cabello</a:t>
            </a:r>
            <a:endParaRPr sz="26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935" algn="l"/>
              </a:tabLst>
            </a:pPr>
            <a:r>
              <a:rPr sz="2600" spc="-145" dirty="0">
                <a:latin typeface="Arial"/>
                <a:cs typeface="Arial"/>
              </a:rPr>
              <a:t>Más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35" dirty="0">
                <a:latin typeface="Arial"/>
                <a:cs typeface="Arial"/>
              </a:rPr>
              <a:t>50 </a:t>
            </a:r>
            <a:r>
              <a:rPr sz="2600" spc="-165" dirty="0">
                <a:latin typeface="Arial"/>
                <a:cs typeface="Arial"/>
              </a:rPr>
              <a:t>años </a:t>
            </a:r>
            <a:r>
              <a:rPr sz="2600" spc="-120" dirty="0">
                <a:latin typeface="Arial"/>
                <a:cs typeface="Arial"/>
              </a:rPr>
              <a:t>en </a:t>
            </a:r>
            <a:r>
              <a:rPr sz="2600" spc="-70" dirty="0">
                <a:latin typeface="Arial"/>
                <a:cs typeface="Arial"/>
              </a:rPr>
              <a:t>el</a:t>
            </a:r>
            <a:r>
              <a:rPr sz="2600" spc="-160" dirty="0">
                <a:latin typeface="Arial"/>
                <a:cs typeface="Arial"/>
              </a:rPr>
              <a:t> </a:t>
            </a:r>
            <a:r>
              <a:rPr sz="2600" spc="-120" dirty="0">
                <a:latin typeface="Arial"/>
                <a:cs typeface="Arial"/>
              </a:rPr>
              <a:t>mercado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i="1" spc="-155" dirty="0">
                <a:latin typeface="Arial"/>
                <a:cs typeface="Arial"/>
              </a:rPr>
              <a:t>Video</a:t>
            </a:r>
            <a:r>
              <a:rPr sz="2600" spc="-155" dirty="0">
                <a:latin typeface="Arial"/>
                <a:cs typeface="Arial"/>
              </a:rPr>
              <a:t>:</a:t>
            </a:r>
            <a:r>
              <a:rPr sz="2600" spc="-90" dirty="0">
                <a:latin typeface="Arial"/>
                <a:cs typeface="Arial"/>
              </a:rPr>
              <a:t> </a:t>
            </a:r>
            <a:r>
              <a:rPr sz="2600" u="heavy" spc="-95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Arial"/>
                <a:cs typeface="Arial"/>
                <a:hlinkClick r:id="rId2"/>
              </a:rPr>
              <a:t>http://www.youtube.com/watch?v=ZIFTttCEPyM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91200" y="1024127"/>
            <a:ext cx="3181350" cy="11856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33</a:t>
            </a:fld>
            <a:endParaRPr spc="-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268" y="56642"/>
            <a:ext cx="8241030" cy="146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5" dirty="0">
                <a:solidFill>
                  <a:srgbClr val="FFFFFF"/>
                </a:solidFill>
                <a:latin typeface="Trebuchet MS"/>
                <a:cs typeface="Trebuchet MS"/>
              </a:rPr>
              <a:t>Integración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 </a:t>
            </a:r>
            <a:r>
              <a:rPr sz="2000" b="1" spc="75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2000" b="1" spc="-4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ERP (Cont.)</a:t>
            </a:r>
            <a:endParaRPr sz="2000">
              <a:latin typeface="Trebuchet MS"/>
              <a:cs typeface="Trebuchet MS"/>
            </a:endParaRPr>
          </a:p>
          <a:p>
            <a:pPr marL="59055" marR="5080">
              <a:lnSpc>
                <a:spcPct val="100000"/>
              </a:lnSpc>
              <a:spcBef>
                <a:spcPts val="15"/>
              </a:spcBef>
            </a:pPr>
            <a:r>
              <a:rPr sz="1800" spc="-240" dirty="0">
                <a:solidFill>
                  <a:srgbClr val="FFFFFF"/>
                </a:solidFill>
                <a:latin typeface="Arial"/>
                <a:cs typeface="Arial"/>
              </a:rPr>
              <a:t>ERP: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puntos 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 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2600" b="1" spc="-165" dirty="0">
                <a:latin typeface="Trebuchet MS"/>
                <a:cs typeface="Trebuchet MS"/>
              </a:rPr>
              <a:t>Ejemplo</a:t>
            </a:r>
            <a:r>
              <a:rPr sz="2600" b="1" spc="-195" dirty="0">
                <a:latin typeface="Trebuchet MS"/>
                <a:cs typeface="Trebuchet MS"/>
              </a:rPr>
              <a:t> </a:t>
            </a:r>
            <a:r>
              <a:rPr sz="2600" b="1" spc="-225" dirty="0">
                <a:latin typeface="Trebuchet MS"/>
                <a:cs typeface="Trebuchet MS"/>
              </a:rPr>
              <a:t>2: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68" y="1890522"/>
            <a:ext cx="7660005" cy="2402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har char="•"/>
              <a:tabLst>
                <a:tab pos="241935" algn="l"/>
              </a:tabLst>
            </a:pPr>
            <a:r>
              <a:rPr sz="2600" spc="-85" dirty="0">
                <a:latin typeface="Arial"/>
                <a:cs typeface="Arial"/>
              </a:rPr>
              <a:t>Implantación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445" dirty="0">
                <a:latin typeface="Arial"/>
                <a:cs typeface="Arial"/>
              </a:rPr>
              <a:t>ERP </a:t>
            </a:r>
            <a:r>
              <a:rPr sz="2600" spc="-120" dirty="0">
                <a:latin typeface="Arial"/>
                <a:cs typeface="Arial"/>
              </a:rPr>
              <a:t>en</a:t>
            </a:r>
            <a:r>
              <a:rPr sz="2600" spc="-170" dirty="0">
                <a:latin typeface="Arial"/>
                <a:cs typeface="Arial"/>
              </a:rPr>
              <a:t> </a:t>
            </a:r>
            <a:r>
              <a:rPr sz="2600" spc="-330" dirty="0">
                <a:latin typeface="Arial"/>
                <a:cs typeface="Arial"/>
              </a:rPr>
              <a:t>DICSA</a:t>
            </a:r>
            <a:endParaRPr sz="26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935" algn="l"/>
              </a:tabLst>
            </a:pPr>
            <a:r>
              <a:rPr sz="2600" spc="-200" dirty="0">
                <a:latin typeface="Arial"/>
                <a:cs typeface="Arial"/>
              </a:rPr>
              <a:t>Zaragoza,</a:t>
            </a:r>
            <a:r>
              <a:rPr sz="2600" spc="-105" dirty="0">
                <a:latin typeface="Arial"/>
                <a:cs typeface="Arial"/>
              </a:rPr>
              <a:t> </a:t>
            </a:r>
            <a:r>
              <a:rPr sz="2600" spc="-225" dirty="0">
                <a:latin typeface="Arial"/>
                <a:cs typeface="Arial"/>
              </a:rPr>
              <a:t>España</a:t>
            </a:r>
            <a:endParaRPr sz="26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har char="•"/>
              <a:tabLst>
                <a:tab pos="241935" algn="l"/>
              </a:tabLst>
            </a:pPr>
            <a:r>
              <a:rPr sz="2600" spc="-445" dirty="0">
                <a:latin typeface="Arial"/>
                <a:cs typeface="Arial"/>
              </a:rPr>
              <a:t>ERP  </a:t>
            </a:r>
            <a:r>
              <a:rPr sz="2600" spc="-120" dirty="0">
                <a:latin typeface="Arial"/>
                <a:cs typeface="Arial"/>
              </a:rPr>
              <a:t>en </a:t>
            </a:r>
            <a:r>
              <a:rPr sz="2600" spc="-90" dirty="0">
                <a:latin typeface="Arial"/>
                <a:cs typeface="Arial"/>
              </a:rPr>
              <a:t>fabricación </a:t>
            </a:r>
            <a:r>
              <a:rPr sz="2600" spc="-125" dirty="0">
                <a:latin typeface="Arial"/>
                <a:cs typeface="Arial"/>
              </a:rPr>
              <a:t>y </a:t>
            </a:r>
            <a:r>
              <a:rPr sz="2600" spc="-60" dirty="0">
                <a:latin typeface="Arial"/>
                <a:cs typeface="Arial"/>
              </a:rPr>
              <a:t>distribución</a:t>
            </a:r>
            <a:r>
              <a:rPr sz="2600" spc="-145" dirty="0">
                <a:latin typeface="Arial"/>
                <a:cs typeface="Arial"/>
              </a:rPr>
              <a:t> </a:t>
            </a:r>
            <a:r>
              <a:rPr sz="2600" spc="-55" dirty="0">
                <a:latin typeface="Arial"/>
                <a:cs typeface="Arial"/>
              </a:rPr>
              <a:t>industrial</a:t>
            </a:r>
            <a:endParaRPr sz="26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935" algn="l"/>
              </a:tabLst>
            </a:pPr>
            <a:r>
              <a:rPr sz="2600" spc="-245" dirty="0">
                <a:latin typeface="Arial"/>
                <a:cs typeface="Arial"/>
              </a:rPr>
              <a:t>50%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85" dirty="0">
                <a:latin typeface="Arial"/>
                <a:cs typeface="Arial"/>
              </a:rPr>
              <a:t>su </a:t>
            </a:r>
            <a:r>
              <a:rPr sz="2600" spc="-80" dirty="0">
                <a:latin typeface="Arial"/>
                <a:cs typeface="Arial"/>
              </a:rPr>
              <a:t>facturación </a:t>
            </a:r>
            <a:r>
              <a:rPr sz="2600" spc="-204" dirty="0">
                <a:latin typeface="Arial"/>
                <a:cs typeface="Arial"/>
              </a:rPr>
              <a:t>a </a:t>
            </a:r>
            <a:r>
              <a:rPr sz="2600" spc="-75" dirty="0">
                <a:latin typeface="Arial"/>
                <a:cs typeface="Arial"/>
              </a:rPr>
              <a:t>nivel</a:t>
            </a:r>
            <a:r>
              <a:rPr sz="2600" spc="25" dirty="0">
                <a:latin typeface="Arial"/>
                <a:cs typeface="Arial"/>
              </a:rPr>
              <a:t> </a:t>
            </a:r>
            <a:r>
              <a:rPr sz="2600" spc="-75" dirty="0">
                <a:latin typeface="Arial"/>
                <a:cs typeface="Arial"/>
              </a:rPr>
              <a:t>internacional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i="1" spc="-155" dirty="0">
                <a:latin typeface="Arial"/>
                <a:cs typeface="Arial"/>
              </a:rPr>
              <a:t>Video</a:t>
            </a:r>
            <a:r>
              <a:rPr sz="2600" spc="-155" dirty="0">
                <a:latin typeface="Arial"/>
                <a:cs typeface="Arial"/>
              </a:rPr>
              <a:t>: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u="heavy" spc="-114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Arial"/>
                <a:cs typeface="Arial"/>
                <a:hlinkClick r:id="rId2"/>
              </a:rPr>
              <a:t>http://www.youtube.com/watch?v=YA1PRnP3aAc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58000" y="1143000"/>
            <a:ext cx="1905000" cy="1905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 err="1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34</a:t>
            </a:fld>
            <a:endParaRPr spc="-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268" y="56642"/>
            <a:ext cx="8614410" cy="5487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5" dirty="0">
                <a:solidFill>
                  <a:srgbClr val="FFFFFF"/>
                </a:solidFill>
                <a:latin typeface="Trebuchet MS"/>
                <a:cs typeface="Trebuchet MS"/>
              </a:rPr>
              <a:t>Integración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 </a:t>
            </a:r>
            <a:r>
              <a:rPr sz="2000" b="1" spc="75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2000" b="1" spc="-4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ERP (Cont.)</a:t>
            </a:r>
            <a:endParaRPr sz="2000">
              <a:latin typeface="Trebuchet MS"/>
              <a:cs typeface="Trebuchet MS"/>
            </a:endParaRPr>
          </a:p>
          <a:p>
            <a:pPr marL="59055" marR="377825">
              <a:lnSpc>
                <a:spcPct val="100000"/>
              </a:lnSpc>
              <a:spcBef>
                <a:spcPts val="15"/>
              </a:spcBef>
            </a:pPr>
            <a:r>
              <a:rPr sz="1800" spc="-240" dirty="0">
                <a:solidFill>
                  <a:srgbClr val="FFFFFF"/>
                </a:solidFill>
                <a:latin typeface="Arial"/>
                <a:cs typeface="Arial"/>
              </a:rPr>
              <a:t>ERP: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puntos 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 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2600" b="1" spc="-165" dirty="0">
                <a:latin typeface="Trebuchet MS"/>
                <a:cs typeface="Trebuchet MS"/>
              </a:rPr>
              <a:t>ERP </a:t>
            </a:r>
            <a:r>
              <a:rPr sz="2600" b="1" spc="-155" dirty="0">
                <a:latin typeface="Arial"/>
                <a:cs typeface="Arial"/>
              </a:rPr>
              <a:t>– </a:t>
            </a:r>
            <a:r>
              <a:rPr sz="2600" b="1" spc="-140" dirty="0">
                <a:latin typeface="Trebuchet MS"/>
                <a:cs typeface="Trebuchet MS"/>
              </a:rPr>
              <a:t>Implementación </a:t>
            </a:r>
            <a:r>
              <a:rPr sz="2600" b="1" spc="-160" dirty="0">
                <a:latin typeface="Trebuchet MS"/>
                <a:cs typeface="Trebuchet MS"/>
              </a:rPr>
              <a:t>y </a:t>
            </a:r>
            <a:r>
              <a:rPr sz="2600" b="1" spc="-130" dirty="0">
                <a:latin typeface="Trebuchet MS"/>
                <a:cs typeface="Trebuchet MS"/>
              </a:rPr>
              <a:t>gestión </a:t>
            </a:r>
            <a:r>
              <a:rPr sz="2600" b="1" spc="-145" dirty="0">
                <a:latin typeface="Trebuchet MS"/>
                <a:cs typeface="Trebuchet MS"/>
              </a:rPr>
              <a:t>del</a:t>
            </a:r>
            <a:r>
              <a:rPr sz="2600" b="1" spc="-300" dirty="0">
                <a:latin typeface="Trebuchet MS"/>
                <a:cs typeface="Trebuchet MS"/>
              </a:rPr>
              <a:t> </a:t>
            </a:r>
            <a:r>
              <a:rPr sz="2600" b="1" spc="-140" dirty="0">
                <a:latin typeface="Trebuchet MS"/>
                <a:cs typeface="Trebuchet MS"/>
              </a:rPr>
              <a:t>cambio</a:t>
            </a:r>
            <a:endParaRPr sz="2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i="1" spc="-120" dirty="0">
                <a:latin typeface="Trebuchet MS"/>
                <a:cs typeface="Trebuchet MS"/>
              </a:rPr>
              <a:t>La </a:t>
            </a:r>
            <a:r>
              <a:rPr sz="2400" i="1" spc="-130" dirty="0">
                <a:latin typeface="Trebuchet MS"/>
                <a:cs typeface="Trebuchet MS"/>
              </a:rPr>
              <a:t>implementación </a:t>
            </a:r>
            <a:r>
              <a:rPr sz="2400" i="1" spc="-95" dirty="0">
                <a:latin typeface="Trebuchet MS"/>
                <a:cs typeface="Trebuchet MS"/>
              </a:rPr>
              <a:t>es </a:t>
            </a:r>
            <a:r>
              <a:rPr sz="2400" i="1" spc="-70" dirty="0">
                <a:latin typeface="Trebuchet MS"/>
                <a:cs typeface="Trebuchet MS"/>
              </a:rPr>
              <a:t>una </a:t>
            </a:r>
            <a:r>
              <a:rPr sz="2400" i="1" spc="-110" dirty="0">
                <a:latin typeface="Trebuchet MS"/>
                <a:cs typeface="Trebuchet MS"/>
              </a:rPr>
              <a:t>responsabilidad </a:t>
            </a:r>
            <a:r>
              <a:rPr sz="2400" i="1" spc="-125" dirty="0">
                <a:latin typeface="Trebuchet MS"/>
                <a:cs typeface="Trebuchet MS"/>
              </a:rPr>
              <a:t>gerencial</a:t>
            </a:r>
            <a:r>
              <a:rPr sz="2400" i="1" spc="-495" dirty="0">
                <a:latin typeface="Trebuchet MS"/>
                <a:cs typeface="Trebuchet MS"/>
              </a:rPr>
              <a:t> </a:t>
            </a:r>
            <a:r>
              <a:rPr sz="2400" i="1" spc="-160" dirty="0">
                <a:latin typeface="Trebuchet MS"/>
                <a:cs typeface="Trebuchet MS"/>
              </a:rPr>
              <a:t>relevante.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241300" marR="5715" indent="-228600" algn="just">
              <a:lnSpc>
                <a:spcPct val="100000"/>
              </a:lnSpc>
              <a:buChar char="•"/>
              <a:tabLst>
                <a:tab pos="241935" algn="l"/>
              </a:tabLst>
            </a:pPr>
            <a:r>
              <a:rPr sz="2400" spc="-320" dirty="0">
                <a:latin typeface="Arial"/>
                <a:cs typeface="Arial"/>
              </a:rPr>
              <a:t>Se </a:t>
            </a:r>
            <a:r>
              <a:rPr sz="2400" spc="-35" dirty="0">
                <a:latin typeface="Arial"/>
                <a:cs typeface="Arial"/>
              </a:rPr>
              <a:t>trata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80" dirty="0">
                <a:latin typeface="Arial"/>
                <a:cs typeface="Arial"/>
              </a:rPr>
              <a:t>un </a:t>
            </a:r>
            <a:r>
              <a:rPr sz="2400" spc="-120" dirty="0">
                <a:latin typeface="Arial"/>
                <a:cs typeface="Arial"/>
              </a:rPr>
              <a:t>proceso </a:t>
            </a:r>
            <a:r>
              <a:rPr sz="2400" spc="-100" dirty="0">
                <a:latin typeface="Arial"/>
                <a:cs typeface="Arial"/>
              </a:rPr>
              <a:t>que </a:t>
            </a:r>
            <a:r>
              <a:rPr sz="2400" spc="-90" dirty="0">
                <a:latin typeface="Arial"/>
                <a:cs typeface="Arial"/>
              </a:rPr>
              <a:t>lleva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135" dirty="0">
                <a:latin typeface="Arial"/>
                <a:cs typeface="Arial"/>
              </a:rPr>
              <a:t>cabo </a:t>
            </a:r>
            <a:r>
              <a:rPr sz="2400" spc="-105" dirty="0">
                <a:latin typeface="Arial"/>
                <a:cs typeface="Arial"/>
              </a:rPr>
              <a:t>los </a:t>
            </a:r>
            <a:r>
              <a:rPr sz="2400" spc="-125" dirty="0">
                <a:latin typeface="Arial"/>
                <a:cs typeface="Arial"/>
              </a:rPr>
              <a:t>planes </a:t>
            </a:r>
            <a:r>
              <a:rPr sz="2400" spc="-105" dirty="0">
                <a:latin typeface="Arial"/>
                <a:cs typeface="Arial"/>
              </a:rPr>
              <a:t>de cambio </a:t>
            </a:r>
            <a:r>
              <a:rPr sz="2400" spc="-110" dirty="0">
                <a:latin typeface="Arial"/>
                <a:cs typeface="Arial"/>
              </a:rPr>
              <a:t>en </a:t>
            </a:r>
            <a:r>
              <a:rPr sz="2400" spc="-70" dirty="0">
                <a:latin typeface="Arial"/>
                <a:cs typeface="Arial"/>
              </a:rPr>
              <a:t>el  </a:t>
            </a:r>
            <a:r>
              <a:rPr sz="2400" spc="-140" dirty="0">
                <a:latin typeface="Arial"/>
                <a:cs typeface="Arial"/>
              </a:rPr>
              <a:t>uso </a:t>
            </a:r>
            <a:r>
              <a:rPr sz="2400" spc="-95" dirty="0">
                <a:latin typeface="Arial"/>
                <a:cs typeface="Arial"/>
              </a:rPr>
              <a:t>empresarial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85" dirty="0">
                <a:latin typeface="Arial"/>
                <a:cs typeface="Arial"/>
              </a:rPr>
              <a:t>la</a:t>
            </a:r>
            <a:r>
              <a:rPr sz="2400" spc="-190" dirty="0">
                <a:latin typeface="Arial"/>
                <a:cs typeface="Arial"/>
              </a:rPr>
              <a:t> </a:t>
            </a:r>
            <a:r>
              <a:rPr sz="2400" spc="-140" dirty="0">
                <a:latin typeface="Arial"/>
                <a:cs typeface="Arial"/>
              </a:rPr>
              <a:t>TI.</a:t>
            </a:r>
            <a:endParaRPr sz="2400">
              <a:latin typeface="Arial"/>
              <a:cs typeface="Arial"/>
            </a:endParaRPr>
          </a:p>
          <a:p>
            <a:pPr marL="241300" marR="5080" indent="-228600" algn="just">
              <a:lnSpc>
                <a:spcPct val="100000"/>
              </a:lnSpc>
              <a:buChar char="•"/>
              <a:tabLst>
                <a:tab pos="241935" algn="l"/>
              </a:tabLst>
            </a:pPr>
            <a:r>
              <a:rPr sz="2400" spc="-210" dirty="0">
                <a:latin typeface="Arial"/>
                <a:cs typeface="Arial"/>
              </a:rPr>
              <a:t>El </a:t>
            </a:r>
            <a:r>
              <a:rPr sz="2400" spc="-120" dirty="0">
                <a:latin typeface="Arial"/>
                <a:cs typeface="Arial"/>
              </a:rPr>
              <a:t>proceso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70" dirty="0">
                <a:latin typeface="Arial"/>
                <a:cs typeface="Arial"/>
              </a:rPr>
              <a:t>implementación </a:t>
            </a:r>
            <a:r>
              <a:rPr sz="2400" spc="-65" dirty="0">
                <a:latin typeface="Arial"/>
                <a:cs typeface="Arial"/>
              </a:rPr>
              <a:t>también </a:t>
            </a:r>
            <a:r>
              <a:rPr sz="2400" spc="-105" dirty="0">
                <a:latin typeface="Arial"/>
                <a:cs typeface="Arial"/>
              </a:rPr>
              <a:t>puede </a:t>
            </a:r>
            <a:r>
              <a:rPr sz="2400" spc="-90" dirty="0">
                <a:latin typeface="Arial"/>
                <a:cs typeface="Arial"/>
              </a:rPr>
              <a:t>percibirse </a:t>
            </a:r>
            <a:r>
              <a:rPr sz="2400" spc="-110" dirty="0">
                <a:latin typeface="Arial"/>
                <a:cs typeface="Arial"/>
              </a:rPr>
              <a:t>como </a:t>
            </a:r>
            <a:r>
              <a:rPr sz="2400" spc="-120" dirty="0">
                <a:latin typeface="Arial"/>
                <a:cs typeface="Arial"/>
              </a:rPr>
              <a:t>una  </a:t>
            </a:r>
            <a:r>
              <a:rPr sz="2400" spc="-100" dirty="0">
                <a:latin typeface="Arial"/>
                <a:cs typeface="Arial"/>
              </a:rPr>
              <a:t>etapa </a:t>
            </a:r>
            <a:r>
              <a:rPr sz="2400" spc="-40" dirty="0">
                <a:latin typeface="Arial"/>
                <a:cs typeface="Arial"/>
              </a:rPr>
              <a:t>importante </a:t>
            </a:r>
            <a:r>
              <a:rPr sz="2400" spc="-100" dirty="0">
                <a:latin typeface="Arial"/>
                <a:cs typeface="Arial"/>
              </a:rPr>
              <a:t>que </a:t>
            </a:r>
            <a:r>
              <a:rPr sz="2400" spc="-140" dirty="0">
                <a:latin typeface="Arial"/>
                <a:cs typeface="Arial"/>
              </a:rPr>
              <a:t>sigue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145" dirty="0">
                <a:latin typeface="Arial"/>
                <a:cs typeface="Arial"/>
              </a:rPr>
              <a:t>las </a:t>
            </a:r>
            <a:r>
              <a:rPr sz="2400" spc="-130" dirty="0">
                <a:latin typeface="Arial"/>
                <a:cs typeface="Arial"/>
              </a:rPr>
              <a:t>etapas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95" dirty="0">
                <a:latin typeface="Arial"/>
                <a:cs typeface="Arial"/>
              </a:rPr>
              <a:t>investigación, </a:t>
            </a:r>
            <a:r>
              <a:rPr sz="2400" spc="-114" dirty="0">
                <a:latin typeface="Arial"/>
                <a:cs typeface="Arial"/>
              </a:rPr>
              <a:t>análisis y  </a:t>
            </a:r>
            <a:r>
              <a:rPr sz="2400" spc="-105" dirty="0">
                <a:latin typeface="Arial"/>
                <a:cs typeface="Arial"/>
              </a:rPr>
              <a:t>diseño </a:t>
            </a:r>
            <a:r>
              <a:rPr sz="2400" spc="-70" dirty="0">
                <a:latin typeface="Arial"/>
                <a:cs typeface="Arial"/>
              </a:rPr>
              <a:t>del </a:t>
            </a:r>
            <a:r>
              <a:rPr sz="2400" spc="-120" dirty="0">
                <a:latin typeface="Arial"/>
                <a:cs typeface="Arial"/>
              </a:rPr>
              <a:t>proceso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80" dirty="0">
                <a:latin typeface="Arial"/>
                <a:cs typeface="Arial"/>
              </a:rPr>
              <a:t>desarrollo </a:t>
            </a:r>
            <a:r>
              <a:rPr sz="2400" spc="-110" dirty="0">
                <a:latin typeface="Arial"/>
                <a:cs typeface="Arial"/>
              </a:rPr>
              <a:t>de</a:t>
            </a:r>
            <a:r>
              <a:rPr sz="2400" spc="-260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sistemas.</a:t>
            </a:r>
            <a:endParaRPr sz="2400">
              <a:latin typeface="Arial"/>
              <a:cs typeface="Arial"/>
            </a:endParaRPr>
          </a:p>
          <a:p>
            <a:pPr marL="241300" marR="5715" indent="-228600" algn="just">
              <a:lnSpc>
                <a:spcPct val="100000"/>
              </a:lnSpc>
              <a:buChar char="•"/>
              <a:tabLst>
                <a:tab pos="241935" algn="l"/>
              </a:tabLst>
            </a:pPr>
            <a:r>
              <a:rPr sz="2400" spc="-260" dirty="0">
                <a:latin typeface="Arial"/>
                <a:cs typeface="Arial"/>
              </a:rPr>
              <a:t>La </a:t>
            </a:r>
            <a:r>
              <a:rPr sz="2400" spc="-75" dirty="0">
                <a:latin typeface="Arial"/>
                <a:cs typeface="Arial"/>
              </a:rPr>
              <a:t>implementación </a:t>
            </a:r>
            <a:r>
              <a:rPr sz="2400" spc="-204" dirty="0">
                <a:latin typeface="Arial"/>
                <a:cs typeface="Arial"/>
              </a:rPr>
              <a:t>es </a:t>
            </a:r>
            <a:r>
              <a:rPr sz="2400" spc="-114" dirty="0">
                <a:latin typeface="Arial"/>
                <a:cs typeface="Arial"/>
              </a:rPr>
              <a:t>una </a:t>
            </a:r>
            <a:r>
              <a:rPr sz="2400" spc="-75" dirty="0">
                <a:latin typeface="Arial"/>
                <a:cs typeface="Arial"/>
              </a:rPr>
              <a:t>actividad </a:t>
            </a:r>
            <a:r>
              <a:rPr sz="2400" spc="-45" dirty="0">
                <a:latin typeface="Arial"/>
                <a:cs typeface="Arial"/>
              </a:rPr>
              <a:t>importante </a:t>
            </a:r>
            <a:r>
              <a:rPr sz="2400" spc="-110" dirty="0">
                <a:latin typeface="Arial"/>
                <a:cs typeface="Arial"/>
              </a:rPr>
              <a:t>en </a:t>
            </a:r>
            <a:r>
              <a:rPr sz="2400" spc="-65" dirty="0">
                <a:latin typeface="Arial"/>
                <a:cs typeface="Arial"/>
              </a:rPr>
              <a:t>el </a:t>
            </a:r>
            <a:r>
              <a:rPr sz="2400" spc="-80" dirty="0">
                <a:latin typeface="Arial"/>
                <a:cs typeface="Arial"/>
              </a:rPr>
              <a:t>desarrollo </a:t>
            </a:r>
            <a:r>
              <a:rPr sz="2400" spc="-114" dirty="0">
                <a:latin typeface="Arial"/>
                <a:cs typeface="Arial"/>
              </a:rPr>
              <a:t>de  </a:t>
            </a:r>
            <a:r>
              <a:rPr sz="2400" spc="-85" dirty="0">
                <a:latin typeface="Arial"/>
                <a:cs typeface="Arial"/>
              </a:rPr>
              <a:t>la </a:t>
            </a:r>
            <a:r>
              <a:rPr sz="2400" spc="-180" dirty="0">
                <a:latin typeface="Arial"/>
                <a:cs typeface="Arial"/>
              </a:rPr>
              <a:t>TI </a:t>
            </a:r>
            <a:r>
              <a:rPr sz="2400" spc="-120" dirty="0">
                <a:latin typeface="Arial"/>
                <a:cs typeface="Arial"/>
              </a:rPr>
              <a:t>para </a:t>
            </a:r>
            <a:r>
              <a:rPr sz="2400" spc="-100" dirty="0">
                <a:latin typeface="Arial"/>
                <a:cs typeface="Arial"/>
              </a:rPr>
              <a:t>respaldar </a:t>
            </a:r>
            <a:r>
              <a:rPr sz="2400" spc="-105" dirty="0">
                <a:latin typeface="Arial"/>
                <a:cs typeface="Arial"/>
              </a:rPr>
              <a:t>los </a:t>
            </a:r>
            <a:r>
              <a:rPr sz="2400" spc="-130" dirty="0">
                <a:latin typeface="Arial"/>
                <a:cs typeface="Arial"/>
              </a:rPr>
              <a:t>cambios </a:t>
            </a:r>
            <a:r>
              <a:rPr sz="2400" spc="-110" dirty="0">
                <a:latin typeface="Arial"/>
                <a:cs typeface="Arial"/>
              </a:rPr>
              <a:t>empresariales </a:t>
            </a:r>
            <a:r>
              <a:rPr sz="2400" spc="-125" dirty="0">
                <a:latin typeface="Arial"/>
                <a:cs typeface="Arial"/>
              </a:rPr>
              <a:t>planeados </a:t>
            </a:r>
            <a:r>
              <a:rPr sz="2400" spc="-40" dirty="0">
                <a:latin typeface="Arial"/>
                <a:cs typeface="Arial"/>
              </a:rPr>
              <a:t>por </a:t>
            </a:r>
            <a:r>
              <a:rPr sz="2400" spc="-120" dirty="0">
                <a:latin typeface="Arial"/>
                <a:cs typeface="Arial"/>
              </a:rPr>
              <a:t>una  </a:t>
            </a:r>
            <a:r>
              <a:rPr sz="2400" spc="-114" dirty="0">
                <a:latin typeface="Arial"/>
                <a:cs typeface="Arial"/>
              </a:rPr>
              <a:t>organización y </a:t>
            </a:r>
            <a:r>
              <a:rPr sz="2400" spc="-204" dirty="0">
                <a:latin typeface="Arial"/>
                <a:cs typeface="Arial"/>
              </a:rPr>
              <a:t>sus </a:t>
            </a:r>
            <a:r>
              <a:rPr sz="2400" spc="-114" dirty="0">
                <a:latin typeface="Arial"/>
                <a:cs typeface="Arial"/>
              </a:rPr>
              <a:t>usuarios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finales.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35</a:t>
            </a:fld>
            <a:endParaRPr spc="-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268" y="56642"/>
            <a:ext cx="8615680" cy="5853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5" dirty="0">
                <a:solidFill>
                  <a:srgbClr val="FFFFFF"/>
                </a:solidFill>
                <a:latin typeface="Trebuchet MS"/>
                <a:cs typeface="Trebuchet MS"/>
              </a:rPr>
              <a:t>Integración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 </a:t>
            </a:r>
            <a:r>
              <a:rPr sz="2000" b="1" spc="75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2000" b="1" spc="-4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ERP (Cont.)</a:t>
            </a:r>
            <a:endParaRPr sz="2000">
              <a:latin typeface="Trebuchet MS"/>
              <a:cs typeface="Trebuchet MS"/>
            </a:endParaRPr>
          </a:p>
          <a:p>
            <a:pPr marL="59055" marR="379095">
              <a:lnSpc>
                <a:spcPct val="100000"/>
              </a:lnSpc>
              <a:spcBef>
                <a:spcPts val="15"/>
              </a:spcBef>
            </a:pPr>
            <a:r>
              <a:rPr sz="1800" spc="-240" dirty="0">
                <a:solidFill>
                  <a:srgbClr val="FFFFFF"/>
                </a:solidFill>
                <a:latin typeface="Arial"/>
                <a:cs typeface="Arial"/>
              </a:rPr>
              <a:t>ERP: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puntos 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 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2600" b="1" spc="-165" dirty="0">
                <a:latin typeface="Trebuchet MS"/>
                <a:cs typeface="Trebuchet MS"/>
              </a:rPr>
              <a:t>ERP </a:t>
            </a:r>
            <a:r>
              <a:rPr sz="2600" b="1" spc="-155" dirty="0">
                <a:latin typeface="Arial"/>
                <a:cs typeface="Arial"/>
              </a:rPr>
              <a:t>– </a:t>
            </a:r>
            <a:r>
              <a:rPr sz="2600" b="1" spc="-140" dirty="0">
                <a:latin typeface="Trebuchet MS"/>
                <a:cs typeface="Trebuchet MS"/>
              </a:rPr>
              <a:t>Implementación </a:t>
            </a:r>
            <a:r>
              <a:rPr sz="2600" b="1" spc="-160" dirty="0">
                <a:latin typeface="Trebuchet MS"/>
                <a:cs typeface="Trebuchet MS"/>
              </a:rPr>
              <a:t>y </a:t>
            </a:r>
            <a:r>
              <a:rPr sz="2600" b="1" spc="-130" dirty="0">
                <a:latin typeface="Trebuchet MS"/>
                <a:cs typeface="Trebuchet MS"/>
              </a:rPr>
              <a:t>gestión </a:t>
            </a:r>
            <a:r>
              <a:rPr sz="2600" b="1" spc="-145" dirty="0">
                <a:latin typeface="Trebuchet MS"/>
                <a:cs typeface="Trebuchet MS"/>
              </a:rPr>
              <a:t>del</a:t>
            </a:r>
            <a:r>
              <a:rPr sz="2600" b="1" spc="-300" dirty="0">
                <a:latin typeface="Trebuchet MS"/>
                <a:cs typeface="Trebuchet MS"/>
              </a:rPr>
              <a:t> </a:t>
            </a:r>
            <a:r>
              <a:rPr sz="2600" b="1" spc="-140" dirty="0">
                <a:latin typeface="Trebuchet MS"/>
                <a:cs typeface="Trebuchet MS"/>
              </a:rPr>
              <a:t>cambio</a:t>
            </a:r>
            <a:endParaRPr sz="2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5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00000"/>
              </a:lnSpc>
              <a:buChar char="•"/>
              <a:tabLst>
                <a:tab pos="241935" algn="l"/>
              </a:tabLst>
            </a:pPr>
            <a:r>
              <a:rPr sz="2400" spc="-150" dirty="0">
                <a:latin typeface="Arial"/>
                <a:cs typeface="Arial"/>
              </a:rPr>
              <a:t>Por </a:t>
            </a:r>
            <a:r>
              <a:rPr sz="2400" spc="-30" dirty="0">
                <a:latin typeface="Arial"/>
                <a:cs typeface="Arial"/>
              </a:rPr>
              <a:t>lo </a:t>
            </a:r>
            <a:r>
              <a:rPr sz="2400" spc="-105" dirty="0">
                <a:latin typeface="Arial"/>
                <a:cs typeface="Arial"/>
              </a:rPr>
              <a:t>general, </a:t>
            </a:r>
            <a:r>
              <a:rPr sz="2400" spc="-85" dirty="0">
                <a:latin typeface="Arial"/>
                <a:cs typeface="Arial"/>
              </a:rPr>
              <a:t>la </a:t>
            </a:r>
            <a:r>
              <a:rPr sz="2400" spc="-70" dirty="0">
                <a:latin typeface="Arial"/>
                <a:cs typeface="Arial"/>
              </a:rPr>
              <a:t>implementación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25" dirty="0">
                <a:latin typeface="Arial"/>
                <a:cs typeface="Arial"/>
              </a:rPr>
              <a:t>cambios </a:t>
            </a:r>
            <a:r>
              <a:rPr sz="2400" spc="-110" dirty="0">
                <a:latin typeface="Arial"/>
                <a:cs typeface="Arial"/>
              </a:rPr>
              <a:t>en </a:t>
            </a:r>
            <a:r>
              <a:rPr sz="2400" spc="-85" dirty="0">
                <a:latin typeface="Arial"/>
                <a:cs typeface="Arial"/>
              </a:rPr>
              <a:t>la </a:t>
            </a:r>
            <a:r>
              <a:rPr sz="2400" spc="-95" dirty="0">
                <a:latin typeface="Arial"/>
                <a:cs typeface="Arial"/>
              </a:rPr>
              <a:t>tecnología </a:t>
            </a:r>
            <a:r>
              <a:rPr sz="2400" spc="-105" dirty="0">
                <a:latin typeface="Arial"/>
                <a:cs typeface="Arial"/>
              </a:rPr>
              <a:t>sólo  </a:t>
            </a:r>
            <a:r>
              <a:rPr sz="2400" spc="-150" dirty="0">
                <a:latin typeface="Arial"/>
                <a:cs typeface="Arial"/>
              </a:rPr>
              <a:t>hace </a:t>
            </a:r>
            <a:r>
              <a:rPr sz="2400" spc="-55" dirty="0">
                <a:latin typeface="Arial"/>
                <a:cs typeface="Arial"/>
              </a:rPr>
              <a:t>parte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75" dirty="0">
                <a:latin typeface="Arial"/>
                <a:cs typeface="Arial"/>
              </a:rPr>
              <a:t>un </a:t>
            </a:r>
            <a:r>
              <a:rPr sz="2400" spc="-120" dirty="0">
                <a:latin typeface="Arial"/>
                <a:cs typeface="Arial"/>
              </a:rPr>
              <a:t>proceso </a:t>
            </a:r>
            <a:r>
              <a:rPr sz="2400" spc="-100" dirty="0">
                <a:latin typeface="Arial"/>
                <a:cs typeface="Arial"/>
              </a:rPr>
              <a:t>mayor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85" dirty="0">
                <a:latin typeface="Arial"/>
                <a:cs typeface="Arial"/>
              </a:rPr>
              <a:t>manejar </a:t>
            </a:r>
            <a:r>
              <a:rPr sz="2400" spc="-130" dirty="0">
                <a:latin typeface="Arial"/>
                <a:cs typeface="Arial"/>
              </a:rPr>
              <a:t>cambios </a:t>
            </a:r>
            <a:r>
              <a:rPr sz="2400" spc="-60" dirty="0">
                <a:latin typeface="Arial"/>
                <a:cs typeface="Arial"/>
              </a:rPr>
              <a:t>importantes  </a:t>
            </a:r>
            <a:r>
              <a:rPr sz="2400" spc="-110" dirty="0">
                <a:latin typeface="Arial"/>
                <a:cs typeface="Arial"/>
              </a:rPr>
              <a:t>en </a:t>
            </a:r>
            <a:r>
              <a:rPr sz="2400" spc="-140" dirty="0">
                <a:latin typeface="Arial"/>
                <a:cs typeface="Arial"/>
              </a:rPr>
              <a:t>procesos </a:t>
            </a:r>
            <a:r>
              <a:rPr sz="2400" spc="-105" dirty="0">
                <a:latin typeface="Arial"/>
                <a:cs typeface="Arial"/>
              </a:rPr>
              <a:t>empresariales, </a:t>
            </a:r>
            <a:r>
              <a:rPr sz="2400" spc="-85" dirty="0">
                <a:latin typeface="Arial"/>
                <a:cs typeface="Arial"/>
              </a:rPr>
              <a:t>estructuras </a:t>
            </a:r>
            <a:r>
              <a:rPr sz="2400" spc="-120" dirty="0">
                <a:latin typeface="Arial"/>
                <a:cs typeface="Arial"/>
              </a:rPr>
              <a:t>organizacionales, </a:t>
            </a:r>
            <a:r>
              <a:rPr sz="2400" spc="-130" dirty="0">
                <a:latin typeface="Arial"/>
                <a:cs typeface="Arial"/>
              </a:rPr>
              <a:t>papeles  </a:t>
            </a:r>
            <a:r>
              <a:rPr sz="2400" spc="-120" dirty="0">
                <a:latin typeface="Arial"/>
                <a:cs typeface="Arial"/>
              </a:rPr>
              <a:t>gerenciales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125" dirty="0">
                <a:latin typeface="Arial"/>
                <a:cs typeface="Arial"/>
              </a:rPr>
              <a:t>asignación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70" dirty="0">
                <a:latin typeface="Arial"/>
                <a:cs typeface="Arial"/>
              </a:rPr>
              <a:t>trabaja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05" dirty="0">
                <a:latin typeface="Arial"/>
                <a:cs typeface="Arial"/>
              </a:rPr>
              <a:t>los</a:t>
            </a:r>
            <a:r>
              <a:rPr sz="2400" spc="-275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empleados.</a:t>
            </a:r>
            <a:endParaRPr sz="2400">
              <a:latin typeface="Arial"/>
              <a:cs typeface="Arial"/>
            </a:endParaRPr>
          </a:p>
          <a:p>
            <a:pPr marL="241300" marR="7620" indent="-228600" algn="just">
              <a:lnSpc>
                <a:spcPct val="100000"/>
              </a:lnSpc>
              <a:buChar char="•"/>
              <a:tabLst>
                <a:tab pos="241935" algn="l"/>
              </a:tabLst>
            </a:pPr>
            <a:r>
              <a:rPr sz="2400" spc="-265" dirty="0">
                <a:latin typeface="Arial"/>
                <a:cs typeface="Arial"/>
              </a:rPr>
              <a:t>Las </a:t>
            </a:r>
            <a:r>
              <a:rPr sz="2400" spc="-130" dirty="0">
                <a:latin typeface="Arial"/>
                <a:cs typeface="Arial"/>
              </a:rPr>
              <a:t>organizaciones </a:t>
            </a:r>
            <a:r>
              <a:rPr sz="2400" spc="-105" dirty="0">
                <a:latin typeface="Arial"/>
                <a:cs typeface="Arial"/>
              </a:rPr>
              <a:t>deben </a:t>
            </a:r>
            <a:r>
              <a:rPr sz="2400" spc="-60" dirty="0">
                <a:latin typeface="Arial"/>
                <a:cs typeface="Arial"/>
              </a:rPr>
              <a:t>implementar </a:t>
            </a:r>
            <a:r>
              <a:rPr sz="2400" spc="-114" dirty="0">
                <a:latin typeface="Arial"/>
                <a:cs typeface="Arial"/>
              </a:rPr>
              <a:t>una </a:t>
            </a:r>
            <a:r>
              <a:rPr sz="2400" spc="-95" dirty="0">
                <a:latin typeface="Arial"/>
                <a:cs typeface="Arial"/>
              </a:rPr>
              <a:t>variedad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80" dirty="0">
                <a:latin typeface="Arial"/>
                <a:cs typeface="Arial"/>
              </a:rPr>
              <a:t>iniciativas  </a:t>
            </a:r>
            <a:r>
              <a:rPr sz="2400" spc="-120" dirty="0">
                <a:latin typeface="Arial"/>
                <a:cs typeface="Arial"/>
              </a:rPr>
              <a:t>gerenciales para </a:t>
            </a:r>
            <a:r>
              <a:rPr sz="2400" spc="-110" dirty="0">
                <a:latin typeface="Arial"/>
                <a:cs typeface="Arial"/>
              </a:rPr>
              <a:t>ayudar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85" dirty="0">
                <a:latin typeface="Arial"/>
                <a:cs typeface="Arial"/>
              </a:rPr>
              <a:t>manejar </a:t>
            </a:r>
            <a:r>
              <a:rPr sz="2400" spc="-65" dirty="0">
                <a:latin typeface="Arial"/>
                <a:cs typeface="Arial"/>
              </a:rPr>
              <a:t>el </a:t>
            </a:r>
            <a:r>
              <a:rPr sz="2400" spc="-100" dirty="0">
                <a:latin typeface="Arial"/>
                <a:cs typeface="Arial"/>
              </a:rPr>
              <a:t>cambio</a:t>
            </a:r>
            <a:r>
              <a:rPr sz="2400" spc="-240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empresarial.</a:t>
            </a:r>
            <a:endParaRPr sz="2400">
              <a:latin typeface="Arial"/>
              <a:cs typeface="Arial"/>
            </a:endParaRPr>
          </a:p>
          <a:p>
            <a:pPr marL="241300" marR="5715" indent="-228600" algn="just">
              <a:lnSpc>
                <a:spcPct val="100000"/>
              </a:lnSpc>
              <a:buChar char="•"/>
              <a:tabLst>
                <a:tab pos="241935" algn="l"/>
              </a:tabLst>
            </a:pPr>
            <a:r>
              <a:rPr sz="2400" spc="-110" dirty="0">
                <a:latin typeface="Arial"/>
                <a:cs typeface="Arial"/>
              </a:rPr>
              <a:t>Cualquier </a:t>
            </a:r>
            <a:r>
              <a:rPr sz="2400" spc="-60" dirty="0">
                <a:latin typeface="Arial"/>
                <a:cs typeface="Arial"/>
              </a:rPr>
              <a:t>forma </a:t>
            </a:r>
            <a:r>
              <a:rPr sz="2400" spc="-130" dirty="0">
                <a:latin typeface="Arial"/>
                <a:cs typeface="Arial"/>
              </a:rPr>
              <a:t>nueva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25" dirty="0">
                <a:latin typeface="Arial"/>
                <a:cs typeface="Arial"/>
              </a:rPr>
              <a:t>hacerlas </a:t>
            </a:r>
            <a:r>
              <a:rPr sz="2400" spc="-200" dirty="0">
                <a:latin typeface="Arial"/>
                <a:cs typeface="Arial"/>
              </a:rPr>
              <a:t>cosas </a:t>
            </a:r>
            <a:r>
              <a:rPr sz="2400" spc="-130" dirty="0">
                <a:latin typeface="Arial"/>
                <a:cs typeface="Arial"/>
              </a:rPr>
              <a:t>genera </a:t>
            </a:r>
            <a:r>
              <a:rPr sz="2400" spc="-105" dirty="0">
                <a:latin typeface="Arial"/>
                <a:cs typeface="Arial"/>
              </a:rPr>
              <a:t>algún </a:t>
            </a:r>
            <a:r>
              <a:rPr sz="2400" spc="-114" dirty="0">
                <a:latin typeface="Arial"/>
                <a:cs typeface="Arial"/>
              </a:rPr>
              <a:t>grado de  </a:t>
            </a:r>
            <a:r>
              <a:rPr sz="2400" spc="-105" dirty="0">
                <a:latin typeface="Arial"/>
                <a:cs typeface="Arial"/>
              </a:rPr>
              <a:t>resistencia </a:t>
            </a:r>
            <a:r>
              <a:rPr sz="2400" spc="-40" dirty="0">
                <a:latin typeface="Arial"/>
                <a:cs typeface="Arial"/>
              </a:rPr>
              <a:t>por </a:t>
            </a:r>
            <a:r>
              <a:rPr sz="2400" spc="-55" dirty="0">
                <a:latin typeface="Arial"/>
                <a:cs typeface="Arial"/>
              </a:rPr>
              <a:t>parte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45" dirty="0">
                <a:latin typeface="Arial"/>
                <a:cs typeface="Arial"/>
              </a:rPr>
              <a:t>las </a:t>
            </a:r>
            <a:r>
              <a:rPr sz="2400" spc="-140" dirty="0">
                <a:latin typeface="Arial"/>
                <a:cs typeface="Arial"/>
              </a:rPr>
              <a:t>personas </a:t>
            </a:r>
            <a:r>
              <a:rPr sz="2400" spc="-120" dirty="0">
                <a:latin typeface="Arial"/>
                <a:cs typeface="Arial"/>
              </a:rPr>
              <a:t>afectadas. </a:t>
            </a:r>
            <a:r>
              <a:rPr sz="2400" spc="-155" dirty="0">
                <a:latin typeface="Arial"/>
                <a:cs typeface="Arial"/>
              </a:rPr>
              <a:t>Por </a:t>
            </a:r>
            <a:r>
              <a:rPr sz="2400" spc="-45" dirty="0">
                <a:latin typeface="Arial"/>
                <a:cs typeface="Arial"/>
              </a:rPr>
              <a:t>tanto, </a:t>
            </a:r>
            <a:r>
              <a:rPr sz="2400" spc="-90" dirty="0">
                <a:latin typeface="Arial"/>
                <a:cs typeface="Arial"/>
              </a:rPr>
              <a:t>la  </a:t>
            </a:r>
            <a:r>
              <a:rPr sz="2400" spc="-70" dirty="0">
                <a:latin typeface="Arial"/>
                <a:cs typeface="Arial"/>
              </a:rPr>
              <a:t>implementación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55" dirty="0">
                <a:latin typeface="Arial"/>
                <a:cs typeface="Arial"/>
              </a:rPr>
              <a:t>nuevas </a:t>
            </a:r>
            <a:r>
              <a:rPr sz="2400" spc="-110" dirty="0">
                <a:latin typeface="Arial"/>
                <a:cs typeface="Arial"/>
              </a:rPr>
              <a:t>tecnologías de </a:t>
            </a:r>
            <a:r>
              <a:rPr sz="2400" spc="-100" dirty="0">
                <a:latin typeface="Arial"/>
                <a:cs typeface="Arial"/>
              </a:rPr>
              <a:t>respaldo </a:t>
            </a:r>
            <a:r>
              <a:rPr sz="2400" spc="-70" dirty="0">
                <a:latin typeface="Arial"/>
                <a:cs typeface="Arial"/>
              </a:rPr>
              <a:t>del </a:t>
            </a:r>
            <a:r>
              <a:rPr sz="2400" spc="-50" dirty="0">
                <a:latin typeface="Arial"/>
                <a:cs typeface="Arial"/>
              </a:rPr>
              <a:t>trabajo  </a:t>
            </a:r>
            <a:r>
              <a:rPr sz="2400" spc="-150" dirty="0">
                <a:latin typeface="Arial"/>
                <a:cs typeface="Arial"/>
              </a:rPr>
              <a:t>basado </a:t>
            </a:r>
            <a:r>
              <a:rPr sz="2400" spc="-110" dirty="0">
                <a:latin typeface="Arial"/>
                <a:cs typeface="Arial"/>
              </a:rPr>
              <a:t>en </a:t>
            </a:r>
            <a:r>
              <a:rPr sz="2400" spc="-65" dirty="0">
                <a:latin typeface="Arial"/>
                <a:cs typeface="Arial"/>
              </a:rPr>
              <a:t>el </a:t>
            </a:r>
            <a:r>
              <a:rPr sz="2400" spc="-75" dirty="0">
                <a:latin typeface="Arial"/>
                <a:cs typeface="Arial"/>
              </a:rPr>
              <a:t>computador </a:t>
            </a:r>
            <a:r>
              <a:rPr sz="2400" spc="-105" dirty="0">
                <a:latin typeface="Arial"/>
                <a:cs typeface="Arial"/>
              </a:rPr>
              <a:t>puede </a:t>
            </a:r>
            <a:r>
              <a:rPr sz="2400" spc="-110" dirty="0">
                <a:latin typeface="Arial"/>
                <a:cs typeface="Arial"/>
              </a:rPr>
              <a:t>generar </a:t>
            </a:r>
            <a:r>
              <a:rPr sz="2400" spc="-30" dirty="0">
                <a:latin typeface="Arial"/>
                <a:cs typeface="Arial"/>
              </a:rPr>
              <a:t>temor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105" dirty="0">
                <a:latin typeface="Arial"/>
                <a:cs typeface="Arial"/>
              </a:rPr>
              <a:t>resistencia </a:t>
            </a:r>
            <a:r>
              <a:rPr sz="2400" spc="-85" dirty="0">
                <a:latin typeface="Arial"/>
                <a:cs typeface="Arial"/>
              </a:rPr>
              <a:t>al  </a:t>
            </a:r>
            <a:r>
              <a:rPr sz="2400" spc="-100" dirty="0">
                <a:latin typeface="Arial"/>
                <a:cs typeface="Arial"/>
              </a:rPr>
              <a:t>cambio </a:t>
            </a:r>
            <a:r>
              <a:rPr sz="2400" spc="-40" dirty="0">
                <a:latin typeface="Arial"/>
                <a:cs typeface="Arial"/>
              </a:rPr>
              <a:t>por </a:t>
            </a:r>
            <a:r>
              <a:rPr sz="2400" spc="-55" dirty="0">
                <a:latin typeface="Arial"/>
                <a:cs typeface="Arial"/>
              </a:rPr>
              <a:t>parte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05" dirty="0">
                <a:latin typeface="Arial"/>
                <a:cs typeface="Arial"/>
              </a:rPr>
              <a:t>los</a:t>
            </a:r>
            <a:r>
              <a:rPr sz="2400" spc="-360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empleados.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36</a:t>
            </a:fld>
            <a:endParaRPr spc="-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05" dirty="0"/>
              <a:t>Integración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75" dirty="0"/>
              <a:t>/</a:t>
            </a:r>
            <a:r>
              <a:rPr spc="-395" dirty="0"/>
              <a:t> </a:t>
            </a:r>
            <a:r>
              <a:rPr spc="-125" dirty="0"/>
              <a:t>ERP 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9268" y="362965"/>
            <a:ext cx="8241030" cy="1156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 marR="5080">
              <a:lnSpc>
                <a:spcPct val="100000"/>
              </a:lnSpc>
              <a:spcBef>
                <a:spcPts val="100"/>
              </a:spcBef>
            </a:pPr>
            <a:r>
              <a:rPr sz="1800" spc="-240" dirty="0">
                <a:solidFill>
                  <a:srgbClr val="FFFFFF"/>
                </a:solidFill>
                <a:latin typeface="Arial"/>
                <a:cs typeface="Arial"/>
              </a:rPr>
              <a:t>ERP: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puntos 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 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2600" b="1" spc="-165" dirty="0">
                <a:latin typeface="Trebuchet MS"/>
                <a:cs typeface="Trebuchet MS"/>
              </a:rPr>
              <a:t>ERP </a:t>
            </a:r>
            <a:r>
              <a:rPr sz="2600" b="1" spc="-155" dirty="0">
                <a:latin typeface="Arial"/>
                <a:cs typeface="Arial"/>
              </a:rPr>
              <a:t>– </a:t>
            </a:r>
            <a:r>
              <a:rPr sz="2600" b="1" spc="-140" dirty="0">
                <a:latin typeface="Trebuchet MS"/>
                <a:cs typeface="Trebuchet MS"/>
              </a:rPr>
              <a:t>Implementación </a:t>
            </a:r>
            <a:r>
              <a:rPr sz="2600" b="1" spc="-160" dirty="0">
                <a:latin typeface="Trebuchet MS"/>
                <a:cs typeface="Trebuchet MS"/>
              </a:rPr>
              <a:t>y </a:t>
            </a:r>
            <a:r>
              <a:rPr sz="2600" b="1" spc="-130" dirty="0">
                <a:latin typeface="Trebuchet MS"/>
                <a:cs typeface="Trebuchet MS"/>
              </a:rPr>
              <a:t>gestión </a:t>
            </a:r>
            <a:r>
              <a:rPr sz="2600" b="1" spc="-145" dirty="0">
                <a:latin typeface="Trebuchet MS"/>
                <a:cs typeface="Trebuchet MS"/>
              </a:rPr>
              <a:t>del</a:t>
            </a:r>
            <a:r>
              <a:rPr sz="2600" b="1" spc="-300" dirty="0">
                <a:latin typeface="Trebuchet MS"/>
                <a:cs typeface="Trebuchet MS"/>
              </a:rPr>
              <a:t> </a:t>
            </a:r>
            <a:r>
              <a:rPr sz="2600" b="1" spc="-140" dirty="0">
                <a:latin typeface="Trebuchet MS"/>
                <a:cs typeface="Trebuchet MS"/>
              </a:rPr>
              <a:t>cambio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30046" y="1627632"/>
            <a:ext cx="6740652" cy="47602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37</a:t>
            </a:fld>
            <a:endParaRPr spc="-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268" y="56642"/>
            <a:ext cx="8615680" cy="6316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5" dirty="0">
                <a:solidFill>
                  <a:srgbClr val="FFFFFF"/>
                </a:solidFill>
                <a:latin typeface="Trebuchet MS"/>
                <a:cs typeface="Trebuchet MS"/>
              </a:rPr>
              <a:t>Integración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 </a:t>
            </a:r>
            <a:r>
              <a:rPr sz="2000" b="1" spc="75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2000" b="1" spc="-4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ERP (Cont.)</a:t>
            </a:r>
            <a:endParaRPr sz="2000">
              <a:latin typeface="Trebuchet MS"/>
              <a:cs typeface="Trebuchet MS"/>
            </a:endParaRPr>
          </a:p>
          <a:p>
            <a:pPr marL="59055" marR="379095">
              <a:lnSpc>
                <a:spcPct val="100000"/>
              </a:lnSpc>
              <a:spcBef>
                <a:spcPts val="15"/>
              </a:spcBef>
            </a:pPr>
            <a:r>
              <a:rPr sz="1800" spc="-240" dirty="0">
                <a:solidFill>
                  <a:srgbClr val="FFFFFF"/>
                </a:solidFill>
                <a:latin typeface="Arial"/>
                <a:cs typeface="Arial"/>
              </a:rPr>
              <a:t>ERP: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puntos críticos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adecuada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organizaciones 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2600" b="1" spc="-165" dirty="0">
                <a:latin typeface="Trebuchet MS"/>
                <a:cs typeface="Trebuchet MS"/>
              </a:rPr>
              <a:t>ERP </a:t>
            </a:r>
            <a:r>
              <a:rPr sz="2600" b="1" spc="-155" dirty="0">
                <a:latin typeface="Arial"/>
                <a:cs typeface="Arial"/>
              </a:rPr>
              <a:t>– </a:t>
            </a:r>
            <a:r>
              <a:rPr sz="2600" b="1" spc="-140" dirty="0">
                <a:latin typeface="Trebuchet MS"/>
                <a:cs typeface="Trebuchet MS"/>
              </a:rPr>
              <a:t>Implementación </a:t>
            </a:r>
            <a:r>
              <a:rPr sz="2600" b="1" spc="-160" dirty="0">
                <a:latin typeface="Trebuchet MS"/>
                <a:cs typeface="Trebuchet MS"/>
              </a:rPr>
              <a:t>y </a:t>
            </a:r>
            <a:r>
              <a:rPr sz="2600" b="1" spc="-130" dirty="0">
                <a:latin typeface="Trebuchet MS"/>
                <a:cs typeface="Trebuchet MS"/>
              </a:rPr>
              <a:t>gestión </a:t>
            </a:r>
            <a:r>
              <a:rPr sz="2600" b="1" spc="-145" dirty="0">
                <a:latin typeface="Trebuchet MS"/>
                <a:cs typeface="Trebuchet MS"/>
              </a:rPr>
              <a:t>del </a:t>
            </a:r>
            <a:r>
              <a:rPr sz="2600" b="1" spc="-140" dirty="0">
                <a:latin typeface="Trebuchet MS"/>
                <a:cs typeface="Trebuchet MS"/>
              </a:rPr>
              <a:t>cambio</a:t>
            </a:r>
            <a:r>
              <a:rPr sz="2600" b="1" spc="-340" dirty="0">
                <a:latin typeface="Trebuchet MS"/>
                <a:cs typeface="Trebuchet MS"/>
              </a:rPr>
              <a:t> </a:t>
            </a:r>
            <a:r>
              <a:rPr sz="2600" b="1" spc="-165" dirty="0">
                <a:latin typeface="Trebuchet MS"/>
                <a:cs typeface="Trebuchet MS"/>
              </a:rPr>
              <a:t>(Cont.)</a:t>
            </a:r>
            <a:endParaRPr sz="2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400" spc="-260" dirty="0">
                <a:latin typeface="Arial"/>
                <a:cs typeface="Arial"/>
              </a:rPr>
              <a:t>La </a:t>
            </a:r>
            <a:r>
              <a:rPr sz="2400" spc="-80" dirty="0">
                <a:latin typeface="Arial"/>
                <a:cs typeface="Arial"/>
              </a:rPr>
              <a:t>administración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340" dirty="0">
                <a:latin typeface="Arial"/>
                <a:cs typeface="Arial"/>
              </a:rPr>
              <a:t>RRHH </a:t>
            </a:r>
            <a:r>
              <a:rPr sz="2400" spc="-200" dirty="0">
                <a:latin typeface="Arial"/>
                <a:cs typeface="Arial"/>
              </a:rPr>
              <a:t>es </a:t>
            </a:r>
            <a:r>
              <a:rPr sz="2400" spc="-80" dirty="0">
                <a:latin typeface="Arial"/>
                <a:cs typeface="Arial"/>
              </a:rPr>
              <a:t>un </a:t>
            </a:r>
            <a:r>
              <a:rPr sz="2400" spc="-85" dirty="0">
                <a:latin typeface="Arial"/>
                <a:cs typeface="Arial"/>
              </a:rPr>
              <a:t>enfoque </a:t>
            </a:r>
            <a:r>
              <a:rPr sz="2400" spc="-120" dirty="0">
                <a:latin typeface="Arial"/>
                <a:cs typeface="Arial"/>
              </a:rPr>
              <a:t>esencial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45" dirty="0">
                <a:latin typeface="Arial"/>
                <a:cs typeface="Arial"/>
              </a:rPr>
              <a:t>las </a:t>
            </a:r>
            <a:r>
              <a:rPr sz="2400" spc="-100" dirty="0">
                <a:latin typeface="Arial"/>
                <a:cs typeface="Arial"/>
              </a:rPr>
              <a:t>actividades 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75" dirty="0">
                <a:latin typeface="Arial"/>
                <a:cs typeface="Arial"/>
              </a:rPr>
              <a:t>administración </a:t>
            </a:r>
            <a:r>
              <a:rPr sz="2400" spc="-70" dirty="0">
                <a:latin typeface="Arial"/>
                <a:cs typeface="Arial"/>
              </a:rPr>
              <a:t>del </a:t>
            </a:r>
            <a:r>
              <a:rPr sz="2400" spc="-105" dirty="0">
                <a:latin typeface="Arial"/>
                <a:cs typeface="Arial"/>
              </a:rPr>
              <a:t>cambio </a:t>
            </a:r>
            <a:r>
              <a:rPr sz="2400" spc="-110" dirty="0">
                <a:latin typeface="Arial"/>
                <a:cs typeface="Arial"/>
              </a:rPr>
              <a:t>organizacional. </a:t>
            </a:r>
            <a:r>
              <a:rPr sz="2400" spc="-95" dirty="0">
                <a:latin typeface="Arial"/>
                <a:cs typeface="Arial"/>
              </a:rPr>
              <a:t>Finalmente, la  </a:t>
            </a:r>
            <a:r>
              <a:rPr sz="2400" spc="-80" dirty="0">
                <a:latin typeface="Arial"/>
                <a:cs typeface="Arial"/>
              </a:rPr>
              <a:t>administración </a:t>
            </a:r>
            <a:r>
              <a:rPr sz="2400" spc="-70" dirty="0">
                <a:latin typeface="Arial"/>
                <a:cs typeface="Arial"/>
              </a:rPr>
              <a:t>del </a:t>
            </a:r>
            <a:r>
              <a:rPr sz="2400" spc="-105" dirty="0">
                <a:latin typeface="Arial"/>
                <a:cs typeface="Arial"/>
              </a:rPr>
              <a:t>cambio </a:t>
            </a:r>
            <a:r>
              <a:rPr sz="2400" spc="-100" dirty="0">
                <a:latin typeface="Arial"/>
                <a:cs typeface="Arial"/>
              </a:rPr>
              <a:t>comprende </a:t>
            </a:r>
            <a:r>
              <a:rPr sz="2400" spc="-110" dirty="0">
                <a:latin typeface="Arial"/>
                <a:cs typeface="Arial"/>
              </a:rPr>
              <a:t>analizar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30" dirty="0">
                <a:latin typeface="Arial"/>
                <a:cs typeface="Arial"/>
              </a:rPr>
              <a:t>definir </a:t>
            </a:r>
            <a:r>
              <a:rPr sz="2400" spc="-80" dirty="0">
                <a:latin typeface="Arial"/>
                <a:cs typeface="Arial"/>
              </a:rPr>
              <a:t>todos </a:t>
            </a:r>
            <a:r>
              <a:rPr sz="2400" spc="-105" dirty="0">
                <a:latin typeface="Arial"/>
                <a:cs typeface="Arial"/>
              </a:rPr>
              <a:t>los  </a:t>
            </a:r>
            <a:r>
              <a:rPr sz="2400" spc="-125" dirty="0">
                <a:latin typeface="Arial"/>
                <a:cs typeface="Arial"/>
              </a:rPr>
              <a:t>cambios </a:t>
            </a:r>
            <a:r>
              <a:rPr sz="2400" spc="-100" dirty="0">
                <a:latin typeface="Arial"/>
                <a:cs typeface="Arial"/>
              </a:rPr>
              <a:t>que </a:t>
            </a:r>
            <a:r>
              <a:rPr sz="2400" spc="-60" dirty="0">
                <a:latin typeface="Arial"/>
                <a:cs typeface="Arial"/>
              </a:rPr>
              <a:t>enfrenta </a:t>
            </a:r>
            <a:r>
              <a:rPr sz="2400" spc="-85" dirty="0">
                <a:latin typeface="Arial"/>
                <a:cs typeface="Arial"/>
              </a:rPr>
              <a:t>la </a:t>
            </a:r>
            <a:r>
              <a:rPr sz="2400" spc="-110" dirty="0">
                <a:latin typeface="Arial"/>
                <a:cs typeface="Arial"/>
              </a:rPr>
              <a:t>organización, </a:t>
            </a:r>
            <a:r>
              <a:rPr sz="2400" spc="-80" dirty="0">
                <a:latin typeface="Arial"/>
                <a:cs typeface="Arial"/>
              </a:rPr>
              <a:t>desarrollar </a:t>
            </a:r>
            <a:r>
              <a:rPr sz="2400" spc="-125" dirty="0">
                <a:latin typeface="Arial"/>
                <a:cs typeface="Arial"/>
              </a:rPr>
              <a:t>programas </a:t>
            </a:r>
            <a:r>
              <a:rPr sz="2400" spc="-120" dirty="0">
                <a:latin typeface="Arial"/>
                <a:cs typeface="Arial"/>
              </a:rPr>
              <a:t>para  </a:t>
            </a:r>
            <a:r>
              <a:rPr sz="2400" spc="-60" dirty="0">
                <a:latin typeface="Arial"/>
                <a:cs typeface="Arial"/>
              </a:rPr>
              <a:t>reducir </a:t>
            </a:r>
            <a:r>
              <a:rPr sz="2400" spc="-105" dirty="0">
                <a:latin typeface="Arial"/>
                <a:cs typeface="Arial"/>
              </a:rPr>
              <a:t>los </a:t>
            </a:r>
            <a:r>
              <a:rPr sz="2400" spc="-135" dirty="0">
                <a:latin typeface="Arial"/>
                <a:cs typeface="Arial"/>
              </a:rPr>
              <a:t>riesgos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130" dirty="0">
                <a:latin typeface="Arial"/>
                <a:cs typeface="Arial"/>
              </a:rPr>
              <a:t>costos,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110" dirty="0">
                <a:latin typeface="Arial"/>
                <a:cs typeface="Arial"/>
              </a:rPr>
              <a:t>maximizar </a:t>
            </a:r>
            <a:r>
              <a:rPr sz="2400" spc="-105" dirty="0">
                <a:latin typeface="Arial"/>
                <a:cs typeface="Arial"/>
              </a:rPr>
              <a:t>los </a:t>
            </a:r>
            <a:r>
              <a:rPr sz="2400" spc="-95" dirty="0">
                <a:latin typeface="Arial"/>
                <a:cs typeface="Arial"/>
              </a:rPr>
              <a:t>beneficios </a:t>
            </a:r>
            <a:r>
              <a:rPr sz="2400" spc="-70" dirty="0">
                <a:latin typeface="Arial"/>
                <a:cs typeface="Arial"/>
              </a:rPr>
              <a:t>del </a:t>
            </a:r>
            <a:r>
              <a:rPr sz="2400" spc="-100" dirty="0">
                <a:latin typeface="Arial"/>
                <a:cs typeface="Arial"/>
              </a:rPr>
              <a:t>cambio.  </a:t>
            </a:r>
            <a:r>
              <a:rPr sz="2400" spc="-225" dirty="0">
                <a:latin typeface="Arial"/>
                <a:cs typeface="Arial"/>
              </a:rPr>
              <a:t>Los </a:t>
            </a:r>
            <a:r>
              <a:rPr sz="2400" spc="-100" dirty="0">
                <a:latin typeface="Arial"/>
                <a:cs typeface="Arial"/>
              </a:rPr>
              <a:t>expertos </a:t>
            </a:r>
            <a:r>
              <a:rPr sz="2400" spc="-70" dirty="0">
                <a:latin typeface="Arial"/>
                <a:cs typeface="Arial"/>
              </a:rPr>
              <a:t>del </a:t>
            </a:r>
            <a:r>
              <a:rPr sz="2400" spc="-100" dirty="0">
                <a:latin typeface="Arial"/>
                <a:cs typeface="Arial"/>
              </a:rPr>
              <a:t>cambio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recomiendan: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500">
              <a:latin typeface="Times New Roman"/>
              <a:cs typeface="Times New Roman"/>
            </a:endParaRPr>
          </a:p>
          <a:p>
            <a:pPr marL="303530" marR="6350" indent="-290830">
              <a:lnSpc>
                <a:spcPct val="100000"/>
              </a:lnSpc>
              <a:buChar char="•"/>
              <a:tabLst>
                <a:tab pos="303530" algn="l"/>
                <a:tab pos="304165" algn="l"/>
              </a:tabLst>
            </a:pPr>
            <a:r>
              <a:rPr sz="1800" spc="-65" dirty="0">
                <a:latin typeface="Arial"/>
                <a:cs typeface="Arial"/>
              </a:rPr>
              <a:t>Involucrar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75" dirty="0">
                <a:latin typeface="Arial"/>
                <a:cs typeface="Arial"/>
              </a:rPr>
              <a:t>mayor </a:t>
            </a:r>
            <a:r>
              <a:rPr sz="1800" spc="-65" dirty="0">
                <a:latin typeface="Arial"/>
                <a:cs typeface="Arial"/>
              </a:rPr>
              <a:t>cantidad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105" dirty="0">
                <a:latin typeface="Arial"/>
                <a:cs typeface="Arial"/>
              </a:rPr>
              <a:t>personas </a:t>
            </a:r>
            <a:r>
              <a:rPr sz="1800" spc="-85" dirty="0">
                <a:latin typeface="Arial"/>
                <a:cs typeface="Arial"/>
              </a:rPr>
              <a:t>posibles en </a:t>
            </a:r>
            <a:r>
              <a:rPr sz="1800" spc="-65" dirty="0">
                <a:latin typeface="Arial"/>
                <a:cs typeface="Arial"/>
              </a:rPr>
              <a:t>la reingeniería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45" dirty="0">
                <a:latin typeface="Arial"/>
                <a:cs typeface="Arial"/>
              </a:rPr>
              <a:t>otros </a:t>
            </a:r>
            <a:r>
              <a:rPr sz="1800" spc="-95" dirty="0">
                <a:latin typeface="Arial"/>
                <a:cs typeface="Arial"/>
              </a:rPr>
              <a:t>programas  </a:t>
            </a:r>
            <a:r>
              <a:rPr sz="1800" spc="-85" dirty="0">
                <a:latin typeface="Arial"/>
                <a:cs typeface="Arial"/>
              </a:rPr>
              <a:t>de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75" dirty="0">
                <a:latin typeface="Arial"/>
                <a:cs typeface="Arial"/>
              </a:rPr>
              <a:t>cambio.</a:t>
            </a:r>
            <a:endParaRPr sz="1800">
              <a:latin typeface="Arial"/>
              <a:cs typeface="Arial"/>
            </a:endParaRPr>
          </a:p>
          <a:p>
            <a:pPr marL="303530" indent="-290830">
              <a:lnSpc>
                <a:spcPct val="100000"/>
              </a:lnSpc>
              <a:buChar char="•"/>
              <a:tabLst>
                <a:tab pos="303530" algn="l"/>
                <a:tab pos="304165" algn="l"/>
              </a:tabLst>
            </a:pPr>
            <a:r>
              <a:rPr sz="1800" spc="-114" dirty="0">
                <a:latin typeface="Arial"/>
                <a:cs typeface="Arial"/>
              </a:rPr>
              <a:t>Hacer </a:t>
            </a:r>
            <a:r>
              <a:rPr sz="1800" spc="-55" dirty="0">
                <a:latin typeface="Arial"/>
                <a:cs typeface="Arial"/>
              </a:rPr>
              <a:t>del </a:t>
            </a:r>
            <a:r>
              <a:rPr sz="1800" spc="-75" dirty="0">
                <a:latin typeface="Arial"/>
                <a:cs typeface="Arial"/>
              </a:rPr>
              <a:t>cambio constante </a:t>
            </a:r>
            <a:r>
              <a:rPr sz="1800" spc="-85" dirty="0">
                <a:latin typeface="Arial"/>
                <a:cs typeface="Arial"/>
              </a:rPr>
              <a:t>una </a:t>
            </a:r>
            <a:r>
              <a:rPr sz="1800" spc="-45" dirty="0">
                <a:latin typeface="Arial"/>
                <a:cs typeface="Arial"/>
              </a:rPr>
              <a:t>parte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65" dirty="0">
                <a:latin typeface="Arial"/>
                <a:cs typeface="Arial"/>
              </a:rPr>
              <a:t>la</a:t>
            </a:r>
            <a:r>
              <a:rPr sz="1800" spc="-140" dirty="0">
                <a:latin typeface="Arial"/>
                <a:cs typeface="Arial"/>
              </a:rPr>
              <a:t> </a:t>
            </a:r>
            <a:r>
              <a:rPr sz="1800" spc="-45" dirty="0">
                <a:latin typeface="Arial"/>
                <a:cs typeface="Arial"/>
              </a:rPr>
              <a:t>cultura.</a:t>
            </a:r>
            <a:endParaRPr sz="1800">
              <a:latin typeface="Arial"/>
              <a:cs typeface="Arial"/>
            </a:endParaRPr>
          </a:p>
          <a:p>
            <a:pPr marL="303530" marR="7620" indent="-290830">
              <a:lnSpc>
                <a:spcPct val="100000"/>
              </a:lnSpc>
              <a:buChar char="•"/>
              <a:tabLst>
                <a:tab pos="303530" algn="l"/>
                <a:tab pos="304165" algn="l"/>
              </a:tabLst>
            </a:pPr>
            <a:r>
              <a:rPr sz="1800" spc="-75" dirty="0">
                <a:latin typeface="Arial"/>
                <a:cs typeface="Arial"/>
              </a:rPr>
              <a:t>Contarle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75" dirty="0">
                <a:latin typeface="Arial"/>
                <a:cs typeface="Arial"/>
              </a:rPr>
              <a:t>mayor </a:t>
            </a:r>
            <a:r>
              <a:rPr sz="1800" spc="-65" dirty="0">
                <a:latin typeface="Arial"/>
                <a:cs typeface="Arial"/>
              </a:rPr>
              <a:t>cantidad </a:t>
            </a:r>
            <a:r>
              <a:rPr sz="1800" spc="-70" dirty="0">
                <a:latin typeface="Arial"/>
                <a:cs typeface="Arial"/>
              </a:rPr>
              <a:t>posible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105" dirty="0">
                <a:latin typeface="Arial"/>
                <a:cs typeface="Arial"/>
              </a:rPr>
              <a:t>personas </a:t>
            </a:r>
            <a:r>
              <a:rPr sz="1800" spc="-85" dirty="0">
                <a:latin typeface="Arial"/>
                <a:cs typeface="Arial"/>
              </a:rPr>
              <a:t>sobre </a:t>
            </a:r>
            <a:r>
              <a:rPr sz="1800" spc="-60" dirty="0">
                <a:latin typeface="Arial"/>
                <a:cs typeface="Arial"/>
              </a:rPr>
              <a:t>todos </a:t>
            </a:r>
            <a:r>
              <a:rPr sz="1800" spc="-80" dirty="0">
                <a:latin typeface="Arial"/>
                <a:cs typeface="Arial"/>
              </a:rPr>
              <a:t>los </a:t>
            </a:r>
            <a:r>
              <a:rPr sz="1800" spc="-100" dirty="0">
                <a:latin typeface="Arial"/>
                <a:cs typeface="Arial"/>
              </a:rPr>
              <a:t>aspectos, </a:t>
            </a:r>
            <a:r>
              <a:rPr sz="1800" spc="-90" dirty="0">
                <a:latin typeface="Arial"/>
                <a:cs typeface="Arial"/>
              </a:rPr>
              <a:t>con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80" dirty="0">
                <a:latin typeface="Arial"/>
                <a:cs typeface="Arial"/>
              </a:rPr>
              <a:t>mayor  </a:t>
            </a:r>
            <a:r>
              <a:rPr sz="1800" spc="-70" dirty="0">
                <a:latin typeface="Arial"/>
                <a:cs typeface="Arial"/>
              </a:rPr>
              <a:t>frecuencia posible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45" dirty="0">
                <a:latin typeface="Arial"/>
                <a:cs typeface="Arial"/>
              </a:rPr>
              <a:t>preferiblemente </a:t>
            </a:r>
            <a:r>
              <a:rPr sz="1800" spc="-85" dirty="0">
                <a:latin typeface="Arial"/>
                <a:cs typeface="Arial"/>
              </a:rPr>
              <a:t>en</a:t>
            </a:r>
            <a:r>
              <a:rPr sz="1800" spc="-125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persona.</a:t>
            </a:r>
            <a:endParaRPr sz="1800">
              <a:latin typeface="Arial"/>
              <a:cs typeface="Arial"/>
            </a:endParaRPr>
          </a:p>
          <a:p>
            <a:pPr marL="303530" indent="-290830">
              <a:lnSpc>
                <a:spcPct val="100000"/>
              </a:lnSpc>
              <a:buChar char="•"/>
              <a:tabLst>
                <a:tab pos="303530" algn="l"/>
                <a:tab pos="304165" algn="l"/>
              </a:tabLst>
            </a:pPr>
            <a:r>
              <a:rPr sz="1800" spc="-114" dirty="0">
                <a:latin typeface="Arial"/>
                <a:cs typeface="Arial"/>
              </a:rPr>
              <a:t>Hacer </a:t>
            </a:r>
            <a:r>
              <a:rPr sz="1800" spc="-105" dirty="0">
                <a:latin typeface="Arial"/>
                <a:cs typeface="Arial"/>
              </a:rPr>
              <a:t>uso </a:t>
            </a:r>
            <a:r>
              <a:rPr sz="1800" spc="-50" dirty="0">
                <a:latin typeface="Arial"/>
                <a:cs typeface="Arial"/>
              </a:rPr>
              <a:t>amplio </a:t>
            </a:r>
            <a:r>
              <a:rPr sz="1800" spc="-55" dirty="0">
                <a:latin typeface="Arial"/>
                <a:cs typeface="Arial"/>
              </a:rPr>
              <a:t>del </a:t>
            </a:r>
            <a:r>
              <a:rPr sz="1800" spc="-60" dirty="0">
                <a:latin typeface="Arial"/>
                <a:cs typeface="Arial"/>
              </a:rPr>
              <a:t>reconocimiento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80" dirty="0">
                <a:latin typeface="Arial"/>
                <a:cs typeface="Arial"/>
              </a:rPr>
              <a:t>los </a:t>
            </a:r>
            <a:r>
              <a:rPr sz="1800" spc="-65" dirty="0">
                <a:latin typeface="Arial"/>
                <a:cs typeface="Arial"/>
              </a:rPr>
              <a:t>incentivos</a:t>
            </a:r>
            <a:r>
              <a:rPr sz="1800" spc="-120" dirty="0">
                <a:latin typeface="Arial"/>
                <a:cs typeface="Arial"/>
              </a:rPr>
              <a:t> </a:t>
            </a:r>
            <a:r>
              <a:rPr sz="1800" spc="-65" dirty="0">
                <a:latin typeface="Arial"/>
                <a:cs typeface="Arial"/>
              </a:rPr>
              <a:t>financieros.</a:t>
            </a:r>
            <a:endParaRPr sz="1800">
              <a:latin typeface="Arial"/>
              <a:cs typeface="Arial"/>
            </a:endParaRPr>
          </a:p>
          <a:p>
            <a:pPr marL="303530" indent="-290830">
              <a:lnSpc>
                <a:spcPct val="100000"/>
              </a:lnSpc>
              <a:buChar char="•"/>
              <a:tabLst>
                <a:tab pos="303530" algn="l"/>
                <a:tab pos="304165" algn="l"/>
              </a:tabLst>
            </a:pPr>
            <a:r>
              <a:rPr sz="1800" spc="-100" dirty="0">
                <a:latin typeface="Arial"/>
                <a:cs typeface="Arial"/>
              </a:rPr>
              <a:t>Trabajar </a:t>
            </a:r>
            <a:r>
              <a:rPr sz="1800" spc="-35" dirty="0">
                <a:latin typeface="Arial"/>
                <a:cs typeface="Arial"/>
              </a:rPr>
              <a:t>dentro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40" dirty="0">
                <a:latin typeface="Arial"/>
                <a:cs typeface="Arial"/>
              </a:rPr>
              <a:t>cultura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90" dirty="0">
                <a:latin typeface="Arial"/>
                <a:cs typeface="Arial"/>
              </a:rPr>
              <a:t>empresa, </a:t>
            </a:r>
            <a:r>
              <a:rPr sz="1800" spc="-55" dirty="0">
                <a:latin typeface="Arial"/>
                <a:cs typeface="Arial"/>
              </a:rPr>
              <a:t>no alrededor </a:t>
            </a:r>
            <a:r>
              <a:rPr sz="1800" spc="-85" dirty="0">
                <a:latin typeface="Arial"/>
                <a:cs typeface="Arial"/>
              </a:rPr>
              <a:t>de</a:t>
            </a:r>
            <a:r>
              <a:rPr sz="1800" spc="-295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ésta.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38</a:t>
            </a:fld>
            <a:endParaRPr spc="-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4541520" cy="22783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1119378" y="0"/>
                </a:moveTo>
                <a:lnTo>
                  <a:pt x="334898" y="0"/>
                </a:lnTo>
                <a:lnTo>
                  <a:pt x="0" y="1160526"/>
                </a:lnTo>
                <a:lnTo>
                  <a:pt x="784479" y="1160526"/>
                </a:lnTo>
                <a:lnTo>
                  <a:pt x="1119378" y="0"/>
                </a:lnTo>
                <a:close/>
              </a:path>
            </a:pathLst>
          </a:custGeom>
          <a:solidFill>
            <a:srgbClr val="79B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0" y="1160526"/>
                </a:moveTo>
                <a:lnTo>
                  <a:pt x="334898" y="0"/>
                </a:lnTo>
                <a:lnTo>
                  <a:pt x="1119378" y="0"/>
                </a:lnTo>
                <a:lnTo>
                  <a:pt x="784479" y="1160526"/>
                </a:lnTo>
                <a:lnTo>
                  <a:pt x="0" y="1160526"/>
                </a:lnTo>
                <a:close/>
              </a:path>
            </a:pathLst>
          </a:custGeom>
          <a:ln w="9906">
            <a:solidFill>
              <a:srgbClr val="79B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09950" y="1247647"/>
            <a:ext cx="3225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1" spc="-60" dirty="0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97840" y="721613"/>
            <a:ext cx="258572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9880" marR="5080" indent="-297180">
              <a:lnSpc>
                <a:spcPct val="100000"/>
              </a:lnSpc>
              <a:spcBef>
                <a:spcPts val="95"/>
              </a:spcBef>
            </a:pPr>
            <a:r>
              <a:rPr sz="2600" spc="5" dirty="0">
                <a:solidFill>
                  <a:srgbClr val="00338D"/>
                </a:solidFill>
              </a:rPr>
              <a:t>SCM </a:t>
            </a:r>
            <a:r>
              <a:rPr sz="2600" spc="-240" dirty="0">
                <a:solidFill>
                  <a:srgbClr val="00338D"/>
                </a:solidFill>
              </a:rPr>
              <a:t>(</a:t>
            </a:r>
            <a:r>
              <a:rPr sz="2600" i="1" spc="-240" dirty="0">
                <a:solidFill>
                  <a:srgbClr val="00338D"/>
                </a:solidFill>
                <a:latin typeface="Arial"/>
                <a:cs typeface="Arial"/>
              </a:rPr>
              <a:t>Supply</a:t>
            </a:r>
            <a:r>
              <a:rPr sz="2600" i="1" spc="-37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2600" i="1" spc="-229" dirty="0">
                <a:solidFill>
                  <a:srgbClr val="00338D"/>
                </a:solidFill>
                <a:latin typeface="Arial"/>
                <a:cs typeface="Arial"/>
              </a:rPr>
              <a:t>Chain  </a:t>
            </a:r>
            <a:r>
              <a:rPr sz="2600" i="1" spc="-130" dirty="0">
                <a:solidFill>
                  <a:srgbClr val="00338D"/>
                </a:solidFill>
                <a:latin typeface="Arial"/>
                <a:cs typeface="Arial"/>
              </a:rPr>
              <a:t>Management</a:t>
            </a:r>
            <a:r>
              <a:rPr sz="2600" spc="-130" dirty="0">
                <a:solidFill>
                  <a:srgbClr val="00338D"/>
                </a:solidFill>
              </a:rPr>
              <a:t>)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393446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dirty="0"/>
              <a:t>SCM </a:t>
            </a:r>
            <a:r>
              <a:rPr spc="-105" dirty="0"/>
              <a:t>(Supply</a:t>
            </a:r>
            <a:r>
              <a:rPr spc="-459" dirty="0"/>
              <a:t> </a:t>
            </a:r>
            <a:r>
              <a:rPr spc="-120" dirty="0"/>
              <a:t>Chain </a:t>
            </a:r>
            <a:r>
              <a:rPr spc="-70" dirty="0"/>
              <a:t>Management)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95" dirty="0">
                <a:latin typeface="Arial"/>
                <a:cs typeface="Arial"/>
              </a:rPr>
              <a:t>Concepto </a:t>
            </a:r>
            <a:r>
              <a:rPr sz="1800" b="0" spc="-90" dirty="0">
                <a:latin typeface="Arial"/>
                <a:cs typeface="Arial"/>
              </a:rPr>
              <a:t>y</a:t>
            </a:r>
            <a:r>
              <a:rPr sz="1800" b="0" spc="-80" dirty="0">
                <a:latin typeface="Arial"/>
                <a:cs typeface="Arial"/>
              </a:rPr>
              <a:t> </a:t>
            </a:r>
            <a:r>
              <a:rPr sz="1800" b="0" spc="-50" dirty="0">
                <a:latin typeface="Arial"/>
                <a:cs typeface="Arial"/>
              </a:rPr>
              <a:t>objetivos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40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39268" y="1098041"/>
            <a:ext cx="8618220" cy="4384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600" b="1" spc="-165" dirty="0">
                <a:latin typeface="Trebuchet MS"/>
                <a:cs typeface="Trebuchet MS"/>
              </a:rPr>
              <a:t>Concepto: </a:t>
            </a:r>
            <a:r>
              <a:rPr sz="2600" spc="-135" dirty="0">
                <a:latin typeface="Arial"/>
                <a:cs typeface="Arial"/>
              </a:rPr>
              <a:t>sistema </a:t>
            </a:r>
            <a:r>
              <a:rPr sz="2600" spc="-50" dirty="0">
                <a:latin typeface="Arial"/>
                <a:cs typeface="Arial"/>
              </a:rPr>
              <a:t>interfuncional </a:t>
            </a:r>
            <a:r>
              <a:rPr sz="2600" spc="-155" dirty="0">
                <a:latin typeface="Arial"/>
                <a:cs typeface="Arial"/>
              </a:rPr>
              <a:t>e </a:t>
            </a:r>
            <a:r>
              <a:rPr sz="2600" spc="-80" dirty="0">
                <a:latin typeface="Arial"/>
                <a:cs typeface="Arial"/>
              </a:rPr>
              <a:t>interempresarial </a:t>
            </a:r>
            <a:r>
              <a:rPr sz="2600" spc="-110" dirty="0">
                <a:latin typeface="Arial"/>
                <a:cs typeface="Arial"/>
              </a:rPr>
              <a:t>que </a:t>
            </a:r>
            <a:r>
              <a:rPr sz="2600" spc="-60" dirty="0">
                <a:latin typeface="Arial"/>
                <a:cs typeface="Arial"/>
              </a:rPr>
              <a:t>utiliza  </a:t>
            </a:r>
            <a:r>
              <a:rPr sz="2600" spc="-160" dirty="0">
                <a:latin typeface="Arial"/>
                <a:cs typeface="Arial"/>
              </a:rPr>
              <a:t>las </a:t>
            </a:r>
            <a:r>
              <a:rPr sz="2600" spc="-195" dirty="0">
                <a:latin typeface="Arial"/>
                <a:cs typeface="Arial"/>
              </a:rPr>
              <a:t>TI </a:t>
            </a:r>
            <a:r>
              <a:rPr sz="2600" spc="-130" dirty="0">
                <a:latin typeface="Arial"/>
                <a:cs typeface="Arial"/>
              </a:rPr>
              <a:t>para </a:t>
            </a:r>
            <a:r>
              <a:rPr sz="2600" spc="-120" dirty="0">
                <a:latin typeface="Arial"/>
                <a:cs typeface="Arial"/>
              </a:rPr>
              <a:t>ayudar </a:t>
            </a:r>
            <a:r>
              <a:rPr sz="2600" spc="-204" dirty="0">
                <a:latin typeface="Arial"/>
                <a:cs typeface="Arial"/>
              </a:rPr>
              <a:t>a </a:t>
            </a:r>
            <a:r>
              <a:rPr sz="2600" spc="-65" dirty="0">
                <a:latin typeface="Arial"/>
                <a:cs typeface="Arial"/>
              </a:rPr>
              <a:t>soportar </a:t>
            </a:r>
            <a:r>
              <a:rPr sz="2600" spc="-125" dirty="0">
                <a:latin typeface="Arial"/>
                <a:cs typeface="Arial"/>
              </a:rPr>
              <a:t>y </a:t>
            </a:r>
            <a:r>
              <a:rPr sz="2600" spc="-204" dirty="0">
                <a:latin typeface="Arial"/>
                <a:cs typeface="Arial"/>
              </a:rPr>
              <a:t>a </a:t>
            </a:r>
            <a:r>
              <a:rPr sz="2600" spc="-100" dirty="0">
                <a:latin typeface="Arial"/>
                <a:cs typeface="Arial"/>
              </a:rPr>
              <a:t>gestionar </a:t>
            </a:r>
            <a:r>
              <a:rPr sz="2600" spc="-160" dirty="0">
                <a:latin typeface="Arial"/>
                <a:cs typeface="Arial"/>
              </a:rPr>
              <a:t>las </a:t>
            </a:r>
            <a:r>
              <a:rPr sz="2600" spc="-140" dirty="0">
                <a:latin typeface="Arial"/>
                <a:cs typeface="Arial"/>
              </a:rPr>
              <a:t>conexiones </a:t>
            </a:r>
            <a:r>
              <a:rPr sz="2600" spc="-55" dirty="0">
                <a:latin typeface="Arial"/>
                <a:cs typeface="Arial"/>
              </a:rPr>
              <a:t>entre  </a:t>
            </a:r>
            <a:r>
              <a:rPr sz="2600" spc="-135" dirty="0">
                <a:latin typeface="Arial"/>
                <a:cs typeface="Arial"/>
              </a:rPr>
              <a:t>algunos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14" dirty="0">
                <a:latin typeface="Arial"/>
                <a:cs typeface="Arial"/>
              </a:rPr>
              <a:t>los </a:t>
            </a:r>
            <a:r>
              <a:rPr sz="2600" spc="-150" dirty="0">
                <a:latin typeface="Arial"/>
                <a:cs typeface="Arial"/>
              </a:rPr>
              <a:t>procesos clave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95" dirty="0">
                <a:latin typeface="Arial"/>
                <a:cs typeface="Arial"/>
              </a:rPr>
              <a:t>la </a:t>
            </a:r>
            <a:r>
              <a:rPr sz="2600" spc="-125" dirty="0">
                <a:latin typeface="Arial"/>
                <a:cs typeface="Arial"/>
              </a:rPr>
              <a:t>organización y </a:t>
            </a:r>
            <a:r>
              <a:rPr sz="2600" spc="-114" dirty="0">
                <a:latin typeface="Arial"/>
                <a:cs typeface="Arial"/>
              </a:rPr>
              <a:t>los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225" dirty="0">
                <a:latin typeface="Arial"/>
                <a:cs typeface="Arial"/>
              </a:rPr>
              <a:t>sus  </a:t>
            </a:r>
            <a:r>
              <a:rPr sz="2600" spc="-110" dirty="0">
                <a:latin typeface="Arial"/>
                <a:cs typeface="Arial"/>
              </a:rPr>
              <a:t>proveedores, </a:t>
            </a:r>
            <a:r>
              <a:rPr sz="2600" spc="-95" dirty="0">
                <a:latin typeface="Arial"/>
                <a:cs typeface="Arial"/>
              </a:rPr>
              <a:t>clientes </a:t>
            </a:r>
            <a:r>
              <a:rPr sz="2600" spc="-125" dirty="0">
                <a:latin typeface="Arial"/>
                <a:cs typeface="Arial"/>
              </a:rPr>
              <a:t>y </a:t>
            </a:r>
            <a:r>
              <a:rPr sz="2600" spc="-155" dirty="0">
                <a:latin typeface="Arial"/>
                <a:cs typeface="Arial"/>
              </a:rPr>
              <a:t>socios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14" dirty="0">
                <a:latin typeface="Arial"/>
                <a:cs typeface="Arial"/>
              </a:rPr>
              <a:t>negocio. </a:t>
            </a:r>
            <a:r>
              <a:rPr sz="2600" spc="-180" dirty="0">
                <a:latin typeface="Arial"/>
                <a:cs typeface="Arial"/>
              </a:rPr>
              <a:t>Respaldan </a:t>
            </a:r>
            <a:r>
              <a:rPr sz="2600" spc="-95" dirty="0">
                <a:latin typeface="Arial"/>
                <a:cs typeface="Arial"/>
              </a:rPr>
              <a:t>la </a:t>
            </a:r>
            <a:r>
              <a:rPr sz="2600" spc="-70" dirty="0">
                <a:latin typeface="Arial"/>
                <a:cs typeface="Arial"/>
              </a:rPr>
              <a:t>función 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90" dirty="0">
                <a:latin typeface="Arial"/>
                <a:cs typeface="Arial"/>
              </a:rPr>
              <a:t>producción, </a:t>
            </a:r>
            <a:r>
              <a:rPr sz="2600" spc="-110" dirty="0">
                <a:latin typeface="Arial"/>
                <a:cs typeface="Arial"/>
              </a:rPr>
              <a:t>que </a:t>
            </a:r>
            <a:r>
              <a:rPr sz="2600" spc="-95" dirty="0">
                <a:latin typeface="Arial"/>
                <a:cs typeface="Arial"/>
              </a:rPr>
              <a:t>incluye </a:t>
            </a:r>
            <a:r>
              <a:rPr sz="2600" spc="-110" dirty="0">
                <a:latin typeface="Arial"/>
                <a:cs typeface="Arial"/>
              </a:rPr>
              <a:t>todas </a:t>
            </a:r>
            <a:r>
              <a:rPr sz="2600" spc="-160" dirty="0">
                <a:latin typeface="Arial"/>
                <a:cs typeface="Arial"/>
              </a:rPr>
              <a:t>las </a:t>
            </a:r>
            <a:r>
              <a:rPr sz="2600" spc="-105" dirty="0">
                <a:latin typeface="Arial"/>
                <a:cs typeface="Arial"/>
              </a:rPr>
              <a:t>actividades </a:t>
            </a:r>
            <a:r>
              <a:rPr sz="2600" spc="-110" dirty="0">
                <a:latin typeface="Arial"/>
                <a:cs typeface="Arial"/>
              </a:rPr>
              <a:t>que </a:t>
            </a:r>
            <a:r>
              <a:rPr sz="2600" spc="-229" dirty="0">
                <a:latin typeface="Arial"/>
                <a:cs typeface="Arial"/>
              </a:rPr>
              <a:t>se  </a:t>
            </a:r>
            <a:r>
              <a:rPr sz="2600" spc="-95" dirty="0">
                <a:latin typeface="Arial"/>
                <a:cs typeface="Arial"/>
              </a:rPr>
              <a:t>relacionan </a:t>
            </a:r>
            <a:r>
              <a:rPr sz="2600" spc="-130" dirty="0">
                <a:latin typeface="Arial"/>
                <a:cs typeface="Arial"/>
              </a:rPr>
              <a:t>con </a:t>
            </a:r>
            <a:r>
              <a:rPr sz="2600" spc="-95" dirty="0">
                <a:latin typeface="Arial"/>
                <a:cs typeface="Arial"/>
              </a:rPr>
              <a:t>la </a:t>
            </a:r>
            <a:r>
              <a:rPr sz="2600" spc="-110" dirty="0">
                <a:latin typeface="Arial"/>
                <a:cs typeface="Arial"/>
              </a:rPr>
              <a:t>planeación </a:t>
            </a:r>
            <a:r>
              <a:rPr sz="2600" spc="-125" dirty="0">
                <a:latin typeface="Arial"/>
                <a:cs typeface="Arial"/>
              </a:rPr>
              <a:t>y </a:t>
            </a:r>
            <a:r>
              <a:rPr sz="2600" spc="-70" dirty="0">
                <a:latin typeface="Arial"/>
                <a:cs typeface="Arial"/>
              </a:rPr>
              <a:t>el </a:t>
            </a:r>
            <a:r>
              <a:rPr sz="2600" spc="-50" dirty="0">
                <a:latin typeface="Arial"/>
                <a:cs typeface="Arial"/>
              </a:rPr>
              <a:t>control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14" dirty="0">
                <a:latin typeface="Arial"/>
                <a:cs typeface="Arial"/>
              </a:rPr>
              <a:t>los </a:t>
            </a:r>
            <a:r>
              <a:rPr sz="2600" spc="-150" dirty="0">
                <a:latin typeface="Arial"/>
                <a:cs typeface="Arial"/>
              </a:rPr>
              <a:t>procesos </a:t>
            </a:r>
            <a:r>
              <a:rPr sz="2600" spc="-120" dirty="0">
                <a:latin typeface="Arial"/>
                <a:cs typeface="Arial"/>
              </a:rPr>
              <a:t>de  </a:t>
            </a:r>
            <a:r>
              <a:rPr sz="2600" spc="-125" dirty="0">
                <a:latin typeface="Arial"/>
                <a:cs typeface="Arial"/>
              </a:rPr>
              <a:t>generación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30" dirty="0">
                <a:latin typeface="Arial"/>
                <a:cs typeface="Arial"/>
              </a:rPr>
              <a:t>bienes </a:t>
            </a:r>
            <a:r>
              <a:rPr sz="2600" spc="-125" dirty="0">
                <a:latin typeface="Arial"/>
                <a:cs typeface="Arial"/>
              </a:rPr>
              <a:t>y</a:t>
            </a:r>
            <a:r>
              <a:rPr sz="2600" spc="-170" dirty="0">
                <a:latin typeface="Arial"/>
                <a:cs typeface="Arial"/>
              </a:rPr>
              <a:t> </a:t>
            </a:r>
            <a:r>
              <a:rPr sz="2600" spc="-114" dirty="0">
                <a:latin typeface="Arial"/>
                <a:cs typeface="Arial"/>
              </a:rPr>
              <a:t>servicios.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7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0000"/>
              </a:lnSpc>
            </a:pPr>
            <a:r>
              <a:rPr sz="2600" b="1" spc="-160" dirty="0">
                <a:latin typeface="Trebuchet MS"/>
                <a:cs typeface="Trebuchet MS"/>
              </a:rPr>
              <a:t>Objetivo: </a:t>
            </a:r>
            <a:r>
              <a:rPr sz="2600" spc="-105" dirty="0">
                <a:latin typeface="Arial"/>
                <a:cs typeface="Arial"/>
              </a:rPr>
              <a:t>crear </a:t>
            </a:r>
            <a:r>
              <a:rPr sz="2600" spc="-125" dirty="0">
                <a:latin typeface="Arial"/>
                <a:cs typeface="Arial"/>
              </a:rPr>
              <a:t>una </a:t>
            </a:r>
            <a:r>
              <a:rPr sz="2600" spc="-80" dirty="0">
                <a:latin typeface="Arial"/>
                <a:cs typeface="Arial"/>
              </a:rPr>
              <a:t>red </a:t>
            </a:r>
            <a:r>
              <a:rPr sz="2600" spc="-90" dirty="0">
                <a:latin typeface="Arial"/>
                <a:cs typeface="Arial"/>
              </a:rPr>
              <a:t>rápida, </a:t>
            </a:r>
            <a:r>
              <a:rPr sz="2600" spc="-70" dirty="0">
                <a:latin typeface="Arial"/>
                <a:cs typeface="Arial"/>
              </a:rPr>
              <a:t>eficiente </a:t>
            </a:r>
            <a:r>
              <a:rPr sz="2600" spc="-125" dirty="0">
                <a:latin typeface="Arial"/>
                <a:cs typeface="Arial"/>
              </a:rPr>
              <a:t>y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80" dirty="0">
                <a:latin typeface="Arial"/>
                <a:cs typeface="Arial"/>
              </a:rPr>
              <a:t>bajo </a:t>
            </a:r>
            <a:r>
              <a:rPr sz="2600" spc="-114" dirty="0">
                <a:latin typeface="Arial"/>
                <a:cs typeface="Arial"/>
              </a:rPr>
              <a:t>costo </a:t>
            </a:r>
            <a:r>
              <a:rPr sz="2600" spc="-125" dirty="0">
                <a:latin typeface="Arial"/>
                <a:cs typeface="Arial"/>
              </a:rPr>
              <a:t>de  </a:t>
            </a:r>
            <a:r>
              <a:rPr sz="2600" spc="-160" dirty="0">
                <a:latin typeface="Arial"/>
                <a:cs typeface="Arial"/>
              </a:rPr>
              <a:t>cadena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95" dirty="0">
                <a:latin typeface="Arial"/>
                <a:cs typeface="Arial"/>
              </a:rPr>
              <a:t>suministros, </a:t>
            </a:r>
            <a:r>
              <a:rPr sz="2600" spc="-125" dirty="0">
                <a:latin typeface="Arial"/>
                <a:cs typeface="Arial"/>
              </a:rPr>
              <a:t>para </a:t>
            </a:r>
            <a:r>
              <a:rPr sz="2600" spc="-80" dirty="0">
                <a:latin typeface="Arial"/>
                <a:cs typeface="Arial"/>
              </a:rPr>
              <a:t>llevar </a:t>
            </a:r>
            <a:r>
              <a:rPr sz="2600" spc="-114" dirty="0">
                <a:latin typeface="Arial"/>
                <a:cs typeface="Arial"/>
              </a:rPr>
              <a:t>los</a:t>
            </a:r>
            <a:r>
              <a:rPr sz="2600" spc="490" dirty="0">
                <a:latin typeface="Arial"/>
                <a:cs typeface="Arial"/>
              </a:rPr>
              <a:t> </a:t>
            </a:r>
            <a:r>
              <a:rPr sz="2600" spc="-90" dirty="0">
                <a:latin typeface="Arial"/>
                <a:cs typeface="Arial"/>
              </a:rPr>
              <a:t>productos 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30" dirty="0">
                <a:latin typeface="Arial"/>
                <a:cs typeface="Arial"/>
              </a:rPr>
              <a:t>una  </a:t>
            </a:r>
            <a:r>
              <a:rPr sz="2600" spc="-140" dirty="0">
                <a:latin typeface="Arial"/>
                <a:cs typeface="Arial"/>
              </a:rPr>
              <a:t>empresa hasta </a:t>
            </a:r>
            <a:r>
              <a:rPr sz="2600" spc="-70" dirty="0">
                <a:latin typeface="Arial"/>
                <a:cs typeface="Arial"/>
              </a:rPr>
              <a:t>el</a:t>
            </a:r>
            <a:r>
              <a:rPr sz="2600" spc="-135" dirty="0">
                <a:latin typeface="Arial"/>
                <a:cs typeface="Arial"/>
              </a:rPr>
              <a:t> </a:t>
            </a:r>
            <a:r>
              <a:rPr sz="2600" spc="-120" dirty="0">
                <a:latin typeface="Arial"/>
                <a:cs typeface="Arial"/>
              </a:rPr>
              <a:t>mercado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71551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dirty="0"/>
              <a:t>SCM</a:t>
            </a:r>
            <a:r>
              <a:rPr spc="-400" dirty="0"/>
              <a:t> </a:t>
            </a:r>
            <a:r>
              <a:rPr spc="-105" dirty="0"/>
              <a:t>(Supply </a:t>
            </a:r>
            <a:r>
              <a:rPr spc="-120" dirty="0"/>
              <a:t>Chain </a:t>
            </a:r>
            <a:r>
              <a:rPr spc="-75" dirty="0"/>
              <a:t>Management)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95" dirty="0">
                <a:latin typeface="Arial"/>
                <a:cs typeface="Arial"/>
              </a:rPr>
              <a:t>Concepto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50" dirty="0">
                <a:latin typeface="Arial"/>
                <a:cs typeface="Arial"/>
              </a:rPr>
              <a:t>objetivos</a:t>
            </a:r>
            <a:r>
              <a:rPr sz="1800" b="0" spc="-8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93480" y="1219200"/>
            <a:ext cx="6287757" cy="51214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41</a:t>
            </a:fld>
            <a:endParaRPr spc="-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471551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dirty="0">
                <a:solidFill>
                  <a:srgbClr val="FFFFFF"/>
                </a:solidFill>
                <a:latin typeface="Trebuchet MS"/>
                <a:cs typeface="Trebuchet MS"/>
              </a:rPr>
              <a:t>SCM</a:t>
            </a:r>
            <a:r>
              <a:rPr sz="2000" b="1" spc="-4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05" dirty="0">
                <a:solidFill>
                  <a:srgbClr val="FFFFFF"/>
                </a:solidFill>
                <a:latin typeface="Trebuchet MS"/>
                <a:cs typeface="Trebuchet MS"/>
              </a:rPr>
              <a:t>(Supply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Chain </a:t>
            </a:r>
            <a:r>
              <a:rPr sz="2000" b="1" spc="-75" dirty="0">
                <a:solidFill>
                  <a:srgbClr val="FFFFFF"/>
                </a:solidFill>
                <a:latin typeface="Trebuchet MS"/>
                <a:cs typeface="Trebuchet MS"/>
              </a:rPr>
              <a:t>Management)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Aplicaciones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42</a:t>
            </a:fld>
            <a:endParaRPr spc="-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9268" y="1098041"/>
            <a:ext cx="534733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114" dirty="0">
                <a:solidFill>
                  <a:srgbClr val="000000"/>
                </a:solidFill>
              </a:rPr>
              <a:t>Manufactura </a:t>
            </a:r>
            <a:r>
              <a:rPr sz="2600" spc="-150" dirty="0">
                <a:solidFill>
                  <a:srgbClr val="000000"/>
                </a:solidFill>
              </a:rPr>
              <a:t>integrada </a:t>
            </a:r>
            <a:r>
              <a:rPr sz="2600" spc="-120" dirty="0">
                <a:solidFill>
                  <a:srgbClr val="000000"/>
                </a:solidFill>
              </a:rPr>
              <a:t>al</a:t>
            </a:r>
            <a:r>
              <a:rPr sz="2600" spc="-225" dirty="0">
                <a:solidFill>
                  <a:srgbClr val="000000"/>
                </a:solidFill>
              </a:rPr>
              <a:t> </a:t>
            </a:r>
            <a:r>
              <a:rPr sz="2600" spc="-150" dirty="0">
                <a:solidFill>
                  <a:srgbClr val="000000"/>
                </a:solidFill>
              </a:rPr>
              <a:t>computador:</a:t>
            </a:r>
            <a:endParaRPr sz="2600"/>
          </a:p>
        </p:txBody>
      </p:sp>
      <p:sp>
        <p:nvSpPr>
          <p:cNvPr id="4" name="object 4"/>
          <p:cNvSpPr txBox="1"/>
          <p:nvPr/>
        </p:nvSpPr>
        <p:spPr>
          <a:xfrm>
            <a:off x="239268" y="1496567"/>
            <a:ext cx="8616950" cy="472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6235" algn="l"/>
              </a:tabLst>
            </a:pPr>
            <a:r>
              <a:rPr sz="2200" i="1" u="heavy" spc="-8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Manufactura </a:t>
            </a:r>
            <a:r>
              <a:rPr sz="2200" i="1" u="heavy" spc="-1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integrada </a:t>
            </a:r>
            <a:r>
              <a:rPr sz="2200" i="1" u="heavy" spc="-114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al </a:t>
            </a:r>
            <a:r>
              <a:rPr sz="2200" i="1" u="heavy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computador </a:t>
            </a:r>
            <a:r>
              <a:rPr sz="2200" i="1" u="heavy" spc="-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(CIM)</a:t>
            </a:r>
            <a:r>
              <a:rPr sz="2200" spc="-60" dirty="0">
                <a:latin typeface="Arial"/>
                <a:cs typeface="Arial"/>
              </a:rPr>
              <a:t>: </a:t>
            </a:r>
            <a:r>
              <a:rPr sz="2200" spc="-80" dirty="0">
                <a:latin typeface="Arial"/>
                <a:cs typeface="Arial"/>
              </a:rPr>
              <a:t>Simplificar (reingeniería,  </a:t>
            </a:r>
            <a:r>
              <a:rPr sz="2200" spc="-130" dirty="0">
                <a:latin typeface="Arial"/>
                <a:cs typeface="Arial"/>
              </a:rPr>
              <a:t>procesos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80" dirty="0">
                <a:latin typeface="Arial"/>
                <a:cs typeface="Arial"/>
              </a:rPr>
              <a:t>producción, </a:t>
            </a:r>
            <a:r>
              <a:rPr sz="2200" spc="-60" dirty="0">
                <a:latin typeface="Arial"/>
                <a:cs typeface="Arial"/>
              </a:rPr>
              <a:t>layout, </a:t>
            </a:r>
            <a:r>
              <a:rPr sz="2200" spc="-120" dirty="0">
                <a:latin typeface="Arial"/>
                <a:cs typeface="Arial"/>
              </a:rPr>
              <a:t>diseños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75" dirty="0">
                <a:latin typeface="Arial"/>
                <a:cs typeface="Arial"/>
              </a:rPr>
              <a:t>productos), </a:t>
            </a:r>
            <a:r>
              <a:rPr sz="2200" spc="-70" dirty="0">
                <a:latin typeface="Arial"/>
                <a:cs typeface="Arial"/>
              </a:rPr>
              <a:t>Automatizar </a:t>
            </a:r>
            <a:r>
              <a:rPr sz="2200" spc="-130" dirty="0">
                <a:latin typeface="Arial"/>
                <a:cs typeface="Arial"/>
              </a:rPr>
              <a:t>e  </a:t>
            </a:r>
            <a:r>
              <a:rPr sz="2200" spc="-65" dirty="0">
                <a:latin typeface="Arial"/>
                <a:cs typeface="Arial"/>
              </a:rPr>
              <a:t>Integrar </a:t>
            </a:r>
            <a:r>
              <a:rPr sz="2200" spc="-70" dirty="0">
                <a:latin typeface="Arial"/>
                <a:cs typeface="Arial"/>
              </a:rPr>
              <a:t>todos </a:t>
            </a:r>
            <a:r>
              <a:rPr sz="2200" spc="-95" dirty="0">
                <a:latin typeface="Arial"/>
                <a:cs typeface="Arial"/>
              </a:rPr>
              <a:t>los </a:t>
            </a:r>
            <a:r>
              <a:rPr sz="2200" spc="-130" dirty="0">
                <a:latin typeface="Arial"/>
                <a:cs typeface="Arial"/>
              </a:rPr>
              <a:t>procesos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80" dirty="0">
                <a:latin typeface="Arial"/>
                <a:cs typeface="Arial"/>
              </a:rPr>
              <a:t>producción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114" dirty="0">
                <a:latin typeface="Arial"/>
                <a:cs typeface="Arial"/>
              </a:rPr>
              <a:t>redes </a:t>
            </a:r>
            <a:r>
              <a:rPr sz="2200" spc="-105" dirty="0">
                <a:latin typeface="Arial"/>
                <a:cs typeface="Arial"/>
              </a:rPr>
              <a:t>de  </a:t>
            </a:r>
            <a:r>
              <a:rPr sz="2200" spc="-95" dirty="0">
                <a:latin typeface="Arial"/>
                <a:cs typeface="Arial"/>
              </a:rPr>
              <a:t>telecomunicaciones. </a:t>
            </a:r>
            <a:r>
              <a:rPr sz="2200" spc="-240" dirty="0">
                <a:latin typeface="Arial"/>
                <a:cs typeface="Arial"/>
              </a:rPr>
              <a:t>La </a:t>
            </a:r>
            <a:r>
              <a:rPr sz="2200" spc="-70" dirty="0">
                <a:latin typeface="Arial"/>
                <a:cs typeface="Arial"/>
              </a:rPr>
              <a:t>meta </a:t>
            </a:r>
            <a:r>
              <a:rPr sz="2200" spc="-65" dirty="0">
                <a:latin typeface="Arial"/>
                <a:cs typeface="Arial"/>
              </a:rPr>
              <a:t>del </a:t>
            </a:r>
            <a:r>
              <a:rPr sz="2200" spc="-145" dirty="0">
                <a:latin typeface="Arial"/>
                <a:cs typeface="Arial"/>
              </a:rPr>
              <a:t>CIM </a:t>
            </a:r>
            <a:r>
              <a:rPr sz="2200" spc="-185" dirty="0">
                <a:latin typeface="Arial"/>
                <a:cs typeface="Arial"/>
              </a:rPr>
              <a:t>es </a:t>
            </a:r>
            <a:r>
              <a:rPr sz="2200" spc="-90" dirty="0">
                <a:latin typeface="Arial"/>
                <a:cs typeface="Arial"/>
              </a:rPr>
              <a:t>crear </a:t>
            </a:r>
            <a:r>
              <a:rPr sz="2200" spc="-130" dirty="0">
                <a:latin typeface="Arial"/>
                <a:cs typeface="Arial"/>
              </a:rPr>
              <a:t>procesos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80" dirty="0">
                <a:latin typeface="Arial"/>
                <a:cs typeface="Arial"/>
              </a:rPr>
              <a:t>manufactura  flexibles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114" dirty="0">
                <a:latin typeface="Arial"/>
                <a:cs typeface="Arial"/>
              </a:rPr>
              <a:t>ágiles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105" dirty="0">
                <a:latin typeface="Arial"/>
                <a:cs typeface="Arial"/>
              </a:rPr>
              <a:t>generen </a:t>
            </a:r>
            <a:r>
              <a:rPr sz="2200" spc="-80" dirty="0">
                <a:latin typeface="Arial"/>
                <a:cs typeface="Arial"/>
              </a:rPr>
              <a:t>productos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10" dirty="0">
                <a:latin typeface="Arial"/>
                <a:cs typeface="Arial"/>
              </a:rPr>
              <a:t>manera </a:t>
            </a:r>
            <a:r>
              <a:rPr sz="2200" spc="-55" dirty="0">
                <a:latin typeface="Arial"/>
                <a:cs typeface="Arial"/>
              </a:rPr>
              <a:t>eficiente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165" dirty="0">
                <a:latin typeface="Arial"/>
                <a:cs typeface="Arial"/>
              </a:rPr>
              <a:t>más  </a:t>
            </a:r>
            <a:r>
              <a:rPr sz="2200" spc="-60" dirty="0">
                <a:latin typeface="Arial"/>
                <a:cs typeface="Arial"/>
              </a:rPr>
              <a:t>alta</a:t>
            </a:r>
            <a:r>
              <a:rPr sz="2200" spc="-130" dirty="0">
                <a:latin typeface="Arial"/>
                <a:cs typeface="Arial"/>
              </a:rPr>
              <a:t> </a:t>
            </a:r>
            <a:r>
              <a:rPr sz="2200" spc="-90" dirty="0">
                <a:latin typeface="Arial"/>
                <a:cs typeface="Arial"/>
              </a:rPr>
              <a:t>calidad.</a:t>
            </a:r>
            <a:endParaRPr sz="2200">
              <a:latin typeface="Arial"/>
              <a:cs typeface="Arial"/>
            </a:endParaRPr>
          </a:p>
          <a:p>
            <a:pPr marL="355600" marR="6350" indent="-342900" algn="just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6235" algn="l"/>
              </a:tabLst>
            </a:pPr>
            <a:r>
              <a:rPr sz="2200" i="1" u="heavy" spc="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MRP </a:t>
            </a:r>
            <a:r>
              <a:rPr sz="2200" i="1" u="heavy" spc="-1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(Material </a:t>
            </a:r>
            <a:r>
              <a:rPr sz="2200" i="1" u="heavy" spc="-1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Requirements </a:t>
            </a:r>
            <a:r>
              <a:rPr sz="2200" i="1" u="heavy" spc="-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Planning)</a:t>
            </a:r>
            <a:r>
              <a:rPr sz="2200" spc="-90" dirty="0">
                <a:latin typeface="Arial"/>
                <a:cs typeface="Arial"/>
              </a:rPr>
              <a:t>: </a:t>
            </a:r>
            <a:r>
              <a:rPr sz="2200" spc="-120" dirty="0">
                <a:latin typeface="Arial"/>
                <a:cs typeface="Arial"/>
              </a:rPr>
              <a:t>Ayudan </a:t>
            </a:r>
            <a:r>
              <a:rPr sz="2200" spc="-170" dirty="0">
                <a:latin typeface="Arial"/>
                <a:cs typeface="Arial"/>
              </a:rPr>
              <a:t>a </a:t>
            </a:r>
            <a:r>
              <a:rPr sz="2200" spc="-85" dirty="0">
                <a:latin typeface="Arial"/>
                <a:cs typeface="Arial"/>
              </a:rPr>
              <a:t>planear </a:t>
            </a:r>
            <a:r>
              <a:rPr sz="2200" spc="-100" dirty="0">
                <a:latin typeface="Arial"/>
                <a:cs typeface="Arial"/>
              </a:rPr>
              <a:t>los </a:t>
            </a:r>
            <a:r>
              <a:rPr sz="2200" spc="-80" dirty="0">
                <a:latin typeface="Arial"/>
                <a:cs typeface="Arial"/>
              </a:rPr>
              <a:t>materiales  </a:t>
            </a:r>
            <a:r>
              <a:rPr sz="2200" spc="-120" dirty="0">
                <a:latin typeface="Arial"/>
                <a:cs typeface="Arial"/>
              </a:rPr>
              <a:t>necesarios </a:t>
            </a:r>
            <a:r>
              <a:rPr sz="2200" spc="-110" dirty="0">
                <a:latin typeface="Arial"/>
                <a:cs typeface="Arial"/>
              </a:rPr>
              <a:t>para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110" dirty="0">
                <a:latin typeface="Arial"/>
                <a:cs typeface="Arial"/>
              </a:rPr>
              <a:t>proceso 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spc="-210" dirty="0">
                <a:latin typeface="Arial"/>
                <a:cs typeface="Arial"/>
              </a:rPr>
              <a:t> </a:t>
            </a:r>
            <a:r>
              <a:rPr sz="2200" spc="-80" dirty="0">
                <a:latin typeface="Arial"/>
                <a:cs typeface="Arial"/>
              </a:rPr>
              <a:t>producción.</a:t>
            </a:r>
            <a:endParaRPr sz="2200">
              <a:latin typeface="Arial"/>
              <a:cs typeface="Arial"/>
            </a:endParaRPr>
          </a:p>
          <a:p>
            <a:pPr marL="355600" marR="5715" indent="-342900" algn="just">
              <a:lnSpc>
                <a:spcPct val="100000"/>
              </a:lnSpc>
              <a:buFont typeface="Arial"/>
              <a:buChar char="•"/>
              <a:tabLst>
                <a:tab pos="356235" algn="l"/>
              </a:tabLst>
            </a:pPr>
            <a:r>
              <a:rPr sz="2200" i="1" u="heavy" spc="-1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Sistemas </a:t>
            </a:r>
            <a:r>
              <a:rPr sz="2200" i="1" u="heavy" spc="-114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 </a:t>
            </a:r>
            <a:r>
              <a:rPr sz="2200" i="1" u="heavy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manufactura </a:t>
            </a:r>
            <a:r>
              <a:rPr sz="2200" i="1" u="heavy" spc="-1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asistida </a:t>
            </a:r>
            <a:r>
              <a:rPr sz="2200" i="1" u="heavy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por </a:t>
            </a:r>
            <a:r>
              <a:rPr sz="2200" i="1" u="heavy" spc="-1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computador </a:t>
            </a:r>
            <a:r>
              <a:rPr sz="2200" i="1" u="heavy" spc="-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(CAM)</a:t>
            </a:r>
            <a:r>
              <a:rPr sz="2200" spc="-60" dirty="0">
                <a:latin typeface="Arial"/>
                <a:cs typeface="Arial"/>
              </a:rPr>
              <a:t>: </a:t>
            </a:r>
            <a:r>
              <a:rPr sz="2200" spc="-130" dirty="0">
                <a:latin typeface="Arial"/>
                <a:cs typeface="Arial"/>
              </a:rPr>
              <a:t>son </a:t>
            </a:r>
            <a:r>
              <a:rPr sz="2200" spc="-95" dirty="0">
                <a:latin typeface="Arial"/>
                <a:cs typeface="Arial"/>
              </a:rPr>
              <a:t>aquellos  </a:t>
            </a:r>
            <a:r>
              <a:rPr sz="2200" spc="-90" dirty="0">
                <a:latin typeface="Arial"/>
                <a:cs typeface="Arial"/>
              </a:rPr>
              <a:t>que </a:t>
            </a:r>
            <a:r>
              <a:rPr sz="2200" spc="-80" dirty="0">
                <a:latin typeface="Arial"/>
                <a:cs typeface="Arial"/>
              </a:rPr>
              <a:t>automatizan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110" dirty="0">
                <a:latin typeface="Arial"/>
                <a:cs typeface="Arial"/>
              </a:rPr>
              <a:t>proceso 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spc="-270" dirty="0">
                <a:latin typeface="Arial"/>
                <a:cs typeface="Arial"/>
              </a:rPr>
              <a:t> </a:t>
            </a:r>
            <a:r>
              <a:rPr sz="2200" spc="-80" dirty="0">
                <a:latin typeface="Arial"/>
                <a:cs typeface="Arial"/>
              </a:rPr>
              <a:t>producción.</a:t>
            </a:r>
            <a:endParaRPr sz="220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buFont typeface="Arial"/>
              <a:buChar char="•"/>
              <a:tabLst>
                <a:tab pos="356235" algn="l"/>
              </a:tabLst>
            </a:pPr>
            <a:r>
              <a:rPr sz="2200" i="1" u="heavy" spc="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MES </a:t>
            </a:r>
            <a:r>
              <a:rPr sz="2200" i="1" u="heavy" spc="-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(Manufacturing </a:t>
            </a:r>
            <a:r>
              <a:rPr sz="2200" i="1" u="heavy" spc="-13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Execution </a:t>
            </a:r>
            <a:r>
              <a:rPr sz="2200" i="1" u="heavy" spc="-1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Systems):</a:t>
            </a:r>
            <a:r>
              <a:rPr sz="2200" i="1" spc="-125" dirty="0">
                <a:latin typeface="Trebuchet MS"/>
                <a:cs typeface="Trebuchet MS"/>
              </a:rPr>
              <a:t> </a:t>
            </a:r>
            <a:r>
              <a:rPr sz="2200" spc="-130" dirty="0">
                <a:latin typeface="Arial"/>
                <a:cs typeface="Arial"/>
              </a:rPr>
              <a:t>sistemas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60" dirty="0">
                <a:latin typeface="Arial"/>
                <a:cs typeface="Arial"/>
              </a:rPr>
              <a:t>información </a:t>
            </a:r>
            <a:r>
              <a:rPr sz="2200" spc="-100" dirty="0">
                <a:latin typeface="Arial"/>
                <a:cs typeface="Arial"/>
              </a:rPr>
              <a:t>de  </a:t>
            </a:r>
            <a:r>
              <a:rPr sz="2200" spc="-90" dirty="0">
                <a:latin typeface="Arial"/>
                <a:cs typeface="Arial"/>
              </a:rPr>
              <a:t>supervisión </a:t>
            </a:r>
            <a:r>
              <a:rPr sz="2200" spc="-65" dirty="0">
                <a:latin typeface="Arial"/>
                <a:cs typeface="Arial"/>
              </a:rPr>
              <a:t>del </a:t>
            </a:r>
            <a:r>
              <a:rPr sz="2200" spc="-114" dirty="0">
                <a:latin typeface="Arial"/>
                <a:cs typeface="Arial"/>
              </a:rPr>
              <a:t>desempeño </a:t>
            </a:r>
            <a:r>
              <a:rPr sz="2200" spc="-110" dirty="0">
                <a:latin typeface="Arial"/>
                <a:cs typeface="Arial"/>
              </a:rPr>
              <a:t>para </a:t>
            </a:r>
            <a:r>
              <a:rPr sz="2200" spc="-105" dirty="0">
                <a:latin typeface="Arial"/>
                <a:cs typeface="Arial"/>
              </a:rPr>
              <a:t>operaciones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150" dirty="0">
                <a:latin typeface="Arial"/>
                <a:cs typeface="Arial"/>
              </a:rPr>
              <a:t>zona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80" dirty="0">
                <a:latin typeface="Arial"/>
                <a:cs typeface="Arial"/>
              </a:rPr>
              <a:t>fábrica. </a:t>
            </a:r>
            <a:r>
              <a:rPr sz="2200" spc="-180" dirty="0">
                <a:latin typeface="Arial"/>
                <a:cs typeface="Arial"/>
              </a:rPr>
              <a:t>Estos  </a:t>
            </a:r>
            <a:r>
              <a:rPr sz="2200" spc="-110" dirty="0">
                <a:latin typeface="Arial"/>
                <a:cs typeface="Arial"/>
              </a:rPr>
              <a:t>supervisan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60" dirty="0">
                <a:latin typeface="Arial"/>
                <a:cs typeface="Arial"/>
              </a:rPr>
              <a:t>controlan: </a:t>
            </a:r>
            <a:r>
              <a:rPr sz="2200" spc="-80" dirty="0">
                <a:latin typeface="Arial"/>
                <a:cs typeface="Arial"/>
              </a:rPr>
              <a:t>materiales, </a:t>
            </a:r>
            <a:r>
              <a:rPr sz="2200" spc="-90" dirty="0">
                <a:latin typeface="Arial"/>
                <a:cs typeface="Arial"/>
              </a:rPr>
              <a:t>equipos, </a:t>
            </a:r>
            <a:r>
              <a:rPr sz="2200" spc="-95" dirty="0">
                <a:latin typeface="Arial"/>
                <a:cs typeface="Arial"/>
              </a:rPr>
              <a:t>personal, </a:t>
            </a:r>
            <a:r>
              <a:rPr sz="2200" spc="-90" dirty="0">
                <a:latin typeface="Arial"/>
                <a:cs typeface="Arial"/>
              </a:rPr>
              <a:t>instrucciones </a:t>
            </a:r>
            <a:r>
              <a:rPr sz="2200" spc="-105" dirty="0">
                <a:latin typeface="Arial"/>
                <a:cs typeface="Arial"/>
              </a:rPr>
              <a:t>y  especificaciones, </a:t>
            </a:r>
            <a:r>
              <a:rPr sz="2200" spc="-130" dirty="0">
                <a:latin typeface="Arial"/>
                <a:cs typeface="Arial"/>
              </a:rPr>
              <a:t>e </a:t>
            </a:r>
            <a:r>
              <a:rPr sz="2200" spc="-80" dirty="0">
                <a:latin typeface="Arial"/>
                <a:cs typeface="Arial"/>
              </a:rPr>
              <a:t>instalación 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spc="-175" dirty="0">
                <a:latin typeface="Arial"/>
                <a:cs typeface="Arial"/>
              </a:rPr>
              <a:t> </a:t>
            </a:r>
            <a:r>
              <a:rPr sz="2200" spc="-80" dirty="0">
                <a:latin typeface="Arial"/>
                <a:cs typeface="Arial"/>
              </a:rPr>
              <a:t>producción.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471551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dirty="0">
                <a:solidFill>
                  <a:srgbClr val="FFFFFF"/>
                </a:solidFill>
                <a:latin typeface="Trebuchet MS"/>
                <a:cs typeface="Trebuchet MS"/>
              </a:rPr>
              <a:t>SCM</a:t>
            </a:r>
            <a:r>
              <a:rPr sz="2000" b="1" spc="-4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05" dirty="0">
                <a:solidFill>
                  <a:srgbClr val="FFFFFF"/>
                </a:solidFill>
                <a:latin typeface="Trebuchet MS"/>
                <a:cs typeface="Trebuchet MS"/>
              </a:rPr>
              <a:t>(Supply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Chain </a:t>
            </a:r>
            <a:r>
              <a:rPr sz="2000" b="1" spc="-75" dirty="0">
                <a:solidFill>
                  <a:srgbClr val="FFFFFF"/>
                </a:solidFill>
                <a:latin typeface="Trebuchet MS"/>
                <a:cs typeface="Trebuchet MS"/>
              </a:rPr>
              <a:t>Management)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Aplicaciones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9268" y="1098041"/>
            <a:ext cx="544195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150" dirty="0">
                <a:solidFill>
                  <a:srgbClr val="000000"/>
                </a:solidFill>
              </a:rPr>
              <a:t>Redes </a:t>
            </a:r>
            <a:r>
              <a:rPr sz="2600" spc="-155" dirty="0">
                <a:solidFill>
                  <a:srgbClr val="000000"/>
                </a:solidFill>
              </a:rPr>
              <a:t>de manufactura de</a:t>
            </a:r>
            <a:r>
              <a:rPr sz="2600" spc="-305" dirty="0">
                <a:solidFill>
                  <a:srgbClr val="000000"/>
                </a:solidFill>
              </a:rPr>
              <a:t> </a:t>
            </a:r>
            <a:r>
              <a:rPr sz="2600" spc="-150" dirty="0">
                <a:solidFill>
                  <a:srgbClr val="000000"/>
                </a:solidFill>
              </a:rPr>
              <a:t>colaboración:</a:t>
            </a:r>
            <a:endParaRPr sz="260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715" indent="-342900" algn="just">
              <a:lnSpc>
                <a:spcPct val="100000"/>
              </a:lnSpc>
              <a:spcBef>
                <a:spcPts val="95"/>
              </a:spcBef>
              <a:buChar char="•"/>
              <a:tabLst>
                <a:tab pos="356235" algn="l"/>
              </a:tabLst>
            </a:pPr>
            <a:r>
              <a:rPr spc="-125" dirty="0"/>
              <a:t>Pueden </a:t>
            </a:r>
            <a:r>
              <a:rPr spc="-100" dirty="0"/>
              <a:t>enlazar </a:t>
            </a:r>
            <a:r>
              <a:rPr spc="-90" dirty="0"/>
              <a:t>los </a:t>
            </a:r>
            <a:r>
              <a:rPr spc="-95" dirty="0"/>
              <a:t>empleados </a:t>
            </a:r>
            <a:r>
              <a:rPr spc="-35" dirty="0"/>
              <a:t>dentro </a:t>
            </a:r>
            <a:r>
              <a:rPr spc="-95" dirty="0"/>
              <a:t>de una  </a:t>
            </a:r>
            <a:r>
              <a:rPr spc="-100" dirty="0"/>
              <a:t>empresa, </a:t>
            </a:r>
            <a:r>
              <a:rPr spc="-60" dirty="0"/>
              <a:t>o </a:t>
            </a:r>
            <a:r>
              <a:rPr spc="-30" dirty="0"/>
              <a:t>incluir </a:t>
            </a:r>
            <a:r>
              <a:rPr spc="-80" dirty="0"/>
              <a:t>representantes </a:t>
            </a:r>
            <a:r>
              <a:rPr spc="-95" dirty="0"/>
              <a:t>de </a:t>
            </a:r>
            <a:r>
              <a:rPr spc="-90" dirty="0"/>
              <a:t>proveedores </a:t>
            </a:r>
            <a:r>
              <a:rPr spc="-60" dirty="0"/>
              <a:t>o  </a:t>
            </a:r>
            <a:r>
              <a:rPr spc="-75" dirty="0"/>
              <a:t>clientes </a:t>
            </a:r>
            <a:r>
              <a:rPr spc="-90" dirty="0"/>
              <a:t>de </a:t>
            </a:r>
            <a:r>
              <a:rPr spc="-95" dirty="0"/>
              <a:t>una </a:t>
            </a:r>
            <a:r>
              <a:rPr spc="-110" dirty="0"/>
              <a:t>empresa </a:t>
            </a:r>
            <a:r>
              <a:rPr spc="-95" dirty="0"/>
              <a:t>en </a:t>
            </a:r>
            <a:r>
              <a:rPr spc="-60" dirty="0"/>
              <a:t>cualquier </a:t>
            </a:r>
            <a:r>
              <a:rPr spc="-45" dirty="0"/>
              <a:t>parte </a:t>
            </a:r>
            <a:r>
              <a:rPr spc="-85" dirty="0"/>
              <a:t>que  </a:t>
            </a:r>
            <a:r>
              <a:rPr spc="-90" dirty="0"/>
              <a:t>puedan</a:t>
            </a:r>
            <a:r>
              <a:rPr spc="-105" dirty="0"/>
              <a:t> </a:t>
            </a:r>
            <a:r>
              <a:rPr spc="-80" dirty="0"/>
              <a:t>encontrarse.</a:t>
            </a:r>
          </a:p>
          <a:p>
            <a:pPr marL="12700">
              <a:lnSpc>
                <a:spcPts val="3085"/>
              </a:lnSpc>
            </a:pPr>
            <a:r>
              <a:rPr sz="2600" b="1" spc="-150" dirty="0">
                <a:latin typeface="Trebuchet MS"/>
                <a:cs typeface="Trebuchet MS"/>
              </a:rPr>
              <a:t>Control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225" dirty="0">
                <a:latin typeface="Trebuchet MS"/>
                <a:cs typeface="Trebuchet MS"/>
              </a:rPr>
              <a:t> </a:t>
            </a:r>
            <a:r>
              <a:rPr sz="2600" b="1" spc="-135" dirty="0">
                <a:latin typeface="Trebuchet MS"/>
                <a:cs typeface="Trebuchet MS"/>
              </a:rPr>
              <a:t>máquinas:</a:t>
            </a:r>
            <a:endParaRPr sz="2600">
              <a:latin typeface="Trebuchet MS"/>
              <a:cs typeface="Trebuchet MS"/>
            </a:endParaRPr>
          </a:p>
          <a:p>
            <a:pPr marL="355600" marR="6985" indent="-342900" algn="just">
              <a:lnSpc>
                <a:spcPct val="100000"/>
              </a:lnSpc>
              <a:spcBef>
                <a:spcPts val="35"/>
              </a:spcBef>
              <a:buChar char="•"/>
              <a:tabLst>
                <a:tab pos="356235" algn="l"/>
              </a:tabLst>
            </a:pPr>
            <a:r>
              <a:rPr spc="-290" dirty="0"/>
              <a:t>Es </a:t>
            </a:r>
            <a:r>
              <a:rPr spc="-50" dirty="0"/>
              <a:t>el </a:t>
            </a:r>
            <a:r>
              <a:rPr spc="-120" dirty="0"/>
              <a:t>uso </a:t>
            </a:r>
            <a:r>
              <a:rPr spc="-95" dirty="0"/>
              <a:t>de </a:t>
            </a:r>
            <a:r>
              <a:rPr spc="-65" dirty="0"/>
              <a:t>un </a:t>
            </a:r>
            <a:r>
              <a:rPr spc="-60" dirty="0"/>
              <a:t>computador </a:t>
            </a:r>
            <a:r>
              <a:rPr spc="-100" dirty="0"/>
              <a:t>para </a:t>
            </a:r>
            <a:r>
              <a:rPr spc="-45" dirty="0"/>
              <a:t>controlar </a:t>
            </a:r>
            <a:r>
              <a:rPr spc="-120" dirty="0"/>
              <a:t>las  </a:t>
            </a:r>
            <a:r>
              <a:rPr spc="-114" dirty="0"/>
              <a:t>acciones </a:t>
            </a:r>
            <a:r>
              <a:rPr spc="-95" dirty="0"/>
              <a:t>de una</a:t>
            </a:r>
            <a:r>
              <a:rPr spc="-80" dirty="0"/>
              <a:t> máquina.</a:t>
            </a:r>
          </a:p>
          <a:p>
            <a:pPr marL="12700">
              <a:lnSpc>
                <a:spcPts val="3085"/>
              </a:lnSpc>
            </a:pPr>
            <a:r>
              <a:rPr sz="2600" b="1" spc="-150" dirty="0">
                <a:latin typeface="Trebuchet MS"/>
                <a:cs typeface="Trebuchet MS"/>
              </a:rPr>
              <a:t>Robótica:</a:t>
            </a:r>
            <a:endParaRPr sz="2600">
              <a:latin typeface="Trebuchet MS"/>
              <a:cs typeface="Trebuchet MS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40"/>
              </a:spcBef>
              <a:buChar char="•"/>
              <a:tabLst>
                <a:tab pos="356235" algn="l"/>
              </a:tabLst>
            </a:pPr>
            <a:r>
              <a:rPr spc="-160" dirty="0"/>
              <a:t>Estos </a:t>
            </a:r>
            <a:r>
              <a:rPr spc="-75" dirty="0"/>
              <a:t>dispositivos </a:t>
            </a:r>
            <a:r>
              <a:rPr spc="-55" dirty="0"/>
              <a:t>controlan </a:t>
            </a:r>
            <a:r>
              <a:rPr spc="-60" dirty="0"/>
              <a:t>directamente </a:t>
            </a:r>
            <a:r>
              <a:rPr spc="-175" dirty="0"/>
              <a:t>sus  </a:t>
            </a:r>
            <a:r>
              <a:rPr spc="-85" dirty="0"/>
              <a:t>propias </a:t>
            </a:r>
            <a:r>
              <a:rPr spc="-80" dirty="0"/>
              <a:t>actividades  </a:t>
            </a:r>
            <a:r>
              <a:rPr spc="-105" dirty="0"/>
              <a:t>con </a:t>
            </a:r>
            <a:r>
              <a:rPr spc="-75" dirty="0"/>
              <a:t>la </a:t>
            </a:r>
            <a:r>
              <a:rPr spc="-114" dirty="0"/>
              <a:t>ayuda </a:t>
            </a:r>
            <a:r>
              <a:rPr spc="-90" dirty="0"/>
              <a:t>de  </a:t>
            </a:r>
            <a:r>
              <a:rPr spc="-75" dirty="0"/>
              <a:t>microcomputadores. </a:t>
            </a:r>
            <a:r>
              <a:rPr spc="-215" dirty="0"/>
              <a:t>La </a:t>
            </a:r>
            <a:r>
              <a:rPr spc="-50" dirty="0"/>
              <a:t>robótica </a:t>
            </a:r>
            <a:r>
              <a:rPr spc="-170" dirty="0"/>
              <a:t>es </a:t>
            </a:r>
            <a:r>
              <a:rPr spc="-75" dirty="0"/>
              <a:t>la </a:t>
            </a:r>
            <a:r>
              <a:rPr spc="-80" dirty="0"/>
              <a:t>tecnología </a:t>
            </a:r>
            <a:r>
              <a:rPr spc="-95" dirty="0"/>
              <a:t>de  </a:t>
            </a:r>
            <a:r>
              <a:rPr spc="-70" dirty="0"/>
              <a:t>la </a:t>
            </a:r>
            <a:r>
              <a:rPr spc="-75" dirty="0"/>
              <a:t>construcción </a:t>
            </a:r>
            <a:r>
              <a:rPr spc="-95" dirty="0"/>
              <a:t>y </a:t>
            </a:r>
            <a:r>
              <a:rPr spc="-55" dirty="0"/>
              <a:t>el </a:t>
            </a:r>
            <a:r>
              <a:rPr spc="-120" dirty="0"/>
              <a:t>uso </a:t>
            </a:r>
            <a:r>
              <a:rPr spc="-95" dirty="0"/>
              <a:t>de máquinas </a:t>
            </a:r>
            <a:r>
              <a:rPr spc="-55" dirty="0"/>
              <a:t>(robots) </a:t>
            </a:r>
            <a:r>
              <a:rPr spc="-100" dirty="0"/>
              <a:t>con  </a:t>
            </a:r>
            <a:r>
              <a:rPr spc="-60" dirty="0"/>
              <a:t>inteligencia </a:t>
            </a:r>
            <a:r>
              <a:rPr spc="-70" dirty="0"/>
              <a:t>computacional </a:t>
            </a:r>
            <a:r>
              <a:rPr spc="-100" dirty="0"/>
              <a:t>y </a:t>
            </a:r>
            <a:r>
              <a:rPr spc="-120" dirty="0"/>
              <a:t>capacidades </a:t>
            </a:r>
            <a:r>
              <a:rPr spc="-114" dirty="0"/>
              <a:t>físicas  </a:t>
            </a:r>
            <a:r>
              <a:rPr spc="-80" dirty="0"/>
              <a:t>similares </a:t>
            </a:r>
            <a:r>
              <a:rPr spc="-160" dirty="0"/>
              <a:t>a </a:t>
            </a:r>
            <a:r>
              <a:rPr spc="-120" dirty="0"/>
              <a:t>las </a:t>
            </a:r>
            <a:r>
              <a:rPr spc="-90" dirty="0"/>
              <a:t>de los </a:t>
            </a:r>
            <a:r>
              <a:rPr spc="-105" dirty="0"/>
              <a:t>humanos </a:t>
            </a:r>
            <a:r>
              <a:rPr spc="-100" dirty="0"/>
              <a:t>y </a:t>
            </a:r>
            <a:r>
              <a:rPr spc="-80" dirty="0"/>
              <a:t>controladas </a:t>
            </a:r>
            <a:r>
              <a:rPr spc="-35" dirty="0"/>
              <a:t>por  </a:t>
            </a:r>
            <a:r>
              <a:rPr spc="-60" dirty="0"/>
              <a:t>computador </a:t>
            </a:r>
            <a:r>
              <a:rPr spc="-100" dirty="0"/>
              <a:t>(destreza, </a:t>
            </a:r>
            <a:r>
              <a:rPr spc="-50" dirty="0"/>
              <a:t>movimiento, </a:t>
            </a:r>
            <a:r>
              <a:rPr spc="-75" dirty="0"/>
              <a:t>visión,</a:t>
            </a:r>
            <a:r>
              <a:rPr spc="-155" dirty="0"/>
              <a:t> </a:t>
            </a:r>
            <a:r>
              <a:rPr spc="-65" dirty="0"/>
              <a:t>etc.).</a:t>
            </a:r>
          </a:p>
        </p:txBody>
      </p:sp>
      <p:sp>
        <p:nvSpPr>
          <p:cNvPr id="5" name="object 5"/>
          <p:cNvSpPr/>
          <p:nvPr/>
        </p:nvSpPr>
        <p:spPr>
          <a:xfrm>
            <a:off x="6201917" y="1194816"/>
            <a:ext cx="2628899" cy="34785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3441" y="4613909"/>
            <a:ext cx="2622804" cy="16482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43</a:t>
            </a:fld>
            <a:endParaRPr spc="-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471551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dirty="0">
                <a:solidFill>
                  <a:srgbClr val="FFFFFF"/>
                </a:solidFill>
                <a:latin typeface="Trebuchet MS"/>
                <a:cs typeface="Trebuchet MS"/>
              </a:rPr>
              <a:t>SCM</a:t>
            </a:r>
            <a:r>
              <a:rPr sz="2000" b="1" spc="-4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05" dirty="0">
                <a:solidFill>
                  <a:srgbClr val="FFFFFF"/>
                </a:solidFill>
                <a:latin typeface="Trebuchet MS"/>
                <a:cs typeface="Trebuchet MS"/>
              </a:rPr>
              <a:t>(Supply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Chain </a:t>
            </a:r>
            <a:r>
              <a:rPr sz="2000" b="1" spc="-75" dirty="0">
                <a:solidFill>
                  <a:srgbClr val="FFFFFF"/>
                </a:solidFill>
                <a:latin typeface="Trebuchet MS"/>
                <a:cs typeface="Trebuchet MS"/>
              </a:rPr>
              <a:t>Management)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Aplicaciones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9268" y="1098041"/>
            <a:ext cx="572960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140" dirty="0">
                <a:solidFill>
                  <a:srgbClr val="000000"/>
                </a:solidFill>
              </a:rPr>
              <a:t>Ingeniería </a:t>
            </a:r>
            <a:r>
              <a:rPr sz="2600" spc="-120" dirty="0">
                <a:solidFill>
                  <a:srgbClr val="000000"/>
                </a:solidFill>
              </a:rPr>
              <a:t>asistida </a:t>
            </a:r>
            <a:r>
              <a:rPr sz="2600" spc="-130" dirty="0">
                <a:solidFill>
                  <a:srgbClr val="000000"/>
                </a:solidFill>
              </a:rPr>
              <a:t>por </a:t>
            </a:r>
            <a:r>
              <a:rPr sz="2600" spc="-140" dirty="0">
                <a:solidFill>
                  <a:srgbClr val="000000"/>
                </a:solidFill>
              </a:rPr>
              <a:t>computador</a:t>
            </a:r>
            <a:r>
              <a:rPr sz="2600" spc="-310" dirty="0">
                <a:solidFill>
                  <a:srgbClr val="000000"/>
                </a:solidFill>
              </a:rPr>
              <a:t> </a:t>
            </a:r>
            <a:r>
              <a:rPr sz="2600" spc="-175" dirty="0">
                <a:solidFill>
                  <a:srgbClr val="000000"/>
                </a:solidFill>
              </a:rPr>
              <a:t>(CAE):</a:t>
            </a:r>
            <a:endParaRPr sz="2600"/>
          </a:p>
        </p:txBody>
      </p:sp>
      <p:sp>
        <p:nvSpPr>
          <p:cNvPr id="4" name="object 4"/>
          <p:cNvSpPr txBox="1"/>
          <p:nvPr/>
        </p:nvSpPr>
        <p:spPr>
          <a:xfrm>
            <a:off x="239268" y="1892807"/>
            <a:ext cx="5794375" cy="3378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200" spc="-320" dirty="0">
                <a:latin typeface="Arial"/>
                <a:cs typeface="Arial"/>
              </a:rPr>
              <a:t>Es </a:t>
            </a:r>
            <a:r>
              <a:rPr sz="2200" spc="-70" dirty="0">
                <a:latin typeface="Arial"/>
                <a:cs typeface="Arial"/>
              </a:rPr>
              <a:t>utilizada </a:t>
            </a:r>
            <a:r>
              <a:rPr sz="2200" spc="-35" dirty="0">
                <a:latin typeface="Arial"/>
                <a:cs typeface="Arial"/>
              </a:rPr>
              <a:t>por </a:t>
            </a:r>
            <a:r>
              <a:rPr sz="2200" spc="-95" dirty="0">
                <a:latin typeface="Arial"/>
                <a:cs typeface="Arial"/>
              </a:rPr>
              <a:t>los ingenieros </a:t>
            </a:r>
            <a:r>
              <a:rPr sz="2200" spc="-110" dirty="0">
                <a:latin typeface="Arial"/>
                <a:cs typeface="Arial"/>
              </a:rPr>
              <a:t>para </a:t>
            </a:r>
            <a:r>
              <a:rPr sz="2200" spc="-80" dirty="0">
                <a:latin typeface="Arial"/>
                <a:cs typeface="Arial"/>
              </a:rPr>
              <a:t>estimular,  </a:t>
            </a:r>
            <a:r>
              <a:rPr sz="2200" spc="-105" dirty="0">
                <a:latin typeface="Arial"/>
                <a:cs typeface="Arial"/>
              </a:rPr>
              <a:t>analizar y </a:t>
            </a:r>
            <a:r>
              <a:rPr sz="2200" spc="-95" dirty="0">
                <a:latin typeface="Arial"/>
                <a:cs typeface="Arial"/>
              </a:rPr>
              <a:t>evaluar los </a:t>
            </a:r>
            <a:r>
              <a:rPr sz="2200" spc="-90" dirty="0">
                <a:latin typeface="Arial"/>
                <a:cs typeface="Arial"/>
              </a:rPr>
              <a:t>modelos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20" dirty="0">
                <a:latin typeface="Arial"/>
                <a:cs typeface="Arial"/>
              </a:rPr>
              <a:t>diseños </a:t>
            </a:r>
            <a:r>
              <a:rPr sz="2200" spc="-100" dirty="0">
                <a:latin typeface="Arial"/>
                <a:cs typeface="Arial"/>
              </a:rPr>
              <a:t>de  </a:t>
            </a:r>
            <a:r>
              <a:rPr sz="2200" spc="-80" dirty="0">
                <a:latin typeface="Arial"/>
                <a:cs typeface="Arial"/>
              </a:rPr>
              <a:t>productos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190" dirty="0">
                <a:latin typeface="Arial"/>
                <a:cs typeface="Arial"/>
              </a:rPr>
              <a:t>se </a:t>
            </a:r>
            <a:r>
              <a:rPr sz="2200" spc="-105" dirty="0">
                <a:latin typeface="Arial"/>
                <a:cs typeface="Arial"/>
              </a:rPr>
              <a:t>han </a:t>
            </a:r>
            <a:r>
              <a:rPr sz="2200" spc="-85" dirty="0">
                <a:latin typeface="Arial"/>
                <a:cs typeface="Arial"/>
              </a:rPr>
              <a:t>desarrollado </a:t>
            </a:r>
            <a:r>
              <a:rPr sz="2200" spc="-60" dirty="0">
                <a:latin typeface="Arial"/>
                <a:cs typeface="Arial"/>
              </a:rPr>
              <a:t>utilizando  </a:t>
            </a:r>
            <a:r>
              <a:rPr sz="2200" spc="-80" dirty="0">
                <a:latin typeface="Arial"/>
                <a:cs typeface="Arial"/>
              </a:rPr>
              <a:t>métodos </a:t>
            </a:r>
            <a:r>
              <a:rPr sz="2200" spc="-100" dirty="0">
                <a:latin typeface="Arial"/>
                <a:cs typeface="Arial"/>
              </a:rPr>
              <a:t>de diseño </a:t>
            </a:r>
            <a:r>
              <a:rPr sz="2200" spc="-85" dirty="0">
                <a:latin typeface="Arial"/>
                <a:cs typeface="Arial"/>
              </a:rPr>
              <a:t>asistido </a:t>
            </a:r>
            <a:r>
              <a:rPr sz="2200" spc="-35" dirty="0">
                <a:latin typeface="Arial"/>
                <a:cs typeface="Arial"/>
              </a:rPr>
              <a:t>por </a:t>
            </a:r>
            <a:r>
              <a:rPr sz="2200" spc="-70" dirty="0">
                <a:latin typeface="Arial"/>
                <a:cs typeface="Arial"/>
              </a:rPr>
              <a:t>computador  </a:t>
            </a:r>
            <a:r>
              <a:rPr sz="2200" spc="-180" dirty="0">
                <a:latin typeface="Arial"/>
                <a:cs typeface="Arial"/>
              </a:rPr>
              <a:t>(CAD). </a:t>
            </a:r>
            <a:r>
              <a:rPr sz="2200" spc="-204" dirty="0">
                <a:latin typeface="Arial"/>
                <a:cs typeface="Arial"/>
              </a:rPr>
              <a:t>Los </a:t>
            </a:r>
            <a:r>
              <a:rPr sz="2200" spc="-105" dirty="0">
                <a:latin typeface="Arial"/>
                <a:cs typeface="Arial"/>
              </a:rPr>
              <a:t>paquetes </a:t>
            </a:r>
            <a:r>
              <a:rPr sz="2200" spc="-285" dirty="0">
                <a:latin typeface="Arial"/>
                <a:cs typeface="Arial"/>
              </a:rPr>
              <a:t>CAD </a:t>
            </a:r>
            <a:r>
              <a:rPr sz="2200" spc="-75" dirty="0">
                <a:latin typeface="Arial"/>
                <a:cs typeface="Arial"/>
              </a:rPr>
              <a:t>proporcionan </a:t>
            </a:r>
            <a:r>
              <a:rPr sz="2200" spc="-105" dirty="0">
                <a:latin typeface="Arial"/>
                <a:cs typeface="Arial"/>
              </a:rPr>
              <a:t>gráficos  </a:t>
            </a:r>
            <a:r>
              <a:rPr sz="2200" spc="-95" dirty="0">
                <a:latin typeface="Arial"/>
                <a:cs typeface="Arial"/>
              </a:rPr>
              <a:t>computacionales </a:t>
            </a:r>
            <a:r>
              <a:rPr sz="2200" spc="-70" dirty="0">
                <a:latin typeface="Arial"/>
                <a:cs typeface="Arial"/>
              </a:rPr>
              <a:t>tridimensionales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45" dirty="0">
                <a:latin typeface="Arial"/>
                <a:cs typeface="Arial"/>
              </a:rPr>
              <a:t>permiten  </a:t>
            </a:r>
            <a:r>
              <a:rPr sz="2200" spc="-75" dirty="0">
                <a:latin typeface="Arial"/>
                <a:cs typeface="Arial"/>
              </a:rPr>
              <a:t>ver </a:t>
            </a:r>
            <a:r>
              <a:rPr sz="2200" spc="-130" dirty="0">
                <a:latin typeface="Arial"/>
                <a:cs typeface="Arial"/>
              </a:rPr>
              <a:t>desde </a:t>
            </a:r>
            <a:r>
              <a:rPr sz="2200" spc="-70" dirty="0">
                <a:latin typeface="Arial"/>
                <a:cs typeface="Arial"/>
              </a:rPr>
              <a:t>todos </a:t>
            </a:r>
            <a:r>
              <a:rPr sz="2200" spc="-100" dirty="0">
                <a:latin typeface="Arial"/>
                <a:cs typeface="Arial"/>
              </a:rPr>
              <a:t>los </a:t>
            </a:r>
            <a:r>
              <a:rPr sz="2200" spc="-114" dirty="0">
                <a:latin typeface="Arial"/>
                <a:cs typeface="Arial"/>
              </a:rPr>
              <a:t>ángulos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35" dirty="0">
                <a:latin typeface="Arial"/>
                <a:cs typeface="Arial"/>
              </a:rPr>
              <a:t>objeto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190" dirty="0">
                <a:latin typeface="Arial"/>
                <a:cs typeface="Arial"/>
              </a:rPr>
              <a:t>se </a:t>
            </a:r>
            <a:r>
              <a:rPr sz="2200" spc="-114" dirty="0">
                <a:latin typeface="Arial"/>
                <a:cs typeface="Arial"/>
              </a:rPr>
              <a:t>está  </a:t>
            </a:r>
            <a:r>
              <a:rPr sz="2200" spc="-100" dirty="0">
                <a:latin typeface="Arial"/>
                <a:cs typeface="Arial"/>
              </a:rPr>
              <a:t>diseñando. </a:t>
            </a:r>
            <a:r>
              <a:rPr sz="2200" spc="-150" dirty="0">
                <a:latin typeface="Arial"/>
                <a:cs typeface="Arial"/>
              </a:rPr>
              <a:t>Puede </a:t>
            </a:r>
            <a:r>
              <a:rPr sz="2200" spc="-105" dirty="0">
                <a:latin typeface="Arial"/>
                <a:cs typeface="Arial"/>
              </a:rPr>
              <a:t>hacer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85" dirty="0">
                <a:latin typeface="Arial"/>
                <a:cs typeface="Arial"/>
              </a:rPr>
              <a:t>partes </a:t>
            </a:r>
            <a:r>
              <a:rPr sz="2200" spc="-65" dirty="0">
                <a:latin typeface="Arial"/>
                <a:cs typeface="Arial"/>
              </a:rPr>
              <a:t>del </a:t>
            </a:r>
            <a:r>
              <a:rPr sz="2200" spc="-55" dirty="0">
                <a:latin typeface="Arial"/>
                <a:cs typeface="Arial"/>
              </a:rPr>
              <a:t>producto  </a:t>
            </a:r>
            <a:r>
              <a:rPr sz="2200" spc="-140" dirty="0">
                <a:latin typeface="Arial"/>
                <a:cs typeface="Arial"/>
              </a:rPr>
              <a:t>parezcan </a:t>
            </a:r>
            <a:r>
              <a:rPr sz="2200" spc="-114" dirty="0">
                <a:latin typeface="Arial"/>
                <a:cs typeface="Arial"/>
              </a:rPr>
              <a:t>moverse </a:t>
            </a:r>
            <a:r>
              <a:rPr sz="2200" spc="-100" dirty="0">
                <a:latin typeface="Arial"/>
                <a:cs typeface="Arial"/>
              </a:rPr>
              <a:t>como </a:t>
            </a:r>
            <a:r>
              <a:rPr sz="2200" spc="-114" dirty="0">
                <a:latin typeface="Arial"/>
                <a:cs typeface="Arial"/>
              </a:rPr>
              <a:t>si </a:t>
            </a:r>
            <a:r>
              <a:rPr sz="2200" spc="-85" dirty="0">
                <a:latin typeface="Arial"/>
                <a:cs typeface="Arial"/>
              </a:rPr>
              <a:t>estuvieran </a:t>
            </a:r>
            <a:r>
              <a:rPr sz="2200" spc="-90" dirty="0">
                <a:latin typeface="Arial"/>
                <a:cs typeface="Arial"/>
              </a:rPr>
              <a:t>operando  </a:t>
            </a:r>
            <a:r>
              <a:rPr sz="2200" spc="-65" dirty="0">
                <a:latin typeface="Arial"/>
                <a:cs typeface="Arial"/>
              </a:rPr>
              <a:t>normalmente </a:t>
            </a:r>
            <a:r>
              <a:rPr sz="2200" spc="-90" dirty="0">
                <a:latin typeface="Arial"/>
                <a:cs typeface="Arial"/>
              </a:rPr>
              <a:t>(esto </a:t>
            </a:r>
            <a:r>
              <a:rPr sz="2200" spc="-40" dirty="0">
                <a:latin typeface="Arial"/>
                <a:cs typeface="Arial"/>
              </a:rPr>
              <a:t>permite </a:t>
            </a:r>
            <a:r>
              <a:rPr sz="2200" spc="-60" dirty="0">
                <a:latin typeface="Arial"/>
                <a:cs typeface="Arial"/>
              </a:rPr>
              <a:t>detectar</a:t>
            </a:r>
            <a:r>
              <a:rPr sz="2200" spc="-275" dirty="0">
                <a:latin typeface="Arial"/>
                <a:cs typeface="Arial"/>
              </a:rPr>
              <a:t> </a:t>
            </a:r>
            <a:r>
              <a:rPr sz="2200" spc="-85" dirty="0">
                <a:latin typeface="Arial"/>
                <a:cs typeface="Arial"/>
              </a:rPr>
              <a:t>fallas).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14515" y="1155953"/>
            <a:ext cx="2429256" cy="36636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40423" y="4819650"/>
            <a:ext cx="2403348" cy="15057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44</a:t>
            </a:fld>
            <a:endParaRPr spc="-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71551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dirty="0"/>
              <a:t>SCM</a:t>
            </a:r>
            <a:r>
              <a:rPr spc="-400" dirty="0"/>
              <a:t> </a:t>
            </a:r>
            <a:r>
              <a:rPr spc="-105" dirty="0"/>
              <a:t>(Supply </a:t>
            </a:r>
            <a:r>
              <a:rPr spc="-120" dirty="0"/>
              <a:t>Chain </a:t>
            </a:r>
            <a:r>
              <a:rPr spc="-75" dirty="0"/>
              <a:t>Management)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25" dirty="0">
                <a:latin typeface="Arial"/>
                <a:cs typeface="Arial"/>
              </a:rPr>
              <a:t>Procesos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70" dirty="0">
                <a:latin typeface="Arial"/>
                <a:cs typeface="Arial"/>
              </a:rPr>
              <a:t>módulos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65" dirty="0">
                <a:latin typeface="Arial"/>
                <a:cs typeface="Arial"/>
              </a:rPr>
              <a:t>gestión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8912" y="1428750"/>
            <a:ext cx="8266176" cy="45910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45</a:t>
            </a:fld>
            <a:endParaRPr spc="-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268" y="193801"/>
            <a:ext cx="6250940" cy="1604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dirty="0">
                <a:solidFill>
                  <a:srgbClr val="FFFFFF"/>
                </a:solidFill>
                <a:latin typeface="Trebuchet MS"/>
                <a:cs typeface="Trebuchet MS"/>
              </a:rPr>
              <a:t>SCM </a:t>
            </a:r>
            <a:r>
              <a:rPr sz="2000" b="1" spc="-105" dirty="0">
                <a:solidFill>
                  <a:srgbClr val="FFFFFF"/>
                </a:solidFill>
                <a:latin typeface="Trebuchet MS"/>
                <a:cs typeface="Trebuchet MS"/>
              </a:rPr>
              <a:t>(Supply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Chain </a:t>
            </a:r>
            <a:r>
              <a:rPr sz="2000" b="1" spc="-75" dirty="0">
                <a:solidFill>
                  <a:srgbClr val="FFFFFF"/>
                </a:solidFill>
                <a:latin typeface="Trebuchet MS"/>
                <a:cs typeface="Trebuchet MS"/>
              </a:rPr>
              <a:t>Management)</a:t>
            </a:r>
            <a:r>
              <a:rPr sz="2000" b="1" spc="-4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125" dirty="0">
                <a:solidFill>
                  <a:srgbClr val="FFFFFF"/>
                </a:solidFill>
                <a:latin typeface="Arial"/>
                <a:cs typeface="Arial"/>
              </a:rPr>
              <a:t>Procesos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módulos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gestión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400" b="1" spc="-35" dirty="0">
                <a:latin typeface="Trebuchet MS"/>
                <a:cs typeface="Trebuchet MS"/>
              </a:rPr>
              <a:t>Módulo </a:t>
            </a:r>
            <a:r>
              <a:rPr sz="2400" b="1" spc="-140" dirty="0">
                <a:latin typeface="Trebuchet MS"/>
                <a:cs typeface="Trebuchet MS"/>
              </a:rPr>
              <a:t>de </a:t>
            </a:r>
            <a:r>
              <a:rPr sz="2400" b="1" spc="-120" dirty="0">
                <a:latin typeface="Trebuchet MS"/>
                <a:cs typeface="Trebuchet MS"/>
              </a:rPr>
              <a:t>compromiso </a:t>
            </a:r>
            <a:r>
              <a:rPr sz="2400" b="1" spc="-140" dirty="0">
                <a:latin typeface="Trebuchet MS"/>
                <a:cs typeface="Trebuchet MS"/>
              </a:rPr>
              <a:t>de</a:t>
            </a:r>
            <a:r>
              <a:rPr sz="2400" b="1" spc="-500" dirty="0">
                <a:latin typeface="Trebuchet MS"/>
                <a:cs typeface="Trebuchet MS"/>
              </a:rPr>
              <a:t> </a:t>
            </a:r>
            <a:r>
              <a:rPr sz="2400" b="1" spc="-110" dirty="0">
                <a:latin typeface="Trebuchet MS"/>
                <a:cs typeface="Trebuchet MS"/>
              </a:rPr>
              <a:t>pedidos</a:t>
            </a:r>
            <a:endParaRPr sz="2400">
              <a:latin typeface="Trebuchet MS"/>
              <a:cs typeface="Trebuchet MS"/>
            </a:endParaRPr>
          </a:p>
          <a:p>
            <a:pPr marL="984250" lvl="1" indent="-514350">
              <a:lnSpc>
                <a:spcPct val="100000"/>
              </a:lnSpc>
              <a:spcBef>
                <a:spcPts val="30"/>
              </a:spcBef>
              <a:buChar char="•"/>
              <a:tabLst>
                <a:tab pos="984250" algn="l"/>
                <a:tab pos="984885" algn="l"/>
              </a:tabLst>
            </a:pPr>
            <a:r>
              <a:rPr sz="2000" spc="-75" dirty="0">
                <a:latin typeface="Arial"/>
                <a:cs typeface="Arial"/>
              </a:rPr>
              <a:t>Permite </a:t>
            </a:r>
            <a:r>
              <a:rPr sz="2000" spc="-70" dirty="0">
                <a:latin typeface="Arial"/>
                <a:cs typeface="Arial"/>
              </a:rPr>
              <a:t>dar </a:t>
            </a:r>
            <a:r>
              <a:rPr sz="2000" spc="-120" dirty="0">
                <a:latin typeface="Arial"/>
                <a:cs typeface="Arial"/>
              </a:rPr>
              <a:t>fechas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85" dirty="0">
                <a:latin typeface="Arial"/>
                <a:cs typeface="Arial"/>
              </a:rPr>
              <a:t>entrega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90" dirty="0">
                <a:latin typeface="Arial"/>
                <a:cs typeface="Arial"/>
              </a:rPr>
              <a:t>pedidos </a:t>
            </a:r>
            <a:r>
              <a:rPr sz="2000" spc="-105" dirty="0">
                <a:latin typeface="Arial"/>
                <a:cs typeface="Arial"/>
              </a:rPr>
              <a:t>precisas;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46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239268" y="1769364"/>
            <a:ext cx="5936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7050" algn="l"/>
                <a:tab pos="1773555" algn="l"/>
                <a:tab pos="2340610" algn="l"/>
                <a:tab pos="4347210" algn="l"/>
                <a:tab pos="5779135" algn="l"/>
              </a:tabLst>
            </a:pPr>
            <a:r>
              <a:rPr sz="2400" b="1" spc="-270" dirty="0">
                <a:latin typeface="Trebuchet MS"/>
                <a:cs typeface="Trebuchet MS"/>
              </a:rPr>
              <a:t>2</a:t>
            </a:r>
            <a:r>
              <a:rPr sz="2400" b="1" spc="-170" dirty="0">
                <a:latin typeface="Trebuchet MS"/>
                <a:cs typeface="Trebuchet MS"/>
              </a:rPr>
              <a:t>.</a:t>
            </a:r>
            <a:r>
              <a:rPr sz="2400" b="1" dirty="0">
                <a:latin typeface="Trebuchet MS"/>
                <a:cs typeface="Trebuchet MS"/>
              </a:rPr>
              <a:t>	</a:t>
            </a:r>
            <a:r>
              <a:rPr sz="2400" b="1" spc="-35" dirty="0">
                <a:latin typeface="Trebuchet MS"/>
                <a:cs typeface="Trebuchet MS"/>
              </a:rPr>
              <a:t>Módulo</a:t>
            </a:r>
            <a:r>
              <a:rPr sz="2400" b="1" dirty="0">
                <a:latin typeface="Trebuchet MS"/>
                <a:cs typeface="Trebuchet MS"/>
              </a:rPr>
              <a:t>	</a:t>
            </a:r>
            <a:r>
              <a:rPr sz="2400" b="1" spc="-145" dirty="0">
                <a:latin typeface="Trebuchet MS"/>
                <a:cs typeface="Trebuchet MS"/>
              </a:rPr>
              <a:t>d</a:t>
            </a:r>
            <a:r>
              <a:rPr sz="2400" b="1" spc="-140" dirty="0">
                <a:latin typeface="Trebuchet MS"/>
                <a:cs typeface="Trebuchet MS"/>
              </a:rPr>
              <a:t>e</a:t>
            </a:r>
            <a:r>
              <a:rPr sz="2400" b="1" dirty="0">
                <a:latin typeface="Trebuchet MS"/>
                <a:cs typeface="Trebuchet MS"/>
              </a:rPr>
              <a:t>	</a:t>
            </a:r>
            <a:r>
              <a:rPr sz="2400" b="1" spc="-165" dirty="0">
                <a:latin typeface="Trebuchet MS"/>
                <a:cs typeface="Trebuchet MS"/>
              </a:rPr>
              <a:t>p</a:t>
            </a:r>
            <a:r>
              <a:rPr sz="2400" b="1" spc="-150" dirty="0">
                <a:latin typeface="Trebuchet MS"/>
                <a:cs typeface="Trebuchet MS"/>
              </a:rPr>
              <a:t>r</a:t>
            </a:r>
            <a:r>
              <a:rPr sz="2400" b="1" spc="-110" dirty="0">
                <a:latin typeface="Trebuchet MS"/>
                <a:cs typeface="Trebuchet MS"/>
              </a:rPr>
              <a:t>og</a:t>
            </a:r>
            <a:r>
              <a:rPr sz="2400" b="1" spc="-145" dirty="0">
                <a:latin typeface="Trebuchet MS"/>
                <a:cs typeface="Trebuchet MS"/>
              </a:rPr>
              <a:t>r</a:t>
            </a:r>
            <a:r>
              <a:rPr sz="2400" b="1" spc="-110" dirty="0">
                <a:latin typeface="Trebuchet MS"/>
                <a:cs typeface="Trebuchet MS"/>
              </a:rPr>
              <a:t>am</a:t>
            </a:r>
            <a:r>
              <a:rPr sz="2400" b="1" spc="-95" dirty="0">
                <a:latin typeface="Trebuchet MS"/>
                <a:cs typeface="Trebuchet MS"/>
              </a:rPr>
              <a:t>a</a:t>
            </a:r>
            <a:r>
              <a:rPr sz="2400" b="1" spc="-135" dirty="0">
                <a:latin typeface="Trebuchet MS"/>
                <a:cs typeface="Trebuchet MS"/>
              </a:rPr>
              <a:t>ció</a:t>
            </a:r>
            <a:r>
              <a:rPr sz="2400" b="1" spc="-165" dirty="0">
                <a:latin typeface="Trebuchet MS"/>
                <a:cs typeface="Trebuchet MS"/>
              </a:rPr>
              <a:t>n</a:t>
            </a:r>
            <a:r>
              <a:rPr sz="2400" b="1" dirty="0">
                <a:latin typeface="Trebuchet MS"/>
                <a:cs typeface="Trebuchet MS"/>
              </a:rPr>
              <a:t>	</a:t>
            </a:r>
            <a:r>
              <a:rPr sz="2400" b="1" spc="-135" dirty="0">
                <a:latin typeface="Trebuchet MS"/>
                <a:cs typeface="Trebuchet MS"/>
              </a:rPr>
              <a:t>a</a:t>
            </a:r>
            <a:r>
              <a:rPr sz="2400" b="1" spc="-170" dirty="0">
                <a:latin typeface="Trebuchet MS"/>
                <a:cs typeface="Trebuchet MS"/>
              </a:rPr>
              <a:t>v</a:t>
            </a:r>
            <a:r>
              <a:rPr sz="2400" b="1" spc="-185" dirty="0">
                <a:latin typeface="Trebuchet MS"/>
                <a:cs typeface="Trebuchet MS"/>
              </a:rPr>
              <a:t>an</a:t>
            </a:r>
            <a:r>
              <a:rPr sz="2400" b="1" spc="-210" dirty="0">
                <a:latin typeface="Trebuchet MS"/>
                <a:cs typeface="Trebuchet MS"/>
              </a:rPr>
              <a:t>z</a:t>
            </a:r>
            <a:r>
              <a:rPr sz="2400" b="1" spc="-100" dirty="0">
                <a:latin typeface="Trebuchet MS"/>
                <a:cs typeface="Trebuchet MS"/>
              </a:rPr>
              <a:t>ada</a:t>
            </a:r>
            <a:r>
              <a:rPr sz="2400" b="1" dirty="0">
                <a:latin typeface="Trebuchet MS"/>
                <a:cs typeface="Trebuchet MS"/>
              </a:rPr>
              <a:t>	</a:t>
            </a:r>
            <a:r>
              <a:rPr sz="2400" b="1" spc="-145" dirty="0">
                <a:latin typeface="Trebuchet MS"/>
                <a:cs typeface="Trebuchet MS"/>
              </a:rPr>
              <a:t>y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01308" y="1769364"/>
            <a:ext cx="2453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8460" algn="l"/>
                <a:tab pos="2215515" algn="l"/>
              </a:tabLst>
            </a:pPr>
            <a:r>
              <a:rPr sz="2400" b="1" spc="-130" dirty="0">
                <a:latin typeface="Trebuchet MS"/>
                <a:cs typeface="Trebuchet MS"/>
              </a:rPr>
              <a:t>planeación	</a:t>
            </a:r>
            <a:r>
              <a:rPr sz="2400" b="1" spc="-145" dirty="0">
                <a:latin typeface="Trebuchet MS"/>
                <a:cs typeface="Trebuchet MS"/>
              </a:rPr>
              <a:t>d</a:t>
            </a:r>
            <a:r>
              <a:rPr sz="2400" b="1" spc="-140" dirty="0">
                <a:latin typeface="Trebuchet MS"/>
                <a:cs typeface="Trebuchet MS"/>
              </a:rPr>
              <a:t>e</a:t>
            </a:r>
            <a:r>
              <a:rPr sz="2400" b="1" dirty="0">
                <a:latin typeface="Trebuchet MS"/>
                <a:cs typeface="Trebuchet MS"/>
              </a:rPr>
              <a:t>	</a:t>
            </a:r>
            <a:r>
              <a:rPr sz="2400" b="1" spc="-114" dirty="0">
                <a:latin typeface="Trebuchet MS"/>
                <a:cs typeface="Trebuchet MS"/>
              </a:rPr>
              <a:t>la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6722" y="2135123"/>
            <a:ext cx="8159115" cy="10045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00"/>
              </a:spcBef>
            </a:pPr>
            <a:r>
              <a:rPr sz="2400" b="1" spc="-140" dirty="0">
                <a:latin typeface="Trebuchet MS"/>
                <a:cs typeface="Trebuchet MS"/>
              </a:rPr>
              <a:t>manufactura</a:t>
            </a:r>
            <a:endParaRPr sz="2400">
              <a:latin typeface="Trebuchet MS"/>
              <a:cs typeface="Trebuchet MS"/>
            </a:endParaRPr>
          </a:p>
          <a:p>
            <a:pPr marL="527050" marR="5080" indent="-514350">
              <a:lnSpc>
                <a:spcPct val="100000"/>
              </a:lnSpc>
              <a:spcBef>
                <a:spcPts val="30"/>
              </a:spcBef>
              <a:buChar char="•"/>
              <a:tabLst>
                <a:tab pos="526415" algn="l"/>
                <a:tab pos="527050" algn="l"/>
              </a:tabLst>
            </a:pPr>
            <a:r>
              <a:rPr sz="2000" spc="-75" dirty="0">
                <a:latin typeface="Arial"/>
                <a:cs typeface="Arial"/>
              </a:rPr>
              <a:t>Permite programar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114" dirty="0">
                <a:latin typeface="Arial"/>
                <a:cs typeface="Arial"/>
              </a:rPr>
              <a:t>procesos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0" dirty="0">
                <a:latin typeface="Arial"/>
                <a:cs typeface="Arial"/>
              </a:rPr>
              <a:t>manufactura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70" dirty="0">
                <a:latin typeface="Arial"/>
                <a:cs typeface="Arial"/>
              </a:rPr>
              <a:t>abastecimiento </a:t>
            </a:r>
            <a:r>
              <a:rPr sz="2000" spc="-95" dirty="0">
                <a:latin typeface="Arial"/>
                <a:cs typeface="Arial"/>
              </a:rPr>
              <a:t>en  </a:t>
            </a:r>
            <a:r>
              <a:rPr sz="2000" spc="-145" dirty="0">
                <a:latin typeface="Arial"/>
                <a:cs typeface="Arial"/>
              </a:rPr>
              <a:t>base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90" dirty="0">
                <a:latin typeface="Arial"/>
                <a:cs typeface="Arial"/>
              </a:rPr>
              <a:t>los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pedidos;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9268" y="3110738"/>
            <a:ext cx="260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20" dirty="0">
                <a:latin typeface="Trebuchet MS"/>
                <a:cs typeface="Trebuchet MS"/>
              </a:rPr>
              <a:t>3.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3872" y="3110738"/>
            <a:ext cx="48025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35" dirty="0">
                <a:latin typeface="Trebuchet MS"/>
                <a:cs typeface="Trebuchet MS"/>
              </a:rPr>
              <a:t>Módulo </a:t>
            </a:r>
            <a:r>
              <a:rPr sz="2400" b="1" spc="-140" dirty="0">
                <a:latin typeface="Trebuchet MS"/>
                <a:cs typeface="Trebuchet MS"/>
              </a:rPr>
              <a:t>de </a:t>
            </a:r>
            <a:r>
              <a:rPr sz="2400" b="1" spc="-130" dirty="0">
                <a:latin typeface="Trebuchet MS"/>
                <a:cs typeface="Trebuchet MS"/>
              </a:rPr>
              <a:t>planeación </a:t>
            </a:r>
            <a:r>
              <a:rPr sz="2400" b="1" spc="-140" dirty="0">
                <a:latin typeface="Trebuchet MS"/>
                <a:cs typeface="Trebuchet MS"/>
              </a:rPr>
              <a:t>de </a:t>
            </a:r>
            <a:r>
              <a:rPr sz="2400" b="1" spc="-110" dirty="0">
                <a:latin typeface="Trebuchet MS"/>
                <a:cs typeface="Trebuchet MS"/>
              </a:rPr>
              <a:t>la</a:t>
            </a:r>
            <a:r>
              <a:rPr sz="2400" b="1" spc="-530" dirty="0">
                <a:latin typeface="Trebuchet MS"/>
                <a:cs typeface="Trebuchet MS"/>
              </a:rPr>
              <a:t> </a:t>
            </a:r>
            <a:r>
              <a:rPr sz="2400" b="1" spc="-120" dirty="0">
                <a:latin typeface="Trebuchet MS"/>
                <a:cs typeface="Trebuchet MS"/>
              </a:rPr>
              <a:t>demanda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6722" y="3480308"/>
            <a:ext cx="1143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11072" y="3480308"/>
            <a:ext cx="68097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14" dirty="0">
                <a:latin typeface="Arial"/>
                <a:cs typeface="Arial"/>
              </a:rPr>
              <a:t>Consolida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80" dirty="0">
                <a:latin typeface="Arial"/>
                <a:cs typeface="Arial"/>
              </a:rPr>
              <a:t>pronósticos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05" dirty="0">
                <a:latin typeface="Arial"/>
                <a:cs typeface="Arial"/>
              </a:rPr>
              <a:t>demanda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65" dirty="0">
                <a:latin typeface="Arial"/>
                <a:cs typeface="Arial"/>
              </a:rPr>
              <a:t>diferentes</a:t>
            </a:r>
            <a:r>
              <a:rPr sz="2000" spc="3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unidades;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268" y="3781297"/>
            <a:ext cx="260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20" dirty="0">
                <a:latin typeface="Trebuchet MS"/>
                <a:cs typeface="Trebuchet MS"/>
              </a:rPr>
              <a:t>4.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3872" y="3781297"/>
            <a:ext cx="5112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35" dirty="0">
                <a:latin typeface="Trebuchet MS"/>
                <a:cs typeface="Trebuchet MS"/>
              </a:rPr>
              <a:t>Módulo </a:t>
            </a:r>
            <a:r>
              <a:rPr sz="2400" b="1" spc="-140" dirty="0">
                <a:latin typeface="Trebuchet MS"/>
                <a:cs typeface="Trebuchet MS"/>
              </a:rPr>
              <a:t>de </a:t>
            </a:r>
            <a:r>
              <a:rPr sz="2400" b="1" spc="-130" dirty="0">
                <a:latin typeface="Trebuchet MS"/>
                <a:cs typeface="Trebuchet MS"/>
              </a:rPr>
              <a:t>planeación </a:t>
            </a:r>
            <a:r>
              <a:rPr sz="2400" b="1" spc="-140" dirty="0">
                <a:latin typeface="Trebuchet MS"/>
                <a:cs typeface="Trebuchet MS"/>
              </a:rPr>
              <a:t>de </a:t>
            </a:r>
            <a:r>
              <a:rPr sz="2400" b="1" spc="-110" dirty="0">
                <a:latin typeface="Trebuchet MS"/>
                <a:cs typeface="Trebuchet MS"/>
              </a:rPr>
              <a:t>la</a:t>
            </a:r>
            <a:r>
              <a:rPr sz="2400" b="1" spc="-545" dirty="0">
                <a:latin typeface="Trebuchet MS"/>
                <a:cs typeface="Trebuchet MS"/>
              </a:rPr>
              <a:t> </a:t>
            </a:r>
            <a:r>
              <a:rPr sz="2400" b="1" spc="-130" dirty="0">
                <a:latin typeface="Trebuchet MS"/>
                <a:cs typeface="Trebuchet MS"/>
              </a:rPr>
              <a:t>distribución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9268" y="4150867"/>
            <a:ext cx="8615680" cy="1610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84250" marR="5080" indent="-514350">
              <a:lnSpc>
                <a:spcPct val="100000"/>
              </a:lnSpc>
              <a:spcBef>
                <a:spcPts val="95"/>
              </a:spcBef>
              <a:buChar char="•"/>
              <a:tabLst>
                <a:tab pos="984250" algn="l"/>
                <a:tab pos="984885" algn="l"/>
              </a:tabLst>
            </a:pPr>
            <a:r>
              <a:rPr sz="2000" spc="-75" dirty="0">
                <a:latin typeface="Arial"/>
                <a:cs typeface="Arial"/>
              </a:rPr>
              <a:t>Integra </a:t>
            </a:r>
            <a:r>
              <a:rPr sz="2000" spc="-50" dirty="0">
                <a:latin typeface="Arial"/>
                <a:cs typeface="Arial"/>
              </a:rPr>
              <a:t>toda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55" dirty="0">
                <a:latin typeface="Arial"/>
                <a:cs typeface="Arial"/>
              </a:rPr>
              <a:t>información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85" dirty="0">
                <a:latin typeface="Arial"/>
                <a:cs typeface="Arial"/>
              </a:rPr>
              <a:t>logística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140" dirty="0">
                <a:latin typeface="Arial"/>
                <a:cs typeface="Arial"/>
              </a:rPr>
              <a:t>base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90" dirty="0">
                <a:latin typeface="Arial"/>
                <a:cs typeface="Arial"/>
              </a:rPr>
              <a:t>condiciones </a:t>
            </a:r>
            <a:r>
              <a:rPr sz="2000" spc="-95" dirty="0">
                <a:latin typeface="Arial"/>
                <a:cs typeface="Arial"/>
              </a:rPr>
              <a:t>de  </a:t>
            </a:r>
            <a:r>
              <a:rPr sz="2000" spc="-85" dirty="0">
                <a:latin typeface="Arial"/>
                <a:cs typeface="Arial"/>
              </a:rPr>
              <a:t>entrega </a:t>
            </a:r>
            <a:r>
              <a:rPr sz="2000" spc="-114" dirty="0">
                <a:latin typeface="Arial"/>
                <a:cs typeface="Arial"/>
              </a:rPr>
              <a:t>pactadas </a:t>
            </a:r>
            <a:r>
              <a:rPr sz="2000" spc="-105" dirty="0">
                <a:latin typeface="Arial"/>
                <a:cs typeface="Arial"/>
              </a:rPr>
              <a:t>con </a:t>
            </a:r>
            <a:r>
              <a:rPr sz="2000" spc="-90" dirty="0">
                <a:latin typeface="Arial"/>
                <a:cs typeface="Arial"/>
              </a:rPr>
              <a:t>los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clientes;</a:t>
            </a:r>
            <a:endParaRPr sz="2000">
              <a:latin typeface="Arial"/>
              <a:cs typeface="Arial"/>
            </a:endParaRPr>
          </a:p>
          <a:p>
            <a:pPr marL="527050" indent="-514350">
              <a:lnSpc>
                <a:spcPts val="2850"/>
              </a:lnSpc>
              <a:buAutoNum type="arabicPeriod" startAt="5"/>
              <a:tabLst>
                <a:tab pos="527050" algn="l"/>
                <a:tab pos="527685" algn="l"/>
              </a:tabLst>
            </a:pPr>
            <a:r>
              <a:rPr sz="2400" b="1" spc="-35" dirty="0">
                <a:latin typeface="Trebuchet MS"/>
                <a:cs typeface="Trebuchet MS"/>
              </a:rPr>
              <a:t>Módulo </a:t>
            </a:r>
            <a:r>
              <a:rPr sz="2400" b="1" spc="-140" dirty="0">
                <a:latin typeface="Trebuchet MS"/>
                <a:cs typeface="Trebuchet MS"/>
              </a:rPr>
              <a:t>de </a:t>
            </a:r>
            <a:r>
              <a:rPr sz="2400" b="1" spc="-130" dirty="0">
                <a:latin typeface="Trebuchet MS"/>
                <a:cs typeface="Trebuchet MS"/>
              </a:rPr>
              <a:t>planeación </a:t>
            </a:r>
            <a:r>
              <a:rPr sz="2400" b="1" spc="-135" dirty="0">
                <a:latin typeface="Trebuchet MS"/>
                <a:cs typeface="Trebuchet MS"/>
              </a:rPr>
              <a:t>del</a:t>
            </a:r>
            <a:r>
              <a:rPr sz="2400" b="1" spc="-455" dirty="0">
                <a:latin typeface="Trebuchet MS"/>
                <a:cs typeface="Trebuchet MS"/>
              </a:rPr>
              <a:t> </a:t>
            </a:r>
            <a:r>
              <a:rPr sz="2400" b="1" spc="-135" dirty="0">
                <a:latin typeface="Trebuchet MS"/>
                <a:cs typeface="Trebuchet MS"/>
              </a:rPr>
              <a:t>transporte</a:t>
            </a:r>
            <a:endParaRPr sz="2400">
              <a:latin typeface="Trebuchet MS"/>
              <a:cs typeface="Trebuchet MS"/>
            </a:endParaRPr>
          </a:p>
          <a:p>
            <a:pPr marL="984250" lvl="1" indent="-514350">
              <a:lnSpc>
                <a:spcPct val="100000"/>
              </a:lnSpc>
              <a:spcBef>
                <a:spcPts val="30"/>
              </a:spcBef>
              <a:buChar char="•"/>
              <a:tabLst>
                <a:tab pos="984250" algn="l"/>
                <a:tab pos="984885" algn="l"/>
              </a:tabLst>
            </a:pPr>
            <a:r>
              <a:rPr sz="2000" spc="-85" dirty="0">
                <a:latin typeface="Arial"/>
                <a:cs typeface="Arial"/>
              </a:rPr>
              <a:t>Facilita </a:t>
            </a:r>
            <a:r>
              <a:rPr sz="2000" spc="-70" dirty="0">
                <a:latin typeface="Arial"/>
                <a:cs typeface="Arial"/>
              </a:rPr>
              <a:t>la </a:t>
            </a:r>
            <a:r>
              <a:rPr sz="2000" spc="-105" dirty="0">
                <a:latin typeface="Arial"/>
                <a:cs typeface="Arial"/>
              </a:rPr>
              <a:t>asignación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05" dirty="0">
                <a:latin typeface="Arial"/>
                <a:cs typeface="Arial"/>
              </a:rPr>
              <a:t>recursos </a:t>
            </a:r>
            <a:r>
              <a:rPr sz="2000" spc="-95" dirty="0">
                <a:latin typeface="Arial"/>
                <a:cs typeface="Arial"/>
              </a:rPr>
              <a:t>para </a:t>
            </a:r>
            <a:r>
              <a:rPr sz="2000" spc="-85" dirty="0">
                <a:latin typeface="Arial"/>
                <a:cs typeface="Arial"/>
              </a:rPr>
              <a:t>garantizar </a:t>
            </a:r>
            <a:r>
              <a:rPr sz="2000" spc="-100" dirty="0">
                <a:latin typeface="Arial"/>
                <a:cs typeface="Arial"/>
              </a:rPr>
              <a:t>entregas </a:t>
            </a:r>
            <a:r>
              <a:rPr sz="2000" spc="-90" dirty="0">
                <a:latin typeface="Arial"/>
                <a:cs typeface="Arial"/>
              </a:rPr>
              <a:t>en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tiempo </a:t>
            </a:r>
            <a:r>
              <a:rPr sz="2000" spc="-95" dirty="0">
                <a:latin typeface="Arial"/>
                <a:cs typeface="Arial"/>
              </a:rPr>
              <a:t>y</a:t>
            </a:r>
            <a:endParaRPr sz="2000">
              <a:latin typeface="Arial"/>
              <a:cs typeface="Arial"/>
            </a:endParaRPr>
          </a:p>
          <a:p>
            <a:pPr marL="984250">
              <a:lnSpc>
                <a:spcPct val="100000"/>
              </a:lnSpc>
            </a:pPr>
            <a:r>
              <a:rPr sz="2000" spc="-55" dirty="0">
                <a:latin typeface="Arial"/>
                <a:cs typeface="Arial"/>
              </a:rPr>
              <a:t>forma </a:t>
            </a:r>
            <a:r>
              <a:rPr sz="2000" spc="-105" dirty="0">
                <a:latin typeface="Arial"/>
                <a:cs typeface="Arial"/>
              </a:rPr>
              <a:t>con </a:t>
            </a:r>
            <a:r>
              <a:rPr sz="2000" spc="-90" dirty="0">
                <a:latin typeface="Arial"/>
                <a:cs typeface="Arial"/>
              </a:rPr>
              <a:t>costo</a:t>
            </a:r>
            <a:r>
              <a:rPr sz="2000" spc="-15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mínimo.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71551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dirty="0"/>
              <a:t>SCM</a:t>
            </a:r>
            <a:r>
              <a:rPr spc="-400" dirty="0"/>
              <a:t> </a:t>
            </a:r>
            <a:r>
              <a:rPr spc="-105" dirty="0"/>
              <a:t>(Supply </a:t>
            </a:r>
            <a:r>
              <a:rPr spc="-120" dirty="0"/>
              <a:t>Chain </a:t>
            </a:r>
            <a:r>
              <a:rPr spc="-75" dirty="0"/>
              <a:t>Management)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25" dirty="0">
                <a:latin typeface="Arial"/>
                <a:cs typeface="Arial"/>
              </a:rPr>
              <a:t>Procesos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70" dirty="0">
                <a:latin typeface="Arial"/>
                <a:cs typeface="Arial"/>
              </a:rPr>
              <a:t>módulos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65" dirty="0">
                <a:latin typeface="Arial"/>
                <a:cs typeface="Arial"/>
              </a:rPr>
              <a:t>gestión</a:t>
            </a:r>
            <a:r>
              <a:rPr sz="1800" b="0" spc="-8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250" y="2486025"/>
            <a:ext cx="2962275" cy="2171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52778" y="1276360"/>
            <a:ext cx="2838822" cy="19720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67803" y="2210174"/>
            <a:ext cx="2952377" cy="277140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33726" y="3448050"/>
            <a:ext cx="2876924" cy="25622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86258" y="6235890"/>
            <a:ext cx="7623175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0100">
              <a:lnSpc>
                <a:spcPts val="1430"/>
              </a:lnSpc>
            </a:pPr>
            <a:r>
              <a:rPr sz="1400" spc="-70" dirty="0">
                <a:latin typeface="Arial"/>
                <a:cs typeface="Arial"/>
              </a:rPr>
              <a:t>Fuente: </a:t>
            </a:r>
            <a:r>
              <a:rPr sz="1400" spc="-60" dirty="0">
                <a:latin typeface="Arial"/>
                <a:cs typeface="Arial"/>
              </a:rPr>
              <a:t>Fritzen, </a:t>
            </a:r>
            <a:r>
              <a:rPr sz="1400" spc="-295" dirty="0">
                <a:latin typeface="Arial"/>
                <a:cs typeface="Arial"/>
              </a:rPr>
              <a:t>S </a:t>
            </a:r>
            <a:r>
              <a:rPr sz="1400" spc="-5" dirty="0">
                <a:latin typeface="Arial"/>
                <a:cs typeface="Arial"/>
              </a:rPr>
              <a:t>et </a:t>
            </a:r>
            <a:r>
              <a:rPr sz="1400" spc="-25" dirty="0">
                <a:latin typeface="Arial"/>
                <a:cs typeface="Arial"/>
              </a:rPr>
              <a:t>alter </a:t>
            </a:r>
            <a:r>
              <a:rPr sz="1400" spc="-40" dirty="0">
                <a:latin typeface="Arial"/>
                <a:cs typeface="Arial"/>
              </a:rPr>
              <a:t>. </a:t>
            </a:r>
            <a:r>
              <a:rPr sz="1400" i="1" spc="-30" dirty="0">
                <a:latin typeface="Trebuchet MS"/>
                <a:cs typeface="Trebuchet MS"/>
              </a:rPr>
              <a:t>Is </a:t>
            </a:r>
            <a:r>
              <a:rPr sz="1400" i="1" spc="-70" dirty="0">
                <a:latin typeface="Trebuchet MS"/>
                <a:cs typeface="Trebuchet MS"/>
              </a:rPr>
              <a:t>your </a:t>
            </a:r>
            <a:r>
              <a:rPr sz="1400" i="1" spc="-80" dirty="0">
                <a:latin typeface="Trebuchet MS"/>
                <a:cs typeface="Trebuchet MS"/>
              </a:rPr>
              <a:t>SC </a:t>
            </a:r>
            <a:r>
              <a:rPr sz="1400" i="1" spc="-65" dirty="0">
                <a:latin typeface="Trebuchet MS"/>
                <a:cs typeface="Trebuchet MS"/>
              </a:rPr>
              <a:t>operating </a:t>
            </a:r>
            <a:r>
              <a:rPr sz="1400" i="1" spc="-75" dirty="0">
                <a:latin typeface="Trebuchet MS"/>
                <a:cs typeface="Trebuchet MS"/>
              </a:rPr>
              <a:t>model </a:t>
            </a:r>
            <a:r>
              <a:rPr sz="1400" i="1" spc="-80" dirty="0">
                <a:latin typeface="Trebuchet MS"/>
                <a:cs typeface="Trebuchet MS"/>
              </a:rPr>
              <a:t>right </a:t>
            </a:r>
            <a:r>
              <a:rPr sz="1400" i="1" spc="-100" dirty="0">
                <a:latin typeface="Trebuchet MS"/>
                <a:cs typeface="Trebuchet MS"/>
              </a:rPr>
              <a:t>for </a:t>
            </a:r>
            <a:r>
              <a:rPr sz="1400" i="1" spc="-45" dirty="0">
                <a:latin typeface="Trebuchet MS"/>
                <a:cs typeface="Trebuchet MS"/>
              </a:rPr>
              <a:t>you?,</a:t>
            </a:r>
            <a:r>
              <a:rPr sz="1400" i="1" spc="-320" dirty="0">
                <a:latin typeface="Trebuchet MS"/>
                <a:cs typeface="Trebuchet MS"/>
              </a:rPr>
              <a:t> </a:t>
            </a:r>
            <a:r>
              <a:rPr sz="1400" spc="-85" dirty="0">
                <a:latin typeface="Arial"/>
                <a:cs typeface="Arial"/>
              </a:rPr>
              <a:t>McKinsey </a:t>
            </a:r>
            <a:r>
              <a:rPr sz="1400" spc="-50" dirty="0">
                <a:latin typeface="Arial"/>
                <a:cs typeface="Arial"/>
              </a:rPr>
              <a:t>Quarterly, </a:t>
            </a:r>
            <a:r>
              <a:rPr sz="1400" spc="-75" dirty="0">
                <a:latin typeface="Arial"/>
                <a:cs typeface="Arial"/>
              </a:rPr>
              <a:t>2014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2019</a:t>
            </a:r>
            <a:r>
              <a:rPr sz="1000" b="1" spc="-3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Universidad</a:t>
            </a:r>
            <a:r>
              <a:rPr sz="1000" b="1" spc="-2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00338D"/>
                </a:solidFill>
                <a:latin typeface="Arial"/>
                <a:cs typeface="Arial"/>
              </a:rPr>
              <a:t>Argentina</a:t>
            </a:r>
            <a:r>
              <a:rPr sz="1000" b="1" spc="-2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de</a:t>
            </a:r>
            <a:r>
              <a:rPr sz="1000" b="1" spc="-1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la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 Empresa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spc="130" dirty="0">
                <a:solidFill>
                  <a:srgbClr val="00338D"/>
                </a:solidFill>
                <a:latin typeface="Trebuchet MS"/>
                <a:cs typeface="Trebuchet MS"/>
              </a:rPr>
              <a:t>–</a:t>
            </a:r>
            <a:r>
              <a:rPr sz="1000" spc="-30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lang="es-AR" sz="1000" spc="40" dirty="0" err="1"/>
              <a:t>Mag</a:t>
            </a:r>
            <a:r>
              <a:rPr lang="es-AR" sz="1000" spc="40" dirty="0"/>
              <a:t>.</a:t>
            </a:r>
            <a:r>
              <a:rPr lang="es-AR" sz="1000" spc="-30" dirty="0"/>
              <a:t> </a:t>
            </a:r>
            <a:r>
              <a:rPr lang="es-AR" sz="1000" spc="-5" dirty="0" err="1"/>
              <a:t>Javer</a:t>
            </a:r>
            <a:r>
              <a:rPr lang="es-AR" sz="1000" spc="-5" dirty="0"/>
              <a:t> F. Klus </a:t>
            </a:r>
            <a:r>
              <a:rPr lang="es-AR" sz="1000" spc="-30" dirty="0"/>
              <a:t>(jklus@uade.edu.ar)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47</a:t>
            </a:fld>
            <a:endParaRPr spc="-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71551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dirty="0"/>
              <a:t>SCM</a:t>
            </a:r>
            <a:r>
              <a:rPr spc="-400" dirty="0"/>
              <a:t> </a:t>
            </a:r>
            <a:r>
              <a:rPr spc="-105" dirty="0"/>
              <a:t>(Supply </a:t>
            </a:r>
            <a:r>
              <a:rPr spc="-120" dirty="0"/>
              <a:t>Chain </a:t>
            </a:r>
            <a:r>
              <a:rPr spc="-75" dirty="0"/>
              <a:t>Management)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25" dirty="0">
                <a:latin typeface="Arial"/>
                <a:cs typeface="Arial"/>
              </a:rPr>
              <a:t>Procesos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70" dirty="0">
                <a:latin typeface="Arial"/>
                <a:cs typeface="Arial"/>
              </a:rPr>
              <a:t>módulos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65" dirty="0">
                <a:latin typeface="Arial"/>
                <a:cs typeface="Arial"/>
              </a:rPr>
              <a:t>gestión</a:t>
            </a:r>
            <a:r>
              <a:rPr sz="1800" b="0" spc="-8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95701" y="1273514"/>
            <a:ext cx="6644766" cy="49048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86258" y="6235890"/>
            <a:ext cx="7623175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0100">
              <a:lnSpc>
                <a:spcPts val="1430"/>
              </a:lnSpc>
            </a:pPr>
            <a:r>
              <a:rPr sz="1400" spc="-70" dirty="0">
                <a:latin typeface="Arial"/>
                <a:cs typeface="Arial"/>
              </a:rPr>
              <a:t>Fuente: </a:t>
            </a:r>
            <a:r>
              <a:rPr sz="1400" spc="-60" dirty="0">
                <a:latin typeface="Arial"/>
                <a:cs typeface="Arial"/>
              </a:rPr>
              <a:t>Fritzen, </a:t>
            </a:r>
            <a:r>
              <a:rPr sz="1400" spc="-295" dirty="0">
                <a:latin typeface="Arial"/>
                <a:cs typeface="Arial"/>
              </a:rPr>
              <a:t>S </a:t>
            </a:r>
            <a:r>
              <a:rPr sz="1400" spc="-5" dirty="0">
                <a:latin typeface="Arial"/>
                <a:cs typeface="Arial"/>
              </a:rPr>
              <a:t>et </a:t>
            </a:r>
            <a:r>
              <a:rPr sz="1400" spc="-25" dirty="0">
                <a:latin typeface="Arial"/>
                <a:cs typeface="Arial"/>
              </a:rPr>
              <a:t>alter </a:t>
            </a:r>
            <a:r>
              <a:rPr sz="1400" spc="-40" dirty="0">
                <a:latin typeface="Arial"/>
                <a:cs typeface="Arial"/>
              </a:rPr>
              <a:t>. </a:t>
            </a:r>
            <a:r>
              <a:rPr sz="1400" i="1" spc="-30" dirty="0">
                <a:latin typeface="Trebuchet MS"/>
                <a:cs typeface="Trebuchet MS"/>
              </a:rPr>
              <a:t>Is </a:t>
            </a:r>
            <a:r>
              <a:rPr sz="1400" i="1" spc="-70" dirty="0">
                <a:latin typeface="Trebuchet MS"/>
                <a:cs typeface="Trebuchet MS"/>
              </a:rPr>
              <a:t>your </a:t>
            </a:r>
            <a:r>
              <a:rPr sz="1400" i="1" spc="-80" dirty="0">
                <a:latin typeface="Trebuchet MS"/>
                <a:cs typeface="Trebuchet MS"/>
              </a:rPr>
              <a:t>SC </a:t>
            </a:r>
            <a:r>
              <a:rPr sz="1400" i="1" spc="-65" dirty="0">
                <a:latin typeface="Trebuchet MS"/>
                <a:cs typeface="Trebuchet MS"/>
              </a:rPr>
              <a:t>operating </a:t>
            </a:r>
            <a:r>
              <a:rPr sz="1400" i="1" spc="-75" dirty="0">
                <a:latin typeface="Trebuchet MS"/>
                <a:cs typeface="Trebuchet MS"/>
              </a:rPr>
              <a:t>model </a:t>
            </a:r>
            <a:r>
              <a:rPr sz="1400" i="1" spc="-80" dirty="0">
                <a:latin typeface="Trebuchet MS"/>
                <a:cs typeface="Trebuchet MS"/>
              </a:rPr>
              <a:t>right </a:t>
            </a:r>
            <a:r>
              <a:rPr sz="1400" i="1" spc="-100" dirty="0">
                <a:latin typeface="Trebuchet MS"/>
                <a:cs typeface="Trebuchet MS"/>
              </a:rPr>
              <a:t>for </a:t>
            </a:r>
            <a:r>
              <a:rPr sz="1400" i="1" spc="-45" dirty="0">
                <a:latin typeface="Trebuchet MS"/>
                <a:cs typeface="Trebuchet MS"/>
              </a:rPr>
              <a:t>you?,</a:t>
            </a:r>
            <a:r>
              <a:rPr sz="1400" i="1" spc="-320" dirty="0">
                <a:latin typeface="Trebuchet MS"/>
                <a:cs typeface="Trebuchet MS"/>
              </a:rPr>
              <a:t> </a:t>
            </a:r>
            <a:r>
              <a:rPr sz="1400" spc="-85" dirty="0">
                <a:latin typeface="Arial"/>
                <a:cs typeface="Arial"/>
              </a:rPr>
              <a:t>McKinsey </a:t>
            </a:r>
            <a:r>
              <a:rPr sz="1400" spc="-50" dirty="0">
                <a:latin typeface="Arial"/>
                <a:cs typeface="Arial"/>
              </a:rPr>
              <a:t>Quarterly, </a:t>
            </a:r>
            <a:r>
              <a:rPr sz="1400" spc="-75" dirty="0">
                <a:latin typeface="Arial"/>
                <a:cs typeface="Arial"/>
              </a:rPr>
              <a:t>2014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2019</a:t>
            </a:r>
            <a:r>
              <a:rPr sz="1000" b="1" spc="-3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Universidad</a:t>
            </a:r>
            <a:r>
              <a:rPr sz="1000" b="1" spc="-2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00338D"/>
                </a:solidFill>
                <a:latin typeface="Arial"/>
                <a:cs typeface="Arial"/>
              </a:rPr>
              <a:t>Argentina</a:t>
            </a:r>
            <a:r>
              <a:rPr sz="1000" b="1" spc="-2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de</a:t>
            </a:r>
            <a:r>
              <a:rPr sz="1000" b="1" spc="-1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la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 Empresa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spc="130" dirty="0">
                <a:solidFill>
                  <a:srgbClr val="00338D"/>
                </a:solidFill>
                <a:latin typeface="Trebuchet MS"/>
                <a:cs typeface="Trebuchet MS"/>
              </a:rPr>
              <a:t>–</a:t>
            </a:r>
            <a:r>
              <a:rPr sz="1000" spc="-30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lang="es-AR" sz="1000" spc="40" dirty="0" err="1"/>
              <a:t>Mag</a:t>
            </a:r>
            <a:r>
              <a:rPr lang="es-AR" sz="1000" spc="40" dirty="0"/>
              <a:t>.</a:t>
            </a:r>
            <a:r>
              <a:rPr lang="es-AR" sz="1000" spc="-30" dirty="0"/>
              <a:t> </a:t>
            </a:r>
            <a:r>
              <a:rPr lang="es-AR" sz="1000" spc="-5" dirty="0" err="1"/>
              <a:t>Javer</a:t>
            </a:r>
            <a:r>
              <a:rPr lang="es-AR" sz="1000" spc="-5" dirty="0"/>
              <a:t> F. Klus </a:t>
            </a:r>
            <a:r>
              <a:rPr lang="es-AR" sz="1000" spc="-30" dirty="0"/>
              <a:t>(jklus@uade.edu.ar)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48</a:t>
            </a:fld>
            <a:endParaRPr spc="-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471551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dirty="0">
                <a:solidFill>
                  <a:srgbClr val="FFFFFF"/>
                </a:solidFill>
                <a:latin typeface="Trebuchet MS"/>
                <a:cs typeface="Trebuchet MS"/>
              </a:rPr>
              <a:t>SCM</a:t>
            </a:r>
            <a:r>
              <a:rPr sz="2000" b="1" spc="-4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05" dirty="0">
                <a:solidFill>
                  <a:srgbClr val="FFFFFF"/>
                </a:solidFill>
                <a:latin typeface="Trebuchet MS"/>
                <a:cs typeface="Trebuchet MS"/>
              </a:rPr>
              <a:t>(Supply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Chain </a:t>
            </a:r>
            <a:r>
              <a:rPr sz="2000" b="1" spc="-75" dirty="0">
                <a:solidFill>
                  <a:srgbClr val="FFFFFF"/>
                </a:solidFill>
                <a:latin typeface="Trebuchet MS"/>
                <a:cs typeface="Trebuchet MS"/>
              </a:rPr>
              <a:t>Management)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Ejemplos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aplicación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9268" y="1095755"/>
            <a:ext cx="45815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65" dirty="0">
                <a:solidFill>
                  <a:srgbClr val="000000"/>
                </a:solidFill>
              </a:rPr>
              <a:t>Ejemplos de </a:t>
            </a:r>
            <a:r>
              <a:rPr sz="2800" spc="-155" dirty="0">
                <a:solidFill>
                  <a:srgbClr val="000000"/>
                </a:solidFill>
              </a:rPr>
              <a:t>aplicación </a:t>
            </a:r>
            <a:r>
              <a:rPr sz="2800" spc="-165" dirty="0">
                <a:solidFill>
                  <a:srgbClr val="000000"/>
                </a:solidFill>
              </a:rPr>
              <a:t>de</a:t>
            </a:r>
            <a:r>
              <a:rPr sz="2800" spc="-434" dirty="0">
                <a:solidFill>
                  <a:srgbClr val="000000"/>
                </a:solidFill>
              </a:rPr>
              <a:t> </a:t>
            </a:r>
            <a:r>
              <a:rPr sz="2800" spc="5" dirty="0">
                <a:solidFill>
                  <a:srgbClr val="000000"/>
                </a:solidFill>
              </a:rPr>
              <a:t>SCM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239268" y="2039874"/>
            <a:ext cx="6978015" cy="732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2600" spc="-95" dirty="0">
                <a:latin typeface="Arial"/>
                <a:cs typeface="Arial"/>
              </a:rPr>
              <a:t>Automatización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210" dirty="0">
                <a:latin typeface="Arial"/>
                <a:cs typeface="Arial"/>
              </a:rPr>
              <a:t>Cadena </a:t>
            </a:r>
            <a:r>
              <a:rPr sz="2600" spc="-120" dirty="0">
                <a:latin typeface="Arial"/>
                <a:cs typeface="Arial"/>
              </a:rPr>
              <a:t>de</a:t>
            </a:r>
            <a:r>
              <a:rPr sz="2600" spc="-110" dirty="0">
                <a:latin typeface="Arial"/>
                <a:cs typeface="Arial"/>
              </a:rPr>
              <a:t> </a:t>
            </a:r>
            <a:r>
              <a:rPr sz="2600" spc="-105" dirty="0">
                <a:latin typeface="Arial"/>
                <a:cs typeface="Arial"/>
              </a:rPr>
              <a:t>Suministro</a:t>
            </a:r>
            <a:endParaRPr sz="2600">
              <a:latin typeface="Arial"/>
              <a:cs typeface="Arial"/>
            </a:endParaRPr>
          </a:p>
          <a:p>
            <a:pPr marL="984250" lvl="1" indent="-514350">
              <a:lnSpc>
                <a:spcPct val="100000"/>
              </a:lnSpc>
              <a:spcBef>
                <a:spcPts val="45"/>
              </a:spcBef>
              <a:buFont typeface="Arial"/>
              <a:buChar char="•"/>
              <a:tabLst>
                <a:tab pos="984250" algn="l"/>
                <a:tab pos="984885" algn="l"/>
              </a:tabLst>
            </a:pPr>
            <a:r>
              <a:rPr sz="2000" b="1" i="1" spc="-135" dirty="0">
                <a:latin typeface="Arial"/>
                <a:cs typeface="Arial"/>
              </a:rPr>
              <a:t>Video:</a:t>
            </a:r>
            <a:r>
              <a:rPr sz="2000" b="1" i="1" spc="-85" dirty="0">
                <a:solidFill>
                  <a:srgbClr val="8E248D"/>
                </a:solidFill>
                <a:latin typeface="Arial"/>
                <a:cs typeface="Arial"/>
              </a:rPr>
              <a:t> </a:t>
            </a:r>
            <a:r>
              <a:rPr sz="2000" u="heavy" spc="-75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Arial"/>
                <a:cs typeface="Arial"/>
                <a:hlinkClick r:id="rId2"/>
              </a:rPr>
              <a:t>https://www.youtube.com/watch?v=D7ZXpwIagA0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68" y="3929888"/>
            <a:ext cx="6856095" cy="731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95"/>
              </a:spcBef>
              <a:buAutoNum type="arabicPeriod" startAt="2"/>
              <a:tabLst>
                <a:tab pos="527050" algn="l"/>
                <a:tab pos="527685" algn="l"/>
              </a:tabLst>
            </a:pPr>
            <a:r>
              <a:rPr sz="2600" spc="-175" dirty="0">
                <a:latin typeface="Arial"/>
                <a:cs typeface="Arial"/>
              </a:rPr>
              <a:t>Tour </a:t>
            </a:r>
            <a:r>
              <a:rPr sz="2600" spc="-10" dirty="0">
                <a:latin typeface="Arial"/>
                <a:cs typeface="Arial"/>
              </a:rPr>
              <a:t>of </a:t>
            </a:r>
            <a:r>
              <a:rPr sz="2600" spc="-55" dirty="0">
                <a:latin typeface="Arial"/>
                <a:cs typeface="Arial"/>
              </a:rPr>
              <a:t>Fulfillment </a:t>
            </a:r>
            <a:r>
              <a:rPr sz="2600" spc="-110" dirty="0">
                <a:latin typeface="Arial"/>
                <a:cs typeface="Arial"/>
              </a:rPr>
              <a:t>by</a:t>
            </a:r>
            <a:r>
              <a:rPr sz="2600" spc="-280" dirty="0">
                <a:latin typeface="Arial"/>
                <a:cs typeface="Arial"/>
              </a:rPr>
              <a:t> </a:t>
            </a:r>
            <a:r>
              <a:rPr sz="2600" spc="-175" dirty="0">
                <a:latin typeface="Arial"/>
                <a:cs typeface="Arial"/>
              </a:rPr>
              <a:t>Amazon</a:t>
            </a:r>
            <a:endParaRPr sz="2600">
              <a:latin typeface="Arial"/>
              <a:cs typeface="Arial"/>
            </a:endParaRPr>
          </a:p>
          <a:p>
            <a:pPr marL="984250" lvl="1" indent="-514350">
              <a:lnSpc>
                <a:spcPct val="100000"/>
              </a:lnSpc>
              <a:spcBef>
                <a:spcPts val="45"/>
              </a:spcBef>
              <a:buFont typeface="Arial"/>
              <a:buChar char="•"/>
              <a:tabLst>
                <a:tab pos="984250" algn="l"/>
                <a:tab pos="984885" algn="l"/>
              </a:tabLst>
            </a:pPr>
            <a:r>
              <a:rPr sz="2000" b="1" i="1" spc="-120" dirty="0">
                <a:latin typeface="Arial"/>
                <a:cs typeface="Arial"/>
              </a:rPr>
              <a:t>Video</a:t>
            </a:r>
            <a:r>
              <a:rPr sz="2000" spc="-120" dirty="0">
                <a:latin typeface="Arial"/>
                <a:cs typeface="Arial"/>
              </a:rPr>
              <a:t>:</a:t>
            </a:r>
            <a:r>
              <a:rPr sz="2000" spc="-180" dirty="0">
                <a:solidFill>
                  <a:srgbClr val="8E248D"/>
                </a:solidFill>
                <a:latin typeface="Arial"/>
                <a:cs typeface="Arial"/>
              </a:rPr>
              <a:t> </a:t>
            </a:r>
            <a:r>
              <a:rPr sz="2000" u="heavy" spc="-60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Arial"/>
                <a:cs typeface="Arial"/>
                <a:hlinkClick r:id="rId3"/>
              </a:rPr>
              <a:t>https://www.youtube.com/watch?v=sK195ohi_fU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268" y="5545582"/>
            <a:ext cx="6922134" cy="731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95"/>
              </a:spcBef>
              <a:buAutoNum type="arabicPeriod" startAt="3"/>
              <a:tabLst>
                <a:tab pos="527050" algn="l"/>
                <a:tab pos="527685" algn="l"/>
              </a:tabLst>
            </a:pPr>
            <a:r>
              <a:rPr sz="2600" spc="-110" dirty="0">
                <a:latin typeface="Arial"/>
                <a:cs typeface="Arial"/>
              </a:rPr>
              <a:t>Aplicación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305" dirty="0">
                <a:latin typeface="Arial"/>
                <a:cs typeface="Arial"/>
              </a:rPr>
              <a:t>RFID </a:t>
            </a:r>
            <a:r>
              <a:rPr sz="2600" spc="-120" dirty="0">
                <a:latin typeface="Arial"/>
                <a:cs typeface="Arial"/>
              </a:rPr>
              <a:t>en</a:t>
            </a:r>
            <a:r>
              <a:rPr sz="2600" spc="-420" dirty="0">
                <a:latin typeface="Arial"/>
                <a:cs typeface="Arial"/>
              </a:rPr>
              <a:t> </a:t>
            </a:r>
            <a:r>
              <a:rPr sz="2600" spc="-100" dirty="0">
                <a:latin typeface="Arial"/>
                <a:cs typeface="Arial"/>
              </a:rPr>
              <a:t>Aldanondo</a:t>
            </a:r>
            <a:endParaRPr sz="2600">
              <a:latin typeface="Arial"/>
              <a:cs typeface="Arial"/>
            </a:endParaRPr>
          </a:p>
          <a:p>
            <a:pPr marL="984250" lvl="1" indent="-514350">
              <a:lnSpc>
                <a:spcPct val="100000"/>
              </a:lnSpc>
              <a:spcBef>
                <a:spcPts val="45"/>
              </a:spcBef>
              <a:buFont typeface="Arial"/>
              <a:buChar char="•"/>
              <a:tabLst>
                <a:tab pos="984250" algn="l"/>
                <a:tab pos="984885" algn="l"/>
              </a:tabLst>
            </a:pPr>
            <a:r>
              <a:rPr sz="2000" b="1" i="1" spc="-135" dirty="0">
                <a:latin typeface="Arial"/>
                <a:cs typeface="Arial"/>
              </a:rPr>
              <a:t>Video:</a:t>
            </a:r>
            <a:r>
              <a:rPr sz="2000" b="1" i="1" spc="-80" dirty="0">
                <a:solidFill>
                  <a:srgbClr val="8E248D"/>
                </a:solidFill>
                <a:latin typeface="Arial"/>
                <a:cs typeface="Arial"/>
              </a:rPr>
              <a:t> </a:t>
            </a:r>
            <a:r>
              <a:rPr sz="2000" u="heavy" spc="-70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Arial"/>
                <a:cs typeface="Arial"/>
                <a:hlinkClick r:id="rId4"/>
              </a:rPr>
              <a:t>https://www.youtube.com/watch?v=hd-Si9HdPew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543800" y="5458205"/>
            <a:ext cx="1171955" cy="79019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132334" y="3924262"/>
            <a:ext cx="1638457" cy="34754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49</a:t>
            </a:fld>
            <a:endParaRPr spc="-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2125" y="827532"/>
            <a:ext cx="10655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25" dirty="0">
                <a:solidFill>
                  <a:srgbClr val="00338D"/>
                </a:solidFill>
                <a:latin typeface="Trebuchet MS"/>
                <a:cs typeface="Trebuchet MS"/>
              </a:rPr>
              <a:t>Síntesis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1119378" y="0"/>
                </a:moveTo>
                <a:lnTo>
                  <a:pt x="334898" y="0"/>
                </a:lnTo>
                <a:lnTo>
                  <a:pt x="0" y="1160526"/>
                </a:lnTo>
                <a:lnTo>
                  <a:pt x="784479" y="1160526"/>
                </a:lnTo>
                <a:lnTo>
                  <a:pt x="11193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0" y="1160526"/>
                </a:moveTo>
                <a:lnTo>
                  <a:pt x="334898" y="0"/>
                </a:lnTo>
                <a:lnTo>
                  <a:pt x="1119378" y="0"/>
                </a:lnTo>
                <a:lnTo>
                  <a:pt x="784479" y="1160526"/>
                </a:lnTo>
                <a:lnTo>
                  <a:pt x="0" y="1160526"/>
                </a:lnTo>
                <a:close/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35273" y="1247647"/>
            <a:ext cx="4711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1" spc="-60" dirty="0">
                <a:solidFill>
                  <a:srgbClr val="FFFFFF"/>
                </a:solidFill>
                <a:latin typeface="Trebuchet MS"/>
                <a:cs typeface="Trebuchet MS"/>
              </a:rPr>
              <a:t>III</a:t>
            </a:r>
            <a:endParaRPr sz="4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6342" y="193801"/>
            <a:ext cx="8641715" cy="3838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000" b="1" spc="-22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Síntesis</a:t>
            </a:r>
            <a:endParaRPr sz="2000">
              <a:latin typeface="Trebuchet MS"/>
              <a:cs typeface="Trebuchet MS"/>
            </a:endParaRPr>
          </a:p>
          <a:p>
            <a:pPr marL="102235">
              <a:lnSpc>
                <a:spcPct val="100000"/>
              </a:lnSpc>
              <a:spcBef>
                <a:spcPts val="15"/>
              </a:spcBef>
            </a:pP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Resumen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preguntas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repaso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50">
              <a:latin typeface="Times New Roman"/>
              <a:cs typeface="Times New Roman"/>
            </a:endParaRPr>
          </a:p>
          <a:p>
            <a:pPr marL="279400" marR="508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  <a:tab pos="2105660" algn="l"/>
                <a:tab pos="2631440" algn="l"/>
                <a:tab pos="4190365" algn="l"/>
                <a:tab pos="4812665" algn="l"/>
                <a:tab pos="6521450" algn="l"/>
                <a:tab pos="7143750" algn="l"/>
                <a:tab pos="7670800" algn="l"/>
                <a:tab pos="8292465" algn="l"/>
              </a:tabLst>
            </a:pPr>
            <a:r>
              <a:rPr sz="2400" spc="-185" dirty="0">
                <a:latin typeface="Arial"/>
                <a:cs typeface="Arial"/>
              </a:rPr>
              <a:t>Desc</a:t>
            </a:r>
            <a:r>
              <a:rPr sz="2400" spc="-114" dirty="0">
                <a:latin typeface="Arial"/>
                <a:cs typeface="Arial"/>
              </a:rPr>
              <a:t>r</a:t>
            </a:r>
            <a:r>
              <a:rPr sz="2400" spc="-80" dirty="0">
                <a:latin typeface="Arial"/>
                <a:cs typeface="Arial"/>
              </a:rPr>
              <a:t>ibimos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85" dirty="0">
                <a:latin typeface="Arial"/>
                <a:cs typeface="Arial"/>
              </a:rPr>
              <a:t>la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35" dirty="0">
                <a:latin typeface="Arial"/>
                <a:cs typeface="Arial"/>
              </a:rPr>
              <a:t>necesid</a:t>
            </a:r>
            <a:r>
              <a:rPr sz="2400" spc="-145" dirty="0">
                <a:latin typeface="Arial"/>
                <a:cs typeface="Arial"/>
              </a:rPr>
              <a:t>a</a:t>
            </a:r>
            <a:r>
              <a:rPr sz="2400" spc="-75" dirty="0">
                <a:latin typeface="Arial"/>
                <a:cs typeface="Arial"/>
              </a:rPr>
              <a:t>d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14" dirty="0">
                <a:latin typeface="Arial"/>
                <a:cs typeface="Arial"/>
              </a:rPr>
              <a:t>d</a:t>
            </a:r>
            <a:r>
              <a:rPr sz="2400" spc="-11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70" dirty="0">
                <a:latin typeface="Arial"/>
                <a:cs typeface="Arial"/>
              </a:rPr>
              <a:t>integración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14" dirty="0">
                <a:latin typeface="Arial"/>
                <a:cs typeface="Arial"/>
              </a:rPr>
              <a:t>d</a:t>
            </a:r>
            <a:r>
              <a:rPr sz="2400" spc="-11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285" dirty="0">
                <a:latin typeface="Arial"/>
                <a:cs typeface="Arial"/>
              </a:rPr>
              <a:t>SI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14" dirty="0">
                <a:latin typeface="Arial"/>
                <a:cs typeface="Arial"/>
              </a:rPr>
              <a:t>e</a:t>
            </a:r>
            <a:r>
              <a:rPr sz="2400" spc="-110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25" dirty="0">
                <a:latin typeface="Arial"/>
                <a:cs typeface="Arial"/>
              </a:rPr>
              <a:t>las  </a:t>
            </a:r>
            <a:r>
              <a:rPr sz="2400" spc="-120" dirty="0">
                <a:latin typeface="Arial"/>
                <a:cs typeface="Arial"/>
              </a:rPr>
              <a:t>organizaciones.</a:t>
            </a:r>
            <a:endParaRPr sz="2400">
              <a:latin typeface="Arial"/>
              <a:cs typeface="Arial"/>
            </a:endParaRPr>
          </a:p>
          <a:p>
            <a:pPr marL="279400" marR="6985" indent="-266700">
              <a:lnSpc>
                <a:spcPct val="100000"/>
              </a:lnSpc>
              <a:buFont typeface="Wingdings"/>
              <a:buChar char=""/>
              <a:tabLst>
                <a:tab pos="347345" algn="l"/>
                <a:tab pos="347980" algn="l"/>
              </a:tabLst>
            </a:pPr>
            <a:r>
              <a:rPr sz="2400" spc="-150" dirty="0">
                <a:latin typeface="Arial"/>
                <a:cs typeface="Arial"/>
              </a:rPr>
              <a:t>Explicamos </a:t>
            </a:r>
            <a:r>
              <a:rPr sz="2400" spc="-65" dirty="0">
                <a:latin typeface="Arial"/>
                <a:cs typeface="Arial"/>
              </a:rPr>
              <a:t>el </a:t>
            </a:r>
            <a:r>
              <a:rPr sz="2400" spc="-85" dirty="0">
                <a:latin typeface="Arial"/>
                <a:cs typeface="Arial"/>
              </a:rPr>
              <a:t>concepto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330" dirty="0">
                <a:latin typeface="Arial"/>
                <a:cs typeface="Arial"/>
              </a:rPr>
              <a:t>ERP, </a:t>
            </a:r>
            <a:r>
              <a:rPr sz="2400" spc="-175" dirty="0">
                <a:latin typeface="Arial"/>
                <a:cs typeface="Arial"/>
              </a:rPr>
              <a:t>su </a:t>
            </a:r>
            <a:r>
              <a:rPr sz="2400" spc="-60" dirty="0">
                <a:latin typeface="Arial"/>
                <a:cs typeface="Arial"/>
              </a:rPr>
              <a:t>finalidad </a:t>
            </a:r>
            <a:r>
              <a:rPr sz="2400" spc="260" dirty="0">
                <a:latin typeface="Arial"/>
                <a:cs typeface="Arial"/>
              </a:rPr>
              <a:t>/ </a:t>
            </a:r>
            <a:r>
              <a:rPr sz="2400" spc="-65" dirty="0">
                <a:latin typeface="Arial"/>
                <a:cs typeface="Arial"/>
              </a:rPr>
              <a:t>objetivos, </a:t>
            </a:r>
            <a:r>
              <a:rPr sz="2400" spc="-90" dirty="0">
                <a:latin typeface="Arial"/>
                <a:cs typeface="Arial"/>
              </a:rPr>
              <a:t>beneficios  </a:t>
            </a:r>
            <a:r>
              <a:rPr sz="2400" spc="-114" dirty="0">
                <a:latin typeface="Arial"/>
                <a:cs typeface="Arial"/>
              </a:rPr>
              <a:t>y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costos.</a:t>
            </a:r>
            <a:endParaRPr sz="2400">
              <a:latin typeface="Arial"/>
              <a:cs typeface="Arial"/>
            </a:endParaRPr>
          </a:p>
          <a:p>
            <a:pPr marL="279400" marR="6985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400" spc="-90" dirty="0">
                <a:latin typeface="Arial"/>
                <a:cs typeface="Arial"/>
              </a:rPr>
              <a:t>Definimos </a:t>
            </a:r>
            <a:r>
              <a:rPr sz="2400" spc="-114" dirty="0">
                <a:latin typeface="Arial"/>
                <a:cs typeface="Arial"/>
              </a:rPr>
              <a:t>consideraciones </a:t>
            </a:r>
            <a:r>
              <a:rPr sz="2400" spc="-125" dirty="0">
                <a:latin typeface="Arial"/>
                <a:cs typeface="Arial"/>
              </a:rPr>
              <a:t>clave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40" dirty="0">
                <a:latin typeface="Arial"/>
                <a:cs typeface="Arial"/>
              </a:rPr>
              <a:t>tener </a:t>
            </a:r>
            <a:r>
              <a:rPr sz="2400" spc="-110" dirty="0">
                <a:latin typeface="Arial"/>
                <a:cs typeface="Arial"/>
              </a:rPr>
              <a:t>en </a:t>
            </a:r>
            <a:r>
              <a:rPr sz="2400" spc="-90" dirty="0">
                <a:latin typeface="Arial"/>
                <a:cs typeface="Arial"/>
              </a:rPr>
              <a:t>cuenta </a:t>
            </a:r>
            <a:r>
              <a:rPr sz="2400" spc="-85" dirty="0">
                <a:latin typeface="Arial"/>
                <a:cs typeface="Arial"/>
              </a:rPr>
              <a:t>al </a:t>
            </a:r>
            <a:r>
              <a:rPr sz="2400" spc="-60" dirty="0">
                <a:latin typeface="Arial"/>
                <a:cs typeface="Arial"/>
              </a:rPr>
              <a:t>momento </a:t>
            </a:r>
            <a:r>
              <a:rPr sz="2400" spc="-114" dirty="0">
                <a:latin typeface="Arial"/>
                <a:cs typeface="Arial"/>
              </a:rPr>
              <a:t>de  </a:t>
            </a:r>
            <a:r>
              <a:rPr sz="2400" spc="-55" dirty="0">
                <a:latin typeface="Arial"/>
                <a:cs typeface="Arial"/>
              </a:rPr>
              <a:t>implementar </a:t>
            </a:r>
            <a:r>
              <a:rPr sz="2400" spc="-375" dirty="0">
                <a:latin typeface="Arial"/>
                <a:cs typeface="Arial"/>
              </a:rPr>
              <a:t>ERPs </a:t>
            </a:r>
            <a:r>
              <a:rPr sz="2400" spc="-110" dirty="0">
                <a:latin typeface="Arial"/>
                <a:cs typeface="Arial"/>
              </a:rPr>
              <a:t>en </a:t>
            </a:r>
            <a:r>
              <a:rPr sz="2400" spc="-145" dirty="0">
                <a:latin typeface="Arial"/>
                <a:cs typeface="Arial"/>
              </a:rPr>
              <a:t>las</a:t>
            </a:r>
            <a:r>
              <a:rPr sz="2400" spc="-28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organizaciones.</a:t>
            </a:r>
            <a:endParaRPr sz="2400">
              <a:latin typeface="Arial"/>
              <a:cs typeface="Arial"/>
            </a:endParaRPr>
          </a:p>
          <a:p>
            <a:pPr marL="279400" marR="635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  <a:tab pos="1728470" algn="l"/>
                <a:tab pos="2395220" algn="l"/>
                <a:tab pos="3028315" algn="l"/>
                <a:tab pos="3571875" algn="l"/>
                <a:tab pos="4855210" algn="l"/>
                <a:tab pos="5361305" algn="l"/>
                <a:tab pos="6192520" algn="l"/>
                <a:tab pos="6784340" algn="l"/>
                <a:tab pos="8488680" algn="l"/>
              </a:tabLst>
            </a:pPr>
            <a:r>
              <a:rPr sz="2400" spc="-75" dirty="0">
                <a:latin typeface="Arial"/>
                <a:cs typeface="Arial"/>
              </a:rPr>
              <a:t>Defin</a:t>
            </a:r>
            <a:r>
              <a:rPr sz="2400" spc="-30" dirty="0">
                <a:latin typeface="Arial"/>
                <a:cs typeface="Arial"/>
              </a:rPr>
              <a:t>i</a:t>
            </a:r>
            <a:r>
              <a:rPr sz="2400" spc="-140" dirty="0">
                <a:latin typeface="Arial"/>
                <a:cs typeface="Arial"/>
              </a:rPr>
              <a:t>mos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05" dirty="0">
                <a:latin typeface="Arial"/>
                <a:cs typeface="Arial"/>
              </a:rPr>
              <a:t>qu</a:t>
            </a:r>
            <a:r>
              <a:rPr sz="2400" spc="-100" dirty="0">
                <a:latin typeface="Arial"/>
                <a:cs typeface="Arial"/>
              </a:rPr>
              <a:t>é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40" dirty="0">
                <a:latin typeface="Arial"/>
                <a:cs typeface="Arial"/>
              </a:rPr>
              <a:t>son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05" dirty="0">
                <a:latin typeface="Arial"/>
                <a:cs typeface="Arial"/>
              </a:rPr>
              <a:t>los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370" dirty="0">
                <a:latin typeface="Arial"/>
                <a:cs typeface="Arial"/>
              </a:rPr>
              <a:t>S</a:t>
            </a:r>
            <a:r>
              <a:rPr sz="2400" spc="-140" dirty="0">
                <a:latin typeface="Arial"/>
                <a:cs typeface="Arial"/>
              </a:rPr>
              <a:t>istema</a:t>
            </a:r>
            <a:r>
              <a:rPr sz="2400" spc="-125" dirty="0">
                <a:latin typeface="Arial"/>
                <a:cs typeface="Arial"/>
              </a:rPr>
              <a:t>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14" dirty="0">
                <a:latin typeface="Arial"/>
                <a:cs typeface="Arial"/>
              </a:rPr>
              <a:t>d</a:t>
            </a:r>
            <a:r>
              <a:rPr sz="2400" spc="-11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290" dirty="0">
                <a:latin typeface="Arial"/>
                <a:cs typeface="Arial"/>
              </a:rPr>
              <a:t>SC</a:t>
            </a:r>
            <a:r>
              <a:rPr sz="2400" spc="-355" dirty="0">
                <a:latin typeface="Arial"/>
                <a:cs typeface="Arial"/>
              </a:rPr>
              <a:t>M</a:t>
            </a:r>
            <a:r>
              <a:rPr sz="2400" spc="-70" dirty="0">
                <a:latin typeface="Arial"/>
                <a:cs typeface="Arial"/>
              </a:rPr>
              <a:t>,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210" dirty="0">
                <a:latin typeface="Arial"/>
                <a:cs typeface="Arial"/>
              </a:rPr>
              <a:t>su</a:t>
            </a:r>
            <a:r>
              <a:rPr sz="2400" spc="-195" dirty="0">
                <a:latin typeface="Arial"/>
                <a:cs typeface="Arial"/>
              </a:rPr>
              <a:t>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90" dirty="0">
                <a:latin typeface="Arial"/>
                <a:cs typeface="Arial"/>
              </a:rPr>
              <a:t>aplicacio</a:t>
            </a:r>
            <a:r>
              <a:rPr sz="2400" spc="-125" dirty="0">
                <a:latin typeface="Arial"/>
                <a:cs typeface="Arial"/>
              </a:rPr>
              <a:t>n</a:t>
            </a:r>
            <a:r>
              <a:rPr sz="2400" spc="-204" dirty="0">
                <a:latin typeface="Arial"/>
                <a:cs typeface="Arial"/>
              </a:rPr>
              <a:t>es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80" dirty="0">
                <a:latin typeface="Arial"/>
                <a:cs typeface="Arial"/>
              </a:rPr>
              <a:t>y  </a:t>
            </a:r>
            <a:r>
              <a:rPr sz="2400" spc="-90" dirty="0">
                <a:latin typeface="Arial"/>
                <a:cs typeface="Arial"/>
              </a:rPr>
              <a:t>ejemplos.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51</a:t>
            </a:fld>
            <a:endParaRPr spc="-5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205041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00" dirty="0"/>
              <a:t>Síntesis</a:t>
            </a:r>
            <a:r>
              <a:rPr spc="-300" dirty="0"/>
              <a:t> </a:t>
            </a:r>
            <a:r>
              <a:rPr spc="-125" dirty="0"/>
              <a:t>(Cont.)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 err="1"/>
              <a:t>Javer</a:t>
            </a:r>
            <a:r>
              <a:rPr lang="es-AR" spc="-5" dirty="0"/>
              <a:t>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52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96342" y="500126"/>
            <a:ext cx="8641715" cy="455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00"/>
              </a:spcBef>
            </a:pP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Preguntas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repaso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50">
              <a:latin typeface="Times New Roman"/>
              <a:cs typeface="Times New Roman"/>
            </a:endParaRPr>
          </a:p>
          <a:p>
            <a:pPr marL="279400" marR="508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  <a:tab pos="1466215" algn="l"/>
                <a:tab pos="1816735" algn="l"/>
                <a:tab pos="3220085" algn="l"/>
                <a:tab pos="4721225" algn="l"/>
                <a:tab pos="5166995" algn="l"/>
                <a:tab pos="5517515" algn="l"/>
                <a:tab pos="7049770" algn="l"/>
                <a:tab pos="7496175" algn="l"/>
                <a:tab pos="7846695" algn="l"/>
                <a:tab pos="8292465" algn="l"/>
              </a:tabLst>
            </a:pPr>
            <a:r>
              <a:rPr sz="2400" spc="-120" dirty="0">
                <a:latin typeface="Arial"/>
                <a:cs typeface="Arial"/>
              </a:rPr>
              <a:t>Expliqu</a:t>
            </a:r>
            <a:r>
              <a:rPr sz="2400" spc="-135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85" dirty="0">
                <a:latin typeface="Arial"/>
                <a:cs typeface="Arial"/>
              </a:rPr>
              <a:t>la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70" dirty="0">
                <a:latin typeface="Arial"/>
                <a:cs typeface="Arial"/>
              </a:rPr>
              <a:t>rele</a:t>
            </a:r>
            <a:r>
              <a:rPr sz="2400" spc="-75" dirty="0">
                <a:latin typeface="Arial"/>
                <a:cs typeface="Arial"/>
              </a:rPr>
              <a:t>v</a:t>
            </a:r>
            <a:r>
              <a:rPr sz="2400" spc="-125" dirty="0">
                <a:latin typeface="Arial"/>
                <a:cs typeface="Arial"/>
              </a:rPr>
              <a:t>ancia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80" dirty="0">
                <a:latin typeface="Arial"/>
                <a:cs typeface="Arial"/>
              </a:rPr>
              <a:t>estraté</a:t>
            </a:r>
            <a:r>
              <a:rPr sz="2400" spc="-110" dirty="0">
                <a:latin typeface="Arial"/>
                <a:cs typeface="Arial"/>
              </a:rPr>
              <a:t>g</a:t>
            </a:r>
            <a:r>
              <a:rPr sz="2400" spc="-120" dirty="0">
                <a:latin typeface="Arial"/>
                <a:cs typeface="Arial"/>
              </a:rPr>
              <a:t>ica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14" dirty="0">
                <a:latin typeface="Arial"/>
                <a:cs typeface="Arial"/>
              </a:rPr>
              <a:t>d</a:t>
            </a:r>
            <a:r>
              <a:rPr sz="2400" spc="-11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85" dirty="0">
                <a:latin typeface="Arial"/>
                <a:cs typeface="Arial"/>
              </a:rPr>
              <a:t>la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65" dirty="0">
                <a:latin typeface="Arial"/>
                <a:cs typeface="Arial"/>
              </a:rPr>
              <a:t>integraci</a:t>
            </a:r>
            <a:r>
              <a:rPr sz="2400" spc="-95" dirty="0">
                <a:latin typeface="Arial"/>
                <a:cs typeface="Arial"/>
              </a:rPr>
              <a:t>ó</a:t>
            </a:r>
            <a:r>
              <a:rPr sz="2400" spc="-75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14" dirty="0">
                <a:latin typeface="Arial"/>
                <a:cs typeface="Arial"/>
              </a:rPr>
              <a:t>d</a:t>
            </a:r>
            <a:r>
              <a:rPr sz="2400" spc="-11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405" dirty="0">
                <a:latin typeface="Arial"/>
                <a:cs typeface="Arial"/>
              </a:rPr>
              <a:t>S</a:t>
            </a:r>
            <a:r>
              <a:rPr sz="2400" spc="-165" dirty="0">
                <a:latin typeface="Arial"/>
                <a:cs typeface="Arial"/>
              </a:rPr>
              <a:t>I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14" dirty="0">
                <a:latin typeface="Arial"/>
                <a:cs typeface="Arial"/>
              </a:rPr>
              <a:t>e</a:t>
            </a:r>
            <a:r>
              <a:rPr sz="2400" spc="-110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25" dirty="0">
                <a:latin typeface="Arial"/>
                <a:cs typeface="Arial"/>
              </a:rPr>
              <a:t>las  </a:t>
            </a:r>
            <a:r>
              <a:rPr sz="2400" spc="-120" dirty="0">
                <a:latin typeface="Arial"/>
                <a:cs typeface="Arial"/>
              </a:rPr>
              <a:t>organizaciones.</a:t>
            </a:r>
            <a:endParaRPr sz="2400">
              <a:latin typeface="Arial"/>
              <a:cs typeface="Arial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400" spc="-120" dirty="0">
                <a:latin typeface="Arial"/>
                <a:cs typeface="Arial"/>
              </a:rPr>
              <a:t>Explique </a:t>
            </a:r>
            <a:r>
              <a:rPr sz="2400" spc="-65" dirty="0">
                <a:latin typeface="Arial"/>
                <a:cs typeface="Arial"/>
              </a:rPr>
              <a:t>el </a:t>
            </a:r>
            <a:r>
              <a:rPr sz="2400" spc="-85" dirty="0">
                <a:latin typeface="Arial"/>
                <a:cs typeface="Arial"/>
              </a:rPr>
              <a:t>concepto </a:t>
            </a:r>
            <a:r>
              <a:rPr sz="2400" spc="-110" dirty="0">
                <a:latin typeface="Arial"/>
                <a:cs typeface="Arial"/>
              </a:rPr>
              <a:t>de</a:t>
            </a:r>
            <a:r>
              <a:rPr sz="2400" spc="-245" dirty="0">
                <a:latin typeface="Arial"/>
                <a:cs typeface="Arial"/>
              </a:rPr>
              <a:t> </a:t>
            </a:r>
            <a:r>
              <a:rPr sz="2400" spc="-325" dirty="0">
                <a:latin typeface="Arial"/>
                <a:cs typeface="Arial"/>
              </a:rPr>
              <a:t>ERP.</a:t>
            </a:r>
            <a:endParaRPr sz="2400">
              <a:latin typeface="Arial"/>
              <a:cs typeface="Arial"/>
            </a:endParaRPr>
          </a:p>
          <a:p>
            <a:pPr marL="279400" marR="5715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  <a:tab pos="1796414" algn="l"/>
                <a:tab pos="2304415" algn="l"/>
                <a:tab pos="3676015" algn="l"/>
                <a:tab pos="4170045" algn="l"/>
                <a:tab pos="5365750" algn="l"/>
                <a:tab pos="5643245" algn="l"/>
                <a:tab pos="7068820" algn="l"/>
                <a:tab pos="7366000" algn="l"/>
                <a:tab pos="8314055" algn="l"/>
              </a:tabLst>
            </a:pPr>
            <a:r>
              <a:rPr sz="2400" spc="-40" dirty="0">
                <a:latin typeface="Arial"/>
                <a:cs typeface="Arial"/>
              </a:rPr>
              <a:t>Identifique	</a:t>
            </a:r>
            <a:r>
              <a:rPr sz="2400" spc="-105" dirty="0">
                <a:latin typeface="Arial"/>
                <a:cs typeface="Arial"/>
              </a:rPr>
              <a:t>los	</a:t>
            </a:r>
            <a:r>
              <a:rPr sz="2400" spc="-70" dirty="0">
                <a:latin typeface="Arial"/>
                <a:cs typeface="Arial"/>
              </a:rPr>
              <a:t>objetivos</a:t>
            </a:r>
            <a:r>
              <a:rPr sz="2400" spc="-40" dirty="0">
                <a:latin typeface="Arial"/>
                <a:cs typeface="Arial"/>
              </a:rPr>
              <a:t>,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45" dirty="0">
                <a:latin typeface="Arial"/>
                <a:cs typeface="Arial"/>
              </a:rPr>
              <a:t>las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75" dirty="0">
                <a:latin typeface="Arial"/>
                <a:cs typeface="Arial"/>
              </a:rPr>
              <a:t>vent</a:t>
            </a:r>
            <a:r>
              <a:rPr sz="2400" spc="-85" dirty="0">
                <a:latin typeface="Arial"/>
                <a:cs typeface="Arial"/>
              </a:rPr>
              <a:t>a</a:t>
            </a:r>
            <a:r>
              <a:rPr sz="2400" spc="-130" dirty="0">
                <a:latin typeface="Arial"/>
                <a:cs typeface="Arial"/>
              </a:rPr>
              <a:t>ja</a:t>
            </a:r>
            <a:r>
              <a:rPr sz="2400" spc="-160" dirty="0">
                <a:latin typeface="Arial"/>
                <a:cs typeface="Arial"/>
              </a:rPr>
              <a:t>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260" dirty="0">
                <a:latin typeface="Arial"/>
                <a:cs typeface="Arial"/>
              </a:rPr>
              <a:t>/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14" dirty="0">
                <a:latin typeface="Arial"/>
                <a:cs typeface="Arial"/>
              </a:rPr>
              <a:t>ben</a:t>
            </a:r>
            <a:r>
              <a:rPr sz="2400" spc="-105" dirty="0">
                <a:latin typeface="Arial"/>
                <a:cs typeface="Arial"/>
              </a:rPr>
              <a:t>e</a:t>
            </a:r>
            <a:r>
              <a:rPr sz="2400" spc="-70" dirty="0">
                <a:latin typeface="Arial"/>
                <a:cs typeface="Arial"/>
              </a:rPr>
              <a:t>ficio</a:t>
            </a:r>
            <a:r>
              <a:rPr sz="2400" spc="-95" dirty="0">
                <a:latin typeface="Arial"/>
                <a:cs typeface="Arial"/>
              </a:rPr>
              <a:t>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14" dirty="0">
                <a:latin typeface="Arial"/>
                <a:cs typeface="Arial"/>
              </a:rPr>
              <a:t>y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10" dirty="0">
                <a:latin typeface="Arial"/>
                <a:cs typeface="Arial"/>
              </a:rPr>
              <a:t>cos</a:t>
            </a:r>
            <a:r>
              <a:rPr sz="2400" spc="-70" dirty="0">
                <a:latin typeface="Arial"/>
                <a:cs typeface="Arial"/>
              </a:rPr>
              <a:t>t</a:t>
            </a:r>
            <a:r>
              <a:rPr sz="2400" spc="-180" dirty="0">
                <a:latin typeface="Arial"/>
                <a:cs typeface="Arial"/>
              </a:rPr>
              <a:t>o</a:t>
            </a:r>
            <a:r>
              <a:rPr sz="2400" spc="-160" dirty="0">
                <a:latin typeface="Arial"/>
                <a:cs typeface="Arial"/>
              </a:rPr>
              <a:t>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80" dirty="0">
                <a:latin typeface="Arial"/>
                <a:cs typeface="Arial"/>
              </a:rPr>
              <a:t>de  </a:t>
            </a:r>
            <a:r>
              <a:rPr sz="2400" spc="-70" dirty="0">
                <a:latin typeface="Arial"/>
                <a:cs typeface="Arial"/>
              </a:rPr>
              <a:t>implementación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80" dirty="0">
                <a:latin typeface="Arial"/>
                <a:cs typeface="Arial"/>
              </a:rPr>
              <a:t>un</a:t>
            </a:r>
            <a:r>
              <a:rPr sz="2400" spc="-229" dirty="0">
                <a:latin typeface="Arial"/>
                <a:cs typeface="Arial"/>
              </a:rPr>
              <a:t> </a:t>
            </a:r>
            <a:r>
              <a:rPr sz="2400" spc="-325" dirty="0">
                <a:latin typeface="Arial"/>
                <a:cs typeface="Arial"/>
              </a:rPr>
              <a:t>ERP.</a:t>
            </a:r>
            <a:endParaRPr sz="2400">
              <a:latin typeface="Arial"/>
              <a:cs typeface="Arial"/>
            </a:endParaRPr>
          </a:p>
          <a:p>
            <a:pPr marL="279400" marR="6985" indent="-266700" algn="just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400" spc="-135" dirty="0">
                <a:latin typeface="Arial"/>
                <a:cs typeface="Arial"/>
              </a:rPr>
              <a:t>Describa </a:t>
            </a:r>
            <a:r>
              <a:rPr sz="2400" spc="-145" dirty="0">
                <a:latin typeface="Arial"/>
                <a:cs typeface="Arial"/>
              </a:rPr>
              <a:t>las </a:t>
            </a:r>
            <a:r>
              <a:rPr sz="2400" spc="-114" dirty="0">
                <a:latin typeface="Arial"/>
                <a:cs typeface="Arial"/>
              </a:rPr>
              <a:t>consideraciones </a:t>
            </a:r>
            <a:r>
              <a:rPr sz="2400" spc="-90" dirty="0">
                <a:latin typeface="Arial"/>
                <a:cs typeface="Arial"/>
              </a:rPr>
              <a:t>relevantes </a:t>
            </a:r>
            <a:r>
              <a:rPr sz="2400" spc="-100" dirty="0">
                <a:latin typeface="Arial"/>
                <a:cs typeface="Arial"/>
              </a:rPr>
              <a:t>que </a:t>
            </a:r>
            <a:r>
              <a:rPr sz="2400" spc="-114" dirty="0">
                <a:latin typeface="Arial"/>
                <a:cs typeface="Arial"/>
              </a:rPr>
              <a:t>una </a:t>
            </a:r>
            <a:r>
              <a:rPr sz="2400" spc="-110" dirty="0">
                <a:latin typeface="Arial"/>
                <a:cs typeface="Arial"/>
              </a:rPr>
              <a:t>organización </a:t>
            </a:r>
            <a:r>
              <a:rPr sz="2400" spc="-114" dirty="0">
                <a:latin typeface="Arial"/>
                <a:cs typeface="Arial"/>
              </a:rPr>
              <a:t>debe  </a:t>
            </a:r>
            <a:r>
              <a:rPr sz="2400" spc="-40" dirty="0">
                <a:latin typeface="Arial"/>
                <a:cs typeface="Arial"/>
              </a:rPr>
              <a:t>tener </a:t>
            </a:r>
            <a:r>
              <a:rPr sz="2400" spc="-110" dirty="0">
                <a:latin typeface="Arial"/>
                <a:cs typeface="Arial"/>
              </a:rPr>
              <a:t>en </a:t>
            </a:r>
            <a:r>
              <a:rPr sz="2400" spc="-90" dirty="0">
                <a:latin typeface="Arial"/>
                <a:cs typeface="Arial"/>
              </a:rPr>
              <a:t>cuenta </a:t>
            </a:r>
            <a:r>
              <a:rPr sz="2400" spc="-85" dirty="0">
                <a:latin typeface="Arial"/>
                <a:cs typeface="Arial"/>
              </a:rPr>
              <a:t>al </a:t>
            </a:r>
            <a:r>
              <a:rPr sz="2400" spc="-55" dirty="0">
                <a:latin typeface="Arial"/>
                <a:cs typeface="Arial"/>
              </a:rPr>
              <a:t>implementar </a:t>
            </a:r>
            <a:r>
              <a:rPr sz="2400" spc="-80" dirty="0">
                <a:latin typeface="Arial"/>
                <a:cs typeface="Arial"/>
              </a:rPr>
              <a:t>un </a:t>
            </a:r>
            <a:r>
              <a:rPr sz="2400" spc="-330" dirty="0">
                <a:latin typeface="Arial"/>
                <a:cs typeface="Arial"/>
              </a:rPr>
              <a:t>ERP, </a:t>
            </a:r>
            <a:r>
              <a:rPr sz="2400" spc="-80" dirty="0">
                <a:latin typeface="Arial"/>
                <a:cs typeface="Arial"/>
              </a:rPr>
              <a:t>incluyendo </a:t>
            </a:r>
            <a:r>
              <a:rPr sz="2400" spc="-125" dirty="0">
                <a:latin typeface="Arial"/>
                <a:cs typeface="Arial"/>
              </a:rPr>
              <a:t>decisiones  </a:t>
            </a:r>
            <a:r>
              <a:rPr sz="2400" spc="-105" dirty="0">
                <a:latin typeface="Arial"/>
                <a:cs typeface="Arial"/>
              </a:rPr>
              <a:t>estratégicas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85" dirty="0">
                <a:latin typeface="Arial"/>
                <a:cs typeface="Arial"/>
              </a:rPr>
              <a:t>gestión </a:t>
            </a:r>
            <a:r>
              <a:rPr sz="2400" spc="-70" dirty="0">
                <a:latin typeface="Arial"/>
                <a:cs typeface="Arial"/>
              </a:rPr>
              <a:t>del</a:t>
            </a:r>
            <a:r>
              <a:rPr sz="2400" spc="-240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cambio.</a:t>
            </a:r>
            <a:endParaRPr sz="2400">
              <a:latin typeface="Arial"/>
              <a:cs typeface="Arial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400" spc="-120" dirty="0">
                <a:latin typeface="Arial"/>
                <a:cs typeface="Arial"/>
              </a:rPr>
              <a:t>Explique 4 </a:t>
            </a:r>
            <a:r>
              <a:rPr sz="2400" spc="-110" dirty="0">
                <a:latin typeface="Arial"/>
                <a:cs typeface="Arial"/>
              </a:rPr>
              <a:t>aplicaciones de </a:t>
            </a:r>
            <a:r>
              <a:rPr sz="2400" spc="-105" dirty="0">
                <a:latin typeface="Arial"/>
                <a:cs typeface="Arial"/>
              </a:rPr>
              <a:t>los </a:t>
            </a:r>
            <a:r>
              <a:rPr sz="2400" spc="-135" dirty="0">
                <a:latin typeface="Arial"/>
                <a:cs typeface="Arial"/>
              </a:rPr>
              <a:t>sistemas </a:t>
            </a:r>
            <a:r>
              <a:rPr sz="2400" spc="-110" dirty="0">
                <a:latin typeface="Arial"/>
                <a:cs typeface="Arial"/>
              </a:rPr>
              <a:t>de</a:t>
            </a:r>
            <a:r>
              <a:rPr sz="2400" spc="-220" dirty="0">
                <a:latin typeface="Arial"/>
                <a:cs typeface="Arial"/>
              </a:rPr>
              <a:t> </a:t>
            </a:r>
            <a:r>
              <a:rPr sz="2400" spc="-245" dirty="0">
                <a:latin typeface="Arial"/>
                <a:cs typeface="Arial"/>
              </a:rPr>
              <a:t>SCM.</a:t>
            </a:r>
            <a:endParaRPr sz="2400">
              <a:latin typeface="Arial"/>
              <a:cs typeface="Arial"/>
            </a:endParaRPr>
          </a:p>
          <a:p>
            <a:pPr marL="279400" marR="6985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  <a:tab pos="1524000" algn="l"/>
                <a:tab pos="2259330" algn="l"/>
                <a:tab pos="2902585" algn="l"/>
                <a:tab pos="4271645" algn="l"/>
                <a:tab pos="5450205" algn="l"/>
                <a:tab pos="5890895" algn="l"/>
                <a:tab pos="7495540" algn="l"/>
                <a:tab pos="8348980" algn="l"/>
              </a:tabLst>
            </a:pPr>
            <a:r>
              <a:rPr sz="2400" spc="-215" dirty="0">
                <a:latin typeface="Arial"/>
                <a:cs typeface="Arial"/>
              </a:rPr>
              <a:t>¿Cuále</a:t>
            </a:r>
            <a:r>
              <a:rPr sz="2400" spc="-195" dirty="0">
                <a:latin typeface="Arial"/>
                <a:cs typeface="Arial"/>
              </a:rPr>
              <a:t>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40" dirty="0">
                <a:latin typeface="Arial"/>
                <a:cs typeface="Arial"/>
              </a:rPr>
              <a:t>son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05" dirty="0">
                <a:latin typeface="Arial"/>
                <a:cs typeface="Arial"/>
              </a:rPr>
              <a:t>los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90" dirty="0">
                <a:latin typeface="Arial"/>
                <a:cs typeface="Arial"/>
              </a:rPr>
              <a:t>módulos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200" dirty="0">
                <a:latin typeface="Arial"/>
                <a:cs typeface="Arial"/>
              </a:rPr>
              <a:t>c</a:t>
            </a:r>
            <a:r>
              <a:rPr sz="2400" spc="-20" dirty="0">
                <a:latin typeface="Arial"/>
                <a:cs typeface="Arial"/>
              </a:rPr>
              <a:t>ríti</a:t>
            </a:r>
            <a:r>
              <a:rPr sz="2400" spc="-50" dirty="0">
                <a:latin typeface="Arial"/>
                <a:cs typeface="Arial"/>
              </a:rPr>
              <a:t>c</a:t>
            </a:r>
            <a:r>
              <a:rPr sz="2400" spc="-180" dirty="0">
                <a:latin typeface="Arial"/>
                <a:cs typeface="Arial"/>
              </a:rPr>
              <a:t>o</a:t>
            </a:r>
            <a:r>
              <a:rPr sz="2400" spc="-160" dirty="0">
                <a:latin typeface="Arial"/>
                <a:cs typeface="Arial"/>
              </a:rPr>
              <a:t>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9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90" dirty="0">
                <a:latin typeface="Arial"/>
                <a:cs typeface="Arial"/>
              </a:rPr>
              <a:t>considerar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05" dirty="0">
                <a:latin typeface="Arial"/>
                <a:cs typeface="Arial"/>
              </a:rPr>
              <a:t>par</a:t>
            </a:r>
            <a:r>
              <a:rPr sz="2400" spc="-114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40" dirty="0">
                <a:latin typeface="Arial"/>
                <a:cs typeface="Arial"/>
              </a:rPr>
              <a:t>su  </a:t>
            </a:r>
            <a:r>
              <a:rPr sz="2400" spc="-80" dirty="0">
                <a:latin typeface="Arial"/>
                <a:cs typeface="Arial"/>
              </a:rPr>
              <a:t>implementación?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" y="0"/>
            <a:ext cx="9139427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5750" y="2084070"/>
            <a:ext cx="191198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60" dirty="0"/>
              <a:t>¿Dudas?</a:t>
            </a:r>
            <a:endParaRPr sz="3000"/>
          </a:p>
          <a:p>
            <a:pPr marL="12700">
              <a:lnSpc>
                <a:spcPct val="100000"/>
              </a:lnSpc>
            </a:pPr>
            <a:r>
              <a:rPr sz="3000" spc="-105" dirty="0"/>
              <a:t>¿Consultas?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640</TotalTime>
  <Words>5401</Words>
  <Application>Microsoft Office PowerPoint</Application>
  <PresentationFormat>Presentación en pantalla (4:3)</PresentationFormat>
  <Paragraphs>547</Paragraphs>
  <Slides>53</Slides>
  <Notes>0</Notes>
  <HiddenSlides>2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53</vt:i4>
      </vt:variant>
    </vt:vector>
  </HeadingPairs>
  <TitlesOfParts>
    <vt:vector size="60" baseType="lpstr">
      <vt:lpstr>Arial</vt:lpstr>
      <vt:lpstr>Calibri</vt:lpstr>
      <vt:lpstr>Times New Roman</vt:lpstr>
      <vt:lpstr>Trebuchet MS</vt:lpstr>
      <vt:lpstr>Verdana</vt:lpstr>
      <vt:lpstr>Wingdings</vt:lpstr>
      <vt:lpstr>Office Theme</vt:lpstr>
      <vt:lpstr>Sistemas de  Información</vt:lpstr>
      <vt:lpstr>Presentación de PowerPoint</vt:lpstr>
      <vt:lpstr>Presentación de PowerPoint</vt:lpstr>
      <vt:lpstr>I – Integración de Sistemas / ERP Necesidades de Integración en las organizaciones</vt:lpstr>
      <vt:lpstr>Presentación de PowerPoint</vt:lpstr>
      <vt:lpstr>I – Integración de Sistemas / ERP (Cont.) Necesidades de Integración en las organizaciones (Cont.)</vt:lpstr>
      <vt:lpstr>Presentación de PowerPoint</vt:lpstr>
      <vt:lpstr>Presentación de PowerPoint</vt:lpstr>
      <vt:lpstr>I – Integración de Sistemas / ERP (Cont.) Necesidades de Integración en las organizaciones (Cont.)</vt:lpstr>
      <vt:lpstr>I – Integración de Sistemas / ERP (Cont.) Necesidades de Integración en las organizaciones (Cont.)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I – Integración de Sistemas / ERP (Cont.) ERP: conceptos básicos y puntos críticos para su adecuada gestión en las organizaciones  (Cont.)</vt:lpstr>
      <vt:lpstr>Presentación de PowerPoint</vt:lpstr>
      <vt:lpstr>I – Integración de Sistemas / ERP (Cont.)</vt:lpstr>
      <vt:lpstr>I – Integración de Sistemas / ERP (Cont.)</vt:lpstr>
      <vt:lpstr>I – Integración de Sistemas / ERP (Cont.)</vt:lpstr>
      <vt:lpstr>Presentación de PowerPoint</vt:lpstr>
      <vt:lpstr>I – Integración de Sistemas / ERP (Cont.)</vt:lpstr>
      <vt:lpstr>I – Integración de Sistemas / ERP (Cont.)</vt:lpstr>
      <vt:lpstr>I – Integración de Sistemas / ERP (Cont.)</vt:lpstr>
      <vt:lpstr>I – Integración de Sistemas / ERP (Cont.)</vt:lpstr>
      <vt:lpstr>Presentación de PowerPoint</vt:lpstr>
      <vt:lpstr>Presentación de PowerPoint</vt:lpstr>
      <vt:lpstr>Presentación de PowerPoint</vt:lpstr>
      <vt:lpstr>I – Integración de Sistemas / ERP (Cont.)</vt:lpstr>
      <vt:lpstr>I – Integración de Sistemas / ERP (Cont.)</vt:lpstr>
      <vt:lpstr>I – Integración de Sistemas / ERP (Cont.)</vt:lpstr>
      <vt:lpstr>I – Integración de Sistemas / ERP (Cont.)</vt:lpstr>
      <vt:lpstr>Presentación de PowerPoint</vt:lpstr>
      <vt:lpstr>Presentación de PowerPoint</vt:lpstr>
      <vt:lpstr>Presentación de PowerPoint</vt:lpstr>
      <vt:lpstr>Presentación de PowerPoint</vt:lpstr>
      <vt:lpstr>I – Integración de Sistemas / ERP (Cont.)</vt:lpstr>
      <vt:lpstr>Presentación de PowerPoint</vt:lpstr>
      <vt:lpstr>SCM (Supply Chain  Management)</vt:lpstr>
      <vt:lpstr>II – SCM (Supply Chain Management) Concepto y objetivos</vt:lpstr>
      <vt:lpstr>II – SCM (Supply Chain Management) (Cont.) Concepto y objetivos (Cont.)</vt:lpstr>
      <vt:lpstr>Manufactura integrada al computador:</vt:lpstr>
      <vt:lpstr>Redes de manufactura de colaboración:</vt:lpstr>
      <vt:lpstr>Ingeniería asistida por computador (CAE):</vt:lpstr>
      <vt:lpstr>II – SCM (Supply Chain Management) (Cont.) Procesos y módulos de gestión</vt:lpstr>
      <vt:lpstr>Presentación de PowerPoint</vt:lpstr>
      <vt:lpstr>II – SCM (Supply Chain Management) (Cont.) Procesos y módulos de gestión (Cont.)</vt:lpstr>
      <vt:lpstr>II – SCM (Supply Chain Management) (Cont.) Procesos y módulos de gestión (Cont.)</vt:lpstr>
      <vt:lpstr>Ejemplos de aplicación de SCM</vt:lpstr>
      <vt:lpstr>Presentación de PowerPoint</vt:lpstr>
      <vt:lpstr>Presentación de PowerPoint</vt:lpstr>
      <vt:lpstr>III – Síntesis (Cont.)</vt:lpstr>
      <vt:lpstr>¿Dudas? ¿Consultas?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Datawarehousing</dc:title>
  <dc:creator>Roberto Abalde</dc:creator>
  <cp:lastModifiedBy>javier.klus javier.klus</cp:lastModifiedBy>
  <cp:revision>3</cp:revision>
  <dcterms:created xsi:type="dcterms:W3CDTF">2019-09-30T14:59:14Z</dcterms:created>
  <dcterms:modified xsi:type="dcterms:W3CDTF">2020-10-08T12:22:22Z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2019-03-03T00:00:00Z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2019-09-30T00:00:00Z</vt:filetime>
  </property>
</Properties>
</file>