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6858000" type="screen4x3"/>
  <p:notesSz cx="7010400" cy="92964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97"/>
  </p:normalViewPr>
  <p:slideViewPr>
    <p:cSldViewPr>
      <p:cViewPr varScale="1">
        <p:scale>
          <a:sx n="85" d="100"/>
          <a:sy n="85" d="100"/>
        </p:scale>
        <p:origin x="186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4037329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2541" y="1871980"/>
            <a:ext cx="6278880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hyperlink" Target="http://www.youtube.com/watch?v=gBX7Qy61F4A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3.png"/><Relationship Id="rId7" Type="http://schemas.openxmlformats.org/officeDocument/2006/relationships/image" Target="../media/image94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335" dirty="0">
                <a:latin typeface="Trebuchet MS"/>
                <a:cs typeface="Trebuchet MS"/>
              </a:rPr>
              <a:t>Sistemas </a:t>
            </a:r>
            <a:r>
              <a:rPr sz="5400" i="1" spc="-340" dirty="0">
                <a:latin typeface="Trebuchet MS"/>
                <a:cs typeface="Trebuchet MS"/>
              </a:rPr>
              <a:t>de  </a:t>
            </a:r>
            <a:r>
              <a:rPr sz="5400" i="1" spc="-300" dirty="0">
                <a:latin typeface="Trebuchet MS"/>
                <a:cs typeface="Trebuchet MS"/>
              </a:rPr>
              <a:t>Información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2035301"/>
            <a:ext cx="1540002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425445"/>
            <a:ext cx="3730752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99766"/>
            <a:ext cx="1363980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101341"/>
            <a:ext cx="3394710" cy="203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Unidad</a:t>
            </a:r>
            <a:r>
              <a:rPr sz="2400" b="1" i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i="1" spc="-19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Sistemas de </a:t>
            </a:r>
            <a:r>
              <a:rPr sz="18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 </a:t>
            </a:r>
            <a:r>
              <a:rPr sz="1800" b="1" i="1" spc="-17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b="1" i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Procesos  </a:t>
            </a: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b="1" i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Negocio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566166"/>
            <a:ext cx="3221736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618743"/>
            <a:ext cx="2921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Procedimientos </a:t>
            </a:r>
            <a:r>
              <a:rPr sz="1600" b="1" spc="-105" dirty="0">
                <a:solidFill>
                  <a:srgbClr val="003186"/>
                </a:solidFill>
                <a:latin typeface="Trebuchet MS"/>
                <a:cs typeface="Trebuchet MS"/>
              </a:rPr>
              <a:t>en </a:t>
            </a: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la</a:t>
            </a:r>
            <a:r>
              <a:rPr sz="1600" b="1" spc="-2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organización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51473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51473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60807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06413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03546" y="1045159"/>
            <a:ext cx="227965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¿Qué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es un</a:t>
            </a:r>
            <a:r>
              <a:rPr sz="1400" b="1" spc="-26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procedimiento?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Ejemplos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articulación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0427" y="1983104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79B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0427" y="1983104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03876" y="2076704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204" y="2529458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6953" y="2052066"/>
            <a:ext cx="2611374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7829" y="2104643"/>
            <a:ext cx="2309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003186"/>
                </a:solidFill>
                <a:latin typeface="Trebuchet MS"/>
                <a:cs typeface="Trebuchet MS"/>
              </a:rPr>
              <a:t>Compras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Cuentas </a:t>
            </a:r>
            <a:r>
              <a:rPr sz="1600" b="1" spc="-65" dirty="0">
                <a:solidFill>
                  <a:srgbClr val="003186"/>
                </a:solidFill>
                <a:latin typeface="Trebuchet MS"/>
                <a:cs typeface="Trebuchet MS"/>
              </a:rPr>
              <a:t>a</a:t>
            </a:r>
            <a:r>
              <a:rPr sz="1600" b="1" spc="-26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Pagar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40" y="2522574"/>
            <a:ext cx="3053715" cy="98679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241935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Visión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alto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nivel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del</a:t>
            </a:r>
            <a:r>
              <a:rPr sz="1400" b="1" spc="-26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procedimiento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Actividades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controles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Intervención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tecnología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0427" y="3780663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1"/>
                </a:lnTo>
                <a:lnTo>
                  <a:pt x="365760" y="549401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40427" y="3780663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1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1"/>
                </a:lnTo>
                <a:lnTo>
                  <a:pt x="0" y="549401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069585" y="3874008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9204" y="432625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6953" y="3848861"/>
            <a:ext cx="822960" cy="509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97829" y="3901694"/>
            <a:ext cx="5219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65" dirty="0">
                <a:solidFill>
                  <a:srgbClr val="003186"/>
                </a:solidFill>
                <a:latin typeface="Trebuchet MS"/>
                <a:cs typeface="Trebuchet MS"/>
              </a:rPr>
              <a:t>Pagos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3640" y="4320742"/>
            <a:ext cx="3054985" cy="9855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935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Visión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alto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nivel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del</a:t>
            </a:r>
            <a:r>
              <a:rPr sz="1400" b="1" spc="-254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procedimiento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Actividades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controles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Intervención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tecnología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41189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41189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63490" y="5713984"/>
            <a:ext cx="243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9966" y="61664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47715" y="5689091"/>
            <a:ext cx="966977" cy="509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98591" y="57419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4655" y="62677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2544" y="4474007"/>
            <a:ext cx="3632200" cy="169163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4"/>
              </a:spcBef>
            </a:pPr>
            <a:r>
              <a:rPr sz="28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800">
              <a:latin typeface="Trebuchet MS"/>
              <a:cs typeface="Trebuchet MS"/>
            </a:endParaRPr>
          </a:p>
          <a:p>
            <a:pPr marL="628650" marR="502920" indent="-616585">
              <a:lnSpc>
                <a:spcPct val="100000"/>
              </a:lnSpc>
              <a:spcBef>
                <a:spcPts val="1520"/>
              </a:spcBef>
            </a:pPr>
            <a:r>
              <a:rPr sz="2800" b="1" spc="-155" dirty="0">
                <a:solidFill>
                  <a:srgbClr val="00338D"/>
                </a:solidFill>
                <a:latin typeface="Trebuchet MS"/>
                <a:cs typeface="Trebuchet MS"/>
              </a:rPr>
              <a:t>Procedimientos </a:t>
            </a:r>
            <a:r>
              <a:rPr sz="2800" b="1" spc="-180" dirty="0">
                <a:solidFill>
                  <a:srgbClr val="00338D"/>
                </a:solidFill>
                <a:latin typeface="Trebuchet MS"/>
                <a:cs typeface="Trebuchet MS"/>
              </a:rPr>
              <a:t>en</a:t>
            </a:r>
            <a:r>
              <a:rPr sz="2800" b="1" spc="-34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25" dirty="0">
                <a:solidFill>
                  <a:srgbClr val="00338D"/>
                </a:solidFill>
                <a:latin typeface="Trebuchet MS"/>
                <a:cs typeface="Trebuchet MS"/>
              </a:rPr>
              <a:t>la 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organización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9509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lang="es-AR"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Procesos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en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organización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60" dirty="0">
                <a:solidFill>
                  <a:srgbClr val="FFFFFF"/>
                </a:solidFill>
                <a:latin typeface="Arial"/>
                <a:cs typeface="Arial"/>
              </a:rPr>
              <a:t>¿Qué </a:t>
            </a: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8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procedimiento?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4620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80" dirty="0">
                <a:solidFill>
                  <a:srgbClr val="000000"/>
                </a:solidFill>
                <a:latin typeface="Arial"/>
                <a:cs typeface="Arial"/>
              </a:rPr>
              <a:t>Un </a:t>
            </a:r>
            <a:r>
              <a:rPr lang="es-AR" sz="3200" b="0" spc="-80" dirty="0">
                <a:solidFill>
                  <a:srgbClr val="000000"/>
                </a:solidFill>
                <a:latin typeface="Arial"/>
                <a:cs typeface="Arial"/>
              </a:rPr>
              <a:t>Proceso</a:t>
            </a:r>
            <a:r>
              <a:rPr sz="32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275" dirty="0">
                <a:solidFill>
                  <a:srgbClr val="000000"/>
                </a:solidFill>
                <a:latin typeface="Arial"/>
                <a:cs typeface="Arial"/>
              </a:rPr>
              <a:t>se</a:t>
            </a:r>
            <a:r>
              <a:rPr sz="3200" b="0" spc="-2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85" dirty="0">
                <a:solidFill>
                  <a:srgbClr val="000000"/>
                </a:solidFill>
                <a:latin typeface="Arial"/>
                <a:cs typeface="Arial"/>
              </a:rPr>
              <a:t>define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5115" y="5784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2541" y="1778254"/>
            <a:ext cx="5135245" cy="438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145" dirty="0">
                <a:latin typeface="Trebuchet MS"/>
                <a:cs typeface="Trebuchet MS"/>
              </a:rPr>
              <a:t>Como </a:t>
            </a:r>
            <a:r>
              <a:rPr sz="2800" b="1" i="1" spc="-95" dirty="0">
                <a:latin typeface="Trebuchet MS"/>
                <a:cs typeface="Trebuchet MS"/>
              </a:rPr>
              <a:t>un </a:t>
            </a:r>
            <a:r>
              <a:rPr sz="2800" b="1" i="1" spc="-175" dirty="0">
                <a:latin typeface="Trebuchet MS"/>
                <a:cs typeface="Trebuchet MS"/>
              </a:rPr>
              <a:t>conjunto </a:t>
            </a:r>
            <a:r>
              <a:rPr sz="2800" b="1" i="1" spc="-180" dirty="0">
                <a:latin typeface="Trebuchet MS"/>
                <a:cs typeface="Trebuchet MS"/>
              </a:rPr>
              <a:t>de </a:t>
            </a:r>
            <a:r>
              <a:rPr sz="2800" b="1" i="1" spc="-200" dirty="0">
                <a:latin typeface="Trebuchet MS"/>
                <a:cs typeface="Trebuchet MS"/>
              </a:rPr>
              <a:t>acciones,  </a:t>
            </a:r>
            <a:r>
              <a:rPr sz="2800" b="1" i="1" spc="-185" dirty="0">
                <a:latin typeface="Trebuchet MS"/>
                <a:cs typeface="Trebuchet MS"/>
              </a:rPr>
              <a:t>operaciones </a:t>
            </a:r>
            <a:r>
              <a:rPr sz="2800" b="1" i="1" spc="-120" dirty="0">
                <a:latin typeface="Trebuchet MS"/>
                <a:cs typeface="Trebuchet MS"/>
              </a:rPr>
              <a:t>o</a:t>
            </a:r>
            <a:r>
              <a:rPr sz="2800" b="1" i="1" spc="-254" dirty="0">
                <a:latin typeface="Trebuchet MS"/>
                <a:cs typeface="Trebuchet MS"/>
              </a:rPr>
              <a:t> </a:t>
            </a:r>
            <a:r>
              <a:rPr sz="2800" b="1" i="1" spc="-225" dirty="0">
                <a:latin typeface="Trebuchet MS"/>
                <a:cs typeface="Trebuchet MS"/>
              </a:rPr>
              <a:t>comandos</a:t>
            </a:r>
            <a:r>
              <a:rPr sz="2800" b="1" i="1" spc="-225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  <a:p>
            <a:pPr marL="355600" marR="6985" indent="-34290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175" dirty="0">
                <a:latin typeface="Trebuchet MS"/>
                <a:cs typeface="Trebuchet MS"/>
              </a:rPr>
              <a:t>Que </a:t>
            </a:r>
            <a:r>
              <a:rPr sz="2800" b="1" i="1" spc="-165" dirty="0">
                <a:latin typeface="Trebuchet MS"/>
                <a:cs typeface="Trebuchet MS"/>
              </a:rPr>
              <a:t>deben </a:t>
            </a:r>
            <a:r>
              <a:rPr sz="2800" b="1" i="1" spc="-185" dirty="0">
                <a:latin typeface="Trebuchet MS"/>
                <a:cs typeface="Trebuchet MS"/>
              </a:rPr>
              <a:t>instrumentarse </a:t>
            </a:r>
            <a:r>
              <a:rPr sz="2800" b="1" i="1" spc="-180" dirty="0">
                <a:latin typeface="Trebuchet MS"/>
                <a:cs typeface="Trebuchet MS"/>
              </a:rPr>
              <a:t>de </a:t>
            </a:r>
            <a:r>
              <a:rPr sz="2800" b="1" i="1" spc="-200" dirty="0">
                <a:latin typeface="Trebuchet MS"/>
                <a:cs typeface="Trebuchet MS"/>
              </a:rPr>
              <a:t>la  </a:t>
            </a:r>
            <a:r>
              <a:rPr sz="2800" b="1" i="1" spc="-150" dirty="0">
                <a:latin typeface="Trebuchet MS"/>
                <a:cs typeface="Trebuchet MS"/>
              </a:rPr>
              <a:t>misma</a:t>
            </a:r>
            <a:r>
              <a:rPr sz="2800" b="1" i="1" spc="-229" dirty="0">
                <a:latin typeface="Trebuchet MS"/>
                <a:cs typeface="Trebuchet MS"/>
              </a:rPr>
              <a:t> </a:t>
            </a:r>
            <a:r>
              <a:rPr sz="2800" b="1" i="1" spc="-290" dirty="0">
                <a:latin typeface="Trebuchet MS"/>
                <a:cs typeface="Trebuchet MS"/>
              </a:rPr>
              <a:t>forma</a:t>
            </a:r>
            <a:r>
              <a:rPr sz="2800" b="1" i="1" spc="-290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200" dirty="0">
                <a:latin typeface="Trebuchet MS"/>
                <a:cs typeface="Trebuchet MS"/>
              </a:rPr>
              <a:t>Para </a:t>
            </a:r>
            <a:r>
              <a:rPr sz="2800" b="1" i="1" spc="-185" dirty="0">
                <a:latin typeface="Trebuchet MS"/>
                <a:cs typeface="Trebuchet MS"/>
              </a:rPr>
              <a:t>obtener </a:t>
            </a:r>
            <a:r>
              <a:rPr sz="2800" b="1" i="1" spc="-190" dirty="0">
                <a:latin typeface="Trebuchet MS"/>
                <a:cs typeface="Trebuchet MS"/>
              </a:rPr>
              <a:t>siempre </a:t>
            </a:r>
            <a:r>
              <a:rPr sz="2800" b="1" i="1" spc="-195" dirty="0">
                <a:latin typeface="Trebuchet MS"/>
                <a:cs typeface="Trebuchet MS"/>
              </a:rPr>
              <a:t>el </a:t>
            </a:r>
            <a:r>
              <a:rPr sz="2800" b="1" i="1" spc="-140" dirty="0">
                <a:latin typeface="Trebuchet MS"/>
                <a:cs typeface="Trebuchet MS"/>
              </a:rPr>
              <a:t>mismo  </a:t>
            </a:r>
            <a:r>
              <a:rPr sz="2800" b="1" i="1" spc="-250" dirty="0">
                <a:latin typeface="Trebuchet MS"/>
                <a:cs typeface="Trebuchet MS"/>
              </a:rPr>
              <a:t>resultado</a:t>
            </a:r>
            <a:r>
              <a:rPr sz="2800" b="1" i="1" spc="-250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190" dirty="0">
                <a:latin typeface="Trebuchet MS"/>
                <a:cs typeface="Trebuchet MS"/>
              </a:rPr>
              <a:t>Bajo las </a:t>
            </a:r>
            <a:r>
              <a:rPr sz="2800" b="1" i="1" spc="-155" dirty="0">
                <a:latin typeface="Trebuchet MS"/>
                <a:cs typeface="Trebuchet MS"/>
              </a:rPr>
              <a:t>mismas</a:t>
            </a:r>
            <a:r>
              <a:rPr sz="2800" b="1" i="1" spc="-305" dirty="0">
                <a:latin typeface="Trebuchet MS"/>
                <a:cs typeface="Trebuchet MS"/>
              </a:rPr>
              <a:t> </a:t>
            </a:r>
            <a:r>
              <a:rPr sz="2800" b="1" i="1" spc="-200" dirty="0">
                <a:latin typeface="Trebuchet MS"/>
                <a:cs typeface="Trebuchet MS"/>
              </a:rPr>
              <a:t>circunstancias.</a:t>
            </a:r>
            <a:endParaRPr sz="2800" dirty="0">
              <a:latin typeface="Trebuchet MS"/>
              <a:cs typeface="Trebuchet MS"/>
            </a:endParaRPr>
          </a:p>
          <a:p>
            <a:pPr marL="386715">
              <a:lnSpc>
                <a:spcPct val="100000"/>
              </a:lnSpc>
              <a:spcBef>
                <a:spcPts val="1895"/>
              </a:spcBef>
            </a:pPr>
            <a:r>
              <a:rPr sz="3200" spc="-220" dirty="0">
                <a:latin typeface="Arial"/>
                <a:cs typeface="Arial"/>
              </a:rPr>
              <a:t>¿Ejemplos?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57494" y="1508760"/>
            <a:ext cx="2753868" cy="17686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66638" y="3633215"/>
            <a:ext cx="2751582" cy="1853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</a:t>
            </a:r>
            <a:r>
              <a:rPr lang="es-AR" b="1" spc="-5" dirty="0">
                <a:latin typeface="Arial"/>
                <a:cs typeface="Arial"/>
              </a:rPr>
              <a:t>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4046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lang="es-AR" spc="-114" dirty="0"/>
              <a:t>Procesos</a:t>
            </a:r>
            <a:r>
              <a:rPr spc="-114" dirty="0"/>
              <a:t> </a:t>
            </a:r>
            <a:r>
              <a:rPr spc="-130" dirty="0"/>
              <a:t>en </a:t>
            </a:r>
            <a:r>
              <a:rPr spc="-90" dirty="0"/>
              <a:t>la </a:t>
            </a:r>
            <a:r>
              <a:rPr spc="-114" dirty="0"/>
              <a:t>organización</a:t>
            </a:r>
            <a:r>
              <a:rPr spc="-36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5" dirty="0">
                <a:latin typeface="Arial"/>
                <a:cs typeface="Arial"/>
              </a:rPr>
              <a:t>Interacción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80" dirty="0">
                <a:latin typeface="Arial"/>
                <a:cs typeface="Arial"/>
              </a:rPr>
              <a:t>los </a:t>
            </a:r>
            <a:r>
              <a:rPr lang="es-AR" sz="1800" b="0" spc="-55" dirty="0">
                <a:latin typeface="Arial"/>
                <a:cs typeface="Arial"/>
              </a:rPr>
              <a:t>procesos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50" dirty="0">
                <a:latin typeface="Arial"/>
                <a:cs typeface="Arial"/>
              </a:rPr>
              <a:t>administrativos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65" dirty="0">
                <a:latin typeface="Arial"/>
                <a:cs typeface="Arial"/>
              </a:rPr>
              <a:t>la</a:t>
            </a:r>
            <a:r>
              <a:rPr sz="1800" b="0" spc="-21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organización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9976" y="3185922"/>
            <a:ext cx="1883664" cy="1019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7852" y="3491991"/>
            <a:ext cx="13284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Proveedores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7969" y="3185922"/>
            <a:ext cx="1884426" cy="1019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37145" y="3491991"/>
            <a:ext cx="8470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Clientes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4353" y="3185922"/>
            <a:ext cx="1883664" cy="10195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75176" y="3491991"/>
            <a:ext cx="9207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Empresa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16246" y="2160270"/>
            <a:ext cx="2204466" cy="1005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62601" y="2183764"/>
            <a:ext cx="2112009" cy="913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62601" y="2183764"/>
            <a:ext cx="2112010" cy="913765"/>
          </a:xfrm>
          <a:custGeom>
            <a:avLst/>
            <a:gdLst/>
            <a:ahLst/>
            <a:cxnLst/>
            <a:rect l="l" t="t" r="r" b="b"/>
            <a:pathLst>
              <a:path w="2112009" h="913764">
                <a:moveTo>
                  <a:pt x="0" y="913384"/>
                </a:moveTo>
                <a:lnTo>
                  <a:pt x="1250" y="867797"/>
                </a:lnTo>
                <a:lnTo>
                  <a:pt x="4961" y="822789"/>
                </a:lnTo>
                <a:lnTo>
                  <a:pt x="11075" y="778411"/>
                </a:lnTo>
                <a:lnTo>
                  <a:pt x="19533" y="734717"/>
                </a:lnTo>
                <a:lnTo>
                  <a:pt x="30277" y="691758"/>
                </a:lnTo>
                <a:lnTo>
                  <a:pt x="43248" y="649588"/>
                </a:lnTo>
                <a:lnTo>
                  <a:pt x="58388" y="608257"/>
                </a:lnTo>
                <a:lnTo>
                  <a:pt x="75638" y="567819"/>
                </a:lnTo>
                <a:lnTo>
                  <a:pt x="94940" y="528326"/>
                </a:lnTo>
                <a:lnTo>
                  <a:pt x="116235" y="489830"/>
                </a:lnTo>
                <a:lnTo>
                  <a:pt x="139464" y="452383"/>
                </a:lnTo>
                <a:lnTo>
                  <a:pt x="164570" y="416038"/>
                </a:lnTo>
                <a:lnTo>
                  <a:pt x="191494" y="380848"/>
                </a:lnTo>
                <a:lnTo>
                  <a:pt x="220176" y="346863"/>
                </a:lnTo>
                <a:lnTo>
                  <a:pt x="250560" y="314138"/>
                </a:lnTo>
                <a:lnTo>
                  <a:pt x="282585" y="282724"/>
                </a:lnTo>
                <a:lnTo>
                  <a:pt x="316195" y="252673"/>
                </a:lnTo>
                <a:lnTo>
                  <a:pt x="351329" y="224039"/>
                </a:lnTo>
                <a:lnTo>
                  <a:pt x="387930" y="196872"/>
                </a:lnTo>
                <a:lnTo>
                  <a:pt x="425939" y="171226"/>
                </a:lnTo>
                <a:lnTo>
                  <a:pt x="465298" y="147152"/>
                </a:lnTo>
                <a:lnTo>
                  <a:pt x="505949" y="124704"/>
                </a:lnTo>
                <a:lnTo>
                  <a:pt x="547832" y="103933"/>
                </a:lnTo>
                <a:lnTo>
                  <a:pt x="590889" y="84892"/>
                </a:lnTo>
                <a:lnTo>
                  <a:pt x="635061" y="67634"/>
                </a:lnTo>
                <a:lnTo>
                  <a:pt x="680291" y="52209"/>
                </a:lnTo>
                <a:lnTo>
                  <a:pt x="726520" y="38672"/>
                </a:lnTo>
                <a:lnTo>
                  <a:pt x="773689" y="27073"/>
                </a:lnTo>
                <a:lnTo>
                  <a:pt x="821739" y="17466"/>
                </a:lnTo>
                <a:lnTo>
                  <a:pt x="870613" y="9903"/>
                </a:lnTo>
                <a:lnTo>
                  <a:pt x="920251" y="4436"/>
                </a:lnTo>
                <a:lnTo>
                  <a:pt x="970595" y="1117"/>
                </a:lnTo>
                <a:lnTo>
                  <a:pt x="1021588" y="0"/>
                </a:lnTo>
                <a:lnTo>
                  <a:pt x="1072233" y="1114"/>
                </a:lnTo>
                <a:lnTo>
                  <a:pt x="1122365" y="4428"/>
                </a:lnTo>
                <a:lnTo>
                  <a:pt x="1171917" y="9897"/>
                </a:lnTo>
                <a:lnTo>
                  <a:pt x="1220817" y="17475"/>
                </a:lnTo>
                <a:lnTo>
                  <a:pt x="1268997" y="27118"/>
                </a:lnTo>
                <a:lnTo>
                  <a:pt x="1316388" y="38781"/>
                </a:lnTo>
                <a:lnTo>
                  <a:pt x="1362921" y="52419"/>
                </a:lnTo>
                <a:lnTo>
                  <a:pt x="1408525" y="67988"/>
                </a:lnTo>
                <a:lnTo>
                  <a:pt x="1453132" y="85441"/>
                </a:lnTo>
                <a:lnTo>
                  <a:pt x="1496672" y="104735"/>
                </a:lnTo>
                <a:lnTo>
                  <a:pt x="1539077" y="125825"/>
                </a:lnTo>
                <a:lnTo>
                  <a:pt x="1580277" y="148665"/>
                </a:lnTo>
                <a:lnTo>
                  <a:pt x="1620202" y="173212"/>
                </a:lnTo>
                <a:lnTo>
                  <a:pt x="1658784" y="199419"/>
                </a:lnTo>
                <a:lnTo>
                  <a:pt x="1695952" y="227242"/>
                </a:lnTo>
                <a:lnTo>
                  <a:pt x="1731639" y="256636"/>
                </a:lnTo>
                <a:lnTo>
                  <a:pt x="1765774" y="287557"/>
                </a:lnTo>
                <a:lnTo>
                  <a:pt x="1798288" y="319959"/>
                </a:lnTo>
                <a:lnTo>
                  <a:pt x="1829112" y="353798"/>
                </a:lnTo>
                <a:lnTo>
                  <a:pt x="1858177" y="389029"/>
                </a:lnTo>
                <a:lnTo>
                  <a:pt x="1885413" y="425606"/>
                </a:lnTo>
                <a:lnTo>
                  <a:pt x="1910752" y="463486"/>
                </a:lnTo>
                <a:lnTo>
                  <a:pt x="1934123" y="502622"/>
                </a:lnTo>
                <a:lnTo>
                  <a:pt x="1955458" y="542971"/>
                </a:lnTo>
                <a:lnTo>
                  <a:pt x="1974687" y="584487"/>
                </a:lnTo>
                <a:lnTo>
                  <a:pt x="1991741" y="627126"/>
                </a:lnTo>
                <a:lnTo>
                  <a:pt x="2112009" y="627126"/>
                </a:lnTo>
                <a:lnTo>
                  <a:pt x="1912747" y="913384"/>
                </a:lnTo>
                <a:lnTo>
                  <a:pt x="1590040" y="627126"/>
                </a:lnTo>
                <a:lnTo>
                  <a:pt x="1705102" y="627126"/>
                </a:lnTo>
                <a:lnTo>
                  <a:pt x="1681709" y="589180"/>
                </a:lnTo>
                <a:lnTo>
                  <a:pt x="1655848" y="553095"/>
                </a:lnTo>
                <a:lnTo>
                  <a:pt x="1627651" y="518908"/>
                </a:lnTo>
                <a:lnTo>
                  <a:pt x="1597254" y="486660"/>
                </a:lnTo>
                <a:lnTo>
                  <a:pt x="1564790" y="456390"/>
                </a:lnTo>
                <a:lnTo>
                  <a:pt x="1530393" y="428137"/>
                </a:lnTo>
                <a:lnTo>
                  <a:pt x="1494197" y="401941"/>
                </a:lnTo>
                <a:lnTo>
                  <a:pt x="1456336" y="377841"/>
                </a:lnTo>
                <a:lnTo>
                  <a:pt x="1416944" y="355876"/>
                </a:lnTo>
                <a:lnTo>
                  <a:pt x="1376155" y="336086"/>
                </a:lnTo>
                <a:lnTo>
                  <a:pt x="1334104" y="318511"/>
                </a:lnTo>
                <a:lnTo>
                  <a:pt x="1290923" y="303189"/>
                </a:lnTo>
                <a:lnTo>
                  <a:pt x="1246748" y="290161"/>
                </a:lnTo>
                <a:lnTo>
                  <a:pt x="1201712" y="279465"/>
                </a:lnTo>
                <a:lnTo>
                  <a:pt x="1155949" y="271140"/>
                </a:lnTo>
                <a:lnTo>
                  <a:pt x="1109594" y="265228"/>
                </a:lnTo>
                <a:lnTo>
                  <a:pt x="1062780" y="261766"/>
                </a:lnTo>
                <a:lnTo>
                  <a:pt x="1015641" y="260794"/>
                </a:lnTo>
                <a:lnTo>
                  <a:pt x="968311" y="262351"/>
                </a:lnTo>
                <a:lnTo>
                  <a:pt x="920924" y="266478"/>
                </a:lnTo>
                <a:lnTo>
                  <a:pt x="873615" y="273213"/>
                </a:lnTo>
                <a:lnTo>
                  <a:pt x="826517" y="282596"/>
                </a:lnTo>
                <a:lnTo>
                  <a:pt x="779765" y="294666"/>
                </a:lnTo>
                <a:lnTo>
                  <a:pt x="733491" y="309462"/>
                </a:lnTo>
                <a:lnTo>
                  <a:pt x="687832" y="327025"/>
                </a:lnTo>
                <a:lnTo>
                  <a:pt x="639986" y="348910"/>
                </a:lnTo>
                <a:lnTo>
                  <a:pt x="594481" y="373420"/>
                </a:lnTo>
                <a:lnTo>
                  <a:pt x="551420" y="400414"/>
                </a:lnTo>
                <a:lnTo>
                  <a:pt x="510907" y="429752"/>
                </a:lnTo>
                <a:lnTo>
                  <a:pt x="473043" y="461292"/>
                </a:lnTo>
                <a:lnTo>
                  <a:pt x="437932" y="494894"/>
                </a:lnTo>
                <a:lnTo>
                  <a:pt x="405677" y="530417"/>
                </a:lnTo>
                <a:lnTo>
                  <a:pt x="376380" y="567721"/>
                </a:lnTo>
                <a:lnTo>
                  <a:pt x="350144" y="606665"/>
                </a:lnTo>
                <a:lnTo>
                  <a:pt x="327073" y="647109"/>
                </a:lnTo>
                <a:lnTo>
                  <a:pt x="307269" y="688912"/>
                </a:lnTo>
                <a:lnTo>
                  <a:pt x="290835" y="731932"/>
                </a:lnTo>
                <a:lnTo>
                  <a:pt x="277874" y="776030"/>
                </a:lnTo>
                <a:lnTo>
                  <a:pt x="268489" y="821065"/>
                </a:lnTo>
                <a:lnTo>
                  <a:pt x="262783" y="866897"/>
                </a:lnTo>
                <a:lnTo>
                  <a:pt x="260858" y="913384"/>
                </a:lnTo>
                <a:lnTo>
                  <a:pt x="0" y="913384"/>
                </a:lnTo>
                <a:close/>
              </a:path>
            </a:pathLst>
          </a:custGeom>
          <a:ln w="9905">
            <a:solidFill>
              <a:srgbClr val="BD4A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4811" y="2160270"/>
            <a:ext cx="2212086" cy="1005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70913" y="2183638"/>
            <a:ext cx="2119629" cy="9135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0913" y="2183638"/>
            <a:ext cx="2119630" cy="913765"/>
          </a:xfrm>
          <a:custGeom>
            <a:avLst/>
            <a:gdLst/>
            <a:ahLst/>
            <a:cxnLst/>
            <a:rect l="l" t="t" r="r" b="b"/>
            <a:pathLst>
              <a:path w="2119629" h="913764">
                <a:moveTo>
                  <a:pt x="2119629" y="913511"/>
                </a:moveTo>
                <a:lnTo>
                  <a:pt x="2118374" y="867923"/>
                </a:lnTo>
                <a:lnTo>
                  <a:pt x="2114647" y="822914"/>
                </a:lnTo>
                <a:lnTo>
                  <a:pt x="2108508" y="778535"/>
                </a:lnTo>
                <a:lnTo>
                  <a:pt x="2100015" y="734839"/>
                </a:lnTo>
                <a:lnTo>
                  <a:pt x="2089226" y="691878"/>
                </a:lnTo>
                <a:lnTo>
                  <a:pt x="2076201" y="649704"/>
                </a:lnTo>
                <a:lnTo>
                  <a:pt x="2060998" y="608369"/>
                </a:lnTo>
                <a:lnTo>
                  <a:pt x="2043677" y="567927"/>
                </a:lnTo>
                <a:lnTo>
                  <a:pt x="2024295" y="528429"/>
                </a:lnTo>
                <a:lnTo>
                  <a:pt x="2002912" y="489929"/>
                </a:lnTo>
                <a:lnTo>
                  <a:pt x="1979586" y="452477"/>
                </a:lnTo>
                <a:lnTo>
                  <a:pt x="1954376" y="416127"/>
                </a:lnTo>
                <a:lnTo>
                  <a:pt x="1927342" y="380931"/>
                </a:lnTo>
                <a:lnTo>
                  <a:pt x="1898540" y="346941"/>
                </a:lnTo>
                <a:lnTo>
                  <a:pt x="1868032" y="314210"/>
                </a:lnTo>
                <a:lnTo>
                  <a:pt x="1835874" y="282790"/>
                </a:lnTo>
                <a:lnTo>
                  <a:pt x="1802126" y="252734"/>
                </a:lnTo>
                <a:lnTo>
                  <a:pt x="1766847" y="224093"/>
                </a:lnTo>
                <a:lnTo>
                  <a:pt x="1730095" y="196921"/>
                </a:lnTo>
                <a:lnTo>
                  <a:pt x="1691930" y="171269"/>
                </a:lnTo>
                <a:lnTo>
                  <a:pt x="1652409" y="147190"/>
                </a:lnTo>
                <a:lnTo>
                  <a:pt x="1611592" y="124737"/>
                </a:lnTo>
                <a:lnTo>
                  <a:pt x="1569537" y="103961"/>
                </a:lnTo>
                <a:lnTo>
                  <a:pt x="1526304" y="84916"/>
                </a:lnTo>
                <a:lnTo>
                  <a:pt x="1481950" y="67652"/>
                </a:lnTo>
                <a:lnTo>
                  <a:pt x="1436535" y="52224"/>
                </a:lnTo>
                <a:lnTo>
                  <a:pt x="1390118" y="38683"/>
                </a:lnTo>
                <a:lnTo>
                  <a:pt x="1342757" y="27081"/>
                </a:lnTo>
                <a:lnTo>
                  <a:pt x="1294511" y="17471"/>
                </a:lnTo>
                <a:lnTo>
                  <a:pt x="1245438" y="9906"/>
                </a:lnTo>
                <a:lnTo>
                  <a:pt x="1195598" y="4437"/>
                </a:lnTo>
                <a:lnTo>
                  <a:pt x="1145049" y="1118"/>
                </a:lnTo>
                <a:lnTo>
                  <a:pt x="1093851" y="0"/>
                </a:lnTo>
                <a:lnTo>
                  <a:pt x="1043058" y="1112"/>
                </a:lnTo>
                <a:lnTo>
                  <a:pt x="992778" y="4419"/>
                </a:lnTo>
                <a:lnTo>
                  <a:pt x="943078" y="9877"/>
                </a:lnTo>
                <a:lnTo>
                  <a:pt x="894028" y="17441"/>
                </a:lnTo>
                <a:lnTo>
                  <a:pt x="845698" y="27066"/>
                </a:lnTo>
                <a:lnTo>
                  <a:pt x="798158" y="38706"/>
                </a:lnTo>
                <a:lnTo>
                  <a:pt x="751476" y="52319"/>
                </a:lnTo>
                <a:lnTo>
                  <a:pt x="705723" y="67858"/>
                </a:lnTo>
                <a:lnTo>
                  <a:pt x="660968" y="85280"/>
                </a:lnTo>
                <a:lnTo>
                  <a:pt x="617280" y="104539"/>
                </a:lnTo>
                <a:lnTo>
                  <a:pt x="574729" y="125591"/>
                </a:lnTo>
                <a:lnTo>
                  <a:pt x="533384" y="148391"/>
                </a:lnTo>
                <a:lnTo>
                  <a:pt x="493315" y="172894"/>
                </a:lnTo>
                <a:lnTo>
                  <a:pt x="454592" y="199056"/>
                </a:lnTo>
                <a:lnTo>
                  <a:pt x="417283" y="226832"/>
                </a:lnTo>
                <a:lnTo>
                  <a:pt x="381458" y="256178"/>
                </a:lnTo>
                <a:lnTo>
                  <a:pt x="347188" y="287048"/>
                </a:lnTo>
                <a:lnTo>
                  <a:pt x="314540" y="319398"/>
                </a:lnTo>
                <a:lnTo>
                  <a:pt x="283586" y="353183"/>
                </a:lnTo>
                <a:lnTo>
                  <a:pt x="254394" y="388358"/>
                </a:lnTo>
                <a:lnTo>
                  <a:pt x="227033" y="424880"/>
                </a:lnTo>
                <a:lnTo>
                  <a:pt x="201574" y="462702"/>
                </a:lnTo>
                <a:lnTo>
                  <a:pt x="178086" y="501781"/>
                </a:lnTo>
                <a:lnTo>
                  <a:pt x="156638" y="542072"/>
                </a:lnTo>
                <a:lnTo>
                  <a:pt x="137300" y="583529"/>
                </a:lnTo>
                <a:lnTo>
                  <a:pt x="120142" y="626110"/>
                </a:lnTo>
                <a:lnTo>
                  <a:pt x="0" y="626110"/>
                </a:lnTo>
                <a:lnTo>
                  <a:pt x="198500" y="913511"/>
                </a:lnTo>
                <a:lnTo>
                  <a:pt x="521969" y="626110"/>
                </a:lnTo>
                <a:lnTo>
                  <a:pt x="407162" y="626110"/>
                </a:lnTo>
                <a:lnTo>
                  <a:pt x="430773" y="588211"/>
                </a:lnTo>
                <a:lnTo>
                  <a:pt x="456863" y="552175"/>
                </a:lnTo>
                <a:lnTo>
                  <a:pt x="485297" y="518040"/>
                </a:lnTo>
                <a:lnTo>
                  <a:pt x="515940" y="485846"/>
                </a:lnTo>
                <a:lnTo>
                  <a:pt x="548658" y="455632"/>
                </a:lnTo>
                <a:lnTo>
                  <a:pt x="583315" y="427437"/>
                </a:lnTo>
                <a:lnTo>
                  <a:pt x="619776" y="401302"/>
                </a:lnTo>
                <a:lnTo>
                  <a:pt x="657906" y="377264"/>
                </a:lnTo>
                <a:lnTo>
                  <a:pt x="697571" y="355364"/>
                </a:lnTo>
                <a:lnTo>
                  <a:pt x="738636" y="335641"/>
                </a:lnTo>
                <a:lnTo>
                  <a:pt x="780965" y="318134"/>
                </a:lnTo>
                <a:lnTo>
                  <a:pt x="824423" y="302883"/>
                </a:lnTo>
                <a:lnTo>
                  <a:pt x="868876" y="289927"/>
                </a:lnTo>
                <a:lnTo>
                  <a:pt x="914189" y="279305"/>
                </a:lnTo>
                <a:lnTo>
                  <a:pt x="960227" y="271057"/>
                </a:lnTo>
                <a:lnTo>
                  <a:pt x="1006855" y="265222"/>
                </a:lnTo>
                <a:lnTo>
                  <a:pt x="1053937" y="261839"/>
                </a:lnTo>
                <a:lnTo>
                  <a:pt x="1101340" y="260948"/>
                </a:lnTo>
                <a:lnTo>
                  <a:pt x="1148927" y="262588"/>
                </a:lnTo>
                <a:lnTo>
                  <a:pt x="1196565" y="266799"/>
                </a:lnTo>
                <a:lnTo>
                  <a:pt x="1244118" y="273619"/>
                </a:lnTo>
                <a:lnTo>
                  <a:pt x="1291451" y="283089"/>
                </a:lnTo>
                <a:lnTo>
                  <a:pt x="1338429" y="295247"/>
                </a:lnTo>
                <a:lnTo>
                  <a:pt x="1384918" y="310133"/>
                </a:lnTo>
                <a:lnTo>
                  <a:pt x="1430782" y="327787"/>
                </a:lnTo>
                <a:lnTo>
                  <a:pt x="1478742" y="349691"/>
                </a:lnTo>
                <a:lnTo>
                  <a:pt x="1524353" y="374212"/>
                </a:lnTo>
                <a:lnTo>
                  <a:pt x="1567511" y="401208"/>
                </a:lnTo>
                <a:lnTo>
                  <a:pt x="1608113" y="430539"/>
                </a:lnTo>
                <a:lnTo>
                  <a:pt x="1646058" y="462065"/>
                </a:lnTo>
                <a:lnTo>
                  <a:pt x="1681241" y="495645"/>
                </a:lnTo>
                <a:lnTo>
                  <a:pt x="1713562" y="531138"/>
                </a:lnTo>
                <a:lnTo>
                  <a:pt x="1742916" y="568404"/>
                </a:lnTo>
                <a:lnTo>
                  <a:pt x="1769201" y="607303"/>
                </a:lnTo>
                <a:lnTo>
                  <a:pt x="1792315" y="647694"/>
                </a:lnTo>
                <a:lnTo>
                  <a:pt x="1812154" y="689437"/>
                </a:lnTo>
                <a:lnTo>
                  <a:pt x="1828617" y="732391"/>
                </a:lnTo>
                <a:lnTo>
                  <a:pt x="1841600" y="776416"/>
                </a:lnTo>
                <a:lnTo>
                  <a:pt x="1851001" y="821371"/>
                </a:lnTo>
                <a:lnTo>
                  <a:pt x="1856716" y="867116"/>
                </a:lnTo>
                <a:lnTo>
                  <a:pt x="1858645" y="913511"/>
                </a:lnTo>
                <a:lnTo>
                  <a:pt x="2119629" y="913511"/>
                </a:lnTo>
                <a:close/>
              </a:path>
            </a:pathLst>
          </a:custGeom>
          <a:ln w="9906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8057" y="4185665"/>
            <a:ext cx="2202180" cy="9707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33904" y="4208907"/>
            <a:ext cx="2110485" cy="87807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33904" y="4208907"/>
            <a:ext cx="2110740" cy="878205"/>
          </a:xfrm>
          <a:custGeom>
            <a:avLst/>
            <a:gdLst/>
            <a:ahLst/>
            <a:cxnLst/>
            <a:rect l="l" t="t" r="r" b="b"/>
            <a:pathLst>
              <a:path w="2110740" h="878204">
                <a:moveTo>
                  <a:pt x="0" y="0"/>
                </a:moveTo>
                <a:lnTo>
                  <a:pt x="1256" y="43830"/>
                </a:lnTo>
                <a:lnTo>
                  <a:pt x="4986" y="87103"/>
                </a:lnTo>
                <a:lnTo>
                  <a:pt x="11130" y="129770"/>
                </a:lnTo>
                <a:lnTo>
                  <a:pt x="19631" y="171779"/>
                </a:lnTo>
                <a:lnTo>
                  <a:pt x="30428" y="213080"/>
                </a:lnTo>
                <a:lnTo>
                  <a:pt x="43464" y="253623"/>
                </a:lnTo>
                <a:lnTo>
                  <a:pt x="58680" y="293358"/>
                </a:lnTo>
                <a:lnTo>
                  <a:pt x="76016" y="332235"/>
                </a:lnTo>
                <a:lnTo>
                  <a:pt x="95414" y="370203"/>
                </a:lnTo>
                <a:lnTo>
                  <a:pt x="116815" y="407211"/>
                </a:lnTo>
                <a:lnTo>
                  <a:pt x="140160" y="443211"/>
                </a:lnTo>
                <a:lnTo>
                  <a:pt x="165391" y="478150"/>
                </a:lnTo>
                <a:lnTo>
                  <a:pt x="192449" y="511980"/>
                </a:lnTo>
                <a:lnTo>
                  <a:pt x="221275" y="544650"/>
                </a:lnTo>
                <a:lnTo>
                  <a:pt x="251810" y="576109"/>
                </a:lnTo>
                <a:lnTo>
                  <a:pt x="283995" y="606308"/>
                </a:lnTo>
                <a:lnTo>
                  <a:pt x="317771" y="635195"/>
                </a:lnTo>
                <a:lnTo>
                  <a:pt x="353081" y="662721"/>
                </a:lnTo>
                <a:lnTo>
                  <a:pt x="389864" y="688836"/>
                </a:lnTo>
                <a:lnTo>
                  <a:pt x="428063" y="713489"/>
                </a:lnTo>
                <a:lnTo>
                  <a:pt x="467618" y="736630"/>
                </a:lnTo>
                <a:lnTo>
                  <a:pt x="508470" y="758208"/>
                </a:lnTo>
                <a:lnTo>
                  <a:pt x="550561" y="778174"/>
                </a:lnTo>
                <a:lnTo>
                  <a:pt x="593832" y="796477"/>
                </a:lnTo>
                <a:lnTo>
                  <a:pt x="638224" y="813067"/>
                </a:lnTo>
                <a:lnTo>
                  <a:pt x="683679" y="827893"/>
                </a:lnTo>
                <a:lnTo>
                  <a:pt x="730137" y="840906"/>
                </a:lnTo>
                <a:lnTo>
                  <a:pt x="777540" y="852054"/>
                </a:lnTo>
                <a:lnTo>
                  <a:pt x="825829" y="861289"/>
                </a:lnTo>
                <a:lnTo>
                  <a:pt x="874945" y="868558"/>
                </a:lnTo>
                <a:lnTo>
                  <a:pt x="924829" y="873813"/>
                </a:lnTo>
                <a:lnTo>
                  <a:pt x="975423" y="877003"/>
                </a:lnTo>
                <a:lnTo>
                  <a:pt x="1026668" y="878078"/>
                </a:lnTo>
                <a:lnTo>
                  <a:pt x="1078926" y="876947"/>
                </a:lnTo>
                <a:lnTo>
                  <a:pt x="1130646" y="873587"/>
                </a:lnTo>
                <a:lnTo>
                  <a:pt x="1181751" y="868043"/>
                </a:lnTo>
                <a:lnTo>
                  <a:pt x="1232167" y="860362"/>
                </a:lnTo>
                <a:lnTo>
                  <a:pt x="1281817" y="850590"/>
                </a:lnTo>
                <a:lnTo>
                  <a:pt x="1330624" y="838773"/>
                </a:lnTo>
                <a:lnTo>
                  <a:pt x="1378513" y="824958"/>
                </a:lnTo>
                <a:lnTo>
                  <a:pt x="1425408" y="809191"/>
                </a:lnTo>
                <a:lnTo>
                  <a:pt x="1471232" y="791519"/>
                </a:lnTo>
                <a:lnTo>
                  <a:pt x="1515910" y="771987"/>
                </a:lnTo>
                <a:lnTo>
                  <a:pt x="1559366" y="750642"/>
                </a:lnTo>
                <a:lnTo>
                  <a:pt x="1601523" y="727531"/>
                </a:lnTo>
                <a:lnTo>
                  <a:pt x="1642306" y="702699"/>
                </a:lnTo>
                <a:lnTo>
                  <a:pt x="1681638" y="676193"/>
                </a:lnTo>
                <a:lnTo>
                  <a:pt x="1719444" y="648060"/>
                </a:lnTo>
                <a:lnTo>
                  <a:pt x="1755648" y="618346"/>
                </a:lnTo>
                <a:lnTo>
                  <a:pt x="1790173" y="587096"/>
                </a:lnTo>
                <a:lnTo>
                  <a:pt x="1822943" y="554358"/>
                </a:lnTo>
                <a:lnTo>
                  <a:pt x="1853883" y="520177"/>
                </a:lnTo>
                <a:lnTo>
                  <a:pt x="1882916" y="484601"/>
                </a:lnTo>
                <a:lnTo>
                  <a:pt x="1909966" y="447675"/>
                </a:lnTo>
                <a:lnTo>
                  <a:pt x="1934958" y="409445"/>
                </a:lnTo>
                <a:lnTo>
                  <a:pt x="1957815" y="369959"/>
                </a:lnTo>
                <a:lnTo>
                  <a:pt x="1978461" y="329262"/>
                </a:lnTo>
                <a:lnTo>
                  <a:pt x="1996820" y="287401"/>
                </a:lnTo>
                <a:lnTo>
                  <a:pt x="2110485" y="287401"/>
                </a:lnTo>
                <a:lnTo>
                  <a:pt x="1927859" y="0"/>
                </a:lnTo>
                <a:lnTo>
                  <a:pt x="1608708" y="287401"/>
                </a:lnTo>
                <a:lnTo>
                  <a:pt x="1716278" y="287401"/>
                </a:lnTo>
                <a:lnTo>
                  <a:pt x="1691421" y="323454"/>
                </a:lnTo>
                <a:lnTo>
                  <a:pt x="1664098" y="357675"/>
                </a:lnTo>
                <a:lnTo>
                  <a:pt x="1634444" y="390030"/>
                </a:lnTo>
                <a:lnTo>
                  <a:pt x="1602597" y="420482"/>
                </a:lnTo>
                <a:lnTo>
                  <a:pt x="1568696" y="448996"/>
                </a:lnTo>
                <a:lnTo>
                  <a:pt x="1532878" y="475537"/>
                </a:lnTo>
                <a:lnTo>
                  <a:pt x="1495281" y="500068"/>
                </a:lnTo>
                <a:lnTo>
                  <a:pt x="1456042" y="522555"/>
                </a:lnTo>
                <a:lnTo>
                  <a:pt x="1415298" y="542961"/>
                </a:lnTo>
                <a:lnTo>
                  <a:pt x="1373189" y="561251"/>
                </a:lnTo>
                <a:lnTo>
                  <a:pt x="1329850" y="577390"/>
                </a:lnTo>
                <a:lnTo>
                  <a:pt x="1285421" y="591342"/>
                </a:lnTo>
                <a:lnTo>
                  <a:pt x="1240038" y="603072"/>
                </a:lnTo>
                <a:lnTo>
                  <a:pt x="1193839" y="612543"/>
                </a:lnTo>
                <a:lnTo>
                  <a:pt x="1146963" y="619721"/>
                </a:lnTo>
                <a:lnTo>
                  <a:pt x="1099546" y="624570"/>
                </a:lnTo>
                <a:lnTo>
                  <a:pt x="1051727" y="627054"/>
                </a:lnTo>
                <a:lnTo>
                  <a:pt x="1003642" y="627137"/>
                </a:lnTo>
                <a:lnTo>
                  <a:pt x="955430" y="624785"/>
                </a:lnTo>
                <a:lnTo>
                  <a:pt x="907229" y="619962"/>
                </a:lnTo>
                <a:lnTo>
                  <a:pt x="859175" y="612631"/>
                </a:lnTo>
                <a:lnTo>
                  <a:pt x="811407" y="602758"/>
                </a:lnTo>
                <a:lnTo>
                  <a:pt x="764063" y="590308"/>
                </a:lnTo>
                <a:lnTo>
                  <a:pt x="717279" y="575243"/>
                </a:lnTo>
                <a:lnTo>
                  <a:pt x="671194" y="557530"/>
                </a:lnTo>
                <a:lnTo>
                  <a:pt x="620856" y="534585"/>
                </a:lnTo>
                <a:lnTo>
                  <a:pt x="573196" y="508935"/>
                </a:lnTo>
                <a:lnTo>
                  <a:pt x="528331" y="480734"/>
                </a:lnTo>
                <a:lnTo>
                  <a:pt x="486379" y="450138"/>
                </a:lnTo>
                <a:lnTo>
                  <a:pt x="447458" y="417303"/>
                </a:lnTo>
                <a:lnTo>
                  <a:pt x="411686" y="382383"/>
                </a:lnTo>
                <a:lnTo>
                  <a:pt x="379179" y="345536"/>
                </a:lnTo>
                <a:lnTo>
                  <a:pt x="350057" y="306915"/>
                </a:lnTo>
                <a:lnTo>
                  <a:pt x="324436" y="266677"/>
                </a:lnTo>
                <a:lnTo>
                  <a:pt x="302434" y="224978"/>
                </a:lnTo>
                <a:lnTo>
                  <a:pt x="284168" y="181972"/>
                </a:lnTo>
                <a:lnTo>
                  <a:pt x="269757" y="137816"/>
                </a:lnTo>
                <a:lnTo>
                  <a:pt x="259317" y="92665"/>
                </a:lnTo>
                <a:lnTo>
                  <a:pt x="252967" y="46674"/>
                </a:lnTo>
                <a:lnTo>
                  <a:pt x="250825" y="0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82896" y="4188714"/>
            <a:ext cx="2209800" cy="9753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28742" y="4211954"/>
            <a:ext cx="2118233" cy="8827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28742" y="4211954"/>
            <a:ext cx="2118360" cy="883285"/>
          </a:xfrm>
          <a:custGeom>
            <a:avLst/>
            <a:gdLst/>
            <a:ahLst/>
            <a:cxnLst/>
            <a:rect l="l" t="t" r="r" b="b"/>
            <a:pathLst>
              <a:path w="2118359" h="883285">
                <a:moveTo>
                  <a:pt x="2118233" y="0"/>
                </a:moveTo>
                <a:lnTo>
                  <a:pt x="2116972" y="44060"/>
                </a:lnTo>
                <a:lnTo>
                  <a:pt x="2113228" y="87561"/>
                </a:lnTo>
                <a:lnTo>
                  <a:pt x="2107062" y="130452"/>
                </a:lnTo>
                <a:lnTo>
                  <a:pt x="2098531" y="172682"/>
                </a:lnTo>
                <a:lnTo>
                  <a:pt x="2087695" y="214202"/>
                </a:lnTo>
                <a:lnTo>
                  <a:pt x="2074612" y="254960"/>
                </a:lnTo>
                <a:lnTo>
                  <a:pt x="2059343" y="294906"/>
                </a:lnTo>
                <a:lnTo>
                  <a:pt x="2041945" y="333990"/>
                </a:lnTo>
                <a:lnTo>
                  <a:pt x="2022478" y="372160"/>
                </a:lnTo>
                <a:lnTo>
                  <a:pt x="2001001" y="409366"/>
                </a:lnTo>
                <a:lnTo>
                  <a:pt x="1977573" y="445558"/>
                </a:lnTo>
                <a:lnTo>
                  <a:pt x="1952253" y="480685"/>
                </a:lnTo>
                <a:lnTo>
                  <a:pt x="1925100" y="514696"/>
                </a:lnTo>
                <a:lnTo>
                  <a:pt x="1896172" y="547541"/>
                </a:lnTo>
                <a:lnTo>
                  <a:pt x="1865530" y="579170"/>
                </a:lnTo>
                <a:lnTo>
                  <a:pt x="1833232" y="609531"/>
                </a:lnTo>
                <a:lnTo>
                  <a:pt x="1799337" y="638574"/>
                </a:lnTo>
                <a:lnTo>
                  <a:pt x="1763904" y="666249"/>
                </a:lnTo>
                <a:lnTo>
                  <a:pt x="1726993" y="692505"/>
                </a:lnTo>
                <a:lnTo>
                  <a:pt x="1688661" y="717292"/>
                </a:lnTo>
                <a:lnTo>
                  <a:pt x="1648969" y="740558"/>
                </a:lnTo>
                <a:lnTo>
                  <a:pt x="1607975" y="762254"/>
                </a:lnTo>
                <a:lnTo>
                  <a:pt x="1565738" y="782328"/>
                </a:lnTo>
                <a:lnTo>
                  <a:pt x="1522318" y="800730"/>
                </a:lnTo>
                <a:lnTo>
                  <a:pt x="1477773" y="817411"/>
                </a:lnTo>
                <a:lnTo>
                  <a:pt x="1432162" y="832318"/>
                </a:lnTo>
                <a:lnTo>
                  <a:pt x="1385545" y="845401"/>
                </a:lnTo>
                <a:lnTo>
                  <a:pt x="1337980" y="856611"/>
                </a:lnTo>
                <a:lnTo>
                  <a:pt x="1289526" y="865896"/>
                </a:lnTo>
                <a:lnTo>
                  <a:pt x="1240244" y="873205"/>
                </a:lnTo>
                <a:lnTo>
                  <a:pt x="1190190" y="878489"/>
                </a:lnTo>
                <a:lnTo>
                  <a:pt x="1139426" y="881696"/>
                </a:lnTo>
                <a:lnTo>
                  <a:pt x="1088009" y="882777"/>
                </a:lnTo>
                <a:lnTo>
                  <a:pt x="1035538" y="881639"/>
                </a:lnTo>
                <a:lnTo>
                  <a:pt x="983609" y="878257"/>
                </a:lnTo>
                <a:lnTo>
                  <a:pt x="932297" y="872678"/>
                </a:lnTo>
                <a:lnTo>
                  <a:pt x="881679" y="864947"/>
                </a:lnTo>
                <a:lnTo>
                  <a:pt x="831831" y="855113"/>
                </a:lnTo>
                <a:lnTo>
                  <a:pt x="782830" y="843221"/>
                </a:lnTo>
                <a:lnTo>
                  <a:pt x="734752" y="829318"/>
                </a:lnTo>
                <a:lnTo>
                  <a:pt x="687673" y="813451"/>
                </a:lnTo>
                <a:lnTo>
                  <a:pt x="641670" y="795667"/>
                </a:lnTo>
                <a:lnTo>
                  <a:pt x="596819" y="776011"/>
                </a:lnTo>
                <a:lnTo>
                  <a:pt x="553197" y="754532"/>
                </a:lnTo>
                <a:lnTo>
                  <a:pt x="510880" y="731275"/>
                </a:lnTo>
                <a:lnTo>
                  <a:pt x="469945" y="706287"/>
                </a:lnTo>
                <a:lnTo>
                  <a:pt x="430468" y="679615"/>
                </a:lnTo>
                <a:lnTo>
                  <a:pt x="392525" y="651305"/>
                </a:lnTo>
                <a:lnTo>
                  <a:pt x="356193" y="621405"/>
                </a:lnTo>
                <a:lnTo>
                  <a:pt x="321548" y="589961"/>
                </a:lnTo>
                <a:lnTo>
                  <a:pt x="288667" y="557019"/>
                </a:lnTo>
                <a:lnTo>
                  <a:pt x="257626" y="522626"/>
                </a:lnTo>
                <a:lnTo>
                  <a:pt x="228501" y="486829"/>
                </a:lnTo>
                <a:lnTo>
                  <a:pt x="201369" y="449675"/>
                </a:lnTo>
                <a:lnTo>
                  <a:pt x="176307" y="411210"/>
                </a:lnTo>
                <a:lnTo>
                  <a:pt x="153390" y="371481"/>
                </a:lnTo>
                <a:lnTo>
                  <a:pt x="132695" y="330534"/>
                </a:lnTo>
                <a:lnTo>
                  <a:pt x="114300" y="288417"/>
                </a:lnTo>
                <a:lnTo>
                  <a:pt x="0" y="288417"/>
                </a:lnTo>
                <a:lnTo>
                  <a:pt x="183896" y="0"/>
                </a:lnTo>
                <a:lnTo>
                  <a:pt x="504444" y="288417"/>
                </a:lnTo>
                <a:lnTo>
                  <a:pt x="396113" y="288417"/>
                </a:lnTo>
                <a:lnTo>
                  <a:pt x="420989" y="324679"/>
                </a:lnTo>
                <a:lnTo>
                  <a:pt x="448344" y="359101"/>
                </a:lnTo>
                <a:lnTo>
                  <a:pt x="478039" y="391647"/>
                </a:lnTo>
                <a:lnTo>
                  <a:pt x="509937" y="422281"/>
                </a:lnTo>
                <a:lnTo>
                  <a:pt x="543898" y="450968"/>
                </a:lnTo>
                <a:lnTo>
                  <a:pt x="579785" y="477672"/>
                </a:lnTo>
                <a:lnTo>
                  <a:pt x="617460" y="502357"/>
                </a:lnTo>
                <a:lnTo>
                  <a:pt x="656784" y="524988"/>
                </a:lnTo>
                <a:lnTo>
                  <a:pt x="697620" y="545528"/>
                </a:lnTo>
                <a:lnTo>
                  <a:pt x="739829" y="563941"/>
                </a:lnTo>
                <a:lnTo>
                  <a:pt x="783274" y="580193"/>
                </a:lnTo>
                <a:lnTo>
                  <a:pt x="827816" y="594248"/>
                </a:lnTo>
                <a:lnTo>
                  <a:pt x="873317" y="606069"/>
                </a:lnTo>
                <a:lnTo>
                  <a:pt x="919639" y="615621"/>
                </a:lnTo>
                <a:lnTo>
                  <a:pt x="966643" y="622867"/>
                </a:lnTo>
                <a:lnTo>
                  <a:pt x="1014193" y="627774"/>
                </a:lnTo>
                <a:lnTo>
                  <a:pt x="1062149" y="630304"/>
                </a:lnTo>
                <a:lnTo>
                  <a:pt x="1110373" y="630422"/>
                </a:lnTo>
                <a:lnTo>
                  <a:pt x="1158728" y="628092"/>
                </a:lnTo>
                <a:lnTo>
                  <a:pt x="1207076" y="623278"/>
                </a:lnTo>
                <a:lnTo>
                  <a:pt x="1255277" y="615945"/>
                </a:lnTo>
                <a:lnTo>
                  <a:pt x="1303195" y="606057"/>
                </a:lnTo>
                <a:lnTo>
                  <a:pt x="1350690" y="593578"/>
                </a:lnTo>
                <a:lnTo>
                  <a:pt x="1397625" y="578472"/>
                </a:lnTo>
                <a:lnTo>
                  <a:pt x="1443863" y="560705"/>
                </a:lnTo>
                <a:lnTo>
                  <a:pt x="1491319" y="539192"/>
                </a:lnTo>
                <a:lnTo>
                  <a:pt x="1536422" y="515270"/>
                </a:lnTo>
                <a:lnTo>
                  <a:pt x="1579074" y="489069"/>
                </a:lnTo>
                <a:lnTo>
                  <a:pt x="1619176" y="460718"/>
                </a:lnTo>
                <a:lnTo>
                  <a:pt x="1656631" y="430346"/>
                </a:lnTo>
                <a:lnTo>
                  <a:pt x="1691342" y="398084"/>
                </a:lnTo>
                <a:lnTo>
                  <a:pt x="1723211" y="364060"/>
                </a:lnTo>
                <a:lnTo>
                  <a:pt x="1752139" y="328406"/>
                </a:lnTo>
                <a:lnTo>
                  <a:pt x="1778030" y="291249"/>
                </a:lnTo>
                <a:lnTo>
                  <a:pt x="1800786" y="252721"/>
                </a:lnTo>
                <a:lnTo>
                  <a:pt x="1820309" y="212950"/>
                </a:lnTo>
                <a:lnTo>
                  <a:pt x="1836501" y="172067"/>
                </a:lnTo>
                <a:lnTo>
                  <a:pt x="1849265" y="130200"/>
                </a:lnTo>
                <a:lnTo>
                  <a:pt x="1858503" y="87480"/>
                </a:lnTo>
                <a:lnTo>
                  <a:pt x="1864117" y="44037"/>
                </a:lnTo>
                <a:lnTo>
                  <a:pt x="1866011" y="0"/>
                </a:lnTo>
                <a:lnTo>
                  <a:pt x="2118233" y="0"/>
                </a:lnTo>
                <a:close/>
              </a:path>
            </a:pathLst>
          </a:custGeom>
          <a:ln w="9906">
            <a:solidFill>
              <a:srgbClr val="BD4A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70885" y="1628140"/>
            <a:ext cx="571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latin typeface="Arial"/>
                <a:cs typeface="Arial"/>
              </a:rPr>
              <a:t>Pagos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</a:t>
            </a:r>
            <a:r>
              <a:rPr lang="es-AR" b="1" spc="-5" dirty="0">
                <a:latin typeface="Arial"/>
                <a:cs typeface="Arial"/>
              </a:rPr>
              <a:t>020</a:t>
            </a:r>
            <a:r>
              <a:rPr lang="es-AR" b="1" spc="-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6" name="object 26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5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0985" y="5311902"/>
            <a:ext cx="1516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5904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Arial"/>
                <a:cs typeface="Arial"/>
              </a:rPr>
              <a:t>Compras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120" dirty="0">
                <a:latin typeface="Arial"/>
                <a:cs typeface="Arial"/>
              </a:rPr>
              <a:t>Cuentas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135" dirty="0">
                <a:latin typeface="Arial"/>
                <a:cs typeface="Arial"/>
              </a:rPr>
              <a:t>Pagar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14161" y="1237996"/>
            <a:ext cx="9391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Arial"/>
                <a:cs typeface="Arial"/>
              </a:rPr>
              <a:t>Ventas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120" dirty="0">
                <a:latin typeface="Arial"/>
                <a:cs typeface="Arial"/>
              </a:rPr>
              <a:t>Cuentas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95" dirty="0">
                <a:latin typeface="Arial"/>
                <a:cs typeface="Arial"/>
              </a:rPr>
              <a:t>Cobrar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93334" y="5302503"/>
            <a:ext cx="987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Arial"/>
                <a:cs typeface="Arial"/>
              </a:rPr>
              <a:t>Cobr</a:t>
            </a:r>
            <a:r>
              <a:rPr sz="1800" spc="-110" dirty="0">
                <a:latin typeface="Arial"/>
                <a:cs typeface="Arial"/>
              </a:rPr>
              <a:t>a</a:t>
            </a:r>
            <a:r>
              <a:rPr sz="1800" spc="-135" dirty="0">
                <a:latin typeface="Arial"/>
                <a:cs typeface="Arial"/>
              </a:rPr>
              <a:t>n</a:t>
            </a:r>
            <a:r>
              <a:rPr sz="1800" spc="-120" dirty="0">
                <a:latin typeface="Arial"/>
                <a:cs typeface="Arial"/>
              </a:rPr>
              <a:t>z</a:t>
            </a:r>
            <a:r>
              <a:rPr sz="1800" spc="-170" dirty="0">
                <a:latin typeface="Arial"/>
                <a:cs typeface="Arial"/>
              </a:rPr>
              <a:t>as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79B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0719" y="638048"/>
            <a:ext cx="22199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75285">
              <a:lnSpc>
                <a:spcPct val="100000"/>
              </a:lnSpc>
              <a:spcBef>
                <a:spcPts val="95"/>
              </a:spcBef>
            </a:pPr>
            <a:r>
              <a:rPr sz="2600" spc="-135" dirty="0">
                <a:solidFill>
                  <a:srgbClr val="00338D"/>
                </a:solidFill>
              </a:rPr>
              <a:t>Compras </a:t>
            </a:r>
            <a:r>
              <a:rPr sz="2600" spc="-160" dirty="0">
                <a:solidFill>
                  <a:srgbClr val="00338D"/>
                </a:solidFill>
              </a:rPr>
              <a:t>y  </a:t>
            </a:r>
            <a:r>
              <a:rPr sz="2600" spc="-150" dirty="0">
                <a:solidFill>
                  <a:srgbClr val="00338D"/>
                </a:solidFill>
              </a:rPr>
              <a:t>Cuentas </a:t>
            </a:r>
            <a:r>
              <a:rPr sz="2600" spc="-105" dirty="0">
                <a:solidFill>
                  <a:srgbClr val="00338D"/>
                </a:solidFill>
              </a:rPr>
              <a:t>a</a:t>
            </a:r>
            <a:r>
              <a:rPr sz="2600" spc="-270" dirty="0">
                <a:solidFill>
                  <a:srgbClr val="00338D"/>
                </a:solidFill>
              </a:rPr>
              <a:t> </a:t>
            </a:r>
            <a:r>
              <a:rPr sz="2600" spc="-130" dirty="0">
                <a:solidFill>
                  <a:srgbClr val="00338D"/>
                </a:solidFill>
              </a:rPr>
              <a:t>Pagar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47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000" b="1" spc="-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Visión de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nivel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procedimiento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1598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220" dirty="0">
                <a:solidFill>
                  <a:srgbClr val="000000"/>
                </a:solidFill>
                <a:latin typeface="Arial"/>
                <a:cs typeface="Arial"/>
              </a:rPr>
              <a:t>Compra</a:t>
            </a:r>
            <a:r>
              <a:rPr sz="3200" b="0" spc="-175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3200" b="0" spc="-35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4559" y="1567180"/>
            <a:ext cx="15817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adqui</a:t>
            </a:r>
            <a:r>
              <a:rPr sz="2600" b="1" i="1" spc="-140" dirty="0">
                <a:solidFill>
                  <a:srgbClr val="00338D"/>
                </a:solidFill>
                <a:latin typeface="Trebuchet MS"/>
                <a:cs typeface="Trebuchet MS"/>
              </a:rPr>
              <a:t>s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ici</a:t>
            </a:r>
            <a:r>
              <a:rPr sz="2600" b="1" i="1" spc="-245" dirty="0">
                <a:solidFill>
                  <a:srgbClr val="00338D"/>
                </a:solidFill>
                <a:latin typeface="Trebuchet MS"/>
                <a:cs typeface="Trebuchet MS"/>
              </a:rPr>
              <a:t>ó</a:t>
            </a:r>
            <a:r>
              <a:rPr sz="2600" b="1" i="1" spc="-95" dirty="0">
                <a:solidFill>
                  <a:srgbClr val="00338D"/>
                </a:solidFill>
                <a:latin typeface="Trebuchet MS"/>
                <a:cs typeface="Trebuchet MS"/>
              </a:rPr>
              <a:t>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6276" y="1567180"/>
            <a:ext cx="96329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5945" algn="l"/>
              </a:tabLst>
            </a:pPr>
            <a:r>
              <a:rPr sz="2600" i="1" spc="-155" dirty="0">
                <a:latin typeface="Arial"/>
                <a:cs typeface="Arial"/>
              </a:rPr>
              <a:t>d</a:t>
            </a:r>
            <a:r>
              <a:rPr sz="2600" i="1" spc="-160" dirty="0">
                <a:latin typeface="Arial"/>
                <a:cs typeface="Arial"/>
              </a:rPr>
              <a:t>e</a:t>
            </a:r>
            <a:r>
              <a:rPr sz="2600" i="1" dirty="0">
                <a:latin typeface="Arial"/>
                <a:cs typeface="Arial"/>
              </a:rPr>
              <a:t>	</a:t>
            </a:r>
            <a:r>
              <a:rPr sz="2600" i="1" spc="-130" dirty="0">
                <a:latin typeface="Arial"/>
                <a:cs typeface="Arial"/>
              </a:rPr>
              <a:t>los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541" y="1567180"/>
            <a:ext cx="58826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1757045" algn="l"/>
                <a:tab pos="3277235" algn="l"/>
                <a:tab pos="5263515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	</a:t>
            </a:r>
            <a:r>
              <a:rPr sz="2600" b="1" i="1" spc="-195" dirty="0">
                <a:latin typeface="Trebuchet MS"/>
                <a:cs typeface="Trebuchet MS"/>
              </a:rPr>
              <a:t>principal:	</a:t>
            </a:r>
            <a:r>
              <a:rPr sz="2600" i="1" spc="-60" dirty="0">
                <a:latin typeface="Arial"/>
                <a:cs typeface="Arial"/>
              </a:rPr>
              <a:t>instrumentar	</a:t>
            </a:r>
            <a:r>
              <a:rPr sz="2600" i="1" spc="-55" dirty="0">
                <a:latin typeface="Arial"/>
                <a:cs typeface="Arial"/>
              </a:rPr>
              <a:t>la</a:t>
            </a:r>
            <a:endParaRPr sz="2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tabLst>
                <a:tab pos="1725930" algn="l"/>
                <a:tab pos="3399154" algn="l"/>
                <a:tab pos="5151755" algn="l"/>
                <a:tab pos="5529580" algn="l"/>
              </a:tabLst>
            </a:pPr>
            <a:r>
              <a:rPr sz="2600" b="1" i="1" spc="-195" dirty="0">
                <a:solidFill>
                  <a:srgbClr val="00338D"/>
                </a:solidFill>
                <a:latin typeface="Trebuchet MS"/>
                <a:cs typeface="Trebuchet MS"/>
              </a:rPr>
              <a:t>recur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s</a:t>
            </a:r>
            <a:r>
              <a:rPr sz="2600" b="1" i="1" spc="-165" dirty="0">
                <a:solidFill>
                  <a:srgbClr val="00338D"/>
                </a:solidFill>
                <a:latin typeface="Trebuchet MS"/>
                <a:cs typeface="Trebuchet MS"/>
              </a:rPr>
              <a:t>o</a:t>
            </a:r>
            <a:r>
              <a:rPr sz="2600" b="1" i="1" spc="-130" dirty="0">
                <a:solidFill>
                  <a:srgbClr val="00338D"/>
                </a:solidFill>
                <a:latin typeface="Trebuchet MS"/>
                <a:cs typeface="Trebuchet MS"/>
              </a:rPr>
              <a:t>s</a:t>
            </a:r>
            <a:r>
              <a:rPr sz="2600" b="1" i="1" dirty="0">
                <a:solidFill>
                  <a:srgbClr val="00338D"/>
                </a:solidFill>
                <a:latin typeface="Trebuchet MS"/>
                <a:cs typeface="Trebuchet MS"/>
              </a:rPr>
              <a:t>	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nece</a:t>
            </a:r>
            <a:r>
              <a:rPr sz="2600" b="1" i="1" spc="-135" dirty="0">
                <a:solidFill>
                  <a:srgbClr val="00338D"/>
                </a:solidFill>
                <a:latin typeface="Trebuchet MS"/>
                <a:cs typeface="Trebuchet MS"/>
              </a:rPr>
              <a:t>s</a:t>
            </a:r>
            <a:r>
              <a:rPr sz="2600" b="1" i="1" spc="-185" dirty="0">
                <a:solidFill>
                  <a:srgbClr val="00338D"/>
                </a:solidFill>
                <a:latin typeface="Trebuchet MS"/>
                <a:cs typeface="Trebuchet MS"/>
              </a:rPr>
              <a:t>arios</a:t>
            </a:r>
            <a:r>
              <a:rPr sz="2600" b="1" i="1" dirty="0">
                <a:solidFill>
                  <a:srgbClr val="00338D"/>
                </a:solidFill>
                <a:latin typeface="Trebuchet MS"/>
                <a:cs typeface="Trebuchet MS"/>
              </a:rPr>
              <a:t>	</a:t>
            </a:r>
            <a:r>
              <a:rPr sz="2600" i="1" spc="-110" dirty="0">
                <a:latin typeface="Arial"/>
                <a:cs typeface="Arial"/>
              </a:rPr>
              <a:t>(m</a:t>
            </a:r>
            <a:r>
              <a:rPr sz="2600" i="1" spc="-95" dirty="0">
                <a:latin typeface="Arial"/>
                <a:cs typeface="Arial"/>
              </a:rPr>
              <a:t>a</a:t>
            </a:r>
            <a:r>
              <a:rPr sz="2600" i="1" spc="-75" dirty="0">
                <a:latin typeface="Arial"/>
                <a:cs typeface="Arial"/>
              </a:rPr>
              <a:t>teriales</a:t>
            </a:r>
            <a:r>
              <a:rPr sz="2600" i="1" dirty="0">
                <a:latin typeface="Arial"/>
                <a:cs typeface="Arial"/>
              </a:rPr>
              <a:t>	</a:t>
            </a:r>
            <a:r>
              <a:rPr sz="2600" i="1" spc="-140" dirty="0">
                <a:latin typeface="Arial"/>
                <a:cs typeface="Arial"/>
              </a:rPr>
              <a:t>y</a:t>
            </a:r>
            <a:r>
              <a:rPr sz="2600" i="1" dirty="0">
                <a:latin typeface="Arial"/>
                <a:cs typeface="Arial"/>
              </a:rPr>
              <a:t>	</a:t>
            </a:r>
            <a:r>
              <a:rPr sz="2600" i="1" spc="-114" dirty="0">
                <a:latin typeface="Arial"/>
                <a:cs typeface="Arial"/>
              </a:rPr>
              <a:t>no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0414" y="1963419"/>
            <a:ext cx="23996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4664" algn="l"/>
              </a:tabLst>
            </a:pPr>
            <a:r>
              <a:rPr sz="2600" i="1" spc="-135" dirty="0">
                <a:latin typeface="Arial"/>
                <a:cs typeface="Arial"/>
              </a:rPr>
              <a:t>m</a:t>
            </a:r>
            <a:r>
              <a:rPr sz="2600" i="1" spc="-85" dirty="0">
                <a:latin typeface="Arial"/>
                <a:cs typeface="Arial"/>
              </a:rPr>
              <a:t>a</a:t>
            </a:r>
            <a:r>
              <a:rPr sz="2600" i="1" spc="-80" dirty="0">
                <a:latin typeface="Arial"/>
                <a:cs typeface="Arial"/>
              </a:rPr>
              <a:t>teriales)</a:t>
            </a:r>
            <a:r>
              <a:rPr sz="2600" i="1" dirty="0">
                <a:latin typeface="Arial"/>
                <a:cs typeface="Arial"/>
              </a:rPr>
              <a:t>	</a:t>
            </a:r>
            <a:r>
              <a:rPr sz="2600" i="1" spc="-85" dirty="0">
                <a:latin typeface="Arial"/>
                <a:cs typeface="Arial"/>
              </a:rPr>
              <a:t>para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8015" y="3542538"/>
            <a:ext cx="7067550" cy="0"/>
          </a:xfrm>
          <a:custGeom>
            <a:avLst/>
            <a:gdLst/>
            <a:ahLst/>
            <a:cxnLst/>
            <a:rect l="l" t="t" r="r" b="b"/>
            <a:pathLst>
              <a:path w="7067550">
                <a:moveTo>
                  <a:pt x="0" y="0"/>
                </a:moveTo>
                <a:lnTo>
                  <a:pt x="7067550" y="0"/>
                </a:lnTo>
              </a:path>
            </a:pathLst>
          </a:custGeom>
          <a:ln w="21335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5115" y="47175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2541" y="2359660"/>
            <a:ext cx="8487410" cy="392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95"/>
              </a:spcBef>
            </a:pPr>
            <a:r>
              <a:rPr sz="2600" i="1" spc="-120" dirty="0">
                <a:latin typeface="Arial"/>
                <a:cs typeface="Arial"/>
              </a:rPr>
              <a:t>asegurar </a:t>
            </a:r>
            <a:r>
              <a:rPr sz="2600" i="1" spc="-95" dirty="0">
                <a:latin typeface="Arial"/>
                <a:cs typeface="Arial"/>
              </a:rPr>
              <a:t>el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adecuado </a:t>
            </a:r>
            <a:r>
              <a:rPr sz="2600" b="1" i="1" spc="-150" dirty="0">
                <a:solidFill>
                  <a:srgbClr val="00338D"/>
                </a:solidFill>
                <a:latin typeface="Trebuchet MS"/>
                <a:cs typeface="Trebuchet MS"/>
              </a:rPr>
              <a:t>funcionamiento </a:t>
            </a:r>
            <a:r>
              <a:rPr sz="2600" i="1" spc="-160" dirty="0">
                <a:latin typeface="Arial"/>
                <a:cs typeface="Arial"/>
              </a:rPr>
              <a:t>de </a:t>
            </a:r>
            <a:r>
              <a:rPr sz="2600" i="1" spc="-114" dirty="0">
                <a:latin typeface="Arial"/>
                <a:cs typeface="Arial"/>
              </a:rPr>
              <a:t>una </a:t>
            </a:r>
            <a:r>
              <a:rPr sz="2600" i="1" spc="-105" dirty="0">
                <a:latin typeface="Arial"/>
                <a:cs typeface="Arial"/>
              </a:rPr>
              <a:t>organización  </a:t>
            </a:r>
            <a:r>
              <a:rPr sz="2600" i="1" spc="-75" dirty="0">
                <a:latin typeface="Arial"/>
                <a:cs typeface="Arial"/>
              </a:rPr>
              <a:t>bajo </a:t>
            </a:r>
            <a:r>
              <a:rPr sz="2600" i="1" spc="-130" dirty="0">
                <a:latin typeface="Arial"/>
                <a:cs typeface="Arial"/>
              </a:rPr>
              <a:t>las </a:t>
            </a:r>
            <a:r>
              <a:rPr sz="2600" i="1" spc="-125" dirty="0">
                <a:latin typeface="Arial"/>
                <a:cs typeface="Arial"/>
              </a:rPr>
              <a:t>mejores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condiciones </a:t>
            </a:r>
            <a:r>
              <a:rPr sz="2600" b="1" i="1" spc="-165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contratación </a:t>
            </a:r>
            <a:r>
              <a:rPr sz="2600" i="1" spc="-25" dirty="0">
                <a:latin typeface="Arial"/>
                <a:cs typeface="Arial"/>
              </a:rPr>
              <a:t>(tanto </a:t>
            </a:r>
            <a:r>
              <a:rPr sz="2600" i="1" spc="-114" dirty="0">
                <a:latin typeface="Arial"/>
                <a:cs typeface="Arial"/>
              </a:rPr>
              <a:t>a </a:t>
            </a:r>
            <a:r>
              <a:rPr sz="2600" i="1" spc="-90" dirty="0">
                <a:latin typeface="Arial"/>
                <a:cs typeface="Arial"/>
              </a:rPr>
              <a:t>nivel  </a:t>
            </a:r>
            <a:r>
              <a:rPr sz="2600" i="1" spc="-90" dirty="0">
                <a:solidFill>
                  <a:srgbClr val="00338D"/>
                </a:solidFill>
                <a:latin typeface="Arial"/>
                <a:cs typeface="Arial"/>
              </a:rPr>
              <a:t>calidad</a:t>
            </a:r>
            <a:r>
              <a:rPr sz="2600" i="1" spc="54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600" i="1" spc="-105" dirty="0">
                <a:solidFill>
                  <a:srgbClr val="00338D"/>
                </a:solidFill>
                <a:latin typeface="Arial"/>
                <a:cs typeface="Arial"/>
              </a:rPr>
              <a:t>del </a:t>
            </a:r>
            <a:r>
              <a:rPr sz="2600" i="1" spc="-75" dirty="0">
                <a:solidFill>
                  <a:srgbClr val="00338D"/>
                </a:solidFill>
                <a:latin typeface="Arial"/>
                <a:cs typeface="Arial"/>
              </a:rPr>
              <a:t>producto/servicio, </a:t>
            </a:r>
            <a:r>
              <a:rPr sz="2600" i="1" spc="-105" dirty="0">
                <a:solidFill>
                  <a:srgbClr val="00338D"/>
                </a:solidFill>
                <a:latin typeface="Arial"/>
                <a:cs typeface="Arial"/>
              </a:rPr>
              <a:t>precio, </a:t>
            </a:r>
            <a:r>
              <a:rPr sz="2600" i="1" spc="-95" dirty="0">
                <a:solidFill>
                  <a:srgbClr val="00338D"/>
                </a:solidFill>
                <a:latin typeface="Arial"/>
                <a:cs typeface="Arial"/>
              </a:rPr>
              <a:t>variedad</a:t>
            </a:r>
            <a:r>
              <a:rPr sz="2600" i="1" spc="-95" dirty="0">
                <a:latin typeface="Arial"/>
                <a:cs typeface="Arial"/>
              </a:rPr>
              <a:t>, </a:t>
            </a:r>
            <a:r>
              <a:rPr sz="2600" i="1" spc="-85" dirty="0">
                <a:latin typeface="Arial"/>
                <a:cs typeface="Arial"/>
              </a:rPr>
              <a:t>etc.),  </a:t>
            </a:r>
            <a:r>
              <a:rPr sz="2600" i="1" spc="-110" dirty="0">
                <a:latin typeface="Arial"/>
                <a:cs typeface="Arial"/>
              </a:rPr>
              <a:t>velando </a:t>
            </a:r>
            <a:r>
              <a:rPr sz="2600" i="1" spc="-70" dirty="0">
                <a:latin typeface="Arial"/>
                <a:cs typeface="Arial"/>
              </a:rPr>
              <a:t>por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generar </a:t>
            </a:r>
            <a:r>
              <a:rPr sz="2600" b="1" i="1" spc="-190" dirty="0">
                <a:solidFill>
                  <a:srgbClr val="00338D"/>
                </a:solidFill>
                <a:latin typeface="Trebuchet MS"/>
                <a:cs typeface="Trebuchet MS"/>
              </a:rPr>
              <a:t>valor </a:t>
            </a:r>
            <a:r>
              <a:rPr sz="2600" b="1" i="1" spc="-135" dirty="0">
                <a:solidFill>
                  <a:srgbClr val="00338D"/>
                </a:solidFill>
                <a:latin typeface="Trebuchet MS"/>
                <a:cs typeface="Trebuchet MS"/>
              </a:rPr>
              <a:t>agregado </a:t>
            </a:r>
            <a:r>
              <a:rPr sz="2600" i="1" spc="-114" dirty="0">
                <a:latin typeface="Arial"/>
                <a:cs typeface="Arial"/>
              </a:rPr>
              <a:t>a </a:t>
            </a:r>
            <a:r>
              <a:rPr sz="2600" i="1" spc="-5" dirty="0">
                <a:latin typeface="Arial"/>
                <a:cs typeface="Arial"/>
              </a:rPr>
              <a:t>partir </a:t>
            </a:r>
            <a:r>
              <a:rPr sz="2600" i="1" spc="-105" dirty="0">
                <a:latin typeface="Arial"/>
                <a:cs typeface="Arial"/>
              </a:rPr>
              <a:t>del </a:t>
            </a:r>
            <a:r>
              <a:rPr sz="2600" i="1" spc="-80" dirty="0">
                <a:latin typeface="Arial"/>
                <a:cs typeface="Arial"/>
              </a:rPr>
              <a:t>producto </a:t>
            </a:r>
            <a:r>
              <a:rPr sz="2600" i="1" spc="-114" dirty="0">
                <a:latin typeface="Arial"/>
                <a:cs typeface="Arial"/>
              </a:rPr>
              <a:t>o  </a:t>
            </a:r>
            <a:r>
              <a:rPr sz="2600" i="1" spc="-120" dirty="0">
                <a:latin typeface="Arial"/>
                <a:cs typeface="Arial"/>
              </a:rPr>
              <a:t>servicio </a:t>
            </a:r>
            <a:r>
              <a:rPr sz="2600" i="1" spc="-30" dirty="0">
                <a:latin typeface="Arial"/>
                <a:cs typeface="Arial"/>
              </a:rPr>
              <a:t>final </a:t>
            </a:r>
            <a:r>
              <a:rPr sz="2600" i="1" spc="-90" dirty="0">
                <a:latin typeface="Arial"/>
                <a:cs typeface="Arial"/>
              </a:rPr>
              <a:t>entregado </a:t>
            </a:r>
            <a:r>
              <a:rPr sz="2600" i="1" spc="-50" dirty="0">
                <a:latin typeface="Arial"/>
                <a:cs typeface="Arial"/>
              </a:rPr>
              <a:t>al</a:t>
            </a:r>
            <a:r>
              <a:rPr sz="2600" i="1" spc="-275" dirty="0">
                <a:latin typeface="Arial"/>
                <a:cs typeface="Arial"/>
              </a:rPr>
              <a:t> 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cliente</a:t>
            </a:r>
            <a:r>
              <a:rPr sz="2600" i="1" spc="-17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386715">
              <a:lnSpc>
                <a:spcPct val="100000"/>
              </a:lnSpc>
              <a:spcBef>
                <a:spcPts val="1880"/>
              </a:spcBef>
            </a:pPr>
            <a:r>
              <a:rPr sz="3200" spc="-210" dirty="0">
                <a:latin typeface="Arial"/>
                <a:cs typeface="Arial"/>
              </a:rPr>
              <a:t>Cuentas </a:t>
            </a:r>
            <a:r>
              <a:rPr sz="3200" spc="-250" dirty="0">
                <a:latin typeface="Arial"/>
                <a:cs typeface="Arial"/>
              </a:rPr>
              <a:t>a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210" dirty="0">
                <a:latin typeface="Arial"/>
                <a:cs typeface="Arial"/>
              </a:rPr>
              <a:t>Pagar: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355600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 principal: </a:t>
            </a:r>
            <a:r>
              <a:rPr sz="2600" i="1" spc="-70" dirty="0">
                <a:latin typeface="Arial"/>
                <a:cs typeface="Arial"/>
              </a:rPr>
              <a:t>determinar </a:t>
            </a:r>
            <a:r>
              <a:rPr sz="2600" i="1" spc="-140" dirty="0">
                <a:latin typeface="Arial"/>
                <a:cs typeface="Arial"/>
              </a:rPr>
              <a:t>y </a:t>
            </a:r>
            <a:r>
              <a:rPr sz="2600" i="1" spc="-55" dirty="0">
                <a:latin typeface="Arial"/>
                <a:cs typeface="Arial"/>
              </a:rPr>
              <a:t>registrar </a:t>
            </a:r>
            <a:r>
              <a:rPr sz="2600" i="1" spc="-50" dirty="0">
                <a:latin typeface="Arial"/>
                <a:cs typeface="Arial"/>
              </a:rPr>
              <a:t>la </a:t>
            </a:r>
            <a:r>
              <a:rPr sz="2600" b="1" i="1" spc="-150" dirty="0">
                <a:solidFill>
                  <a:srgbClr val="00338D"/>
                </a:solidFill>
                <a:latin typeface="Trebuchet MS"/>
                <a:cs typeface="Trebuchet MS"/>
              </a:rPr>
              <a:t>deuda </a:t>
            </a:r>
            <a:r>
              <a:rPr sz="2600" i="1" spc="-150" dirty="0">
                <a:latin typeface="Arial"/>
                <a:cs typeface="Arial"/>
              </a:rPr>
              <a:t>con </a:t>
            </a:r>
            <a:r>
              <a:rPr sz="2600" i="1" spc="-130" dirty="0">
                <a:latin typeface="Arial"/>
                <a:cs typeface="Arial"/>
              </a:rPr>
              <a:t>los </a:t>
            </a:r>
            <a:r>
              <a:rPr sz="2600" i="1" spc="-1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proveedores </a:t>
            </a:r>
            <a:r>
              <a:rPr sz="2600" i="1" spc="-140" dirty="0">
                <a:latin typeface="Arial"/>
                <a:cs typeface="Arial"/>
              </a:rPr>
              <a:t>encargados </a:t>
            </a:r>
            <a:r>
              <a:rPr sz="2600" i="1" spc="-165" dirty="0">
                <a:latin typeface="Arial"/>
                <a:cs typeface="Arial"/>
              </a:rPr>
              <a:t>de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suministrar </a:t>
            </a:r>
            <a:r>
              <a:rPr sz="2600" i="1" spc="-130" dirty="0">
                <a:latin typeface="Arial"/>
                <a:cs typeface="Arial"/>
              </a:rPr>
              <a:t>las 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compras  </a:t>
            </a:r>
            <a:r>
              <a:rPr sz="2600" b="1" i="1" spc="-175" dirty="0">
                <a:solidFill>
                  <a:srgbClr val="00338D"/>
                </a:solidFill>
                <a:latin typeface="Trebuchet MS"/>
                <a:cs typeface="Trebuchet MS"/>
              </a:rPr>
              <a:t>efectuadas</a:t>
            </a:r>
            <a:r>
              <a:rPr sz="2600" i="1" spc="-17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</a:t>
            </a:r>
            <a:r>
              <a:rPr lang="es-AR" b="1" spc="-5" dirty="0">
                <a:latin typeface="Arial"/>
                <a:cs typeface="Arial"/>
              </a:rPr>
              <a:t>020</a:t>
            </a:r>
            <a:r>
              <a:rPr lang="es-AR" b="1" spc="-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3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4034" y="3453003"/>
            <a:ext cx="3062605" cy="2443480"/>
          </a:xfrm>
          <a:custGeom>
            <a:avLst/>
            <a:gdLst/>
            <a:ahLst/>
            <a:cxnLst/>
            <a:rect l="l" t="t" r="r" b="b"/>
            <a:pathLst>
              <a:path w="3062604" h="2443479">
                <a:moveTo>
                  <a:pt x="0" y="2442972"/>
                </a:moveTo>
                <a:lnTo>
                  <a:pt x="3062478" y="2442972"/>
                </a:lnTo>
                <a:lnTo>
                  <a:pt x="3062478" y="0"/>
                </a:lnTo>
                <a:lnTo>
                  <a:pt x="0" y="0"/>
                </a:lnTo>
                <a:lnTo>
                  <a:pt x="0" y="2442972"/>
                </a:lnTo>
                <a:close/>
              </a:path>
            </a:pathLst>
          </a:custGeom>
          <a:ln w="25146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90870" y="5400294"/>
            <a:ext cx="2494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006FC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006FC0"/>
                </a:solidFill>
                <a:latin typeface="Trebuchet MS"/>
                <a:cs typeface="Trebuchet MS"/>
              </a:rPr>
              <a:t>4: </a:t>
            </a:r>
            <a:r>
              <a:rPr sz="1400" b="1" spc="-80" dirty="0">
                <a:solidFill>
                  <a:srgbClr val="006FC0"/>
                </a:solidFill>
                <a:latin typeface="Trebuchet MS"/>
                <a:cs typeface="Trebuchet MS"/>
              </a:rPr>
              <a:t>Control </a:t>
            </a:r>
            <a:r>
              <a:rPr sz="1400" b="1" spc="-85" dirty="0">
                <a:solidFill>
                  <a:srgbClr val="006FC0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006FC0"/>
                </a:solidFill>
                <a:latin typeface="Trebuchet MS"/>
                <a:cs typeface="Trebuchet MS"/>
              </a:rPr>
              <a:t>la </a:t>
            </a:r>
            <a:r>
              <a:rPr sz="1400" b="1" spc="-80" dirty="0">
                <a:solidFill>
                  <a:srgbClr val="006FC0"/>
                </a:solidFill>
                <a:latin typeface="Trebuchet MS"/>
                <a:cs typeface="Trebuchet MS"/>
              </a:rPr>
              <a:t>compra</a:t>
            </a:r>
            <a:r>
              <a:rPr sz="1400" b="1" spc="-3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6FC0"/>
                </a:solidFill>
                <a:latin typeface="Trebuchet MS"/>
                <a:cs typeface="Trebuchet MS"/>
              </a:rPr>
              <a:t>y  registración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7539" y="1143000"/>
            <a:ext cx="5499100" cy="2208530"/>
          </a:xfrm>
          <a:custGeom>
            <a:avLst/>
            <a:gdLst/>
            <a:ahLst/>
            <a:cxnLst/>
            <a:rect l="l" t="t" r="r" b="b"/>
            <a:pathLst>
              <a:path w="5499100" h="2208529">
                <a:moveTo>
                  <a:pt x="0" y="2208276"/>
                </a:moveTo>
                <a:lnTo>
                  <a:pt x="5498592" y="2208276"/>
                </a:lnTo>
                <a:lnTo>
                  <a:pt x="5498592" y="0"/>
                </a:lnTo>
                <a:lnTo>
                  <a:pt x="0" y="0"/>
                </a:lnTo>
                <a:lnTo>
                  <a:pt x="0" y="2208276"/>
                </a:lnTo>
                <a:close/>
              </a:path>
            </a:pathLst>
          </a:custGeom>
          <a:ln w="25908">
            <a:solidFill>
              <a:srgbClr val="9BBA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55009" y="2862580"/>
            <a:ext cx="295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AF50"/>
                </a:solidFill>
                <a:latin typeface="Arial"/>
                <a:cs typeface="Arial"/>
              </a:rPr>
              <a:t>Módulo 2: Selección del</a:t>
            </a:r>
            <a:r>
              <a:rPr sz="14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AF50"/>
                </a:solidFill>
                <a:latin typeface="Arial"/>
                <a:cs typeface="Arial"/>
              </a:rPr>
              <a:t>proveedor  y adjudicación de</a:t>
            </a:r>
            <a:r>
              <a:rPr sz="1400" b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AF50"/>
                </a:solidFill>
                <a:latin typeface="Arial"/>
                <a:cs typeface="Arial"/>
              </a:rPr>
              <a:t>compra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536" y="3452621"/>
            <a:ext cx="5029200" cy="2443480"/>
          </a:xfrm>
          <a:custGeom>
            <a:avLst/>
            <a:gdLst/>
            <a:ahLst/>
            <a:cxnLst/>
            <a:rect l="l" t="t" r="r" b="b"/>
            <a:pathLst>
              <a:path w="5029200" h="2443479">
                <a:moveTo>
                  <a:pt x="0" y="2442972"/>
                </a:moveTo>
                <a:lnTo>
                  <a:pt x="5029200" y="2442972"/>
                </a:lnTo>
                <a:lnTo>
                  <a:pt x="5029200" y="0"/>
                </a:lnTo>
                <a:lnTo>
                  <a:pt x="0" y="0"/>
                </a:lnTo>
                <a:lnTo>
                  <a:pt x="0" y="2442972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259" y="5620511"/>
            <a:ext cx="409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E36C09"/>
                </a:solidFill>
                <a:latin typeface="Arial"/>
                <a:cs typeface="Arial"/>
              </a:rPr>
              <a:t>Módulo 3: Recepción, control y</a:t>
            </a:r>
            <a:r>
              <a:rPr sz="1400" b="1" spc="-20" dirty="0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E36C09"/>
                </a:solidFill>
                <a:latin typeface="Arial"/>
                <a:cs typeface="Arial"/>
              </a:rPr>
              <a:t>almacenamiento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8837" y="1628394"/>
            <a:ext cx="2300478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9744" y="1917192"/>
            <a:ext cx="1536954" cy="454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13789" y="1956816"/>
            <a:ext cx="1292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Re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q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uerimiento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45764" y="1672589"/>
            <a:ext cx="2300478" cy="10066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2503" y="1961388"/>
            <a:ext cx="1144524" cy="4541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46803" y="2000504"/>
            <a:ext cx="8978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Cotización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85188" y="4602479"/>
            <a:ext cx="2301240" cy="10066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66594" y="4769358"/>
            <a:ext cx="900683" cy="454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40964" y="4769358"/>
            <a:ext cx="482346" cy="4541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06801" y="5013197"/>
            <a:ext cx="876300" cy="454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0385" y="4809235"/>
            <a:ext cx="9112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marR="5080" indent="-140335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r>
              <a:rPr sz="16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calidad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2637" y="3659123"/>
            <a:ext cx="2430018" cy="10066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9160" y="3947921"/>
            <a:ext cx="1713738" cy="4541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13205" y="3987291"/>
            <a:ext cx="14674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Almac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enam</a:t>
            </a:r>
            <a:r>
              <a:rPr sz="1600" b="1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1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nto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68161" y="4944617"/>
            <a:ext cx="2636520" cy="30289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15"/>
              </a:spcBef>
            </a:pPr>
            <a:r>
              <a:rPr sz="1400" b="1" spc="-5" dirty="0">
                <a:latin typeface="Arial"/>
                <a:cs typeface="Arial"/>
              </a:rPr>
              <a:t>Facturas del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Proveedor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7868" y="1143000"/>
            <a:ext cx="2592705" cy="2208530"/>
          </a:xfrm>
          <a:custGeom>
            <a:avLst/>
            <a:gdLst/>
            <a:ahLst/>
            <a:cxnLst/>
            <a:rect l="l" t="t" r="r" b="b"/>
            <a:pathLst>
              <a:path w="2592705" h="2208529">
                <a:moveTo>
                  <a:pt x="0" y="2208276"/>
                </a:moveTo>
                <a:lnTo>
                  <a:pt x="2592324" y="2208276"/>
                </a:lnTo>
                <a:lnTo>
                  <a:pt x="2592324" y="0"/>
                </a:lnTo>
                <a:lnTo>
                  <a:pt x="0" y="0"/>
                </a:lnTo>
                <a:lnTo>
                  <a:pt x="0" y="2208276"/>
                </a:lnTo>
                <a:close/>
              </a:path>
            </a:pathLst>
          </a:custGeom>
          <a:ln w="25908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4830" y="2862580"/>
            <a:ext cx="2011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Módulo 1: Detección</a:t>
            </a:r>
            <a:r>
              <a:rPr sz="14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de  necesidad de</a:t>
            </a:r>
            <a:r>
              <a:rPr sz="1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compra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479548" y="1380744"/>
            <a:ext cx="1491996" cy="6225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20695" y="1399286"/>
            <a:ext cx="1319530" cy="425450"/>
          </a:xfrm>
          <a:custGeom>
            <a:avLst/>
            <a:gdLst/>
            <a:ahLst/>
            <a:cxnLst/>
            <a:rect l="l" t="t" r="r" b="b"/>
            <a:pathLst>
              <a:path w="1319529" h="425450">
                <a:moveTo>
                  <a:pt x="1245537" y="320135"/>
                </a:moveTo>
                <a:lnTo>
                  <a:pt x="1209294" y="330073"/>
                </a:lnTo>
                <a:lnTo>
                  <a:pt x="1294638" y="425196"/>
                </a:lnTo>
                <a:lnTo>
                  <a:pt x="1311787" y="338836"/>
                </a:lnTo>
                <a:lnTo>
                  <a:pt x="1251204" y="338836"/>
                </a:lnTo>
                <a:lnTo>
                  <a:pt x="1245537" y="320135"/>
                </a:lnTo>
                <a:close/>
              </a:path>
              <a:path w="1319529" h="425450">
                <a:moveTo>
                  <a:pt x="656463" y="0"/>
                </a:moveTo>
                <a:lnTo>
                  <a:pt x="595503" y="2159"/>
                </a:lnTo>
                <a:lnTo>
                  <a:pt x="535051" y="8381"/>
                </a:lnTo>
                <a:lnTo>
                  <a:pt x="475615" y="18414"/>
                </a:lnTo>
                <a:lnTo>
                  <a:pt x="417449" y="31876"/>
                </a:lnTo>
                <a:lnTo>
                  <a:pt x="361315" y="48640"/>
                </a:lnTo>
                <a:lnTo>
                  <a:pt x="307467" y="68452"/>
                </a:lnTo>
                <a:lnTo>
                  <a:pt x="256412" y="90931"/>
                </a:lnTo>
                <a:lnTo>
                  <a:pt x="208534" y="115950"/>
                </a:lnTo>
                <a:lnTo>
                  <a:pt x="164465" y="143255"/>
                </a:lnTo>
                <a:lnTo>
                  <a:pt x="124460" y="172592"/>
                </a:lnTo>
                <a:lnTo>
                  <a:pt x="89154" y="203835"/>
                </a:lnTo>
                <a:lnTo>
                  <a:pt x="58674" y="236854"/>
                </a:lnTo>
                <a:lnTo>
                  <a:pt x="34036" y="271399"/>
                </a:lnTo>
                <a:lnTo>
                  <a:pt x="15367" y="307339"/>
                </a:lnTo>
                <a:lnTo>
                  <a:pt x="3810" y="344677"/>
                </a:lnTo>
                <a:lnTo>
                  <a:pt x="0" y="380491"/>
                </a:lnTo>
                <a:lnTo>
                  <a:pt x="38100" y="382524"/>
                </a:lnTo>
                <a:lnTo>
                  <a:pt x="38989" y="365633"/>
                </a:lnTo>
                <a:lnTo>
                  <a:pt x="41529" y="350519"/>
                </a:lnTo>
                <a:lnTo>
                  <a:pt x="58492" y="305308"/>
                </a:lnTo>
                <a:lnTo>
                  <a:pt x="88900" y="259968"/>
                </a:lnTo>
                <a:lnTo>
                  <a:pt x="116331" y="230504"/>
                </a:lnTo>
                <a:lnTo>
                  <a:pt x="149098" y="201802"/>
                </a:lnTo>
                <a:lnTo>
                  <a:pt x="186436" y="174371"/>
                </a:lnTo>
                <a:lnTo>
                  <a:pt x="228092" y="148716"/>
                </a:lnTo>
                <a:lnTo>
                  <a:pt x="273558" y="124967"/>
                </a:lnTo>
                <a:lnTo>
                  <a:pt x="322326" y="103504"/>
                </a:lnTo>
                <a:lnTo>
                  <a:pt x="373888" y="84581"/>
                </a:lnTo>
                <a:lnTo>
                  <a:pt x="427736" y="68579"/>
                </a:lnTo>
                <a:lnTo>
                  <a:pt x="483616" y="55625"/>
                </a:lnTo>
                <a:lnTo>
                  <a:pt x="540766" y="45974"/>
                </a:lnTo>
                <a:lnTo>
                  <a:pt x="598805" y="40131"/>
                </a:lnTo>
                <a:lnTo>
                  <a:pt x="657225" y="38100"/>
                </a:lnTo>
                <a:lnTo>
                  <a:pt x="904125" y="38100"/>
                </a:lnTo>
                <a:lnTo>
                  <a:pt x="896112" y="35560"/>
                </a:lnTo>
                <a:lnTo>
                  <a:pt x="837945" y="20574"/>
                </a:lnTo>
                <a:lnTo>
                  <a:pt x="778382" y="9398"/>
                </a:lnTo>
                <a:lnTo>
                  <a:pt x="717677" y="2286"/>
                </a:lnTo>
                <a:lnTo>
                  <a:pt x="687070" y="635"/>
                </a:lnTo>
                <a:lnTo>
                  <a:pt x="656463" y="0"/>
                </a:lnTo>
                <a:close/>
              </a:path>
              <a:path w="1319529" h="425450">
                <a:moveTo>
                  <a:pt x="1245538" y="320134"/>
                </a:moveTo>
                <a:lnTo>
                  <a:pt x="1251204" y="338836"/>
                </a:lnTo>
                <a:lnTo>
                  <a:pt x="1287653" y="327787"/>
                </a:lnTo>
                <a:lnTo>
                  <a:pt x="1285959" y="322199"/>
                </a:lnTo>
                <a:lnTo>
                  <a:pt x="1246758" y="322199"/>
                </a:lnTo>
                <a:lnTo>
                  <a:pt x="1245538" y="320134"/>
                </a:lnTo>
                <a:close/>
              </a:path>
              <a:path w="1319529" h="425450">
                <a:moveTo>
                  <a:pt x="1319530" y="299847"/>
                </a:moveTo>
                <a:lnTo>
                  <a:pt x="1282281" y="310060"/>
                </a:lnTo>
                <a:lnTo>
                  <a:pt x="1287653" y="327787"/>
                </a:lnTo>
                <a:lnTo>
                  <a:pt x="1251204" y="338836"/>
                </a:lnTo>
                <a:lnTo>
                  <a:pt x="1311787" y="338836"/>
                </a:lnTo>
                <a:lnTo>
                  <a:pt x="1319530" y="299847"/>
                </a:lnTo>
                <a:close/>
              </a:path>
              <a:path w="1319529" h="425450">
                <a:moveTo>
                  <a:pt x="1245814" y="320059"/>
                </a:moveTo>
                <a:lnTo>
                  <a:pt x="1245538" y="320135"/>
                </a:lnTo>
                <a:lnTo>
                  <a:pt x="1246758" y="322199"/>
                </a:lnTo>
                <a:lnTo>
                  <a:pt x="1245814" y="320059"/>
                </a:lnTo>
                <a:close/>
              </a:path>
              <a:path w="1319529" h="425450">
                <a:moveTo>
                  <a:pt x="1282281" y="310060"/>
                </a:moveTo>
                <a:lnTo>
                  <a:pt x="1245814" y="320059"/>
                </a:lnTo>
                <a:lnTo>
                  <a:pt x="1246758" y="322199"/>
                </a:lnTo>
                <a:lnTo>
                  <a:pt x="1285959" y="322199"/>
                </a:lnTo>
                <a:lnTo>
                  <a:pt x="1282281" y="310060"/>
                </a:lnTo>
                <a:close/>
              </a:path>
              <a:path w="1319529" h="425450">
                <a:moveTo>
                  <a:pt x="1244854" y="317880"/>
                </a:moveTo>
                <a:lnTo>
                  <a:pt x="1245538" y="320134"/>
                </a:lnTo>
                <a:lnTo>
                  <a:pt x="1245814" y="320059"/>
                </a:lnTo>
                <a:lnTo>
                  <a:pt x="1244854" y="317880"/>
                </a:lnTo>
                <a:close/>
              </a:path>
              <a:path w="1319529" h="425450">
                <a:moveTo>
                  <a:pt x="904125" y="38100"/>
                </a:moveTo>
                <a:lnTo>
                  <a:pt x="657225" y="38100"/>
                </a:lnTo>
                <a:lnTo>
                  <a:pt x="686435" y="38735"/>
                </a:lnTo>
                <a:lnTo>
                  <a:pt x="715518" y="40386"/>
                </a:lnTo>
                <a:lnTo>
                  <a:pt x="773303" y="47116"/>
                </a:lnTo>
                <a:lnTo>
                  <a:pt x="830199" y="57785"/>
                </a:lnTo>
                <a:lnTo>
                  <a:pt x="885952" y="72262"/>
                </a:lnTo>
                <a:lnTo>
                  <a:pt x="939800" y="90424"/>
                </a:lnTo>
                <a:lnTo>
                  <a:pt x="991234" y="111505"/>
                </a:lnTo>
                <a:lnTo>
                  <a:pt x="1040003" y="135636"/>
                </a:lnTo>
                <a:lnTo>
                  <a:pt x="1085342" y="162178"/>
                </a:lnTo>
                <a:lnTo>
                  <a:pt x="1127125" y="191135"/>
                </a:lnTo>
                <a:lnTo>
                  <a:pt x="1164463" y="221996"/>
                </a:lnTo>
                <a:lnTo>
                  <a:pt x="1197229" y="254253"/>
                </a:lnTo>
                <a:lnTo>
                  <a:pt x="1224915" y="287781"/>
                </a:lnTo>
                <a:lnTo>
                  <a:pt x="1245535" y="320129"/>
                </a:lnTo>
                <a:lnTo>
                  <a:pt x="1244854" y="317880"/>
                </a:lnTo>
                <a:lnTo>
                  <a:pt x="1253758" y="317880"/>
                </a:lnTo>
                <a:lnTo>
                  <a:pt x="1282281" y="310060"/>
                </a:lnTo>
                <a:lnTo>
                  <a:pt x="1281303" y="306831"/>
                </a:lnTo>
                <a:lnTo>
                  <a:pt x="1280921" y="305308"/>
                </a:lnTo>
                <a:lnTo>
                  <a:pt x="1280287" y="303911"/>
                </a:lnTo>
                <a:lnTo>
                  <a:pt x="1279398" y="302513"/>
                </a:lnTo>
                <a:lnTo>
                  <a:pt x="1267841" y="283337"/>
                </a:lnTo>
                <a:lnTo>
                  <a:pt x="1240408" y="245999"/>
                </a:lnTo>
                <a:lnTo>
                  <a:pt x="1207643" y="210185"/>
                </a:lnTo>
                <a:lnTo>
                  <a:pt x="1169924" y="176402"/>
                </a:lnTo>
                <a:lnTo>
                  <a:pt x="1127759" y="144652"/>
                </a:lnTo>
                <a:lnTo>
                  <a:pt x="1081786" y="115442"/>
                </a:lnTo>
                <a:lnTo>
                  <a:pt x="1032256" y="88773"/>
                </a:lnTo>
                <a:lnTo>
                  <a:pt x="979678" y="65024"/>
                </a:lnTo>
                <a:lnTo>
                  <a:pt x="924559" y="44576"/>
                </a:lnTo>
                <a:lnTo>
                  <a:pt x="904125" y="38100"/>
                </a:lnTo>
                <a:close/>
              </a:path>
              <a:path w="1319529" h="425450">
                <a:moveTo>
                  <a:pt x="1253758" y="317880"/>
                </a:moveTo>
                <a:lnTo>
                  <a:pt x="1244854" y="317880"/>
                </a:lnTo>
                <a:lnTo>
                  <a:pt x="1245814" y="320059"/>
                </a:lnTo>
                <a:lnTo>
                  <a:pt x="1253758" y="31788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16473" y="1424177"/>
            <a:ext cx="1415033" cy="6294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57621" y="1442719"/>
            <a:ext cx="1245870" cy="431800"/>
          </a:xfrm>
          <a:custGeom>
            <a:avLst/>
            <a:gdLst/>
            <a:ahLst/>
            <a:cxnLst/>
            <a:rect l="l" t="t" r="r" b="b"/>
            <a:pathLst>
              <a:path w="1245870" h="431800">
                <a:moveTo>
                  <a:pt x="1171002" y="325549"/>
                </a:moveTo>
                <a:lnTo>
                  <a:pt x="1134744" y="334644"/>
                </a:lnTo>
                <a:lnTo>
                  <a:pt x="1217929" y="431545"/>
                </a:lnTo>
                <a:lnTo>
                  <a:pt x="1237242" y="344550"/>
                </a:lnTo>
                <a:lnTo>
                  <a:pt x="1176401" y="344550"/>
                </a:lnTo>
                <a:lnTo>
                  <a:pt x="1171002" y="325549"/>
                </a:lnTo>
                <a:close/>
              </a:path>
              <a:path w="1245870" h="431800">
                <a:moveTo>
                  <a:pt x="618108" y="0"/>
                </a:moveTo>
                <a:lnTo>
                  <a:pt x="560577" y="2158"/>
                </a:lnTo>
                <a:lnTo>
                  <a:pt x="503681" y="8381"/>
                </a:lnTo>
                <a:lnTo>
                  <a:pt x="447548" y="18414"/>
                </a:lnTo>
                <a:lnTo>
                  <a:pt x="392938" y="32003"/>
                </a:lnTo>
                <a:lnTo>
                  <a:pt x="340105" y="48767"/>
                </a:lnTo>
                <a:lnTo>
                  <a:pt x="289305" y="68579"/>
                </a:lnTo>
                <a:lnTo>
                  <a:pt x="241300" y="91185"/>
                </a:lnTo>
                <a:lnTo>
                  <a:pt x="196214" y="116204"/>
                </a:lnTo>
                <a:lnTo>
                  <a:pt x="154686" y="143509"/>
                </a:lnTo>
                <a:lnTo>
                  <a:pt x="116966" y="172974"/>
                </a:lnTo>
                <a:lnTo>
                  <a:pt x="83692" y="204342"/>
                </a:lnTo>
                <a:lnTo>
                  <a:pt x="55117" y="237235"/>
                </a:lnTo>
                <a:lnTo>
                  <a:pt x="31876" y="271779"/>
                </a:lnTo>
                <a:lnTo>
                  <a:pt x="14477" y="307720"/>
                </a:lnTo>
                <a:lnTo>
                  <a:pt x="3682" y="344804"/>
                </a:lnTo>
                <a:lnTo>
                  <a:pt x="0" y="380491"/>
                </a:lnTo>
                <a:lnTo>
                  <a:pt x="38100" y="382524"/>
                </a:lnTo>
                <a:lnTo>
                  <a:pt x="38988" y="365505"/>
                </a:lnTo>
                <a:lnTo>
                  <a:pt x="41275" y="350392"/>
                </a:lnTo>
                <a:lnTo>
                  <a:pt x="57276" y="305053"/>
                </a:lnTo>
                <a:lnTo>
                  <a:pt x="85978" y="259587"/>
                </a:lnTo>
                <a:lnTo>
                  <a:pt x="111760" y="230124"/>
                </a:lnTo>
                <a:lnTo>
                  <a:pt x="142493" y="201421"/>
                </a:lnTo>
                <a:lnTo>
                  <a:pt x="177545" y="174116"/>
                </a:lnTo>
                <a:lnTo>
                  <a:pt x="216535" y="148462"/>
                </a:lnTo>
                <a:lnTo>
                  <a:pt x="259206" y="124713"/>
                </a:lnTo>
                <a:lnTo>
                  <a:pt x="305053" y="103250"/>
                </a:lnTo>
                <a:lnTo>
                  <a:pt x="353313" y="84454"/>
                </a:lnTo>
                <a:lnTo>
                  <a:pt x="403860" y="68452"/>
                </a:lnTo>
                <a:lnTo>
                  <a:pt x="456183" y="55499"/>
                </a:lnTo>
                <a:lnTo>
                  <a:pt x="509777" y="45974"/>
                </a:lnTo>
                <a:lnTo>
                  <a:pt x="564133" y="40131"/>
                </a:lnTo>
                <a:lnTo>
                  <a:pt x="618998" y="38100"/>
                </a:lnTo>
                <a:lnTo>
                  <a:pt x="849379" y="38100"/>
                </a:lnTo>
                <a:lnTo>
                  <a:pt x="844168" y="36321"/>
                </a:lnTo>
                <a:lnTo>
                  <a:pt x="789304" y="20827"/>
                </a:lnTo>
                <a:lnTo>
                  <a:pt x="733043" y="9525"/>
                </a:lnTo>
                <a:lnTo>
                  <a:pt x="675893" y="2412"/>
                </a:lnTo>
                <a:lnTo>
                  <a:pt x="647064" y="634"/>
                </a:lnTo>
                <a:lnTo>
                  <a:pt x="618108" y="0"/>
                </a:lnTo>
                <a:close/>
              </a:path>
              <a:path w="1245870" h="431800">
                <a:moveTo>
                  <a:pt x="1171329" y="325467"/>
                </a:moveTo>
                <a:lnTo>
                  <a:pt x="1171002" y="325549"/>
                </a:lnTo>
                <a:lnTo>
                  <a:pt x="1176401" y="344550"/>
                </a:lnTo>
                <a:lnTo>
                  <a:pt x="1213103" y="334009"/>
                </a:lnTo>
                <a:lnTo>
                  <a:pt x="1210822" y="326135"/>
                </a:lnTo>
                <a:lnTo>
                  <a:pt x="1171702" y="326135"/>
                </a:lnTo>
                <a:lnTo>
                  <a:pt x="1171329" y="325467"/>
                </a:lnTo>
                <a:close/>
              </a:path>
              <a:path w="1245870" h="431800">
                <a:moveTo>
                  <a:pt x="1245616" y="306831"/>
                </a:moveTo>
                <a:lnTo>
                  <a:pt x="1207965" y="316276"/>
                </a:lnTo>
                <a:lnTo>
                  <a:pt x="1213103" y="334009"/>
                </a:lnTo>
                <a:lnTo>
                  <a:pt x="1176401" y="344550"/>
                </a:lnTo>
                <a:lnTo>
                  <a:pt x="1237242" y="344550"/>
                </a:lnTo>
                <a:lnTo>
                  <a:pt x="1245616" y="306831"/>
                </a:lnTo>
                <a:close/>
              </a:path>
              <a:path w="1245870" h="431800">
                <a:moveTo>
                  <a:pt x="1171412" y="325446"/>
                </a:moveTo>
                <a:lnTo>
                  <a:pt x="1171702" y="326135"/>
                </a:lnTo>
                <a:lnTo>
                  <a:pt x="1171412" y="325446"/>
                </a:lnTo>
                <a:close/>
              </a:path>
              <a:path w="1245870" h="431800">
                <a:moveTo>
                  <a:pt x="1207965" y="316276"/>
                </a:moveTo>
                <a:lnTo>
                  <a:pt x="1171412" y="325446"/>
                </a:lnTo>
                <a:lnTo>
                  <a:pt x="1171702" y="326135"/>
                </a:lnTo>
                <a:lnTo>
                  <a:pt x="1210822" y="326135"/>
                </a:lnTo>
                <a:lnTo>
                  <a:pt x="1207965" y="316276"/>
                </a:lnTo>
                <a:close/>
              </a:path>
              <a:path w="1245870" h="431800">
                <a:moveTo>
                  <a:pt x="1170617" y="324191"/>
                </a:moveTo>
                <a:lnTo>
                  <a:pt x="1171002" y="325549"/>
                </a:lnTo>
                <a:lnTo>
                  <a:pt x="1171329" y="325467"/>
                </a:lnTo>
                <a:lnTo>
                  <a:pt x="1170617" y="324191"/>
                </a:lnTo>
                <a:close/>
              </a:path>
              <a:path w="1245870" h="431800">
                <a:moveTo>
                  <a:pt x="1170051" y="322199"/>
                </a:moveTo>
                <a:lnTo>
                  <a:pt x="1170617" y="324191"/>
                </a:lnTo>
                <a:lnTo>
                  <a:pt x="1171329" y="325467"/>
                </a:lnTo>
                <a:lnTo>
                  <a:pt x="1170051" y="322199"/>
                </a:lnTo>
                <a:close/>
              </a:path>
              <a:path w="1245870" h="431800">
                <a:moveTo>
                  <a:pt x="1184358" y="322199"/>
                </a:moveTo>
                <a:lnTo>
                  <a:pt x="1170051" y="322199"/>
                </a:lnTo>
                <a:lnTo>
                  <a:pt x="1171412" y="325446"/>
                </a:lnTo>
                <a:lnTo>
                  <a:pt x="1184358" y="322199"/>
                </a:lnTo>
                <a:close/>
              </a:path>
              <a:path w="1245870" h="431800">
                <a:moveTo>
                  <a:pt x="849379" y="38100"/>
                </a:moveTo>
                <a:lnTo>
                  <a:pt x="618998" y="38100"/>
                </a:lnTo>
                <a:lnTo>
                  <a:pt x="646302" y="38734"/>
                </a:lnTo>
                <a:lnTo>
                  <a:pt x="673480" y="40512"/>
                </a:lnTo>
                <a:lnTo>
                  <a:pt x="727710" y="47116"/>
                </a:lnTo>
                <a:lnTo>
                  <a:pt x="780923" y="58038"/>
                </a:lnTo>
                <a:lnTo>
                  <a:pt x="833247" y="72770"/>
                </a:lnTo>
                <a:lnTo>
                  <a:pt x="883665" y="91058"/>
                </a:lnTo>
                <a:lnTo>
                  <a:pt x="931926" y="112521"/>
                </a:lnTo>
                <a:lnTo>
                  <a:pt x="977518" y="136905"/>
                </a:lnTo>
                <a:lnTo>
                  <a:pt x="1020190" y="163829"/>
                </a:lnTo>
                <a:lnTo>
                  <a:pt x="1059306" y="193166"/>
                </a:lnTo>
                <a:lnTo>
                  <a:pt x="1094486" y="224408"/>
                </a:lnTo>
                <a:lnTo>
                  <a:pt x="1125092" y="257301"/>
                </a:lnTo>
                <a:lnTo>
                  <a:pt x="1151001" y="291210"/>
                </a:lnTo>
                <a:lnTo>
                  <a:pt x="1170617" y="324191"/>
                </a:lnTo>
                <a:lnTo>
                  <a:pt x="1170051" y="322199"/>
                </a:lnTo>
                <a:lnTo>
                  <a:pt x="1184358" y="322199"/>
                </a:lnTo>
                <a:lnTo>
                  <a:pt x="1207965" y="316276"/>
                </a:lnTo>
                <a:lnTo>
                  <a:pt x="1206627" y="311657"/>
                </a:lnTo>
                <a:lnTo>
                  <a:pt x="1206246" y="310260"/>
                </a:lnTo>
                <a:lnTo>
                  <a:pt x="1205737" y="308990"/>
                </a:lnTo>
                <a:lnTo>
                  <a:pt x="1204976" y="307720"/>
                </a:lnTo>
                <a:lnTo>
                  <a:pt x="1194180" y="288163"/>
                </a:lnTo>
                <a:lnTo>
                  <a:pt x="1168273" y="250189"/>
                </a:lnTo>
                <a:lnTo>
                  <a:pt x="1137539" y="213994"/>
                </a:lnTo>
                <a:lnTo>
                  <a:pt x="1101978" y="179577"/>
                </a:lnTo>
                <a:lnTo>
                  <a:pt x="1062481" y="147319"/>
                </a:lnTo>
                <a:lnTo>
                  <a:pt x="1019048" y="117475"/>
                </a:lnTo>
                <a:lnTo>
                  <a:pt x="972438" y="90424"/>
                </a:lnTo>
                <a:lnTo>
                  <a:pt x="922908" y="66293"/>
                </a:lnTo>
                <a:lnTo>
                  <a:pt x="870965" y="45465"/>
                </a:lnTo>
                <a:lnTo>
                  <a:pt x="849379" y="38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05728" y="1722120"/>
            <a:ext cx="2301239" cy="10073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83502" y="2010917"/>
            <a:ext cx="1363979" cy="4541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97547" y="2050542"/>
            <a:ext cx="11176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Adjudicación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09722" y="3644646"/>
            <a:ext cx="2300478" cy="100660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699509" y="3933444"/>
            <a:ext cx="1138427" cy="4541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813809" y="3973322"/>
            <a:ext cx="8928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Rece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ci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84420" y="2503170"/>
            <a:ext cx="1751076" cy="147370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9735" y="2520695"/>
            <a:ext cx="1595120" cy="1276985"/>
          </a:xfrm>
          <a:custGeom>
            <a:avLst/>
            <a:gdLst/>
            <a:ahLst/>
            <a:cxnLst/>
            <a:rect l="l" t="t" r="r" b="b"/>
            <a:pathLst>
              <a:path w="1595120" h="1276985">
                <a:moveTo>
                  <a:pt x="0" y="1155699"/>
                </a:moveTo>
                <a:lnTo>
                  <a:pt x="40893" y="1276730"/>
                </a:lnTo>
                <a:lnTo>
                  <a:pt x="103591" y="1185545"/>
                </a:lnTo>
                <a:lnTo>
                  <a:pt x="72771" y="1185545"/>
                </a:lnTo>
                <a:lnTo>
                  <a:pt x="35305" y="1179321"/>
                </a:lnTo>
                <a:lnTo>
                  <a:pt x="38308" y="1161025"/>
                </a:lnTo>
                <a:lnTo>
                  <a:pt x="0" y="1155699"/>
                </a:lnTo>
                <a:close/>
              </a:path>
              <a:path w="1595120" h="1276985">
                <a:moveTo>
                  <a:pt x="38308" y="1161025"/>
                </a:moveTo>
                <a:lnTo>
                  <a:pt x="35305" y="1179321"/>
                </a:lnTo>
                <a:lnTo>
                  <a:pt x="72771" y="1185545"/>
                </a:lnTo>
                <a:lnTo>
                  <a:pt x="76032" y="1166269"/>
                </a:lnTo>
                <a:lnTo>
                  <a:pt x="38308" y="1161025"/>
                </a:lnTo>
                <a:close/>
              </a:path>
              <a:path w="1595120" h="1276985">
                <a:moveTo>
                  <a:pt x="76032" y="1166269"/>
                </a:moveTo>
                <a:lnTo>
                  <a:pt x="72771" y="1185545"/>
                </a:lnTo>
                <a:lnTo>
                  <a:pt x="103591" y="1185545"/>
                </a:lnTo>
                <a:lnTo>
                  <a:pt x="113284" y="1171447"/>
                </a:lnTo>
                <a:lnTo>
                  <a:pt x="76032" y="1166269"/>
                </a:lnTo>
                <a:close/>
              </a:path>
              <a:path w="1595120" h="1276985">
                <a:moveTo>
                  <a:pt x="1556765" y="0"/>
                </a:moveTo>
                <a:lnTo>
                  <a:pt x="1552574" y="58419"/>
                </a:lnTo>
                <a:lnTo>
                  <a:pt x="1540129" y="115062"/>
                </a:lnTo>
                <a:lnTo>
                  <a:pt x="1520189" y="171195"/>
                </a:lnTo>
                <a:lnTo>
                  <a:pt x="1493139" y="226059"/>
                </a:lnTo>
                <a:lnTo>
                  <a:pt x="1459356" y="279400"/>
                </a:lnTo>
                <a:lnTo>
                  <a:pt x="1419478" y="330834"/>
                </a:lnTo>
                <a:lnTo>
                  <a:pt x="1374013" y="379475"/>
                </a:lnTo>
                <a:lnTo>
                  <a:pt x="1323593" y="424941"/>
                </a:lnTo>
                <a:lnTo>
                  <a:pt x="1268602" y="466851"/>
                </a:lnTo>
                <a:lnTo>
                  <a:pt x="1209802" y="504825"/>
                </a:lnTo>
                <a:lnTo>
                  <a:pt x="1147826" y="538099"/>
                </a:lnTo>
                <a:lnTo>
                  <a:pt x="1082928" y="566292"/>
                </a:lnTo>
                <a:lnTo>
                  <a:pt x="1015873" y="589026"/>
                </a:lnTo>
                <a:lnTo>
                  <a:pt x="947419" y="605789"/>
                </a:lnTo>
                <a:lnTo>
                  <a:pt x="877824" y="616076"/>
                </a:lnTo>
                <a:lnTo>
                  <a:pt x="771905" y="620649"/>
                </a:lnTo>
                <a:lnTo>
                  <a:pt x="735202" y="623315"/>
                </a:lnTo>
                <a:lnTo>
                  <a:pt x="662051" y="634238"/>
                </a:lnTo>
                <a:lnTo>
                  <a:pt x="590168" y="651890"/>
                </a:lnTo>
                <a:lnTo>
                  <a:pt x="520064" y="675766"/>
                </a:lnTo>
                <a:lnTo>
                  <a:pt x="452374" y="705230"/>
                </a:lnTo>
                <a:lnTo>
                  <a:pt x="387603" y="739901"/>
                </a:lnTo>
                <a:lnTo>
                  <a:pt x="326263" y="779399"/>
                </a:lnTo>
                <a:lnTo>
                  <a:pt x="268859" y="823213"/>
                </a:lnTo>
                <a:lnTo>
                  <a:pt x="216026" y="870965"/>
                </a:lnTo>
                <a:lnTo>
                  <a:pt x="168275" y="922019"/>
                </a:lnTo>
                <a:lnTo>
                  <a:pt x="126237" y="975994"/>
                </a:lnTo>
                <a:lnTo>
                  <a:pt x="90424" y="1032637"/>
                </a:lnTo>
                <a:lnTo>
                  <a:pt x="61467" y="1091437"/>
                </a:lnTo>
                <a:lnTo>
                  <a:pt x="40004" y="1151762"/>
                </a:lnTo>
                <a:lnTo>
                  <a:pt x="39369" y="1154556"/>
                </a:lnTo>
                <a:lnTo>
                  <a:pt x="38308" y="1161025"/>
                </a:lnTo>
                <a:lnTo>
                  <a:pt x="76032" y="1166269"/>
                </a:lnTo>
                <a:lnTo>
                  <a:pt x="76489" y="1163573"/>
                </a:lnTo>
                <a:lnTo>
                  <a:pt x="76326" y="1163573"/>
                </a:lnTo>
                <a:lnTo>
                  <a:pt x="76962" y="1160779"/>
                </a:lnTo>
                <a:lnTo>
                  <a:pt x="77216" y="1160779"/>
                </a:lnTo>
                <a:lnTo>
                  <a:pt x="85343" y="1135252"/>
                </a:lnTo>
                <a:lnTo>
                  <a:pt x="96138" y="1107312"/>
                </a:lnTo>
                <a:lnTo>
                  <a:pt x="123189" y="1052194"/>
                </a:lnTo>
                <a:lnTo>
                  <a:pt x="156844" y="998727"/>
                </a:lnTo>
                <a:lnTo>
                  <a:pt x="196723" y="947419"/>
                </a:lnTo>
                <a:lnTo>
                  <a:pt x="242188" y="898651"/>
                </a:lnTo>
                <a:lnTo>
                  <a:pt x="292608" y="853058"/>
                </a:lnTo>
                <a:lnTo>
                  <a:pt x="347472" y="811021"/>
                </a:lnTo>
                <a:lnTo>
                  <a:pt x="406273" y="773049"/>
                </a:lnTo>
                <a:lnTo>
                  <a:pt x="468375" y="739775"/>
                </a:lnTo>
                <a:lnTo>
                  <a:pt x="533146" y="711453"/>
                </a:lnTo>
                <a:lnTo>
                  <a:pt x="599948" y="688720"/>
                </a:lnTo>
                <a:lnTo>
                  <a:pt x="668527" y="671829"/>
                </a:lnTo>
                <a:lnTo>
                  <a:pt x="737997" y="661415"/>
                </a:lnTo>
                <a:lnTo>
                  <a:pt x="845947" y="656843"/>
                </a:lnTo>
                <a:lnTo>
                  <a:pt x="882650" y="653923"/>
                </a:lnTo>
                <a:lnTo>
                  <a:pt x="955675" y="643001"/>
                </a:lnTo>
                <a:lnTo>
                  <a:pt x="1027429" y="625348"/>
                </a:lnTo>
                <a:lnTo>
                  <a:pt x="1097406" y="601471"/>
                </a:lnTo>
                <a:lnTo>
                  <a:pt x="1165098" y="572007"/>
                </a:lnTo>
                <a:lnTo>
                  <a:pt x="1229867" y="537209"/>
                </a:lnTo>
                <a:lnTo>
                  <a:pt x="1291209" y="497586"/>
                </a:lnTo>
                <a:lnTo>
                  <a:pt x="1348486" y="453770"/>
                </a:lnTo>
                <a:lnTo>
                  <a:pt x="1401317" y="406018"/>
                </a:lnTo>
                <a:lnTo>
                  <a:pt x="1448942" y="354838"/>
                </a:lnTo>
                <a:lnTo>
                  <a:pt x="1490979" y="300608"/>
                </a:lnTo>
                <a:lnTo>
                  <a:pt x="1526793" y="243839"/>
                </a:lnTo>
                <a:lnTo>
                  <a:pt x="1555749" y="185038"/>
                </a:lnTo>
                <a:lnTo>
                  <a:pt x="1577086" y="124332"/>
                </a:lnTo>
                <a:lnTo>
                  <a:pt x="1590420" y="62483"/>
                </a:lnTo>
                <a:lnTo>
                  <a:pt x="1594865" y="1524"/>
                </a:lnTo>
                <a:lnTo>
                  <a:pt x="1556765" y="0"/>
                </a:lnTo>
                <a:close/>
              </a:path>
              <a:path w="1595120" h="1276985">
                <a:moveTo>
                  <a:pt x="76962" y="1160779"/>
                </a:moveTo>
                <a:lnTo>
                  <a:pt x="76326" y="1163573"/>
                </a:lnTo>
                <a:lnTo>
                  <a:pt x="76673" y="1162486"/>
                </a:lnTo>
                <a:lnTo>
                  <a:pt x="76962" y="1160779"/>
                </a:lnTo>
                <a:close/>
              </a:path>
              <a:path w="1595120" h="1276985">
                <a:moveTo>
                  <a:pt x="76673" y="1162486"/>
                </a:moveTo>
                <a:lnTo>
                  <a:pt x="76326" y="1163573"/>
                </a:lnTo>
                <a:lnTo>
                  <a:pt x="76489" y="1163573"/>
                </a:lnTo>
                <a:lnTo>
                  <a:pt x="76673" y="1162486"/>
                </a:lnTo>
                <a:close/>
              </a:path>
              <a:path w="1595120" h="1276985">
                <a:moveTo>
                  <a:pt x="77216" y="1160779"/>
                </a:moveTo>
                <a:lnTo>
                  <a:pt x="76962" y="1160779"/>
                </a:lnTo>
                <a:lnTo>
                  <a:pt x="76673" y="1162486"/>
                </a:lnTo>
                <a:lnTo>
                  <a:pt x="77216" y="1160779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83735" y="4425696"/>
            <a:ext cx="1117091" cy="83210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39819" y="4443603"/>
            <a:ext cx="920115" cy="685165"/>
          </a:xfrm>
          <a:custGeom>
            <a:avLst/>
            <a:gdLst/>
            <a:ahLst/>
            <a:cxnLst/>
            <a:rect l="l" t="t" r="r" b="b"/>
            <a:pathLst>
              <a:path w="920114" h="685164">
                <a:moveTo>
                  <a:pt x="110616" y="570865"/>
                </a:moveTo>
                <a:lnTo>
                  <a:pt x="0" y="634746"/>
                </a:lnTo>
                <a:lnTo>
                  <a:pt x="117475" y="685038"/>
                </a:lnTo>
                <a:lnTo>
                  <a:pt x="115255" y="648081"/>
                </a:lnTo>
                <a:lnTo>
                  <a:pt x="96519" y="648081"/>
                </a:lnTo>
                <a:lnTo>
                  <a:pt x="93598" y="610108"/>
                </a:lnTo>
                <a:lnTo>
                  <a:pt x="112885" y="608636"/>
                </a:lnTo>
                <a:lnTo>
                  <a:pt x="110616" y="570865"/>
                </a:lnTo>
                <a:close/>
              </a:path>
              <a:path w="920114" h="685164">
                <a:moveTo>
                  <a:pt x="112885" y="608636"/>
                </a:moveTo>
                <a:lnTo>
                  <a:pt x="93598" y="610108"/>
                </a:lnTo>
                <a:lnTo>
                  <a:pt x="96519" y="648081"/>
                </a:lnTo>
                <a:lnTo>
                  <a:pt x="115167" y="646624"/>
                </a:lnTo>
                <a:lnTo>
                  <a:pt x="112885" y="608636"/>
                </a:lnTo>
                <a:close/>
              </a:path>
              <a:path w="920114" h="685164">
                <a:moveTo>
                  <a:pt x="115167" y="646624"/>
                </a:moveTo>
                <a:lnTo>
                  <a:pt x="96519" y="648081"/>
                </a:lnTo>
                <a:lnTo>
                  <a:pt x="115255" y="648081"/>
                </a:lnTo>
                <a:lnTo>
                  <a:pt x="115167" y="646624"/>
                </a:lnTo>
                <a:close/>
              </a:path>
              <a:path w="920114" h="685164">
                <a:moveTo>
                  <a:pt x="881888" y="0"/>
                </a:moveTo>
                <a:lnTo>
                  <a:pt x="878966" y="42926"/>
                </a:lnTo>
                <a:lnTo>
                  <a:pt x="870838" y="84963"/>
                </a:lnTo>
                <a:lnTo>
                  <a:pt x="857503" y="126873"/>
                </a:lnTo>
                <a:lnTo>
                  <a:pt x="839088" y="168783"/>
                </a:lnTo>
                <a:lnTo>
                  <a:pt x="807338" y="223266"/>
                </a:lnTo>
                <a:lnTo>
                  <a:pt x="767714" y="276352"/>
                </a:lnTo>
                <a:lnTo>
                  <a:pt x="720978" y="327406"/>
                </a:lnTo>
                <a:lnTo>
                  <a:pt x="667511" y="375920"/>
                </a:lnTo>
                <a:lnTo>
                  <a:pt x="608202" y="421259"/>
                </a:lnTo>
                <a:lnTo>
                  <a:pt x="576452" y="442595"/>
                </a:lnTo>
                <a:lnTo>
                  <a:pt x="543432" y="463169"/>
                </a:lnTo>
                <a:lnTo>
                  <a:pt x="509396" y="482600"/>
                </a:lnTo>
                <a:lnTo>
                  <a:pt x="474217" y="500888"/>
                </a:lnTo>
                <a:lnTo>
                  <a:pt x="438022" y="518160"/>
                </a:lnTo>
                <a:lnTo>
                  <a:pt x="401065" y="534162"/>
                </a:lnTo>
                <a:lnTo>
                  <a:pt x="363092" y="548894"/>
                </a:lnTo>
                <a:lnTo>
                  <a:pt x="324611" y="562356"/>
                </a:lnTo>
                <a:lnTo>
                  <a:pt x="285368" y="574421"/>
                </a:lnTo>
                <a:lnTo>
                  <a:pt x="245490" y="584962"/>
                </a:lnTo>
                <a:lnTo>
                  <a:pt x="205231" y="594106"/>
                </a:lnTo>
                <a:lnTo>
                  <a:pt x="164464" y="601853"/>
                </a:lnTo>
                <a:lnTo>
                  <a:pt x="123570" y="607822"/>
                </a:lnTo>
                <a:lnTo>
                  <a:pt x="112885" y="608636"/>
                </a:lnTo>
                <a:lnTo>
                  <a:pt x="115167" y="646624"/>
                </a:lnTo>
                <a:lnTo>
                  <a:pt x="171576" y="639318"/>
                </a:lnTo>
                <a:lnTo>
                  <a:pt x="213740" y="631317"/>
                </a:lnTo>
                <a:lnTo>
                  <a:pt x="255396" y="621792"/>
                </a:lnTo>
                <a:lnTo>
                  <a:pt x="296544" y="610870"/>
                </a:lnTo>
                <a:lnTo>
                  <a:pt x="337057" y="598297"/>
                </a:lnTo>
                <a:lnTo>
                  <a:pt x="377063" y="584327"/>
                </a:lnTo>
                <a:lnTo>
                  <a:pt x="416051" y="569087"/>
                </a:lnTo>
                <a:lnTo>
                  <a:pt x="454532" y="552450"/>
                </a:lnTo>
                <a:lnTo>
                  <a:pt x="491870" y="534670"/>
                </a:lnTo>
                <a:lnTo>
                  <a:pt x="528319" y="515620"/>
                </a:lnTo>
                <a:lnTo>
                  <a:pt x="563626" y="495427"/>
                </a:lnTo>
                <a:lnTo>
                  <a:pt x="597661" y="474218"/>
                </a:lnTo>
                <a:lnTo>
                  <a:pt x="630681" y="451993"/>
                </a:lnTo>
                <a:lnTo>
                  <a:pt x="662304" y="428752"/>
                </a:lnTo>
                <a:lnTo>
                  <a:pt x="692530" y="404622"/>
                </a:lnTo>
                <a:lnTo>
                  <a:pt x="748410" y="353822"/>
                </a:lnTo>
                <a:lnTo>
                  <a:pt x="797686" y="299847"/>
                </a:lnTo>
                <a:lnTo>
                  <a:pt x="839596" y="243459"/>
                </a:lnTo>
                <a:lnTo>
                  <a:pt x="873632" y="184785"/>
                </a:lnTo>
                <a:lnTo>
                  <a:pt x="893444" y="139827"/>
                </a:lnTo>
                <a:lnTo>
                  <a:pt x="907922" y="93726"/>
                </a:lnTo>
                <a:lnTo>
                  <a:pt x="916939" y="46990"/>
                </a:lnTo>
                <a:lnTo>
                  <a:pt x="919988" y="762"/>
                </a:lnTo>
                <a:lnTo>
                  <a:pt x="881888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5048" y="4324350"/>
            <a:ext cx="1207770" cy="83667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86536" y="4457700"/>
            <a:ext cx="1046480" cy="639445"/>
          </a:xfrm>
          <a:custGeom>
            <a:avLst/>
            <a:gdLst/>
            <a:ahLst/>
            <a:cxnLst/>
            <a:rect l="l" t="t" r="r" b="b"/>
            <a:pathLst>
              <a:path w="1046480" h="639445">
                <a:moveTo>
                  <a:pt x="75061" y="108670"/>
                </a:moveTo>
                <a:lnTo>
                  <a:pt x="37887" y="115735"/>
                </a:lnTo>
                <a:lnTo>
                  <a:pt x="39014" y="120904"/>
                </a:lnTo>
                <a:lnTo>
                  <a:pt x="39405" y="122047"/>
                </a:lnTo>
                <a:lnTo>
                  <a:pt x="60286" y="167639"/>
                </a:lnTo>
                <a:lnTo>
                  <a:pt x="86283" y="211074"/>
                </a:lnTo>
                <a:lnTo>
                  <a:pt x="129401" y="267843"/>
                </a:lnTo>
                <a:lnTo>
                  <a:pt x="180530" y="321437"/>
                </a:lnTo>
                <a:lnTo>
                  <a:pt x="209143" y="347218"/>
                </a:lnTo>
                <a:lnTo>
                  <a:pt x="239522" y="372491"/>
                </a:lnTo>
                <a:lnTo>
                  <a:pt x="271678" y="396875"/>
                </a:lnTo>
                <a:lnTo>
                  <a:pt x="305549" y="420369"/>
                </a:lnTo>
                <a:lnTo>
                  <a:pt x="340918" y="442975"/>
                </a:lnTo>
                <a:lnTo>
                  <a:pt x="377786" y="464566"/>
                </a:lnTo>
                <a:lnTo>
                  <a:pt x="415975" y="485267"/>
                </a:lnTo>
                <a:lnTo>
                  <a:pt x="455599" y="505079"/>
                </a:lnTo>
                <a:lnTo>
                  <a:pt x="496366" y="523620"/>
                </a:lnTo>
                <a:lnTo>
                  <a:pt x="538149" y="540893"/>
                </a:lnTo>
                <a:lnTo>
                  <a:pt x="580948" y="557022"/>
                </a:lnTo>
                <a:lnTo>
                  <a:pt x="624763" y="572007"/>
                </a:lnTo>
                <a:lnTo>
                  <a:pt x="669340" y="585469"/>
                </a:lnTo>
                <a:lnTo>
                  <a:pt x="714806" y="597788"/>
                </a:lnTo>
                <a:lnTo>
                  <a:pt x="760780" y="608457"/>
                </a:lnTo>
                <a:lnTo>
                  <a:pt x="807389" y="617727"/>
                </a:lnTo>
                <a:lnTo>
                  <a:pt x="854633" y="625475"/>
                </a:lnTo>
                <a:lnTo>
                  <a:pt x="902004" y="631570"/>
                </a:lnTo>
                <a:lnTo>
                  <a:pt x="949756" y="636016"/>
                </a:lnTo>
                <a:lnTo>
                  <a:pt x="997889" y="638682"/>
                </a:lnTo>
                <a:lnTo>
                  <a:pt x="1045133" y="639444"/>
                </a:lnTo>
                <a:lnTo>
                  <a:pt x="1045895" y="601472"/>
                </a:lnTo>
                <a:lnTo>
                  <a:pt x="998524" y="600582"/>
                </a:lnTo>
                <a:lnTo>
                  <a:pt x="951915" y="597916"/>
                </a:lnTo>
                <a:lnTo>
                  <a:pt x="905560" y="593598"/>
                </a:lnTo>
                <a:lnTo>
                  <a:pt x="859459" y="587629"/>
                </a:lnTo>
                <a:lnTo>
                  <a:pt x="813612" y="580136"/>
                </a:lnTo>
                <a:lnTo>
                  <a:pt x="768273" y="571119"/>
                </a:lnTo>
                <a:lnTo>
                  <a:pt x="723442" y="560705"/>
                </a:lnTo>
                <a:lnTo>
                  <a:pt x="679246" y="548767"/>
                </a:lnTo>
                <a:lnTo>
                  <a:pt x="635812" y="535558"/>
                </a:lnTo>
                <a:lnTo>
                  <a:pt x="593394" y="520954"/>
                </a:lnTo>
                <a:lnTo>
                  <a:pt x="551611" y="505332"/>
                </a:lnTo>
                <a:lnTo>
                  <a:pt x="510971" y="488314"/>
                </a:lnTo>
                <a:lnTo>
                  <a:pt x="471347" y="470281"/>
                </a:lnTo>
                <a:lnTo>
                  <a:pt x="432993" y="451231"/>
                </a:lnTo>
                <a:lnTo>
                  <a:pt x="395909" y="431164"/>
                </a:lnTo>
                <a:lnTo>
                  <a:pt x="360222" y="410082"/>
                </a:lnTo>
                <a:lnTo>
                  <a:pt x="326059" y="388238"/>
                </a:lnTo>
                <a:lnTo>
                  <a:pt x="293446" y="365506"/>
                </a:lnTo>
                <a:lnTo>
                  <a:pt x="262547" y="342138"/>
                </a:lnTo>
                <a:lnTo>
                  <a:pt x="206095" y="293116"/>
                </a:lnTo>
                <a:lnTo>
                  <a:pt x="157518" y="242062"/>
                </a:lnTo>
                <a:lnTo>
                  <a:pt x="126834" y="202819"/>
                </a:lnTo>
                <a:lnTo>
                  <a:pt x="101117" y="162687"/>
                </a:lnTo>
                <a:lnTo>
                  <a:pt x="80579" y="121919"/>
                </a:lnTo>
                <a:lnTo>
                  <a:pt x="76310" y="111632"/>
                </a:lnTo>
                <a:lnTo>
                  <a:pt x="76009" y="111632"/>
                </a:lnTo>
                <a:lnTo>
                  <a:pt x="75061" y="108670"/>
                </a:lnTo>
                <a:close/>
              </a:path>
              <a:path w="1046480" h="639445">
                <a:moveTo>
                  <a:pt x="34721" y="0"/>
                </a:moveTo>
                <a:lnTo>
                  <a:pt x="0" y="122936"/>
                </a:lnTo>
                <a:lnTo>
                  <a:pt x="37887" y="115735"/>
                </a:lnTo>
                <a:lnTo>
                  <a:pt x="33947" y="97662"/>
                </a:lnTo>
                <a:lnTo>
                  <a:pt x="71183" y="89535"/>
                </a:lnTo>
                <a:lnTo>
                  <a:pt x="103059" y="89535"/>
                </a:lnTo>
                <a:lnTo>
                  <a:pt x="34721" y="0"/>
                </a:lnTo>
                <a:close/>
              </a:path>
              <a:path w="1046480" h="639445">
                <a:moveTo>
                  <a:pt x="71183" y="89535"/>
                </a:moveTo>
                <a:lnTo>
                  <a:pt x="33947" y="97662"/>
                </a:lnTo>
                <a:lnTo>
                  <a:pt x="37887" y="115735"/>
                </a:lnTo>
                <a:lnTo>
                  <a:pt x="75061" y="108670"/>
                </a:lnTo>
                <a:lnTo>
                  <a:pt x="74993" y="108457"/>
                </a:lnTo>
                <a:lnTo>
                  <a:pt x="75316" y="108457"/>
                </a:lnTo>
                <a:lnTo>
                  <a:pt x="71183" y="89535"/>
                </a:lnTo>
                <a:close/>
              </a:path>
              <a:path w="1046480" h="639445">
                <a:moveTo>
                  <a:pt x="75080" y="108667"/>
                </a:moveTo>
                <a:lnTo>
                  <a:pt x="76009" y="111632"/>
                </a:lnTo>
                <a:lnTo>
                  <a:pt x="75674" y="110099"/>
                </a:lnTo>
                <a:lnTo>
                  <a:pt x="75080" y="108667"/>
                </a:lnTo>
                <a:close/>
              </a:path>
              <a:path w="1046480" h="639445">
                <a:moveTo>
                  <a:pt x="75674" y="110099"/>
                </a:moveTo>
                <a:lnTo>
                  <a:pt x="76009" y="111632"/>
                </a:lnTo>
                <a:lnTo>
                  <a:pt x="76310" y="111632"/>
                </a:lnTo>
                <a:lnTo>
                  <a:pt x="75674" y="110099"/>
                </a:lnTo>
                <a:close/>
              </a:path>
              <a:path w="1046480" h="639445">
                <a:moveTo>
                  <a:pt x="75350" y="108615"/>
                </a:moveTo>
                <a:lnTo>
                  <a:pt x="75080" y="108667"/>
                </a:lnTo>
                <a:lnTo>
                  <a:pt x="75674" y="110099"/>
                </a:lnTo>
                <a:lnTo>
                  <a:pt x="75350" y="108615"/>
                </a:lnTo>
                <a:close/>
              </a:path>
              <a:path w="1046480" h="639445">
                <a:moveTo>
                  <a:pt x="75316" y="108457"/>
                </a:moveTo>
                <a:lnTo>
                  <a:pt x="74993" y="108457"/>
                </a:lnTo>
                <a:lnTo>
                  <a:pt x="75080" y="108667"/>
                </a:lnTo>
                <a:lnTo>
                  <a:pt x="75350" y="108615"/>
                </a:lnTo>
                <a:lnTo>
                  <a:pt x="75316" y="108457"/>
                </a:lnTo>
                <a:close/>
              </a:path>
              <a:path w="1046480" h="639445">
                <a:moveTo>
                  <a:pt x="103059" y="89535"/>
                </a:moveTo>
                <a:lnTo>
                  <a:pt x="71183" y="89535"/>
                </a:lnTo>
                <a:lnTo>
                  <a:pt x="75350" y="108615"/>
                </a:lnTo>
                <a:lnTo>
                  <a:pt x="112268" y="101600"/>
                </a:lnTo>
                <a:lnTo>
                  <a:pt x="103059" y="89535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26479" y="3616452"/>
            <a:ext cx="1389126" cy="117271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120394" y="5964173"/>
            <a:ext cx="660463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20" dirty="0">
                <a:latin typeface="Trebuchet MS"/>
                <a:cs typeface="Trebuchet MS"/>
              </a:rPr>
              <a:t>Video: </a:t>
            </a:r>
            <a:r>
              <a:rPr sz="1600" b="1" i="1" spc="-105" dirty="0">
                <a:latin typeface="Trebuchet MS"/>
                <a:cs typeface="Trebuchet MS"/>
              </a:rPr>
              <a:t>Proceso </a:t>
            </a:r>
            <a:r>
              <a:rPr sz="1600" b="1" i="1" spc="-100" dirty="0">
                <a:latin typeface="Trebuchet MS"/>
                <a:cs typeface="Trebuchet MS"/>
              </a:rPr>
              <a:t>de </a:t>
            </a:r>
            <a:r>
              <a:rPr sz="1600" b="1" i="1" spc="-105" dirty="0">
                <a:latin typeface="Trebuchet MS"/>
                <a:cs typeface="Trebuchet MS"/>
              </a:rPr>
              <a:t>Compras </a:t>
            </a:r>
            <a:r>
              <a:rPr sz="1600" spc="-45" dirty="0">
                <a:latin typeface="Arial"/>
                <a:cs typeface="Arial"/>
              </a:rPr>
              <a:t>-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u="heavy" spc="-6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2"/>
              </a:rPr>
              <a:t>http://www.youtube.com/watch?v=gBX7Qy61F4A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lang="es-AR" b="1" spc="-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47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000" b="1" spc="-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AR" sz="1800" spc="-85" dirty="0">
                <a:solidFill>
                  <a:srgbClr val="FFFFFF"/>
                </a:solidFill>
                <a:latin typeface="Arial"/>
                <a:cs typeface="Arial"/>
              </a:rPr>
              <a:t>Ejercicio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541" y="1567180"/>
            <a:ext cx="8440928" cy="4197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lvl="0" indent="-342900">
              <a:spcBef>
                <a:spcPts val="359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000" spc="-330" dirty="0">
                <a:latin typeface="Arial"/>
                <a:cs typeface="Arial"/>
                <a:sym typeface="Calibri"/>
              </a:rPr>
              <a:t>A través de una Tarea en Teams:</a:t>
            </a:r>
          </a:p>
          <a:p>
            <a:pPr marL="351790" lvl="0" indent="-342900">
              <a:spcBef>
                <a:spcPts val="359"/>
              </a:spcBef>
              <a:buClr>
                <a:schemeClr val="dk1"/>
              </a:buClr>
              <a:buSzPts val="3200"/>
              <a:buFont typeface="Arial"/>
              <a:buChar char="•"/>
            </a:pPr>
            <a:endParaRPr lang="es-AR" sz="3000" spc="-330" dirty="0">
              <a:latin typeface="Arial"/>
              <a:cs typeface="Arial"/>
              <a:sym typeface="Calibri"/>
            </a:endParaRPr>
          </a:p>
          <a:p>
            <a:pPr marL="808990" lvl="1" indent="-342900">
              <a:spcBef>
                <a:spcPts val="359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000" spc="-330" dirty="0">
                <a:latin typeface="Arial"/>
                <a:cs typeface="Arial"/>
                <a:sym typeface="Calibri"/>
              </a:rPr>
              <a:t>Para una PyME dedicada a la fabricación de bicicletas diseñar el proceso de compras y cuentas a pagar para compras de insumos y de bienes.</a:t>
            </a:r>
          </a:p>
          <a:p>
            <a:pPr marL="812800" lvl="1">
              <a:tabLst>
                <a:tab pos="1725930" algn="l"/>
                <a:tab pos="3399154" algn="l"/>
                <a:tab pos="5151755" algn="l"/>
                <a:tab pos="5529580" algn="l"/>
              </a:tabLst>
            </a:pPr>
            <a:endParaRPr lang="es-AR" sz="2600" dirty="0">
              <a:latin typeface="Arial"/>
              <a:cs typeface="Arial"/>
            </a:endParaRPr>
          </a:p>
          <a:p>
            <a:pPr marL="808990" lvl="1" indent="-342900">
              <a:spcBef>
                <a:spcPts val="359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000" spc="-330" dirty="0">
                <a:latin typeface="Arial"/>
                <a:cs typeface="Arial"/>
                <a:sym typeface="Calibri"/>
              </a:rPr>
              <a:t>Tener en cuenta el orden de los procesos, qué información se intercambia y cómo y qué sectores intervienen</a:t>
            </a:r>
          </a:p>
          <a:p>
            <a:pPr marL="355600">
              <a:lnSpc>
                <a:spcPct val="100000"/>
              </a:lnSpc>
              <a:tabLst>
                <a:tab pos="1725930" algn="l"/>
                <a:tab pos="3399154" algn="l"/>
                <a:tab pos="5151755" algn="l"/>
                <a:tab pos="5529580" algn="l"/>
              </a:tabLst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lang="es-AR" b="1" spc="-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057998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3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6168" y="1030224"/>
            <a:ext cx="6548607" cy="5304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54040" y="4311650"/>
            <a:ext cx="139446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41847" y="4236211"/>
            <a:ext cx="281749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latin typeface="Trebuchet MS"/>
                <a:cs typeface="Trebuchet MS"/>
              </a:rPr>
              <a:t>Actores </a:t>
            </a:r>
            <a:r>
              <a:rPr sz="1600" b="1" spc="60" dirty="0">
                <a:latin typeface="Trebuchet MS"/>
                <a:cs typeface="Trebuchet MS"/>
              </a:rPr>
              <a:t>/ </a:t>
            </a:r>
            <a:r>
              <a:rPr sz="1600" b="1" spc="-80" dirty="0">
                <a:latin typeface="Trebuchet MS"/>
                <a:cs typeface="Trebuchet MS"/>
              </a:rPr>
              <a:t>Áreas</a:t>
            </a:r>
            <a:r>
              <a:rPr sz="1600" b="1" spc="-36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involucradas:</a:t>
            </a:r>
            <a:endParaRPr sz="1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95" dirty="0">
                <a:latin typeface="Arial"/>
                <a:cs typeface="Arial"/>
              </a:rPr>
              <a:t>Almacenes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5" dirty="0">
                <a:latin typeface="Arial"/>
                <a:cs typeface="Arial"/>
              </a:rPr>
              <a:t>Áreas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requirentes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latin typeface="Arial"/>
                <a:cs typeface="Arial"/>
              </a:rPr>
              <a:t>Compras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50" dirty="0">
                <a:latin typeface="Arial"/>
                <a:cs typeface="Arial"/>
              </a:rPr>
              <a:t>Control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120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Calidad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75" dirty="0">
                <a:latin typeface="Arial"/>
                <a:cs typeface="Arial"/>
              </a:rPr>
              <a:t>Contaduría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95" dirty="0">
                <a:latin typeface="Arial"/>
                <a:cs typeface="Arial"/>
              </a:rPr>
              <a:t>Recepción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70" dirty="0">
                <a:latin typeface="Arial"/>
                <a:cs typeface="Arial"/>
              </a:rPr>
              <a:t>Proveedor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2087879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4133088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8474710" cy="5962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I: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Detección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Necesidad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Compra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265430" marR="5080" indent="85725">
              <a:lnSpc>
                <a:spcPct val="100000"/>
              </a:lnSpc>
              <a:spcBef>
                <a:spcPts val="5"/>
              </a:spcBef>
            </a:pPr>
            <a:r>
              <a:rPr sz="3000" spc="-225" dirty="0">
                <a:latin typeface="Arial"/>
                <a:cs typeface="Arial"/>
              </a:rPr>
              <a:t>Surge </a:t>
            </a:r>
            <a:r>
              <a:rPr sz="3000" spc="-130" dirty="0">
                <a:latin typeface="Arial"/>
                <a:cs typeface="Arial"/>
              </a:rPr>
              <a:t>como </a:t>
            </a:r>
            <a:r>
              <a:rPr sz="3000" spc="-85" dirty="0">
                <a:latin typeface="Arial"/>
                <a:cs typeface="Arial"/>
              </a:rPr>
              <a:t>resultado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75" dirty="0">
                <a:latin typeface="Arial"/>
                <a:cs typeface="Arial"/>
              </a:rPr>
              <a:t>ausencia </a:t>
            </a:r>
            <a:r>
              <a:rPr sz="3000" spc="325" dirty="0">
                <a:latin typeface="Arial"/>
                <a:cs typeface="Arial"/>
              </a:rPr>
              <a:t>/ </a:t>
            </a:r>
            <a:r>
              <a:rPr sz="3000" spc="-105" dirty="0">
                <a:latin typeface="Arial"/>
                <a:cs typeface="Arial"/>
              </a:rPr>
              <a:t>insuficiencia 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35" dirty="0">
                <a:latin typeface="Arial"/>
                <a:cs typeface="Arial"/>
              </a:rPr>
              <a:t>cierto/s</a:t>
            </a:r>
            <a:r>
              <a:rPr sz="3000" spc="-195" dirty="0">
                <a:latin typeface="Arial"/>
                <a:cs typeface="Arial"/>
              </a:rPr>
              <a:t> </a:t>
            </a:r>
            <a:r>
              <a:rPr sz="3000" spc="-85" dirty="0">
                <a:latin typeface="Arial"/>
                <a:cs typeface="Arial"/>
              </a:rPr>
              <a:t>insumo/s.</a:t>
            </a:r>
            <a:endParaRPr sz="3000" dirty="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359"/>
              </a:spcBef>
            </a:pPr>
            <a:r>
              <a:rPr sz="3000" spc="-330" dirty="0">
                <a:latin typeface="Arial"/>
                <a:cs typeface="Arial"/>
              </a:rPr>
              <a:t>Las </a:t>
            </a:r>
            <a:r>
              <a:rPr sz="3000" spc="-105" dirty="0">
                <a:latin typeface="Arial"/>
                <a:cs typeface="Arial"/>
              </a:rPr>
              <a:t>solicitudes </a:t>
            </a:r>
            <a:r>
              <a:rPr sz="3000" spc="-125" dirty="0">
                <a:latin typeface="Arial"/>
                <a:cs typeface="Arial"/>
              </a:rPr>
              <a:t>pueden </a:t>
            </a:r>
            <a:r>
              <a:rPr sz="3000" spc="-75" dirty="0">
                <a:latin typeface="Arial"/>
                <a:cs typeface="Arial"/>
              </a:rPr>
              <a:t>provenir</a:t>
            </a:r>
            <a:r>
              <a:rPr sz="3000" spc="-630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desde:</a:t>
            </a:r>
            <a:endParaRPr sz="3000" dirty="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35" dirty="0">
                <a:latin typeface="Trebuchet MS"/>
                <a:cs typeface="Trebuchet MS"/>
              </a:rPr>
              <a:t>Almacenes</a:t>
            </a:r>
            <a:r>
              <a:rPr sz="2600" spc="-135" dirty="0">
                <a:latin typeface="Arial"/>
                <a:cs typeface="Arial"/>
              </a:rPr>
              <a:t>: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85" dirty="0">
                <a:latin typeface="Arial"/>
                <a:cs typeface="Arial"/>
              </a:rPr>
              <a:t>artículos </a:t>
            </a:r>
            <a:r>
              <a:rPr sz="2600" spc="-135" dirty="0">
                <a:latin typeface="Arial"/>
                <a:cs typeface="Arial"/>
              </a:rPr>
              <a:t>con </a:t>
            </a:r>
            <a:r>
              <a:rPr sz="2600" spc="-125" dirty="0">
                <a:latin typeface="Arial"/>
                <a:cs typeface="Arial"/>
              </a:rPr>
              <a:t>stock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permanente</a:t>
            </a:r>
            <a:endParaRPr sz="2600" dirty="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spcBef>
                <a:spcPts val="275"/>
              </a:spcBef>
              <a:buFont typeface="Wingdings"/>
              <a:buChar char=""/>
              <a:tabLst>
                <a:tab pos="1180465" algn="l"/>
              </a:tabLst>
            </a:pPr>
            <a:r>
              <a:rPr sz="2000" spc="-130" dirty="0">
                <a:latin typeface="Arial"/>
                <a:cs typeface="Arial"/>
              </a:rPr>
              <a:t>Stock </a:t>
            </a:r>
            <a:r>
              <a:rPr sz="2000" spc="-60" dirty="0">
                <a:latin typeface="Arial"/>
                <a:cs typeface="Arial"/>
              </a:rPr>
              <a:t>mínimo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85" dirty="0">
                <a:latin typeface="Arial"/>
                <a:cs typeface="Arial"/>
              </a:rPr>
              <a:t>Punto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pedido</a:t>
            </a:r>
            <a:endParaRPr sz="2000" dirty="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20" dirty="0">
                <a:latin typeface="Trebuchet MS"/>
                <a:cs typeface="Trebuchet MS"/>
              </a:rPr>
              <a:t>Otros </a:t>
            </a:r>
            <a:r>
              <a:rPr sz="2600" b="1" spc="-155" dirty="0">
                <a:latin typeface="Trebuchet MS"/>
                <a:cs typeface="Trebuchet MS"/>
              </a:rPr>
              <a:t>sectores de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65" dirty="0">
                <a:latin typeface="Trebuchet MS"/>
                <a:cs typeface="Trebuchet MS"/>
              </a:rPr>
              <a:t>empresa: </a:t>
            </a:r>
            <a:r>
              <a:rPr sz="2600" spc="-90" dirty="0">
                <a:latin typeface="Arial"/>
                <a:cs typeface="Arial"/>
              </a:rPr>
              <a:t>productos </a:t>
            </a:r>
            <a:r>
              <a:rPr sz="2600" spc="-120" dirty="0">
                <a:latin typeface="Arial"/>
                <a:cs typeface="Arial"/>
              </a:rPr>
              <a:t>sin</a:t>
            </a:r>
            <a:r>
              <a:rPr sz="2600" spc="-40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stock</a:t>
            </a:r>
            <a:endParaRPr sz="2600" dirty="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spcBef>
                <a:spcPts val="275"/>
              </a:spcBef>
              <a:buFont typeface="Wingdings"/>
              <a:buChar char=""/>
              <a:tabLst>
                <a:tab pos="1180465" algn="l"/>
              </a:tabLst>
            </a:pPr>
            <a:r>
              <a:rPr sz="2000" spc="-130" dirty="0">
                <a:latin typeface="Arial"/>
                <a:cs typeface="Arial"/>
              </a:rPr>
              <a:t>Bienes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4" dirty="0">
                <a:latin typeface="Arial"/>
                <a:cs typeface="Arial"/>
              </a:rPr>
              <a:t>uso, </a:t>
            </a:r>
            <a:r>
              <a:rPr sz="2000" spc="-120" dirty="0">
                <a:latin typeface="Arial"/>
                <a:cs typeface="Arial"/>
              </a:rPr>
              <a:t>consumos </a:t>
            </a:r>
            <a:r>
              <a:rPr sz="2000" spc="-110" dirty="0">
                <a:latin typeface="Arial"/>
                <a:cs typeface="Arial"/>
              </a:rPr>
              <a:t>especiales,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etc.</a:t>
            </a:r>
            <a:endParaRPr sz="2000" dirty="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300"/>
              </a:spcBef>
            </a:pPr>
            <a:r>
              <a:rPr sz="3000" spc="-150" dirty="0">
                <a:latin typeface="Arial"/>
                <a:cs typeface="Arial"/>
              </a:rPr>
              <a:t>Límites </a:t>
            </a:r>
            <a:r>
              <a:rPr sz="3000" spc="-145" dirty="0">
                <a:latin typeface="Arial"/>
                <a:cs typeface="Arial"/>
              </a:rPr>
              <a:t>para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00" dirty="0">
                <a:latin typeface="Arial"/>
                <a:cs typeface="Arial"/>
              </a:rPr>
              <a:t>autorización </a:t>
            </a:r>
            <a:r>
              <a:rPr sz="3000" spc="-140" dirty="0">
                <a:latin typeface="Arial"/>
                <a:cs typeface="Arial"/>
              </a:rPr>
              <a:t>de</a:t>
            </a:r>
            <a:r>
              <a:rPr sz="3000" spc="-355" dirty="0">
                <a:latin typeface="Arial"/>
                <a:cs typeface="Arial"/>
              </a:rPr>
              <a:t> </a:t>
            </a:r>
            <a:r>
              <a:rPr sz="3000" spc="-150" dirty="0">
                <a:latin typeface="Arial"/>
                <a:cs typeface="Arial"/>
              </a:rPr>
              <a:t>compras:</a:t>
            </a:r>
            <a:endParaRPr sz="3000" dirty="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45" dirty="0">
                <a:latin typeface="Trebuchet MS"/>
                <a:cs typeface="Trebuchet MS"/>
              </a:rPr>
              <a:t>Influye </a:t>
            </a:r>
            <a:r>
              <a:rPr sz="2600" b="1" spc="-114" dirty="0">
                <a:latin typeface="Trebuchet MS"/>
                <a:cs typeface="Trebuchet MS"/>
              </a:rPr>
              <a:t>si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55" dirty="0">
                <a:latin typeface="Trebuchet MS"/>
                <a:cs typeface="Trebuchet MS"/>
              </a:rPr>
              <a:t>compra </a:t>
            </a:r>
            <a:r>
              <a:rPr sz="2600" b="1" spc="-145" dirty="0">
                <a:latin typeface="Trebuchet MS"/>
                <a:cs typeface="Trebuchet MS"/>
              </a:rPr>
              <a:t>está </a:t>
            </a:r>
            <a:r>
              <a:rPr sz="2600" b="1" spc="-165" dirty="0">
                <a:latin typeface="Trebuchet MS"/>
                <a:cs typeface="Trebuchet MS"/>
              </a:rPr>
              <a:t>en </a:t>
            </a:r>
            <a:r>
              <a:rPr sz="2600" b="1" spc="-160" dirty="0">
                <a:latin typeface="Trebuchet MS"/>
                <a:cs typeface="Trebuchet MS"/>
              </a:rPr>
              <a:t>el</a:t>
            </a:r>
            <a:r>
              <a:rPr sz="2600" b="1" spc="-484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presupuesto;</a:t>
            </a:r>
            <a:endParaRPr sz="2600" dirty="0">
              <a:latin typeface="Trebuchet MS"/>
              <a:cs typeface="Trebuchet MS"/>
            </a:endParaRPr>
          </a:p>
          <a:p>
            <a:pPr marL="722630" indent="-266700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20" dirty="0">
                <a:latin typeface="Trebuchet MS"/>
                <a:cs typeface="Trebuchet MS"/>
              </a:rPr>
              <a:t>Desdoblar</a:t>
            </a:r>
            <a:r>
              <a:rPr sz="2600" b="1" spc="-180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compras;</a:t>
            </a:r>
            <a:endParaRPr sz="2600" dirty="0">
              <a:latin typeface="Trebuchet MS"/>
              <a:cs typeface="Trebuchet MS"/>
            </a:endParaRPr>
          </a:p>
          <a:p>
            <a:pPr marL="722630" marR="840740" indent="-266700">
              <a:lnSpc>
                <a:spcPts val="2810"/>
              </a:lnSpc>
              <a:spcBef>
                <a:spcPts val="66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75" dirty="0">
                <a:latin typeface="Trebuchet MS"/>
                <a:cs typeface="Trebuchet MS"/>
              </a:rPr>
              <a:t>Las </a:t>
            </a:r>
            <a:r>
              <a:rPr sz="2600" b="1" spc="-145" dirty="0">
                <a:latin typeface="Trebuchet MS"/>
                <a:cs typeface="Trebuchet MS"/>
              </a:rPr>
              <a:t>compras superiores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45" dirty="0">
                <a:latin typeface="Trebuchet MS"/>
                <a:cs typeface="Trebuchet MS"/>
              </a:rPr>
              <a:t>un </a:t>
            </a:r>
            <a:r>
              <a:rPr sz="2600" b="1" spc="-125" dirty="0">
                <a:latin typeface="Trebuchet MS"/>
                <a:cs typeface="Trebuchet MS"/>
              </a:rPr>
              <a:t>monto </a:t>
            </a:r>
            <a:r>
              <a:rPr sz="2600" b="1" spc="-140" dirty="0">
                <a:latin typeface="Trebuchet MS"/>
                <a:cs typeface="Trebuchet MS"/>
              </a:rPr>
              <a:t>definido </a:t>
            </a:r>
            <a:r>
              <a:rPr sz="2600" b="1" spc="-155" dirty="0">
                <a:latin typeface="Trebuchet MS"/>
                <a:cs typeface="Trebuchet MS"/>
              </a:rPr>
              <a:t>(y  </a:t>
            </a:r>
            <a:r>
              <a:rPr sz="2600" b="1" spc="-120" dirty="0">
                <a:latin typeface="Trebuchet MS"/>
                <a:cs typeface="Trebuchet MS"/>
              </a:rPr>
              <a:t>aprobado) </a:t>
            </a:r>
            <a:r>
              <a:rPr sz="2600" b="1" spc="-175" dirty="0">
                <a:latin typeface="Trebuchet MS"/>
                <a:cs typeface="Trebuchet MS"/>
              </a:rPr>
              <a:t>requieren </a:t>
            </a:r>
            <a:r>
              <a:rPr sz="2600" b="1" spc="-155" dirty="0">
                <a:latin typeface="Trebuchet MS"/>
                <a:cs typeface="Trebuchet MS"/>
              </a:rPr>
              <a:t>ser </a:t>
            </a:r>
            <a:r>
              <a:rPr sz="2600" b="1" spc="-135" dirty="0">
                <a:latin typeface="Trebuchet MS"/>
                <a:cs typeface="Trebuchet MS"/>
              </a:rPr>
              <a:t>tratadas como</a:t>
            </a:r>
            <a:r>
              <a:rPr sz="2600" b="1" spc="-355" dirty="0">
                <a:latin typeface="Trebuchet MS"/>
                <a:cs typeface="Trebuchet MS"/>
              </a:rPr>
              <a:t> </a:t>
            </a:r>
            <a:r>
              <a:rPr sz="2600" b="1" spc="-200" dirty="0">
                <a:latin typeface="Trebuchet MS"/>
                <a:cs typeface="Trebuchet MS"/>
              </a:rPr>
              <a:t>excepción.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98094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0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35" dirty="0">
                <a:latin typeface="Arial"/>
                <a:cs typeface="Arial"/>
              </a:rPr>
              <a:t>I: </a:t>
            </a:r>
            <a:r>
              <a:rPr sz="1800" b="0" spc="-80" dirty="0">
                <a:latin typeface="Arial"/>
                <a:cs typeface="Arial"/>
              </a:rPr>
              <a:t>Detección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Necesidad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10" dirty="0">
                <a:latin typeface="Arial"/>
                <a:cs typeface="Arial"/>
              </a:rPr>
              <a:t>Compra</a:t>
            </a:r>
            <a:r>
              <a:rPr sz="1800" b="0" spc="-14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67433" y="1143000"/>
            <a:ext cx="5976366" cy="5152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2541" y="193801"/>
            <a:ext cx="8486775" cy="6203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Proveedor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Adjudicación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Compra</a:t>
            </a:r>
            <a:r>
              <a:rPr sz="1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  <a:spcBef>
                <a:spcPts val="5"/>
              </a:spcBef>
            </a:pPr>
            <a:r>
              <a:rPr sz="3000" spc="-180" dirty="0">
                <a:latin typeface="Arial"/>
                <a:cs typeface="Arial"/>
              </a:rPr>
              <a:t>Compras:</a:t>
            </a:r>
            <a:endParaRPr sz="30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30" dirty="0">
                <a:latin typeface="Arial"/>
                <a:cs typeface="Arial"/>
              </a:rPr>
              <a:t>Coteja </a:t>
            </a:r>
            <a:r>
              <a:rPr sz="2600" spc="-80" dirty="0">
                <a:latin typeface="Arial"/>
                <a:cs typeface="Arial"/>
              </a:rPr>
              <a:t>firmas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30" dirty="0">
                <a:latin typeface="Arial"/>
                <a:cs typeface="Arial"/>
              </a:rPr>
              <a:t>Registro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autorizaciones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spc="-229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firmas;</a:t>
            </a:r>
            <a:endParaRPr sz="26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140" dirty="0">
                <a:latin typeface="Arial"/>
                <a:cs typeface="Arial"/>
              </a:rPr>
              <a:t>Consulta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30" dirty="0">
                <a:latin typeface="Arial"/>
                <a:cs typeface="Arial"/>
              </a:rPr>
              <a:t>Registro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proveedores;</a:t>
            </a:r>
            <a:endParaRPr sz="26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114" dirty="0">
                <a:latin typeface="Arial"/>
                <a:cs typeface="Arial"/>
              </a:rPr>
              <a:t>Emite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0" dirty="0">
                <a:latin typeface="Arial"/>
                <a:cs typeface="Arial"/>
              </a:rPr>
              <a:t>pedido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28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cotización;</a:t>
            </a:r>
            <a:endParaRPr sz="26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114" dirty="0">
                <a:latin typeface="Arial"/>
                <a:cs typeface="Arial"/>
              </a:rPr>
              <a:t>Emite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cotización;</a:t>
            </a:r>
            <a:endParaRPr sz="260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  <a:tab pos="708660" algn="l"/>
                <a:tab pos="1835785" algn="l"/>
                <a:tab pos="2364740" algn="l"/>
                <a:tab pos="3911600" algn="l"/>
                <a:tab pos="4253865" algn="l"/>
                <a:tab pos="4681220" algn="l"/>
                <a:tab pos="6228715" algn="l"/>
                <a:tab pos="7252334" algn="l"/>
                <a:tab pos="8240395" algn="l"/>
              </a:tabLst>
            </a:pPr>
            <a:r>
              <a:rPr sz="2600" spc="-225" dirty="0">
                <a:latin typeface="Arial"/>
                <a:cs typeface="Arial"/>
              </a:rPr>
              <a:t>El	</a:t>
            </a:r>
            <a:r>
              <a:rPr sz="2600" spc="-80" dirty="0">
                <a:latin typeface="Arial"/>
                <a:cs typeface="Arial"/>
              </a:rPr>
              <a:t>pedid</a:t>
            </a:r>
            <a:r>
              <a:rPr sz="2600" spc="-85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co</a:t>
            </a:r>
            <a:r>
              <a:rPr sz="2600" spc="-25" dirty="0">
                <a:latin typeface="Arial"/>
                <a:cs typeface="Arial"/>
              </a:rPr>
              <a:t>t</a:t>
            </a:r>
            <a:r>
              <a:rPr sz="2600" spc="-160" dirty="0">
                <a:latin typeface="Arial"/>
                <a:cs typeface="Arial"/>
              </a:rPr>
              <a:t>iza</a:t>
            </a:r>
            <a:r>
              <a:rPr sz="2600" spc="-180" dirty="0">
                <a:latin typeface="Arial"/>
                <a:cs typeface="Arial"/>
              </a:rPr>
              <a:t>c</a:t>
            </a:r>
            <a:r>
              <a:rPr sz="2600" spc="-50" dirty="0">
                <a:latin typeface="Arial"/>
                <a:cs typeface="Arial"/>
              </a:rPr>
              <a:t>ión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co</a:t>
            </a:r>
            <a:r>
              <a:rPr sz="2600" spc="-25" dirty="0">
                <a:latin typeface="Arial"/>
                <a:cs typeface="Arial"/>
              </a:rPr>
              <a:t>t</a:t>
            </a:r>
            <a:r>
              <a:rPr sz="2600" spc="-160" dirty="0">
                <a:latin typeface="Arial"/>
                <a:cs typeface="Arial"/>
              </a:rPr>
              <a:t>iza</a:t>
            </a:r>
            <a:r>
              <a:rPr sz="2600" spc="-180" dirty="0">
                <a:latin typeface="Arial"/>
                <a:cs typeface="Arial"/>
              </a:rPr>
              <a:t>c</a:t>
            </a:r>
            <a:r>
              <a:rPr sz="2600" spc="-50" dirty="0">
                <a:latin typeface="Arial"/>
                <a:cs typeface="Arial"/>
              </a:rPr>
              <a:t>ión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varían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70" dirty="0">
                <a:latin typeface="Arial"/>
                <a:cs typeface="Arial"/>
              </a:rPr>
              <a:t>según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85" dirty="0">
                <a:latin typeface="Arial"/>
                <a:cs typeface="Arial"/>
              </a:rPr>
              <a:t>la  </a:t>
            </a:r>
            <a:r>
              <a:rPr sz="2600" spc="-65" dirty="0">
                <a:latin typeface="Arial"/>
                <a:cs typeface="Arial"/>
              </a:rPr>
              <a:t>importancia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21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compra:</a:t>
            </a:r>
            <a:endParaRPr sz="26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40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55" dirty="0">
                <a:latin typeface="Arial"/>
                <a:cs typeface="Arial"/>
              </a:rPr>
              <a:t>Alta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60" dirty="0">
                <a:latin typeface="Arial"/>
                <a:cs typeface="Arial"/>
              </a:rPr>
              <a:t>Media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ts val="238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135" dirty="0">
                <a:latin typeface="Arial"/>
                <a:cs typeface="Arial"/>
              </a:rPr>
              <a:t>Baja</a:t>
            </a:r>
            <a:endParaRPr sz="20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95" dirty="0">
                <a:latin typeface="Arial"/>
                <a:cs typeface="Arial"/>
              </a:rPr>
              <a:t>Solicitud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cotización</a:t>
            </a:r>
            <a:endParaRPr sz="26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100" dirty="0">
                <a:latin typeface="Arial"/>
                <a:cs typeface="Arial"/>
              </a:rPr>
              <a:t>Cantidad y </a:t>
            </a:r>
            <a:r>
              <a:rPr sz="2000" spc="-85" dirty="0">
                <a:latin typeface="Arial"/>
                <a:cs typeface="Arial"/>
              </a:rPr>
              <a:t>calidad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requerida;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120" dirty="0">
                <a:latin typeface="Arial"/>
                <a:cs typeface="Arial"/>
              </a:rPr>
              <a:t>Precios e </a:t>
            </a:r>
            <a:r>
              <a:rPr sz="2000" spc="-85" dirty="0">
                <a:latin typeface="Arial"/>
                <a:cs typeface="Arial"/>
              </a:rPr>
              <a:t>Impuestos </a:t>
            </a:r>
            <a:r>
              <a:rPr sz="2000" spc="-110" dirty="0">
                <a:latin typeface="Arial"/>
                <a:cs typeface="Arial"/>
              </a:rPr>
              <a:t>(IVA,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internos…);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110" dirty="0">
                <a:latin typeface="Arial"/>
                <a:cs typeface="Arial"/>
              </a:rPr>
              <a:t>Condiciones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pago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fecha de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entrega;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145" dirty="0">
                <a:latin typeface="Arial"/>
                <a:cs typeface="Arial"/>
              </a:rPr>
              <a:t>Plazo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0" dirty="0">
                <a:latin typeface="Arial"/>
                <a:cs typeface="Arial"/>
              </a:rPr>
              <a:t>mantenimiento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25" dirty="0">
                <a:latin typeface="Arial"/>
                <a:cs typeface="Arial"/>
              </a:rPr>
              <a:t>oferta </a:t>
            </a:r>
            <a:r>
              <a:rPr sz="2000" spc="-100" dirty="0">
                <a:latin typeface="Arial"/>
                <a:cs typeface="Arial"/>
              </a:rPr>
              <a:t>y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garantías.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2541" y="193801"/>
            <a:ext cx="8488680" cy="3334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Proveedor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Adjudicación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Compra</a:t>
            </a:r>
            <a:r>
              <a:rPr sz="1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279400" marR="5080" indent="85725">
              <a:lnSpc>
                <a:spcPct val="100000"/>
              </a:lnSpc>
              <a:spcBef>
                <a:spcPts val="5"/>
              </a:spcBef>
              <a:tabLst>
                <a:tab pos="1173480" algn="l"/>
                <a:tab pos="1866900" algn="l"/>
                <a:tab pos="3289300" algn="l"/>
                <a:tab pos="3740785" algn="l"/>
                <a:tab pos="5797550" algn="l"/>
                <a:tab pos="6369050" algn="l"/>
                <a:tab pos="6821170" algn="l"/>
              </a:tabLst>
            </a:pPr>
            <a:r>
              <a:rPr sz="3000" spc="-190" dirty="0">
                <a:latin typeface="Arial"/>
                <a:cs typeface="Arial"/>
              </a:rPr>
              <a:t>Una	</a:t>
            </a:r>
            <a:r>
              <a:rPr sz="3000" spc="-215" dirty="0">
                <a:latin typeface="Arial"/>
                <a:cs typeface="Arial"/>
              </a:rPr>
              <a:t>vez	</a:t>
            </a:r>
            <a:r>
              <a:rPr sz="3000" spc="-100" dirty="0">
                <a:latin typeface="Arial"/>
                <a:cs typeface="Arial"/>
              </a:rPr>
              <a:t>rec</a:t>
            </a:r>
            <a:r>
              <a:rPr sz="3000" spc="-65" dirty="0">
                <a:latin typeface="Arial"/>
                <a:cs typeface="Arial"/>
              </a:rPr>
              <a:t>i</a:t>
            </a:r>
            <a:r>
              <a:rPr sz="3000" spc="-100" dirty="0">
                <a:latin typeface="Arial"/>
                <a:cs typeface="Arial"/>
              </a:rPr>
              <a:t>bid</a:t>
            </a:r>
            <a:r>
              <a:rPr sz="3000" spc="-120" dirty="0">
                <a:latin typeface="Arial"/>
                <a:cs typeface="Arial"/>
              </a:rPr>
              <a:t>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70" dirty="0">
                <a:latin typeface="Arial"/>
                <a:cs typeface="Arial"/>
              </a:rPr>
              <a:t>información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40" dirty="0">
                <a:latin typeface="Arial"/>
                <a:cs typeface="Arial"/>
              </a:rPr>
              <a:t>d</a:t>
            </a:r>
            <a:r>
              <a:rPr sz="3000" spc="-135" dirty="0">
                <a:latin typeface="Arial"/>
                <a:cs typeface="Arial"/>
              </a:rPr>
              <a:t>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65" dirty="0">
                <a:latin typeface="Arial"/>
                <a:cs typeface="Arial"/>
              </a:rPr>
              <a:t>l</a:t>
            </a:r>
            <a:r>
              <a:rPr sz="3000" spc="-150" dirty="0">
                <a:latin typeface="Arial"/>
                <a:cs typeface="Arial"/>
              </a:rPr>
              <a:t>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60" dirty="0">
                <a:latin typeface="Arial"/>
                <a:cs typeface="Arial"/>
              </a:rPr>
              <a:t>co</a:t>
            </a:r>
            <a:r>
              <a:rPr sz="3000" spc="-45" dirty="0">
                <a:latin typeface="Arial"/>
                <a:cs typeface="Arial"/>
              </a:rPr>
              <a:t>t</a:t>
            </a:r>
            <a:r>
              <a:rPr sz="3000" spc="-185" dirty="0">
                <a:latin typeface="Arial"/>
                <a:cs typeface="Arial"/>
              </a:rPr>
              <a:t>iza</a:t>
            </a:r>
            <a:r>
              <a:rPr sz="3000" spc="-225" dirty="0">
                <a:latin typeface="Arial"/>
                <a:cs typeface="Arial"/>
              </a:rPr>
              <a:t>c</a:t>
            </a:r>
            <a:r>
              <a:rPr sz="3000" spc="-55" dirty="0">
                <a:latin typeface="Arial"/>
                <a:cs typeface="Arial"/>
              </a:rPr>
              <a:t>ión,  </a:t>
            </a:r>
            <a:r>
              <a:rPr sz="3000" spc="-180" dirty="0">
                <a:latin typeface="Arial"/>
                <a:cs typeface="Arial"/>
              </a:rPr>
              <a:t>Compras:</a:t>
            </a:r>
            <a:endParaRPr sz="30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75" dirty="0">
                <a:latin typeface="Arial"/>
                <a:cs typeface="Arial"/>
              </a:rPr>
              <a:t>Debe </a:t>
            </a:r>
            <a:r>
              <a:rPr sz="2600" spc="-85" dirty="0">
                <a:latin typeface="Arial"/>
                <a:cs typeface="Arial"/>
              </a:rPr>
              <a:t>documentar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60" dirty="0">
                <a:latin typeface="Arial"/>
                <a:cs typeface="Arial"/>
              </a:rPr>
              <a:t>información </a:t>
            </a:r>
            <a:r>
              <a:rPr sz="2600" spc="-80" dirty="0">
                <a:latin typeface="Arial"/>
                <a:cs typeface="Arial"/>
              </a:rPr>
              <a:t>recibida,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95" dirty="0">
                <a:latin typeface="Arial"/>
                <a:cs typeface="Arial"/>
              </a:rPr>
              <a:t>efectos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50" dirty="0">
                <a:latin typeface="Arial"/>
                <a:cs typeface="Arial"/>
              </a:rPr>
              <a:t>instrumentar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05" dirty="0">
                <a:latin typeface="Arial"/>
                <a:cs typeface="Arial"/>
              </a:rPr>
              <a:t>comparación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40" dirty="0">
                <a:latin typeface="Arial"/>
                <a:cs typeface="Arial"/>
              </a:rPr>
              <a:t>atributos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5" dirty="0">
                <a:latin typeface="Arial"/>
                <a:cs typeface="Arial"/>
              </a:rPr>
              <a:t>evaluar </a:t>
            </a:r>
            <a:r>
              <a:rPr sz="2600" spc="-190" dirty="0">
                <a:latin typeface="Arial"/>
                <a:cs typeface="Arial"/>
              </a:rPr>
              <a:t>su  </a:t>
            </a:r>
            <a:r>
              <a:rPr sz="2600" spc="-90" dirty="0">
                <a:latin typeface="Arial"/>
                <a:cs typeface="Arial"/>
              </a:rPr>
              <a:t>razonabilidad. </a:t>
            </a:r>
            <a:r>
              <a:rPr sz="2600" spc="-275" dirty="0">
                <a:latin typeface="Arial"/>
                <a:cs typeface="Arial"/>
              </a:rPr>
              <a:t>En </a:t>
            </a:r>
            <a:r>
              <a:rPr sz="2600" spc="-195" dirty="0">
                <a:latin typeface="Arial"/>
                <a:cs typeface="Arial"/>
              </a:rPr>
              <a:t>caso </a:t>
            </a:r>
            <a:r>
              <a:rPr sz="2600" spc="-20" dirty="0">
                <a:latin typeface="Arial"/>
                <a:cs typeface="Arial"/>
              </a:rPr>
              <a:t>ulterior, </a:t>
            </a:r>
            <a:r>
              <a:rPr sz="2600" spc="-114" dirty="0">
                <a:latin typeface="Arial"/>
                <a:cs typeface="Arial"/>
              </a:rPr>
              <a:t>puede </a:t>
            </a:r>
            <a:r>
              <a:rPr sz="2600" spc="-45" dirty="0">
                <a:latin typeface="Arial"/>
                <a:cs typeface="Arial"/>
              </a:rPr>
              <a:t>tener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60" dirty="0">
                <a:latin typeface="Arial"/>
                <a:cs typeface="Arial"/>
              </a:rPr>
              <a:t>solicitar  </a:t>
            </a:r>
            <a:r>
              <a:rPr sz="2600" spc="-114" dirty="0">
                <a:latin typeface="Arial"/>
                <a:cs typeface="Arial"/>
              </a:rPr>
              <a:t>cotizaciones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adicionales.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4649" y="3515105"/>
            <a:ext cx="4148522" cy="2824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3554729"/>
            <a:ext cx="3876566" cy="2805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2541" y="193801"/>
            <a:ext cx="8564880" cy="519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Proveedor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Adjudicación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Compra</a:t>
            </a:r>
            <a:r>
              <a:rPr sz="1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  <a:spcBef>
                <a:spcPts val="5"/>
              </a:spcBef>
            </a:pPr>
            <a:r>
              <a:rPr sz="3000" spc="-190" dirty="0">
                <a:latin typeface="Arial"/>
                <a:cs typeface="Arial"/>
              </a:rPr>
              <a:t>Luego, </a:t>
            </a:r>
            <a:r>
              <a:rPr sz="3000" spc="-140" dirty="0">
                <a:latin typeface="Arial"/>
                <a:cs typeface="Arial"/>
              </a:rPr>
              <a:t>una </a:t>
            </a:r>
            <a:r>
              <a:rPr sz="3000" spc="-215" dirty="0">
                <a:latin typeface="Arial"/>
                <a:cs typeface="Arial"/>
              </a:rPr>
              <a:t>vez </a:t>
            </a:r>
            <a:r>
              <a:rPr sz="3000" spc="-170" dirty="0">
                <a:latin typeface="Arial"/>
                <a:cs typeface="Arial"/>
              </a:rPr>
              <a:t>evaluadas </a:t>
            </a:r>
            <a:r>
              <a:rPr sz="3000" spc="-180" dirty="0">
                <a:latin typeface="Arial"/>
                <a:cs typeface="Arial"/>
              </a:rPr>
              <a:t>las </a:t>
            </a:r>
            <a:r>
              <a:rPr sz="3000" spc="-130" dirty="0">
                <a:latin typeface="Arial"/>
                <a:cs typeface="Arial"/>
              </a:rPr>
              <a:t>cotizaciones,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180" dirty="0">
                <a:latin typeface="Arial"/>
                <a:cs typeface="Arial"/>
              </a:rPr>
              <a:t>Compras:</a:t>
            </a:r>
            <a:endParaRPr sz="30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218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50" dirty="0">
                <a:latin typeface="Arial"/>
                <a:cs typeface="Arial"/>
              </a:rPr>
              <a:t>Procede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50" dirty="0">
                <a:latin typeface="Arial"/>
                <a:cs typeface="Arial"/>
              </a:rPr>
              <a:t>instrumentar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adjudicación;</a:t>
            </a:r>
            <a:endParaRPr sz="2600">
              <a:latin typeface="Arial"/>
              <a:cs typeface="Arial"/>
            </a:endParaRPr>
          </a:p>
          <a:p>
            <a:pPr marL="736600" marR="6985" lvl="1" indent="-266700">
              <a:lnSpc>
                <a:spcPct val="100000"/>
              </a:lnSpc>
              <a:spcBef>
                <a:spcPts val="1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85" dirty="0">
                <a:latin typeface="Arial"/>
                <a:cs typeface="Arial"/>
              </a:rPr>
              <a:t>De </a:t>
            </a:r>
            <a:r>
              <a:rPr sz="2200" spc="-100" dirty="0">
                <a:latin typeface="Arial"/>
                <a:cs typeface="Arial"/>
              </a:rPr>
              <a:t>manera </a:t>
            </a:r>
            <a:r>
              <a:rPr sz="2200" spc="-75" dirty="0">
                <a:latin typeface="Arial"/>
                <a:cs typeface="Arial"/>
              </a:rPr>
              <a:t>complementaria, </a:t>
            </a:r>
            <a:r>
              <a:rPr sz="2200" spc="-95" dirty="0">
                <a:latin typeface="Arial"/>
                <a:cs typeface="Arial"/>
              </a:rPr>
              <a:t>puede </a:t>
            </a:r>
            <a:r>
              <a:rPr sz="2200" spc="-50" dirty="0">
                <a:latin typeface="Arial"/>
                <a:cs typeface="Arial"/>
              </a:rPr>
              <a:t>existir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75" dirty="0">
                <a:latin typeface="Arial"/>
                <a:cs typeface="Arial"/>
              </a:rPr>
              <a:t>r</a:t>
            </a:r>
            <a:r>
              <a:rPr sz="2400" spc="-75" dirty="0">
                <a:latin typeface="Arial"/>
                <a:cs typeface="Arial"/>
              </a:rPr>
              <a:t>evisión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precios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compra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135" dirty="0">
                <a:latin typeface="Arial"/>
                <a:cs typeface="Arial"/>
              </a:rPr>
              <a:t>personas ajenas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sector;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2450">
              <a:latin typeface="Times New Roman"/>
              <a:cs typeface="Times New Roman"/>
            </a:endParaRPr>
          </a:p>
          <a:p>
            <a:pPr marL="279400" marR="6350" indent="-2667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00" dirty="0">
                <a:latin typeface="Arial"/>
                <a:cs typeface="Arial"/>
              </a:rPr>
              <a:t>Finalmente, </a:t>
            </a:r>
            <a:r>
              <a:rPr sz="2600" spc="-50" dirty="0">
                <a:latin typeface="Arial"/>
                <a:cs typeface="Arial"/>
              </a:rPr>
              <a:t>emite la/s </a:t>
            </a:r>
            <a:r>
              <a:rPr sz="2600" spc="-100" dirty="0">
                <a:latin typeface="Arial"/>
                <a:cs typeface="Arial"/>
              </a:rPr>
              <a:t>Orden/es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55" dirty="0">
                <a:latin typeface="Arial"/>
                <a:cs typeface="Arial"/>
              </a:rPr>
              <a:t>Compra </a:t>
            </a:r>
            <a:r>
              <a:rPr sz="2600" spc="-250" dirty="0">
                <a:latin typeface="Arial"/>
                <a:cs typeface="Arial"/>
              </a:rPr>
              <a:t>(OCs)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65" dirty="0">
                <a:latin typeface="Arial"/>
                <a:cs typeface="Arial"/>
              </a:rPr>
              <a:t>favor </a:t>
            </a:r>
            <a:r>
              <a:rPr sz="2600" spc="-80" dirty="0">
                <a:latin typeface="Arial"/>
                <a:cs typeface="Arial"/>
              </a:rPr>
              <a:t>del  proveedor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adjudicado.</a:t>
            </a:r>
            <a:endParaRPr sz="2600">
              <a:latin typeface="Arial"/>
              <a:cs typeface="Arial"/>
            </a:endParaRPr>
          </a:p>
          <a:p>
            <a:pPr marL="736600" marR="508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  <a:tab pos="1123950" algn="l"/>
                <a:tab pos="2153285" algn="l"/>
                <a:tab pos="2576195" algn="l"/>
                <a:tab pos="3156585" algn="l"/>
                <a:tab pos="4094479" algn="l"/>
                <a:tab pos="5545455" algn="l"/>
                <a:tab pos="6073775" algn="l"/>
                <a:tab pos="6412865" algn="l"/>
                <a:tab pos="7231380" algn="l"/>
                <a:tab pos="7653655" algn="l"/>
              </a:tabLst>
            </a:pPr>
            <a:r>
              <a:rPr sz="2200" spc="-240" dirty="0">
                <a:latin typeface="Arial"/>
                <a:cs typeface="Arial"/>
              </a:rPr>
              <a:t>L</a:t>
            </a:r>
            <a:r>
              <a:rPr sz="2200" spc="-23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emis</a:t>
            </a:r>
            <a:r>
              <a:rPr sz="2200" spc="-50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ó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45" dirty="0">
                <a:latin typeface="Arial"/>
                <a:cs typeface="Arial"/>
              </a:rPr>
              <a:t>OC</a:t>
            </a:r>
            <a:r>
              <a:rPr sz="2200" spc="-229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de</a:t>
            </a:r>
            <a:r>
              <a:rPr sz="2200" spc="-100" dirty="0">
                <a:latin typeface="Arial"/>
                <a:cs typeface="Arial"/>
              </a:rPr>
              <a:t>b</a:t>
            </a:r>
            <a:r>
              <a:rPr sz="2200" spc="-90" dirty="0">
                <a:latin typeface="Arial"/>
                <a:cs typeface="Arial"/>
              </a:rPr>
              <a:t>erá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respa</a:t>
            </a:r>
            <a:r>
              <a:rPr sz="2200" spc="-60" dirty="0">
                <a:latin typeface="Arial"/>
                <a:cs typeface="Arial"/>
              </a:rPr>
              <a:t>l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40" dirty="0">
                <a:latin typeface="Arial"/>
                <a:cs typeface="Arial"/>
              </a:rPr>
              <a:t>a</a:t>
            </a:r>
            <a:r>
              <a:rPr sz="2200" spc="-114" dirty="0">
                <a:latin typeface="Arial"/>
                <a:cs typeface="Arial"/>
              </a:rPr>
              <a:t>rse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5" dirty="0">
                <a:latin typeface="Arial"/>
                <a:cs typeface="Arial"/>
              </a:rPr>
              <a:t>po</a:t>
            </a:r>
            <a:r>
              <a:rPr sz="2200" spc="-2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5" dirty="0">
                <a:latin typeface="Arial"/>
                <a:cs typeface="Arial"/>
              </a:rPr>
              <a:t>l</a:t>
            </a:r>
            <a:r>
              <a:rPr sz="2200" spc="-90" dirty="0">
                <a:latin typeface="Arial"/>
                <a:cs typeface="Arial"/>
              </a:rPr>
              <a:t>e</a:t>
            </a:r>
            <a:r>
              <a:rPr sz="2200" spc="-95" dirty="0">
                <a:latin typeface="Arial"/>
                <a:cs typeface="Arial"/>
              </a:rPr>
              <a:t>gajo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4" dirty="0">
                <a:latin typeface="Arial"/>
                <a:cs typeface="Arial"/>
              </a:rPr>
              <a:t>Compra  </a:t>
            </a:r>
            <a:r>
              <a:rPr sz="2200" spc="-70" dirty="0">
                <a:latin typeface="Arial"/>
                <a:cs typeface="Arial"/>
              </a:rPr>
              <a:t>correspondiente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45" dirty="0">
                <a:latin typeface="Arial"/>
                <a:cs typeface="Arial"/>
              </a:rPr>
              <a:t>toda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gestión</a:t>
            </a:r>
            <a:endParaRPr sz="2200">
              <a:latin typeface="Arial"/>
              <a:cs typeface="Arial"/>
            </a:endParaRPr>
          </a:p>
          <a:p>
            <a:pPr marL="736600" marR="635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  <a:tab pos="2087880" algn="l"/>
                <a:tab pos="2574290" algn="l"/>
                <a:tab pos="3195955" algn="l"/>
                <a:tab pos="4323080" algn="l"/>
                <a:tab pos="5387975" algn="l"/>
                <a:tab pos="6882130" algn="l"/>
                <a:tab pos="7451725" algn="l"/>
                <a:tab pos="7936865" algn="l"/>
              </a:tabLst>
            </a:pPr>
            <a:r>
              <a:rPr sz="2200" spc="-120" dirty="0">
                <a:latin typeface="Arial"/>
                <a:cs typeface="Arial"/>
              </a:rPr>
              <a:t>Asimi</a:t>
            </a:r>
            <a:r>
              <a:rPr sz="2200" spc="-135" dirty="0">
                <a:latin typeface="Arial"/>
                <a:cs typeface="Arial"/>
              </a:rPr>
              <a:t>s</a:t>
            </a:r>
            <a:r>
              <a:rPr sz="2200" spc="-70" dirty="0">
                <a:latin typeface="Arial"/>
                <a:cs typeface="Arial"/>
              </a:rPr>
              <a:t>mo,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l</a:t>
            </a:r>
            <a:r>
              <a:rPr sz="2200" spc="-204" dirty="0">
                <a:latin typeface="Arial"/>
                <a:cs typeface="Arial"/>
              </a:rPr>
              <a:t>as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45" dirty="0">
                <a:latin typeface="Arial"/>
                <a:cs typeface="Arial"/>
              </a:rPr>
              <a:t>OC</a:t>
            </a:r>
            <a:r>
              <a:rPr sz="2200" spc="-229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de</a:t>
            </a:r>
            <a:r>
              <a:rPr sz="2200" spc="-100" dirty="0">
                <a:latin typeface="Arial"/>
                <a:cs typeface="Arial"/>
              </a:rPr>
              <a:t>b</a:t>
            </a:r>
            <a:r>
              <a:rPr sz="2200" spc="-85" dirty="0">
                <a:latin typeface="Arial"/>
                <a:cs typeface="Arial"/>
              </a:rPr>
              <a:t>er</a:t>
            </a:r>
            <a:r>
              <a:rPr sz="2200" spc="-114" dirty="0">
                <a:latin typeface="Arial"/>
                <a:cs typeface="Arial"/>
              </a:rPr>
              <a:t>á</a:t>
            </a:r>
            <a:r>
              <a:rPr sz="2200" spc="-7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h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ll</a:t>
            </a:r>
            <a:r>
              <a:rPr sz="2200" spc="-120" dirty="0">
                <a:latin typeface="Arial"/>
                <a:cs typeface="Arial"/>
              </a:rPr>
              <a:t>ar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5" dirty="0">
                <a:latin typeface="Arial"/>
                <a:cs typeface="Arial"/>
              </a:rPr>
              <a:t>au</a:t>
            </a:r>
            <a:r>
              <a:rPr sz="2200" spc="-35" dirty="0">
                <a:latin typeface="Arial"/>
                <a:cs typeface="Arial"/>
              </a:rPr>
              <a:t>t</a:t>
            </a:r>
            <a:r>
              <a:rPr sz="2200" spc="-85" dirty="0">
                <a:latin typeface="Arial"/>
                <a:cs typeface="Arial"/>
              </a:rPr>
              <a:t>oriz</a:t>
            </a:r>
            <a:r>
              <a:rPr sz="2200" spc="-125" dirty="0">
                <a:latin typeface="Arial"/>
                <a:cs typeface="Arial"/>
              </a:rPr>
              <a:t>a</a:t>
            </a:r>
            <a:r>
              <a:rPr sz="2200" spc="-170" dirty="0">
                <a:latin typeface="Arial"/>
                <a:cs typeface="Arial"/>
              </a:rPr>
              <a:t>da</a:t>
            </a:r>
            <a:r>
              <a:rPr sz="2200" spc="-150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5" dirty="0">
                <a:latin typeface="Arial"/>
                <a:cs typeface="Arial"/>
              </a:rPr>
              <a:t>po</a:t>
            </a:r>
            <a:r>
              <a:rPr sz="2200" spc="-2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l</a:t>
            </a:r>
            <a:r>
              <a:rPr sz="2200" spc="-204" dirty="0">
                <a:latin typeface="Arial"/>
                <a:cs typeface="Arial"/>
              </a:rPr>
              <a:t>as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ár</a:t>
            </a:r>
            <a:r>
              <a:rPr sz="2200" spc="-114" dirty="0">
                <a:latin typeface="Arial"/>
                <a:cs typeface="Arial"/>
              </a:rPr>
              <a:t>e</a:t>
            </a:r>
            <a:r>
              <a:rPr sz="2200" spc="-160" dirty="0">
                <a:latin typeface="Arial"/>
                <a:cs typeface="Arial"/>
              </a:rPr>
              <a:t>as  </a:t>
            </a:r>
            <a:r>
              <a:rPr sz="2200" spc="-60" dirty="0">
                <a:latin typeface="Arial"/>
                <a:cs typeface="Arial"/>
              </a:rPr>
              <a:t>requirentes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área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40" dirty="0">
                <a:latin typeface="Arial"/>
                <a:cs typeface="Arial"/>
              </a:rPr>
              <a:t>Compras, </a:t>
            </a:r>
            <a:r>
              <a:rPr sz="2200" spc="-145" dirty="0">
                <a:latin typeface="Arial"/>
                <a:cs typeface="Arial"/>
              </a:rPr>
              <a:t>según </a:t>
            </a:r>
            <a:r>
              <a:rPr sz="2200" spc="-95" dirty="0">
                <a:latin typeface="Arial"/>
                <a:cs typeface="Arial"/>
              </a:rPr>
              <a:t>los</a:t>
            </a:r>
            <a:r>
              <a:rPr sz="2200" spc="-23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montos.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65416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0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II: </a:t>
            </a:r>
            <a:r>
              <a:rPr sz="1800" b="0" spc="-110" dirty="0">
                <a:latin typeface="Arial"/>
                <a:cs typeface="Arial"/>
              </a:rPr>
              <a:t>Selección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75" dirty="0">
                <a:latin typeface="Arial"/>
                <a:cs typeface="Arial"/>
              </a:rPr>
              <a:t>Proveedor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Adjudicación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110" dirty="0">
                <a:latin typeface="Arial"/>
                <a:cs typeface="Arial"/>
              </a:rPr>
              <a:t>Compra</a:t>
            </a:r>
            <a:r>
              <a:rPr sz="1800" b="0" spc="-19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1200" y="1133855"/>
            <a:ext cx="5074577" cy="5266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364388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6258" y="193801"/>
            <a:ext cx="8474075" cy="5848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5"/>
              </a:spcBef>
            </a:pPr>
            <a:r>
              <a:rPr sz="3000" spc="-185" dirty="0">
                <a:latin typeface="Arial"/>
                <a:cs typeface="Arial"/>
              </a:rPr>
              <a:t>Recepción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90" dirty="0">
                <a:latin typeface="Arial"/>
                <a:cs typeface="Arial"/>
              </a:rPr>
              <a:t>Control </a:t>
            </a:r>
            <a:r>
              <a:rPr sz="3000" spc="-135" dirty="0">
                <a:latin typeface="Arial"/>
                <a:cs typeface="Arial"/>
              </a:rPr>
              <a:t>de</a:t>
            </a:r>
            <a:r>
              <a:rPr sz="3000" spc="-235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Almacenamiento:</a:t>
            </a:r>
            <a:endParaRPr sz="30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65" dirty="0">
                <a:latin typeface="Trebuchet MS"/>
                <a:cs typeface="Trebuchet MS"/>
              </a:rPr>
              <a:t>Recepción </a:t>
            </a:r>
            <a:r>
              <a:rPr sz="2600" spc="-95" dirty="0">
                <a:latin typeface="Arial"/>
                <a:cs typeface="Arial"/>
              </a:rPr>
              <a:t>recibe </a:t>
            </a:r>
            <a:r>
              <a:rPr sz="2600" spc="-160" dirty="0">
                <a:latin typeface="Arial"/>
                <a:cs typeface="Arial"/>
              </a:rPr>
              <a:t>las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mercaderías;</a:t>
            </a:r>
            <a:endParaRPr sz="26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b="1" spc="-145" dirty="0">
                <a:latin typeface="Trebuchet MS"/>
                <a:cs typeface="Trebuchet MS"/>
              </a:rPr>
              <a:t>Control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0" dirty="0">
                <a:latin typeface="Trebuchet MS"/>
                <a:cs typeface="Trebuchet MS"/>
              </a:rPr>
              <a:t>Calidad </a:t>
            </a:r>
            <a:r>
              <a:rPr sz="2600" spc="-160" dirty="0">
                <a:latin typeface="Arial"/>
                <a:cs typeface="Arial"/>
              </a:rPr>
              <a:t>las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-55" dirty="0">
                <a:latin typeface="Arial"/>
                <a:cs typeface="Arial"/>
              </a:rPr>
              <a:t>controla;</a:t>
            </a:r>
            <a:endParaRPr sz="26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b="1" spc="-145" dirty="0">
                <a:latin typeface="Trebuchet MS"/>
                <a:cs typeface="Trebuchet MS"/>
              </a:rPr>
              <a:t>Almacenes </a:t>
            </a:r>
            <a:r>
              <a:rPr sz="2600" spc="-160" dirty="0">
                <a:latin typeface="Arial"/>
                <a:cs typeface="Arial"/>
              </a:rPr>
              <a:t>las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almacena;</a:t>
            </a:r>
            <a:endParaRPr sz="2600">
              <a:latin typeface="Arial"/>
              <a:cs typeface="Arial"/>
            </a:endParaRPr>
          </a:p>
          <a:p>
            <a:pPr marL="722630" marR="5715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  <a:tab pos="1187450" algn="l"/>
                <a:tab pos="2114550" algn="l"/>
                <a:tab pos="2503170" algn="l"/>
                <a:tab pos="3726815" algn="l"/>
                <a:tab pos="4211955" algn="l"/>
                <a:tab pos="5744210" algn="l"/>
                <a:tab pos="6437630" algn="l"/>
                <a:tab pos="7444740" algn="l"/>
                <a:tab pos="7886065" algn="l"/>
              </a:tabLst>
            </a:pPr>
            <a:r>
              <a:rPr sz="2600" spc="-350" dirty="0">
                <a:latin typeface="Arial"/>
                <a:cs typeface="Arial"/>
              </a:rPr>
              <a:t>Se	</a:t>
            </a:r>
            <a:r>
              <a:rPr sz="2600" spc="-50" dirty="0">
                <a:latin typeface="Arial"/>
                <a:cs typeface="Arial"/>
              </a:rPr>
              <a:t>emite	</a:t>
            </a:r>
            <a:r>
              <a:rPr sz="2600" spc="-105" dirty="0">
                <a:latin typeface="Arial"/>
                <a:cs typeface="Arial"/>
              </a:rPr>
              <a:t>e</a:t>
            </a:r>
            <a:r>
              <a:rPr sz="2600" spc="-40" dirty="0">
                <a:latin typeface="Arial"/>
                <a:cs typeface="Arial"/>
              </a:rPr>
              <a:t>l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0" dirty="0">
                <a:latin typeface="Arial"/>
                <a:cs typeface="Arial"/>
              </a:rPr>
              <a:t>Inf</a:t>
            </a:r>
            <a:r>
              <a:rPr sz="2600" spc="-80" dirty="0">
                <a:latin typeface="Arial"/>
                <a:cs typeface="Arial"/>
              </a:rPr>
              <a:t>orm</a:t>
            </a:r>
            <a:r>
              <a:rPr sz="2600" spc="-7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0" dirty="0">
                <a:latin typeface="Arial"/>
                <a:cs typeface="Arial"/>
              </a:rPr>
              <a:t>Rece</a:t>
            </a:r>
            <a:r>
              <a:rPr sz="2600" spc="-90" dirty="0">
                <a:latin typeface="Arial"/>
                <a:cs typeface="Arial"/>
              </a:rPr>
              <a:t>pció</a:t>
            </a:r>
            <a:r>
              <a:rPr sz="2600" spc="-100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70" dirty="0">
                <a:latin typeface="Arial"/>
                <a:cs typeface="Arial"/>
              </a:rPr>
              <a:t>(IR)</a:t>
            </a:r>
            <a:r>
              <a:rPr sz="2600" spc="-110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0" dirty="0">
                <a:latin typeface="Arial"/>
                <a:cs typeface="Arial"/>
              </a:rPr>
              <a:t>dond</a:t>
            </a:r>
            <a:r>
              <a:rPr sz="2600" spc="-9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15" dirty="0">
                <a:latin typeface="Arial"/>
                <a:cs typeface="Arial"/>
              </a:rPr>
              <a:t>s</a:t>
            </a:r>
            <a:r>
              <a:rPr sz="2600" spc="-23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deja  </a:t>
            </a:r>
            <a:r>
              <a:rPr sz="2600" spc="-120" dirty="0">
                <a:latin typeface="Arial"/>
                <a:cs typeface="Arial"/>
              </a:rPr>
              <a:t>constancia de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todo.</a:t>
            </a:r>
            <a:endParaRPr sz="2600">
              <a:latin typeface="Arial"/>
              <a:cs typeface="Arial"/>
            </a:endParaRPr>
          </a:p>
          <a:p>
            <a:pPr marL="265430" marR="5080" indent="85725">
              <a:lnSpc>
                <a:spcPct val="100000"/>
              </a:lnSpc>
              <a:spcBef>
                <a:spcPts val="575"/>
              </a:spcBef>
              <a:tabLst>
                <a:tab pos="2133600" algn="l"/>
                <a:tab pos="2494915" algn="l"/>
                <a:tab pos="4083050" algn="l"/>
                <a:tab pos="4660900" algn="l"/>
                <a:tab pos="6707505" algn="l"/>
                <a:tab pos="7259320" algn="l"/>
                <a:tab pos="8278495" algn="l"/>
              </a:tabLst>
            </a:pPr>
            <a:r>
              <a:rPr sz="3000" spc="-550" dirty="0">
                <a:latin typeface="Arial"/>
                <a:cs typeface="Arial"/>
              </a:rPr>
              <a:t>R</a:t>
            </a:r>
            <a:r>
              <a:rPr sz="3000" spc="-215" dirty="0">
                <a:latin typeface="Arial"/>
                <a:cs typeface="Arial"/>
              </a:rPr>
              <a:t>e</a:t>
            </a:r>
            <a:r>
              <a:rPr sz="3000" spc="-210" dirty="0">
                <a:latin typeface="Arial"/>
                <a:cs typeface="Arial"/>
              </a:rPr>
              <a:t>c</a:t>
            </a:r>
            <a:r>
              <a:rPr sz="3000" spc="-175" dirty="0">
                <a:latin typeface="Arial"/>
                <a:cs typeface="Arial"/>
              </a:rPr>
              <a:t>ep</a:t>
            </a:r>
            <a:r>
              <a:rPr sz="3000" spc="-170" dirty="0">
                <a:latin typeface="Arial"/>
                <a:cs typeface="Arial"/>
              </a:rPr>
              <a:t>c</a:t>
            </a:r>
            <a:r>
              <a:rPr sz="3000" spc="-55" dirty="0">
                <a:latin typeface="Arial"/>
                <a:cs typeface="Arial"/>
              </a:rPr>
              <a:t>ión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45" dirty="0">
                <a:latin typeface="Arial"/>
                <a:cs typeface="Arial"/>
              </a:rPr>
              <a:t>y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50" dirty="0">
                <a:latin typeface="Arial"/>
                <a:cs typeface="Arial"/>
              </a:rPr>
              <a:t>r</a:t>
            </a:r>
            <a:r>
              <a:rPr sz="3000" spc="-95" dirty="0">
                <a:latin typeface="Arial"/>
                <a:cs typeface="Arial"/>
              </a:rPr>
              <a:t>e</a:t>
            </a:r>
            <a:r>
              <a:rPr sz="3000" spc="-245" dirty="0">
                <a:latin typeface="Arial"/>
                <a:cs typeface="Arial"/>
              </a:rPr>
              <a:t>c</a:t>
            </a:r>
            <a:r>
              <a:rPr sz="3000" spc="-60" dirty="0">
                <a:latin typeface="Arial"/>
                <a:cs typeface="Arial"/>
              </a:rPr>
              <a:t>uen</a:t>
            </a:r>
            <a:r>
              <a:rPr sz="3000" spc="-45" dirty="0">
                <a:latin typeface="Arial"/>
                <a:cs typeface="Arial"/>
              </a:rPr>
              <a:t>t</a:t>
            </a:r>
            <a:r>
              <a:rPr sz="3000" spc="-90" dirty="0">
                <a:latin typeface="Arial"/>
                <a:cs typeface="Arial"/>
              </a:rPr>
              <a:t>o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45" dirty="0">
                <a:latin typeface="Arial"/>
                <a:cs typeface="Arial"/>
              </a:rPr>
              <a:t>d</a:t>
            </a:r>
            <a:r>
              <a:rPr sz="3000" spc="-135" dirty="0">
                <a:latin typeface="Arial"/>
                <a:cs typeface="Arial"/>
              </a:rPr>
              <a:t>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70" dirty="0">
                <a:latin typeface="Arial"/>
                <a:cs typeface="Arial"/>
              </a:rPr>
              <a:t>m</a:t>
            </a:r>
            <a:r>
              <a:rPr sz="3000" spc="-130" dirty="0">
                <a:latin typeface="Arial"/>
                <a:cs typeface="Arial"/>
              </a:rPr>
              <a:t>e</a:t>
            </a:r>
            <a:r>
              <a:rPr sz="3000" spc="-125" dirty="0">
                <a:latin typeface="Arial"/>
                <a:cs typeface="Arial"/>
              </a:rPr>
              <a:t>rcaderí</a:t>
            </a:r>
            <a:r>
              <a:rPr sz="3000" spc="-165" dirty="0">
                <a:latin typeface="Arial"/>
                <a:cs typeface="Arial"/>
              </a:rPr>
              <a:t>a</a:t>
            </a:r>
            <a:r>
              <a:rPr sz="3000" spc="-80" dirty="0">
                <a:latin typeface="Arial"/>
                <a:cs typeface="Arial"/>
              </a:rPr>
              <a:t>.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445" dirty="0">
                <a:latin typeface="Arial"/>
                <a:cs typeface="Arial"/>
              </a:rPr>
              <a:t>S</a:t>
            </a:r>
            <a:r>
              <a:rPr sz="3000" spc="-365" dirty="0">
                <a:latin typeface="Arial"/>
                <a:cs typeface="Arial"/>
              </a:rPr>
              <a:t>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35" dirty="0">
                <a:latin typeface="Arial"/>
                <a:cs typeface="Arial"/>
              </a:rPr>
              <a:t>e</a:t>
            </a:r>
            <a:r>
              <a:rPr sz="3000" spc="-150" dirty="0">
                <a:latin typeface="Arial"/>
                <a:cs typeface="Arial"/>
              </a:rPr>
              <a:t>n</a:t>
            </a:r>
            <a:r>
              <a:rPr sz="3000" spc="-175" dirty="0">
                <a:latin typeface="Arial"/>
                <a:cs typeface="Arial"/>
              </a:rPr>
              <a:t>vía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55" dirty="0">
                <a:latin typeface="Arial"/>
                <a:cs typeface="Arial"/>
              </a:rPr>
              <a:t>a  </a:t>
            </a:r>
            <a:r>
              <a:rPr sz="3000" spc="-65" dirty="0">
                <a:latin typeface="Arial"/>
                <a:cs typeface="Arial"/>
              </a:rPr>
              <a:t>otros </a:t>
            </a:r>
            <a:r>
              <a:rPr sz="3000" spc="-145" dirty="0">
                <a:latin typeface="Arial"/>
                <a:cs typeface="Arial"/>
              </a:rPr>
              <a:t>sectores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310" dirty="0">
                <a:latin typeface="Arial"/>
                <a:cs typeface="Arial"/>
              </a:rPr>
              <a:t>IR</a:t>
            </a:r>
            <a:r>
              <a:rPr sz="3000" spc="-365" dirty="0">
                <a:latin typeface="Arial"/>
                <a:cs typeface="Arial"/>
              </a:rPr>
              <a:t> </a:t>
            </a:r>
            <a:r>
              <a:rPr sz="3000" spc="-35" dirty="0">
                <a:latin typeface="Arial"/>
                <a:cs typeface="Arial"/>
              </a:rPr>
              <a:t>:</a:t>
            </a:r>
            <a:endParaRPr sz="3000">
              <a:latin typeface="Arial"/>
              <a:cs typeface="Arial"/>
            </a:endParaRPr>
          </a:p>
          <a:p>
            <a:pPr marL="722630" marR="508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b="1" spc="-145" dirty="0">
                <a:latin typeface="Trebuchet MS"/>
                <a:cs typeface="Trebuchet MS"/>
              </a:rPr>
              <a:t>Compras: </a:t>
            </a:r>
            <a:r>
              <a:rPr sz="2600" spc="-114" dirty="0">
                <a:latin typeface="Arial"/>
                <a:cs typeface="Arial"/>
              </a:rPr>
              <a:t>concluye </a:t>
            </a:r>
            <a:r>
              <a:rPr sz="2600" spc="-95" dirty="0">
                <a:latin typeface="Arial"/>
                <a:cs typeface="Arial"/>
              </a:rPr>
              <a:t>la gestión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05" dirty="0">
                <a:latin typeface="Arial"/>
                <a:cs typeface="Arial"/>
              </a:rPr>
              <a:t>compra </a:t>
            </a:r>
            <a:r>
              <a:rPr sz="2600" spc="-40" dirty="0">
                <a:latin typeface="Arial"/>
                <a:cs typeface="Arial"/>
              </a:rPr>
              <a:t>por </a:t>
            </a:r>
            <a:r>
              <a:rPr sz="2600" spc="-90" dirty="0">
                <a:latin typeface="Arial"/>
                <a:cs typeface="Arial"/>
              </a:rPr>
              <a:t>entrega  </a:t>
            </a:r>
            <a:r>
              <a:rPr sz="2600" spc="-10" dirty="0">
                <a:latin typeface="Arial"/>
                <a:cs typeface="Arial"/>
              </a:rPr>
              <a:t>total,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00" dirty="0">
                <a:latin typeface="Arial"/>
                <a:cs typeface="Arial"/>
              </a:rPr>
              <a:t>gestión </a:t>
            </a:r>
            <a:r>
              <a:rPr sz="2600" spc="-150" dirty="0">
                <a:latin typeface="Arial"/>
                <a:cs typeface="Arial"/>
              </a:rPr>
              <a:t>sigue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14" dirty="0">
                <a:latin typeface="Arial"/>
                <a:cs typeface="Arial"/>
              </a:rPr>
              <a:t>entregas</a:t>
            </a:r>
            <a:r>
              <a:rPr sz="2600" spc="-36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parciales;</a:t>
            </a:r>
            <a:endParaRPr sz="26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Contaduría: </a:t>
            </a:r>
            <a:r>
              <a:rPr sz="2600" spc="-80" dirty="0">
                <a:latin typeface="Arial"/>
                <a:cs typeface="Arial"/>
              </a:rPr>
              <a:t>completa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65" dirty="0">
                <a:latin typeface="Arial"/>
                <a:cs typeface="Arial"/>
              </a:rPr>
              <a:t>Legajo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spc="-160" dirty="0">
                <a:latin typeface="Arial"/>
                <a:cs typeface="Arial"/>
              </a:rPr>
              <a:t>Compras;</a:t>
            </a:r>
            <a:endParaRPr sz="26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b="1" spc="-160" dirty="0">
                <a:latin typeface="Trebuchet MS"/>
                <a:cs typeface="Trebuchet MS"/>
              </a:rPr>
              <a:t>Almacén: </a:t>
            </a:r>
            <a:r>
              <a:rPr sz="2600" spc="-85" dirty="0">
                <a:latin typeface="Arial"/>
                <a:cs typeface="Arial"/>
              </a:rPr>
              <a:t>registración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ingreso.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29580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6258" y="193801"/>
            <a:ext cx="8474075" cy="5894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r>
              <a:rPr sz="18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5"/>
              </a:spcBef>
            </a:pPr>
            <a:r>
              <a:rPr sz="3000" spc="-90" dirty="0">
                <a:latin typeface="Arial"/>
                <a:cs typeface="Arial"/>
              </a:rPr>
              <a:t>Control </a:t>
            </a:r>
            <a:r>
              <a:rPr sz="3000" spc="-135" dirty="0">
                <a:latin typeface="Arial"/>
                <a:cs typeface="Arial"/>
              </a:rPr>
              <a:t>de</a:t>
            </a:r>
            <a:r>
              <a:rPr sz="3000" spc="-24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Calidad:</a:t>
            </a:r>
            <a:endParaRPr sz="3000">
              <a:latin typeface="Arial"/>
              <a:cs typeface="Arial"/>
            </a:endParaRPr>
          </a:p>
          <a:p>
            <a:pPr marL="722630" marR="5715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spc="-260" dirty="0">
                <a:latin typeface="Arial"/>
                <a:cs typeface="Arial"/>
              </a:rPr>
              <a:t>Si </a:t>
            </a:r>
            <a:r>
              <a:rPr sz="2600" spc="-80" dirty="0">
                <a:latin typeface="Arial"/>
                <a:cs typeface="Arial"/>
              </a:rPr>
              <a:t>no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20" dirty="0">
                <a:latin typeface="Arial"/>
                <a:cs typeface="Arial"/>
              </a:rPr>
              <a:t>puede </a:t>
            </a:r>
            <a:r>
              <a:rPr sz="2600" spc="-90" dirty="0">
                <a:latin typeface="Arial"/>
                <a:cs typeface="Arial"/>
              </a:rPr>
              <a:t>realizar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65" dirty="0">
                <a:latin typeface="Arial"/>
                <a:cs typeface="Arial"/>
              </a:rPr>
              <a:t>momento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05" dirty="0">
                <a:latin typeface="Arial"/>
                <a:cs typeface="Arial"/>
              </a:rPr>
              <a:t>pone </a:t>
            </a:r>
            <a:r>
              <a:rPr sz="2600" spc="-5" dirty="0">
                <a:latin typeface="Arial"/>
                <a:cs typeface="Arial"/>
              </a:rPr>
              <a:t>“control 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calidad </a:t>
            </a:r>
            <a:r>
              <a:rPr sz="2600" spc="-50" dirty="0">
                <a:latin typeface="Arial"/>
                <a:cs typeface="Arial"/>
              </a:rPr>
              <a:t>pendiente”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65" dirty="0">
                <a:latin typeface="Arial"/>
                <a:cs typeface="Arial"/>
              </a:rPr>
              <a:t>original </a:t>
            </a:r>
            <a:r>
              <a:rPr sz="2600" spc="-80" dirty="0">
                <a:latin typeface="Arial"/>
                <a:cs typeface="Arial"/>
              </a:rPr>
              <a:t>del </a:t>
            </a:r>
            <a:r>
              <a:rPr sz="2600" spc="-25" dirty="0">
                <a:latin typeface="Arial"/>
                <a:cs typeface="Arial"/>
              </a:rPr>
              <a:t>remito </a:t>
            </a:r>
            <a:r>
              <a:rPr sz="2600" spc="-80" dirty="0">
                <a:latin typeface="Arial"/>
                <a:cs typeface="Arial"/>
              </a:rPr>
              <a:t>del  proveedor.</a:t>
            </a:r>
            <a:endParaRPr sz="26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1415"/>
              </a:spcBef>
            </a:pPr>
            <a:r>
              <a:rPr sz="3000" spc="-114" dirty="0">
                <a:latin typeface="Arial"/>
                <a:cs typeface="Arial"/>
              </a:rPr>
              <a:t>Almacenamiento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25" dirty="0">
                <a:latin typeface="Arial"/>
                <a:cs typeface="Arial"/>
              </a:rPr>
              <a:t>mercadería.</a:t>
            </a:r>
            <a:r>
              <a:rPr sz="3000" spc="-330" dirty="0">
                <a:latin typeface="Arial"/>
                <a:cs typeface="Arial"/>
              </a:rPr>
              <a:t> </a:t>
            </a:r>
            <a:r>
              <a:rPr sz="3000" spc="-165" dirty="0">
                <a:latin typeface="Arial"/>
                <a:cs typeface="Arial"/>
              </a:rPr>
              <a:t>Almacenes:</a:t>
            </a:r>
            <a:endParaRPr sz="30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spc="-180" dirty="0">
                <a:latin typeface="Arial"/>
                <a:cs typeface="Arial"/>
              </a:rPr>
              <a:t>Recibe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270" dirty="0">
                <a:latin typeface="Arial"/>
                <a:cs typeface="Arial"/>
              </a:rPr>
              <a:t>IR </a:t>
            </a:r>
            <a:r>
              <a:rPr sz="2600" spc="-195" dirty="0">
                <a:latin typeface="Arial"/>
                <a:cs typeface="Arial"/>
              </a:rPr>
              <a:t>más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05" dirty="0">
                <a:latin typeface="Arial"/>
                <a:cs typeface="Arial"/>
              </a:rPr>
              <a:t>Remito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proveedor;</a:t>
            </a:r>
            <a:endParaRPr sz="2600">
              <a:latin typeface="Arial"/>
              <a:cs typeface="Arial"/>
            </a:endParaRPr>
          </a:p>
          <a:p>
            <a:pPr marL="722630" marR="5080" indent="-266700" algn="just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i="1" spc="-100" dirty="0">
                <a:latin typeface="Arial"/>
                <a:cs typeface="Arial"/>
              </a:rPr>
              <a:t>Artículos </a:t>
            </a:r>
            <a:r>
              <a:rPr sz="2600" i="1" spc="-80" dirty="0">
                <a:latin typeface="Arial"/>
                <a:cs typeface="Arial"/>
              </a:rPr>
              <a:t>para </a:t>
            </a:r>
            <a:r>
              <a:rPr sz="2600" i="1" spc="-100" dirty="0">
                <a:latin typeface="Arial"/>
                <a:cs typeface="Arial"/>
              </a:rPr>
              <a:t>almacenar</a:t>
            </a:r>
            <a:r>
              <a:rPr sz="2600" spc="-100" dirty="0">
                <a:latin typeface="Arial"/>
                <a:cs typeface="Arial"/>
              </a:rPr>
              <a:t>: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35" dirty="0">
                <a:latin typeface="Arial"/>
                <a:cs typeface="Arial"/>
              </a:rPr>
              <a:t>almacenan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80" dirty="0">
                <a:latin typeface="Arial"/>
                <a:cs typeface="Arial"/>
              </a:rPr>
              <a:t>registra </a:t>
            </a:r>
            <a:r>
              <a:rPr sz="2600" spc="-190" dirty="0">
                <a:latin typeface="Arial"/>
                <a:cs typeface="Arial"/>
              </a:rPr>
              <a:t>su  </a:t>
            </a:r>
            <a:r>
              <a:rPr sz="2600" spc="-110" dirty="0">
                <a:latin typeface="Arial"/>
                <a:cs typeface="Arial"/>
              </a:rPr>
              <a:t>ingreso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35" dirty="0">
                <a:latin typeface="Arial"/>
                <a:cs typeface="Arial"/>
              </a:rPr>
              <a:t>control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35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stocks;</a:t>
            </a:r>
            <a:endParaRPr sz="2600">
              <a:latin typeface="Arial"/>
              <a:cs typeface="Arial"/>
            </a:endParaRPr>
          </a:p>
          <a:p>
            <a:pPr marL="722630" marR="5080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i="1" spc="-100" dirty="0">
                <a:latin typeface="Arial"/>
                <a:cs typeface="Arial"/>
              </a:rPr>
              <a:t>Artículos </a:t>
            </a:r>
            <a:r>
              <a:rPr sz="2600" i="1" spc="-85" dirty="0">
                <a:latin typeface="Arial"/>
                <a:cs typeface="Arial"/>
              </a:rPr>
              <a:t>para </a:t>
            </a:r>
            <a:r>
              <a:rPr sz="2600" i="1" spc="-75" dirty="0">
                <a:latin typeface="Arial"/>
                <a:cs typeface="Arial"/>
              </a:rPr>
              <a:t>otros </a:t>
            </a:r>
            <a:r>
              <a:rPr sz="2600" i="1" spc="-135" dirty="0">
                <a:latin typeface="Arial"/>
                <a:cs typeface="Arial"/>
              </a:rPr>
              <a:t>sectores</a:t>
            </a:r>
            <a:r>
              <a:rPr sz="2600" spc="-135" dirty="0">
                <a:latin typeface="Arial"/>
                <a:cs typeface="Arial"/>
              </a:rPr>
              <a:t>: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95" dirty="0">
                <a:latin typeface="Arial"/>
                <a:cs typeface="Arial"/>
              </a:rPr>
              <a:t>entrega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14" dirty="0">
                <a:latin typeface="Arial"/>
                <a:cs typeface="Arial"/>
              </a:rPr>
              <a:t>envío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229" dirty="0">
                <a:latin typeface="Arial"/>
                <a:cs typeface="Arial"/>
              </a:rPr>
              <a:t>se  </a:t>
            </a:r>
            <a:r>
              <a:rPr sz="2600" spc="-200" dirty="0">
                <a:latin typeface="Arial"/>
                <a:cs typeface="Arial"/>
              </a:rPr>
              <a:t>pasa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25" dirty="0">
                <a:latin typeface="Arial"/>
                <a:cs typeface="Arial"/>
              </a:rPr>
              <a:t>Registro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Mercadería </a:t>
            </a:r>
            <a:r>
              <a:rPr sz="2600" spc="-140" dirty="0">
                <a:latin typeface="Arial"/>
                <a:cs typeface="Arial"/>
              </a:rPr>
              <a:t>Ingresada </a:t>
            </a:r>
            <a:r>
              <a:rPr sz="2600" spc="-45" dirty="0">
                <a:latin typeface="Arial"/>
                <a:cs typeface="Arial"/>
              </a:rPr>
              <a:t>(firma </a:t>
            </a:r>
            <a:r>
              <a:rPr sz="2600" spc="-80" dirty="0">
                <a:latin typeface="Arial"/>
                <a:cs typeface="Arial"/>
              </a:rPr>
              <a:t>del  </a:t>
            </a:r>
            <a:r>
              <a:rPr sz="2600" spc="-125" dirty="0">
                <a:latin typeface="Arial"/>
                <a:cs typeface="Arial"/>
              </a:rPr>
              <a:t>responsable </a:t>
            </a:r>
            <a:r>
              <a:rPr sz="2600" spc="-80" dirty="0">
                <a:latin typeface="Arial"/>
                <a:cs typeface="Arial"/>
              </a:rPr>
              <a:t>del </a:t>
            </a:r>
            <a:r>
              <a:rPr sz="2600" spc="-95" dirty="0">
                <a:latin typeface="Arial"/>
                <a:cs typeface="Arial"/>
              </a:rPr>
              <a:t>sector</a:t>
            </a:r>
            <a:r>
              <a:rPr sz="2600" spc="-204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receptor);</a:t>
            </a:r>
            <a:endParaRPr sz="26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spc="-204" dirty="0">
                <a:latin typeface="Arial"/>
                <a:cs typeface="Arial"/>
              </a:rPr>
              <a:t>Envía </a:t>
            </a:r>
            <a:r>
              <a:rPr sz="2600" spc="-110" dirty="0">
                <a:latin typeface="Arial"/>
                <a:cs typeface="Arial"/>
              </a:rPr>
              <a:t>copia </a:t>
            </a:r>
            <a:r>
              <a:rPr sz="2600" spc="-80" dirty="0">
                <a:latin typeface="Arial"/>
                <a:cs typeface="Arial"/>
              </a:rPr>
              <a:t>del </a:t>
            </a:r>
            <a:r>
              <a:rPr sz="2600" spc="-105" dirty="0">
                <a:latin typeface="Arial"/>
                <a:cs typeface="Arial"/>
              </a:rPr>
              <a:t>Remito </a:t>
            </a:r>
            <a:r>
              <a:rPr sz="2600" spc="-80" dirty="0">
                <a:latin typeface="Arial"/>
                <a:cs typeface="Arial"/>
              </a:rPr>
              <a:t>del proveedor 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contaduría.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4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5567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9241" y="999490"/>
            <a:ext cx="82213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725">
              <a:lnSpc>
                <a:spcPct val="100000"/>
              </a:lnSpc>
              <a:spcBef>
                <a:spcPts val="100"/>
              </a:spcBef>
            </a:pPr>
            <a:r>
              <a:rPr sz="3000" spc="-145" dirty="0">
                <a:latin typeface="Arial"/>
                <a:cs typeface="Arial"/>
              </a:rPr>
              <a:t>Registración </a:t>
            </a:r>
            <a:r>
              <a:rPr sz="3000" spc="-90" dirty="0">
                <a:latin typeface="Arial"/>
                <a:cs typeface="Arial"/>
              </a:rPr>
              <a:t>contable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operación </a:t>
            </a:r>
            <a:r>
              <a:rPr sz="3000" spc="-135" dirty="0">
                <a:latin typeface="Arial"/>
                <a:cs typeface="Arial"/>
              </a:rPr>
              <a:t>para </a:t>
            </a:r>
            <a:r>
              <a:rPr sz="3000" spc="-105" dirty="0">
                <a:latin typeface="Arial"/>
                <a:cs typeface="Arial"/>
              </a:rPr>
              <a:t>realizar 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05" dirty="0">
                <a:latin typeface="Arial"/>
                <a:cs typeface="Arial"/>
              </a:rPr>
              <a:t>seguimiento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spc="-355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compra: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115" y="432968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348" y="4200144"/>
            <a:ext cx="35198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6530" algn="l"/>
                <a:tab pos="2030730" algn="l"/>
                <a:tab pos="3235960" algn="l"/>
              </a:tabLst>
            </a:pPr>
            <a:r>
              <a:rPr sz="3000" spc="-204" dirty="0">
                <a:latin typeface="Arial"/>
                <a:cs typeface="Arial"/>
              </a:rPr>
              <a:t>Cuand</a:t>
            </a:r>
            <a:r>
              <a:rPr sz="3000" spc="-185" dirty="0">
                <a:latin typeface="Arial"/>
                <a:cs typeface="Arial"/>
              </a:rPr>
              <a:t>o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245" dirty="0">
                <a:latin typeface="Arial"/>
                <a:cs typeface="Arial"/>
              </a:rPr>
              <a:t>s</a:t>
            </a:r>
            <a:r>
              <a:rPr sz="3000" spc="-265" dirty="0">
                <a:latin typeface="Arial"/>
                <a:cs typeface="Arial"/>
              </a:rPr>
              <a:t>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20" dirty="0">
                <a:latin typeface="Arial"/>
                <a:cs typeface="Arial"/>
              </a:rPr>
              <a:t>re</a:t>
            </a:r>
            <a:r>
              <a:rPr sz="3000" spc="-145" dirty="0">
                <a:latin typeface="Arial"/>
                <a:cs typeface="Arial"/>
              </a:rPr>
              <a:t>c</a:t>
            </a:r>
            <a:r>
              <a:rPr sz="3000" spc="-85" dirty="0">
                <a:latin typeface="Arial"/>
                <a:cs typeface="Arial"/>
              </a:rPr>
              <a:t>ibe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5" dirty="0">
                <a:latin typeface="Arial"/>
                <a:cs typeface="Arial"/>
              </a:rPr>
              <a:t>la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4365497" y="4200144"/>
            <a:ext cx="18503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0170" algn="l"/>
              </a:tabLst>
            </a:pPr>
            <a:r>
              <a:rPr sz="3000" spc="-65" dirty="0">
                <a:latin typeface="Arial"/>
                <a:cs typeface="Arial"/>
              </a:rPr>
              <a:t>fac</a:t>
            </a:r>
            <a:r>
              <a:rPr sz="3000" spc="-55" dirty="0">
                <a:latin typeface="Arial"/>
                <a:cs typeface="Arial"/>
              </a:rPr>
              <a:t>t</a:t>
            </a:r>
            <a:r>
              <a:rPr sz="3000" spc="-95" dirty="0">
                <a:latin typeface="Arial"/>
                <a:cs typeface="Arial"/>
              </a:rPr>
              <a:t>ur</a:t>
            </a:r>
            <a:r>
              <a:rPr sz="3000" spc="-110" dirty="0">
                <a:latin typeface="Arial"/>
                <a:cs typeface="Arial"/>
              </a:rPr>
              <a:t>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90" dirty="0">
                <a:latin typeface="Arial"/>
                <a:cs typeface="Arial"/>
              </a:rPr>
              <a:t>del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5852" y="4200144"/>
            <a:ext cx="2324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2945" algn="l"/>
              </a:tabLst>
            </a:pPr>
            <a:r>
              <a:rPr sz="3000" spc="-110" dirty="0">
                <a:latin typeface="Arial"/>
                <a:cs typeface="Arial"/>
              </a:rPr>
              <a:t>prove</a:t>
            </a:r>
            <a:r>
              <a:rPr sz="3000" spc="-130" dirty="0">
                <a:latin typeface="Arial"/>
                <a:cs typeface="Arial"/>
              </a:rPr>
              <a:t>e</a:t>
            </a:r>
            <a:r>
              <a:rPr sz="3000" spc="-70" dirty="0">
                <a:latin typeface="Arial"/>
                <a:cs typeface="Arial"/>
              </a:rPr>
              <a:t>dor</a:t>
            </a:r>
            <a:r>
              <a:rPr sz="3000" spc="-35" dirty="0">
                <a:latin typeface="Arial"/>
                <a:cs typeface="Arial"/>
              </a:rPr>
              <a:t>,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260" dirty="0">
                <a:latin typeface="Arial"/>
                <a:cs typeface="Arial"/>
              </a:rPr>
              <a:t>se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241" y="4657344"/>
            <a:ext cx="8220709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latin typeface="Arial"/>
                <a:cs typeface="Arial"/>
              </a:rPr>
              <a:t>cancela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cuenta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90" dirty="0">
                <a:latin typeface="Arial"/>
                <a:cs typeface="Arial"/>
              </a:rPr>
              <a:t>provisión,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60" dirty="0">
                <a:latin typeface="Arial"/>
                <a:cs typeface="Arial"/>
              </a:rPr>
              <a:t>debitar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cuenta  </a:t>
            </a:r>
            <a:r>
              <a:rPr sz="3000" spc="-140" dirty="0">
                <a:latin typeface="Arial"/>
                <a:cs typeface="Arial"/>
              </a:rPr>
              <a:t>de</a:t>
            </a:r>
            <a:r>
              <a:rPr sz="3000" spc="550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IVA  </a:t>
            </a:r>
            <a:r>
              <a:rPr sz="3000" spc="-95" dirty="0">
                <a:latin typeface="Arial"/>
                <a:cs typeface="Arial"/>
              </a:rPr>
              <a:t>correspondiente </a:t>
            </a:r>
            <a:r>
              <a:rPr sz="3000" spc="-75" dirty="0">
                <a:latin typeface="Arial"/>
                <a:cs typeface="Arial"/>
              </a:rPr>
              <a:t>contra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120" dirty="0">
                <a:latin typeface="Arial"/>
                <a:cs typeface="Arial"/>
              </a:rPr>
              <a:t>cuenta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120" dirty="0">
                <a:latin typeface="Arial"/>
                <a:cs typeface="Arial"/>
              </a:rPr>
              <a:t>proveedores, </a:t>
            </a:r>
            <a:r>
              <a:rPr sz="3000" spc="-45" dirty="0">
                <a:latin typeface="Arial"/>
                <a:cs typeface="Arial"/>
              </a:rPr>
              <a:t>por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35" dirty="0">
                <a:latin typeface="Arial"/>
                <a:cs typeface="Arial"/>
              </a:rPr>
              <a:t>importe </a:t>
            </a:r>
            <a:r>
              <a:rPr sz="3000" spc="5" dirty="0">
                <a:latin typeface="Arial"/>
                <a:cs typeface="Arial"/>
              </a:rPr>
              <a:t>total</a:t>
            </a:r>
            <a:r>
              <a:rPr sz="3000" spc="-620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75" dirty="0">
                <a:latin typeface="Arial"/>
                <a:cs typeface="Arial"/>
              </a:rPr>
              <a:t>factura.</a:t>
            </a:r>
            <a:endParaRPr sz="30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54225" y="2507488"/>
          <a:ext cx="5760720" cy="1184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Materias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primas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Materiales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Provisión para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Compras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 gridSpan="2">
                  <a:txBody>
                    <a:bodyPr/>
                    <a:lstStyle/>
                    <a:p>
                      <a:pPr marL="91440">
                        <a:lnSpc>
                          <a:spcPts val="1595"/>
                        </a:lnSpc>
                        <a:spcBef>
                          <a:spcPts val="204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Por el importe consignado en la OC, excluido el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IVA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5670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III: </a:t>
            </a:r>
            <a:r>
              <a:rPr sz="1800" b="0" spc="-110" dirty="0">
                <a:latin typeface="Arial"/>
                <a:cs typeface="Arial"/>
              </a:rPr>
              <a:t>Recepción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Almacenamiento</a:t>
            </a:r>
            <a:r>
              <a:rPr sz="1800" b="0" spc="-17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8400" y="1219200"/>
            <a:ext cx="4407408" cy="509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5423535" cy="619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IV: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compra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Registración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5"/>
              </a:spcBef>
            </a:pPr>
            <a:r>
              <a:rPr sz="3000" spc="-125" dirty="0">
                <a:latin typeface="Arial"/>
                <a:cs typeface="Arial"/>
              </a:rPr>
              <a:t>Contaduría:</a:t>
            </a:r>
            <a:endParaRPr sz="3000">
              <a:latin typeface="Arial"/>
              <a:cs typeface="Arial"/>
            </a:endParaRPr>
          </a:p>
          <a:p>
            <a:pPr marL="722630" marR="114935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spc="-190" dirty="0">
                <a:latin typeface="Arial"/>
                <a:cs typeface="Arial"/>
              </a:rPr>
              <a:t>Reúne </a:t>
            </a:r>
            <a:r>
              <a:rPr sz="2600" spc="-95" dirty="0">
                <a:latin typeface="Arial"/>
                <a:cs typeface="Arial"/>
              </a:rPr>
              <a:t>la documentación  </a:t>
            </a:r>
            <a:r>
              <a:rPr sz="2600" spc="-80" dirty="0">
                <a:latin typeface="Arial"/>
                <a:cs typeface="Arial"/>
              </a:rPr>
              <a:t>correspondiente </a:t>
            </a:r>
            <a:r>
              <a:rPr sz="2600" spc="-95" dirty="0">
                <a:latin typeface="Arial"/>
                <a:cs typeface="Arial"/>
              </a:rPr>
              <a:t>al</a:t>
            </a:r>
            <a:r>
              <a:rPr sz="2600" spc="-26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procedimiento 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compras:</a:t>
            </a:r>
            <a:endParaRPr sz="26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1180465" algn="l"/>
              </a:tabLst>
            </a:pPr>
            <a:r>
              <a:rPr sz="2200" spc="-100" dirty="0">
                <a:latin typeface="Arial"/>
                <a:cs typeface="Arial"/>
              </a:rPr>
              <a:t>Orden de </a:t>
            </a:r>
            <a:r>
              <a:rPr sz="2200" spc="-130" dirty="0">
                <a:latin typeface="Arial"/>
                <a:cs typeface="Arial"/>
              </a:rPr>
              <a:t>Compra</a:t>
            </a:r>
            <a:r>
              <a:rPr sz="2200" spc="-17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(duplicado)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00" dirty="0">
                <a:latin typeface="Arial"/>
                <a:cs typeface="Arial"/>
              </a:rPr>
              <a:t>Orden de </a:t>
            </a:r>
            <a:r>
              <a:rPr sz="2200" spc="-145" dirty="0">
                <a:latin typeface="Arial"/>
                <a:cs typeface="Arial"/>
              </a:rPr>
              <a:t>Compras </a:t>
            </a:r>
            <a:r>
              <a:rPr sz="2200" spc="-50" dirty="0">
                <a:latin typeface="Arial"/>
                <a:cs typeface="Arial"/>
              </a:rPr>
              <a:t>Interna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(original)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45" dirty="0">
                <a:latin typeface="Arial"/>
                <a:cs typeface="Arial"/>
              </a:rPr>
              <a:t>Informe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Recepción</a:t>
            </a:r>
            <a:r>
              <a:rPr sz="2200" spc="-24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(original)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ts val="263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90" dirty="0">
                <a:latin typeface="Arial"/>
                <a:cs typeface="Arial"/>
              </a:rPr>
              <a:t>Remito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90" dirty="0">
                <a:latin typeface="Arial"/>
                <a:cs typeface="Arial"/>
              </a:rPr>
              <a:t>Proveedor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(duplicado)</a:t>
            </a:r>
            <a:endParaRPr sz="2200">
              <a:latin typeface="Arial"/>
              <a:cs typeface="Arial"/>
            </a:endParaRPr>
          </a:p>
          <a:p>
            <a:pPr marL="722630" marR="381635" indent="-266700">
              <a:lnSpc>
                <a:spcPts val="3120"/>
              </a:lnSpc>
              <a:spcBef>
                <a:spcPts val="90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spc="-95" dirty="0">
                <a:latin typeface="Arial"/>
                <a:cs typeface="Arial"/>
              </a:rPr>
              <a:t>Controla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80" dirty="0">
                <a:latin typeface="Arial"/>
                <a:cs typeface="Arial"/>
              </a:rPr>
              <a:t>registra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0" dirty="0">
                <a:latin typeface="Arial"/>
                <a:cs typeface="Arial"/>
              </a:rPr>
              <a:t>factura</a:t>
            </a:r>
            <a:r>
              <a:rPr sz="2600" spc="-254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del  </a:t>
            </a:r>
            <a:r>
              <a:rPr sz="2600" spc="-75" dirty="0">
                <a:latin typeface="Arial"/>
                <a:cs typeface="Arial"/>
              </a:rPr>
              <a:t>proveedor;</a:t>
            </a:r>
            <a:endParaRPr sz="2600">
              <a:latin typeface="Arial"/>
              <a:cs typeface="Arial"/>
            </a:endParaRPr>
          </a:p>
          <a:p>
            <a:pPr marL="722630" marR="5080" indent="-266700">
              <a:lnSpc>
                <a:spcPts val="312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spc="-185" dirty="0">
                <a:latin typeface="Arial"/>
                <a:cs typeface="Arial"/>
              </a:rPr>
              <a:t>Luego </a:t>
            </a:r>
            <a:r>
              <a:rPr sz="2600" spc="-100" dirty="0">
                <a:latin typeface="Arial"/>
                <a:cs typeface="Arial"/>
              </a:rPr>
              <a:t>la </a:t>
            </a:r>
            <a:r>
              <a:rPr sz="2600" spc="-110" dirty="0">
                <a:latin typeface="Arial"/>
                <a:cs typeface="Arial"/>
              </a:rPr>
              <a:t>archiva </a:t>
            </a:r>
            <a:r>
              <a:rPr sz="2600" spc="-25" dirty="0">
                <a:latin typeface="Arial"/>
                <a:cs typeface="Arial"/>
              </a:rPr>
              <a:t>todo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Archivo 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70" dirty="0">
                <a:latin typeface="Arial"/>
                <a:cs typeface="Arial"/>
              </a:rPr>
              <a:t>Cuentas 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70" dirty="0">
                <a:latin typeface="Arial"/>
                <a:cs typeface="Arial"/>
              </a:rPr>
              <a:t>Pagar;</a:t>
            </a:r>
            <a:endParaRPr sz="2600">
              <a:latin typeface="Arial"/>
              <a:cs typeface="Arial"/>
            </a:endParaRPr>
          </a:p>
          <a:p>
            <a:pPr marL="722630" marR="204470" indent="-266700">
              <a:lnSpc>
                <a:spcPts val="312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spc="-175" dirty="0">
                <a:latin typeface="Arial"/>
                <a:cs typeface="Arial"/>
              </a:rPr>
              <a:t>Solo </a:t>
            </a:r>
            <a:r>
              <a:rPr sz="2600" spc="-60" dirty="0">
                <a:latin typeface="Arial"/>
                <a:cs typeface="Arial"/>
              </a:rPr>
              <a:t>admite </a:t>
            </a:r>
            <a:r>
              <a:rPr sz="2600" spc="-100" dirty="0">
                <a:latin typeface="Arial"/>
                <a:cs typeface="Arial"/>
              </a:rPr>
              <a:t>originales </a:t>
            </a:r>
            <a:r>
              <a:rPr sz="2600" spc="-75" dirty="0">
                <a:latin typeface="Arial"/>
                <a:cs typeface="Arial"/>
              </a:rPr>
              <a:t>(peligro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80" dirty="0">
                <a:latin typeface="Arial"/>
                <a:cs typeface="Arial"/>
              </a:rPr>
              <a:t>doble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proceso).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1297686"/>
            <a:ext cx="2743200" cy="22075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0" y="3810000"/>
            <a:ext cx="2743200" cy="2133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8552180" cy="616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Compras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Pagar</a:t>
            </a:r>
            <a:r>
              <a:rPr sz="200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IV: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compra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Registración</a:t>
            </a:r>
            <a:r>
              <a:rPr sz="18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5"/>
              </a:spcBef>
            </a:pPr>
            <a:r>
              <a:rPr sz="3000" spc="-190" dirty="0">
                <a:latin typeface="Arial"/>
                <a:cs typeface="Arial"/>
              </a:rPr>
              <a:t>Luego,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125" dirty="0">
                <a:latin typeface="Arial"/>
                <a:cs typeface="Arial"/>
              </a:rPr>
              <a:t>Contaduría:</a:t>
            </a:r>
            <a:endParaRPr sz="3000">
              <a:latin typeface="Arial"/>
              <a:cs typeface="Arial"/>
            </a:endParaRPr>
          </a:p>
          <a:p>
            <a:pPr marL="722630" marR="43180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723265" algn="l"/>
              </a:tabLst>
            </a:pPr>
            <a:r>
              <a:rPr sz="2600" spc="-65" dirty="0">
                <a:latin typeface="Arial"/>
                <a:cs typeface="Arial"/>
              </a:rPr>
              <a:t>Instrumenta </a:t>
            </a:r>
            <a:r>
              <a:rPr sz="2600" spc="-114" dirty="0">
                <a:latin typeface="Arial"/>
                <a:cs typeface="Arial"/>
              </a:rPr>
              <a:t>los siguientes </a:t>
            </a:r>
            <a:r>
              <a:rPr sz="2600" spc="-80" dirty="0">
                <a:latin typeface="Arial"/>
                <a:cs typeface="Arial"/>
              </a:rPr>
              <a:t>controles </a:t>
            </a:r>
            <a:r>
              <a:rPr sz="2600" spc="-114" dirty="0">
                <a:latin typeface="Arial"/>
                <a:cs typeface="Arial"/>
              </a:rPr>
              <a:t>sobre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95" dirty="0">
                <a:latin typeface="Arial"/>
                <a:cs typeface="Arial"/>
              </a:rPr>
              <a:t>facturas</a:t>
            </a:r>
            <a:r>
              <a:rPr sz="2600" spc="-29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del  </a:t>
            </a:r>
            <a:r>
              <a:rPr sz="2600" spc="-75" dirty="0">
                <a:latin typeface="Arial"/>
                <a:cs typeface="Arial"/>
              </a:rPr>
              <a:t>proveedor:</a:t>
            </a:r>
            <a:endParaRPr sz="2600">
              <a:latin typeface="Arial"/>
              <a:cs typeface="Arial"/>
            </a:endParaRPr>
          </a:p>
          <a:p>
            <a:pPr marL="1179830" marR="7620" lvl="1" indent="-266700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1180465" algn="l"/>
              </a:tabLst>
            </a:pPr>
            <a:r>
              <a:rPr sz="2200" spc="-125" dirty="0">
                <a:latin typeface="Arial"/>
                <a:cs typeface="Arial"/>
              </a:rPr>
              <a:t>Cantidades </a:t>
            </a:r>
            <a:r>
              <a:rPr sz="2200" spc="-100" dirty="0">
                <a:latin typeface="Arial"/>
                <a:cs typeface="Arial"/>
              </a:rPr>
              <a:t>concuerdan </a:t>
            </a:r>
            <a:r>
              <a:rPr sz="2200" spc="-105" dirty="0">
                <a:latin typeface="Arial"/>
                <a:cs typeface="Arial"/>
              </a:rPr>
              <a:t>con </a:t>
            </a:r>
            <a:r>
              <a:rPr sz="2200" spc="-95" dirty="0">
                <a:latin typeface="Arial"/>
                <a:cs typeface="Arial"/>
              </a:rPr>
              <a:t>solicitadas </a:t>
            </a:r>
            <a:r>
              <a:rPr sz="2200" spc="-204" dirty="0">
                <a:latin typeface="Arial"/>
                <a:cs typeface="Arial"/>
              </a:rPr>
              <a:t>(OC) </a:t>
            </a:r>
            <a:r>
              <a:rPr sz="2200" spc="-130" dirty="0">
                <a:latin typeface="Arial"/>
                <a:cs typeface="Arial"/>
              </a:rPr>
              <a:t>e </a:t>
            </a:r>
            <a:r>
              <a:rPr sz="2200" spc="-125" dirty="0">
                <a:latin typeface="Arial"/>
                <a:cs typeface="Arial"/>
              </a:rPr>
              <a:t>ingresadas </a:t>
            </a:r>
            <a:r>
              <a:rPr sz="2200" spc="-175" dirty="0">
                <a:latin typeface="Arial"/>
                <a:cs typeface="Arial"/>
              </a:rPr>
              <a:t>(IR </a:t>
            </a:r>
            <a:r>
              <a:rPr sz="2200" spc="-105" dirty="0">
                <a:latin typeface="Arial"/>
                <a:cs typeface="Arial"/>
              </a:rPr>
              <a:t>y  </a:t>
            </a:r>
            <a:r>
              <a:rPr sz="2200" spc="-25" dirty="0">
                <a:latin typeface="Arial"/>
                <a:cs typeface="Arial"/>
              </a:rPr>
              <a:t>remito);</a:t>
            </a:r>
            <a:endParaRPr sz="2200">
              <a:latin typeface="Arial"/>
              <a:cs typeface="Arial"/>
            </a:endParaRPr>
          </a:p>
          <a:p>
            <a:pPr marL="1179830" marR="508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30" dirty="0">
                <a:latin typeface="Arial"/>
                <a:cs typeface="Arial"/>
              </a:rPr>
              <a:t>Calidad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artículos </a:t>
            </a:r>
            <a:r>
              <a:rPr sz="2200" spc="-105" dirty="0">
                <a:latin typeface="Arial"/>
                <a:cs typeface="Arial"/>
              </a:rPr>
              <a:t>concuerda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70" dirty="0">
                <a:latin typeface="Arial"/>
                <a:cs typeface="Arial"/>
              </a:rPr>
              <a:t>solicitado </a:t>
            </a:r>
            <a:r>
              <a:rPr sz="2200" spc="-204" dirty="0">
                <a:latin typeface="Arial"/>
                <a:cs typeface="Arial"/>
              </a:rPr>
              <a:t>(OC) </a:t>
            </a:r>
            <a:r>
              <a:rPr sz="2200" spc="-100" dirty="0">
                <a:latin typeface="Arial"/>
                <a:cs typeface="Arial"/>
              </a:rPr>
              <a:t>con en </a:t>
            </a:r>
            <a:r>
              <a:rPr sz="2200" spc="-30" dirty="0">
                <a:latin typeface="Arial"/>
                <a:cs typeface="Arial"/>
              </a:rPr>
              <a:t>control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calidad</a:t>
            </a:r>
            <a:r>
              <a:rPr sz="2200" spc="-17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(IR);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95" dirty="0">
                <a:latin typeface="Arial"/>
                <a:cs typeface="Arial"/>
              </a:rPr>
              <a:t>los precios </a:t>
            </a:r>
            <a:r>
              <a:rPr sz="2200" spc="-50" dirty="0">
                <a:latin typeface="Arial"/>
                <a:cs typeface="Arial"/>
              </a:rPr>
              <a:t>unitarios </a:t>
            </a:r>
            <a:r>
              <a:rPr sz="2200" spc="-90" dirty="0">
                <a:latin typeface="Arial"/>
                <a:cs typeface="Arial"/>
              </a:rPr>
              <a:t>coincidan </a:t>
            </a:r>
            <a:r>
              <a:rPr sz="2200" spc="-100" dirty="0">
                <a:latin typeface="Arial"/>
                <a:cs typeface="Arial"/>
              </a:rPr>
              <a:t>con </a:t>
            </a:r>
            <a:r>
              <a:rPr sz="2200" spc="-85" dirty="0">
                <a:latin typeface="Arial"/>
                <a:cs typeface="Arial"/>
              </a:rPr>
              <a:t>solicitados</a:t>
            </a:r>
            <a:r>
              <a:rPr sz="2200" spc="-250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(OC);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10" dirty="0">
                <a:latin typeface="Arial"/>
                <a:cs typeface="Arial"/>
              </a:rPr>
              <a:t>cálculos </a:t>
            </a:r>
            <a:r>
              <a:rPr sz="2200" spc="-70" dirty="0">
                <a:latin typeface="Arial"/>
                <a:cs typeface="Arial"/>
              </a:rPr>
              <a:t>(multiplicaciones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45" dirty="0">
                <a:latin typeface="Arial"/>
                <a:cs typeface="Arial"/>
              </a:rPr>
              <a:t>sumas) </a:t>
            </a:r>
            <a:r>
              <a:rPr sz="2200" spc="-90" dirty="0">
                <a:latin typeface="Arial"/>
                <a:cs typeface="Arial"/>
              </a:rPr>
              <a:t>estén </a:t>
            </a:r>
            <a:r>
              <a:rPr sz="2200" spc="-65" dirty="0">
                <a:latin typeface="Arial"/>
                <a:cs typeface="Arial"/>
              </a:rPr>
              <a:t>bien</a:t>
            </a:r>
            <a:r>
              <a:rPr sz="2200" spc="-23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hechos;</a:t>
            </a:r>
            <a:endParaRPr sz="2200">
              <a:latin typeface="Arial"/>
              <a:cs typeface="Arial"/>
            </a:endParaRPr>
          </a:p>
          <a:p>
            <a:pPr marL="1179830" marR="6985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60" dirty="0">
                <a:latin typeface="Arial"/>
                <a:cs typeface="Arial"/>
              </a:rPr>
              <a:t>IVA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45" dirty="0">
                <a:latin typeface="Arial"/>
                <a:cs typeface="Arial"/>
              </a:rPr>
              <a:t>otros </a:t>
            </a:r>
            <a:r>
              <a:rPr sz="2200" spc="-85" dirty="0">
                <a:latin typeface="Arial"/>
                <a:cs typeface="Arial"/>
              </a:rPr>
              <a:t>impuestos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70" dirty="0">
                <a:latin typeface="Arial"/>
                <a:cs typeface="Arial"/>
              </a:rPr>
              <a:t>encuentren bien </a:t>
            </a:r>
            <a:r>
              <a:rPr sz="2200" spc="-110" dirty="0">
                <a:latin typeface="Arial"/>
                <a:cs typeface="Arial"/>
              </a:rPr>
              <a:t>aplicados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95" dirty="0">
                <a:latin typeface="Arial"/>
                <a:cs typeface="Arial"/>
              </a:rPr>
              <a:t>acuerdo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229" dirty="0">
                <a:latin typeface="Arial"/>
                <a:cs typeface="Arial"/>
              </a:rPr>
              <a:t>OC;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5" dirty="0">
                <a:latin typeface="Arial"/>
                <a:cs typeface="Arial"/>
              </a:rPr>
              <a:t>condiciones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5" dirty="0">
                <a:latin typeface="Arial"/>
                <a:cs typeface="Arial"/>
              </a:rPr>
              <a:t>pago </a:t>
            </a:r>
            <a:r>
              <a:rPr sz="2200" spc="-95" dirty="0">
                <a:latin typeface="Arial"/>
                <a:cs typeface="Arial"/>
              </a:rPr>
              <a:t>concuerden </a:t>
            </a:r>
            <a:r>
              <a:rPr sz="2200" spc="-100" dirty="0">
                <a:latin typeface="Arial"/>
                <a:cs typeface="Arial"/>
              </a:rPr>
              <a:t>con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204" dirty="0">
                <a:latin typeface="Arial"/>
                <a:cs typeface="Arial"/>
              </a:rPr>
              <a:t> </a:t>
            </a:r>
            <a:r>
              <a:rPr sz="2200" spc="-229" dirty="0">
                <a:latin typeface="Arial"/>
                <a:cs typeface="Arial"/>
              </a:rPr>
              <a:t>OC;</a:t>
            </a:r>
            <a:endParaRPr sz="2200">
              <a:latin typeface="Arial"/>
              <a:cs typeface="Arial"/>
            </a:endParaRPr>
          </a:p>
          <a:p>
            <a:pPr marL="1179830" lvl="1" indent="-266700">
              <a:lnSpc>
                <a:spcPct val="100000"/>
              </a:lnSpc>
              <a:buFont typeface="Wingdings"/>
              <a:buChar char=""/>
              <a:tabLst>
                <a:tab pos="1180465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80" dirty="0">
                <a:latin typeface="Arial"/>
                <a:cs typeface="Arial"/>
              </a:rPr>
              <a:t>facturas </a:t>
            </a:r>
            <a:r>
              <a:rPr sz="2200" spc="-85" dirty="0">
                <a:latin typeface="Arial"/>
                <a:cs typeface="Arial"/>
              </a:rPr>
              <a:t>cumplan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65" dirty="0">
                <a:latin typeface="Arial"/>
                <a:cs typeface="Arial"/>
              </a:rPr>
              <a:t>requisitos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310" dirty="0">
                <a:latin typeface="Arial"/>
                <a:cs typeface="Arial"/>
              </a:rPr>
              <a:t> </a:t>
            </a:r>
            <a:r>
              <a:rPr sz="2200" spc="-190" dirty="0">
                <a:latin typeface="Arial"/>
                <a:cs typeface="Arial"/>
              </a:rPr>
              <a:t>AFIP;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2250">
              <a:latin typeface="Times New Roman"/>
              <a:cs typeface="Times New Roman"/>
            </a:endParaRPr>
          </a:p>
          <a:p>
            <a:pPr marL="722630" indent="-266700">
              <a:lnSpc>
                <a:spcPct val="100000"/>
              </a:lnSpc>
              <a:buFont typeface="Wingdings"/>
              <a:buChar char=""/>
              <a:tabLst>
                <a:tab pos="723265" algn="l"/>
              </a:tabLst>
            </a:pPr>
            <a:r>
              <a:rPr sz="2600" spc="-350" dirty="0">
                <a:latin typeface="Arial"/>
                <a:cs typeface="Arial"/>
              </a:rPr>
              <a:t>Se </a:t>
            </a:r>
            <a:r>
              <a:rPr sz="2600" spc="-80" dirty="0">
                <a:latin typeface="Arial"/>
                <a:cs typeface="Arial"/>
              </a:rPr>
              <a:t>registra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25" dirty="0">
                <a:latin typeface="Arial"/>
                <a:cs typeface="Arial"/>
              </a:rPr>
              <a:t>deuda </a:t>
            </a:r>
            <a:r>
              <a:rPr sz="2600" spc="-114" dirty="0">
                <a:latin typeface="Arial"/>
                <a:cs typeface="Arial"/>
              </a:rPr>
              <a:t>para </a:t>
            </a:r>
            <a:r>
              <a:rPr sz="2600" spc="-90" dirty="0">
                <a:latin typeface="Arial"/>
                <a:cs typeface="Arial"/>
              </a:rPr>
              <a:t>proceder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150" dirty="0">
                <a:latin typeface="Arial"/>
                <a:cs typeface="Arial"/>
              </a:rPr>
              <a:t>pago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44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factura;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1041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0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85" dirty="0">
                <a:latin typeface="Arial"/>
                <a:cs typeface="Arial"/>
              </a:rPr>
              <a:t>IV: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0" dirty="0">
                <a:latin typeface="Arial"/>
                <a:cs typeface="Arial"/>
              </a:rPr>
              <a:t>compra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Registración</a:t>
            </a:r>
            <a:r>
              <a:rPr sz="1800" b="0" spc="-24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0927" y="1066800"/>
            <a:ext cx="4596772" cy="5372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184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Compras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00" dirty="0"/>
              <a:t>Pagar</a:t>
            </a:r>
            <a:r>
              <a:rPr spc="-40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45" dirty="0">
                <a:latin typeface="Arial"/>
                <a:cs typeface="Arial"/>
              </a:rPr>
              <a:t>Introducción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Tecnología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50" dirty="0">
                <a:latin typeface="Arial"/>
                <a:cs typeface="Arial"/>
              </a:rPr>
              <a:t>el </a:t>
            </a:r>
            <a:r>
              <a:rPr sz="1800" b="0" spc="-90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10" dirty="0">
                <a:latin typeface="Arial"/>
                <a:cs typeface="Arial"/>
              </a:rPr>
              <a:t> </a:t>
            </a:r>
            <a:r>
              <a:rPr sz="1800" b="0" spc="-120" dirty="0">
                <a:latin typeface="Arial"/>
                <a:cs typeface="Arial"/>
              </a:rPr>
              <a:t>Compras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15900" y="1084325"/>
            <a:ext cx="8637270" cy="517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000" b="1" spc="-30" dirty="0">
                <a:latin typeface="Trebuchet MS"/>
                <a:cs typeface="Trebuchet MS"/>
              </a:rPr>
              <a:t>Módulo </a:t>
            </a:r>
            <a:r>
              <a:rPr sz="2000" b="1" spc="-175" dirty="0">
                <a:latin typeface="Trebuchet MS"/>
                <a:cs typeface="Trebuchet MS"/>
              </a:rPr>
              <a:t>1: </a:t>
            </a:r>
            <a:r>
              <a:rPr sz="2000" b="1" spc="-125" dirty="0">
                <a:latin typeface="Trebuchet MS"/>
                <a:cs typeface="Trebuchet MS"/>
              </a:rPr>
              <a:t>Detección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4" dirty="0">
                <a:latin typeface="Trebuchet MS"/>
                <a:cs typeface="Trebuchet MS"/>
              </a:rPr>
              <a:t>necesidades </a:t>
            </a:r>
            <a:r>
              <a:rPr sz="2000" b="1" spc="-120" dirty="0">
                <a:latin typeface="Trebuchet MS"/>
                <a:cs typeface="Trebuchet MS"/>
              </a:rPr>
              <a:t>de</a:t>
            </a:r>
            <a:r>
              <a:rPr sz="2000" b="1" spc="-295" dirty="0">
                <a:latin typeface="Trebuchet MS"/>
                <a:cs typeface="Trebuchet MS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compra</a:t>
            </a:r>
            <a:endParaRPr sz="2000">
              <a:latin typeface="Trebuchet MS"/>
              <a:cs typeface="Trebuchet MS"/>
            </a:endParaRPr>
          </a:p>
          <a:p>
            <a:pPr marL="532765" lvl="1" indent="-342900">
              <a:lnSpc>
                <a:spcPct val="100000"/>
              </a:lnSpc>
              <a:spcBef>
                <a:spcPts val="15"/>
              </a:spcBef>
              <a:buChar char="•"/>
              <a:tabLst>
                <a:tab pos="532765" algn="l"/>
                <a:tab pos="533400" algn="l"/>
              </a:tabLst>
            </a:pPr>
            <a:r>
              <a:rPr sz="1800" spc="-110" dirty="0">
                <a:latin typeface="Arial"/>
                <a:cs typeface="Arial"/>
              </a:rPr>
              <a:t>Canalizar </a:t>
            </a:r>
            <a:r>
              <a:rPr sz="1800" spc="-80" dirty="0">
                <a:latin typeface="Arial"/>
                <a:cs typeface="Arial"/>
              </a:rPr>
              <a:t>los pedidos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computadora;</a:t>
            </a:r>
            <a:endParaRPr sz="1800">
              <a:latin typeface="Arial"/>
              <a:cs typeface="Arial"/>
            </a:endParaRPr>
          </a:p>
          <a:p>
            <a:pPr marL="532765" marR="6350" lvl="1" indent="-342900">
              <a:lnSpc>
                <a:spcPct val="100000"/>
              </a:lnSpc>
              <a:buChar char="•"/>
              <a:tabLst>
                <a:tab pos="532765" algn="l"/>
                <a:tab pos="533400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puede reusar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45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para los </a:t>
            </a:r>
            <a:r>
              <a:rPr sz="1800" spc="-105" dirty="0">
                <a:latin typeface="Arial"/>
                <a:cs typeface="Arial"/>
              </a:rPr>
              <a:t>Pedidos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90" dirty="0">
                <a:latin typeface="Arial"/>
                <a:cs typeface="Arial"/>
              </a:rPr>
              <a:t>Cotización </a:t>
            </a:r>
            <a:r>
              <a:rPr sz="1800" spc="-55" dirty="0">
                <a:latin typeface="Arial"/>
                <a:cs typeface="Arial"/>
              </a:rPr>
              <a:t>o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Órdenes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95" dirty="0">
                <a:latin typeface="Arial"/>
                <a:cs typeface="Arial"/>
              </a:rPr>
              <a:t>Compra;</a:t>
            </a:r>
            <a:endParaRPr sz="1800">
              <a:latin typeface="Arial"/>
              <a:cs typeface="Arial"/>
            </a:endParaRPr>
          </a:p>
          <a:p>
            <a:pPr marL="532765" lvl="1" indent="-342900">
              <a:lnSpc>
                <a:spcPct val="100000"/>
              </a:lnSpc>
              <a:buChar char="•"/>
              <a:tabLst>
                <a:tab pos="532765" algn="l"/>
                <a:tab pos="533400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45" dirty="0">
                <a:latin typeface="Arial"/>
                <a:cs typeface="Arial"/>
              </a:rPr>
              <a:t>información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artículos </a:t>
            </a: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75" dirty="0">
                <a:latin typeface="Arial"/>
                <a:cs typeface="Arial"/>
              </a:rPr>
              <a:t>validarse </a:t>
            </a:r>
            <a:r>
              <a:rPr sz="1800" spc="-85" dirty="0">
                <a:latin typeface="Arial"/>
                <a:cs typeface="Arial"/>
              </a:rPr>
              <a:t>con </a:t>
            </a:r>
            <a:r>
              <a:rPr sz="1800" spc="-80" dirty="0">
                <a:latin typeface="Arial"/>
                <a:cs typeface="Arial"/>
              </a:rPr>
              <a:t>los archivos maestros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compras.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b="1" spc="-30" dirty="0">
                <a:latin typeface="Trebuchet MS"/>
                <a:cs typeface="Trebuchet MS"/>
              </a:rPr>
              <a:t>Módulo </a:t>
            </a:r>
            <a:r>
              <a:rPr sz="2000" b="1" spc="-175" dirty="0">
                <a:latin typeface="Trebuchet MS"/>
                <a:cs typeface="Trebuchet MS"/>
              </a:rPr>
              <a:t>2: </a:t>
            </a:r>
            <a:r>
              <a:rPr sz="2000" b="1" spc="-125" dirty="0">
                <a:latin typeface="Trebuchet MS"/>
                <a:cs typeface="Trebuchet MS"/>
              </a:rPr>
              <a:t>Selección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0" dirty="0">
                <a:latin typeface="Trebuchet MS"/>
                <a:cs typeface="Trebuchet MS"/>
              </a:rPr>
              <a:t>proveedor </a:t>
            </a:r>
            <a:r>
              <a:rPr sz="2000" b="1" spc="-125" dirty="0">
                <a:latin typeface="Trebuchet MS"/>
                <a:cs typeface="Trebuchet MS"/>
              </a:rPr>
              <a:t>y </a:t>
            </a:r>
            <a:r>
              <a:rPr sz="2000" b="1" spc="-120" dirty="0">
                <a:latin typeface="Trebuchet MS"/>
                <a:cs typeface="Trebuchet MS"/>
              </a:rPr>
              <a:t>adjudicación de </a:t>
            </a:r>
            <a:r>
              <a:rPr sz="2000" b="1" spc="-90" dirty="0">
                <a:latin typeface="Trebuchet MS"/>
                <a:cs typeface="Trebuchet MS"/>
              </a:rPr>
              <a:t>la</a:t>
            </a:r>
            <a:r>
              <a:rPr sz="2000" b="1" spc="-405" dirty="0">
                <a:latin typeface="Trebuchet MS"/>
                <a:cs typeface="Trebuchet MS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compra</a:t>
            </a:r>
            <a:endParaRPr sz="2000">
              <a:latin typeface="Trebuchet MS"/>
              <a:cs typeface="Trebuchet MS"/>
            </a:endParaRPr>
          </a:p>
          <a:p>
            <a:pPr marL="532765" lvl="1" indent="-342900">
              <a:lnSpc>
                <a:spcPct val="100000"/>
              </a:lnSpc>
              <a:spcBef>
                <a:spcPts val="15"/>
              </a:spcBef>
              <a:buChar char="•"/>
              <a:tabLst>
                <a:tab pos="532765" algn="l"/>
                <a:tab pos="533400" algn="l"/>
              </a:tabLst>
            </a:pPr>
            <a:r>
              <a:rPr sz="1800" spc="-110" dirty="0">
                <a:latin typeface="Arial"/>
                <a:cs typeface="Arial"/>
              </a:rPr>
              <a:t>Selección </a:t>
            </a:r>
            <a:r>
              <a:rPr sz="1800" spc="-80" dirty="0">
                <a:latin typeface="Arial"/>
                <a:cs typeface="Arial"/>
              </a:rPr>
              <a:t>de los </a:t>
            </a:r>
            <a:r>
              <a:rPr sz="1800" spc="-75" dirty="0">
                <a:latin typeface="Arial"/>
                <a:cs typeface="Arial"/>
              </a:rPr>
              <a:t>proveedores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partir </a:t>
            </a:r>
            <a:r>
              <a:rPr sz="1800" spc="-80" dirty="0">
                <a:latin typeface="Arial"/>
                <a:cs typeface="Arial"/>
              </a:rPr>
              <a:t>de archivos maestros de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proveedores;</a:t>
            </a:r>
            <a:endParaRPr sz="1800">
              <a:latin typeface="Arial"/>
              <a:cs typeface="Arial"/>
            </a:endParaRPr>
          </a:p>
          <a:p>
            <a:pPr marL="532765" marR="5080" lvl="1" indent="-342900">
              <a:lnSpc>
                <a:spcPct val="100000"/>
              </a:lnSpc>
              <a:buChar char="•"/>
              <a:tabLst>
                <a:tab pos="532765" algn="l"/>
                <a:tab pos="533400" algn="l"/>
              </a:tabLst>
            </a:pPr>
            <a:r>
              <a:rPr sz="1800" spc="-75" dirty="0">
                <a:latin typeface="Arial"/>
                <a:cs typeface="Arial"/>
              </a:rPr>
              <a:t>Aprovechar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45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65" dirty="0">
                <a:latin typeface="Arial"/>
                <a:cs typeface="Arial"/>
              </a:rPr>
              <a:t>solicitudes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compra </a:t>
            </a:r>
            <a:r>
              <a:rPr sz="1800" spc="-80" dirty="0">
                <a:latin typeface="Arial"/>
                <a:cs typeface="Arial"/>
              </a:rPr>
              <a:t>para </a:t>
            </a:r>
            <a:r>
              <a:rPr sz="1800" spc="-70" dirty="0">
                <a:latin typeface="Arial"/>
                <a:cs typeface="Arial"/>
              </a:rPr>
              <a:t>crear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Pedidos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90" dirty="0">
                <a:latin typeface="Arial"/>
                <a:cs typeface="Arial"/>
              </a:rPr>
              <a:t>Cotización y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Órdenes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Compra.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b="1" spc="-30" dirty="0">
                <a:latin typeface="Trebuchet MS"/>
                <a:cs typeface="Trebuchet MS"/>
              </a:rPr>
              <a:t>Módulo </a:t>
            </a:r>
            <a:r>
              <a:rPr sz="2000" b="1" spc="-175" dirty="0">
                <a:latin typeface="Trebuchet MS"/>
                <a:cs typeface="Trebuchet MS"/>
              </a:rPr>
              <a:t>3: </a:t>
            </a:r>
            <a:r>
              <a:rPr sz="2000" b="1" spc="-135" dirty="0">
                <a:latin typeface="Trebuchet MS"/>
                <a:cs typeface="Trebuchet MS"/>
              </a:rPr>
              <a:t>Recepción, </a:t>
            </a:r>
            <a:r>
              <a:rPr sz="2000" b="1" spc="-114" dirty="0">
                <a:latin typeface="Trebuchet MS"/>
                <a:cs typeface="Trebuchet MS"/>
              </a:rPr>
              <a:t>control </a:t>
            </a:r>
            <a:r>
              <a:rPr sz="2000" b="1" spc="-125" dirty="0">
                <a:latin typeface="Trebuchet MS"/>
                <a:cs typeface="Trebuchet MS"/>
              </a:rPr>
              <a:t>y</a:t>
            </a:r>
            <a:r>
              <a:rPr sz="2000" b="1" spc="-285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almacenamiento</a:t>
            </a:r>
            <a:endParaRPr sz="2000">
              <a:latin typeface="Trebuchet MS"/>
              <a:cs typeface="Trebuchet MS"/>
            </a:endParaRPr>
          </a:p>
          <a:p>
            <a:pPr marL="532765" marR="5080" lvl="1" indent="-342900">
              <a:lnSpc>
                <a:spcPct val="100000"/>
              </a:lnSpc>
              <a:spcBef>
                <a:spcPts val="15"/>
              </a:spcBef>
              <a:buChar char="•"/>
              <a:tabLst>
                <a:tab pos="532765" algn="l"/>
                <a:tab pos="533400" algn="l"/>
              </a:tabLst>
            </a:pPr>
            <a:r>
              <a:rPr sz="1800" spc="-95" dirty="0">
                <a:latin typeface="Arial"/>
                <a:cs typeface="Arial"/>
              </a:rPr>
              <a:t>No </a:t>
            </a:r>
            <a:r>
              <a:rPr sz="1800" spc="-100" dirty="0">
                <a:latin typeface="Arial"/>
                <a:cs typeface="Arial"/>
              </a:rPr>
              <a:t>hay grandes </a:t>
            </a:r>
            <a:r>
              <a:rPr sz="1800" spc="-85" dirty="0">
                <a:latin typeface="Arial"/>
                <a:cs typeface="Arial"/>
              </a:rPr>
              <a:t>cambios, </a:t>
            </a:r>
            <a:r>
              <a:rPr sz="1800" spc="-75" dirty="0">
                <a:latin typeface="Arial"/>
                <a:cs typeface="Arial"/>
              </a:rPr>
              <a:t>solamente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reaprovechamiento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45" dirty="0">
                <a:latin typeface="Arial"/>
                <a:cs typeface="Arial"/>
              </a:rPr>
              <a:t>información </a:t>
            </a:r>
            <a:r>
              <a:rPr sz="1800" spc="-90" dirty="0">
                <a:latin typeface="Arial"/>
                <a:cs typeface="Arial"/>
              </a:rPr>
              <a:t>generada  </a:t>
            </a:r>
            <a:r>
              <a:rPr sz="1800" spc="-35" dirty="0">
                <a:latin typeface="Arial"/>
                <a:cs typeface="Arial"/>
              </a:rPr>
              <a:t>anteriormente.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b="1" spc="-30" dirty="0">
                <a:latin typeface="Trebuchet MS"/>
                <a:cs typeface="Trebuchet MS"/>
              </a:rPr>
              <a:t>Módulo </a:t>
            </a:r>
            <a:r>
              <a:rPr sz="2000" b="1" spc="-175" dirty="0">
                <a:latin typeface="Trebuchet MS"/>
                <a:cs typeface="Trebuchet MS"/>
              </a:rPr>
              <a:t>4: </a:t>
            </a:r>
            <a:r>
              <a:rPr sz="2000" b="1" spc="-110" dirty="0">
                <a:latin typeface="Trebuchet MS"/>
                <a:cs typeface="Trebuchet MS"/>
              </a:rPr>
              <a:t>Control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90" dirty="0">
                <a:latin typeface="Trebuchet MS"/>
                <a:cs typeface="Trebuchet MS"/>
              </a:rPr>
              <a:t>la </a:t>
            </a:r>
            <a:r>
              <a:rPr sz="2000" b="1" spc="-114" dirty="0">
                <a:latin typeface="Trebuchet MS"/>
                <a:cs typeface="Trebuchet MS"/>
              </a:rPr>
              <a:t>compra </a:t>
            </a:r>
            <a:r>
              <a:rPr sz="2000" b="1" spc="-125" dirty="0">
                <a:latin typeface="Trebuchet MS"/>
                <a:cs typeface="Trebuchet MS"/>
              </a:rPr>
              <a:t>y</a:t>
            </a:r>
            <a:r>
              <a:rPr sz="2000" b="1" spc="-415" dirty="0">
                <a:latin typeface="Trebuchet MS"/>
                <a:cs typeface="Trebuchet MS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registración</a:t>
            </a:r>
            <a:endParaRPr sz="2000">
              <a:latin typeface="Trebuchet MS"/>
              <a:cs typeface="Trebuchet MS"/>
            </a:endParaRPr>
          </a:p>
          <a:p>
            <a:pPr marL="532765" lvl="1" indent="-342900">
              <a:lnSpc>
                <a:spcPct val="100000"/>
              </a:lnSpc>
              <a:spcBef>
                <a:spcPts val="15"/>
              </a:spcBef>
              <a:buChar char="•"/>
              <a:tabLst>
                <a:tab pos="532765" algn="l"/>
                <a:tab pos="533400" algn="l"/>
              </a:tabLst>
            </a:pPr>
            <a:r>
              <a:rPr sz="1800" spc="-195" dirty="0">
                <a:latin typeface="Arial"/>
                <a:cs typeface="Arial"/>
              </a:rPr>
              <a:t>La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parte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control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factura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lo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sigue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haciendo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personal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contaduría,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resto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se</a:t>
            </a:r>
            <a:endParaRPr sz="1800">
              <a:latin typeface="Arial"/>
              <a:cs typeface="Arial"/>
            </a:endParaRPr>
          </a:p>
          <a:p>
            <a:pPr marL="532765">
              <a:lnSpc>
                <a:spcPct val="100000"/>
              </a:lnSpc>
            </a:pP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90" dirty="0">
                <a:latin typeface="Arial"/>
                <a:cs typeface="Arial"/>
              </a:rPr>
              <a:t>hacer </a:t>
            </a:r>
            <a:r>
              <a:rPr sz="1800" spc="-30" dirty="0">
                <a:latin typeface="Arial"/>
                <a:cs typeface="Arial"/>
              </a:rPr>
              <a:t>por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computadora.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9474" y="843533"/>
            <a:ext cx="8293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5" dirty="0">
                <a:solidFill>
                  <a:srgbClr val="00338D"/>
                </a:solidFill>
              </a:rPr>
              <a:t>Pagos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5273" y="1247647"/>
            <a:ext cx="47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47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Pagos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Visión de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nivel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procedimiento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1103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250" dirty="0">
                <a:solidFill>
                  <a:srgbClr val="000000"/>
                </a:solidFill>
                <a:latin typeface="Arial"/>
                <a:cs typeface="Arial"/>
              </a:rPr>
              <a:t>Pagos: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541" y="1963419"/>
            <a:ext cx="4399915" cy="398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 principal: </a:t>
            </a:r>
            <a:r>
              <a:rPr sz="2600" i="1" spc="-120" dirty="0">
                <a:latin typeface="Arial"/>
                <a:cs typeface="Arial"/>
              </a:rPr>
              <a:t>proceder </a:t>
            </a:r>
            <a:r>
              <a:rPr sz="2600" i="1" spc="-114" dirty="0">
                <a:latin typeface="Arial"/>
                <a:cs typeface="Arial"/>
              </a:rPr>
              <a:t>a  </a:t>
            </a:r>
            <a:r>
              <a:rPr sz="2600" i="1" spc="-50" dirty="0">
                <a:latin typeface="Arial"/>
                <a:cs typeface="Arial"/>
              </a:rPr>
              <a:t>la 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cancelación </a:t>
            </a:r>
            <a:r>
              <a:rPr sz="2600" i="1" spc="-165" dirty="0">
                <a:latin typeface="Arial"/>
                <a:cs typeface="Arial"/>
              </a:rPr>
              <a:t>de </a:t>
            </a:r>
            <a:r>
              <a:rPr sz="2600" i="1" spc="-130" dirty="0">
                <a:latin typeface="Arial"/>
                <a:cs typeface="Arial"/>
              </a:rPr>
              <a:t>las </a:t>
            </a:r>
            <a:r>
              <a:rPr sz="2600" i="1" spc="-1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obligaciones </a:t>
            </a:r>
            <a:r>
              <a:rPr sz="2600" b="1" i="1" spc="-185" dirty="0">
                <a:solidFill>
                  <a:srgbClr val="00338D"/>
                </a:solidFill>
                <a:latin typeface="Trebuchet MS"/>
                <a:cs typeface="Trebuchet MS"/>
              </a:rPr>
              <a:t>contraídas </a:t>
            </a:r>
            <a:r>
              <a:rPr sz="2600" b="1" i="1" spc="-185" dirty="0">
                <a:latin typeface="Trebuchet MS"/>
                <a:cs typeface="Trebuchet MS"/>
              </a:rPr>
              <a:t> </a:t>
            </a:r>
            <a:r>
              <a:rPr sz="2600" i="1" spc="-95" dirty="0">
                <a:latin typeface="Arial"/>
                <a:cs typeface="Arial"/>
              </a:rPr>
              <a:t>(originadas </a:t>
            </a:r>
            <a:r>
              <a:rPr sz="2600" i="1" spc="-70" dirty="0">
                <a:latin typeface="Arial"/>
                <a:cs typeface="Arial"/>
              </a:rPr>
              <a:t>por </a:t>
            </a:r>
            <a:r>
              <a:rPr sz="2600" i="1" spc="-125" dirty="0">
                <a:latin typeface="Arial"/>
                <a:cs typeface="Arial"/>
              </a:rPr>
              <a:t>compras,  </a:t>
            </a:r>
            <a:r>
              <a:rPr sz="2600" i="1" spc="-140" dirty="0">
                <a:latin typeface="Arial"/>
                <a:cs typeface="Arial"/>
              </a:rPr>
              <a:t>servicios </a:t>
            </a:r>
            <a:r>
              <a:rPr sz="2600" i="1" spc="-110" dirty="0">
                <a:latin typeface="Arial"/>
                <a:cs typeface="Arial"/>
              </a:rPr>
              <a:t>recibidos, </a:t>
            </a:r>
            <a:r>
              <a:rPr sz="2600" i="1" spc="-165" dirty="0">
                <a:latin typeface="Arial"/>
                <a:cs typeface="Arial"/>
              </a:rPr>
              <a:t>sueldos </a:t>
            </a:r>
            <a:r>
              <a:rPr sz="2600" i="1" spc="-140" dirty="0">
                <a:latin typeface="Arial"/>
                <a:cs typeface="Arial"/>
              </a:rPr>
              <a:t>y  </a:t>
            </a:r>
            <a:r>
              <a:rPr sz="2600" i="1" spc="-95" dirty="0">
                <a:latin typeface="Arial"/>
                <a:cs typeface="Arial"/>
              </a:rPr>
              <a:t>jornales, </a:t>
            </a:r>
            <a:r>
              <a:rPr sz="2600" i="1" spc="-85" dirty="0">
                <a:latin typeface="Arial"/>
                <a:cs typeface="Arial"/>
              </a:rPr>
              <a:t>etc.) </a:t>
            </a:r>
            <a:r>
              <a:rPr sz="2600" i="1" spc="-114" dirty="0">
                <a:latin typeface="Arial"/>
                <a:cs typeface="Arial"/>
              </a:rPr>
              <a:t>a </a:t>
            </a:r>
            <a:r>
              <a:rPr sz="2600" i="1" spc="-5" dirty="0">
                <a:latin typeface="Arial"/>
                <a:cs typeface="Arial"/>
              </a:rPr>
              <a:t>partir </a:t>
            </a:r>
            <a:r>
              <a:rPr sz="2600" i="1" spc="-160" dirty="0">
                <a:latin typeface="Arial"/>
                <a:cs typeface="Arial"/>
              </a:rPr>
              <a:t>de </a:t>
            </a:r>
            <a:r>
              <a:rPr sz="2600" i="1" spc="-55" dirty="0">
                <a:latin typeface="Arial"/>
                <a:cs typeface="Arial"/>
              </a:rPr>
              <a:t>la  </a:t>
            </a:r>
            <a:r>
              <a:rPr sz="2600" i="1" spc="-114" dirty="0">
                <a:latin typeface="Arial"/>
                <a:cs typeface="Arial"/>
              </a:rPr>
              <a:t>emisión </a:t>
            </a:r>
            <a:r>
              <a:rPr sz="2600" i="1" spc="-165" dirty="0">
                <a:latin typeface="Arial"/>
                <a:cs typeface="Arial"/>
              </a:rPr>
              <a:t>de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instrumentos </a:t>
            </a:r>
            <a:r>
              <a:rPr sz="2600" b="1" i="1" spc="-165" dirty="0">
                <a:solidFill>
                  <a:srgbClr val="00338D"/>
                </a:solidFill>
                <a:latin typeface="Trebuchet MS"/>
                <a:cs typeface="Trebuchet MS"/>
              </a:rPr>
              <a:t>de  </a:t>
            </a:r>
            <a:r>
              <a:rPr sz="2600" b="1" i="1" spc="-125" dirty="0">
                <a:solidFill>
                  <a:srgbClr val="00338D"/>
                </a:solidFill>
                <a:latin typeface="Trebuchet MS"/>
                <a:cs typeface="Trebuchet MS"/>
              </a:rPr>
              <a:t>pago </a:t>
            </a:r>
            <a:r>
              <a:rPr sz="2600" i="1" spc="-70" dirty="0">
                <a:latin typeface="Arial"/>
                <a:cs typeface="Arial"/>
              </a:rPr>
              <a:t>(ej: </a:t>
            </a:r>
            <a:r>
              <a:rPr sz="2600" i="1" spc="-170" dirty="0">
                <a:latin typeface="Arial"/>
                <a:cs typeface="Arial"/>
              </a:rPr>
              <a:t>cheques) </a:t>
            </a:r>
            <a:r>
              <a:rPr sz="2600" i="1" spc="-140" dirty="0">
                <a:latin typeface="Arial"/>
                <a:cs typeface="Arial"/>
              </a:rPr>
              <a:t>y </a:t>
            </a:r>
            <a:r>
              <a:rPr sz="2600" i="1" spc="-50" dirty="0">
                <a:latin typeface="Arial"/>
                <a:cs typeface="Arial"/>
              </a:rPr>
              <a:t>la  </a:t>
            </a:r>
            <a:r>
              <a:rPr sz="2600" i="1" spc="-140" dirty="0">
                <a:latin typeface="Arial"/>
                <a:cs typeface="Arial"/>
              </a:rPr>
              <a:t>adecuada </a:t>
            </a:r>
            <a:r>
              <a:rPr sz="2600" b="1" i="1" spc="-150" dirty="0">
                <a:solidFill>
                  <a:srgbClr val="00338D"/>
                </a:solidFill>
                <a:latin typeface="Trebuchet MS"/>
                <a:cs typeface="Trebuchet MS"/>
              </a:rPr>
              <a:t>documentación </a:t>
            </a:r>
            <a:r>
              <a:rPr sz="2600" b="1" i="1" spc="-165" dirty="0">
                <a:solidFill>
                  <a:srgbClr val="00338D"/>
                </a:solidFill>
                <a:latin typeface="Trebuchet MS"/>
                <a:cs typeface="Trebuchet MS"/>
              </a:rPr>
              <a:t>de  </a:t>
            </a:r>
            <a:r>
              <a:rPr sz="2600" b="1" i="1" spc="-18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600" b="1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operación</a:t>
            </a:r>
            <a:r>
              <a:rPr sz="2600" i="1" spc="-16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0200" y="1219200"/>
            <a:ext cx="3429000" cy="2449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10200" y="3810000"/>
            <a:ext cx="3429000" cy="236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54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580" y="1448180"/>
            <a:ext cx="5715000" cy="2209800"/>
          </a:xfrm>
          <a:custGeom>
            <a:avLst/>
            <a:gdLst/>
            <a:ahLst/>
            <a:cxnLst/>
            <a:rect l="l" t="t" r="r" b="b"/>
            <a:pathLst>
              <a:path w="5715000" h="2209800">
                <a:moveTo>
                  <a:pt x="0" y="2209800"/>
                </a:moveTo>
                <a:lnTo>
                  <a:pt x="5715000" y="2209800"/>
                </a:lnTo>
                <a:lnTo>
                  <a:pt x="57150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ln w="25146">
            <a:solidFill>
              <a:srgbClr val="9BBA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03194" y="3374644"/>
            <a:ext cx="22555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00AF5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00AF50"/>
                </a:solidFill>
                <a:latin typeface="Trebuchet MS"/>
                <a:cs typeface="Trebuchet MS"/>
              </a:rPr>
              <a:t>2: </a:t>
            </a:r>
            <a:r>
              <a:rPr sz="1400" b="1" spc="-75" dirty="0">
                <a:solidFill>
                  <a:srgbClr val="00AF50"/>
                </a:solidFill>
                <a:latin typeface="Trebuchet MS"/>
                <a:cs typeface="Trebuchet MS"/>
              </a:rPr>
              <a:t>Emisión </a:t>
            </a:r>
            <a:r>
              <a:rPr sz="1400" b="1" spc="-80" dirty="0">
                <a:solidFill>
                  <a:srgbClr val="00AF50"/>
                </a:solidFill>
                <a:latin typeface="Trebuchet MS"/>
                <a:cs typeface="Trebuchet MS"/>
              </a:rPr>
              <a:t>del</a:t>
            </a:r>
            <a:r>
              <a:rPr sz="1400" b="1" spc="-2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400" b="1" spc="-100" dirty="0">
                <a:solidFill>
                  <a:srgbClr val="00AF50"/>
                </a:solidFill>
                <a:latin typeface="Trebuchet MS"/>
                <a:cs typeface="Trebuchet MS"/>
              </a:rPr>
              <a:t>cheque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0351" y="1839467"/>
            <a:ext cx="2302764" cy="1007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5736" y="2005583"/>
            <a:ext cx="1557527" cy="454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8438" y="2249423"/>
            <a:ext cx="944118" cy="454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17391" y="2055114"/>
            <a:ext cx="2302764" cy="10599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9371" y="2100072"/>
            <a:ext cx="1163574" cy="454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0708" y="2343911"/>
            <a:ext cx="1120902" cy="454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69664" y="2587751"/>
            <a:ext cx="1017269" cy="4541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33417" y="2139442"/>
            <a:ext cx="8718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 algn="just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Anulació</a:t>
            </a:r>
            <a:r>
              <a:rPr sz="1600" b="1" spc="-60" dirty="0">
                <a:solidFill>
                  <a:srgbClr val="FFFFFF"/>
                </a:solidFill>
                <a:latin typeface="Trebuchet MS"/>
                <a:cs typeface="Trebuchet MS"/>
              </a:rPr>
              <a:t>n  </a:t>
            </a:r>
            <a:r>
              <a:rPr sz="1600" b="1" spc="-110" dirty="0">
                <a:solidFill>
                  <a:srgbClr val="FFFFFF"/>
                </a:solidFill>
                <a:latin typeface="Trebuchet MS"/>
                <a:cs typeface="Trebuchet MS"/>
              </a:rPr>
              <a:t>Legajo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Compras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01917" y="2055114"/>
            <a:ext cx="2302764" cy="10073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2176" y="2221992"/>
            <a:ext cx="1285494" cy="4541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07530" y="2465832"/>
            <a:ext cx="909827" cy="4541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56221" y="2261361"/>
            <a:ext cx="9956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marR="5080" indent="-165735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Emisión</a:t>
            </a:r>
            <a:r>
              <a:rPr sz="16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del  </a:t>
            </a:r>
            <a:r>
              <a:rPr sz="1600" b="1" spc="-110" dirty="0">
                <a:solidFill>
                  <a:srgbClr val="FFFFFF"/>
                </a:solidFill>
                <a:latin typeface="Trebuchet MS"/>
                <a:cs typeface="Trebuchet MS"/>
              </a:rPr>
              <a:t>Cheque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73373" y="4215384"/>
            <a:ext cx="2302764" cy="10066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19728" y="4382261"/>
            <a:ext cx="1273302" cy="454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78985" y="4626102"/>
            <a:ext cx="909827" cy="454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33520" y="4421885"/>
            <a:ext cx="9836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Entrega</a:t>
            </a:r>
            <a:r>
              <a:rPr sz="160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del  </a:t>
            </a:r>
            <a:r>
              <a:rPr sz="1600" b="1" spc="-110" dirty="0">
                <a:solidFill>
                  <a:srgbClr val="FFFFFF"/>
                </a:solidFill>
                <a:latin typeface="Trebuchet MS"/>
                <a:cs typeface="Trebuchet MS"/>
              </a:rPr>
              <a:t>Cheque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6918" y="4236720"/>
            <a:ext cx="2302764" cy="10073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91361" y="4525517"/>
            <a:ext cx="1312926" cy="4541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05153" y="4565396"/>
            <a:ext cx="10674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Registración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402585" y="1591055"/>
            <a:ext cx="1641348" cy="7955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43733" y="1609597"/>
            <a:ext cx="1482725" cy="597535"/>
          </a:xfrm>
          <a:custGeom>
            <a:avLst/>
            <a:gdLst/>
            <a:ahLst/>
            <a:cxnLst/>
            <a:rect l="l" t="t" r="r" b="b"/>
            <a:pathLst>
              <a:path w="1482725" h="597535">
                <a:moveTo>
                  <a:pt x="1405761" y="487775"/>
                </a:moveTo>
                <a:lnTo>
                  <a:pt x="1369821" y="493394"/>
                </a:lnTo>
                <a:lnTo>
                  <a:pt x="1443863" y="597535"/>
                </a:lnTo>
                <a:lnTo>
                  <a:pt x="1472432" y="508000"/>
                </a:lnTo>
                <a:lnTo>
                  <a:pt x="1410716" y="508000"/>
                </a:lnTo>
                <a:lnTo>
                  <a:pt x="1405761" y="487775"/>
                </a:lnTo>
                <a:close/>
              </a:path>
              <a:path w="1482725" h="597535">
                <a:moveTo>
                  <a:pt x="1443406" y="481889"/>
                </a:moveTo>
                <a:lnTo>
                  <a:pt x="1405761" y="487775"/>
                </a:lnTo>
                <a:lnTo>
                  <a:pt x="1410716" y="508000"/>
                </a:lnTo>
                <a:lnTo>
                  <a:pt x="1447673" y="498855"/>
                </a:lnTo>
                <a:lnTo>
                  <a:pt x="1443406" y="481889"/>
                </a:lnTo>
                <a:close/>
              </a:path>
              <a:path w="1482725" h="597535">
                <a:moveTo>
                  <a:pt x="1482725" y="475741"/>
                </a:moveTo>
                <a:lnTo>
                  <a:pt x="1443406" y="481889"/>
                </a:lnTo>
                <a:lnTo>
                  <a:pt x="1447673" y="498855"/>
                </a:lnTo>
                <a:lnTo>
                  <a:pt x="1410716" y="508000"/>
                </a:lnTo>
                <a:lnTo>
                  <a:pt x="1472432" y="508000"/>
                </a:lnTo>
                <a:lnTo>
                  <a:pt x="1482725" y="475741"/>
                </a:lnTo>
                <a:close/>
              </a:path>
              <a:path w="1482725" h="597535">
                <a:moveTo>
                  <a:pt x="963120" y="38100"/>
                </a:moveTo>
                <a:lnTo>
                  <a:pt x="731901" y="38100"/>
                </a:lnTo>
                <a:lnTo>
                  <a:pt x="764413" y="38988"/>
                </a:lnTo>
                <a:lnTo>
                  <a:pt x="796798" y="41401"/>
                </a:lnTo>
                <a:lnTo>
                  <a:pt x="861187" y="50800"/>
                </a:lnTo>
                <a:lnTo>
                  <a:pt x="924687" y="66039"/>
                </a:lnTo>
                <a:lnTo>
                  <a:pt x="986663" y="86740"/>
                </a:lnTo>
                <a:lnTo>
                  <a:pt x="1046733" y="112394"/>
                </a:lnTo>
                <a:lnTo>
                  <a:pt x="1104138" y="142493"/>
                </a:lnTo>
                <a:lnTo>
                  <a:pt x="1158748" y="176784"/>
                </a:lnTo>
                <a:lnTo>
                  <a:pt x="1209548" y="214884"/>
                </a:lnTo>
                <a:lnTo>
                  <a:pt x="1256283" y="256159"/>
                </a:lnTo>
                <a:lnTo>
                  <a:pt x="1298320" y="300227"/>
                </a:lnTo>
                <a:lnTo>
                  <a:pt x="1335151" y="346710"/>
                </a:lnTo>
                <a:lnTo>
                  <a:pt x="1366393" y="395097"/>
                </a:lnTo>
                <a:lnTo>
                  <a:pt x="1391412" y="444880"/>
                </a:lnTo>
                <a:lnTo>
                  <a:pt x="1405761" y="487775"/>
                </a:lnTo>
                <a:lnTo>
                  <a:pt x="1443406" y="481889"/>
                </a:lnTo>
                <a:lnTo>
                  <a:pt x="1425956" y="428625"/>
                </a:lnTo>
                <a:lnTo>
                  <a:pt x="1398905" y="375157"/>
                </a:lnTo>
                <a:lnTo>
                  <a:pt x="1365504" y="323723"/>
                </a:lnTo>
                <a:lnTo>
                  <a:pt x="1326388" y="274574"/>
                </a:lnTo>
                <a:lnTo>
                  <a:pt x="1282065" y="228091"/>
                </a:lnTo>
                <a:lnTo>
                  <a:pt x="1233043" y="184785"/>
                </a:lnTo>
                <a:lnTo>
                  <a:pt x="1179703" y="145034"/>
                </a:lnTo>
                <a:lnTo>
                  <a:pt x="1122553" y="109219"/>
                </a:lnTo>
                <a:lnTo>
                  <a:pt x="1062355" y="77597"/>
                </a:lnTo>
                <a:lnTo>
                  <a:pt x="999490" y="50800"/>
                </a:lnTo>
                <a:lnTo>
                  <a:pt x="967232" y="39369"/>
                </a:lnTo>
                <a:lnTo>
                  <a:pt x="963120" y="38100"/>
                </a:lnTo>
                <a:close/>
              </a:path>
              <a:path w="1482725" h="597535">
                <a:moveTo>
                  <a:pt x="731139" y="0"/>
                </a:moveTo>
                <a:lnTo>
                  <a:pt x="663321" y="2159"/>
                </a:lnTo>
                <a:lnTo>
                  <a:pt x="596011" y="8254"/>
                </a:lnTo>
                <a:lnTo>
                  <a:pt x="529844" y="18287"/>
                </a:lnTo>
                <a:lnTo>
                  <a:pt x="465201" y="31750"/>
                </a:lnTo>
                <a:lnTo>
                  <a:pt x="402717" y="48387"/>
                </a:lnTo>
                <a:lnTo>
                  <a:pt x="342773" y="68199"/>
                </a:lnTo>
                <a:lnTo>
                  <a:pt x="285877" y="90550"/>
                </a:lnTo>
                <a:lnTo>
                  <a:pt x="232664" y="115569"/>
                </a:lnTo>
                <a:lnTo>
                  <a:pt x="183515" y="142748"/>
                </a:lnTo>
                <a:lnTo>
                  <a:pt x="139065" y="171957"/>
                </a:lnTo>
                <a:lnTo>
                  <a:pt x="99822" y="203073"/>
                </a:lnTo>
                <a:lnTo>
                  <a:pt x="65786" y="236092"/>
                </a:lnTo>
                <a:lnTo>
                  <a:pt x="38227" y="270637"/>
                </a:lnTo>
                <a:lnTo>
                  <a:pt x="17399" y="306704"/>
                </a:lnTo>
                <a:lnTo>
                  <a:pt x="4445" y="344169"/>
                </a:lnTo>
                <a:lnTo>
                  <a:pt x="0" y="380364"/>
                </a:lnTo>
                <a:lnTo>
                  <a:pt x="38100" y="382650"/>
                </a:lnTo>
                <a:lnTo>
                  <a:pt x="39116" y="365760"/>
                </a:lnTo>
                <a:lnTo>
                  <a:pt x="41910" y="351027"/>
                </a:lnTo>
                <a:lnTo>
                  <a:pt x="60706" y="306197"/>
                </a:lnTo>
                <a:lnTo>
                  <a:pt x="94742" y="260857"/>
                </a:lnTo>
                <a:lnTo>
                  <a:pt x="125349" y="231266"/>
                </a:lnTo>
                <a:lnTo>
                  <a:pt x="162052" y="202437"/>
                </a:lnTo>
                <a:lnTo>
                  <a:pt x="203962" y="174878"/>
                </a:lnTo>
                <a:lnTo>
                  <a:pt x="250571" y="149098"/>
                </a:lnTo>
                <a:lnTo>
                  <a:pt x="301625" y="125349"/>
                </a:lnTo>
                <a:lnTo>
                  <a:pt x="356362" y="103759"/>
                </a:lnTo>
                <a:lnTo>
                  <a:pt x="414147" y="84836"/>
                </a:lnTo>
                <a:lnTo>
                  <a:pt x="474472" y="68706"/>
                </a:lnTo>
                <a:lnTo>
                  <a:pt x="537083" y="55752"/>
                </a:lnTo>
                <a:lnTo>
                  <a:pt x="601218" y="46100"/>
                </a:lnTo>
                <a:lnTo>
                  <a:pt x="666369" y="40131"/>
                </a:lnTo>
                <a:lnTo>
                  <a:pt x="731901" y="38100"/>
                </a:lnTo>
                <a:lnTo>
                  <a:pt x="963120" y="38100"/>
                </a:lnTo>
                <a:lnTo>
                  <a:pt x="934339" y="29210"/>
                </a:lnTo>
                <a:lnTo>
                  <a:pt x="867537" y="13207"/>
                </a:lnTo>
                <a:lnTo>
                  <a:pt x="799592" y="3428"/>
                </a:lnTo>
                <a:lnTo>
                  <a:pt x="765302" y="888"/>
                </a:lnTo>
                <a:lnTo>
                  <a:pt x="731139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96484" y="1697735"/>
            <a:ext cx="1338071" cy="6819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37632" y="1715897"/>
            <a:ext cx="1176020" cy="498475"/>
          </a:xfrm>
          <a:custGeom>
            <a:avLst/>
            <a:gdLst/>
            <a:ahLst/>
            <a:cxnLst/>
            <a:rect l="l" t="t" r="r" b="b"/>
            <a:pathLst>
              <a:path w="1176020" h="498475">
                <a:moveTo>
                  <a:pt x="579627" y="0"/>
                </a:moveTo>
                <a:lnTo>
                  <a:pt x="525017" y="2920"/>
                </a:lnTo>
                <a:lnTo>
                  <a:pt x="471169" y="11302"/>
                </a:lnTo>
                <a:lnTo>
                  <a:pt x="418210" y="24637"/>
                </a:lnTo>
                <a:lnTo>
                  <a:pt x="366648" y="42672"/>
                </a:lnTo>
                <a:lnTo>
                  <a:pt x="316864" y="65024"/>
                </a:lnTo>
                <a:lnTo>
                  <a:pt x="269113" y="91312"/>
                </a:lnTo>
                <a:lnTo>
                  <a:pt x="223900" y="121157"/>
                </a:lnTo>
                <a:lnTo>
                  <a:pt x="181737" y="154304"/>
                </a:lnTo>
                <a:lnTo>
                  <a:pt x="142747" y="190500"/>
                </a:lnTo>
                <a:lnTo>
                  <a:pt x="107695" y="229107"/>
                </a:lnTo>
                <a:lnTo>
                  <a:pt x="76707" y="270128"/>
                </a:lnTo>
                <a:lnTo>
                  <a:pt x="50291" y="313054"/>
                </a:lnTo>
                <a:lnTo>
                  <a:pt x="28955" y="357758"/>
                </a:lnTo>
                <a:lnTo>
                  <a:pt x="13080" y="403732"/>
                </a:lnTo>
                <a:lnTo>
                  <a:pt x="3301" y="450723"/>
                </a:lnTo>
                <a:lnTo>
                  <a:pt x="0" y="496824"/>
                </a:lnTo>
                <a:lnTo>
                  <a:pt x="38100" y="498220"/>
                </a:lnTo>
                <a:lnTo>
                  <a:pt x="38988" y="475868"/>
                </a:lnTo>
                <a:lnTo>
                  <a:pt x="41275" y="454787"/>
                </a:lnTo>
                <a:lnTo>
                  <a:pt x="50164" y="412750"/>
                </a:lnTo>
                <a:lnTo>
                  <a:pt x="64515" y="371348"/>
                </a:lnTo>
                <a:lnTo>
                  <a:pt x="84200" y="330453"/>
                </a:lnTo>
                <a:lnTo>
                  <a:pt x="108584" y="290956"/>
                </a:lnTo>
                <a:lnTo>
                  <a:pt x="137540" y="252856"/>
                </a:lnTo>
                <a:lnTo>
                  <a:pt x="170433" y="216662"/>
                </a:lnTo>
                <a:lnTo>
                  <a:pt x="207137" y="182752"/>
                </a:lnTo>
                <a:lnTo>
                  <a:pt x="246887" y="151637"/>
                </a:lnTo>
                <a:lnTo>
                  <a:pt x="289432" y="123443"/>
                </a:lnTo>
                <a:lnTo>
                  <a:pt x="334517" y="98678"/>
                </a:lnTo>
                <a:lnTo>
                  <a:pt x="381507" y="77724"/>
                </a:lnTo>
                <a:lnTo>
                  <a:pt x="430021" y="60832"/>
                </a:lnTo>
                <a:lnTo>
                  <a:pt x="479551" y="48387"/>
                </a:lnTo>
                <a:lnTo>
                  <a:pt x="529970" y="40766"/>
                </a:lnTo>
                <a:lnTo>
                  <a:pt x="580516" y="38100"/>
                </a:lnTo>
                <a:lnTo>
                  <a:pt x="784172" y="38100"/>
                </a:lnTo>
                <a:lnTo>
                  <a:pt x="766952" y="31876"/>
                </a:lnTo>
                <a:lnTo>
                  <a:pt x="714628" y="16637"/>
                </a:lnTo>
                <a:lnTo>
                  <a:pt x="661034" y="6095"/>
                </a:lnTo>
                <a:lnTo>
                  <a:pt x="606805" y="762"/>
                </a:lnTo>
                <a:lnTo>
                  <a:pt x="579627" y="0"/>
                </a:lnTo>
                <a:close/>
              </a:path>
              <a:path w="1176020" h="498475">
                <a:moveTo>
                  <a:pt x="1099404" y="376296"/>
                </a:moveTo>
                <a:lnTo>
                  <a:pt x="1063752" y="383031"/>
                </a:lnTo>
                <a:lnTo>
                  <a:pt x="1140967" y="484758"/>
                </a:lnTo>
                <a:lnTo>
                  <a:pt x="1166170" y="396366"/>
                </a:lnTo>
                <a:lnTo>
                  <a:pt x="1105026" y="396366"/>
                </a:lnTo>
                <a:lnTo>
                  <a:pt x="1099404" y="376296"/>
                </a:lnTo>
                <a:close/>
              </a:path>
              <a:path w="1176020" h="498475">
                <a:moveTo>
                  <a:pt x="1136977" y="369198"/>
                </a:moveTo>
                <a:lnTo>
                  <a:pt x="1099404" y="376296"/>
                </a:lnTo>
                <a:lnTo>
                  <a:pt x="1105026" y="396366"/>
                </a:lnTo>
                <a:lnTo>
                  <a:pt x="1141729" y="385952"/>
                </a:lnTo>
                <a:lnTo>
                  <a:pt x="1136977" y="369198"/>
                </a:lnTo>
                <a:close/>
              </a:path>
              <a:path w="1176020" h="498475">
                <a:moveTo>
                  <a:pt x="1176019" y="361823"/>
                </a:moveTo>
                <a:lnTo>
                  <a:pt x="1136977" y="369198"/>
                </a:lnTo>
                <a:lnTo>
                  <a:pt x="1141729" y="385952"/>
                </a:lnTo>
                <a:lnTo>
                  <a:pt x="1105026" y="396366"/>
                </a:lnTo>
                <a:lnTo>
                  <a:pt x="1166170" y="396366"/>
                </a:lnTo>
                <a:lnTo>
                  <a:pt x="1176019" y="361823"/>
                </a:lnTo>
                <a:close/>
              </a:path>
              <a:path w="1176020" h="498475">
                <a:moveTo>
                  <a:pt x="1095417" y="362064"/>
                </a:moveTo>
                <a:lnTo>
                  <a:pt x="1099404" y="376296"/>
                </a:lnTo>
                <a:lnTo>
                  <a:pt x="1136977" y="369198"/>
                </a:lnTo>
                <a:lnTo>
                  <a:pt x="1135316" y="363347"/>
                </a:lnTo>
                <a:lnTo>
                  <a:pt x="1096010" y="363347"/>
                </a:lnTo>
                <a:lnTo>
                  <a:pt x="1095417" y="362064"/>
                </a:lnTo>
                <a:close/>
              </a:path>
              <a:path w="1176020" h="498475">
                <a:moveTo>
                  <a:pt x="1094993" y="360552"/>
                </a:moveTo>
                <a:lnTo>
                  <a:pt x="1095417" y="362064"/>
                </a:lnTo>
                <a:lnTo>
                  <a:pt x="1096010" y="363347"/>
                </a:lnTo>
                <a:lnTo>
                  <a:pt x="1094993" y="360552"/>
                </a:lnTo>
                <a:close/>
              </a:path>
              <a:path w="1176020" h="498475">
                <a:moveTo>
                  <a:pt x="1134524" y="360552"/>
                </a:moveTo>
                <a:lnTo>
                  <a:pt x="1094993" y="360552"/>
                </a:lnTo>
                <a:lnTo>
                  <a:pt x="1096010" y="363347"/>
                </a:lnTo>
                <a:lnTo>
                  <a:pt x="1135316" y="363347"/>
                </a:lnTo>
                <a:lnTo>
                  <a:pt x="1134524" y="360552"/>
                </a:lnTo>
                <a:close/>
              </a:path>
              <a:path w="1176020" h="498475">
                <a:moveTo>
                  <a:pt x="784172" y="38100"/>
                </a:moveTo>
                <a:lnTo>
                  <a:pt x="580516" y="38100"/>
                </a:lnTo>
                <a:lnTo>
                  <a:pt x="605916" y="38735"/>
                </a:lnTo>
                <a:lnTo>
                  <a:pt x="631063" y="40766"/>
                </a:lnTo>
                <a:lnTo>
                  <a:pt x="681481" y="48260"/>
                </a:lnTo>
                <a:lnTo>
                  <a:pt x="731012" y="60578"/>
                </a:lnTo>
                <a:lnTo>
                  <a:pt x="779526" y="76962"/>
                </a:lnTo>
                <a:lnTo>
                  <a:pt x="826515" y="97536"/>
                </a:lnTo>
                <a:lnTo>
                  <a:pt x="871473" y="121538"/>
                </a:lnTo>
                <a:lnTo>
                  <a:pt x="914145" y="149098"/>
                </a:lnTo>
                <a:lnTo>
                  <a:pt x="953896" y="179577"/>
                </a:lnTo>
                <a:lnTo>
                  <a:pt x="990472" y="212470"/>
                </a:lnTo>
                <a:lnTo>
                  <a:pt x="1023238" y="247776"/>
                </a:lnTo>
                <a:lnTo>
                  <a:pt x="1052067" y="284861"/>
                </a:lnTo>
                <a:lnTo>
                  <a:pt x="1076451" y="323595"/>
                </a:lnTo>
                <a:lnTo>
                  <a:pt x="1095417" y="362064"/>
                </a:lnTo>
                <a:lnTo>
                  <a:pt x="1094993" y="360552"/>
                </a:lnTo>
                <a:lnTo>
                  <a:pt x="1134524" y="360552"/>
                </a:lnTo>
                <a:lnTo>
                  <a:pt x="1131569" y="350138"/>
                </a:lnTo>
                <a:lnTo>
                  <a:pt x="1131315" y="349123"/>
                </a:lnTo>
                <a:lnTo>
                  <a:pt x="1109217" y="304038"/>
                </a:lnTo>
                <a:lnTo>
                  <a:pt x="1082674" y="262254"/>
                </a:lnTo>
                <a:lnTo>
                  <a:pt x="1051687" y="222376"/>
                </a:lnTo>
                <a:lnTo>
                  <a:pt x="1016507" y="184785"/>
                </a:lnTo>
                <a:lnTo>
                  <a:pt x="977645" y="149732"/>
                </a:lnTo>
                <a:lnTo>
                  <a:pt x="935227" y="117475"/>
                </a:lnTo>
                <a:lnTo>
                  <a:pt x="890142" y="88391"/>
                </a:lnTo>
                <a:lnTo>
                  <a:pt x="842390" y="62864"/>
                </a:lnTo>
                <a:lnTo>
                  <a:pt x="792606" y="41148"/>
                </a:lnTo>
                <a:lnTo>
                  <a:pt x="784172" y="38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49596" y="2969514"/>
            <a:ext cx="2263902" cy="157734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67071" y="2987294"/>
            <a:ext cx="2105025" cy="1380490"/>
          </a:xfrm>
          <a:custGeom>
            <a:avLst/>
            <a:gdLst/>
            <a:ahLst/>
            <a:cxnLst/>
            <a:rect l="l" t="t" r="r" b="b"/>
            <a:pathLst>
              <a:path w="2105025" h="1380489">
                <a:moveTo>
                  <a:pt x="0" y="1258569"/>
                </a:moveTo>
                <a:lnTo>
                  <a:pt x="38734" y="1380235"/>
                </a:lnTo>
                <a:lnTo>
                  <a:pt x="102669" y="1290573"/>
                </a:lnTo>
                <a:lnTo>
                  <a:pt x="72136" y="1290573"/>
                </a:lnTo>
                <a:lnTo>
                  <a:pt x="35051" y="1281810"/>
                </a:lnTo>
                <a:lnTo>
                  <a:pt x="39112" y="1264685"/>
                </a:lnTo>
                <a:lnTo>
                  <a:pt x="0" y="1258569"/>
                </a:lnTo>
                <a:close/>
              </a:path>
              <a:path w="2105025" h="1380489">
                <a:moveTo>
                  <a:pt x="39112" y="1264685"/>
                </a:moveTo>
                <a:lnTo>
                  <a:pt x="35051" y="1281810"/>
                </a:lnTo>
                <a:lnTo>
                  <a:pt x="72136" y="1290573"/>
                </a:lnTo>
                <a:lnTo>
                  <a:pt x="76705" y="1270563"/>
                </a:lnTo>
                <a:lnTo>
                  <a:pt x="39112" y="1264685"/>
                </a:lnTo>
                <a:close/>
              </a:path>
              <a:path w="2105025" h="1380489">
                <a:moveTo>
                  <a:pt x="76705" y="1270563"/>
                </a:moveTo>
                <a:lnTo>
                  <a:pt x="72136" y="1290573"/>
                </a:lnTo>
                <a:lnTo>
                  <a:pt x="102669" y="1290573"/>
                </a:lnTo>
                <a:lnTo>
                  <a:pt x="112902" y="1276222"/>
                </a:lnTo>
                <a:lnTo>
                  <a:pt x="76705" y="1270563"/>
                </a:lnTo>
                <a:close/>
              </a:path>
              <a:path w="2105025" h="1380489">
                <a:moveTo>
                  <a:pt x="2067052" y="0"/>
                </a:moveTo>
                <a:lnTo>
                  <a:pt x="2063750" y="46862"/>
                </a:lnTo>
                <a:lnTo>
                  <a:pt x="2054478" y="92836"/>
                </a:lnTo>
                <a:lnTo>
                  <a:pt x="2039238" y="138429"/>
                </a:lnTo>
                <a:lnTo>
                  <a:pt x="2018410" y="183768"/>
                </a:lnTo>
                <a:lnTo>
                  <a:pt x="1992122" y="228472"/>
                </a:lnTo>
                <a:lnTo>
                  <a:pt x="1960626" y="272541"/>
                </a:lnTo>
                <a:lnTo>
                  <a:pt x="1911350" y="329438"/>
                </a:lnTo>
                <a:lnTo>
                  <a:pt x="1883663" y="356869"/>
                </a:lnTo>
                <a:lnTo>
                  <a:pt x="1854073" y="383666"/>
                </a:lnTo>
                <a:lnTo>
                  <a:pt x="1822830" y="409701"/>
                </a:lnTo>
                <a:lnTo>
                  <a:pt x="1789810" y="434975"/>
                </a:lnTo>
                <a:lnTo>
                  <a:pt x="1755267" y="459231"/>
                </a:lnTo>
                <a:lnTo>
                  <a:pt x="1719072" y="482600"/>
                </a:lnTo>
                <a:lnTo>
                  <a:pt x="1681606" y="504825"/>
                </a:lnTo>
                <a:lnTo>
                  <a:pt x="1642745" y="526033"/>
                </a:lnTo>
                <a:lnTo>
                  <a:pt x="1602739" y="545972"/>
                </a:lnTo>
                <a:lnTo>
                  <a:pt x="1561464" y="564768"/>
                </a:lnTo>
                <a:lnTo>
                  <a:pt x="1519301" y="582167"/>
                </a:lnTo>
                <a:lnTo>
                  <a:pt x="1476121" y="598423"/>
                </a:lnTo>
                <a:lnTo>
                  <a:pt x="1432178" y="613028"/>
                </a:lnTo>
                <a:lnTo>
                  <a:pt x="1387475" y="626109"/>
                </a:lnTo>
                <a:lnTo>
                  <a:pt x="1342135" y="637793"/>
                </a:lnTo>
                <a:lnTo>
                  <a:pt x="1296288" y="647826"/>
                </a:lnTo>
                <a:lnTo>
                  <a:pt x="1249933" y="656081"/>
                </a:lnTo>
                <a:lnTo>
                  <a:pt x="1203198" y="662685"/>
                </a:lnTo>
                <a:lnTo>
                  <a:pt x="1156207" y="667384"/>
                </a:lnTo>
                <a:lnTo>
                  <a:pt x="1109090" y="670305"/>
                </a:lnTo>
                <a:lnTo>
                  <a:pt x="1013967" y="672464"/>
                </a:lnTo>
                <a:lnTo>
                  <a:pt x="965453" y="675385"/>
                </a:lnTo>
                <a:lnTo>
                  <a:pt x="916939" y="680338"/>
                </a:lnTo>
                <a:lnTo>
                  <a:pt x="868806" y="687069"/>
                </a:lnTo>
                <a:lnTo>
                  <a:pt x="821054" y="695578"/>
                </a:lnTo>
                <a:lnTo>
                  <a:pt x="773811" y="705865"/>
                </a:lnTo>
                <a:lnTo>
                  <a:pt x="727075" y="717803"/>
                </a:lnTo>
                <a:lnTo>
                  <a:pt x="681101" y="731519"/>
                </a:lnTo>
                <a:lnTo>
                  <a:pt x="635888" y="746505"/>
                </a:lnTo>
                <a:lnTo>
                  <a:pt x="591565" y="763142"/>
                </a:lnTo>
                <a:lnTo>
                  <a:pt x="548131" y="781049"/>
                </a:lnTo>
                <a:lnTo>
                  <a:pt x="505713" y="800353"/>
                </a:lnTo>
                <a:lnTo>
                  <a:pt x="464438" y="821054"/>
                </a:lnTo>
                <a:lnTo>
                  <a:pt x="424306" y="842898"/>
                </a:lnTo>
                <a:lnTo>
                  <a:pt x="385571" y="865885"/>
                </a:lnTo>
                <a:lnTo>
                  <a:pt x="348361" y="890015"/>
                </a:lnTo>
                <a:lnTo>
                  <a:pt x="312546" y="915161"/>
                </a:lnTo>
                <a:lnTo>
                  <a:pt x="278256" y="941323"/>
                </a:lnTo>
                <a:lnTo>
                  <a:pt x="245617" y="968374"/>
                </a:lnTo>
                <a:lnTo>
                  <a:pt x="214883" y="996314"/>
                </a:lnTo>
                <a:lnTo>
                  <a:pt x="185927" y="1025143"/>
                </a:lnTo>
                <a:lnTo>
                  <a:pt x="159003" y="1054480"/>
                </a:lnTo>
                <a:lnTo>
                  <a:pt x="134112" y="1084833"/>
                </a:lnTo>
                <a:lnTo>
                  <a:pt x="111378" y="1115694"/>
                </a:lnTo>
                <a:lnTo>
                  <a:pt x="81279" y="1163446"/>
                </a:lnTo>
                <a:lnTo>
                  <a:pt x="57023" y="1211960"/>
                </a:lnTo>
                <a:lnTo>
                  <a:pt x="39112" y="1264685"/>
                </a:lnTo>
                <a:lnTo>
                  <a:pt x="76705" y="1270563"/>
                </a:lnTo>
                <a:lnTo>
                  <a:pt x="79501" y="1258315"/>
                </a:lnTo>
                <a:lnTo>
                  <a:pt x="85343" y="1243075"/>
                </a:lnTo>
                <a:lnTo>
                  <a:pt x="106044" y="1197736"/>
                </a:lnTo>
                <a:lnTo>
                  <a:pt x="132206" y="1152905"/>
                </a:lnTo>
                <a:lnTo>
                  <a:pt x="163575" y="1108963"/>
                </a:lnTo>
                <a:lnTo>
                  <a:pt x="212851" y="1052067"/>
                </a:lnTo>
                <a:lnTo>
                  <a:pt x="240537" y="1024508"/>
                </a:lnTo>
                <a:lnTo>
                  <a:pt x="270001" y="997711"/>
                </a:lnTo>
                <a:lnTo>
                  <a:pt x="301370" y="971549"/>
                </a:lnTo>
                <a:lnTo>
                  <a:pt x="334390" y="946276"/>
                </a:lnTo>
                <a:lnTo>
                  <a:pt x="369062" y="922019"/>
                </a:lnTo>
                <a:lnTo>
                  <a:pt x="405129" y="898651"/>
                </a:lnTo>
                <a:lnTo>
                  <a:pt x="442594" y="876299"/>
                </a:lnTo>
                <a:lnTo>
                  <a:pt x="481456" y="855090"/>
                </a:lnTo>
                <a:lnTo>
                  <a:pt x="521462" y="835024"/>
                </a:lnTo>
                <a:lnTo>
                  <a:pt x="562609" y="816355"/>
                </a:lnTo>
                <a:lnTo>
                  <a:pt x="604901" y="798829"/>
                </a:lnTo>
                <a:lnTo>
                  <a:pt x="647953" y="782700"/>
                </a:lnTo>
                <a:lnTo>
                  <a:pt x="691895" y="767968"/>
                </a:lnTo>
                <a:lnTo>
                  <a:pt x="736600" y="754760"/>
                </a:lnTo>
                <a:lnTo>
                  <a:pt x="781938" y="743076"/>
                </a:lnTo>
                <a:lnTo>
                  <a:pt x="827786" y="733043"/>
                </a:lnTo>
                <a:lnTo>
                  <a:pt x="874140" y="724788"/>
                </a:lnTo>
                <a:lnTo>
                  <a:pt x="920750" y="718184"/>
                </a:lnTo>
                <a:lnTo>
                  <a:pt x="967739" y="713358"/>
                </a:lnTo>
                <a:lnTo>
                  <a:pt x="1014856" y="710437"/>
                </a:lnTo>
                <a:lnTo>
                  <a:pt x="1111377" y="708278"/>
                </a:lnTo>
                <a:lnTo>
                  <a:pt x="1160017" y="705230"/>
                </a:lnTo>
                <a:lnTo>
                  <a:pt x="1208531" y="700404"/>
                </a:lnTo>
                <a:lnTo>
                  <a:pt x="1256664" y="693546"/>
                </a:lnTo>
                <a:lnTo>
                  <a:pt x="1304417" y="685037"/>
                </a:lnTo>
                <a:lnTo>
                  <a:pt x="1351660" y="674623"/>
                </a:lnTo>
                <a:lnTo>
                  <a:pt x="1398270" y="662685"/>
                </a:lnTo>
                <a:lnTo>
                  <a:pt x="1444244" y="649096"/>
                </a:lnTo>
                <a:lnTo>
                  <a:pt x="1489455" y="633983"/>
                </a:lnTo>
                <a:lnTo>
                  <a:pt x="1533778" y="617473"/>
                </a:lnTo>
                <a:lnTo>
                  <a:pt x="1577339" y="599439"/>
                </a:lnTo>
                <a:lnTo>
                  <a:pt x="1619757" y="580135"/>
                </a:lnTo>
                <a:lnTo>
                  <a:pt x="1661032" y="559434"/>
                </a:lnTo>
                <a:lnTo>
                  <a:pt x="1701037" y="537590"/>
                </a:lnTo>
                <a:lnTo>
                  <a:pt x="1739773" y="514603"/>
                </a:lnTo>
                <a:lnTo>
                  <a:pt x="1777110" y="490473"/>
                </a:lnTo>
                <a:lnTo>
                  <a:pt x="1812925" y="465200"/>
                </a:lnTo>
                <a:lnTo>
                  <a:pt x="1847087" y="439038"/>
                </a:lnTo>
                <a:lnTo>
                  <a:pt x="1879853" y="411860"/>
                </a:lnTo>
                <a:lnTo>
                  <a:pt x="1910460" y="383920"/>
                </a:lnTo>
                <a:lnTo>
                  <a:pt x="1939417" y="355091"/>
                </a:lnTo>
                <a:lnTo>
                  <a:pt x="1966468" y="325500"/>
                </a:lnTo>
                <a:lnTo>
                  <a:pt x="1991232" y="295147"/>
                </a:lnTo>
                <a:lnTo>
                  <a:pt x="2024506" y="248792"/>
                </a:lnTo>
                <a:lnTo>
                  <a:pt x="2052447" y="200786"/>
                </a:lnTo>
                <a:lnTo>
                  <a:pt x="2074926" y="151764"/>
                </a:lnTo>
                <a:lnTo>
                  <a:pt x="2091562" y="101726"/>
                </a:lnTo>
                <a:lnTo>
                  <a:pt x="2101596" y="51053"/>
                </a:lnTo>
                <a:lnTo>
                  <a:pt x="2105025" y="1015"/>
                </a:lnTo>
                <a:lnTo>
                  <a:pt x="2067052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63139" y="4902708"/>
            <a:ext cx="1540002" cy="70713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85441" y="5013197"/>
            <a:ext cx="1377315" cy="532765"/>
          </a:xfrm>
          <a:custGeom>
            <a:avLst/>
            <a:gdLst/>
            <a:ahLst/>
            <a:cxnLst/>
            <a:rect l="l" t="t" r="r" b="b"/>
            <a:pathLst>
              <a:path w="1377314" h="532764">
                <a:moveTo>
                  <a:pt x="74834" y="130837"/>
                </a:moveTo>
                <a:lnTo>
                  <a:pt x="37697" y="138197"/>
                </a:lnTo>
                <a:lnTo>
                  <a:pt x="38481" y="141858"/>
                </a:lnTo>
                <a:lnTo>
                  <a:pt x="38861" y="143128"/>
                </a:lnTo>
                <a:lnTo>
                  <a:pt x="61467" y="190753"/>
                </a:lnTo>
                <a:lnTo>
                  <a:pt x="89788" y="235711"/>
                </a:lnTo>
                <a:lnTo>
                  <a:pt x="123825" y="278638"/>
                </a:lnTo>
                <a:lnTo>
                  <a:pt x="162686" y="319404"/>
                </a:lnTo>
                <a:lnTo>
                  <a:pt x="206375" y="357631"/>
                </a:lnTo>
                <a:lnTo>
                  <a:pt x="254126" y="393191"/>
                </a:lnTo>
                <a:lnTo>
                  <a:pt x="305561" y="425322"/>
                </a:lnTo>
                <a:lnTo>
                  <a:pt x="360171" y="454024"/>
                </a:lnTo>
                <a:lnTo>
                  <a:pt x="417321" y="478789"/>
                </a:lnTo>
                <a:lnTo>
                  <a:pt x="477011" y="499490"/>
                </a:lnTo>
                <a:lnTo>
                  <a:pt x="538352" y="515365"/>
                </a:lnTo>
                <a:lnTo>
                  <a:pt x="600963" y="526414"/>
                </a:lnTo>
                <a:lnTo>
                  <a:pt x="664463" y="532129"/>
                </a:lnTo>
                <a:lnTo>
                  <a:pt x="696340" y="532764"/>
                </a:lnTo>
                <a:lnTo>
                  <a:pt x="728217" y="532002"/>
                </a:lnTo>
                <a:lnTo>
                  <a:pt x="791717" y="526033"/>
                </a:lnTo>
                <a:lnTo>
                  <a:pt x="854328" y="514476"/>
                </a:lnTo>
                <a:lnTo>
                  <a:pt x="915669" y="497585"/>
                </a:lnTo>
                <a:lnTo>
                  <a:pt x="923947" y="494791"/>
                </a:lnTo>
                <a:lnTo>
                  <a:pt x="695451" y="494791"/>
                </a:lnTo>
                <a:lnTo>
                  <a:pt x="665226" y="494029"/>
                </a:lnTo>
                <a:lnTo>
                  <a:pt x="605282" y="488568"/>
                </a:lnTo>
                <a:lnTo>
                  <a:pt x="545591" y="478027"/>
                </a:lnTo>
                <a:lnTo>
                  <a:pt x="487298" y="462788"/>
                </a:lnTo>
                <a:lnTo>
                  <a:pt x="430529" y="443102"/>
                </a:lnTo>
                <a:lnTo>
                  <a:pt x="375919" y="419353"/>
                </a:lnTo>
                <a:lnTo>
                  <a:pt x="323850" y="391921"/>
                </a:lnTo>
                <a:lnTo>
                  <a:pt x="274954" y="361188"/>
                </a:lnTo>
                <a:lnTo>
                  <a:pt x="229742" y="327532"/>
                </a:lnTo>
                <a:lnTo>
                  <a:pt x="188467" y="291338"/>
                </a:lnTo>
                <a:lnTo>
                  <a:pt x="151891" y="252983"/>
                </a:lnTo>
                <a:lnTo>
                  <a:pt x="120268" y="212851"/>
                </a:lnTo>
                <a:lnTo>
                  <a:pt x="94360" y="171450"/>
                </a:lnTo>
                <a:lnTo>
                  <a:pt x="75849" y="132714"/>
                </a:lnTo>
                <a:lnTo>
                  <a:pt x="75437" y="132714"/>
                </a:lnTo>
                <a:lnTo>
                  <a:pt x="74834" y="130837"/>
                </a:lnTo>
                <a:close/>
              </a:path>
              <a:path w="1377314" h="532764">
                <a:moveTo>
                  <a:pt x="1338833" y="0"/>
                </a:moveTo>
                <a:lnTo>
                  <a:pt x="1335150" y="46481"/>
                </a:lnTo>
                <a:lnTo>
                  <a:pt x="1324609" y="91566"/>
                </a:lnTo>
                <a:lnTo>
                  <a:pt x="1307592" y="136016"/>
                </a:lnTo>
                <a:lnTo>
                  <a:pt x="1284478" y="179831"/>
                </a:lnTo>
                <a:lnTo>
                  <a:pt x="1255521" y="222249"/>
                </a:lnTo>
                <a:lnTo>
                  <a:pt x="1221358" y="263270"/>
                </a:lnTo>
                <a:lnTo>
                  <a:pt x="1182370" y="302132"/>
                </a:lnTo>
                <a:lnTo>
                  <a:pt x="1139062" y="338708"/>
                </a:lnTo>
                <a:lnTo>
                  <a:pt x="1091819" y="372236"/>
                </a:lnTo>
                <a:lnTo>
                  <a:pt x="1041272" y="402589"/>
                </a:lnTo>
                <a:lnTo>
                  <a:pt x="987932" y="429259"/>
                </a:lnTo>
                <a:lnTo>
                  <a:pt x="932180" y="451865"/>
                </a:lnTo>
                <a:lnTo>
                  <a:pt x="874521" y="470153"/>
                </a:lnTo>
                <a:lnTo>
                  <a:pt x="815466" y="483615"/>
                </a:lnTo>
                <a:lnTo>
                  <a:pt x="755650" y="491870"/>
                </a:lnTo>
                <a:lnTo>
                  <a:pt x="695451" y="494791"/>
                </a:lnTo>
                <a:lnTo>
                  <a:pt x="923947" y="494791"/>
                </a:lnTo>
                <a:lnTo>
                  <a:pt x="975359" y="476122"/>
                </a:lnTo>
                <a:lnTo>
                  <a:pt x="1032636" y="450214"/>
                </a:lnTo>
                <a:lnTo>
                  <a:pt x="1087246" y="420115"/>
                </a:lnTo>
                <a:lnTo>
                  <a:pt x="1138682" y="386333"/>
                </a:lnTo>
                <a:lnTo>
                  <a:pt x="1186307" y="349376"/>
                </a:lnTo>
                <a:lnTo>
                  <a:pt x="1229868" y="309371"/>
                </a:lnTo>
                <a:lnTo>
                  <a:pt x="1268857" y="266699"/>
                </a:lnTo>
                <a:lnTo>
                  <a:pt x="1302766" y="221741"/>
                </a:lnTo>
                <a:lnTo>
                  <a:pt x="1330959" y="174751"/>
                </a:lnTo>
                <a:lnTo>
                  <a:pt x="1352931" y="126237"/>
                </a:lnTo>
                <a:lnTo>
                  <a:pt x="1368044" y="76326"/>
                </a:lnTo>
                <a:lnTo>
                  <a:pt x="1375918" y="25526"/>
                </a:lnTo>
                <a:lnTo>
                  <a:pt x="1376933" y="1524"/>
                </a:lnTo>
                <a:lnTo>
                  <a:pt x="1338833" y="0"/>
                </a:lnTo>
                <a:close/>
              </a:path>
              <a:path w="1377314" h="532764">
                <a:moveTo>
                  <a:pt x="33908" y="22478"/>
                </a:moveTo>
                <a:lnTo>
                  <a:pt x="0" y="145669"/>
                </a:lnTo>
                <a:lnTo>
                  <a:pt x="37697" y="138197"/>
                </a:lnTo>
                <a:lnTo>
                  <a:pt x="33781" y="119887"/>
                </a:lnTo>
                <a:lnTo>
                  <a:pt x="70992" y="111887"/>
                </a:lnTo>
                <a:lnTo>
                  <a:pt x="103186" y="111887"/>
                </a:lnTo>
                <a:lnTo>
                  <a:pt x="33908" y="22478"/>
                </a:lnTo>
                <a:close/>
              </a:path>
              <a:path w="1377314" h="532764">
                <a:moveTo>
                  <a:pt x="70992" y="111887"/>
                </a:moveTo>
                <a:lnTo>
                  <a:pt x="33781" y="119887"/>
                </a:lnTo>
                <a:lnTo>
                  <a:pt x="37697" y="138197"/>
                </a:lnTo>
                <a:lnTo>
                  <a:pt x="74834" y="130837"/>
                </a:lnTo>
                <a:lnTo>
                  <a:pt x="74294" y="129158"/>
                </a:lnTo>
                <a:lnTo>
                  <a:pt x="74679" y="129158"/>
                </a:lnTo>
                <a:lnTo>
                  <a:pt x="70992" y="111887"/>
                </a:lnTo>
                <a:close/>
              </a:path>
              <a:path w="1377314" h="532764">
                <a:moveTo>
                  <a:pt x="75013" y="130802"/>
                </a:moveTo>
                <a:lnTo>
                  <a:pt x="74834" y="130837"/>
                </a:lnTo>
                <a:lnTo>
                  <a:pt x="75437" y="132714"/>
                </a:lnTo>
                <a:lnTo>
                  <a:pt x="75045" y="130875"/>
                </a:lnTo>
                <a:close/>
              </a:path>
              <a:path w="1377314" h="532764">
                <a:moveTo>
                  <a:pt x="75045" y="130875"/>
                </a:moveTo>
                <a:lnTo>
                  <a:pt x="75437" y="132714"/>
                </a:lnTo>
                <a:lnTo>
                  <a:pt x="75849" y="132714"/>
                </a:lnTo>
                <a:lnTo>
                  <a:pt x="75045" y="130875"/>
                </a:lnTo>
                <a:close/>
              </a:path>
              <a:path w="1377314" h="532764">
                <a:moveTo>
                  <a:pt x="74294" y="129158"/>
                </a:moveTo>
                <a:lnTo>
                  <a:pt x="74834" y="130837"/>
                </a:lnTo>
                <a:lnTo>
                  <a:pt x="75013" y="130802"/>
                </a:lnTo>
                <a:lnTo>
                  <a:pt x="74294" y="129158"/>
                </a:lnTo>
                <a:close/>
              </a:path>
              <a:path w="1377314" h="532764">
                <a:moveTo>
                  <a:pt x="74679" y="129158"/>
                </a:moveTo>
                <a:lnTo>
                  <a:pt x="74294" y="129158"/>
                </a:lnTo>
                <a:lnTo>
                  <a:pt x="75013" y="130802"/>
                </a:lnTo>
                <a:lnTo>
                  <a:pt x="74679" y="129158"/>
                </a:lnTo>
                <a:close/>
              </a:path>
              <a:path w="1377314" h="532764">
                <a:moveTo>
                  <a:pt x="103186" y="111887"/>
                </a:moveTo>
                <a:lnTo>
                  <a:pt x="70992" y="111887"/>
                </a:lnTo>
                <a:lnTo>
                  <a:pt x="75029" y="130799"/>
                </a:lnTo>
                <a:lnTo>
                  <a:pt x="112140" y="123443"/>
                </a:lnTo>
                <a:lnTo>
                  <a:pt x="103186" y="111887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98564" y="3788917"/>
            <a:ext cx="6927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5" dirty="0">
                <a:latin typeface="Arial"/>
                <a:cs typeface="Arial"/>
              </a:rPr>
              <a:t>1ra </a:t>
            </a:r>
            <a:r>
              <a:rPr sz="1400" spc="-70" dirty="0">
                <a:latin typeface="Arial"/>
                <a:cs typeface="Arial"/>
              </a:rPr>
              <a:t>y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2da</a:t>
            </a:r>
            <a:endParaRPr sz="1400">
              <a:latin typeface="Arial"/>
              <a:cs typeface="Arial"/>
            </a:endParaRPr>
          </a:p>
          <a:p>
            <a:pPr marL="295910">
              <a:lnSpc>
                <a:spcPct val="100000"/>
              </a:lnSpc>
            </a:pPr>
            <a:r>
              <a:rPr sz="1400" spc="15" dirty="0">
                <a:latin typeface="Arial"/>
                <a:cs typeface="Arial"/>
              </a:rPr>
              <a:t>fir</a:t>
            </a:r>
            <a:r>
              <a:rPr sz="1400" spc="-80" dirty="0">
                <a:latin typeface="Arial"/>
                <a:cs typeface="Arial"/>
              </a:rPr>
              <a:t>ma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5859" y="1448180"/>
            <a:ext cx="2590800" cy="2209800"/>
          </a:xfrm>
          <a:prstGeom prst="rect">
            <a:avLst/>
          </a:prstGeom>
          <a:ln w="25146">
            <a:solidFill>
              <a:srgbClr val="C0504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666750">
              <a:lnSpc>
                <a:spcPct val="100000"/>
              </a:lnSpc>
              <a:spcBef>
                <a:spcPts val="1120"/>
              </a:spcBef>
            </a:pP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Emisión</a:t>
            </a:r>
            <a:r>
              <a:rPr sz="1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Orden</a:t>
            </a:r>
            <a:endParaRPr sz="1600">
              <a:latin typeface="Trebuchet MS"/>
              <a:cs typeface="Trebuchet MS"/>
            </a:endParaRPr>
          </a:p>
          <a:p>
            <a:pPr marR="11430" algn="ctr">
              <a:lnSpc>
                <a:spcPct val="100000"/>
              </a:lnSpc>
              <a:spcBef>
                <a:spcPts val="5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Trebuchet MS"/>
                <a:cs typeface="Trebuchet MS"/>
              </a:rPr>
              <a:t>Pago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93980" marR="86995" indent="-635" algn="ctr">
              <a:lnSpc>
                <a:spcPct val="100000"/>
              </a:lnSpc>
              <a:spcBef>
                <a:spcPts val="1420"/>
              </a:spcBef>
            </a:pPr>
            <a:r>
              <a:rPr sz="1400" b="1" spc="-20" dirty="0">
                <a:solidFill>
                  <a:srgbClr val="C0000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C00000"/>
                </a:solidFill>
                <a:latin typeface="Trebuchet MS"/>
                <a:cs typeface="Trebuchet MS"/>
              </a:rPr>
              <a:t>1: </a:t>
            </a:r>
            <a:r>
              <a:rPr sz="1400" b="1" spc="-80" dirty="0">
                <a:solidFill>
                  <a:srgbClr val="C00000"/>
                </a:solidFill>
                <a:latin typeface="Trebuchet MS"/>
                <a:cs typeface="Trebuchet MS"/>
              </a:rPr>
              <a:t>Determinación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C00000"/>
                </a:solidFill>
                <a:latin typeface="Trebuchet MS"/>
                <a:cs typeface="Trebuchet MS"/>
              </a:rPr>
              <a:t>la  </a:t>
            </a:r>
            <a:r>
              <a:rPr sz="1400" b="1" spc="-95" dirty="0">
                <a:solidFill>
                  <a:srgbClr val="C00000"/>
                </a:solidFill>
                <a:latin typeface="Trebuchet MS"/>
                <a:cs typeface="Trebuchet MS"/>
              </a:rPr>
              <a:t>fecha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de </a:t>
            </a:r>
            <a:r>
              <a:rPr sz="1400" b="1" spc="-90" dirty="0">
                <a:solidFill>
                  <a:srgbClr val="C00000"/>
                </a:solidFill>
                <a:latin typeface="Trebuchet MS"/>
                <a:cs typeface="Trebuchet MS"/>
              </a:rPr>
              <a:t>vencimiento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C00000"/>
                </a:solidFill>
                <a:latin typeface="Trebuchet MS"/>
                <a:cs typeface="Trebuchet MS"/>
              </a:rPr>
              <a:t>la 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factura y </a:t>
            </a: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emisión </a:t>
            </a:r>
            <a:r>
              <a:rPr sz="1400" b="1" spc="-80" dirty="0">
                <a:solidFill>
                  <a:srgbClr val="C00000"/>
                </a:solidFill>
                <a:latin typeface="Trebuchet MS"/>
                <a:cs typeface="Trebuchet MS"/>
              </a:rPr>
              <a:t>Orden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de</a:t>
            </a:r>
            <a:r>
              <a:rPr sz="1400" b="1" spc="-2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C00000"/>
                </a:solidFill>
                <a:latin typeface="Trebuchet MS"/>
                <a:cs typeface="Trebuchet MS"/>
              </a:rPr>
              <a:t>Pago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5859" y="3803522"/>
            <a:ext cx="5487670" cy="2230755"/>
          </a:xfrm>
          <a:custGeom>
            <a:avLst/>
            <a:gdLst/>
            <a:ahLst/>
            <a:cxnLst/>
            <a:rect l="l" t="t" r="r" b="b"/>
            <a:pathLst>
              <a:path w="5487670" h="2230754">
                <a:moveTo>
                  <a:pt x="0" y="2230374"/>
                </a:moveTo>
                <a:lnTo>
                  <a:pt x="5487162" y="2230374"/>
                </a:lnTo>
                <a:lnTo>
                  <a:pt x="5487162" y="0"/>
                </a:lnTo>
                <a:lnTo>
                  <a:pt x="0" y="0"/>
                </a:lnTo>
                <a:lnTo>
                  <a:pt x="0" y="2230374"/>
                </a:lnTo>
                <a:close/>
              </a:path>
            </a:pathLst>
          </a:custGeom>
          <a:ln w="25146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1444" y="5751321"/>
            <a:ext cx="50139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E36C09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E36C09"/>
                </a:solidFill>
                <a:latin typeface="Trebuchet MS"/>
                <a:cs typeface="Trebuchet MS"/>
              </a:rPr>
              <a:t>3: </a:t>
            </a:r>
            <a:r>
              <a:rPr sz="1400" b="1" spc="-75" dirty="0">
                <a:solidFill>
                  <a:srgbClr val="E36C09"/>
                </a:solidFill>
                <a:latin typeface="Trebuchet MS"/>
                <a:cs typeface="Trebuchet MS"/>
              </a:rPr>
              <a:t>Distribución </a:t>
            </a:r>
            <a:r>
              <a:rPr sz="1400" b="1" spc="-85" dirty="0">
                <a:solidFill>
                  <a:srgbClr val="E36C09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E36C09"/>
                </a:solidFill>
                <a:latin typeface="Trebuchet MS"/>
                <a:cs typeface="Trebuchet MS"/>
              </a:rPr>
              <a:t>la </a:t>
            </a:r>
            <a:r>
              <a:rPr sz="1400" b="1" spc="-80" dirty="0">
                <a:solidFill>
                  <a:srgbClr val="E36C09"/>
                </a:solidFill>
                <a:latin typeface="Trebuchet MS"/>
                <a:cs typeface="Trebuchet MS"/>
              </a:rPr>
              <a:t>documentación </a:t>
            </a:r>
            <a:r>
              <a:rPr sz="1400" b="1" spc="-85" dirty="0">
                <a:solidFill>
                  <a:srgbClr val="E36C09"/>
                </a:solidFill>
                <a:latin typeface="Trebuchet MS"/>
                <a:cs typeface="Trebuchet MS"/>
              </a:rPr>
              <a:t>y registración </a:t>
            </a:r>
            <a:r>
              <a:rPr sz="1400" b="1" spc="-80" dirty="0">
                <a:solidFill>
                  <a:srgbClr val="E36C09"/>
                </a:solidFill>
                <a:latin typeface="Trebuchet MS"/>
                <a:cs typeface="Trebuchet MS"/>
              </a:rPr>
              <a:t>del</a:t>
            </a:r>
            <a:r>
              <a:rPr sz="1400" b="1" spc="-27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E36C09"/>
                </a:solidFill>
                <a:latin typeface="Trebuchet MS"/>
                <a:cs typeface="Trebuchet MS"/>
              </a:rPr>
              <a:t>pago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24525" y="3081908"/>
            <a:ext cx="990600" cy="1524000"/>
          </a:xfrm>
          <a:custGeom>
            <a:avLst/>
            <a:gdLst/>
            <a:ahLst/>
            <a:cxnLst/>
            <a:rect l="l" t="t" r="r" b="b"/>
            <a:pathLst>
              <a:path w="990600" h="1524000">
                <a:moveTo>
                  <a:pt x="0" y="0"/>
                </a:moveTo>
                <a:lnTo>
                  <a:pt x="990600" y="1523999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54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6505" y="1109711"/>
            <a:ext cx="6377116" cy="5106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73040" y="3525011"/>
            <a:ext cx="139446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60594" y="3449320"/>
            <a:ext cx="281749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latin typeface="Trebuchet MS"/>
                <a:cs typeface="Trebuchet MS"/>
              </a:rPr>
              <a:t>Actores </a:t>
            </a:r>
            <a:r>
              <a:rPr sz="1600" b="1" spc="60" dirty="0">
                <a:latin typeface="Trebuchet MS"/>
                <a:cs typeface="Trebuchet MS"/>
              </a:rPr>
              <a:t>/ </a:t>
            </a:r>
            <a:r>
              <a:rPr sz="1600" b="1" spc="-80" dirty="0">
                <a:latin typeface="Trebuchet MS"/>
                <a:cs typeface="Trebuchet MS"/>
              </a:rPr>
              <a:t>Áreas</a:t>
            </a:r>
            <a:r>
              <a:rPr sz="1600" b="1" spc="-36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involucradas:</a:t>
            </a:r>
            <a:endParaRPr sz="1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600" spc="-75" dirty="0">
                <a:latin typeface="Arial"/>
                <a:cs typeface="Arial"/>
              </a:rPr>
              <a:t>Contaduría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600" spc="-90" dirty="0">
                <a:latin typeface="Arial"/>
                <a:cs typeface="Arial"/>
              </a:rPr>
              <a:t>Tesorería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600" spc="-65" dirty="0">
                <a:latin typeface="Arial"/>
                <a:cs typeface="Arial"/>
              </a:rPr>
              <a:t>Gerente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Administrativo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600" spc="-70" dirty="0">
                <a:latin typeface="Arial"/>
                <a:cs typeface="Arial"/>
              </a:rPr>
              <a:t>Proveedor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846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54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35" dirty="0">
                <a:latin typeface="Arial"/>
                <a:cs typeface="Arial"/>
              </a:rPr>
              <a:t>I: </a:t>
            </a:r>
            <a:r>
              <a:rPr sz="1800" b="0" spc="-55" dirty="0">
                <a:latin typeface="Arial"/>
                <a:cs typeface="Arial"/>
              </a:rPr>
              <a:t>Determinar </a:t>
            </a:r>
            <a:r>
              <a:rPr sz="1800" b="0" spc="-85" dirty="0">
                <a:latin typeface="Arial"/>
                <a:cs typeface="Arial"/>
              </a:rPr>
              <a:t>fecha de </a:t>
            </a:r>
            <a:r>
              <a:rPr sz="1800" b="0" spc="-50" dirty="0">
                <a:latin typeface="Arial"/>
                <a:cs typeface="Arial"/>
              </a:rPr>
              <a:t>vencimiento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45" dirty="0">
                <a:latin typeface="Arial"/>
                <a:cs typeface="Arial"/>
              </a:rPr>
              <a:t>factura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órden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31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pago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1975" y="1440668"/>
            <a:ext cx="6398670" cy="4634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28422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Pagos</a:t>
            </a:r>
            <a:r>
              <a:rPr sz="20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Emisión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cheque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5348" y="999490"/>
            <a:ext cx="4245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60" dirty="0">
                <a:solidFill>
                  <a:srgbClr val="000000"/>
                </a:solidFill>
              </a:rPr>
              <a:t>Controles</a:t>
            </a:r>
            <a:r>
              <a:rPr sz="3000" spc="-265" dirty="0">
                <a:solidFill>
                  <a:srgbClr val="000000"/>
                </a:solidFill>
              </a:rPr>
              <a:t> </a:t>
            </a:r>
            <a:r>
              <a:rPr sz="3000" spc="-160" dirty="0">
                <a:solidFill>
                  <a:srgbClr val="000000"/>
                </a:solidFill>
              </a:rPr>
              <a:t>instrumentados: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6154075" y="2653728"/>
            <a:ext cx="3359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spc="-65" dirty="0">
                <a:latin typeface="Arial"/>
                <a:cs typeface="Arial"/>
              </a:rPr>
              <a:t>ón</a:t>
            </a:r>
            <a:r>
              <a:rPr sz="2000" spc="-2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</a:tabLst>
            </a:pPr>
            <a:r>
              <a:rPr spc="-145" dirty="0"/>
              <a:t>Emisión </a:t>
            </a:r>
            <a:r>
              <a:rPr spc="-120" dirty="0"/>
              <a:t>de </a:t>
            </a:r>
            <a:r>
              <a:rPr spc="-150" dirty="0"/>
              <a:t>cheques </a:t>
            </a:r>
            <a:r>
              <a:rPr spc="-125" dirty="0"/>
              <a:t>con </a:t>
            </a:r>
            <a:r>
              <a:rPr b="1" spc="-210" dirty="0">
                <a:latin typeface="Trebuchet MS"/>
                <a:cs typeface="Trebuchet MS"/>
              </a:rPr>
              <a:t>2 </a:t>
            </a:r>
            <a:r>
              <a:rPr b="1" spc="-114" dirty="0">
                <a:latin typeface="Trebuchet MS"/>
                <a:cs typeface="Trebuchet MS"/>
              </a:rPr>
              <a:t>(dos)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spc="-75" dirty="0"/>
              <a:t>firmas:</a:t>
            </a:r>
          </a:p>
          <a:p>
            <a:pPr marL="736600" lvl="1" indent="-26670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170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2 </a:t>
            </a:r>
            <a:r>
              <a:rPr sz="2000" spc="-80" dirty="0">
                <a:latin typeface="Arial"/>
                <a:cs typeface="Arial"/>
              </a:rPr>
              <a:t>listas </a:t>
            </a:r>
            <a:r>
              <a:rPr sz="2000" spc="-55" dirty="0">
                <a:latin typeface="Arial"/>
                <a:cs typeface="Arial"/>
              </a:rPr>
              <a:t>diferentes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55" dirty="0">
                <a:latin typeface="Arial"/>
                <a:cs typeface="Arial"/>
              </a:rPr>
              <a:t>le </a:t>
            </a:r>
            <a:r>
              <a:rPr sz="2000" spc="-70" dirty="0">
                <a:latin typeface="Arial"/>
                <a:cs typeface="Arial"/>
              </a:rPr>
              <a:t>entregan </a:t>
            </a:r>
            <a:r>
              <a:rPr sz="2000" spc="-75" dirty="0">
                <a:latin typeface="Arial"/>
                <a:cs typeface="Arial"/>
              </a:rPr>
              <a:t>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Banco:</a:t>
            </a:r>
            <a:endParaRPr sz="2000">
              <a:latin typeface="Arial"/>
              <a:cs typeface="Arial"/>
            </a:endParaRPr>
          </a:p>
          <a:p>
            <a:pPr marL="1193800" lvl="2" indent="-266700">
              <a:lnSpc>
                <a:spcPct val="100000"/>
              </a:lnSpc>
              <a:buFont typeface="Wingdings"/>
              <a:buChar char=""/>
              <a:tabLst>
                <a:tab pos="1193800" algn="l"/>
              </a:tabLst>
            </a:pPr>
            <a:r>
              <a:rPr sz="2000" b="1" spc="-125" dirty="0">
                <a:latin typeface="Trebuchet MS"/>
                <a:cs typeface="Trebuchet MS"/>
              </a:rPr>
              <a:t>Lista </a:t>
            </a:r>
            <a:r>
              <a:rPr sz="2000" b="1" spc="-120" dirty="0">
                <a:latin typeface="Trebuchet MS"/>
                <a:cs typeface="Trebuchet MS"/>
              </a:rPr>
              <a:t>A: </a:t>
            </a:r>
            <a:r>
              <a:rPr sz="2000" spc="-75" dirty="0">
                <a:latin typeface="Arial"/>
                <a:cs typeface="Arial"/>
              </a:rPr>
              <a:t>principales Directivos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organizaci</a:t>
            </a:r>
            <a:endParaRPr sz="2000">
              <a:latin typeface="Arial"/>
              <a:cs typeface="Arial"/>
            </a:endParaRPr>
          </a:p>
          <a:p>
            <a:pPr marL="1193800" marR="6350" lvl="2" indent="-266700">
              <a:lnSpc>
                <a:spcPct val="100000"/>
              </a:lnSpc>
              <a:buFont typeface="Wingdings"/>
              <a:buChar char=""/>
              <a:tabLst>
                <a:tab pos="1193800" algn="l"/>
              </a:tabLst>
            </a:pPr>
            <a:r>
              <a:rPr sz="2000" b="1" spc="-125" dirty="0">
                <a:latin typeface="Trebuchet MS"/>
                <a:cs typeface="Trebuchet MS"/>
              </a:rPr>
              <a:t>Lista B: </a:t>
            </a:r>
            <a:r>
              <a:rPr sz="2000" spc="-100" dirty="0">
                <a:latin typeface="Arial"/>
                <a:cs typeface="Arial"/>
              </a:rPr>
              <a:t>Tesorero y </a:t>
            </a:r>
            <a:r>
              <a:rPr sz="2000" spc="-45" dirty="0">
                <a:latin typeface="Arial"/>
                <a:cs typeface="Arial"/>
              </a:rPr>
              <a:t>otros </a:t>
            </a:r>
            <a:r>
              <a:rPr sz="2000" spc="-100" dirty="0">
                <a:latin typeface="Arial"/>
                <a:cs typeface="Arial"/>
              </a:rPr>
              <a:t>Gerentes </a:t>
            </a:r>
            <a:r>
              <a:rPr sz="2000" spc="-110" dirty="0">
                <a:latin typeface="Arial"/>
                <a:cs typeface="Arial"/>
              </a:rPr>
              <a:t>Funcionales  </a:t>
            </a:r>
            <a:r>
              <a:rPr sz="2000" spc="-95" dirty="0">
                <a:latin typeface="Arial"/>
                <a:cs typeface="Arial"/>
              </a:rPr>
              <a:t>(reemplazos).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pc="-185" dirty="0"/>
              <a:t>Cláusulas </a:t>
            </a:r>
            <a:r>
              <a:rPr spc="-120" dirty="0"/>
              <a:t>de </a:t>
            </a:r>
            <a:r>
              <a:rPr spc="-95" dirty="0"/>
              <a:t>emisión </a:t>
            </a:r>
            <a:r>
              <a:rPr spc="-120" dirty="0"/>
              <a:t>de</a:t>
            </a:r>
            <a:r>
              <a:rPr spc="-165" dirty="0"/>
              <a:t> </a:t>
            </a:r>
            <a:r>
              <a:rPr spc="-135" dirty="0"/>
              <a:t>cheques:</a:t>
            </a:r>
          </a:p>
          <a:p>
            <a:pPr marL="736600" lvl="1" indent="-26670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20" dirty="0">
                <a:latin typeface="Arial"/>
                <a:cs typeface="Arial"/>
              </a:rPr>
              <a:t>“No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25" dirty="0">
                <a:latin typeface="Arial"/>
                <a:cs typeface="Arial"/>
              </a:rPr>
              <a:t>orden” </a:t>
            </a:r>
            <a:r>
              <a:rPr sz="2000" spc="-175" dirty="0">
                <a:latin typeface="Arial"/>
                <a:cs typeface="Arial"/>
              </a:rPr>
              <a:t>+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beneficiario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pc="-105" dirty="0"/>
              <a:t>Anulación </a:t>
            </a:r>
            <a:r>
              <a:rPr spc="-120" dirty="0"/>
              <a:t>de </a:t>
            </a:r>
            <a:r>
              <a:rPr spc="-140" dirty="0"/>
              <a:t>cheques, </a:t>
            </a:r>
            <a:r>
              <a:rPr spc="-80" dirty="0"/>
              <a:t>no </a:t>
            </a:r>
            <a:r>
              <a:rPr spc="-225" dirty="0"/>
              <a:t>se</a:t>
            </a:r>
            <a:r>
              <a:rPr spc="-285" dirty="0"/>
              <a:t> </a:t>
            </a:r>
            <a:r>
              <a:rPr spc="-90" dirty="0"/>
              <a:t>destruyen.</a:t>
            </a: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pc="-105" dirty="0"/>
              <a:t>Anulación </a:t>
            </a:r>
            <a:r>
              <a:rPr spc="-120" dirty="0"/>
              <a:t>de </a:t>
            </a:r>
            <a:r>
              <a:rPr spc="-95" dirty="0"/>
              <a:t>documentación </a:t>
            </a:r>
            <a:r>
              <a:rPr spc="-80" dirty="0"/>
              <a:t>del </a:t>
            </a:r>
            <a:r>
              <a:rPr spc="-165" dirty="0"/>
              <a:t>Legajo </a:t>
            </a:r>
            <a:r>
              <a:rPr spc="-120" dirty="0"/>
              <a:t>de  </a:t>
            </a:r>
            <a:r>
              <a:rPr spc="-180" dirty="0"/>
              <a:t>Cobranzas.</a:t>
            </a:r>
          </a:p>
        </p:txBody>
      </p:sp>
      <p:sp>
        <p:nvSpPr>
          <p:cNvPr id="7" name="object 7"/>
          <p:cNvSpPr/>
          <p:nvPr/>
        </p:nvSpPr>
        <p:spPr>
          <a:xfrm>
            <a:off x="6629444" y="1066800"/>
            <a:ext cx="1676643" cy="1743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91200" y="3352800"/>
            <a:ext cx="3143250" cy="14577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3250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Pagos</a:t>
            </a:r>
            <a:r>
              <a:rPr sz="20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Emisión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cheque</a:t>
            </a: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5348" y="999490"/>
            <a:ext cx="54146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60" dirty="0">
                <a:solidFill>
                  <a:srgbClr val="000000"/>
                </a:solidFill>
              </a:rPr>
              <a:t>Controles </a:t>
            </a:r>
            <a:r>
              <a:rPr sz="3000" spc="-150" dirty="0">
                <a:solidFill>
                  <a:srgbClr val="000000"/>
                </a:solidFill>
              </a:rPr>
              <a:t>instrumentados</a:t>
            </a:r>
            <a:r>
              <a:rPr sz="3000" spc="-340" dirty="0">
                <a:solidFill>
                  <a:srgbClr val="000000"/>
                </a:solidFill>
              </a:rPr>
              <a:t> </a:t>
            </a:r>
            <a:r>
              <a:rPr sz="3000" spc="-195" dirty="0">
                <a:solidFill>
                  <a:srgbClr val="000000"/>
                </a:solidFill>
              </a:rPr>
              <a:t>(Cont.):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72541" y="1826260"/>
            <a:ext cx="5568950" cy="362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20" dirty="0">
                <a:latin typeface="Arial"/>
                <a:cs typeface="Arial"/>
              </a:rPr>
              <a:t>Custodiar </a:t>
            </a:r>
            <a:r>
              <a:rPr sz="2600" spc="-150" dirty="0">
                <a:latin typeface="Arial"/>
                <a:cs typeface="Arial"/>
              </a:rPr>
              <a:t>cheques </a:t>
            </a:r>
            <a:r>
              <a:rPr sz="2600" spc="-120" dirty="0">
                <a:latin typeface="Arial"/>
                <a:cs typeface="Arial"/>
              </a:rPr>
              <a:t>sin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utilizar;</a:t>
            </a:r>
            <a:endParaRPr sz="2600">
              <a:latin typeface="Arial"/>
              <a:cs typeface="Arial"/>
            </a:endParaRPr>
          </a:p>
          <a:p>
            <a:pPr marL="279400" marR="66040" indent="-266700">
              <a:lnSpc>
                <a:spcPct val="100000"/>
              </a:lnSpc>
              <a:spcBef>
                <a:spcPts val="2400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10" dirty="0">
                <a:latin typeface="Arial"/>
                <a:cs typeface="Arial"/>
              </a:rPr>
              <a:t>Prenumeración </a:t>
            </a:r>
            <a:r>
              <a:rPr sz="2600" spc="-120" dirty="0">
                <a:latin typeface="Arial"/>
                <a:cs typeface="Arial"/>
              </a:rPr>
              <a:t>de los </a:t>
            </a:r>
            <a:r>
              <a:rPr sz="2600" spc="-65" dirty="0">
                <a:latin typeface="Arial"/>
                <a:cs typeface="Arial"/>
              </a:rPr>
              <a:t>formularios  </a:t>
            </a:r>
            <a:r>
              <a:rPr sz="2600" spc="-55" dirty="0">
                <a:latin typeface="Arial"/>
                <a:cs typeface="Arial"/>
              </a:rPr>
              <a:t>intervinientes. </a:t>
            </a:r>
            <a:r>
              <a:rPr sz="2600" spc="-80" dirty="0">
                <a:latin typeface="Arial"/>
                <a:cs typeface="Arial"/>
              </a:rPr>
              <a:t>Control numérico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375" dirty="0">
                <a:latin typeface="Arial"/>
                <a:cs typeface="Arial"/>
              </a:rPr>
              <a:t> </a:t>
            </a:r>
            <a:r>
              <a:rPr sz="2600" spc="-160" dirty="0">
                <a:latin typeface="Arial"/>
                <a:cs typeface="Arial"/>
              </a:rPr>
              <a:t>las  </a:t>
            </a:r>
            <a:r>
              <a:rPr sz="2600" spc="-150" dirty="0">
                <a:latin typeface="Arial"/>
                <a:cs typeface="Arial"/>
              </a:rPr>
              <a:t>Ordenes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225" dirty="0">
                <a:latin typeface="Arial"/>
                <a:cs typeface="Arial"/>
              </a:rPr>
              <a:t>Pago</a:t>
            </a:r>
            <a:endParaRPr sz="26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40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105" dirty="0">
                <a:latin typeface="Arial"/>
                <a:cs typeface="Arial"/>
              </a:rPr>
              <a:t>Tesorería: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270" dirty="0">
                <a:latin typeface="Arial"/>
                <a:cs typeface="Arial"/>
              </a:rPr>
              <a:t>OP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recibidas</a:t>
            </a:r>
            <a:endParaRPr sz="20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90" dirty="0">
                <a:latin typeface="Arial"/>
                <a:cs typeface="Arial"/>
              </a:rPr>
              <a:t>Contaduría: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270" dirty="0">
                <a:latin typeface="Arial"/>
                <a:cs typeface="Arial"/>
              </a:rPr>
              <a:t>OP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14" dirty="0">
                <a:latin typeface="Arial"/>
                <a:cs typeface="Arial"/>
              </a:rPr>
              <a:t>cheques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emitidos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229" dirty="0">
                <a:latin typeface="Arial"/>
                <a:cs typeface="Arial"/>
              </a:rPr>
              <a:t>Días </a:t>
            </a:r>
            <a:r>
              <a:rPr sz="2600" spc="-110" dirty="0">
                <a:latin typeface="Arial"/>
                <a:cs typeface="Arial"/>
              </a:rPr>
              <a:t>preestablecidos para </a:t>
            </a:r>
            <a:r>
              <a:rPr sz="2600" spc="-95" dirty="0">
                <a:latin typeface="Arial"/>
                <a:cs typeface="Arial"/>
              </a:rPr>
              <a:t>la emisión </a:t>
            </a:r>
            <a:r>
              <a:rPr sz="2600" spc="-125" dirty="0">
                <a:latin typeface="Arial"/>
                <a:cs typeface="Arial"/>
              </a:rPr>
              <a:t>y  </a:t>
            </a:r>
            <a:r>
              <a:rPr sz="2600" spc="-40" dirty="0">
                <a:latin typeface="Arial"/>
                <a:cs typeface="Arial"/>
              </a:rPr>
              <a:t>firma </a:t>
            </a:r>
            <a:r>
              <a:rPr sz="2600" spc="-114" dirty="0">
                <a:latin typeface="Arial"/>
                <a:cs typeface="Arial"/>
              </a:rPr>
              <a:t>de </a:t>
            </a:r>
            <a:r>
              <a:rPr sz="2600" spc="-150" dirty="0">
                <a:latin typeface="Arial"/>
                <a:cs typeface="Arial"/>
              </a:rPr>
              <a:t>cheques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50" dirty="0">
                <a:latin typeface="Arial"/>
                <a:cs typeface="Arial"/>
              </a:rPr>
              <a:t>pago 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spc="-29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proveedores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81974" y="1295400"/>
            <a:ext cx="2186886" cy="192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00" y="3810000"/>
            <a:ext cx="2362200" cy="1943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53250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6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II: </a:t>
            </a:r>
            <a:r>
              <a:rPr sz="1800" b="0" spc="-100" dirty="0">
                <a:latin typeface="Arial"/>
                <a:cs typeface="Arial"/>
              </a:rPr>
              <a:t>Emisión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90" dirty="0">
                <a:latin typeface="Arial"/>
                <a:cs typeface="Arial"/>
              </a:rPr>
              <a:t>cheque</a:t>
            </a:r>
            <a:r>
              <a:rPr sz="1800" b="0" spc="-21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4842" y="1113282"/>
            <a:ext cx="5077957" cy="5226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379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54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III: </a:t>
            </a:r>
            <a:r>
              <a:rPr sz="1800" b="0" spc="-55" dirty="0">
                <a:latin typeface="Arial"/>
                <a:cs typeface="Arial"/>
              </a:rPr>
              <a:t>Distribución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 documentación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0" dirty="0">
                <a:latin typeface="Arial"/>
                <a:cs typeface="Arial"/>
              </a:rPr>
              <a:t>registración </a:t>
            </a:r>
            <a:r>
              <a:rPr sz="1800" b="0" spc="-55" dirty="0">
                <a:latin typeface="Arial"/>
                <a:cs typeface="Arial"/>
              </a:rPr>
              <a:t>del</a:t>
            </a:r>
            <a:r>
              <a:rPr sz="1800" b="0" spc="-210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pago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342" y="1079500"/>
            <a:ext cx="3336290" cy="4358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19685" indent="-2667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350" dirty="0">
                <a:latin typeface="Arial"/>
                <a:cs typeface="Arial"/>
              </a:rPr>
              <a:t>Se </a:t>
            </a:r>
            <a:r>
              <a:rPr sz="2600" spc="-100" dirty="0">
                <a:latin typeface="Arial"/>
                <a:cs typeface="Arial"/>
              </a:rPr>
              <a:t>recomienda </a:t>
            </a:r>
            <a:r>
              <a:rPr sz="2600" spc="-80" dirty="0">
                <a:latin typeface="Arial"/>
                <a:cs typeface="Arial"/>
              </a:rPr>
              <a:t>exigir </a:t>
            </a:r>
            <a:r>
              <a:rPr sz="2600" spc="-204" dirty="0">
                <a:latin typeface="Arial"/>
                <a:cs typeface="Arial"/>
              </a:rPr>
              <a:t>a 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05" dirty="0">
                <a:latin typeface="Arial"/>
                <a:cs typeface="Arial"/>
              </a:rPr>
              <a:t>proveedores </a:t>
            </a:r>
            <a:r>
              <a:rPr sz="2600" spc="-70" dirty="0">
                <a:latin typeface="Arial"/>
                <a:cs typeface="Arial"/>
              </a:rPr>
              <a:t>el  </a:t>
            </a:r>
            <a:r>
              <a:rPr sz="2600" spc="-80" dirty="0">
                <a:latin typeface="Arial"/>
                <a:cs typeface="Arial"/>
              </a:rPr>
              <a:t>recibo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9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pago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2700">
              <a:latin typeface="Times New Roman"/>
              <a:cs typeface="Times New Roman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736600" algn="l"/>
              </a:tabLst>
            </a:pPr>
            <a:r>
              <a:rPr sz="2000" spc="-180" dirty="0">
                <a:latin typeface="Arial"/>
                <a:cs typeface="Arial"/>
              </a:rPr>
              <a:t>A </a:t>
            </a:r>
            <a:r>
              <a:rPr sz="2000" spc="-105" dirty="0">
                <a:latin typeface="Arial"/>
                <a:cs typeface="Arial"/>
              </a:rPr>
              <a:t>pesar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estar </a:t>
            </a:r>
            <a:r>
              <a:rPr sz="2000" spc="-50" dirty="0">
                <a:latin typeface="Arial"/>
                <a:cs typeface="Arial"/>
              </a:rPr>
              <a:t>cubierta 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5" dirty="0">
                <a:latin typeface="Arial"/>
                <a:cs typeface="Arial"/>
              </a:rPr>
              <a:t>emitir </a:t>
            </a:r>
            <a:r>
              <a:rPr sz="2000" spc="-114" dirty="0">
                <a:latin typeface="Arial"/>
                <a:cs typeface="Arial"/>
              </a:rPr>
              <a:t>cheques </a:t>
            </a:r>
            <a:r>
              <a:rPr sz="2000" spc="10" dirty="0">
                <a:latin typeface="Arial"/>
                <a:cs typeface="Arial"/>
              </a:rPr>
              <a:t>“no</a:t>
            </a:r>
            <a:r>
              <a:rPr sz="2000" spc="-29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orden”;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736600" marR="104775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000" spc="-295" dirty="0">
                <a:latin typeface="Arial"/>
                <a:cs typeface="Arial"/>
              </a:rPr>
              <a:t>Es </a:t>
            </a:r>
            <a:r>
              <a:rPr sz="2000" spc="-100" dirty="0">
                <a:latin typeface="Arial"/>
                <a:cs typeface="Arial"/>
              </a:rPr>
              <a:t>una </a:t>
            </a:r>
            <a:r>
              <a:rPr sz="2000" spc="-80" dirty="0">
                <a:latin typeface="Arial"/>
                <a:cs typeface="Arial"/>
              </a:rPr>
              <a:t>medida </a:t>
            </a:r>
            <a:r>
              <a:rPr sz="2000" spc="-70" dirty="0">
                <a:latin typeface="Arial"/>
                <a:cs typeface="Arial"/>
              </a:rPr>
              <a:t>adicional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5" dirty="0">
                <a:latin typeface="Arial"/>
                <a:cs typeface="Arial"/>
              </a:rPr>
              <a:t>control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0" dirty="0">
                <a:latin typeface="Arial"/>
                <a:cs typeface="Arial"/>
              </a:rPr>
              <a:t>no  </a:t>
            </a:r>
            <a:r>
              <a:rPr sz="2000" spc="-75" dirty="0">
                <a:latin typeface="Arial"/>
                <a:cs typeface="Arial"/>
              </a:rPr>
              <a:t>duplica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5" dirty="0">
                <a:latin typeface="Arial"/>
                <a:cs typeface="Arial"/>
              </a:rPr>
              <a:t>tareas </a:t>
            </a:r>
            <a:r>
              <a:rPr sz="2000" spc="-30" dirty="0">
                <a:latin typeface="Arial"/>
                <a:cs typeface="Arial"/>
              </a:rPr>
              <a:t>ni  </a:t>
            </a:r>
            <a:r>
              <a:rPr sz="2000" spc="-150" dirty="0">
                <a:latin typeface="Arial"/>
                <a:cs typeface="Arial"/>
              </a:rPr>
              <a:t>causa </a:t>
            </a:r>
            <a:r>
              <a:rPr sz="2000" spc="-85" dirty="0">
                <a:latin typeface="Arial"/>
                <a:cs typeface="Arial"/>
              </a:rPr>
              <a:t>pérdidas </a:t>
            </a:r>
            <a:r>
              <a:rPr sz="2000" spc="-100" dirty="0">
                <a:latin typeface="Arial"/>
                <a:cs typeface="Arial"/>
              </a:rPr>
              <a:t>de  </a:t>
            </a:r>
            <a:r>
              <a:rPr sz="2000" spc="-35" dirty="0">
                <a:latin typeface="Arial"/>
                <a:cs typeface="Arial"/>
              </a:rPr>
              <a:t>tiempo.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78758" y="1195577"/>
            <a:ext cx="5186300" cy="4989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7402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0" dirty="0"/>
              <a:t>Pagos</a:t>
            </a:r>
            <a:r>
              <a:rPr spc="-254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45" dirty="0">
                <a:latin typeface="Arial"/>
                <a:cs typeface="Arial"/>
              </a:rPr>
              <a:t>Introducción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Tecnología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50" dirty="0">
                <a:latin typeface="Arial"/>
                <a:cs typeface="Arial"/>
              </a:rPr>
              <a:t>el </a:t>
            </a:r>
            <a:r>
              <a:rPr sz="1800" b="0" spc="-90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0" dirty="0">
                <a:latin typeface="Arial"/>
                <a:cs typeface="Arial"/>
              </a:rPr>
              <a:t> </a:t>
            </a:r>
            <a:r>
              <a:rPr sz="1800" b="0" spc="-165" dirty="0">
                <a:latin typeface="Arial"/>
                <a:cs typeface="Arial"/>
              </a:rPr>
              <a:t>Pagos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1079500"/>
            <a:ext cx="7963534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5080" indent="-266700" algn="just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350" dirty="0">
                <a:latin typeface="Arial"/>
                <a:cs typeface="Arial"/>
              </a:rPr>
              <a:t>Se </a:t>
            </a:r>
            <a:r>
              <a:rPr sz="2600" spc="-120" dirty="0">
                <a:latin typeface="Arial"/>
                <a:cs typeface="Arial"/>
              </a:rPr>
              <a:t>debe </a:t>
            </a:r>
            <a:r>
              <a:rPr sz="2600" spc="-85" dirty="0">
                <a:latin typeface="Arial"/>
                <a:cs typeface="Arial"/>
              </a:rPr>
              <a:t>cuidar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90" dirty="0">
                <a:latin typeface="Arial"/>
                <a:cs typeface="Arial"/>
              </a:rPr>
              <a:t>acceso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25" dirty="0">
                <a:latin typeface="Arial"/>
                <a:cs typeface="Arial"/>
              </a:rPr>
              <a:t>opciones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menú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120" dirty="0">
                <a:latin typeface="Arial"/>
                <a:cs typeface="Arial"/>
              </a:rPr>
              <a:t>Orden de </a:t>
            </a:r>
            <a:r>
              <a:rPr sz="2600" spc="-225" dirty="0">
                <a:latin typeface="Arial"/>
                <a:cs typeface="Arial"/>
              </a:rPr>
              <a:t>Pago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emisión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50" dirty="0">
                <a:latin typeface="Arial"/>
                <a:cs typeface="Arial"/>
              </a:rPr>
              <a:t>cheques </a:t>
            </a:r>
            <a:r>
              <a:rPr sz="2600" spc="-110" dirty="0">
                <a:latin typeface="Arial"/>
                <a:cs typeface="Arial"/>
              </a:rPr>
              <a:t>estén </a:t>
            </a:r>
            <a:r>
              <a:rPr sz="2600" spc="-105" dirty="0">
                <a:latin typeface="Arial"/>
                <a:cs typeface="Arial"/>
              </a:rPr>
              <a:t>solamente  disponibles </a:t>
            </a:r>
            <a:r>
              <a:rPr sz="2600" spc="-114" dirty="0">
                <a:latin typeface="Arial"/>
                <a:cs typeface="Arial"/>
              </a:rPr>
              <a:t>para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10" dirty="0">
                <a:latin typeface="Arial"/>
                <a:cs typeface="Arial"/>
              </a:rPr>
              <a:t>personal </a:t>
            </a:r>
            <a:r>
              <a:rPr sz="2600" spc="-80" dirty="0">
                <a:latin typeface="Arial"/>
                <a:cs typeface="Arial"/>
              </a:rPr>
              <a:t>autorizado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Contabilidad</a:t>
            </a:r>
            <a:r>
              <a:rPr sz="2600" spc="-28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y  </a:t>
            </a:r>
            <a:r>
              <a:rPr sz="2600" spc="-145" dirty="0">
                <a:latin typeface="Arial"/>
                <a:cs typeface="Arial"/>
              </a:rPr>
              <a:t>Tesorería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respectivamente.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62125" y="919733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25" dirty="0">
                <a:solidFill>
                  <a:srgbClr val="00338D"/>
                </a:solidFill>
              </a:rPr>
              <a:t>Síntesis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19271" y="1247647"/>
            <a:ext cx="50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0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12858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IV </a:t>
            </a:r>
            <a:r>
              <a:rPr spc="-120" dirty="0">
                <a:latin typeface="Arial"/>
                <a:cs typeface="Arial"/>
              </a:rPr>
              <a:t>–</a:t>
            </a:r>
            <a:r>
              <a:rPr spc="-265" dirty="0">
                <a:latin typeface="Arial"/>
                <a:cs typeface="Arial"/>
              </a:rPr>
              <a:t> </a:t>
            </a:r>
            <a:r>
              <a:rPr spc="-100" dirty="0"/>
              <a:t>Síntesis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Resumen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1077213"/>
            <a:ext cx="864044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-2667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79400" algn="l"/>
              </a:tabLst>
            </a:pPr>
            <a:r>
              <a:rPr sz="2800" spc="-140" dirty="0">
                <a:latin typeface="Arial"/>
                <a:cs typeface="Arial"/>
              </a:rPr>
              <a:t>Describimos </a:t>
            </a:r>
            <a:r>
              <a:rPr sz="2800" spc="-114" dirty="0">
                <a:latin typeface="Arial"/>
                <a:cs typeface="Arial"/>
              </a:rPr>
              <a:t>qué </a:t>
            </a:r>
            <a:r>
              <a:rPr sz="2800" spc="-240" dirty="0">
                <a:latin typeface="Arial"/>
                <a:cs typeface="Arial"/>
              </a:rPr>
              <a:t>es </a:t>
            </a:r>
            <a:r>
              <a:rPr sz="2800" spc="-90" dirty="0">
                <a:latin typeface="Arial"/>
                <a:cs typeface="Arial"/>
              </a:rPr>
              <a:t>un </a:t>
            </a:r>
            <a:r>
              <a:rPr sz="2800" spc="-70" dirty="0">
                <a:latin typeface="Arial"/>
                <a:cs typeface="Arial"/>
              </a:rPr>
              <a:t>procedimiento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130" dirty="0">
                <a:latin typeface="Arial"/>
                <a:cs typeface="Arial"/>
              </a:rPr>
              <a:t>en </a:t>
            </a:r>
            <a:r>
              <a:rPr sz="2800" spc="-114" dirty="0">
                <a:latin typeface="Arial"/>
                <a:cs typeface="Arial"/>
              </a:rPr>
              <a:t>qué </a:t>
            </a:r>
            <a:r>
              <a:rPr sz="2800" spc="-90" dirty="0">
                <a:latin typeface="Arial"/>
                <a:cs typeface="Arial"/>
              </a:rPr>
              <a:t>ámbitos  </a:t>
            </a:r>
            <a:r>
              <a:rPr sz="2800" spc="-235" dirty="0">
                <a:latin typeface="Arial"/>
                <a:cs typeface="Arial"/>
              </a:rPr>
              <a:t>se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aplica;</a:t>
            </a:r>
            <a:endParaRPr sz="280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155" dirty="0">
                <a:latin typeface="Arial"/>
                <a:cs typeface="Arial"/>
              </a:rPr>
              <a:t>Analizamos </a:t>
            </a:r>
            <a:r>
              <a:rPr sz="2800" spc="-170" dirty="0">
                <a:latin typeface="Arial"/>
                <a:cs typeface="Arial"/>
              </a:rPr>
              <a:t>las </a:t>
            </a:r>
            <a:r>
              <a:rPr sz="2800" spc="-160" dirty="0">
                <a:latin typeface="Arial"/>
                <a:cs typeface="Arial"/>
              </a:rPr>
              <a:t>acciones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80" dirty="0">
                <a:latin typeface="Arial"/>
                <a:cs typeface="Arial"/>
              </a:rPr>
              <a:t>controles </a:t>
            </a:r>
            <a:r>
              <a:rPr sz="2800" spc="-85" dirty="0">
                <a:latin typeface="Arial"/>
                <a:cs typeface="Arial"/>
              </a:rPr>
              <a:t>del </a:t>
            </a:r>
            <a:r>
              <a:rPr sz="2800" spc="-70" dirty="0">
                <a:latin typeface="Arial"/>
                <a:cs typeface="Arial"/>
              </a:rPr>
              <a:t>procedimiento </a:t>
            </a:r>
            <a:r>
              <a:rPr sz="2800" spc="-130" dirty="0">
                <a:latin typeface="Arial"/>
                <a:cs typeface="Arial"/>
              </a:rPr>
              <a:t>de  </a:t>
            </a:r>
            <a:r>
              <a:rPr sz="2800" spc="-185" dirty="0">
                <a:latin typeface="Arial"/>
                <a:cs typeface="Arial"/>
              </a:rPr>
              <a:t>Compras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180" dirty="0">
                <a:latin typeface="Arial"/>
                <a:cs typeface="Arial"/>
              </a:rPr>
              <a:t>Cuentas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Pagar;</a:t>
            </a:r>
            <a:endParaRPr sz="280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155" dirty="0">
                <a:latin typeface="Arial"/>
                <a:cs typeface="Arial"/>
              </a:rPr>
              <a:t>Analizamos </a:t>
            </a:r>
            <a:r>
              <a:rPr sz="2800" spc="-170" dirty="0">
                <a:latin typeface="Arial"/>
                <a:cs typeface="Arial"/>
              </a:rPr>
              <a:t>las </a:t>
            </a:r>
            <a:r>
              <a:rPr sz="2800" spc="-160" dirty="0">
                <a:latin typeface="Arial"/>
                <a:cs typeface="Arial"/>
              </a:rPr>
              <a:t>acciones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80" dirty="0">
                <a:latin typeface="Arial"/>
                <a:cs typeface="Arial"/>
              </a:rPr>
              <a:t>controles </a:t>
            </a:r>
            <a:r>
              <a:rPr sz="2800" spc="-85" dirty="0">
                <a:latin typeface="Arial"/>
                <a:cs typeface="Arial"/>
              </a:rPr>
              <a:t>del </a:t>
            </a:r>
            <a:r>
              <a:rPr sz="2800" spc="-70" dirty="0">
                <a:latin typeface="Arial"/>
                <a:cs typeface="Arial"/>
              </a:rPr>
              <a:t>procedimiento </a:t>
            </a:r>
            <a:r>
              <a:rPr sz="2800" spc="-130" dirty="0">
                <a:latin typeface="Arial"/>
                <a:cs typeface="Arial"/>
              </a:rPr>
              <a:t>de  </a:t>
            </a:r>
            <a:r>
              <a:rPr sz="2800" spc="-225" dirty="0">
                <a:latin typeface="Arial"/>
                <a:cs typeface="Arial"/>
              </a:rPr>
              <a:t>Pagos.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420100" cy="499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295" dirty="0">
                <a:latin typeface="Arial"/>
                <a:cs typeface="Arial"/>
              </a:rPr>
              <a:t>En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50" dirty="0">
                <a:latin typeface="Arial"/>
                <a:cs typeface="Arial"/>
              </a:rPr>
              <a:t>circuito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185" dirty="0">
                <a:latin typeface="Arial"/>
                <a:cs typeface="Arial"/>
              </a:rPr>
              <a:t>Compras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180" dirty="0">
                <a:latin typeface="Arial"/>
                <a:cs typeface="Arial"/>
              </a:rPr>
              <a:t>Cuentas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20" dirty="0">
                <a:latin typeface="Arial"/>
                <a:cs typeface="Arial"/>
              </a:rPr>
              <a:t>Pagar…</a:t>
            </a:r>
            <a:endParaRPr sz="28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¿Cuáles </a:t>
            </a:r>
            <a:r>
              <a:rPr sz="2400" spc="-140" dirty="0">
                <a:latin typeface="Arial"/>
                <a:cs typeface="Arial"/>
              </a:rPr>
              <a:t>son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95" dirty="0">
                <a:latin typeface="Arial"/>
                <a:cs typeface="Arial"/>
              </a:rPr>
              <a:t>funciones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compras?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160" dirty="0">
                <a:latin typeface="Arial"/>
                <a:cs typeface="Arial"/>
              </a:rPr>
              <a:t>¿Almacén </a:t>
            </a:r>
            <a:r>
              <a:rPr sz="2400" spc="-95" dirty="0">
                <a:latin typeface="Arial"/>
                <a:cs typeface="Arial"/>
              </a:rPr>
              <a:t>siempre </a:t>
            </a:r>
            <a:r>
              <a:rPr sz="2400" spc="-60" dirty="0">
                <a:latin typeface="Arial"/>
                <a:cs typeface="Arial"/>
              </a:rPr>
              <a:t>participa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0" dirty="0">
                <a:latin typeface="Arial"/>
                <a:cs typeface="Arial"/>
              </a:rPr>
              <a:t>circuito? </a:t>
            </a:r>
            <a:r>
              <a:rPr sz="2400" spc="-190" dirty="0">
                <a:latin typeface="Arial"/>
                <a:cs typeface="Arial"/>
              </a:rPr>
              <a:t>¿Cuándo </a:t>
            </a:r>
            <a:r>
              <a:rPr sz="2400" spc="-75" dirty="0">
                <a:latin typeface="Arial"/>
                <a:cs typeface="Arial"/>
              </a:rPr>
              <a:t>no </a:t>
            </a:r>
            <a:r>
              <a:rPr sz="2400" spc="-30" dirty="0">
                <a:latin typeface="Arial"/>
                <a:cs typeface="Arial"/>
              </a:rPr>
              <a:t>lo</a:t>
            </a:r>
            <a:r>
              <a:rPr sz="2400" spc="-34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hace?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70" dirty="0">
                <a:latin typeface="Arial"/>
                <a:cs typeface="Arial"/>
              </a:rPr>
              <a:t>controles </a:t>
            </a:r>
            <a:r>
              <a:rPr sz="2400" spc="-150" dirty="0">
                <a:latin typeface="Arial"/>
                <a:cs typeface="Arial"/>
              </a:rPr>
              <a:t>hace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compras?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45" dirty="0">
                <a:latin typeface="Arial"/>
                <a:cs typeface="Arial"/>
              </a:rPr>
              <a:t>emite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70" dirty="0">
                <a:latin typeface="Arial"/>
                <a:cs typeface="Arial"/>
              </a:rPr>
              <a:t>orden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compra </a:t>
            </a:r>
            <a:r>
              <a:rPr sz="2400" spc="-114" dirty="0">
                <a:latin typeface="Arial"/>
                <a:cs typeface="Arial"/>
              </a:rPr>
              <a:t>y quienes 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spc="-36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reciben?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35" dirty="0">
                <a:latin typeface="Arial"/>
                <a:cs typeface="Arial"/>
              </a:rPr>
              <a:t>encarga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hacer 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cotización?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65" dirty="0">
                <a:latin typeface="Arial"/>
                <a:cs typeface="Arial"/>
              </a:rPr>
              <a:t>función </a:t>
            </a:r>
            <a:r>
              <a:rPr sz="2400" spc="-90" dirty="0">
                <a:latin typeface="Arial"/>
                <a:cs typeface="Arial"/>
              </a:rPr>
              <a:t>cumple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60" dirty="0">
                <a:latin typeface="Arial"/>
                <a:cs typeface="Arial"/>
              </a:rPr>
              <a:t>registro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8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proveedores?</a:t>
            </a:r>
            <a:endParaRPr sz="2400">
              <a:latin typeface="Arial"/>
              <a:cs typeface="Arial"/>
            </a:endParaRPr>
          </a:p>
          <a:p>
            <a:pPr marL="736600" marR="12192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¿Para </a:t>
            </a:r>
            <a:r>
              <a:rPr sz="2400" spc="-100" dirty="0">
                <a:latin typeface="Arial"/>
                <a:cs typeface="Arial"/>
              </a:rPr>
              <a:t>qué realiza </a:t>
            </a:r>
            <a:r>
              <a:rPr sz="2400" spc="-120" dirty="0">
                <a:latin typeface="Arial"/>
                <a:cs typeface="Arial"/>
              </a:rPr>
              <a:t>compras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30" dirty="0">
                <a:latin typeface="Arial"/>
                <a:cs typeface="Arial"/>
              </a:rPr>
              <a:t>control </a:t>
            </a:r>
            <a:r>
              <a:rPr sz="2400" spc="-75" dirty="0">
                <a:latin typeface="Arial"/>
                <a:cs typeface="Arial"/>
              </a:rPr>
              <a:t>numérico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  </a:t>
            </a:r>
            <a:r>
              <a:rPr sz="2400" spc="-85" dirty="0">
                <a:latin typeface="Arial"/>
                <a:cs typeface="Arial"/>
              </a:rPr>
              <a:t>solicitudes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compra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5" dirty="0">
                <a:latin typeface="Arial"/>
                <a:cs typeface="Arial"/>
              </a:rPr>
              <a:t>los pedidos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34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reaprovisionamiento?</a:t>
            </a:r>
            <a:endParaRPr sz="2400">
              <a:latin typeface="Arial"/>
              <a:cs typeface="Arial"/>
            </a:endParaRPr>
          </a:p>
          <a:p>
            <a:pPr marL="736600" marR="772160" lvl="1" indent="-2667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¿Para </a:t>
            </a:r>
            <a:r>
              <a:rPr sz="2400" spc="-100" dirty="0">
                <a:latin typeface="Arial"/>
                <a:cs typeface="Arial"/>
              </a:rPr>
              <a:t>qué realiza </a:t>
            </a:r>
            <a:r>
              <a:rPr sz="2400" spc="-80" dirty="0">
                <a:latin typeface="Arial"/>
                <a:cs typeface="Arial"/>
              </a:rPr>
              <a:t>contaduría un </a:t>
            </a:r>
            <a:r>
              <a:rPr sz="2400" spc="-30" dirty="0">
                <a:latin typeface="Arial"/>
                <a:cs typeface="Arial"/>
              </a:rPr>
              <a:t>control </a:t>
            </a:r>
            <a:r>
              <a:rPr sz="2400" spc="-80" dirty="0">
                <a:latin typeface="Arial"/>
                <a:cs typeface="Arial"/>
              </a:rPr>
              <a:t>numérico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las  </a:t>
            </a:r>
            <a:r>
              <a:rPr sz="2400" spc="-110" dirty="0">
                <a:latin typeface="Arial"/>
                <a:cs typeface="Arial"/>
              </a:rPr>
              <a:t>órdenes de </a:t>
            </a:r>
            <a:r>
              <a:rPr sz="2400" spc="-95" dirty="0">
                <a:latin typeface="Arial"/>
                <a:cs typeface="Arial"/>
              </a:rPr>
              <a:t>compra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emitidas?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402955" cy="536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295" dirty="0">
                <a:latin typeface="Arial"/>
                <a:cs typeface="Arial"/>
              </a:rPr>
              <a:t>En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50" dirty="0">
                <a:latin typeface="Arial"/>
                <a:cs typeface="Arial"/>
              </a:rPr>
              <a:t>circuito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185" dirty="0">
                <a:latin typeface="Arial"/>
                <a:cs typeface="Arial"/>
              </a:rPr>
              <a:t>Compras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180" dirty="0">
                <a:latin typeface="Arial"/>
                <a:cs typeface="Arial"/>
              </a:rPr>
              <a:t>Cuentas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320" dirty="0">
                <a:latin typeface="Arial"/>
                <a:cs typeface="Arial"/>
              </a:rPr>
              <a:t>Pagar…</a:t>
            </a:r>
            <a:r>
              <a:rPr sz="2800" spc="-5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(Cont.)</a:t>
            </a:r>
            <a:endParaRPr sz="28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¿Cuáles </a:t>
            </a:r>
            <a:r>
              <a:rPr sz="2400" spc="-140" dirty="0">
                <a:latin typeface="Arial"/>
                <a:cs typeface="Arial"/>
              </a:rPr>
              <a:t>son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95" dirty="0">
                <a:latin typeface="Arial"/>
                <a:cs typeface="Arial"/>
              </a:rPr>
              <a:t>funciones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contabilidad?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70" dirty="0">
                <a:latin typeface="Arial"/>
                <a:cs typeface="Arial"/>
              </a:rPr>
              <a:t>controles </a:t>
            </a:r>
            <a:r>
              <a:rPr sz="2400" spc="-204" dirty="0">
                <a:latin typeface="Arial"/>
                <a:cs typeface="Arial"/>
              </a:rPr>
              <a:t>se</a:t>
            </a:r>
            <a:r>
              <a:rPr sz="2400" spc="-114" dirty="0">
                <a:latin typeface="Arial"/>
                <a:cs typeface="Arial"/>
              </a:rPr>
              <a:t> realizan?</a:t>
            </a:r>
            <a:endParaRPr sz="2400">
              <a:latin typeface="Arial"/>
              <a:cs typeface="Arial"/>
            </a:endParaRPr>
          </a:p>
          <a:p>
            <a:pPr marL="736600" marR="52197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90" dirty="0">
                <a:latin typeface="Arial"/>
                <a:cs typeface="Arial"/>
              </a:rPr>
              <a:t>¿En </a:t>
            </a:r>
            <a:r>
              <a:rPr sz="2400" spc="-100" dirty="0">
                <a:latin typeface="Arial"/>
                <a:cs typeface="Arial"/>
              </a:rPr>
              <a:t>qué </a:t>
            </a:r>
            <a:r>
              <a:rPr sz="2400" spc="-80" dirty="0">
                <a:latin typeface="Arial"/>
                <a:cs typeface="Arial"/>
              </a:rPr>
              <a:t>departamentos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almacenan </a:t>
            </a:r>
            <a:r>
              <a:rPr sz="2400" spc="-75" dirty="0">
                <a:latin typeface="Arial"/>
                <a:cs typeface="Arial"/>
              </a:rPr>
              <a:t>formularios? </a:t>
            </a:r>
            <a:r>
              <a:rPr sz="2400" spc="-215" dirty="0">
                <a:latin typeface="Arial"/>
                <a:cs typeface="Arial"/>
              </a:rPr>
              <a:t>¿Qué  </a:t>
            </a:r>
            <a:r>
              <a:rPr sz="2400" spc="-60" dirty="0">
                <a:latin typeface="Arial"/>
                <a:cs typeface="Arial"/>
              </a:rPr>
              <a:t>formularios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25" dirty="0">
                <a:latin typeface="Arial"/>
                <a:cs typeface="Arial"/>
              </a:rPr>
              <a:t>almacenan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60" dirty="0">
                <a:latin typeface="Arial"/>
                <a:cs typeface="Arial"/>
              </a:rPr>
              <a:t>cada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caso?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¿Cuáles </a:t>
            </a:r>
            <a:r>
              <a:rPr sz="2400" spc="-140" dirty="0">
                <a:latin typeface="Arial"/>
                <a:cs typeface="Arial"/>
              </a:rPr>
              <a:t>son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95" dirty="0">
                <a:latin typeface="Arial"/>
                <a:cs typeface="Arial"/>
              </a:rPr>
              <a:t>funciones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recepción?</a:t>
            </a:r>
            <a:endParaRPr sz="2400">
              <a:latin typeface="Arial"/>
              <a:cs typeface="Arial"/>
            </a:endParaRPr>
          </a:p>
          <a:p>
            <a:pPr marL="735965">
              <a:lnSpc>
                <a:spcPct val="100000"/>
              </a:lnSpc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60" dirty="0">
                <a:latin typeface="Arial"/>
                <a:cs typeface="Arial"/>
              </a:rPr>
              <a:t>formularios </a:t>
            </a:r>
            <a:r>
              <a:rPr sz="2400" spc="-75" dirty="0">
                <a:latin typeface="Arial"/>
                <a:cs typeface="Arial"/>
              </a:rPr>
              <a:t>emite?</a:t>
            </a:r>
            <a:endParaRPr sz="2400">
              <a:latin typeface="Arial"/>
              <a:cs typeface="Arial"/>
            </a:endParaRPr>
          </a:p>
          <a:p>
            <a:pPr marL="736600" marR="508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5" dirty="0">
                <a:latin typeface="Arial"/>
                <a:cs typeface="Arial"/>
              </a:rPr>
              <a:t>¿Cuáles </a:t>
            </a:r>
            <a:r>
              <a:rPr sz="2400" spc="-140" dirty="0">
                <a:latin typeface="Arial"/>
                <a:cs typeface="Arial"/>
              </a:rPr>
              <a:t>son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95" dirty="0">
                <a:latin typeface="Arial"/>
                <a:cs typeface="Arial"/>
              </a:rPr>
              <a:t>funciones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departamento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35" dirty="0">
                <a:latin typeface="Arial"/>
                <a:cs typeface="Arial"/>
              </a:rPr>
              <a:t>control </a:t>
            </a:r>
            <a:r>
              <a:rPr sz="2400" spc="-114" dirty="0">
                <a:latin typeface="Arial"/>
                <a:cs typeface="Arial"/>
              </a:rPr>
              <a:t>de  calidad? </a:t>
            </a:r>
            <a:r>
              <a:rPr sz="2400" spc="-204" dirty="0">
                <a:latin typeface="Arial"/>
                <a:cs typeface="Arial"/>
              </a:rPr>
              <a:t>Dé </a:t>
            </a:r>
            <a:r>
              <a:rPr sz="2400" spc="-90" dirty="0">
                <a:latin typeface="Arial"/>
                <a:cs typeface="Arial"/>
              </a:rPr>
              <a:t>ejemplos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0" dirty="0">
                <a:latin typeface="Arial"/>
                <a:cs typeface="Arial"/>
              </a:rPr>
              <a:t>empresas </a:t>
            </a:r>
            <a:r>
              <a:rPr sz="2400" spc="-95" dirty="0">
                <a:latin typeface="Arial"/>
                <a:cs typeface="Arial"/>
              </a:rPr>
              <a:t>donde </a:t>
            </a:r>
            <a:r>
              <a:rPr sz="2400" spc="-135" dirty="0">
                <a:latin typeface="Arial"/>
                <a:cs typeface="Arial"/>
              </a:rPr>
              <a:t>dichas </a:t>
            </a:r>
            <a:r>
              <a:rPr sz="2400" spc="-95" dirty="0">
                <a:latin typeface="Arial"/>
                <a:cs typeface="Arial"/>
              </a:rPr>
              <a:t>funciones </a:t>
            </a:r>
            <a:r>
              <a:rPr sz="2400" spc="-80" dirty="0">
                <a:latin typeface="Arial"/>
                <a:cs typeface="Arial"/>
              </a:rPr>
              <a:t>no  </a:t>
            </a:r>
            <a:r>
              <a:rPr sz="2400" spc="-95" dirty="0">
                <a:latin typeface="Arial"/>
                <a:cs typeface="Arial"/>
              </a:rPr>
              <a:t>tengan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sentido.</a:t>
            </a:r>
            <a:endParaRPr sz="2400">
              <a:latin typeface="Arial"/>
              <a:cs typeface="Arial"/>
            </a:endParaRPr>
          </a:p>
          <a:p>
            <a:pPr marL="736600" marR="1162050" lvl="1" indent="-2667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¿Cómo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05" dirty="0">
                <a:latin typeface="Arial"/>
                <a:cs typeface="Arial"/>
              </a:rPr>
              <a:t>puede </a:t>
            </a:r>
            <a:r>
              <a:rPr sz="2400" spc="-45" dirty="0">
                <a:latin typeface="Arial"/>
                <a:cs typeface="Arial"/>
              </a:rPr>
              <a:t>evitar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45" dirty="0">
                <a:latin typeface="Arial"/>
                <a:cs typeface="Arial"/>
              </a:rPr>
              <a:t>haya </a:t>
            </a:r>
            <a:r>
              <a:rPr sz="2400" spc="-40" dirty="0">
                <a:latin typeface="Arial"/>
                <a:cs typeface="Arial"/>
              </a:rPr>
              <a:t>“arreglos” entre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un  </a:t>
            </a:r>
            <a:r>
              <a:rPr sz="2400" spc="-75" dirty="0">
                <a:latin typeface="Arial"/>
                <a:cs typeface="Arial"/>
              </a:rPr>
              <a:t>comprador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80" dirty="0">
                <a:latin typeface="Arial"/>
                <a:cs typeface="Arial"/>
              </a:rPr>
              <a:t>un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proveedor?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251825" cy="3533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295" dirty="0">
                <a:latin typeface="Arial"/>
                <a:cs typeface="Arial"/>
              </a:rPr>
              <a:t>En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50" dirty="0">
                <a:latin typeface="Arial"/>
                <a:cs typeface="Arial"/>
              </a:rPr>
              <a:t>circuito </a:t>
            </a:r>
            <a:r>
              <a:rPr sz="2800" spc="-130" dirty="0">
                <a:latin typeface="Arial"/>
                <a:cs typeface="Arial"/>
              </a:rPr>
              <a:t>de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355" dirty="0">
                <a:latin typeface="Arial"/>
                <a:cs typeface="Arial"/>
              </a:rPr>
              <a:t>Pagos…</a:t>
            </a:r>
            <a:endParaRPr sz="28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 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contaduría?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114" dirty="0">
                <a:latin typeface="Arial"/>
                <a:cs typeface="Arial"/>
              </a:rPr>
              <a:t>coloca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50" dirty="0">
                <a:latin typeface="Arial"/>
                <a:cs typeface="Arial"/>
              </a:rPr>
              <a:t>segunda </a:t>
            </a:r>
            <a:r>
              <a:rPr sz="2400" spc="-35" dirty="0">
                <a:latin typeface="Arial"/>
                <a:cs typeface="Arial"/>
              </a:rPr>
              <a:t>firma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35" dirty="0">
                <a:latin typeface="Arial"/>
                <a:cs typeface="Arial"/>
              </a:rPr>
              <a:t>cheque? </a:t>
            </a:r>
            <a:r>
              <a:rPr sz="2400" spc="-400" dirty="0">
                <a:latin typeface="Arial"/>
                <a:cs typeface="Arial"/>
              </a:rPr>
              <a:t>¿Y 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primera?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Proveedor?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Tesorería?</a:t>
            </a:r>
            <a:endParaRPr sz="2400">
              <a:latin typeface="Arial"/>
              <a:cs typeface="Arial"/>
            </a:endParaRPr>
          </a:p>
          <a:p>
            <a:pPr marL="736600" marR="13589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90" dirty="0">
                <a:latin typeface="Arial"/>
                <a:cs typeface="Arial"/>
              </a:rPr>
              <a:t>modificaciones </a:t>
            </a:r>
            <a:r>
              <a:rPr sz="2400" spc="-210" dirty="0">
                <a:latin typeface="Arial"/>
                <a:cs typeface="Arial"/>
              </a:rPr>
              <a:t>se </a:t>
            </a:r>
            <a:r>
              <a:rPr sz="2400" spc="-100" dirty="0">
                <a:latin typeface="Arial"/>
                <a:cs typeface="Arial"/>
              </a:rPr>
              <a:t>realizan </a:t>
            </a:r>
            <a:r>
              <a:rPr sz="2400" spc="-85" dirty="0">
                <a:latin typeface="Arial"/>
                <a:cs typeface="Arial"/>
              </a:rPr>
              <a:t>al </a:t>
            </a:r>
            <a:r>
              <a:rPr sz="2400" spc="-40" dirty="0">
                <a:latin typeface="Arial"/>
                <a:cs typeface="Arial"/>
              </a:rPr>
              <a:t>circuito por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las  </a:t>
            </a:r>
            <a:r>
              <a:rPr sz="2400" spc="-105" dirty="0">
                <a:latin typeface="Arial"/>
                <a:cs typeface="Arial"/>
              </a:rPr>
              <a:t>computadoras?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AR" b="1" spc="-5" dirty="0">
                <a:latin typeface="Arial"/>
                <a:cs typeface="Arial"/>
              </a:rPr>
              <a:t>2020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/>
              <a:t>Mag.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689" y="2609088"/>
            <a:ext cx="1591817" cy="842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8636" y="2609088"/>
            <a:ext cx="1747266" cy="842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13660" y="2609088"/>
            <a:ext cx="765048" cy="842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3066288"/>
            <a:ext cx="1385316" cy="842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5558" y="3066288"/>
            <a:ext cx="880872" cy="842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16558" y="3066288"/>
            <a:ext cx="1812798" cy="842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84" y="3523488"/>
            <a:ext cx="1289304" cy="8427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1916" y="3523488"/>
            <a:ext cx="624078" cy="842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5750" y="1322070"/>
            <a:ext cx="275653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60" dirty="0">
                <a:solidFill>
                  <a:srgbClr val="FFFFFF"/>
                </a:solidFill>
                <a:latin typeface="Trebuchet MS"/>
                <a:cs typeface="Trebuchet MS"/>
              </a:rPr>
              <a:t>¿Dudas?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000" b="1" spc="-105" dirty="0">
                <a:solidFill>
                  <a:srgbClr val="FFFFFF"/>
                </a:solidFill>
                <a:latin typeface="Trebuchet MS"/>
                <a:cs typeface="Trebuchet MS"/>
              </a:rPr>
              <a:t>¿Consultas?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3000" b="1" i="1" spc="-135" dirty="0">
                <a:solidFill>
                  <a:srgbClr val="FFFFFF"/>
                </a:solidFill>
                <a:latin typeface="Trebuchet MS"/>
                <a:cs typeface="Trebuchet MS"/>
              </a:rPr>
              <a:t>¡Buena </a:t>
            </a:r>
            <a:r>
              <a:rPr sz="3000" b="1" i="1" spc="-165" dirty="0">
                <a:solidFill>
                  <a:srgbClr val="FFFFFF"/>
                </a:solidFill>
                <a:latin typeface="Trebuchet MS"/>
                <a:cs typeface="Trebuchet MS"/>
              </a:rPr>
              <a:t>semana</a:t>
            </a:r>
            <a:r>
              <a:rPr sz="3000" b="1" i="1" spc="-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i="1" spc="-285" dirty="0">
                <a:solidFill>
                  <a:srgbClr val="FFFFFF"/>
                </a:solidFill>
                <a:latin typeface="Trebuchet MS"/>
                <a:cs typeface="Trebuchet MS"/>
              </a:rPr>
              <a:t>y  </a:t>
            </a:r>
            <a:r>
              <a:rPr sz="3000" b="1" i="1" spc="-200" dirty="0">
                <a:solidFill>
                  <a:srgbClr val="FFFFFF"/>
                </a:solidFill>
                <a:latin typeface="Trebuchet MS"/>
                <a:cs typeface="Trebuchet MS"/>
              </a:rPr>
              <a:t>hasta </a:t>
            </a:r>
            <a:r>
              <a:rPr sz="3000" b="1" i="1" spc="-21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3000" b="1" i="1" spc="-215" dirty="0">
                <a:solidFill>
                  <a:srgbClr val="FFFFFF"/>
                </a:solidFill>
                <a:latin typeface="Trebuchet MS"/>
                <a:cs typeface="Trebuchet MS"/>
              </a:rPr>
              <a:t>próxima  </a:t>
            </a:r>
            <a:r>
              <a:rPr sz="3000" b="1" i="1" spc="-195" dirty="0">
                <a:solidFill>
                  <a:srgbClr val="FFFFFF"/>
                </a:solidFill>
                <a:latin typeface="Trebuchet MS"/>
                <a:cs typeface="Trebuchet MS"/>
              </a:rPr>
              <a:t>clase!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2977</Words>
  <Application>Microsoft Macintosh PowerPoint</Application>
  <PresentationFormat>Presentación en pantalla (4:3)</PresentationFormat>
  <Paragraphs>394</Paragraphs>
  <Slides>40</Slides>
  <Notes>0</Notes>
  <HiddenSlides>5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6" baseType="lpstr">
      <vt:lpstr>Arial</vt:lpstr>
      <vt:lpstr>Calibri</vt:lpstr>
      <vt:lpstr>Times New Roman</vt:lpstr>
      <vt:lpstr>Trebuchet MS</vt:lpstr>
      <vt:lpstr>Wingdings</vt:lpstr>
      <vt:lpstr>Office Theme</vt:lpstr>
      <vt:lpstr>Sistemas de  Información</vt:lpstr>
      <vt:lpstr>Presentación de PowerPoint</vt:lpstr>
      <vt:lpstr>Presentación de PowerPoint</vt:lpstr>
      <vt:lpstr>Un Proceso se define</vt:lpstr>
      <vt:lpstr>I – Procesos en la organización (Cont.) Interacción de los procesos administrativos en la organización</vt:lpstr>
      <vt:lpstr>Compras y  Cuentas a Pagar</vt:lpstr>
      <vt:lpstr>Compras:</vt:lpstr>
      <vt:lpstr>II – Compras y Cuentas a Pagar (Cont.) Visión de alto nivel del procedimiento (Cont.)</vt:lpstr>
      <vt:lpstr>Presentación de PowerPoint</vt:lpstr>
      <vt:lpstr>II – Compras y Cuentas a Pagar (Cont.) Visión de alto nivel del procedimiento (Cont.)</vt:lpstr>
      <vt:lpstr>Presentación de PowerPoint</vt:lpstr>
      <vt:lpstr>II – Compras y Cuentas a Pagar (Cont.) Módulo I: Detección de Necesidad de Compra (Cont.)</vt:lpstr>
      <vt:lpstr>Presentación de PowerPoint</vt:lpstr>
      <vt:lpstr>Presentación de PowerPoint</vt:lpstr>
      <vt:lpstr>Presentación de PowerPoint</vt:lpstr>
      <vt:lpstr>II – Compras y Cuentas a Pagar (Cont.) Módulo II: Selección del Proveedor y Adjudicación de la Compra (Cont.)</vt:lpstr>
      <vt:lpstr>Presentación de PowerPoint</vt:lpstr>
      <vt:lpstr>Presentación de PowerPoint</vt:lpstr>
      <vt:lpstr>II – Compras y Cuentas a Pagar (Cont.)</vt:lpstr>
      <vt:lpstr>II – Compras y Cuentas a Pagar (Cont.) Módulo III: Recepción y Control de Almacenamiento (Cont.)</vt:lpstr>
      <vt:lpstr>Presentación de PowerPoint</vt:lpstr>
      <vt:lpstr>Presentación de PowerPoint</vt:lpstr>
      <vt:lpstr>II – Compras y Cuentas a Pagar (Cont.) Módulo IV: Control de la compra y Registración (Cont.)</vt:lpstr>
      <vt:lpstr>II – Compras y Cuentas a Pagar (Cont.) Introducción de Tecnología en el proceso de Compras</vt:lpstr>
      <vt:lpstr>Pagos</vt:lpstr>
      <vt:lpstr>Pagos:</vt:lpstr>
      <vt:lpstr>III – Pagos (Cont.) Visión de alto nivel del procedimiento (Cont.)</vt:lpstr>
      <vt:lpstr>III – Pagos (Cont.) Visión de alto nivel del procedimiento (Cont.)</vt:lpstr>
      <vt:lpstr>III – Pagos (Cont.) Módulo I: Determinar fecha de vencimiento de la factura y órden de pago</vt:lpstr>
      <vt:lpstr>Controles instrumentados:</vt:lpstr>
      <vt:lpstr>Controles instrumentados (Cont.):</vt:lpstr>
      <vt:lpstr>III – Pagos (Cont.) Módulo II: Emisión del cheque (Cont.)</vt:lpstr>
      <vt:lpstr>III – Pagos (Cont.) Módulo III: Distribución de la documentación y registración del pago</vt:lpstr>
      <vt:lpstr>III – Pagos (Cont.) Introducción de Tecnología en el proceso de Pagos</vt:lpstr>
      <vt:lpstr>Síntesis</vt:lpstr>
      <vt:lpstr>IV – Síntesis Resumen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Microsoft Office User</cp:lastModifiedBy>
  <cp:revision>10</cp:revision>
  <cp:lastPrinted>2019-08-14T14:37:11Z</cp:lastPrinted>
  <dcterms:created xsi:type="dcterms:W3CDTF">2019-08-14T14:04:48Z</dcterms:created>
  <dcterms:modified xsi:type="dcterms:W3CDTF">2021-08-23T10:56:57Z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2019-08-14T00:00:00Z</vt:filetime>
  </property>
</Properties>
</file>