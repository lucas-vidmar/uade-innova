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1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283" r:id="rId23"/>
    <p:sldId id="284" r:id="rId24"/>
    <p:sldId id="285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261" r:id="rId37"/>
    <p:sldId id="301" r:id="rId38"/>
    <p:sldId id="302" r:id="rId39"/>
    <p:sldId id="303" r:id="rId40"/>
    <p:sldId id="304" r:id="rId41"/>
    <p:sldId id="305" r:id="rId42"/>
    <p:sldId id="272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43" r:id="rId54"/>
    <p:sldId id="320" r:id="rId55"/>
    <p:sldId id="321" r:id="rId56"/>
    <p:sldId id="323" r:id="rId57"/>
    <p:sldId id="325" r:id="rId58"/>
    <p:sldId id="266" r:id="rId59"/>
    <p:sldId id="326" r:id="rId60"/>
    <p:sldId id="327" r:id="rId61"/>
    <p:sldId id="328" r:id="rId62"/>
    <p:sldId id="330" r:id="rId63"/>
    <p:sldId id="332" r:id="rId64"/>
    <p:sldId id="333" r:id="rId65"/>
    <p:sldId id="334" r:id="rId66"/>
    <p:sldId id="282" r:id="rId67"/>
    <p:sldId id="286" r:id="rId68"/>
    <p:sldId id="287" r:id="rId69"/>
    <p:sldId id="335" r:id="rId70"/>
    <p:sldId id="336" r:id="rId71"/>
    <p:sldId id="337" r:id="rId72"/>
    <p:sldId id="338" r:id="rId73"/>
    <p:sldId id="339" r:id="rId74"/>
    <p:sldId id="340" r:id="rId75"/>
    <p:sldId id="342" r:id="rId76"/>
  </p:sldIdLst>
  <p:sldSz cx="9144000" cy="6858000" type="screen4x3"/>
  <p:notesSz cx="9144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6258" y="193801"/>
            <a:ext cx="207327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193801"/>
            <a:ext cx="207327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68" y="3082035"/>
            <a:ext cx="5642610" cy="2494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13" Type="http://schemas.openxmlformats.org/officeDocument/2006/relationships/image" Target="../media/image27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12" Type="http://schemas.openxmlformats.org/officeDocument/2006/relationships/image" Target="../media/image26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11" Type="http://schemas.openxmlformats.org/officeDocument/2006/relationships/image" Target="../media/image25.jpg"/><Relationship Id="rId5" Type="http://schemas.openxmlformats.org/officeDocument/2006/relationships/image" Target="../media/image19.jpg"/><Relationship Id="rId15" Type="http://schemas.openxmlformats.org/officeDocument/2006/relationships/image" Target="../media/image29.jpg"/><Relationship Id="rId10" Type="http://schemas.openxmlformats.org/officeDocument/2006/relationships/image" Target="../media/image24.jpg"/><Relationship Id="rId4" Type="http://schemas.openxmlformats.org/officeDocument/2006/relationships/image" Target="../media/image18.jpg"/><Relationship Id="rId9" Type="http://schemas.openxmlformats.org/officeDocument/2006/relationships/image" Target="../media/image23.jpg"/><Relationship Id="rId14" Type="http://schemas.openxmlformats.org/officeDocument/2006/relationships/image" Target="../media/image2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hyperlink" Target="https://www.youtube.com/watch?v=HYuZK3X28FU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g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g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mailto:jklus@uade.edu.a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jpg"/><Relationship Id="rId4" Type="http://schemas.openxmlformats.org/officeDocument/2006/relationships/image" Target="../media/image81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4.jp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jpg"/><Relationship Id="rId3" Type="http://schemas.openxmlformats.org/officeDocument/2006/relationships/image" Target="../media/image107.jpg"/><Relationship Id="rId7" Type="http://schemas.openxmlformats.org/officeDocument/2006/relationships/image" Target="../media/image111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jpg"/><Relationship Id="rId5" Type="http://schemas.openxmlformats.org/officeDocument/2006/relationships/image" Target="../media/image109.jpg"/><Relationship Id="rId4" Type="http://schemas.openxmlformats.org/officeDocument/2006/relationships/image" Target="../media/image108.jpg"/><Relationship Id="rId9" Type="http://schemas.openxmlformats.org/officeDocument/2006/relationships/image" Target="../media/image113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440" dirty="0">
                <a:latin typeface="Arial"/>
                <a:cs typeface="Arial"/>
              </a:rPr>
              <a:t>Sistema </a:t>
            </a:r>
            <a:r>
              <a:rPr sz="5400" i="1" spc="-400" dirty="0">
                <a:latin typeface="Arial"/>
                <a:cs typeface="Arial"/>
              </a:rPr>
              <a:t>de  </a:t>
            </a:r>
            <a:r>
              <a:rPr sz="5400" i="1" spc="-340" dirty="0">
                <a:latin typeface="Arial"/>
                <a:cs typeface="Arial"/>
              </a:rPr>
              <a:t>Información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1959101"/>
            <a:ext cx="2464308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349245"/>
            <a:ext cx="3678174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623566"/>
            <a:ext cx="1454658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2025141"/>
            <a:ext cx="3348990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55" dirty="0">
                <a:solidFill>
                  <a:srgbClr val="FFFFFF"/>
                </a:solidFill>
                <a:latin typeface="Arial"/>
                <a:cs typeface="Arial"/>
              </a:rPr>
              <a:t>Unidad </a:t>
            </a:r>
            <a:r>
              <a:rPr sz="2400" b="1" i="1" spc="-12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400" b="1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spc="-14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100" dirty="0">
                <a:solidFill>
                  <a:srgbClr val="FFFFFF"/>
                </a:solidFill>
                <a:latin typeface="Arial"/>
                <a:cs typeface="Arial"/>
              </a:rPr>
              <a:t>Infraestructura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140" dirty="0">
                <a:solidFill>
                  <a:srgbClr val="FFFFFF"/>
                </a:solidFill>
                <a:latin typeface="Arial"/>
                <a:cs typeface="Arial"/>
              </a:rPr>
              <a:t>Tecnología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5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1800" b="1" i="1" spc="-114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Mag. </a:t>
            </a:r>
            <a:r>
              <a:rPr lang="es-AR" sz="1400" b="1" spc="-105" dirty="0">
                <a:solidFill>
                  <a:srgbClr val="FFFFFF"/>
                </a:solidFill>
                <a:latin typeface="Arial"/>
                <a:cs typeface="Arial"/>
              </a:rPr>
              <a:t>Javier F. Klus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 err="1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@uade.edu.ar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r>
              <a:rPr lang="es-AR" sz="1400" b="1" spc="-7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736854"/>
            <a:ext cx="1093469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789940"/>
            <a:ext cx="793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003186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7795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12355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220" dirty="0">
                <a:solidFill>
                  <a:srgbClr val="FFFFFF"/>
                </a:solidFill>
                <a:latin typeface="Arial"/>
                <a:cs typeface="Arial"/>
              </a:rPr>
              <a:t>Contenido </a:t>
            </a:r>
            <a:r>
              <a:rPr sz="3000" b="1" spc="-19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3000" b="1" spc="-14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3000" b="1" spc="-275" dirty="0">
                <a:solidFill>
                  <a:srgbClr val="FFFFFF"/>
                </a:solidFill>
                <a:latin typeface="Arial"/>
                <a:cs typeface="Arial"/>
              </a:rPr>
              <a:t>sesión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1317244"/>
            <a:ext cx="253873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sz="1400" b="1" spc="-135" dirty="0">
                <a:solidFill>
                  <a:srgbClr val="003186"/>
                </a:solidFill>
                <a:latin typeface="Arial"/>
                <a:cs typeface="Arial"/>
              </a:rPr>
              <a:t>Conceptos </a:t>
            </a:r>
            <a:r>
              <a:rPr sz="1400" b="1" spc="-140" dirty="0">
                <a:solidFill>
                  <a:srgbClr val="003186"/>
                </a:solidFill>
                <a:latin typeface="Arial"/>
                <a:cs typeface="Arial"/>
              </a:rPr>
              <a:t>básicos </a:t>
            </a: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de</a:t>
            </a:r>
            <a:r>
              <a:rPr sz="1400" b="1" spc="15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Arial"/>
                <a:cs typeface="Arial"/>
              </a:rPr>
              <a:t>Software</a:t>
            </a:r>
            <a:endParaRPr sz="14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1400" b="1" spc="-130" dirty="0">
                <a:solidFill>
                  <a:srgbClr val="003186"/>
                </a:solidFill>
                <a:latin typeface="Arial"/>
                <a:cs typeface="Arial"/>
              </a:rPr>
              <a:t>Sistemas</a:t>
            </a:r>
            <a:r>
              <a:rPr sz="1400" b="1" spc="-80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100" dirty="0">
                <a:solidFill>
                  <a:srgbClr val="003186"/>
                </a:solidFill>
                <a:latin typeface="Arial"/>
                <a:cs typeface="Arial"/>
              </a:rPr>
              <a:t>Operativos</a:t>
            </a:r>
            <a:endParaRPr sz="14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1400" b="1" spc="-135" dirty="0">
                <a:solidFill>
                  <a:srgbClr val="003186"/>
                </a:solidFill>
                <a:latin typeface="Arial"/>
                <a:cs typeface="Arial"/>
              </a:rPr>
              <a:t>Tipos </a:t>
            </a: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de</a:t>
            </a:r>
            <a:r>
              <a:rPr sz="1400" b="1" spc="-25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Arial"/>
                <a:cs typeface="Arial"/>
              </a:rPr>
              <a:t>Software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94655" y="1957019"/>
            <a:ext cx="307721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241300" algn="l"/>
              </a:tabLst>
            </a:pPr>
            <a:r>
              <a:rPr sz="1400" b="1" spc="-100" dirty="0">
                <a:solidFill>
                  <a:srgbClr val="003186"/>
                </a:solidFill>
                <a:latin typeface="Arial"/>
                <a:cs typeface="Arial"/>
              </a:rPr>
              <a:t>Criterios </a:t>
            </a:r>
            <a:r>
              <a:rPr sz="1400" b="1" spc="-85" dirty="0">
                <a:solidFill>
                  <a:srgbClr val="003186"/>
                </a:solidFill>
                <a:latin typeface="Arial"/>
                <a:cs typeface="Arial"/>
              </a:rPr>
              <a:t>para </a:t>
            </a:r>
            <a:r>
              <a:rPr sz="1400" b="1" spc="-70" dirty="0">
                <a:solidFill>
                  <a:srgbClr val="003186"/>
                </a:solidFill>
                <a:latin typeface="Arial"/>
                <a:cs typeface="Arial"/>
              </a:rPr>
              <a:t>la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selección </a:t>
            </a: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de</a:t>
            </a:r>
            <a:r>
              <a:rPr sz="1400" b="1" spc="10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Arial"/>
                <a:cs typeface="Arial"/>
              </a:rPr>
              <a:t>Software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 startAt="2"/>
              <a:tabLst>
                <a:tab pos="241300" algn="l"/>
              </a:tabLst>
            </a:pP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Virtualización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y </a:t>
            </a:r>
            <a:r>
              <a:rPr sz="1400" b="1" spc="-135" dirty="0">
                <a:solidFill>
                  <a:srgbClr val="003186"/>
                </a:solidFill>
                <a:latin typeface="Arial"/>
                <a:cs typeface="Arial"/>
              </a:rPr>
              <a:t>Cloud</a:t>
            </a:r>
            <a:r>
              <a:rPr sz="1400" b="1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Computing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0427" y="41151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0427" y="41151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03876" y="4208779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69204" y="4660772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46953" y="4183379"/>
            <a:ext cx="966977" cy="509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97829" y="4236720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40" dirty="0">
                <a:solidFill>
                  <a:srgbClr val="003186"/>
                </a:solidFill>
                <a:latin typeface="Arial"/>
                <a:cs typeface="Arial"/>
              </a:rPr>
              <a:t>Síntesis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93640" y="4762246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0" dirty="0">
                <a:solidFill>
                  <a:srgbClr val="003186"/>
                </a:solidFill>
                <a:latin typeface="Arial"/>
                <a:cs typeface="Arial"/>
              </a:rPr>
              <a:t>1. </a:t>
            </a:r>
            <a:r>
              <a:rPr sz="1400" b="1" spc="-135" dirty="0">
                <a:solidFill>
                  <a:srgbClr val="003186"/>
                </a:solidFill>
                <a:latin typeface="Arial"/>
                <a:cs typeface="Arial"/>
              </a:rPr>
              <a:t>Resumen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y </a:t>
            </a:r>
            <a:r>
              <a:rPr sz="1400" b="1" spc="-105" dirty="0">
                <a:solidFill>
                  <a:srgbClr val="003186"/>
                </a:solidFill>
                <a:latin typeface="Arial"/>
                <a:cs typeface="Arial"/>
              </a:rPr>
              <a:t>preguntas </a:t>
            </a: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de</a:t>
            </a:r>
            <a:r>
              <a:rPr sz="1400" b="1" spc="65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114" dirty="0">
                <a:solidFill>
                  <a:srgbClr val="003186"/>
                </a:solidFill>
                <a:latin typeface="Arial"/>
                <a:cs typeface="Arial"/>
              </a:rPr>
              <a:t>repaso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25702" y="4649723"/>
            <a:ext cx="2752725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3000" b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60" dirty="0">
                <a:solidFill>
                  <a:srgbClr val="00338D"/>
                </a:solidFill>
                <a:latin typeface="Arial"/>
                <a:cs typeface="Arial"/>
              </a:rPr>
              <a:t>Software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12909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</a:t>
            </a:r>
            <a:r>
              <a:rPr spc="-250" dirty="0"/>
              <a:t> </a:t>
            </a:r>
            <a:r>
              <a:rPr spc="-12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5538470" cy="491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60680" marR="5080" indent="-347980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160" dirty="0">
                <a:latin typeface="Arial"/>
                <a:cs typeface="Arial"/>
              </a:rPr>
              <a:t>Software </a:t>
            </a:r>
            <a:r>
              <a:rPr sz="2600" b="1" spc="-180" dirty="0">
                <a:latin typeface="Arial"/>
                <a:cs typeface="Arial"/>
              </a:rPr>
              <a:t>(SW): </a:t>
            </a:r>
            <a:r>
              <a:rPr sz="2600" spc="-30" dirty="0">
                <a:latin typeface="Arial"/>
                <a:cs typeface="Arial"/>
              </a:rPr>
              <a:t>todo </a:t>
            </a:r>
            <a:r>
              <a:rPr sz="2600" dirty="0">
                <a:latin typeface="Arial"/>
                <a:cs typeface="Arial"/>
              </a:rPr>
              <a:t>tipo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315" dirty="0">
                <a:latin typeface="Arial"/>
                <a:cs typeface="Arial"/>
              </a:rPr>
              <a:t> </a:t>
            </a:r>
            <a:r>
              <a:rPr sz="2600" u="heavy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programa 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220" dirty="0">
                <a:latin typeface="Arial"/>
                <a:cs typeface="Arial"/>
              </a:rPr>
              <a:t>es </a:t>
            </a:r>
            <a:r>
              <a:rPr sz="2600" spc="-70" dirty="0">
                <a:latin typeface="Arial"/>
                <a:cs typeface="Arial"/>
              </a:rPr>
              <a:t>utilizado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85" dirty="0">
                <a:latin typeface="Arial"/>
                <a:cs typeface="Arial"/>
              </a:rPr>
              <a:t>operar </a:t>
            </a:r>
            <a:r>
              <a:rPr sz="2600" spc="-125" dirty="0">
                <a:latin typeface="Arial"/>
                <a:cs typeface="Arial"/>
              </a:rPr>
              <a:t>una  </a:t>
            </a:r>
            <a:r>
              <a:rPr sz="2600" spc="-95" dirty="0">
                <a:latin typeface="Arial"/>
                <a:cs typeface="Arial"/>
              </a:rPr>
              <a:t>computadora.</a:t>
            </a:r>
            <a:endParaRPr sz="2600">
              <a:latin typeface="Arial"/>
              <a:cs typeface="Arial"/>
            </a:endParaRPr>
          </a:p>
          <a:p>
            <a:pPr marL="360680" marR="147955" indent="-347980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210" dirty="0">
                <a:latin typeface="Arial"/>
                <a:cs typeface="Arial"/>
              </a:rPr>
              <a:t>Programa: </a:t>
            </a:r>
            <a:r>
              <a:rPr sz="2600" spc="-220" dirty="0">
                <a:latin typeface="Arial"/>
                <a:cs typeface="Arial"/>
              </a:rPr>
              <a:t>es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secuencia </a:t>
            </a:r>
            <a:r>
              <a:rPr sz="2600" u="heavy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lógica </a:t>
            </a:r>
            <a:r>
              <a:rPr sz="2600" u="heavy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 </a:t>
            </a:r>
            <a:r>
              <a:rPr sz="2600" u="heavy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instrucciones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definidas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100" dirty="0">
                <a:latin typeface="Arial"/>
                <a:cs typeface="Arial"/>
              </a:rPr>
              <a:t>que, </a:t>
            </a:r>
            <a:r>
              <a:rPr sz="2600" spc="-204" dirty="0">
                <a:latin typeface="Arial"/>
                <a:cs typeface="Arial"/>
              </a:rPr>
              <a:t>a  </a:t>
            </a:r>
            <a:r>
              <a:rPr sz="2600" spc="-15" dirty="0">
                <a:latin typeface="Arial"/>
                <a:cs typeface="Arial"/>
              </a:rPr>
              <a:t>partir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0" dirty="0">
                <a:latin typeface="Arial"/>
                <a:cs typeface="Arial"/>
              </a:rPr>
              <a:t>ciertas </a:t>
            </a:r>
            <a:r>
              <a:rPr sz="2600" spc="-120" dirty="0">
                <a:latin typeface="Arial"/>
                <a:cs typeface="Arial"/>
              </a:rPr>
              <a:t>órdenes, </a:t>
            </a:r>
            <a:r>
              <a:rPr sz="2600" spc="-125" dirty="0">
                <a:latin typeface="Arial"/>
                <a:cs typeface="Arial"/>
              </a:rPr>
              <a:t>una  </a:t>
            </a:r>
            <a:r>
              <a:rPr sz="2600" i="1" spc="-114" dirty="0">
                <a:latin typeface="Trebuchet MS"/>
                <a:cs typeface="Trebuchet MS"/>
              </a:rPr>
              <a:t>computadora </a:t>
            </a:r>
            <a:r>
              <a:rPr sz="2600" spc="-100" dirty="0">
                <a:latin typeface="Arial"/>
                <a:cs typeface="Arial"/>
              </a:rPr>
              <a:t>realice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90" dirty="0">
                <a:latin typeface="Arial"/>
                <a:cs typeface="Arial"/>
              </a:rPr>
              <a:t>tarea </a:t>
            </a:r>
            <a:r>
              <a:rPr sz="2600" spc="-110" dirty="0">
                <a:latin typeface="Arial"/>
                <a:cs typeface="Arial"/>
              </a:rPr>
              <a:t>que  </a:t>
            </a:r>
            <a:r>
              <a:rPr sz="2600" spc="-55" dirty="0">
                <a:latin typeface="Arial"/>
                <a:cs typeface="Arial"/>
              </a:rPr>
              <a:t>permita </a:t>
            </a:r>
            <a:r>
              <a:rPr sz="2600" spc="-60" dirty="0">
                <a:latin typeface="Arial"/>
                <a:cs typeface="Arial"/>
              </a:rPr>
              <a:t>obtener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i="1" spc="-140" dirty="0">
                <a:latin typeface="Trebuchet MS"/>
                <a:cs typeface="Trebuchet MS"/>
              </a:rPr>
              <a:t>resultado  específico</a:t>
            </a:r>
            <a:r>
              <a:rPr sz="2600" spc="-14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360680" marR="399415" indent="-34798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61315" algn="l"/>
              </a:tabLst>
            </a:pPr>
            <a:r>
              <a:rPr sz="2600" b="1" spc="-204" dirty="0">
                <a:latin typeface="Arial"/>
                <a:cs typeface="Arial"/>
              </a:rPr>
              <a:t>Aplicación </a:t>
            </a:r>
            <a:r>
              <a:rPr sz="2600" b="1" spc="-145" dirty="0">
                <a:latin typeface="Arial"/>
                <a:cs typeface="Arial"/>
              </a:rPr>
              <a:t>informática</a:t>
            </a:r>
            <a:r>
              <a:rPr sz="2600" spc="-145" dirty="0">
                <a:latin typeface="Arial"/>
                <a:cs typeface="Arial"/>
              </a:rPr>
              <a:t>: </a:t>
            </a:r>
            <a:r>
              <a:rPr sz="2600" spc="-114" dirty="0">
                <a:latin typeface="Arial"/>
                <a:cs typeface="Arial"/>
              </a:rPr>
              <a:t>programa </a:t>
            </a:r>
            <a:r>
              <a:rPr sz="2600" spc="-225" dirty="0">
                <a:latin typeface="Arial"/>
                <a:cs typeface="Arial"/>
              </a:rPr>
              <a:t>+  </a:t>
            </a:r>
            <a:r>
              <a:rPr sz="2600" spc="-100" dirty="0">
                <a:latin typeface="Arial"/>
                <a:cs typeface="Arial"/>
              </a:rPr>
              <a:t>documentación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9800" y="1219200"/>
            <a:ext cx="2819400" cy="2217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0655" y="3581400"/>
            <a:ext cx="2828544" cy="25378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lang="es-AR" b="1" spc="-10" dirty="0">
                <a:latin typeface="Arial"/>
                <a:cs typeface="Arial"/>
              </a:rPr>
              <a:t> - 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/>
          <p:nvPr/>
        </p:nvSpPr>
        <p:spPr>
          <a:xfrm>
            <a:off x="8776716" y="6523387"/>
            <a:ext cx="1149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998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Software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33780"/>
            <a:ext cx="460692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29" dirty="0">
                <a:solidFill>
                  <a:srgbClr val="000000"/>
                </a:solidFill>
              </a:rPr>
              <a:t>Existen </a:t>
            </a:r>
            <a:r>
              <a:rPr sz="2600" spc="-130" dirty="0">
                <a:solidFill>
                  <a:srgbClr val="000000"/>
                </a:solidFill>
              </a:rPr>
              <a:t>2 </a:t>
            </a:r>
            <a:r>
              <a:rPr sz="2600" spc="-170" dirty="0">
                <a:solidFill>
                  <a:srgbClr val="000000"/>
                </a:solidFill>
              </a:rPr>
              <a:t>tipos </a:t>
            </a:r>
            <a:r>
              <a:rPr sz="2600" spc="-185" dirty="0">
                <a:solidFill>
                  <a:srgbClr val="000000"/>
                </a:solidFill>
              </a:rPr>
              <a:t>principales </a:t>
            </a:r>
            <a:r>
              <a:rPr sz="2600" spc="-170" dirty="0">
                <a:solidFill>
                  <a:srgbClr val="000000"/>
                </a:solidFill>
              </a:rPr>
              <a:t>de</a:t>
            </a:r>
            <a:r>
              <a:rPr sz="2600" spc="50" dirty="0">
                <a:solidFill>
                  <a:srgbClr val="000000"/>
                </a:solidFill>
              </a:rPr>
              <a:t> </a:t>
            </a:r>
            <a:r>
              <a:rPr sz="2600" spc="-260" dirty="0">
                <a:solidFill>
                  <a:srgbClr val="000000"/>
                </a:solidFill>
              </a:rPr>
              <a:t>SW: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434591"/>
            <a:ext cx="8597900" cy="4980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680" marR="2581275" indent="-347980" algn="just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61315" algn="l"/>
              </a:tabLst>
            </a:pPr>
            <a:r>
              <a:rPr sz="2000" b="1" spc="-125" dirty="0">
                <a:latin typeface="Arial"/>
                <a:cs typeface="Arial"/>
              </a:rPr>
              <a:t>Software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55" dirty="0">
                <a:latin typeface="Arial"/>
                <a:cs typeface="Arial"/>
              </a:rPr>
              <a:t>sistema: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50" dirty="0">
                <a:latin typeface="Arial"/>
                <a:cs typeface="Arial"/>
              </a:rPr>
              <a:t>conjunto </a:t>
            </a:r>
            <a:r>
              <a:rPr sz="2000" spc="-100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programas  generalizados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65" dirty="0">
                <a:latin typeface="Arial"/>
                <a:cs typeface="Arial"/>
              </a:rPr>
              <a:t>administra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05" dirty="0">
                <a:latin typeface="Arial"/>
                <a:cs typeface="Arial"/>
              </a:rPr>
              <a:t>recursos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la  </a:t>
            </a:r>
            <a:r>
              <a:rPr sz="2000" spc="-75" dirty="0">
                <a:latin typeface="Arial"/>
                <a:cs typeface="Arial"/>
              </a:rPr>
              <a:t>computadora </a:t>
            </a:r>
            <a:r>
              <a:rPr sz="2000" spc="-90" dirty="0">
                <a:latin typeface="Arial"/>
                <a:cs typeface="Arial"/>
              </a:rPr>
              <a:t>(como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90" dirty="0">
                <a:latin typeface="Arial"/>
                <a:cs typeface="Arial"/>
              </a:rPr>
              <a:t>procesador </a:t>
            </a:r>
            <a:r>
              <a:rPr sz="2000" spc="-55" dirty="0">
                <a:latin typeface="Arial"/>
                <a:cs typeface="Arial"/>
              </a:rPr>
              <a:t>central,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enlaces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comunicaciones y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0" dirty="0">
                <a:latin typeface="Arial"/>
                <a:cs typeface="Arial"/>
              </a:rPr>
              <a:t>dispositivos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periféricos).</a:t>
            </a:r>
            <a:endParaRPr sz="2000">
              <a:latin typeface="Arial"/>
              <a:cs typeface="Arial"/>
            </a:endParaRPr>
          </a:p>
          <a:p>
            <a:pPr marL="817880" marR="2580005" lvl="1" indent="-34798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817880" algn="l"/>
                <a:tab pos="818515" algn="l"/>
              </a:tabLst>
            </a:pPr>
            <a:r>
              <a:rPr sz="1600" b="1" u="heavy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Ejemplos</a:t>
            </a:r>
            <a:r>
              <a:rPr sz="1600" spc="-125" dirty="0">
                <a:latin typeface="Arial"/>
                <a:cs typeface="Arial"/>
              </a:rPr>
              <a:t>: </a:t>
            </a:r>
            <a:r>
              <a:rPr sz="1600" spc="-114" dirty="0">
                <a:latin typeface="Arial"/>
                <a:cs typeface="Arial"/>
              </a:rPr>
              <a:t>Sistemas </a:t>
            </a:r>
            <a:r>
              <a:rPr sz="1600" spc="-70" dirty="0">
                <a:latin typeface="Arial"/>
                <a:cs typeface="Arial"/>
              </a:rPr>
              <a:t>Operativos, </a:t>
            </a:r>
            <a:r>
              <a:rPr sz="1600" spc="-60" dirty="0">
                <a:latin typeface="Arial"/>
                <a:cs typeface="Arial"/>
              </a:rPr>
              <a:t>herramientas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corrección </a:t>
            </a:r>
            <a:r>
              <a:rPr sz="1600" spc="-75" dirty="0">
                <a:latin typeface="Arial"/>
                <a:cs typeface="Arial"/>
              </a:rPr>
              <a:t>y  organización,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etc.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360680" marR="2581275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000" b="1" spc="-125" dirty="0">
                <a:latin typeface="Arial"/>
                <a:cs typeface="Arial"/>
              </a:rPr>
              <a:t>Software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50" dirty="0">
                <a:latin typeface="Arial"/>
                <a:cs typeface="Arial"/>
              </a:rPr>
              <a:t>aplicaciones</a:t>
            </a:r>
            <a:r>
              <a:rPr sz="2000" spc="-150" dirty="0">
                <a:latin typeface="Arial"/>
                <a:cs typeface="Arial"/>
              </a:rPr>
              <a:t>: </a:t>
            </a:r>
            <a:r>
              <a:rPr sz="2000" spc="-114" dirty="0">
                <a:latin typeface="Arial"/>
                <a:cs typeface="Arial"/>
              </a:rPr>
              <a:t>son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05" dirty="0">
                <a:latin typeface="Arial"/>
                <a:cs typeface="Arial"/>
              </a:rPr>
              <a:t>programas </a:t>
            </a:r>
            <a:r>
              <a:rPr sz="2000" spc="-80" dirty="0">
                <a:latin typeface="Arial"/>
                <a:cs typeface="Arial"/>
              </a:rPr>
              <a:t>escritos 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95" dirty="0">
                <a:latin typeface="Arial"/>
                <a:cs typeface="Arial"/>
              </a:rPr>
              <a:t>usuarios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50" dirty="0">
                <a:latin typeface="Arial"/>
                <a:cs typeface="Arial"/>
              </a:rPr>
              <a:t>solicitar </a:t>
            </a:r>
            <a:r>
              <a:rPr sz="2000" spc="-100" dirty="0">
                <a:latin typeface="Arial"/>
                <a:cs typeface="Arial"/>
              </a:rPr>
              <a:t>una </a:t>
            </a:r>
            <a:r>
              <a:rPr sz="2000" spc="-70" dirty="0">
                <a:latin typeface="Arial"/>
                <a:cs typeface="Arial"/>
              </a:rPr>
              <a:t>tarea  </a:t>
            </a:r>
            <a:r>
              <a:rPr sz="2000" spc="-105" dirty="0">
                <a:latin typeface="Arial"/>
                <a:cs typeface="Arial"/>
              </a:rPr>
              <a:t>específica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computadora.</a:t>
            </a:r>
            <a:endParaRPr sz="2000">
              <a:latin typeface="Arial"/>
              <a:cs typeface="Arial"/>
            </a:endParaRPr>
          </a:p>
          <a:p>
            <a:pPr marL="817880" marR="2580640" lvl="1" indent="-34798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817880" algn="l"/>
                <a:tab pos="818515" algn="l"/>
              </a:tabLst>
            </a:pPr>
            <a:r>
              <a:rPr sz="1600" b="1" u="heavy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Ejemplos</a:t>
            </a:r>
            <a:r>
              <a:rPr sz="1600" spc="-125" dirty="0">
                <a:latin typeface="Arial"/>
                <a:cs typeface="Arial"/>
              </a:rPr>
              <a:t>: </a:t>
            </a:r>
            <a:r>
              <a:rPr sz="1600" spc="-80" dirty="0">
                <a:latin typeface="Arial"/>
                <a:cs typeface="Arial"/>
              </a:rPr>
              <a:t>aplicaciones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45" dirty="0">
                <a:latin typeface="Arial"/>
                <a:cs typeface="Arial"/>
              </a:rPr>
              <a:t>oficina </a:t>
            </a:r>
            <a:r>
              <a:rPr sz="1600" spc="-120" dirty="0">
                <a:latin typeface="Arial"/>
                <a:cs typeface="Arial"/>
              </a:rPr>
              <a:t>(MS</a:t>
            </a:r>
            <a:r>
              <a:rPr sz="1600" spc="200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Office), </a:t>
            </a:r>
            <a:r>
              <a:rPr sz="1600" spc="-45" dirty="0">
                <a:latin typeface="Arial"/>
                <a:cs typeface="Arial"/>
              </a:rPr>
              <a:t>software </a:t>
            </a:r>
            <a:r>
              <a:rPr sz="1600" spc="-75" dirty="0">
                <a:latin typeface="Arial"/>
                <a:cs typeface="Arial"/>
              </a:rPr>
              <a:t>de  </a:t>
            </a:r>
            <a:r>
              <a:rPr sz="1600" spc="-70" dirty="0">
                <a:latin typeface="Arial"/>
                <a:cs typeface="Arial"/>
              </a:rPr>
              <a:t>diseño </a:t>
            </a:r>
            <a:r>
              <a:rPr sz="1600" spc="-65" dirty="0">
                <a:latin typeface="Arial"/>
                <a:cs typeface="Arial"/>
              </a:rPr>
              <a:t>asistido </a:t>
            </a:r>
            <a:r>
              <a:rPr sz="1600" spc="-130" dirty="0">
                <a:latin typeface="Arial"/>
                <a:cs typeface="Arial"/>
              </a:rPr>
              <a:t>(CAD),</a:t>
            </a:r>
            <a:r>
              <a:rPr sz="1600" spc="-12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etc.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80645" marR="5080" algn="just">
              <a:lnSpc>
                <a:spcPct val="100000"/>
              </a:lnSpc>
              <a:spcBef>
                <a:spcPts val="1155"/>
              </a:spcBef>
            </a:pPr>
            <a:r>
              <a:rPr sz="2000" i="1" spc="-85" dirty="0">
                <a:latin typeface="Trebuchet MS"/>
                <a:cs typeface="Trebuchet MS"/>
              </a:rPr>
              <a:t>Los </a:t>
            </a:r>
            <a:r>
              <a:rPr sz="2000" i="1" spc="-100" dirty="0">
                <a:latin typeface="Trebuchet MS"/>
                <a:cs typeface="Trebuchet MS"/>
              </a:rPr>
              <a:t>tipos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105" dirty="0">
                <a:latin typeface="Trebuchet MS"/>
                <a:cs typeface="Trebuchet MS"/>
              </a:rPr>
              <a:t>software </a:t>
            </a:r>
            <a:r>
              <a:rPr sz="2000" i="1" spc="-80" dirty="0">
                <a:latin typeface="Trebuchet MS"/>
                <a:cs typeface="Trebuchet MS"/>
              </a:rPr>
              <a:t>se </a:t>
            </a:r>
            <a:r>
              <a:rPr sz="2000" i="1" spc="-120" dirty="0">
                <a:latin typeface="Trebuchet MS"/>
                <a:cs typeface="Trebuchet MS"/>
              </a:rPr>
              <a:t>interrelacionan. </a:t>
            </a:r>
            <a:r>
              <a:rPr sz="2000" i="1" spc="-145" dirty="0">
                <a:latin typeface="Trebuchet MS"/>
                <a:cs typeface="Trebuchet MS"/>
              </a:rPr>
              <a:t>El </a:t>
            </a:r>
            <a:r>
              <a:rPr sz="2000" i="1" spc="-105" dirty="0">
                <a:latin typeface="Trebuchet MS"/>
                <a:cs typeface="Trebuchet MS"/>
              </a:rPr>
              <a:t>software </a:t>
            </a:r>
            <a:r>
              <a:rPr sz="2000" i="1" spc="-135" dirty="0">
                <a:latin typeface="Trebuchet MS"/>
                <a:cs typeface="Trebuchet MS"/>
              </a:rPr>
              <a:t>del </a:t>
            </a:r>
            <a:r>
              <a:rPr sz="2000" i="1" spc="-100" dirty="0">
                <a:latin typeface="Trebuchet MS"/>
                <a:cs typeface="Trebuchet MS"/>
              </a:rPr>
              <a:t>sistema </a:t>
            </a:r>
            <a:r>
              <a:rPr sz="2000" i="1" spc="-105" dirty="0">
                <a:latin typeface="Trebuchet MS"/>
                <a:cs typeface="Trebuchet MS"/>
              </a:rPr>
              <a:t>controla </a:t>
            </a:r>
            <a:r>
              <a:rPr sz="2000" i="1" spc="-155" dirty="0">
                <a:latin typeface="Trebuchet MS"/>
                <a:cs typeface="Trebuchet MS"/>
              </a:rPr>
              <a:t>el </a:t>
            </a:r>
            <a:r>
              <a:rPr sz="2000" i="1" spc="-75" dirty="0">
                <a:latin typeface="Trebuchet MS"/>
                <a:cs typeface="Trebuchet MS"/>
              </a:rPr>
              <a:t>acceso  </a:t>
            </a:r>
            <a:r>
              <a:rPr sz="2000" i="1" spc="-110" dirty="0">
                <a:latin typeface="Trebuchet MS"/>
                <a:cs typeface="Trebuchet MS"/>
              </a:rPr>
              <a:t>al hardware. </a:t>
            </a:r>
            <a:r>
              <a:rPr sz="2000" i="1" spc="-75" dirty="0">
                <a:latin typeface="Trebuchet MS"/>
                <a:cs typeface="Trebuchet MS"/>
              </a:rPr>
              <a:t>Para </a:t>
            </a:r>
            <a:r>
              <a:rPr sz="2000" i="1" spc="-145" dirty="0">
                <a:latin typeface="Trebuchet MS"/>
                <a:cs typeface="Trebuchet MS"/>
              </a:rPr>
              <a:t>operar, </a:t>
            </a:r>
            <a:r>
              <a:rPr sz="2000" i="1" spc="-155" dirty="0">
                <a:latin typeface="Trebuchet MS"/>
                <a:cs typeface="Trebuchet MS"/>
              </a:rPr>
              <a:t>el </a:t>
            </a:r>
            <a:r>
              <a:rPr sz="2000" i="1" spc="-105" dirty="0">
                <a:latin typeface="Trebuchet MS"/>
                <a:cs typeface="Trebuchet MS"/>
              </a:rPr>
              <a:t>software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95" dirty="0">
                <a:latin typeface="Trebuchet MS"/>
                <a:cs typeface="Trebuchet MS"/>
              </a:rPr>
              <a:t>aplicaciones </a:t>
            </a:r>
            <a:r>
              <a:rPr sz="2000" i="1" spc="-110" dirty="0">
                <a:latin typeface="Trebuchet MS"/>
                <a:cs typeface="Trebuchet MS"/>
              </a:rPr>
              <a:t>debe trabajar </a:t>
            </a:r>
            <a:r>
              <a:rPr sz="2000" i="1" spc="-25" dirty="0">
                <a:latin typeface="Trebuchet MS"/>
                <a:cs typeface="Trebuchet MS"/>
              </a:rPr>
              <a:t>a </a:t>
            </a:r>
            <a:r>
              <a:rPr sz="2000" i="1" spc="-100" dirty="0">
                <a:latin typeface="Trebuchet MS"/>
                <a:cs typeface="Trebuchet MS"/>
              </a:rPr>
              <a:t>través </a:t>
            </a:r>
            <a:r>
              <a:rPr sz="2000" i="1" spc="-135" dirty="0">
                <a:latin typeface="Trebuchet MS"/>
                <a:cs typeface="Trebuchet MS"/>
              </a:rPr>
              <a:t>del  </a:t>
            </a:r>
            <a:r>
              <a:rPr sz="2000" i="1" spc="-105" dirty="0">
                <a:latin typeface="Trebuchet MS"/>
                <a:cs typeface="Trebuchet MS"/>
              </a:rPr>
              <a:t>software </a:t>
            </a:r>
            <a:r>
              <a:rPr sz="2000" i="1" spc="-135" dirty="0">
                <a:latin typeface="Trebuchet MS"/>
                <a:cs typeface="Trebuchet MS"/>
              </a:rPr>
              <a:t>del </a:t>
            </a:r>
            <a:r>
              <a:rPr sz="2000" i="1" spc="-114" dirty="0">
                <a:latin typeface="Trebuchet MS"/>
                <a:cs typeface="Trebuchet MS"/>
              </a:rPr>
              <a:t>sistema. </a:t>
            </a:r>
            <a:r>
              <a:rPr sz="2000" b="1" i="1" spc="-295" dirty="0">
                <a:latin typeface="Arial"/>
                <a:cs typeface="Arial"/>
              </a:rPr>
              <a:t>Los </a:t>
            </a:r>
            <a:r>
              <a:rPr sz="2000" b="1" i="1" spc="-175" dirty="0">
                <a:latin typeface="Arial"/>
                <a:cs typeface="Arial"/>
              </a:rPr>
              <a:t>usuarios </a:t>
            </a:r>
            <a:r>
              <a:rPr sz="2000" b="1" i="1" spc="-130" dirty="0">
                <a:latin typeface="Arial"/>
                <a:cs typeface="Arial"/>
              </a:rPr>
              <a:t>finales </a:t>
            </a:r>
            <a:r>
              <a:rPr sz="2000" b="1" i="1" spc="-80" dirty="0">
                <a:latin typeface="Arial"/>
                <a:cs typeface="Arial"/>
              </a:rPr>
              <a:t>trabajan </a:t>
            </a:r>
            <a:r>
              <a:rPr sz="2000" b="1" i="1" spc="-130" dirty="0">
                <a:latin typeface="Arial"/>
                <a:cs typeface="Arial"/>
              </a:rPr>
              <a:t>principalmente </a:t>
            </a:r>
            <a:r>
              <a:rPr sz="2000" b="1" i="1" spc="-220" dirty="0">
                <a:latin typeface="Arial"/>
                <a:cs typeface="Arial"/>
              </a:rPr>
              <a:t>con </a:t>
            </a:r>
            <a:r>
              <a:rPr sz="2000" b="1" i="1" spc="-105" dirty="0">
                <a:latin typeface="Arial"/>
                <a:cs typeface="Arial"/>
              </a:rPr>
              <a:t>el  </a:t>
            </a:r>
            <a:r>
              <a:rPr sz="2000" b="1" i="1" spc="-110" dirty="0">
                <a:latin typeface="Arial"/>
                <a:cs typeface="Arial"/>
              </a:rPr>
              <a:t>software </a:t>
            </a:r>
            <a:r>
              <a:rPr sz="2000" b="1" i="1" spc="-150" dirty="0">
                <a:latin typeface="Arial"/>
                <a:cs typeface="Arial"/>
              </a:rPr>
              <a:t>de</a:t>
            </a:r>
            <a:r>
              <a:rPr sz="2000" b="1" i="1" spc="-114" dirty="0">
                <a:latin typeface="Arial"/>
                <a:cs typeface="Arial"/>
              </a:rPr>
              <a:t> </a:t>
            </a:r>
            <a:r>
              <a:rPr sz="2000" b="1" i="1" spc="-150" dirty="0">
                <a:latin typeface="Arial"/>
                <a:cs typeface="Arial"/>
              </a:rPr>
              <a:t>aplicaciones.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0" y="3352800"/>
            <a:ext cx="1718733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0" y="1283686"/>
            <a:ext cx="1676400" cy="1886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</a:t>
            </a:r>
            <a:r>
              <a:rPr spc="-30" dirty="0"/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76716" y="6523387"/>
            <a:ext cx="1149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5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5998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15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Software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05000" y="4419600"/>
            <a:ext cx="68580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68241" y="3605529"/>
            <a:ext cx="2400935" cy="161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933450" marR="670560" indent="70485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Software  de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sistema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583690" marR="5080" indent="-5969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Software</a:t>
            </a:r>
            <a:r>
              <a:rPr sz="1200" b="1" spc="-10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  aplicación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6436" y="5836158"/>
            <a:ext cx="1202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Usuarios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finales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0000" y="2362200"/>
            <a:ext cx="1223772" cy="11313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38600" y="4486655"/>
            <a:ext cx="457200" cy="4267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2991" y="4114800"/>
            <a:ext cx="530808" cy="5639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4600" y="3581400"/>
            <a:ext cx="461772" cy="476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05250" y="5181600"/>
            <a:ext cx="990600" cy="740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19400" y="5105400"/>
            <a:ext cx="838200" cy="4251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8200" y="4572000"/>
            <a:ext cx="762000" cy="7620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2535" y="3048000"/>
            <a:ext cx="713814" cy="7429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380" y="1448180"/>
            <a:ext cx="5581650" cy="4572000"/>
          </a:xfrm>
          <a:custGeom>
            <a:avLst/>
            <a:gdLst/>
            <a:ahLst/>
            <a:cxnLst/>
            <a:rect l="l" t="t" r="r" b="b"/>
            <a:pathLst>
              <a:path w="5581650" h="4572000">
                <a:moveTo>
                  <a:pt x="0" y="2286000"/>
                </a:moveTo>
                <a:lnTo>
                  <a:pt x="493" y="2242561"/>
                </a:lnTo>
                <a:lnTo>
                  <a:pt x="1969" y="2199319"/>
                </a:lnTo>
                <a:lnTo>
                  <a:pt x="4418" y="2156280"/>
                </a:lnTo>
                <a:lnTo>
                  <a:pt x="7831" y="2113453"/>
                </a:lnTo>
                <a:lnTo>
                  <a:pt x="12199" y="2070843"/>
                </a:lnTo>
                <a:lnTo>
                  <a:pt x="17515" y="2028459"/>
                </a:lnTo>
                <a:lnTo>
                  <a:pt x="23769" y="1986307"/>
                </a:lnTo>
                <a:lnTo>
                  <a:pt x="30952" y="1944395"/>
                </a:lnTo>
                <a:lnTo>
                  <a:pt x="39056" y="1902729"/>
                </a:lnTo>
                <a:lnTo>
                  <a:pt x="48071" y="1861317"/>
                </a:lnTo>
                <a:lnTo>
                  <a:pt x="57991" y="1820166"/>
                </a:lnTo>
                <a:lnTo>
                  <a:pt x="68804" y="1779283"/>
                </a:lnTo>
                <a:lnTo>
                  <a:pt x="80504" y="1738675"/>
                </a:lnTo>
                <a:lnTo>
                  <a:pt x="93080" y="1698350"/>
                </a:lnTo>
                <a:lnTo>
                  <a:pt x="106525" y="1658314"/>
                </a:lnTo>
                <a:lnTo>
                  <a:pt x="120829" y="1618575"/>
                </a:lnTo>
                <a:lnTo>
                  <a:pt x="135985" y="1579140"/>
                </a:lnTo>
                <a:lnTo>
                  <a:pt x="151982" y="1540016"/>
                </a:lnTo>
                <a:lnTo>
                  <a:pt x="168813" y="1501210"/>
                </a:lnTo>
                <a:lnTo>
                  <a:pt x="186469" y="1462729"/>
                </a:lnTo>
                <a:lnTo>
                  <a:pt x="204941" y="1424581"/>
                </a:lnTo>
                <a:lnTo>
                  <a:pt x="224219" y="1386772"/>
                </a:lnTo>
                <a:lnTo>
                  <a:pt x="244297" y="1349310"/>
                </a:lnTo>
                <a:lnTo>
                  <a:pt x="265164" y="1312202"/>
                </a:lnTo>
                <a:lnTo>
                  <a:pt x="286812" y="1275454"/>
                </a:lnTo>
                <a:lnTo>
                  <a:pt x="309233" y="1239075"/>
                </a:lnTo>
                <a:lnTo>
                  <a:pt x="332417" y="1203072"/>
                </a:lnTo>
                <a:lnTo>
                  <a:pt x="356357" y="1167450"/>
                </a:lnTo>
                <a:lnTo>
                  <a:pt x="381042" y="1132219"/>
                </a:lnTo>
                <a:lnTo>
                  <a:pt x="406465" y="1097384"/>
                </a:lnTo>
                <a:lnTo>
                  <a:pt x="432616" y="1062953"/>
                </a:lnTo>
                <a:lnTo>
                  <a:pt x="459488" y="1028933"/>
                </a:lnTo>
                <a:lnTo>
                  <a:pt x="487070" y="995331"/>
                </a:lnTo>
                <a:lnTo>
                  <a:pt x="515355" y="962155"/>
                </a:lnTo>
                <a:lnTo>
                  <a:pt x="544334" y="929411"/>
                </a:lnTo>
                <a:lnTo>
                  <a:pt x="573999" y="897106"/>
                </a:lnTo>
                <a:lnTo>
                  <a:pt x="604339" y="865249"/>
                </a:lnTo>
                <a:lnTo>
                  <a:pt x="635347" y="833845"/>
                </a:lnTo>
                <a:lnTo>
                  <a:pt x="667014" y="802903"/>
                </a:lnTo>
                <a:lnTo>
                  <a:pt x="699331" y="772429"/>
                </a:lnTo>
                <a:lnTo>
                  <a:pt x="732290" y="742430"/>
                </a:lnTo>
                <a:lnTo>
                  <a:pt x="765881" y="712913"/>
                </a:lnTo>
                <a:lnTo>
                  <a:pt x="800096" y="683887"/>
                </a:lnTo>
                <a:lnTo>
                  <a:pt x="834927" y="655357"/>
                </a:lnTo>
                <a:lnTo>
                  <a:pt x="870364" y="627331"/>
                </a:lnTo>
                <a:lnTo>
                  <a:pt x="906398" y="599816"/>
                </a:lnTo>
                <a:lnTo>
                  <a:pt x="943022" y="572820"/>
                </a:lnTo>
                <a:lnTo>
                  <a:pt x="980227" y="546349"/>
                </a:lnTo>
                <a:lnTo>
                  <a:pt x="1018002" y="520410"/>
                </a:lnTo>
                <a:lnTo>
                  <a:pt x="1056341" y="495012"/>
                </a:lnTo>
                <a:lnTo>
                  <a:pt x="1095234" y="470160"/>
                </a:lnTo>
                <a:lnTo>
                  <a:pt x="1134672" y="445862"/>
                </a:lnTo>
                <a:lnTo>
                  <a:pt x="1174647" y="422125"/>
                </a:lnTo>
                <a:lnTo>
                  <a:pt x="1215150" y="398957"/>
                </a:lnTo>
                <a:lnTo>
                  <a:pt x="1256173" y="376364"/>
                </a:lnTo>
                <a:lnTo>
                  <a:pt x="1297705" y="354353"/>
                </a:lnTo>
                <a:lnTo>
                  <a:pt x="1339740" y="332933"/>
                </a:lnTo>
                <a:lnTo>
                  <a:pt x="1382268" y="312109"/>
                </a:lnTo>
                <a:lnTo>
                  <a:pt x="1425279" y="291889"/>
                </a:lnTo>
                <a:lnTo>
                  <a:pt x="1468767" y="272281"/>
                </a:lnTo>
                <a:lnTo>
                  <a:pt x="1512722" y="253291"/>
                </a:lnTo>
                <a:lnTo>
                  <a:pt x="1557134" y="234926"/>
                </a:lnTo>
                <a:lnTo>
                  <a:pt x="1601996" y="217194"/>
                </a:lnTo>
                <a:lnTo>
                  <a:pt x="1647299" y="200102"/>
                </a:lnTo>
                <a:lnTo>
                  <a:pt x="1693034" y="183656"/>
                </a:lnTo>
                <a:lnTo>
                  <a:pt x="1739192" y="167865"/>
                </a:lnTo>
                <a:lnTo>
                  <a:pt x="1785764" y="152735"/>
                </a:lnTo>
                <a:lnTo>
                  <a:pt x="1832743" y="138273"/>
                </a:lnTo>
                <a:lnTo>
                  <a:pt x="1880118" y="124487"/>
                </a:lnTo>
                <a:lnTo>
                  <a:pt x="1927882" y="111384"/>
                </a:lnTo>
                <a:lnTo>
                  <a:pt x="1976025" y="98970"/>
                </a:lnTo>
                <a:lnTo>
                  <a:pt x="2024539" y="87253"/>
                </a:lnTo>
                <a:lnTo>
                  <a:pt x="2073416" y="76241"/>
                </a:lnTo>
                <a:lnTo>
                  <a:pt x="2122646" y="65940"/>
                </a:lnTo>
                <a:lnTo>
                  <a:pt x="2172220" y="56357"/>
                </a:lnTo>
                <a:lnTo>
                  <a:pt x="2222131" y="47499"/>
                </a:lnTo>
                <a:lnTo>
                  <a:pt x="2272368" y="39375"/>
                </a:lnTo>
                <a:lnTo>
                  <a:pt x="2322925" y="31990"/>
                </a:lnTo>
                <a:lnTo>
                  <a:pt x="2373791" y="25352"/>
                </a:lnTo>
                <a:lnTo>
                  <a:pt x="2424958" y="19468"/>
                </a:lnTo>
                <a:lnTo>
                  <a:pt x="2476417" y="14346"/>
                </a:lnTo>
                <a:lnTo>
                  <a:pt x="2528160" y="9992"/>
                </a:lnTo>
                <a:lnTo>
                  <a:pt x="2580178" y="6414"/>
                </a:lnTo>
                <a:lnTo>
                  <a:pt x="2632462" y="3618"/>
                </a:lnTo>
                <a:lnTo>
                  <a:pt x="2685004" y="1613"/>
                </a:lnTo>
                <a:lnTo>
                  <a:pt x="2737794" y="404"/>
                </a:lnTo>
                <a:lnTo>
                  <a:pt x="2790824" y="0"/>
                </a:lnTo>
                <a:lnTo>
                  <a:pt x="2843855" y="404"/>
                </a:lnTo>
                <a:lnTo>
                  <a:pt x="2896645" y="1613"/>
                </a:lnTo>
                <a:lnTo>
                  <a:pt x="2949187" y="3618"/>
                </a:lnTo>
                <a:lnTo>
                  <a:pt x="3001471" y="6414"/>
                </a:lnTo>
                <a:lnTo>
                  <a:pt x="3053489" y="9992"/>
                </a:lnTo>
                <a:lnTo>
                  <a:pt x="3105232" y="14346"/>
                </a:lnTo>
                <a:lnTo>
                  <a:pt x="3156691" y="19468"/>
                </a:lnTo>
                <a:lnTo>
                  <a:pt x="3207858" y="25352"/>
                </a:lnTo>
                <a:lnTo>
                  <a:pt x="3258724" y="31990"/>
                </a:lnTo>
                <a:lnTo>
                  <a:pt x="3309281" y="39375"/>
                </a:lnTo>
                <a:lnTo>
                  <a:pt x="3359518" y="47499"/>
                </a:lnTo>
                <a:lnTo>
                  <a:pt x="3409429" y="56357"/>
                </a:lnTo>
                <a:lnTo>
                  <a:pt x="3459003" y="65940"/>
                </a:lnTo>
                <a:lnTo>
                  <a:pt x="3508233" y="76241"/>
                </a:lnTo>
                <a:lnTo>
                  <a:pt x="3557110" y="87253"/>
                </a:lnTo>
                <a:lnTo>
                  <a:pt x="3605624" y="98970"/>
                </a:lnTo>
                <a:lnTo>
                  <a:pt x="3653767" y="111384"/>
                </a:lnTo>
                <a:lnTo>
                  <a:pt x="3701531" y="124487"/>
                </a:lnTo>
                <a:lnTo>
                  <a:pt x="3748906" y="138273"/>
                </a:lnTo>
                <a:lnTo>
                  <a:pt x="3795885" y="152735"/>
                </a:lnTo>
                <a:lnTo>
                  <a:pt x="3842457" y="167865"/>
                </a:lnTo>
                <a:lnTo>
                  <a:pt x="3888615" y="183656"/>
                </a:lnTo>
                <a:lnTo>
                  <a:pt x="3934350" y="200102"/>
                </a:lnTo>
                <a:lnTo>
                  <a:pt x="3979653" y="217194"/>
                </a:lnTo>
                <a:lnTo>
                  <a:pt x="4024515" y="234926"/>
                </a:lnTo>
                <a:lnTo>
                  <a:pt x="4068927" y="253291"/>
                </a:lnTo>
                <a:lnTo>
                  <a:pt x="4112882" y="272281"/>
                </a:lnTo>
                <a:lnTo>
                  <a:pt x="4156370" y="291889"/>
                </a:lnTo>
                <a:lnTo>
                  <a:pt x="4199382" y="312109"/>
                </a:lnTo>
                <a:lnTo>
                  <a:pt x="4241909" y="332933"/>
                </a:lnTo>
                <a:lnTo>
                  <a:pt x="4283944" y="354353"/>
                </a:lnTo>
                <a:lnTo>
                  <a:pt x="4325476" y="376364"/>
                </a:lnTo>
                <a:lnTo>
                  <a:pt x="4366499" y="398957"/>
                </a:lnTo>
                <a:lnTo>
                  <a:pt x="4407002" y="422125"/>
                </a:lnTo>
                <a:lnTo>
                  <a:pt x="4446977" y="445862"/>
                </a:lnTo>
                <a:lnTo>
                  <a:pt x="4486415" y="470160"/>
                </a:lnTo>
                <a:lnTo>
                  <a:pt x="4525308" y="495012"/>
                </a:lnTo>
                <a:lnTo>
                  <a:pt x="4563647" y="520410"/>
                </a:lnTo>
                <a:lnTo>
                  <a:pt x="4601422" y="546349"/>
                </a:lnTo>
                <a:lnTo>
                  <a:pt x="4638627" y="572820"/>
                </a:lnTo>
                <a:lnTo>
                  <a:pt x="4675251" y="599816"/>
                </a:lnTo>
                <a:lnTo>
                  <a:pt x="4711285" y="627331"/>
                </a:lnTo>
                <a:lnTo>
                  <a:pt x="4746722" y="655357"/>
                </a:lnTo>
                <a:lnTo>
                  <a:pt x="4781553" y="683887"/>
                </a:lnTo>
                <a:lnTo>
                  <a:pt x="4815768" y="712913"/>
                </a:lnTo>
                <a:lnTo>
                  <a:pt x="4849359" y="742430"/>
                </a:lnTo>
                <a:lnTo>
                  <a:pt x="4882318" y="772429"/>
                </a:lnTo>
                <a:lnTo>
                  <a:pt x="4914635" y="802903"/>
                </a:lnTo>
                <a:lnTo>
                  <a:pt x="4946302" y="833845"/>
                </a:lnTo>
                <a:lnTo>
                  <a:pt x="4977310" y="865249"/>
                </a:lnTo>
                <a:lnTo>
                  <a:pt x="5007650" y="897106"/>
                </a:lnTo>
                <a:lnTo>
                  <a:pt x="5037315" y="929411"/>
                </a:lnTo>
                <a:lnTo>
                  <a:pt x="5066294" y="962155"/>
                </a:lnTo>
                <a:lnTo>
                  <a:pt x="5094579" y="995331"/>
                </a:lnTo>
                <a:lnTo>
                  <a:pt x="5122161" y="1028933"/>
                </a:lnTo>
                <a:lnTo>
                  <a:pt x="5149033" y="1062953"/>
                </a:lnTo>
                <a:lnTo>
                  <a:pt x="5175184" y="1097384"/>
                </a:lnTo>
                <a:lnTo>
                  <a:pt x="5200607" y="1132219"/>
                </a:lnTo>
                <a:lnTo>
                  <a:pt x="5225292" y="1167450"/>
                </a:lnTo>
                <a:lnTo>
                  <a:pt x="5249232" y="1203072"/>
                </a:lnTo>
                <a:lnTo>
                  <a:pt x="5272416" y="1239075"/>
                </a:lnTo>
                <a:lnTo>
                  <a:pt x="5294837" y="1275454"/>
                </a:lnTo>
                <a:lnTo>
                  <a:pt x="5316485" y="1312202"/>
                </a:lnTo>
                <a:lnTo>
                  <a:pt x="5337352" y="1349310"/>
                </a:lnTo>
                <a:lnTo>
                  <a:pt x="5357430" y="1386772"/>
                </a:lnTo>
                <a:lnTo>
                  <a:pt x="5376708" y="1424581"/>
                </a:lnTo>
                <a:lnTo>
                  <a:pt x="5395180" y="1462729"/>
                </a:lnTo>
                <a:lnTo>
                  <a:pt x="5412836" y="1501210"/>
                </a:lnTo>
                <a:lnTo>
                  <a:pt x="5429667" y="1540016"/>
                </a:lnTo>
                <a:lnTo>
                  <a:pt x="5445664" y="1579140"/>
                </a:lnTo>
                <a:lnTo>
                  <a:pt x="5460820" y="1618575"/>
                </a:lnTo>
                <a:lnTo>
                  <a:pt x="5475124" y="1658314"/>
                </a:lnTo>
                <a:lnTo>
                  <a:pt x="5488569" y="1698350"/>
                </a:lnTo>
                <a:lnTo>
                  <a:pt x="5501145" y="1738675"/>
                </a:lnTo>
                <a:lnTo>
                  <a:pt x="5512845" y="1779283"/>
                </a:lnTo>
                <a:lnTo>
                  <a:pt x="5523658" y="1820166"/>
                </a:lnTo>
                <a:lnTo>
                  <a:pt x="5533578" y="1861317"/>
                </a:lnTo>
                <a:lnTo>
                  <a:pt x="5542593" y="1902729"/>
                </a:lnTo>
                <a:lnTo>
                  <a:pt x="5550697" y="1944395"/>
                </a:lnTo>
                <a:lnTo>
                  <a:pt x="5557880" y="1986307"/>
                </a:lnTo>
                <a:lnTo>
                  <a:pt x="5564134" y="2028459"/>
                </a:lnTo>
                <a:lnTo>
                  <a:pt x="5569450" y="2070843"/>
                </a:lnTo>
                <a:lnTo>
                  <a:pt x="5573818" y="2113453"/>
                </a:lnTo>
                <a:lnTo>
                  <a:pt x="5577231" y="2156280"/>
                </a:lnTo>
                <a:lnTo>
                  <a:pt x="5579680" y="2199319"/>
                </a:lnTo>
                <a:lnTo>
                  <a:pt x="5581156" y="2242561"/>
                </a:lnTo>
                <a:lnTo>
                  <a:pt x="5581650" y="2286000"/>
                </a:lnTo>
                <a:lnTo>
                  <a:pt x="5581156" y="2329438"/>
                </a:lnTo>
                <a:lnTo>
                  <a:pt x="5579680" y="2372680"/>
                </a:lnTo>
                <a:lnTo>
                  <a:pt x="5577231" y="2415719"/>
                </a:lnTo>
                <a:lnTo>
                  <a:pt x="5573818" y="2458546"/>
                </a:lnTo>
                <a:lnTo>
                  <a:pt x="5569450" y="2501156"/>
                </a:lnTo>
                <a:lnTo>
                  <a:pt x="5564134" y="2543540"/>
                </a:lnTo>
                <a:lnTo>
                  <a:pt x="5557880" y="2585692"/>
                </a:lnTo>
                <a:lnTo>
                  <a:pt x="5550697" y="2627604"/>
                </a:lnTo>
                <a:lnTo>
                  <a:pt x="5542593" y="2669270"/>
                </a:lnTo>
                <a:lnTo>
                  <a:pt x="5533578" y="2710682"/>
                </a:lnTo>
                <a:lnTo>
                  <a:pt x="5523658" y="2751833"/>
                </a:lnTo>
                <a:lnTo>
                  <a:pt x="5512845" y="2792716"/>
                </a:lnTo>
                <a:lnTo>
                  <a:pt x="5501145" y="2833324"/>
                </a:lnTo>
                <a:lnTo>
                  <a:pt x="5488569" y="2873649"/>
                </a:lnTo>
                <a:lnTo>
                  <a:pt x="5475124" y="2913685"/>
                </a:lnTo>
                <a:lnTo>
                  <a:pt x="5460820" y="2953424"/>
                </a:lnTo>
                <a:lnTo>
                  <a:pt x="5445664" y="2992859"/>
                </a:lnTo>
                <a:lnTo>
                  <a:pt x="5429667" y="3031983"/>
                </a:lnTo>
                <a:lnTo>
                  <a:pt x="5412836" y="3070789"/>
                </a:lnTo>
                <a:lnTo>
                  <a:pt x="5395180" y="3109270"/>
                </a:lnTo>
                <a:lnTo>
                  <a:pt x="5376708" y="3147418"/>
                </a:lnTo>
                <a:lnTo>
                  <a:pt x="5357430" y="3185227"/>
                </a:lnTo>
                <a:lnTo>
                  <a:pt x="5337352" y="3222689"/>
                </a:lnTo>
                <a:lnTo>
                  <a:pt x="5316485" y="3259797"/>
                </a:lnTo>
                <a:lnTo>
                  <a:pt x="5294837" y="3296545"/>
                </a:lnTo>
                <a:lnTo>
                  <a:pt x="5272416" y="3332924"/>
                </a:lnTo>
                <a:lnTo>
                  <a:pt x="5249232" y="3368927"/>
                </a:lnTo>
                <a:lnTo>
                  <a:pt x="5225292" y="3404549"/>
                </a:lnTo>
                <a:lnTo>
                  <a:pt x="5200607" y="3439780"/>
                </a:lnTo>
                <a:lnTo>
                  <a:pt x="5175184" y="3474615"/>
                </a:lnTo>
                <a:lnTo>
                  <a:pt x="5149033" y="3509046"/>
                </a:lnTo>
                <a:lnTo>
                  <a:pt x="5122161" y="3543066"/>
                </a:lnTo>
                <a:lnTo>
                  <a:pt x="5094579" y="3576668"/>
                </a:lnTo>
                <a:lnTo>
                  <a:pt x="5066294" y="3609844"/>
                </a:lnTo>
                <a:lnTo>
                  <a:pt x="5037315" y="3642588"/>
                </a:lnTo>
                <a:lnTo>
                  <a:pt x="5007650" y="3674893"/>
                </a:lnTo>
                <a:lnTo>
                  <a:pt x="4977310" y="3706750"/>
                </a:lnTo>
                <a:lnTo>
                  <a:pt x="4946302" y="3738154"/>
                </a:lnTo>
                <a:lnTo>
                  <a:pt x="4914635" y="3769096"/>
                </a:lnTo>
                <a:lnTo>
                  <a:pt x="4882318" y="3799570"/>
                </a:lnTo>
                <a:lnTo>
                  <a:pt x="4849359" y="3829569"/>
                </a:lnTo>
                <a:lnTo>
                  <a:pt x="4815768" y="3859086"/>
                </a:lnTo>
                <a:lnTo>
                  <a:pt x="4781553" y="3888112"/>
                </a:lnTo>
                <a:lnTo>
                  <a:pt x="4746722" y="3916642"/>
                </a:lnTo>
                <a:lnTo>
                  <a:pt x="4711285" y="3944668"/>
                </a:lnTo>
                <a:lnTo>
                  <a:pt x="4675251" y="3972183"/>
                </a:lnTo>
                <a:lnTo>
                  <a:pt x="4638627" y="3999179"/>
                </a:lnTo>
                <a:lnTo>
                  <a:pt x="4601422" y="4025650"/>
                </a:lnTo>
                <a:lnTo>
                  <a:pt x="4563647" y="4051589"/>
                </a:lnTo>
                <a:lnTo>
                  <a:pt x="4525308" y="4076987"/>
                </a:lnTo>
                <a:lnTo>
                  <a:pt x="4486415" y="4101839"/>
                </a:lnTo>
                <a:lnTo>
                  <a:pt x="4446977" y="4126137"/>
                </a:lnTo>
                <a:lnTo>
                  <a:pt x="4407002" y="4149874"/>
                </a:lnTo>
                <a:lnTo>
                  <a:pt x="4366499" y="4173042"/>
                </a:lnTo>
                <a:lnTo>
                  <a:pt x="4325476" y="4195635"/>
                </a:lnTo>
                <a:lnTo>
                  <a:pt x="4283944" y="4217646"/>
                </a:lnTo>
                <a:lnTo>
                  <a:pt x="4241909" y="4239066"/>
                </a:lnTo>
                <a:lnTo>
                  <a:pt x="4199382" y="4259890"/>
                </a:lnTo>
                <a:lnTo>
                  <a:pt x="4156370" y="4280110"/>
                </a:lnTo>
                <a:lnTo>
                  <a:pt x="4112882" y="4299718"/>
                </a:lnTo>
                <a:lnTo>
                  <a:pt x="4068927" y="4318708"/>
                </a:lnTo>
                <a:lnTo>
                  <a:pt x="4024515" y="4337073"/>
                </a:lnTo>
                <a:lnTo>
                  <a:pt x="3979653" y="4354805"/>
                </a:lnTo>
                <a:lnTo>
                  <a:pt x="3934350" y="4371897"/>
                </a:lnTo>
                <a:lnTo>
                  <a:pt x="3888615" y="4388343"/>
                </a:lnTo>
                <a:lnTo>
                  <a:pt x="3842457" y="4404134"/>
                </a:lnTo>
                <a:lnTo>
                  <a:pt x="3795885" y="4419264"/>
                </a:lnTo>
                <a:lnTo>
                  <a:pt x="3748906" y="4433726"/>
                </a:lnTo>
                <a:lnTo>
                  <a:pt x="3701531" y="4447512"/>
                </a:lnTo>
                <a:lnTo>
                  <a:pt x="3653767" y="4460615"/>
                </a:lnTo>
                <a:lnTo>
                  <a:pt x="3605624" y="4473029"/>
                </a:lnTo>
                <a:lnTo>
                  <a:pt x="3557110" y="4484746"/>
                </a:lnTo>
                <a:lnTo>
                  <a:pt x="3508233" y="4495758"/>
                </a:lnTo>
                <a:lnTo>
                  <a:pt x="3459003" y="4506059"/>
                </a:lnTo>
                <a:lnTo>
                  <a:pt x="3409429" y="4515642"/>
                </a:lnTo>
                <a:lnTo>
                  <a:pt x="3359518" y="4524500"/>
                </a:lnTo>
                <a:lnTo>
                  <a:pt x="3309281" y="4532624"/>
                </a:lnTo>
                <a:lnTo>
                  <a:pt x="3258724" y="4540009"/>
                </a:lnTo>
                <a:lnTo>
                  <a:pt x="3207858" y="4546647"/>
                </a:lnTo>
                <a:lnTo>
                  <a:pt x="3156691" y="4552531"/>
                </a:lnTo>
                <a:lnTo>
                  <a:pt x="3105232" y="4557653"/>
                </a:lnTo>
                <a:lnTo>
                  <a:pt x="3053489" y="4562007"/>
                </a:lnTo>
                <a:lnTo>
                  <a:pt x="3001471" y="4565585"/>
                </a:lnTo>
                <a:lnTo>
                  <a:pt x="2949187" y="4568381"/>
                </a:lnTo>
                <a:lnTo>
                  <a:pt x="2896645" y="4570386"/>
                </a:lnTo>
                <a:lnTo>
                  <a:pt x="2843855" y="4571595"/>
                </a:lnTo>
                <a:lnTo>
                  <a:pt x="2790824" y="4572000"/>
                </a:lnTo>
                <a:lnTo>
                  <a:pt x="2737794" y="4571595"/>
                </a:lnTo>
                <a:lnTo>
                  <a:pt x="2685004" y="4570386"/>
                </a:lnTo>
                <a:lnTo>
                  <a:pt x="2632462" y="4568381"/>
                </a:lnTo>
                <a:lnTo>
                  <a:pt x="2580178" y="4565585"/>
                </a:lnTo>
                <a:lnTo>
                  <a:pt x="2528160" y="4562007"/>
                </a:lnTo>
                <a:lnTo>
                  <a:pt x="2476417" y="4557653"/>
                </a:lnTo>
                <a:lnTo>
                  <a:pt x="2424958" y="4552531"/>
                </a:lnTo>
                <a:lnTo>
                  <a:pt x="2373791" y="4546647"/>
                </a:lnTo>
                <a:lnTo>
                  <a:pt x="2322925" y="4540009"/>
                </a:lnTo>
                <a:lnTo>
                  <a:pt x="2272368" y="4532624"/>
                </a:lnTo>
                <a:lnTo>
                  <a:pt x="2222131" y="4524500"/>
                </a:lnTo>
                <a:lnTo>
                  <a:pt x="2172220" y="4515642"/>
                </a:lnTo>
                <a:lnTo>
                  <a:pt x="2122646" y="4506059"/>
                </a:lnTo>
                <a:lnTo>
                  <a:pt x="2073416" y="4495758"/>
                </a:lnTo>
                <a:lnTo>
                  <a:pt x="2024539" y="4484746"/>
                </a:lnTo>
                <a:lnTo>
                  <a:pt x="1976025" y="4473029"/>
                </a:lnTo>
                <a:lnTo>
                  <a:pt x="1927882" y="4460615"/>
                </a:lnTo>
                <a:lnTo>
                  <a:pt x="1880118" y="4447512"/>
                </a:lnTo>
                <a:lnTo>
                  <a:pt x="1832743" y="4433726"/>
                </a:lnTo>
                <a:lnTo>
                  <a:pt x="1785764" y="4419264"/>
                </a:lnTo>
                <a:lnTo>
                  <a:pt x="1739192" y="4404134"/>
                </a:lnTo>
                <a:lnTo>
                  <a:pt x="1693034" y="4388343"/>
                </a:lnTo>
                <a:lnTo>
                  <a:pt x="1647299" y="4371897"/>
                </a:lnTo>
                <a:lnTo>
                  <a:pt x="1601996" y="4354805"/>
                </a:lnTo>
                <a:lnTo>
                  <a:pt x="1557134" y="4337073"/>
                </a:lnTo>
                <a:lnTo>
                  <a:pt x="1512722" y="4318708"/>
                </a:lnTo>
                <a:lnTo>
                  <a:pt x="1468767" y="4299718"/>
                </a:lnTo>
                <a:lnTo>
                  <a:pt x="1425279" y="4280110"/>
                </a:lnTo>
                <a:lnTo>
                  <a:pt x="1382267" y="4259890"/>
                </a:lnTo>
                <a:lnTo>
                  <a:pt x="1339740" y="4239066"/>
                </a:lnTo>
                <a:lnTo>
                  <a:pt x="1297705" y="4217646"/>
                </a:lnTo>
                <a:lnTo>
                  <a:pt x="1256173" y="4195635"/>
                </a:lnTo>
                <a:lnTo>
                  <a:pt x="1215150" y="4173042"/>
                </a:lnTo>
                <a:lnTo>
                  <a:pt x="1174647" y="4149874"/>
                </a:lnTo>
                <a:lnTo>
                  <a:pt x="1134672" y="4126137"/>
                </a:lnTo>
                <a:lnTo>
                  <a:pt x="1095234" y="4101839"/>
                </a:lnTo>
                <a:lnTo>
                  <a:pt x="1056341" y="4076987"/>
                </a:lnTo>
                <a:lnTo>
                  <a:pt x="1018002" y="4051589"/>
                </a:lnTo>
                <a:lnTo>
                  <a:pt x="980227" y="4025650"/>
                </a:lnTo>
                <a:lnTo>
                  <a:pt x="943022" y="3999179"/>
                </a:lnTo>
                <a:lnTo>
                  <a:pt x="906398" y="3972183"/>
                </a:lnTo>
                <a:lnTo>
                  <a:pt x="870364" y="3944668"/>
                </a:lnTo>
                <a:lnTo>
                  <a:pt x="834927" y="3916642"/>
                </a:lnTo>
                <a:lnTo>
                  <a:pt x="800096" y="3888112"/>
                </a:lnTo>
                <a:lnTo>
                  <a:pt x="765881" y="3859086"/>
                </a:lnTo>
                <a:lnTo>
                  <a:pt x="732290" y="3829569"/>
                </a:lnTo>
                <a:lnTo>
                  <a:pt x="699331" y="3799570"/>
                </a:lnTo>
                <a:lnTo>
                  <a:pt x="667014" y="3769096"/>
                </a:lnTo>
                <a:lnTo>
                  <a:pt x="635347" y="3738154"/>
                </a:lnTo>
                <a:lnTo>
                  <a:pt x="604339" y="3706750"/>
                </a:lnTo>
                <a:lnTo>
                  <a:pt x="573999" y="3674893"/>
                </a:lnTo>
                <a:lnTo>
                  <a:pt x="544334" y="3642588"/>
                </a:lnTo>
                <a:lnTo>
                  <a:pt x="515355" y="3609844"/>
                </a:lnTo>
                <a:lnTo>
                  <a:pt x="487070" y="3576668"/>
                </a:lnTo>
                <a:lnTo>
                  <a:pt x="459488" y="3543066"/>
                </a:lnTo>
                <a:lnTo>
                  <a:pt x="432616" y="3509046"/>
                </a:lnTo>
                <a:lnTo>
                  <a:pt x="406465" y="3474615"/>
                </a:lnTo>
                <a:lnTo>
                  <a:pt x="381042" y="3439780"/>
                </a:lnTo>
                <a:lnTo>
                  <a:pt x="356357" y="3404549"/>
                </a:lnTo>
                <a:lnTo>
                  <a:pt x="332417" y="3368927"/>
                </a:lnTo>
                <a:lnTo>
                  <a:pt x="309233" y="3332924"/>
                </a:lnTo>
                <a:lnTo>
                  <a:pt x="286812" y="3296545"/>
                </a:lnTo>
                <a:lnTo>
                  <a:pt x="265164" y="3259797"/>
                </a:lnTo>
                <a:lnTo>
                  <a:pt x="244297" y="3222689"/>
                </a:lnTo>
                <a:lnTo>
                  <a:pt x="224219" y="3185227"/>
                </a:lnTo>
                <a:lnTo>
                  <a:pt x="204941" y="3147418"/>
                </a:lnTo>
                <a:lnTo>
                  <a:pt x="186469" y="3109270"/>
                </a:lnTo>
                <a:lnTo>
                  <a:pt x="168813" y="3070789"/>
                </a:lnTo>
                <a:lnTo>
                  <a:pt x="151982" y="3031983"/>
                </a:lnTo>
                <a:lnTo>
                  <a:pt x="135985" y="2992859"/>
                </a:lnTo>
                <a:lnTo>
                  <a:pt x="120829" y="2953424"/>
                </a:lnTo>
                <a:lnTo>
                  <a:pt x="106525" y="2913685"/>
                </a:lnTo>
                <a:lnTo>
                  <a:pt x="93080" y="2873649"/>
                </a:lnTo>
                <a:lnTo>
                  <a:pt x="80504" y="2833324"/>
                </a:lnTo>
                <a:lnTo>
                  <a:pt x="68804" y="2792716"/>
                </a:lnTo>
                <a:lnTo>
                  <a:pt x="57991" y="2751833"/>
                </a:lnTo>
                <a:lnTo>
                  <a:pt x="48071" y="2710682"/>
                </a:lnTo>
                <a:lnTo>
                  <a:pt x="39056" y="2669270"/>
                </a:lnTo>
                <a:lnTo>
                  <a:pt x="30952" y="2627604"/>
                </a:lnTo>
                <a:lnTo>
                  <a:pt x="23769" y="2585692"/>
                </a:lnTo>
                <a:lnTo>
                  <a:pt x="17515" y="2543540"/>
                </a:lnTo>
                <a:lnTo>
                  <a:pt x="12199" y="2501156"/>
                </a:lnTo>
                <a:lnTo>
                  <a:pt x="7831" y="2458546"/>
                </a:lnTo>
                <a:lnTo>
                  <a:pt x="4418" y="2415719"/>
                </a:lnTo>
                <a:lnTo>
                  <a:pt x="1969" y="2372680"/>
                </a:lnTo>
                <a:lnTo>
                  <a:pt x="493" y="2329438"/>
                </a:lnTo>
                <a:lnTo>
                  <a:pt x="0" y="2286000"/>
                </a:lnTo>
                <a:close/>
              </a:path>
            </a:pathLst>
          </a:custGeom>
          <a:ln w="25146">
            <a:solidFill>
              <a:srgbClr val="217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33980" y="1829180"/>
            <a:ext cx="4286250" cy="3200400"/>
          </a:xfrm>
          <a:custGeom>
            <a:avLst/>
            <a:gdLst/>
            <a:ahLst/>
            <a:cxnLst/>
            <a:rect l="l" t="t" r="r" b="b"/>
            <a:pathLst>
              <a:path w="4286250" h="3200400">
                <a:moveTo>
                  <a:pt x="0" y="1600200"/>
                </a:moveTo>
                <a:lnTo>
                  <a:pt x="699" y="1558896"/>
                </a:lnTo>
                <a:lnTo>
                  <a:pt x="2788" y="1517851"/>
                </a:lnTo>
                <a:lnTo>
                  <a:pt x="6248" y="1477076"/>
                </a:lnTo>
                <a:lnTo>
                  <a:pt x="11064" y="1436584"/>
                </a:lnTo>
                <a:lnTo>
                  <a:pt x="17218" y="1396387"/>
                </a:lnTo>
                <a:lnTo>
                  <a:pt x="24693" y="1356499"/>
                </a:lnTo>
                <a:lnTo>
                  <a:pt x="33472" y="1316931"/>
                </a:lnTo>
                <a:lnTo>
                  <a:pt x="43539" y="1277696"/>
                </a:lnTo>
                <a:lnTo>
                  <a:pt x="54877" y="1238806"/>
                </a:lnTo>
                <a:lnTo>
                  <a:pt x="67469" y="1200276"/>
                </a:lnTo>
                <a:lnTo>
                  <a:pt x="81298" y="1162116"/>
                </a:lnTo>
                <a:lnTo>
                  <a:pt x="96348" y="1124339"/>
                </a:lnTo>
                <a:lnTo>
                  <a:pt x="112601" y="1086958"/>
                </a:lnTo>
                <a:lnTo>
                  <a:pt x="130041" y="1049986"/>
                </a:lnTo>
                <a:lnTo>
                  <a:pt x="148651" y="1013435"/>
                </a:lnTo>
                <a:lnTo>
                  <a:pt x="168413" y="977318"/>
                </a:lnTo>
                <a:lnTo>
                  <a:pt x="189312" y="941647"/>
                </a:lnTo>
                <a:lnTo>
                  <a:pt x="211331" y="906435"/>
                </a:lnTo>
                <a:lnTo>
                  <a:pt x="234452" y="871694"/>
                </a:lnTo>
                <a:lnTo>
                  <a:pt x="258658" y="837437"/>
                </a:lnTo>
                <a:lnTo>
                  <a:pt x="283934" y="803677"/>
                </a:lnTo>
                <a:lnTo>
                  <a:pt x="310261" y="770426"/>
                </a:lnTo>
                <a:lnTo>
                  <a:pt x="337624" y="737696"/>
                </a:lnTo>
                <a:lnTo>
                  <a:pt x="366005" y="705501"/>
                </a:lnTo>
                <a:lnTo>
                  <a:pt x="395388" y="673852"/>
                </a:lnTo>
                <a:lnTo>
                  <a:pt x="425755" y="642763"/>
                </a:lnTo>
                <a:lnTo>
                  <a:pt x="457091" y="612245"/>
                </a:lnTo>
                <a:lnTo>
                  <a:pt x="489377" y="582313"/>
                </a:lnTo>
                <a:lnTo>
                  <a:pt x="522598" y="552977"/>
                </a:lnTo>
                <a:lnTo>
                  <a:pt x="556736" y="524250"/>
                </a:lnTo>
                <a:lnTo>
                  <a:pt x="591775" y="496146"/>
                </a:lnTo>
                <a:lnTo>
                  <a:pt x="627697" y="468677"/>
                </a:lnTo>
                <a:lnTo>
                  <a:pt x="664486" y="441855"/>
                </a:lnTo>
                <a:lnTo>
                  <a:pt x="702126" y="415693"/>
                </a:lnTo>
                <a:lnTo>
                  <a:pt x="740599" y="390203"/>
                </a:lnTo>
                <a:lnTo>
                  <a:pt x="779888" y="365399"/>
                </a:lnTo>
                <a:lnTo>
                  <a:pt x="819976" y="341292"/>
                </a:lnTo>
                <a:lnTo>
                  <a:pt x="860848" y="317895"/>
                </a:lnTo>
                <a:lnTo>
                  <a:pt x="902485" y="295220"/>
                </a:lnTo>
                <a:lnTo>
                  <a:pt x="944872" y="273281"/>
                </a:lnTo>
                <a:lnTo>
                  <a:pt x="987991" y="252090"/>
                </a:lnTo>
                <a:lnTo>
                  <a:pt x="1031825" y="231660"/>
                </a:lnTo>
                <a:lnTo>
                  <a:pt x="1076358" y="212002"/>
                </a:lnTo>
                <a:lnTo>
                  <a:pt x="1121573" y="193130"/>
                </a:lnTo>
                <a:lnTo>
                  <a:pt x="1167453" y="175055"/>
                </a:lnTo>
                <a:lnTo>
                  <a:pt x="1213980" y="157792"/>
                </a:lnTo>
                <a:lnTo>
                  <a:pt x="1261140" y="141352"/>
                </a:lnTo>
                <a:lnTo>
                  <a:pt x="1308913" y="125747"/>
                </a:lnTo>
                <a:lnTo>
                  <a:pt x="1357284" y="110991"/>
                </a:lnTo>
                <a:lnTo>
                  <a:pt x="1406236" y="97096"/>
                </a:lnTo>
                <a:lnTo>
                  <a:pt x="1455752" y="84075"/>
                </a:lnTo>
                <a:lnTo>
                  <a:pt x="1505815" y="71939"/>
                </a:lnTo>
                <a:lnTo>
                  <a:pt x="1556409" y="60702"/>
                </a:lnTo>
                <a:lnTo>
                  <a:pt x="1607516" y="50376"/>
                </a:lnTo>
                <a:lnTo>
                  <a:pt x="1659120" y="40974"/>
                </a:lnTo>
                <a:lnTo>
                  <a:pt x="1711203" y="32509"/>
                </a:lnTo>
                <a:lnTo>
                  <a:pt x="1763749" y="24992"/>
                </a:lnTo>
                <a:lnTo>
                  <a:pt x="1816742" y="18437"/>
                </a:lnTo>
                <a:lnTo>
                  <a:pt x="1870164" y="12856"/>
                </a:lnTo>
                <a:lnTo>
                  <a:pt x="1923998" y="8261"/>
                </a:lnTo>
                <a:lnTo>
                  <a:pt x="1978228" y="4665"/>
                </a:lnTo>
                <a:lnTo>
                  <a:pt x="2032837" y="2082"/>
                </a:lnTo>
                <a:lnTo>
                  <a:pt x="2087808" y="522"/>
                </a:lnTo>
                <a:lnTo>
                  <a:pt x="2143124" y="0"/>
                </a:lnTo>
                <a:lnTo>
                  <a:pt x="2198441" y="522"/>
                </a:lnTo>
                <a:lnTo>
                  <a:pt x="2253412" y="2082"/>
                </a:lnTo>
                <a:lnTo>
                  <a:pt x="2308021" y="4665"/>
                </a:lnTo>
                <a:lnTo>
                  <a:pt x="2362251" y="8261"/>
                </a:lnTo>
                <a:lnTo>
                  <a:pt x="2416085" y="12856"/>
                </a:lnTo>
                <a:lnTo>
                  <a:pt x="2469507" y="18437"/>
                </a:lnTo>
                <a:lnTo>
                  <a:pt x="2522500" y="24992"/>
                </a:lnTo>
                <a:lnTo>
                  <a:pt x="2575046" y="32509"/>
                </a:lnTo>
                <a:lnTo>
                  <a:pt x="2627129" y="40974"/>
                </a:lnTo>
                <a:lnTo>
                  <a:pt x="2678733" y="50376"/>
                </a:lnTo>
                <a:lnTo>
                  <a:pt x="2729840" y="60702"/>
                </a:lnTo>
                <a:lnTo>
                  <a:pt x="2780434" y="71939"/>
                </a:lnTo>
                <a:lnTo>
                  <a:pt x="2830497" y="84075"/>
                </a:lnTo>
                <a:lnTo>
                  <a:pt x="2880013" y="97096"/>
                </a:lnTo>
                <a:lnTo>
                  <a:pt x="2928965" y="110991"/>
                </a:lnTo>
                <a:lnTo>
                  <a:pt x="2977336" y="125747"/>
                </a:lnTo>
                <a:lnTo>
                  <a:pt x="3025109" y="141352"/>
                </a:lnTo>
                <a:lnTo>
                  <a:pt x="3072269" y="157792"/>
                </a:lnTo>
                <a:lnTo>
                  <a:pt x="3118796" y="175055"/>
                </a:lnTo>
                <a:lnTo>
                  <a:pt x="3164676" y="193130"/>
                </a:lnTo>
                <a:lnTo>
                  <a:pt x="3209891" y="212002"/>
                </a:lnTo>
                <a:lnTo>
                  <a:pt x="3254424" y="231660"/>
                </a:lnTo>
                <a:lnTo>
                  <a:pt x="3298258" y="252090"/>
                </a:lnTo>
                <a:lnTo>
                  <a:pt x="3341377" y="273281"/>
                </a:lnTo>
                <a:lnTo>
                  <a:pt x="3383764" y="295220"/>
                </a:lnTo>
                <a:lnTo>
                  <a:pt x="3425401" y="317895"/>
                </a:lnTo>
                <a:lnTo>
                  <a:pt x="3466273" y="341292"/>
                </a:lnTo>
                <a:lnTo>
                  <a:pt x="3506361" y="365399"/>
                </a:lnTo>
                <a:lnTo>
                  <a:pt x="3545650" y="390203"/>
                </a:lnTo>
                <a:lnTo>
                  <a:pt x="3584123" y="415693"/>
                </a:lnTo>
                <a:lnTo>
                  <a:pt x="3621763" y="441855"/>
                </a:lnTo>
                <a:lnTo>
                  <a:pt x="3658552" y="468677"/>
                </a:lnTo>
                <a:lnTo>
                  <a:pt x="3694474" y="496146"/>
                </a:lnTo>
                <a:lnTo>
                  <a:pt x="3729513" y="524250"/>
                </a:lnTo>
                <a:lnTo>
                  <a:pt x="3763651" y="552977"/>
                </a:lnTo>
                <a:lnTo>
                  <a:pt x="3796872" y="582313"/>
                </a:lnTo>
                <a:lnTo>
                  <a:pt x="3829158" y="612245"/>
                </a:lnTo>
                <a:lnTo>
                  <a:pt x="3860494" y="642763"/>
                </a:lnTo>
                <a:lnTo>
                  <a:pt x="3890861" y="673852"/>
                </a:lnTo>
                <a:lnTo>
                  <a:pt x="3920244" y="705501"/>
                </a:lnTo>
                <a:lnTo>
                  <a:pt x="3948625" y="737696"/>
                </a:lnTo>
                <a:lnTo>
                  <a:pt x="3975988" y="770426"/>
                </a:lnTo>
                <a:lnTo>
                  <a:pt x="4002315" y="803677"/>
                </a:lnTo>
                <a:lnTo>
                  <a:pt x="4027591" y="837437"/>
                </a:lnTo>
                <a:lnTo>
                  <a:pt x="4051797" y="871694"/>
                </a:lnTo>
                <a:lnTo>
                  <a:pt x="4074918" y="906435"/>
                </a:lnTo>
                <a:lnTo>
                  <a:pt x="4096937" y="941647"/>
                </a:lnTo>
                <a:lnTo>
                  <a:pt x="4117836" y="977318"/>
                </a:lnTo>
                <a:lnTo>
                  <a:pt x="4137598" y="1013435"/>
                </a:lnTo>
                <a:lnTo>
                  <a:pt x="4156208" y="1049986"/>
                </a:lnTo>
                <a:lnTo>
                  <a:pt x="4173648" y="1086958"/>
                </a:lnTo>
                <a:lnTo>
                  <a:pt x="4189901" y="1124339"/>
                </a:lnTo>
                <a:lnTo>
                  <a:pt x="4204951" y="1162116"/>
                </a:lnTo>
                <a:lnTo>
                  <a:pt x="4218780" y="1200276"/>
                </a:lnTo>
                <a:lnTo>
                  <a:pt x="4231372" y="1238806"/>
                </a:lnTo>
                <a:lnTo>
                  <a:pt x="4242710" y="1277696"/>
                </a:lnTo>
                <a:lnTo>
                  <a:pt x="4252777" y="1316931"/>
                </a:lnTo>
                <a:lnTo>
                  <a:pt x="4261556" y="1356499"/>
                </a:lnTo>
                <a:lnTo>
                  <a:pt x="4269031" y="1396387"/>
                </a:lnTo>
                <a:lnTo>
                  <a:pt x="4275185" y="1436584"/>
                </a:lnTo>
                <a:lnTo>
                  <a:pt x="4280001" y="1477076"/>
                </a:lnTo>
                <a:lnTo>
                  <a:pt x="4283461" y="1517851"/>
                </a:lnTo>
                <a:lnTo>
                  <a:pt x="4285550" y="1558896"/>
                </a:lnTo>
                <a:lnTo>
                  <a:pt x="4286250" y="1600200"/>
                </a:lnTo>
                <a:lnTo>
                  <a:pt x="4285550" y="1641503"/>
                </a:lnTo>
                <a:lnTo>
                  <a:pt x="4283461" y="1682548"/>
                </a:lnTo>
                <a:lnTo>
                  <a:pt x="4280001" y="1723323"/>
                </a:lnTo>
                <a:lnTo>
                  <a:pt x="4275185" y="1763815"/>
                </a:lnTo>
                <a:lnTo>
                  <a:pt x="4269031" y="1804012"/>
                </a:lnTo>
                <a:lnTo>
                  <a:pt x="4261556" y="1843900"/>
                </a:lnTo>
                <a:lnTo>
                  <a:pt x="4252777" y="1883468"/>
                </a:lnTo>
                <a:lnTo>
                  <a:pt x="4242710" y="1922703"/>
                </a:lnTo>
                <a:lnTo>
                  <a:pt x="4231372" y="1961593"/>
                </a:lnTo>
                <a:lnTo>
                  <a:pt x="4218780" y="2000123"/>
                </a:lnTo>
                <a:lnTo>
                  <a:pt x="4204951" y="2038283"/>
                </a:lnTo>
                <a:lnTo>
                  <a:pt x="4189901" y="2076060"/>
                </a:lnTo>
                <a:lnTo>
                  <a:pt x="4173648" y="2113441"/>
                </a:lnTo>
                <a:lnTo>
                  <a:pt x="4156208" y="2150413"/>
                </a:lnTo>
                <a:lnTo>
                  <a:pt x="4137598" y="2186964"/>
                </a:lnTo>
                <a:lnTo>
                  <a:pt x="4117836" y="2223081"/>
                </a:lnTo>
                <a:lnTo>
                  <a:pt x="4096937" y="2258752"/>
                </a:lnTo>
                <a:lnTo>
                  <a:pt x="4074918" y="2293964"/>
                </a:lnTo>
                <a:lnTo>
                  <a:pt x="4051797" y="2328705"/>
                </a:lnTo>
                <a:lnTo>
                  <a:pt x="4027591" y="2362962"/>
                </a:lnTo>
                <a:lnTo>
                  <a:pt x="4002315" y="2396722"/>
                </a:lnTo>
                <a:lnTo>
                  <a:pt x="3975988" y="2429973"/>
                </a:lnTo>
                <a:lnTo>
                  <a:pt x="3948625" y="2462703"/>
                </a:lnTo>
                <a:lnTo>
                  <a:pt x="3920244" y="2494898"/>
                </a:lnTo>
                <a:lnTo>
                  <a:pt x="3890861" y="2526547"/>
                </a:lnTo>
                <a:lnTo>
                  <a:pt x="3860494" y="2557636"/>
                </a:lnTo>
                <a:lnTo>
                  <a:pt x="3829158" y="2588154"/>
                </a:lnTo>
                <a:lnTo>
                  <a:pt x="3796872" y="2618086"/>
                </a:lnTo>
                <a:lnTo>
                  <a:pt x="3763651" y="2647422"/>
                </a:lnTo>
                <a:lnTo>
                  <a:pt x="3729513" y="2676149"/>
                </a:lnTo>
                <a:lnTo>
                  <a:pt x="3694474" y="2704253"/>
                </a:lnTo>
                <a:lnTo>
                  <a:pt x="3658552" y="2731722"/>
                </a:lnTo>
                <a:lnTo>
                  <a:pt x="3621763" y="2758544"/>
                </a:lnTo>
                <a:lnTo>
                  <a:pt x="3584123" y="2784706"/>
                </a:lnTo>
                <a:lnTo>
                  <a:pt x="3545650" y="2810196"/>
                </a:lnTo>
                <a:lnTo>
                  <a:pt x="3506361" y="2835000"/>
                </a:lnTo>
                <a:lnTo>
                  <a:pt x="3466273" y="2859107"/>
                </a:lnTo>
                <a:lnTo>
                  <a:pt x="3425401" y="2882504"/>
                </a:lnTo>
                <a:lnTo>
                  <a:pt x="3383764" y="2905179"/>
                </a:lnTo>
                <a:lnTo>
                  <a:pt x="3341377" y="2927118"/>
                </a:lnTo>
                <a:lnTo>
                  <a:pt x="3298258" y="2948309"/>
                </a:lnTo>
                <a:lnTo>
                  <a:pt x="3254424" y="2968739"/>
                </a:lnTo>
                <a:lnTo>
                  <a:pt x="3209891" y="2988397"/>
                </a:lnTo>
                <a:lnTo>
                  <a:pt x="3164676" y="3007269"/>
                </a:lnTo>
                <a:lnTo>
                  <a:pt x="3118796" y="3025344"/>
                </a:lnTo>
                <a:lnTo>
                  <a:pt x="3072269" y="3042607"/>
                </a:lnTo>
                <a:lnTo>
                  <a:pt x="3025109" y="3059047"/>
                </a:lnTo>
                <a:lnTo>
                  <a:pt x="2977336" y="3074652"/>
                </a:lnTo>
                <a:lnTo>
                  <a:pt x="2928965" y="3089408"/>
                </a:lnTo>
                <a:lnTo>
                  <a:pt x="2880013" y="3103303"/>
                </a:lnTo>
                <a:lnTo>
                  <a:pt x="2830497" y="3116324"/>
                </a:lnTo>
                <a:lnTo>
                  <a:pt x="2780434" y="3128460"/>
                </a:lnTo>
                <a:lnTo>
                  <a:pt x="2729840" y="3139697"/>
                </a:lnTo>
                <a:lnTo>
                  <a:pt x="2678733" y="3150023"/>
                </a:lnTo>
                <a:lnTo>
                  <a:pt x="2627129" y="3159425"/>
                </a:lnTo>
                <a:lnTo>
                  <a:pt x="2575046" y="3167890"/>
                </a:lnTo>
                <a:lnTo>
                  <a:pt x="2522500" y="3175407"/>
                </a:lnTo>
                <a:lnTo>
                  <a:pt x="2469507" y="3181962"/>
                </a:lnTo>
                <a:lnTo>
                  <a:pt x="2416085" y="3187543"/>
                </a:lnTo>
                <a:lnTo>
                  <a:pt x="2362251" y="3192138"/>
                </a:lnTo>
                <a:lnTo>
                  <a:pt x="2308021" y="3195734"/>
                </a:lnTo>
                <a:lnTo>
                  <a:pt x="2253412" y="3198317"/>
                </a:lnTo>
                <a:lnTo>
                  <a:pt x="2198441" y="3199877"/>
                </a:lnTo>
                <a:lnTo>
                  <a:pt x="2143124" y="3200400"/>
                </a:lnTo>
                <a:lnTo>
                  <a:pt x="2087808" y="3199877"/>
                </a:lnTo>
                <a:lnTo>
                  <a:pt x="2032837" y="3198317"/>
                </a:lnTo>
                <a:lnTo>
                  <a:pt x="1978228" y="3195734"/>
                </a:lnTo>
                <a:lnTo>
                  <a:pt x="1923998" y="3192138"/>
                </a:lnTo>
                <a:lnTo>
                  <a:pt x="1870164" y="3187543"/>
                </a:lnTo>
                <a:lnTo>
                  <a:pt x="1816742" y="3181962"/>
                </a:lnTo>
                <a:lnTo>
                  <a:pt x="1763749" y="3175407"/>
                </a:lnTo>
                <a:lnTo>
                  <a:pt x="1711203" y="3167890"/>
                </a:lnTo>
                <a:lnTo>
                  <a:pt x="1659120" y="3159425"/>
                </a:lnTo>
                <a:lnTo>
                  <a:pt x="1607516" y="3150023"/>
                </a:lnTo>
                <a:lnTo>
                  <a:pt x="1556409" y="3139697"/>
                </a:lnTo>
                <a:lnTo>
                  <a:pt x="1505815" y="3128460"/>
                </a:lnTo>
                <a:lnTo>
                  <a:pt x="1455752" y="3116324"/>
                </a:lnTo>
                <a:lnTo>
                  <a:pt x="1406236" y="3103303"/>
                </a:lnTo>
                <a:lnTo>
                  <a:pt x="1357284" y="3089408"/>
                </a:lnTo>
                <a:lnTo>
                  <a:pt x="1308913" y="3074652"/>
                </a:lnTo>
                <a:lnTo>
                  <a:pt x="1261140" y="3059047"/>
                </a:lnTo>
                <a:lnTo>
                  <a:pt x="1213980" y="3042607"/>
                </a:lnTo>
                <a:lnTo>
                  <a:pt x="1167453" y="3025344"/>
                </a:lnTo>
                <a:lnTo>
                  <a:pt x="1121573" y="3007269"/>
                </a:lnTo>
                <a:lnTo>
                  <a:pt x="1076358" y="2988397"/>
                </a:lnTo>
                <a:lnTo>
                  <a:pt x="1031825" y="2968739"/>
                </a:lnTo>
                <a:lnTo>
                  <a:pt x="987991" y="2948309"/>
                </a:lnTo>
                <a:lnTo>
                  <a:pt x="944872" y="2927118"/>
                </a:lnTo>
                <a:lnTo>
                  <a:pt x="902485" y="2905179"/>
                </a:lnTo>
                <a:lnTo>
                  <a:pt x="860848" y="2882504"/>
                </a:lnTo>
                <a:lnTo>
                  <a:pt x="819976" y="2859107"/>
                </a:lnTo>
                <a:lnTo>
                  <a:pt x="779888" y="2835000"/>
                </a:lnTo>
                <a:lnTo>
                  <a:pt x="740599" y="2810196"/>
                </a:lnTo>
                <a:lnTo>
                  <a:pt x="702126" y="2784706"/>
                </a:lnTo>
                <a:lnTo>
                  <a:pt x="664486" y="2758544"/>
                </a:lnTo>
                <a:lnTo>
                  <a:pt x="627697" y="2731722"/>
                </a:lnTo>
                <a:lnTo>
                  <a:pt x="591775" y="2704253"/>
                </a:lnTo>
                <a:lnTo>
                  <a:pt x="556736" y="2676149"/>
                </a:lnTo>
                <a:lnTo>
                  <a:pt x="522598" y="2647422"/>
                </a:lnTo>
                <a:lnTo>
                  <a:pt x="489377" y="2618086"/>
                </a:lnTo>
                <a:lnTo>
                  <a:pt x="457091" y="2588154"/>
                </a:lnTo>
                <a:lnTo>
                  <a:pt x="425755" y="2557636"/>
                </a:lnTo>
                <a:lnTo>
                  <a:pt x="395388" y="2526547"/>
                </a:lnTo>
                <a:lnTo>
                  <a:pt x="366005" y="2494898"/>
                </a:lnTo>
                <a:lnTo>
                  <a:pt x="337624" y="2462703"/>
                </a:lnTo>
                <a:lnTo>
                  <a:pt x="310261" y="2429973"/>
                </a:lnTo>
                <a:lnTo>
                  <a:pt x="283934" y="2396722"/>
                </a:lnTo>
                <a:lnTo>
                  <a:pt x="258658" y="2362962"/>
                </a:lnTo>
                <a:lnTo>
                  <a:pt x="234452" y="2328705"/>
                </a:lnTo>
                <a:lnTo>
                  <a:pt x="211331" y="2293964"/>
                </a:lnTo>
                <a:lnTo>
                  <a:pt x="189312" y="2258752"/>
                </a:lnTo>
                <a:lnTo>
                  <a:pt x="168413" y="2223081"/>
                </a:lnTo>
                <a:lnTo>
                  <a:pt x="148651" y="2186964"/>
                </a:lnTo>
                <a:lnTo>
                  <a:pt x="130041" y="2150413"/>
                </a:lnTo>
                <a:lnTo>
                  <a:pt x="112601" y="2113441"/>
                </a:lnTo>
                <a:lnTo>
                  <a:pt x="96348" y="2076060"/>
                </a:lnTo>
                <a:lnTo>
                  <a:pt x="81298" y="2038283"/>
                </a:lnTo>
                <a:lnTo>
                  <a:pt x="67469" y="2000123"/>
                </a:lnTo>
                <a:lnTo>
                  <a:pt x="54877" y="1961593"/>
                </a:lnTo>
                <a:lnTo>
                  <a:pt x="43539" y="1922703"/>
                </a:lnTo>
                <a:lnTo>
                  <a:pt x="33472" y="1883468"/>
                </a:lnTo>
                <a:lnTo>
                  <a:pt x="24693" y="1843900"/>
                </a:lnTo>
                <a:lnTo>
                  <a:pt x="17218" y="1804012"/>
                </a:lnTo>
                <a:lnTo>
                  <a:pt x="11064" y="1763815"/>
                </a:lnTo>
                <a:lnTo>
                  <a:pt x="6248" y="1723323"/>
                </a:lnTo>
                <a:lnTo>
                  <a:pt x="2788" y="1682548"/>
                </a:lnTo>
                <a:lnTo>
                  <a:pt x="699" y="1641503"/>
                </a:lnTo>
                <a:lnTo>
                  <a:pt x="0" y="160020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48380" y="2210180"/>
            <a:ext cx="2609850" cy="1828800"/>
          </a:xfrm>
          <a:custGeom>
            <a:avLst/>
            <a:gdLst/>
            <a:ahLst/>
            <a:cxnLst/>
            <a:rect l="l" t="t" r="r" b="b"/>
            <a:pathLst>
              <a:path w="2609850" h="1828800">
                <a:moveTo>
                  <a:pt x="0" y="914400"/>
                </a:moveTo>
                <a:lnTo>
                  <a:pt x="1205" y="874739"/>
                </a:lnTo>
                <a:lnTo>
                  <a:pt x="4789" y="835510"/>
                </a:lnTo>
                <a:lnTo>
                  <a:pt x="10703" y="796746"/>
                </a:lnTo>
                <a:lnTo>
                  <a:pt x="18897" y="758482"/>
                </a:lnTo>
                <a:lnTo>
                  <a:pt x="29322" y="720752"/>
                </a:lnTo>
                <a:lnTo>
                  <a:pt x="41931" y="683590"/>
                </a:lnTo>
                <a:lnTo>
                  <a:pt x="56673" y="647032"/>
                </a:lnTo>
                <a:lnTo>
                  <a:pt x="73500" y="611110"/>
                </a:lnTo>
                <a:lnTo>
                  <a:pt x="92363" y="575860"/>
                </a:lnTo>
                <a:lnTo>
                  <a:pt x="113212" y="541316"/>
                </a:lnTo>
                <a:lnTo>
                  <a:pt x="136000" y="507512"/>
                </a:lnTo>
                <a:lnTo>
                  <a:pt x="160676" y="474482"/>
                </a:lnTo>
                <a:lnTo>
                  <a:pt x="187193" y="442261"/>
                </a:lnTo>
                <a:lnTo>
                  <a:pt x="215500" y="410884"/>
                </a:lnTo>
                <a:lnTo>
                  <a:pt x="245550" y="380383"/>
                </a:lnTo>
                <a:lnTo>
                  <a:pt x="277292" y="350795"/>
                </a:lnTo>
                <a:lnTo>
                  <a:pt x="310679" y="322152"/>
                </a:lnTo>
                <a:lnTo>
                  <a:pt x="345662" y="294490"/>
                </a:lnTo>
                <a:lnTo>
                  <a:pt x="382190" y="267842"/>
                </a:lnTo>
                <a:lnTo>
                  <a:pt x="420216" y="242244"/>
                </a:lnTo>
                <a:lnTo>
                  <a:pt x="459690" y="217729"/>
                </a:lnTo>
                <a:lnTo>
                  <a:pt x="500564" y="194332"/>
                </a:lnTo>
                <a:lnTo>
                  <a:pt x="542788" y="172087"/>
                </a:lnTo>
                <a:lnTo>
                  <a:pt x="586314" y="151028"/>
                </a:lnTo>
                <a:lnTo>
                  <a:pt x="631092" y="131190"/>
                </a:lnTo>
                <a:lnTo>
                  <a:pt x="677074" y="112607"/>
                </a:lnTo>
                <a:lnTo>
                  <a:pt x="724211" y="95313"/>
                </a:lnTo>
                <a:lnTo>
                  <a:pt x="772454" y="79343"/>
                </a:lnTo>
                <a:lnTo>
                  <a:pt x="821753" y="64732"/>
                </a:lnTo>
                <a:lnTo>
                  <a:pt x="872060" y="51512"/>
                </a:lnTo>
                <a:lnTo>
                  <a:pt x="923326" y="39719"/>
                </a:lnTo>
                <a:lnTo>
                  <a:pt x="975502" y="29387"/>
                </a:lnTo>
                <a:lnTo>
                  <a:pt x="1028539" y="20551"/>
                </a:lnTo>
                <a:lnTo>
                  <a:pt x="1082388" y="13244"/>
                </a:lnTo>
                <a:lnTo>
                  <a:pt x="1137000" y="7501"/>
                </a:lnTo>
                <a:lnTo>
                  <a:pt x="1192326" y="3356"/>
                </a:lnTo>
                <a:lnTo>
                  <a:pt x="1248317" y="844"/>
                </a:lnTo>
                <a:lnTo>
                  <a:pt x="1304924" y="0"/>
                </a:lnTo>
                <a:lnTo>
                  <a:pt x="1361532" y="844"/>
                </a:lnTo>
                <a:lnTo>
                  <a:pt x="1417523" y="3356"/>
                </a:lnTo>
                <a:lnTo>
                  <a:pt x="1472849" y="7501"/>
                </a:lnTo>
                <a:lnTo>
                  <a:pt x="1527461" y="13244"/>
                </a:lnTo>
                <a:lnTo>
                  <a:pt x="1581310" y="20551"/>
                </a:lnTo>
                <a:lnTo>
                  <a:pt x="1634347" y="29387"/>
                </a:lnTo>
                <a:lnTo>
                  <a:pt x="1686523" y="39719"/>
                </a:lnTo>
                <a:lnTo>
                  <a:pt x="1737789" y="51512"/>
                </a:lnTo>
                <a:lnTo>
                  <a:pt x="1788096" y="64732"/>
                </a:lnTo>
                <a:lnTo>
                  <a:pt x="1837395" y="79343"/>
                </a:lnTo>
                <a:lnTo>
                  <a:pt x="1885638" y="95313"/>
                </a:lnTo>
                <a:lnTo>
                  <a:pt x="1932775" y="112607"/>
                </a:lnTo>
                <a:lnTo>
                  <a:pt x="1978757" y="131190"/>
                </a:lnTo>
                <a:lnTo>
                  <a:pt x="2023535" y="151028"/>
                </a:lnTo>
                <a:lnTo>
                  <a:pt x="2067061" y="172087"/>
                </a:lnTo>
                <a:lnTo>
                  <a:pt x="2109285" y="194332"/>
                </a:lnTo>
                <a:lnTo>
                  <a:pt x="2150159" y="217729"/>
                </a:lnTo>
                <a:lnTo>
                  <a:pt x="2189633" y="242244"/>
                </a:lnTo>
                <a:lnTo>
                  <a:pt x="2227659" y="267843"/>
                </a:lnTo>
                <a:lnTo>
                  <a:pt x="2264187" y="294490"/>
                </a:lnTo>
                <a:lnTo>
                  <a:pt x="2299170" y="322152"/>
                </a:lnTo>
                <a:lnTo>
                  <a:pt x="2332557" y="350795"/>
                </a:lnTo>
                <a:lnTo>
                  <a:pt x="2364299" y="380383"/>
                </a:lnTo>
                <a:lnTo>
                  <a:pt x="2394349" y="410884"/>
                </a:lnTo>
                <a:lnTo>
                  <a:pt x="2422656" y="442261"/>
                </a:lnTo>
                <a:lnTo>
                  <a:pt x="2449173" y="474482"/>
                </a:lnTo>
                <a:lnTo>
                  <a:pt x="2473849" y="507512"/>
                </a:lnTo>
                <a:lnTo>
                  <a:pt x="2496637" y="541316"/>
                </a:lnTo>
                <a:lnTo>
                  <a:pt x="2517486" y="575860"/>
                </a:lnTo>
                <a:lnTo>
                  <a:pt x="2536349" y="611110"/>
                </a:lnTo>
                <a:lnTo>
                  <a:pt x="2553176" y="647032"/>
                </a:lnTo>
                <a:lnTo>
                  <a:pt x="2567918" y="683590"/>
                </a:lnTo>
                <a:lnTo>
                  <a:pt x="2580527" y="720752"/>
                </a:lnTo>
                <a:lnTo>
                  <a:pt x="2590952" y="758482"/>
                </a:lnTo>
                <a:lnTo>
                  <a:pt x="2599146" y="796746"/>
                </a:lnTo>
                <a:lnTo>
                  <a:pt x="2605060" y="835510"/>
                </a:lnTo>
                <a:lnTo>
                  <a:pt x="2608644" y="874739"/>
                </a:lnTo>
                <a:lnTo>
                  <a:pt x="2609849" y="914400"/>
                </a:lnTo>
                <a:lnTo>
                  <a:pt x="2608644" y="954060"/>
                </a:lnTo>
                <a:lnTo>
                  <a:pt x="2605060" y="993289"/>
                </a:lnTo>
                <a:lnTo>
                  <a:pt x="2599146" y="1032053"/>
                </a:lnTo>
                <a:lnTo>
                  <a:pt x="2590952" y="1070317"/>
                </a:lnTo>
                <a:lnTo>
                  <a:pt x="2580527" y="1108047"/>
                </a:lnTo>
                <a:lnTo>
                  <a:pt x="2567918" y="1145209"/>
                </a:lnTo>
                <a:lnTo>
                  <a:pt x="2553176" y="1181767"/>
                </a:lnTo>
                <a:lnTo>
                  <a:pt x="2536349" y="1217689"/>
                </a:lnTo>
                <a:lnTo>
                  <a:pt x="2517486" y="1252939"/>
                </a:lnTo>
                <a:lnTo>
                  <a:pt x="2496637" y="1287483"/>
                </a:lnTo>
                <a:lnTo>
                  <a:pt x="2473849" y="1321287"/>
                </a:lnTo>
                <a:lnTo>
                  <a:pt x="2449173" y="1354317"/>
                </a:lnTo>
                <a:lnTo>
                  <a:pt x="2422656" y="1386538"/>
                </a:lnTo>
                <a:lnTo>
                  <a:pt x="2394349" y="1417915"/>
                </a:lnTo>
                <a:lnTo>
                  <a:pt x="2364299" y="1448416"/>
                </a:lnTo>
                <a:lnTo>
                  <a:pt x="2332557" y="1478004"/>
                </a:lnTo>
                <a:lnTo>
                  <a:pt x="2299170" y="1506647"/>
                </a:lnTo>
                <a:lnTo>
                  <a:pt x="2264187" y="1534309"/>
                </a:lnTo>
                <a:lnTo>
                  <a:pt x="2227659" y="1560957"/>
                </a:lnTo>
                <a:lnTo>
                  <a:pt x="2189633" y="1586555"/>
                </a:lnTo>
                <a:lnTo>
                  <a:pt x="2150159" y="1611070"/>
                </a:lnTo>
                <a:lnTo>
                  <a:pt x="2109285" y="1634467"/>
                </a:lnTo>
                <a:lnTo>
                  <a:pt x="2067061" y="1656712"/>
                </a:lnTo>
                <a:lnTo>
                  <a:pt x="2023535" y="1677771"/>
                </a:lnTo>
                <a:lnTo>
                  <a:pt x="1978757" y="1697609"/>
                </a:lnTo>
                <a:lnTo>
                  <a:pt x="1932775" y="1716192"/>
                </a:lnTo>
                <a:lnTo>
                  <a:pt x="1885638" y="1733486"/>
                </a:lnTo>
                <a:lnTo>
                  <a:pt x="1837395" y="1749456"/>
                </a:lnTo>
                <a:lnTo>
                  <a:pt x="1788096" y="1764067"/>
                </a:lnTo>
                <a:lnTo>
                  <a:pt x="1737789" y="1777287"/>
                </a:lnTo>
                <a:lnTo>
                  <a:pt x="1686523" y="1789080"/>
                </a:lnTo>
                <a:lnTo>
                  <a:pt x="1634347" y="1799412"/>
                </a:lnTo>
                <a:lnTo>
                  <a:pt x="1581310" y="1808248"/>
                </a:lnTo>
                <a:lnTo>
                  <a:pt x="1527461" y="1815555"/>
                </a:lnTo>
                <a:lnTo>
                  <a:pt x="1472849" y="1821298"/>
                </a:lnTo>
                <a:lnTo>
                  <a:pt x="1417523" y="1825443"/>
                </a:lnTo>
                <a:lnTo>
                  <a:pt x="1361532" y="1827955"/>
                </a:lnTo>
                <a:lnTo>
                  <a:pt x="1304924" y="1828800"/>
                </a:lnTo>
                <a:lnTo>
                  <a:pt x="1248317" y="1827955"/>
                </a:lnTo>
                <a:lnTo>
                  <a:pt x="1192326" y="1825443"/>
                </a:lnTo>
                <a:lnTo>
                  <a:pt x="1137000" y="1821298"/>
                </a:lnTo>
                <a:lnTo>
                  <a:pt x="1082388" y="1815555"/>
                </a:lnTo>
                <a:lnTo>
                  <a:pt x="1028539" y="1808248"/>
                </a:lnTo>
                <a:lnTo>
                  <a:pt x="975502" y="1799412"/>
                </a:lnTo>
                <a:lnTo>
                  <a:pt x="923326" y="1789080"/>
                </a:lnTo>
                <a:lnTo>
                  <a:pt x="872060" y="1777287"/>
                </a:lnTo>
                <a:lnTo>
                  <a:pt x="821753" y="1764067"/>
                </a:lnTo>
                <a:lnTo>
                  <a:pt x="772454" y="1749456"/>
                </a:lnTo>
                <a:lnTo>
                  <a:pt x="724211" y="1733486"/>
                </a:lnTo>
                <a:lnTo>
                  <a:pt x="677074" y="1716192"/>
                </a:lnTo>
                <a:lnTo>
                  <a:pt x="631092" y="1697609"/>
                </a:lnTo>
                <a:lnTo>
                  <a:pt x="586314" y="1677771"/>
                </a:lnTo>
                <a:lnTo>
                  <a:pt x="542788" y="1656712"/>
                </a:lnTo>
                <a:lnTo>
                  <a:pt x="500564" y="1634467"/>
                </a:lnTo>
                <a:lnTo>
                  <a:pt x="459690" y="1611070"/>
                </a:lnTo>
                <a:lnTo>
                  <a:pt x="420216" y="1586555"/>
                </a:lnTo>
                <a:lnTo>
                  <a:pt x="382190" y="1560957"/>
                </a:lnTo>
                <a:lnTo>
                  <a:pt x="345662" y="1534309"/>
                </a:lnTo>
                <a:lnTo>
                  <a:pt x="310679" y="1506647"/>
                </a:lnTo>
                <a:lnTo>
                  <a:pt x="277292" y="1478004"/>
                </a:lnTo>
                <a:lnTo>
                  <a:pt x="245550" y="1448416"/>
                </a:lnTo>
                <a:lnTo>
                  <a:pt x="215500" y="1417915"/>
                </a:lnTo>
                <a:lnTo>
                  <a:pt x="187193" y="1386538"/>
                </a:lnTo>
                <a:lnTo>
                  <a:pt x="160676" y="1354317"/>
                </a:lnTo>
                <a:lnTo>
                  <a:pt x="136000" y="1321287"/>
                </a:lnTo>
                <a:lnTo>
                  <a:pt x="113212" y="1287483"/>
                </a:lnTo>
                <a:lnTo>
                  <a:pt x="92363" y="1252939"/>
                </a:lnTo>
                <a:lnTo>
                  <a:pt x="73500" y="1217689"/>
                </a:lnTo>
                <a:lnTo>
                  <a:pt x="56673" y="1181767"/>
                </a:lnTo>
                <a:lnTo>
                  <a:pt x="41931" y="1145209"/>
                </a:lnTo>
                <a:lnTo>
                  <a:pt x="29322" y="1108047"/>
                </a:lnTo>
                <a:lnTo>
                  <a:pt x="18897" y="1070317"/>
                </a:lnTo>
                <a:lnTo>
                  <a:pt x="10703" y="1032053"/>
                </a:lnTo>
                <a:lnTo>
                  <a:pt x="4789" y="993289"/>
                </a:lnTo>
                <a:lnTo>
                  <a:pt x="1205" y="954060"/>
                </a:lnTo>
                <a:lnTo>
                  <a:pt x="0" y="914400"/>
                </a:lnTo>
                <a:close/>
              </a:path>
            </a:pathLst>
          </a:custGeom>
          <a:ln w="2514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90600" y="1600200"/>
            <a:ext cx="842772" cy="842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91400" y="1143000"/>
            <a:ext cx="1295400" cy="178612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10400" y="4953000"/>
            <a:ext cx="936498" cy="13533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70876" y="5366003"/>
            <a:ext cx="1068324" cy="9585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17307" y="3048000"/>
            <a:ext cx="1295400" cy="9838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001000" y="49270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499"/>
                </a:moveTo>
                <a:lnTo>
                  <a:pt x="5034" y="146837"/>
                </a:lnTo>
                <a:lnTo>
                  <a:pt x="19372" y="106746"/>
                </a:lnTo>
                <a:lnTo>
                  <a:pt x="41867" y="71374"/>
                </a:lnTo>
                <a:lnTo>
                  <a:pt x="71374" y="41867"/>
                </a:lnTo>
                <a:lnTo>
                  <a:pt x="106746" y="19372"/>
                </a:lnTo>
                <a:lnTo>
                  <a:pt x="146837" y="5034"/>
                </a:lnTo>
                <a:lnTo>
                  <a:pt x="190500" y="0"/>
                </a:lnTo>
                <a:lnTo>
                  <a:pt x="234162" y="5034"/>
                </a:lnTo>
                <a:lnTo>
                  <a:pt x="274253" y="19372"/>
                </a:lnTo>
                <a:lnTo>
                  <a:pt x="309625" y="41867"/>
                </a:lnTo>
                <a:lnTo>
                  <a:pt x="339132" y="71374"/>
                </a:lnTo>
                <a:lnTo>
                  <a:pt x="361627" y="106746"/>
                </a:lnTo>
                <a:lnTo>
                  <a:pt x="375965" y="146837"/>
                </a:lnTo>
                <a:lnTo>
                  <a:pt x="381000" y="190499"/>
                </a:lnTo>
                <a:lnTo>
                  <a:pt x="375965" y="234162"/>
                </a:lnTo>
                <a:lnTo>
                  <a:pt x="361627" y="274253"/>
                </a:lnTo>
                <a:lnTo>
                  <a:pt x="339132" y="309625"/>
                </a:lnTo>
                <a:lnTo>
                  <a:pt x="309625" y="339132"/>
                </a:lnTo>
                <a:lnTo>
                  <a:pt x="274253" y="361627"/>
                </a:lnTo>
                <a:lnTo>
                  <a:pt x="234162" y="375965"/>
                </a:lnTo>
                <a:lnTo>
                  <a:pt x="190500" y="380999"/>
                </a:lnTo>
                <a:lnTo>
                  <a:pt x="146837" y="375965"/>
                </a:lnTo>
                <a:lnTo>
                  <a:pt x="106746" y="361627"/>
                </a:lnTo>
                <a:lnTo>
                  <a:pt x="71374" y="339132"/>
                </a:lnTo>
                <a:lnTo>
                  <a:pt x="41867" y="309625"/>
                </a:lnTo>
                <a:lnTo>
                  <a:pt x="19372" y="274253"/>
                </a:lnTo>
                <a:lnTo>
                  <a:pt x="5034" y="234162"/>
                </a:lnTo>
                <a:lnTo>
                  <a:pt x="0" y="190499"/>
                </a:lnTo>
                <a:close/>
              </a:path>
            </a:pathLst>
          </a:custGeom>
          <a:ln w="38100">
            <a:solidFill>
              <a:srgbClr val="217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79892" y="109270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lnTo>
                  <a:pt x="5034" y="146837"/>
                </a:lnTo>
                <a:lnTo>
                  <a:pt x="19372" y="106746"/>
                </a:lnTo>
                <a:lnTo>
                  <a:pt x="41867" y="71374"/>
                </a:lnTo>
                <a:lnTo>
                  <a:pt x="71374" y="41867"/>
                </a:lnTo>
                <a:lnTo>
                  <a:pt x="106746" y="19372"/>
                </a:lnTo>
                <a:lnTo>
                  <a:pt x="146837" y="5034"/>
                </a:lnTo>
                <a:lnTo>
                  <a:pt x="190500" y="0"/>
                </a:lnTo>
                <a:lnTo>
                  <a:pt x="234162" y="5034"/>
                </a:lnTo>
                <a:lnTo>
                  <a:pt x="274253" y="19372"/>
                </a:lnTo>
                <a:lnTo>
                  <a:pt x="309625" y="41867"/>
                </a:lnTo>
                <a:lnTo>
                  <a:pt x="339132" y="71374"/>
                </a:lnTo>
                <a:lnTo>
                  <a:pt x="361627" y="106746"/>
                </a:lnTo>
                <a:lnTo>
                  <a:pt x="375965" y="146837"/>
                </a:lnTo>
                <a:lnTo>
                  <a:pt x="381000" y="190500"/>
                </a:lnTo>
                <a:lnTo>
                  <a:pt x="375965" y="234162"/>
                </a:lnTo>
                <a:lnTo>
                  <a:pt x="361627" y="274253"/>
                </a:lnTo>
                <a:lnTo>
                  <a:pt x="339132" y="309625"/>
                </a:lnTo>
                <a:lnTo>
                  <a:pt x="309625" y="339132"/>
                </a:lnTo>
                <a:lnTo>
                  <a:pt x="274253" y="361627"/>
                </a:lnTo>
                <a:lnTo>
                  <a:pt x="234162" y="375965"/>
                </a:lnTo>
                <a:lnTo>
                  <a:pt x="190500" y="381000"/>
                </a:lnTo>
                <a:lnTo>
                  <a:pt x="146837" y="375965"/>
                </a:lnTo>
                <a:lnTo>
                  <a:pt x="106746" y="361627"/>
                </a:lnTo>
                <a:lnTo>
                  <a:pt x="71374" y="339132"/>
                </a:lnTo>
                <a:lnTo>
                  <a:pt x="41867" y="309625"/>
                </a:lnTo>
                <a:lnTo>
                  <a:pt x="19372" y="274253"/>
                </a:lnTo>
                <a:lnTo>
                  <a:pt x="5034" y="234162"/>
                </a:lnTo>
                <a:lnTo>
                  <a:pt x="0" y="19050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5" name="object 25"/>
          <p:cNvSpPr txBox="1"/>
          <p:nvPr/>
        </p:nvSpPr>
        <p:spPr>
          <a:xfrm>
            <a:off x="8776716" y="6523387"/>
            <a:ext cx="1149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6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5260975" cy="248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245" dirty="0">
                <a:latin typeface="Arial"/>
                <a:cs typeface="Arial"/>
              </a:rPr>
              <a:t>¿Qué </a:t>
            </a:r>
            <a:r>
              <a:rPr sz="2600" b="1" spc="-275" dirty="0">
                <a:latin typeface="Arial"/>
                <a:cs typeface="Arial"/>
              </a:rPr>
              <a:t>es </a:t>
            </a:r>
            <a:r>
              <a:rPr sz="2600" b="1" spc="-200" dirty="0">
                <a:latin typeface="Arial"/>
                <a:cs typeface="Arial"/>
              </a:rPr>
              <a:t>un </a:t>
            </a:r>
            <a:r>
              <a:rPr sz="2600" b="1" spc="-225" dirty="0">
                <a:latin typeface="Arial"/>
                <a:cs typeface="Arial"/>
              </a:rPr>
              <a:t>Sistema</a:t>
            </a:r>
            <a:r>
              <a:rPr sz="2600" b="1" spc="-240" dirty="0">
                <a:latin typeface="Arial"/>
                <a:cs typeface="Arial"/>
              </a:rPr>
              <a:t> </a:t>
            </a:r>
            <a:r>
              <a:rPr sz="2600" b="1" spc="-185" dirty="0">
                <a:latin typeface="Arial"/>
                <a:cs typeface="Arial"/>
              </a:rPr>
              <a:t>Operativo?</a:t>
            </a:r>
            <a:endParaRPr sz="2600">
              <a:latin typeface="Arial"/>
              <a:cs typeface="Arial"/>
            </a:endParaRPr>
          </a:p>
          <a:p>
            <a:pPr marL="360680" marR="6350" indent="-347980">
              <a:lnSpc>
                <a:spcPct val="100000"/>
              </a:lnSpc>
              <a:spcBef>
                <a:spcPts val="35"/>
              </a:spcBef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000" spc="-290" dirty="0">
                <a:latin typeface="Arial"/>
                <a:cs typeface="Arial"/>
              </a:rPr>
              <a:t>Es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55" dirty="0">
                <a:latin typeface="Arial"/>
                <a:cs typeface="Arial"/>
              </a:rPr>
              <a:t>software </a:t>
            </a:r>
            <a:r>
              <a:rPr sz="2000" spc="-145" dirty="0">
                <a:latin typeface="Arial"/>
                <a:cs typeface="Arial"/>
              </a:rPr>
              <a:t>más </a:t>
            </a:r>
            <a:r>
              <a:rPr sz="2000" spc="-35" dirty="0">
                <a:latin typeface="Arial"/>
                <a:cs typeface="Arial"/>
              </a:rPr>
              <a:t>importante </a:t>
            </a:r>
            <a:r>
              <a:rPr sz="2000" spc="-95" dirty="0">
                <a:latin typeface="Arial"/>
                <a:cs typeface="Arial"/>
              </a:rPr>
              <a:t>para </a:t>
            </a:r>
            <a:r>
              <a:rPr sz="2000" spc="-65" dirty="0">
                <a:latin typeface="Arial"/>
                <a:cs typeface="Arial"/>
              </a:rPr>
              <a:t>cualquier  </a:t>
            </a:r>
            <a:r>
              <a:rPr sz="2000" spc="-80" dirty="0">
                <a:latin typeface="Arial"/>
                <a:cs typeface="Arial"/>
              </a:rPr>
              <a:t>computador.</a:t>
            </a:r>
            <a:endParaRPr sz="2000">
              <a:latin typeface="Arial"/>
              <a:cs typeface="Arial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000" spc="-125" dirty="0">
                <a:latin typeface="Arial"/>
                <a:cs typeface="Arial"/>
              </a:rPr>
              <a:t>Consiste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100" dirty="0">
                <a:latin typeface="Arial"/>
                <a:cs typeface="Arial"/>
              </a:rPr>
              <a:t>sistema </a:t>
            </a:r>
            <a:r>
              <a:rPr sz="2000" spc="-65" dirty="0">
                <a:latin typeface="Arial"/>
                <a:cs typeface="Arial"/>
              </a:rPr>
              <a:t>integrado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programas 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90" dirty="0">
                <a:latin typeface="Arial"/>
                <a:cs typeface="Arial"/>
              </a:rPr>
              <a:t>maneja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5" dirty="0">
                <a:latin typeface="Arial"/>
                <a:cs typeface="Arial"/>
              </a:rPr>
              <a:t>operaciones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235" dirty="0">
                <a:latin typeface="Arial"/>
                <a:cs typeface="Arial"/>
              </a:rPr>
              <a:t>CPU, </a:t>
            </a:r>
            <a:r>
              <a:rPr sz="2000" spc="-55" dirty="0">
                <a:latin typeface="Arial"/>
                <a:cs typeface="Arial"/>
              </a:rPr>
              <a:t>controla  </a:t>
            </a:r>
            <a:r>
              <a:rPr sz="2000" spc="-105" dirty="0">
                <a:latin typeface="Arial"/>
                <a:cs typeface="Arial"/>
              </a:rPr>
              <a:t>recursos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80" dirty="0">
                <a:latin typeface="Arial"/>
                <a:cs typeface="Arial"/>
              </a:rPr>
              <a:t>actividades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entrada/salida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755" y="2958592"/>
            <a:ext cx="3704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866775" algn="l"/>
                <a:tab pos="1960880" algn="l"/>
                <a:tab pos="2433320" algn="l"/>
                <a:tab pos="3193415" algn="l"/>
              </a:tabLst>
            </a:pPr>
            <a:r>
              <a:rPr sz="2000" spc="-95" dirty="0">
                <a:latin typeface="Arial"/>
                <a:cs typeface="Arial"/>
              </a:rPr>
              <a:t>de	</a:t>
            </a:r>
            <a:r>
              <a:rPr sz="2000" spc="-75" dirty="0">
                <a:latin typeface="Arial"/>
                <a:cs typeface="Arial"/>
              </a:rPr>
              <a:t>almacenamiento	</a:t>
            </a:r>
            <a:r>
              <a:rPr sz="2000" spc="-60" dirty="0">
                <a:latin typeface="Arial"/>
                <a:cs typeface="Arial"/>
              </a:rPr>
              <a:t>del  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75" dirty="0">
                <a:latin typeface="Arial"/>
                <a:cs typeface="Arial"/>
              </a:rPr>
              <a:t>omp</a:t>
            </a:r>
            <a:r>
              <a:rPr sz="2000" spc="-55" dirty="0">
                <a:latin typeface="Arial"/>
                <a:cs typeface="Arial"/>
              </a:rPr>
              <a:t>u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55" dirty="0">
                <a:latin typeface="Arial"/>
                <a:cs typeface="Arial"/>
              </a:rPr>
              <a:t>ional,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0" dirty="0">
                <a:latin typeface="Arial"/>
                <a:cs typeface="Arial"/>
              </a:rPr>
              <a:t>y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-50" dirty="0">
                <a:latin typeface="Arial"/>
                <a:cs typeface="Arial"/>
              </a:rPr>
              <a:t>ropo</a:t>
            </a:r>
            <a:r>
              <a:rPr sz="2000" spc="-60" dirty="0">
                <a:latin typeface="Arial"/>
                <a:cs typeface="Arial"/>
              </a:rPr>
              <a:t>r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70" dirty="0">
                <a:latin typeface="Arial"/>
                <a:cs typeface="Arial"/>
              </a:rPr>
              <a:t>iona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5085" y="2958592"/>
            <a:ext cx="873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95"/>
              </a:spcBef>
            </a:pPr>
            <a:r>
              <a:rPr sz="2000" spc="-150" dirty="0">
                <a:latin typeface="Arial"/>
                <a:cs typeface="Arial"/>
              </a:rPr>
              <a:t>s</a:t>
            </a:r>
            <a:r>
              <a:rPr sz="2000" spc="-60" dirty="0">
                <a:latin typeface="Arial"/>
                <a:cs typeface="Arial"/>
              </a:rPr>
              <a:t>i</a:t>
            </a:r>
            <a:r>
              <a:rPr sz="2000" spc="-245" dirty="0">
                <a:latin typeface="Arial"/>
                <a:cs typeface="Arial"/>
              </a:rPr>
              <a:t>s</a:t>
            </a:r>
            <a:r>
              <a:rPr sz="2000" spc="9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80" dirty="0">
                <a:latin typeface="Arial"/>
                <a:cs typeface="Arial"/>
              </a:rPr>
              <a:t>ma  </a:t>
            </a:r>
            <a:r>
              <a:rPr sz="2000" spc="-50" dirty="0">
                <a:latin typeface="Arial"/>
                <a:cs typeface="Arial"/>
              </a:rPr>
              <a:t>di</a:t>
            </a:r>
            <a:r>
              <a:rPr sz="2000" spc="-80" dirty="0">
                <a:latin typeface="Arial"/>
                <a:cs typeface="Arial"/>
              </a:rPr>
              <a:t>v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spc="-175" dirty="0">
                <a:latin typeface="Arial"/>
                <a:cs typeface="Arial"/>
              </a:rPr>
              <a:t>sos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755" y="3568191"/>
            <a:ext cx="1410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137285" algn="l"/>
              </a:tabLst>
            </a:pPr>
            <a:r>
              <a:rPr sz="2000" spc="-165" dirty="0">
                <a:latin typeface="Arial"/>
                <a:cs typeface="Arial"/>
              </a:rPr>
              <a:t>s</a:t>
            </a:r>
            <a:r>
              <a:rPr sz="2000" spc="-175" dirty="0">
                <a:latin typeface="Arial"/>
                <a:cs typeface="Arial"/>
              </a:rPr>
              <a:t>e</a:t>
            </a:r>
            <a:r>
              <a:rPr sz="2000" spc="40" dirty="0">
                <a:latin typeface="Arial"/>
                <a:cs typeface="Arial"/>
              </a:rPr>
              <a:t>r</a:t>
            </a:r>
            <a:r>
              <a:rPr sz="2000" spc="-80" dirty="0">
                <a:latin typeface="Arial"/>
                <a:cs typeface="Arial"/>
              </a:rPr>
              <a:t>vic</a:t>
            </a:r>
            <a:r>
              <a:rPr sz="2000" spc="15" dirty="0">
                <a:latin typeface="Arial"/>
                <a:cs typeface="Arial"/>
              </a:rPr>
              <a:t>i</a:t>
            </a:r>
            <a:r>
              <a:rPr sz="2000" spc="-155" dirty="0">
                <a:latin typeface="Arial"/>
                <a:cs typeface="Arial"/>
              </a:rPr>
              <a:t>o</a:t>
            </a:r>
            <a:r>
              <a:rPr sz="2000" spc="-13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0" dirty="0">
                <a:latin typeface="Arial"/>
                <a:cs typeface="Arial"/>
              </a:rPr>
              <a:t>de  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75" dirty="0">
                <a:latin typeface="Arial"/>
                <a:cs typeface="Arial"/>
              </a:rPr>
              <a:t>omp</a:t>
            </a:r>
            <a:r>
              <a:rPr sz="2000" spc="-55" dirty="0">
                <a:latin typeface="Arial"/>
                <a:cs typeface="Arial"/>
              </a:rPr>
              <a:t>u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95" dirty="0">
                <a:latin typeface="Arial"/>
                <a:cs typeface="Arial"/>
              </a:rPr>
              <a:t>ad</a:t>
            </a:r>
            <a:r>
              <a:rPr sz="2000" spc="-90" dirty="0">
                <a:latin typeface="Arial"/>
                <a:cs typeface="Arial"/>
              </a:rPr>
              <a:t>o</a:t>
            </a:r>
            <a:r>
              <a:rPr sz="2000" spc="-15" dirty="0">
                <a:latin typeface="Arial"/>
                <a:cs typeface="Arial"/>
              </a:rPr>
              <a:t>r</a:t>
            </a:r>
            <a:r>
              <a:rPr sz="2000" spc="-16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6244" y="3568191"/>
            <a:ext cx="887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95"/>
              </a:spcBef>
            </a:pPr>
            <a:r>
              <a:rPr sz="2000" spc="-55" dirty="0">
                <a:latin typeface="Arial"/>
                <a:cs typeface="Arial"/>
              </a:rPr>
              <a:t>sopor</a:t>
            </a:r>
            <a:r>
              <a:rPr sz="2000" spc="-5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60" dirty="0">
                <a:latin typeface="Arial"/>
                <a:cs typeface="Arial"/>
              </a:rPr>
              <a:t>,  </a:t>
            </a:r>
            <a:r>
              <a:rPr sz="2000" spc="-70" dirty="0">
                <a:latin typeface="Arial"/>
                <a:cs typeface="Arial"/>
              </a:rPr>
              <a:t>ejecuta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7615" y="3568191"/>
            <a:ext cx="1181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3495">
              <a:lnSpc>
                <a:spcPct val="100000"/>
              </a:lnSpc>
              <a:spcBef>
                <a:spcPts val="95"/>
              </a:spcBef>
              <a:tabLst>
                <a:tab pos="391795" algn="l"/>
              </a:tabLst>
            </a:pPr>
            <a:r>
              <a:rPr sz="2000" spc="-160" dirty="0">
                <a:latin typeface="Arial"/>
                <a:cs typeface="Arial"/>
              </a:rPr>
              <a:t>a	</a:t>
            </a:r>
            <a:r>
              <a:rPr sz="2000" spc="-90" dirty="0">
                <a:latin typeface="Arial"/>
                <a:cs typeface="Arial"/>
              </a:rPr>
              <a:t>me</a:t>
            </a:r>
            <a:r>
              <a:rPr sz="2000" spc="-70" dirty="0">
                <a:latin typeface="Arial"/>
                <a:cs typeface="Arial"/>
              </a:rPr>
              <a:t>d</a:t>
            </a:r>
            <a:r>
              <a:rPr sz="2000" spc="-60" dirty="0">
                <a:latin typeface="Arial"/>
                <a:cs typeface="Arial"/>
              </a:rPr>
              <a:t>ida  </a:t>
            </a:r>
            <a:r>
              <a:rPr sz="2000" spc="-90" dirty="0">
                <a:latin typeface="Arial"/>
                <a:cs typeface="Arial"/>
              </a:rPr>
              <a:t>los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0734" y="3568191"/>
            <a:ext cx="165988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26769">
              <a:lnSpc>
                <a:spcPct val="100000"/>
              </a:lnSpc>
              <a:spcBef>
                <a:spcPts val="95"/>
              </a:spcBef>
              <a:tabLst>
                <a:tab pos="1384935" algn="l"/>
                <a:tab pos="1465580" algn="l"/>
              </a:tabLst>
            </a:pPr>
            <a:r>
              <a:rPr sz="2000" spc="-85" dirty="0">
                <a:latin typeface="Arial"/>
                <a:cs typeface="Arial"/>
              </a:rPr>
              <a:t>que		</a:t>
            </a:r>
            <a:r>
              <a:rPr sz="2000" spc="-65" dirty="0">
                <a:latin typeface="Arial"/>
                <a:cs typeface="Arial"/>
              </a:rPr>
              <a:t>la  </a:t>
            </a: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-50" dirty="0">
                <a:latin typeface="Arial"/>
                <a:cs typeface="Arial"/>
              </a:rPr>
              <a:t>r</a:t>
            </a:r>
            <a:r>
              <a:rPr sz="2000" spc="-85" dirty="0">
                <a:latin typeface="Arial"/>
                <a:cs typeface="Arial"/>
              </a:rPr>
              <a:t>og</a:t>
            </a:r>
            <a:r>
              <a:rPr sz="2000" spc="-100" dirty="0">
                <a:latin typeface="Arial"/>
                <a:cs typeface="Arial"/>
              </a:rPr>
              <a:t>r</a:t>
            </a:r>
            <a:r>
              <a:rPr sz="2000" spc="-95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m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220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755" y="4178046"/>
            <a:ext cx="27158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80" dirty="0">
                <a:latin typeface="Arial"/>
                <a:cs typeface="Arial"/>
              </a:rPr>
              <a:t>aplicación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usuarios.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268" y="4482846"/>
            <a:ext cx="3404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680" marR="5080" indent="-347980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60680" algn="l"/>
                <a:tab pos="361315" algn="l"/>
                <a:tab pos="755015" algn="l"/>
                <a:tab pos="1600835" algn="l"/>
                <a:tab pos="1960245" algn="l"/>
                <a:tab pos="3067685" algn="l"/>
              </a:tabLst>
            </a:pPr>
            <a:r>
              <a:rPr sz="2000" spc="-175" dirty="0">
                <a:latin typeface="Arial"/>
                <a:cs typeface="Arial"/>
              </a:rPr>
              <a:t>El	</a:t>
            </a:r>
            <a:r>
              <a:rPr sz="2000" spc="-50" dirty="0">
                <a:latin typeface="Arial"/>
                <a:cs typeface="Arial"/>
              </a:rPr>
              <a:t>propósito	principal	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135" dirty="0">
                <a:latin typeface="Arial"/>
                <a:cs typeface="Arial"/>
              </a:rPr>
              <a:t>m</a:t>
            </a:r>
            <a:r>
              <a:rPr sz="2000" spc="-114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x</a:t>
            </a:r>
            <a:r>
              <a:rPr sz="2000" spc="-35" dirty="0">
                <a:latin typeface="Arial"/>
                <a:cs typeface="Arial"/>
              </a:rPr>
              <a:t>i</a:t>
            </a:r>
            <a:r>
              <a:rPr sz="2000" spc="-45" dirty="0">
                <a:latin typeface="Arial"/>
                <a:cs typeface="Arial"/>
              </a:rPr>
              <a:t>m</a:t>
            </a:r>
            <a:r>
              <a:rPr sz="2000" spc="-10" dirty="0">
                <a:latin typeface="Arial"/>
                <a:cs typeface="Arial"/>
              </a:rPr>
              <a:t>i</a:t>
            </a:r>
            <a:r>
              <a:rPr sz="2000" spc="-250" dirty="0">
                <a:latin typeface="Arial"/>
                <a:cs typeface="Arial"/>
              </a:rPr>
              <a:t>z</a:t>
            </a:r>
            <a:r>
              <a:rPr sz="2000" spc="-65" dirty="0">
                <a:latin typeface="Arial"/>
                <a:cs typeface="Arial"/>
              </a:rPr>
              <a:t>ar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0" dirty="0">
                <a:latin typeface="Arial"/>
                <a:cs typeface="Arial"/>
              </a:rPr>
              <a:t>l</a:t>
            </a:r>
            <a:r>
              <a:rPr sz="2000" spc="-10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-50" dirty="0">
                <a:latin typeface="Arial"/>
                <a:cs typeface="Arial"/>
              </a:rPr>
              <a:t>r</a:t>
            </a:r>
            <a:r>
              <a:rPr sz="2000" spc="-55" dirty="0">
                <a:latin typeface="Arial"/>
                <a:cs typeface="Arial"/>
              </a:rPr>
              <a:t>oduc</a:t>
            </a:r>
            <a:r>
              <a:rPr sz="2000" spc="-25" dirty="0">
                <a:latin typeface="Arial"/>
                <a:cs typeface="Arial"/>
              </a:rPr>
              <a:t>t</a:t>
            </a:r>
            <a:r>
              <a:rPr sz="2000" spc="-60" dirty="0">
                <a:latin typeface="Arial"/>
                <a:cs typeface="Arial"/>
              </a:rPr>
              <a:t>ividad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66058" y="4482846"/>
            <a:ext cx="1734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 marR="5080" indent="-32384">
              <a:lnSpc>
                <a:spcPct val="100000"/>
              </a:lnSpc>
              <a:spcBef>
                <a:spcPts val="95"/>
              </a:spcBef>
              <a:tabLst>
                <a:tab pos="484505" algn="l"/>
                <a:tab pos="930275" algn="l"/>
                <a:tab pos="1492885" algn="l"/>
              </a:tabLst>
            </a:pPr>
            <a:r>
              <a:rPr sz="2000" spc="-65" dirty="0">
                <a:latin typeface="Arial"/>
                <a:cs typeface="Arial"/>
              </a:rPr>
              <a:t>un	</a:t>
            </a:r>
            <a:r>
              <a:rPr sz="2000" spc="-515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s</a:t>
            </a:r>
            <a:r>
              <a:rPr sz="2000" spc="-60" dirty="0">
                <a:latin typeface="Arial"/>
                <a:cs typeface="Arial"/>
              </a:rPr>
              <a:t>i</a:t>
            </a:r>
            <a:r>
              <a:rPr sz="2000" spc="-245" dirty="0">
                <a:latin typeface="Arial"/>
                <a:cs typeface="Arial"/>
              </a:rPr>
              <a:t>s</a:t>
            </a:r>
            <a:r>
              <a:rPr sz="2000" spc="9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ema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25" dirty="0">
                <a:latin typeface="Arial"/>
                <a:cs typeface="Arial"/>
              </a:rPr>
              <a:t>es 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5" dirty="0">
                <a:latin typeface="Arial"/>
                <a:cs typeface="Arial"/>
              </a:rPr>
              <a:t>un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30" dirty="0">
                <a:latin typeface="Arial"/>
                <a:cs typeface="Arial"/>
              </a:rPr>
              <a:t>si</a:t>
            </a:r>
            <a:r>
              <a:rPr sz="2000" spc="-195" dirty="0">
                <a:latin typeface="Arial"/>
                <a:cs typeface="Arial"/>
              </a:rPr>
              <a:t>s</a:t>
            </a:r>
            <a:r>
              <a:rPr sz="2000" spc="9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ema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7755" y="5092446"/>
            <a:ext cx="49117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70" dirty="0">
                <a:latin typeface="Arial"/>
                <a:cs typeface="Arial"/>
              </a:rPr>
              <a:t>computacional operándolo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95" dirty="0">
                <a:latin typeface="Arial"/>
                <a:cs typeface="Arial"/>
              </a:rPr>
              <a:t>manera </a:t>
            </a:r>
            <a:r>
              <a:rPr sz="2000" spc="-145" dirty="0">
                <a:latin typeface="Arial"/>
                <a:cs typeface="Arial"/>
              </a:rPr>
              <a:t>más  </a:t>
            </a:r>
            <a:r>
              <a:rPr sz="2000" spc="-50" dirty="0">
                <a:latin typeface="Arial"/>
                <a:cs typeface="Arial"/>
              </a:rPr>
              <a:t>eficiente. </a:t>
            </a:r>
            <a:r>
              <a:rPr sz="2000" spc="-114" dirty="0">
                <a:latin typeface="Arial"/>
                <a:cs typeface="Arial"/>
              </a:rPr>
              <a:t>Un </a:t>
            </a:r>
            <a:r>
              <a:rPr sz="2000" spc="-100" dirty="0">
                <a:latin typeface="Arial"/>
                <a:cs typeface="Arial"/>
              </a:rPr>
              <a:t>sistema </a:t>
            </a:r>
            <a:r>
              <a:rPr sz="2000" spc="-55" dirty="0">
                <a:latin typeface="Arial"/>
                <a:cs typeface="Arial"/>
              </a:rPr>
              <a:t>operativo </a:t>
            </a:r>
            <a:r>
              <a:rPr sz="2000" spc="-70" dirty="0">
                <a:latin typeface="Arial"/>
                <a:cs typeface="Arial"/>
              </a:rPr>
              <a:t>minimiza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70" dirty="0">
                <a:latin typeface="Arial"/>
                <a:cs typeface="Arial"/>
              </a:rPr>
              <a:t>cantidad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0" dirty="0">
                <a:latin typeface="Arial"/>
                <a:cs typeface="Arial"/>
              </a:rPr>
              <a:t>intervención </a:t>
            </a:r>
            <a:r>
              <a:rPr sz="2000" spc="-100" dirty="0">
                <a:latin typeface="Arial"/>
                <a:cs typeface="Arial"/>
              </a:rPr>
              <a:t>humana </a:t>
            </a:r>
            <a:r>
              <a:rPr sz="2000" spc="-60" dirty="0">
                <a:latin typeface="Arial"/>
                <a:cs typeface="Arial"/>
              </a:rPr>
              <a:t>requerida  durante </a:t>
            </a:r>
            <a:r>
              <a:rPr sz="2000" spc="-55" dirty="0">
                <a:latin typeface="Arial"/>
                <a:cs typeface="Arial"/>
              </a:rPr>
              <a:t>el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procesamiento.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38800" y="1295400"/>
            <a:ext cx="3284569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39255" y="3800855"/>
            <a:ext cx="2371344" cy="2371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7" name="object 17"/>
          <p:cNvSpPr txBox="1"/>
          <p:nvPr/>
        </p:nvSpPr>
        <p:spPr>
          <a:xfrm>
            <a:off x="8776716" y="6523387"/>
            <a:ext cx="1149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7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998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Software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/>
          <p:nvPr/>
        </p:nvSpPr>
        <p:spPr>
          <a:xfrm>
            <a:off x="8789416" y="6523387"/>
            <a:ext cx="895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9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33780"/>
            <a:ext cx="48393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45" dirty="0">
                <a:solidFill>
                  <a:srgbClr val="000000"/>
                </a:solidFill>
              </a:rPr>
              <a:t>Funciones </a:t>
            </a:r>
            <a:r>
              <a:rPr sz="2600" spc="-170" dirty="0">
                <a:solidFill>
                  <a:srgbClr val="000000"/>
                </a:solidFill>
              </a:rPr>
              <a:t>de </a:t>
            </a:r>
            <a:r>
              <a:rPr sz="2600" spc="-200" dirty="0">
                <a:solidFill>
                  <a:srgbClr val="000000"/>
                </a:solidFill>
              </a:rPr>
              <a:t>un </a:t>
            </a:r>
            <a:r>
              <a:rPr sz="2600" spc="-225" dirty="0">
                <a:solidFill>
                  <a:srgbClr val="000000"/>
                </a:solidFill>
              </a:rPr>
              <a:t>Sistema</a:t>
            </a:r>
            <a:r>
              <a:rPr sz="2600" spc="145" dirty="0">
                <a:solidFill>
                  <a:srgbClr val="000000"/>
                </a:solidFill>
              </a:rPr>
              <a:t> </a:t>
            </a:r>
            <a:r>
              <a:rPr sz="2600" spc="-165" dirty="0">
                <a:solidFill>
                  <a:srgbClr val="000000"/>
                </a:solidFill>
              </a:rPr>
              <a:t>Operativo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678432"/>
            <a:ext cx="861314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000" b="1" spc="-150" dirty="0">
                <a:latin typeface="Arial"/>
                <a:cs typeface="Arial"/>
              </a:rPr>
              <a:t>Proporcionar </a:t>
            </a:r>
            <a:r>
              <a:rPr sz="2000" b="1" spc="-145" dirty="0">
                <a:latin typeface="Arial"/>
                <a:cs typeface="Arial"/>
              </a:rPr>
              <a:t>una </a:t>
            </a:r>
            <a:r>
              <a:rPr sz="2000" b="1" spc="-105" dirty="0">
                <a:latin typeface="Arial"/>
                <a:cs typeface="Arial"/>
              </a:rPr>
              <a:t>interfaz </a:t>
            </a:r>
            <a:r>
              <a:rPr sz="2000" b="1" spc="-130" dirty="0">
                <a:latin typeface="Arial"/>
                <a:cs typeface="Arial"/>
              </a:rPr>
              <a:t>de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135" dirty="0">
                <a:latin typeface="Arial"/>
                <a:cs typeface="Arial"/>
              </a:rPr>
              <a:t>usuario</a:t>
            </a:r>
            <a:r>
              <a:rPr sz="2000" spc="-13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60680" marR="5715">
              <a:lnSpc>
                <a:spcPct val="100000"/>
              </a:lnSpc>
            </a:pPr>
            <a:r>
              <a:rPr sz="2000" spc="-290" dirty="0">
                <a:latin typeface="Arial"/>
                <a:cs typeface="Arial"/>
              </a:rPr>
              <a:t>Es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45" dirty="0">
                <a:latin typeface="Arial"/>
                <a:cs typeface="Arial"/>
              </a:rPr>
              <a:t>parte </a:t>
            </a:r>
            <a:r>
              <a:rPr sz="2000" spc="-55" dirty="0">
                <a:latin typeface="Arial"/>
                <a:cs typeface="Arial"/>
              </a:rPr>
              <a:t>del </a:t>
            </a:r>
            <a:r>
              <a:rPr sz="2000" spc="-100" dirty="0">
                <a:latin typeface="Arial"/>
                <a:cs typeface="Arial"/>
              </a:rPr>
              <a:t>sistema </a:t>
            </a:r>
            <a:r>
              <a:rPr sz="2000" spc="-55" dirty="0">
                <a:latin typeface="Arial"/>
                <a:cs typeface="Arial"/>
              </a:rPr>
              <a:t>operativo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55" dirty="0">
                <a:latin typeface="Arial"/>
                <a:cs typeface="Arial"/>
              </a:rPr>
              <a:t>le </a:t>
            </a:r>
            <a:r>
              <a:rPr sz="2000" spc="-35" dirty="0">
                <a:latin typeface="Arial"/>
                <a:cs typeface="Arial"/>
              </a:rPr>
              <a:t>permite </a:t>
            </a:r>
            <a:r>
              <a:rPr sz="2000" spc="-100" dirty="0">
                <a:latin typeface="Arial"/>
                <a:cs typeface="Arial"/>
              </a:rPr>
              <a:t>comunicarse con éste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100" dirty="0">
                <a:latin typeface="Arial"/>
                <a:cs typeface="Arial"/>
              </a:rPr>
              <a:t>manera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95" dirty="0">
                <a:latin typeface="Arial"/>
                <a:cs typeface="Arial"/>
              </a:rPr>
              <a:t>pueda </a:t>
            </a:r>
            <a:r>
              <a:rPr sz="2000" spc="-114" dirty="0">
                <a:latin typeface="Arial"/>
                <a:cs typeface="Arial"/>
              </a:rPr>
              <a:t>cargar </a:t>
            </a:r>
            <a:r>
              <a:rPr sz="2000" spc="-100" dirty="0">
                <a:latin typeface="Arial"/>
                <a:cs typeface="Arial"/>
              </a:rPr>
              <a:t>programas, </a:t>
            </a:r>
            <a:r>
              <a:rPr sz="2000" spc="-85" dirty="0">
                <a:latin typeface="Arial"/>
                <a:cs typeface="Arial"/>
              </a:rPr>
              <a:t>ingresar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00" dirty="0">
                <a:latin typeface="Arial"/>
                <a:cs typeface="Arial"/>
              </a:rPr>
              <a:t>archivos y </a:t>
            </a:r>
            <a:r>
              <a:rPr sz="2000" spc="-80" dirty="0">
                <a:latin typeface="Arial"/>
                <a:cs typeface="Arial"/>
              </a:rPr>
              <a:t>realizar </a:t>
            </a:r>
            <a:r>
              <a:rPr sz="2000" spc="-70" dirty="0">
                <a:latin typeface="Arial"/>
                <a:cs typeface="Arial"/>
              </a:rPr>
              <a:t>otras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tareas.</a:t>
            </a:r>
            <a:endParaRPr sz="2000">
              <a:latin typeface="Arial"/>
              <a:cs typeface="Arial"/>
            </a:endParaRPr>
          </a:p>
          <a:p>
            <a:pPr marL="360680" indent="-347980">
              <a:lnSpc>
                <a:spcPct val="100000"/>
              </a:lnSpc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000" b="1" spc="-145" dirty="0">
                <a:latin typeface="Arial"/>
                <a:cs typeface="Arial"/>
              </a:rPr>
              <a:t>Administración </a:t>
            </a:r>
            <a:r>
              <a:rPr sz="2000" b="1" spc="-130" dirty="0">
                <a:latin typeface="Arial"/>
                <a:cs typeface="Arial"/>
              </a:rPr>
              <a:t>de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75" dirty="0">
                <a:latin typeface="Arial"/>
                <a:cs typeface="Arial"/>
              </a:rPr>
              <a:t>recursos</a:t>
            </a:r>
            <a:r>
              <a:rPr sz="2000" spc="-17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60680">
              <a:lnSpc>
                <a:spcPct val="100000"/>
              </a:lnSpc>
              <a:tabLst>
                <a:tab pos="1294765" algn="l"/>
                <a:tab pos="1738630" algn="l"/>
                <a:tab pos="2760980" algn="l"/>
                <a:tab pos="3173095" algn="l"/>
                <a:tab pos="4312285" algn="l"/>
                <a:tab pos="4578985" algn="l"/>
                <a:tab pos="4989195" algn="l"/>
                <a:tab pos="6071235" algn="l"/>
                <a:tab pos="6482715" algn="l"/>
                <a:tab pos="6979920" algn="l"/>
                <a:tab pos="7391400" algn="l"/>
                <a:tab pos="7810500" algn="l"/>
              </a:tabLst>
            </a:pPr>
            <a:r>
              <a:rPr sz="2000" spc="-65" dirty="0">
                <a:latin typeface="Arial"/>
                <a:cs typeface="Arial"/>
              </a:rPr>
              <a:t>Ma</a:t>
            </a:r>
            <a:r>
              <a:rPr sz="2000" spc="-45" dirty="0">
                <a:latin typeface="Arial"/>
                <a:cs typeface="Arial"/>
              </a:rPr>
              <a:t>n</a:t>
            </a:r>
            <a:r>
              <a:rPr sz="2000" spc="-80" dirty="0">
                <a:latin typeface="Arial"/>
                <a:cs typeface="Arial"/>
              </a:rPr>
              <a:t>eja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dirty="0">
                <a:latin typeface="Arial"/>
                <a:cs typeface="Arial"/>
              </a:rPr>
              <a:t>	r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105" dirty="0">
                <a:latin typeface="Arial"/>
                <a:cs typeface="Arial"/>
              </a:rPr>
              <a:t>c</a:t>
            </a:r>
            <a:r>
              <a:rPr sz="2000" spc="-110" dirty="0">
                <a:latin typeface="Arial"/>
                <a:cs typeface="Arial"/>
              </a:rPr>
              <a:t>u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spc="-175" dirty="0">
                <a:latin typeface="Arial"/>
                <a:cs typeface="Arial"/>
              </a:rPr>
              <a:t>so</a:t>
            </a:r>
            <a:r>
              <a:rPr sz="2000" spc="-160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105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spc="-40" dirty="0">
                <a:latin typeface="Arial"/>
                <a:cs typeface="Arial"/>
              </a:rPr>
              <a:t>d</a:t>
            </a:r>
            <a:r>
              <a:rPr sz="2000" spc="-70" dirty="0">
                <a:latin typeface="Arial"/>
                <a:cs typeface="Arial"/>
              </a:rPr>
              <a:t>w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2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0" dirty="0">
                <a:latin typeface="Arial"/>
                <a:cs typeface="Arial"/>
              </a:rPr>
              <a:t>y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5" dirty="0">
                <a:latin typeface="Arial"/>
                <a:cs typeface="Arial"/>
              </a:rPr>
              <a:t>d</a:t>
            </a:r>
            <a:r>
              <a:rPr sz="2000" spc="-9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85" dirty="0">
                <a:latin typeface="Arial"/>
                <a:cs typeface="Arial"/>
              </a:rPr>
              <a:t>on</a:t>
            </a:r>
            <a:r>
              <a:rPr sz="2000" spc="-100" dirty="0">
                <a:latin typeface="Arial"/>
                <a:cs typeface="Arial"/>
              </a:rPr>
              <a:t>e</a:t>
            </a:r>
            <a:r>
              <a:rPr sz="2000" spc="-65" dirty="0">
                <a:latin typeface="Arial"/>
                <a:cs typeface="Arial"/>
              </a:rPr>
              <a:t>xió</a:t>
            </a:r>
            <a:r>
              <a:rPr sz="2000" spc="-7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spc="-9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	r</a:t>
            </a:r>
            <a:r>
              <a:rPr sz="2000" spc="-95" dirty="0">
                <a:latin typeface="Arial"/>
                <a:cs typeface="Arial"/>
              </a:rPr>
              <a:t>ed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0" dirty="0">
                <a:latin typeface="Arial"/>
                <a:cs typeface="Arial"/>
              </a:rPr>
              <a:t>u</a:t>
            </a:r>
            <a:r>
              <a:rPr sz="2000" spc="-6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50" dirty="0">
                <a:latin typeface="Arial"/>
                <a:cs typeface="Arial"/>
              </a:rPr>
              <a:t>s</a:t>
            </a:r>
            <a:r>
              <a:rPr sz="2000" spc="-60" dirty="0">
                <a:latin typeface="Arial"/>
                <a:cs typeface="Arial"/>
              </a:rPr>
              <a:t>i</a:t>
            </a:r>
            <a:r>
              <a:rPr sz="2000" spc="-245" dirty="0">
                <a:latin typeface="Arial"/>
                <a:cs typeface="Arial"/>
              </a:rPr>
              <a:t>s</a:t>
            </a:r>
            <a:r>
              <a:rPr sz="2000" spc="9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ema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755" y="3202432"/>
            <a:ext cx="5923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522095" algn="l"/>
                <a:tab pos="1778000" algn="l"/>
                <a:tab pos="2867660" algn="l"/>
                <a:tab pos="3222625" algn="l"/>
                <a:tab pos="3530600" algn="l"/>
                <a:tab pos="3795395" algn="l"/>
                <a:tab pos="4703445" algn="l"/>
              </a:tabLst>
            </a:pP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75" dirty="0">
                <a:latin typeface="Arial"/>
                <a:cs typeface="Arial"/>
              </a:rPr>
              <a:t>omp</a:t>
            </a:r>
            <a:r>
              <a:rPr sz="2000" spc="-55" dirty="0">
                <a:latin typeface="Arial"/>
                <a:cs typeface="Arial"/>
              </a:rPr>
              <a:t>u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55" dirty="0">
                <a:latin typeface="Arial"/>
                <a:cs typeface="Arial"/>
              </a:rPr>
              <a:t>ional,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5" dirty="0">
                <a:latin typeface="Arial"/>
                <a:cs typeface="Arial"/>
              </a:rPr>
              <a:t>inc</a:t>
            </a:r>
            <a:r>
              <a:rPr sz="2000" spc="-25" dirty="0">
                <a:latin typeface="Arial"/>
                <a:cs typeface="Arial"/>
              </a:rPr>
              <a:t>l</a:t>
            </a:r>
            <a:r>
              <a:rPr sz="2000" spc="-85" dirty="0">
                <a:latin typeface="Arial"/>
                <a:cs typeface="Arial"/>
              </a:rPr>
              <a:t>uidos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85" dirty="0">
                <a:latin typeface="Arial"/>
                <a:cs typeface="Arial"/>
              </a:rPr>
              <a:t>CP</a:t>
            </a:r>
            <a:r>
              <a:rPr sz="2000" spc="-320" dirty="0">
                <a:latin typeface="Arial"/>
                <a:cs typeface="Arial"/>
              </a:rPr>
              <a:t>U</a:t>
            </a:r>
            <a:r>
              <a:rPr sz="2000" spc="-60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me</a:t>
            </a:r>
            <a:r>
              <a:rPr sz="2000" spc="-40" dirty="0">
                <a:latin typeface="Arial"/>
                <a:cs typeface="Arial"/>
              </a:rPr>
              <a:t>mo</a:t>
            </a:r>
            <a:r>
              <a:rPr sz="2000" spc="-15" dirty="0">
                <a:latin typeface="Arial"/>
                <a:cs typeface="Arial"/>
              </a:rPr>
              <a:t>r</a:t>
            </a:r>
            <a:r>
              <a:rPr sz="2000" spc="-70" dirty="0">
                <a:latin typeface="Arial"/>
                <a:cs typeface="Arial"/>
              </a:rPr>
              <a:t>ia,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0" dirty="0">
                <a:latin typeface="Arial"/>
                <a:cs typeface="Arial"/>
              </a:rPr>
              <a:t>d</a:t>
            </a:r>
            <a:r>
              <a:rPr sz="2000" spc="-65" dirty="0">
                <a:latin typeface="Arial"/>
                <a:cs typeface="Arial"/>
              </a:rPr>
              <a:t>i</a:t>
            </a:r>
            <a:r>
              <a:rPr sz="2000" spc="-140" dirty="0">
                <a:latin typeface="Arial"/>
                <a:cs typeface="Arial"/>
              </a:rPr>
              <a:t>s</a:t>
            </a:r>
            <a:r>
              <a:rPr sz="2000" spc="-55" dirty="0">
                <a:latin typeface="Arial"/>
                <a:cs typeface="Arial"/>
              </a:rPr>
              <a:t>posi</a:t>
            </a:r>
            <a:r>
              <a:rPr sz="2000" spc="-20" dirty="0">
                <a:latin typeface="Arial"/>
                <a:cs typeface="Arial"/>
              </a:rPr>
              <a:t>t</a:t>
            </a:r>
            <a:r>
              <a:rPr sz="2000" spc="-30" dirty="0">
                <a:latin typeface="Arial"/>
                <a:cs typeface="Arial"/>
              </a:rPr>
              <a:t>i</a:t>
            </a:r>
            <a:r>
              <a:rPr sz="2000" spc="-80" dirty="0">
                <a:latin typeface="Arial"/>
                <a:cs typeface="Arial"/>
              </a:rPr>
              <a:t>v</a:t>
            </a:r>
            <a:r>
              <a:rPr sz="2000" spc="-114" dirty="0">
                <a:latin typeface="Arial"/>
                <a:cs typeface="Arial"/>
              </a:rPr>
              <a:t>os  </a:t>
            </a:r>
            <a:r>
              <a:rPr sz="2000" spc="-85" dirty="0">
                <a:latin typeface="Arial"/>
                <a:cs typeface="Arial"/>
              </a:rPr>
              <a:t>secundario,	</a:t>
            </a:r>
            <a:r>
              <a:rPr sz="2000" spc="-105" dirty="0">
                <a:latin typeface="Arial"/>
                <a:cs typeface="Arial"/>
              </a:rPr>
              <a:t>procesadores	</a:t>
            </a:r>
            <a:r>
              <a:rPr sz="2000" spc="-95" dirty="0">
                <a:latin typeface="Arial"/>
                <a:cs typeface="Arial"/>
              </a:rPr>
              <a:t>de		</a:t>
            </a:r>
            <a:r>
              <a:rPr sz="2000" spc="-85" dirty="0">
                <a:latin typeface="Arial"/>
                <a:cs typeface="Arial"/>
              </a:rPr>
              <a:t>telecomunicaciones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9626" y="3202432"/>
            <a:ext cx="2192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95"/>
              </a:spcBef>
              <a:tabLst>
                <a:tab pos="445770" algn="l"/>
                <a:tab pos="514350" algn="l"/>
                <a:tab pos="1919605" algn="l"/>
              </a:tabLst>
            </a:pPr>
            <a:r>
              <a:rPr sz="2000" spc="-95" dirty="0">
                <a:latin typeface="Arial"/>
                <a:cs typeface="Arial"/>
              </a:rPr>
              <a:t>de	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70" dirty="0">
                <a:latin typeface="Arial"/>
                <a:cs typeface="Arial"/>
              </a:rPr>
              <a:t>lm</a:t>
            </a:r>
            <a:r>
              <a:rPr sz="2000" spc="-65" dirty="0">
                <a:latin typeface="Arial"/>
                <a:cs typeface="Arial"/>
              </a:rPr>
              <a:t>a</a:t>
            </a:r>
            <a:r>
              <a:rPr sz="2000" spc="-110" dirty="0">
                <a:latin typeface="Arial"/>
                <a:cs typeface="Arial"/>
              </a:rPr>
              <a:t>ce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-95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m</a:t>
            </a:r>
            <a:r>
              <a:rPr sz="2000" spc="15" dirty="0">
                <a:latin typeface="Arial"/>
                <a:cs typeface="Arial"/>
              </a:rPr>
              <a:t>i</a:t>
            </a:r>
            <a:r>
              <a:rPr sz="2000" spc="-95" dirty="0">
                <a:latin typeface="Arial"/>
                <a:cs typeface="Arial"/>
              </a:rPr>
              <a:t>e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90" dirty="0">
                <a:latin typeface="Arial"/>
                <a:cs typeface="Arial"/>
              </a:rPr>
              <a:t>t</a:t>
            </a:r>
            <a:r>
              <a:rPr sz="2000" spc="-40" dirty="0">
                <a:latin typeface="Arial"/>
                <a:cs typeface="Arial"/>
              </a:rPr>
              <a:t>o  </a:t>
            </a:r>
            <a:r>
              <a:rPr sz="2000" spc="-100" dirty="0">
                <a:latin typeface="Arial"/>
                <a:cs typeface="Arial"/>
              </a:rPr>
              <a:t>y</a:t>
            </a:r>
            <a:r>
              <a:rPr sz="2000" dirty="0">
                <a:latin typeface="Arial"/>
                <a:cs typeface="Arial"/>
              </a:rPr>
              <a:t>		</a:t>
            </a:r>
            <a:r>
              <a:rPr sz="2000" spc="-65" dirty="0">
                <a:latin typeface="Arial"/>
                <a:cs typeface="Arial"/>
              </a:rPr>
              <a:t>pe</a:t>
            </a:r>
            <a:r>
              <a:rPr sz="2000" spc="-35" dirty="0">
                <a:latin typeface="Arial"/>
                <a:cs typeface="Arial"/>
              </a:rPr>
              <a:t>r</a:t>
            </a:r>
            <a:r>
              <a:rPr sz="2000" spc="30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f</a:t>
            </a:r>
            <a:r>
              <a:rPr sz="2000" spc="-30" dirty="0">
                <a:latin typeface="Arial"/>
                <a:cs typeface="Arial"/>
              </a:rPr>
              <a:t>ér</a:t>
            </a:r>
            <a:r>
              <a:rPr sz="2000" spc="-10" dirty="0">
                <a:latin typeface="Arial"/>
                <a:cs typeface="Arial"/>
              </a:rPr>
              <a:t>i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155" dirty="0">
                <a:latin typeface="Arial"/>
                <a:cs typeface="Arial"/>
              </a:rPr>
              <a:t>o</a:t>
            </a:r>
            <a:r>
              <a:rPr sz="2000" spc="-13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68" y="3811778"/>
            <a:ext cx="8614410" cy="246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latin typeface="Arial"/>
                <a:cs typeface="Arial"/>
              </a:rPr>
              <a:t>entrada/salida.</a:t>
            </a:r>
            <a:endParaRPr sz="2000">
              <a:latin typeface="Arial"/>
              <a:cs typeface="Arial"/>
            </a:endParaRPr>
          </a:p>
          <a:p>
            <a:pPr marL="360680" indent="-347980">
              <a:lnSpc>
                <a:spcPct val="100000"/>
              </a:lnSpc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000" b="1" spc="-145" dirty="0">
                <a:latin typeface="Arial"/>
                <a:cs typeface="Arial"/>
              </a:rPr>
              <a:t>Administración </a:t>
            </a:r>
            <a:r>
              <a:rPr sz="2000" b="1" spc="-130" dirty="0">
                <a:latin typeface="Arial"/>
                <a:cs typeface="Arial"/>
              </a:rPr>
              <a:t>de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archivos</a:t>
            </a:r>
            <a:r>
              <a:rPr sz="2000" spc="-16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60680" marR="5715" algn="just">
              <a:lnSpc>
                <a:spcPct val="100000"/>
              </a:lnSpc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100" dirty="0">
                <a:latin typeface="Arial"/>
                <a:cs typeface="Arial"/>
              </a:rPr>
              <a:t>sistema </a:t>
            </a:r>
            <a:r>
              <a:rPr sz="2000" spc="-75" dirty="0">
                <a:latin typeface="Arial"/>
                <a:cs typeface="Arial"/>
              </a:rPr>
              <a:t>operacional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65" dirty="0">
                <a:latin typeface="Arial"/>
                <a:cs typeface="Arial"/>
              </a:rPr>
              <a:t>contiene </a:t>
            </a:r>
            <a:r>
              <a:rPr sz="2000" spc="-105" dirty="0">
                <a:latin typeface="Arial"/>
                <a:cs typeface="Arial"/>
              </a:rPr>
              <a:t>programas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administración </a:t>
            </a:r>
            <a:r>
              <a:rPr sz="2000" spc="-95" dirty="0">
                <a:latin typeface="Arial"/>
                <a:cs typeface="Arial"/>
              </a:rPr>
              <a:t>de archivos 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55" dirty="0">
                <a:latin typeface="Arial"/>
                <a:cs typeface="Arial"/>
              </a:rPr>
              <a:t>controlan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5" dirty="0">
                <a:latin typeface="Arial"/>
                <a:cs typeface="Arial"/>
              </a:rPr>
              <a:t>creación,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eliminación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145" dirty="0">
                <a:latin typeface="Arial"/>
                <a:cs typeface="Arial"/>
              </a:rPr>
              <a:t>acceso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archivos </a:t>
            </a:r>
            <a:r>
              <a:rPr sz="2000" spc="-90" dirty="0">
                <a:latin typeface="Arial"/>
                <a:cs typeface="Arial"/>
              </a:rPr>
              <a:t>de datos </a:t>
            </a:r>
            <a:r>
              <a:rPr sz="2000" spc="-100" dirty="0">
                <a:latin typeface="Arial"/>
                <a:cs typeface="Arial"/>
              </a:rPr>
              <a:t>y  programas.</a:t>
            </a:r>
            <a:endParaRPr sz="2000">
              <a:latin typeface="Arial"/>
              <a:cs typeface="Arial"/>
            </a:endParaRPr>
          </a:p>
          <a:p>
            <a:pPr marL="360680" indent="-347980">
              <a:lnSpc>
                <a:spcPct val="100000"/>
              </a:lnSpc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000" b="1" spc="-145" dirty="0">
                <a:latin typeface="Arial"/>
                <a:cs typeface="Arial"/>
              </a:rPr>
              <a:t>Administración </a:t>
            </a:r>
            <a:r>
              <a:rPr sz="2000" b="1" spc="-130" dirty="0">
                <a:latin typeface="Arial"/>
                <a:cs typeface="Arial"/>
              </a:rPr>
              <a:t>de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14" dirty="0">
                <a:latin typeface="Arial"/>
                <a:cs typeface="Arial"/>
              </a:rPr>
              <a:t>tareas</a:t>
            </a:r>
            <a:r>
              <a:rPr sz="2000" spc="-114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60680" marR="5080" algn="just">
              <a:lnSpc>
                <a:spcPct val="100000"/>
              </a:lnSpc>
            </a:pP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105" dirty="0">
                <a:latin typeface="Arial"/>
                <a:cs typeface="Arial"/>
              </a:rPr>
              <a:t>programas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administración </a:t>
            </a:r>
            <a:r>
              <a:rPr sz="2000" spc="-95" dirty="0">
                <a:latin typeface="Arial"/>
                <a:cs typeface="Arial"/>
              </a:rPr>
              <a:t>de tareas de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100" dirty="0">
                <a:latin typeface="Arial"/>
                <a:cs typeface="Arial"/>
              </a:rPr>
              <a:t>sistema </a:t>
            </a:r>
            <a:r>
              <a:rPr sz="2000" spc="-55" dirty="0">
                <a:latin typeface="Arial"/>
                <a:cs typeface="Arial"/>
              </a:rPr>
              <a:t>operativo </a:t>
            </a:r>
            <a:r>
              <a:rPr sz="2000" spc="-85" dirty="0">
                <a:latin typeface="Arial"/>
                <a:cs typeface="Arial"/>
              </a:rPr>
              <a:t>manejan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85" dirty="0">
                <a:latin typeface="Arial"/>
                <a:cs typeface="Arial"/>
              </a:rPr>
              <a:t>realización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5" dirty="0">
                <a:latin typeface="Arial"/>
                <a:cs typeface="Arial"/>
              </a:rPr>
              <a:t>tareas </a:t>
            </a:r>
            <a:r>
              <a:rPr sz="2000" spc="-85" dirty="0">
                <a:latin typeface="Arial"/>
                <a:cs typeface="Arial"/>
              </a:rPr>
              <a:t>computacionales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00" dirty="0">
                <a:latin typeface="Arial"/>
                <a:cs typeface="Arial"/>
              </a:rPr>
              <a:t>usuarios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finales.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5641340" cy="233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200" dirty="0">
                <a:latin typeface="Arial"/>
                <a:cs typeface="Arial"/>
              </a:rPr>
              <a:t>Principales </a:t>
            </a:r>
            <a:r>
              <a:rPr sz="2600" b="1" spc="-245" dirty="0">
                <a:latin typeface="Arial"/>
                <a:cs typeface="Arial"/>
              </a:rPr>
              <a:t>Sistemas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190" dirty="0">
                <a:latin typeface="Arial"/>
                <a:cs typeface="Arial"/>
              </a:rPr>
              <a:t>Operativos</a:t>
            </a:r>
            <a:endParaRPr sz="26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56235" algn="l"/>
              </a:tabLst>
            </a:pPr>
            <a:r>
              <a:rPr sz="1800" b="1" spc="-95" dirty="0">
                <a:latin typeface="Arial"/>
                <a:cs typeface="Arial"/>
              </a:rPr>
              <a:t>Microsoft</a:t>
            </a:r>
            <a:r>
              <a:rPr sz="1800" spc="-95" dirty="0">
                <a:latin typeface="Arial"/>
                <a:cs typeface="Arial"/>
              </a:rPr>
              <a:t>: </a:t>
            </a:r>
            <a:r>
              <a:rPr sz="1800" spc="-75" dirty="0">
                <a:latin typeface="Arial"/>
                <a:cs typeface="Arial"/>
              </a:rPr>
              <a:t>Windows </a:t>
            </a:r>
            <a:r>
              <a:rPr sz="1800" spc="-270" dirty="0">
                <a:latin typeface="Arial"/>
                <a:cs typeface="Arial"/>
              </a:rPr>
              <a:t>XP </a:t>
            </a:r>
            <a:r>
              <a:rPr sz="1800" spc="195" dirty="0">
                <a:latin typeface="Arial"/>
                <a:cs typeface="Arial"/>
              </a:rPr>
              <a:t>/ </a:t>
            </a:r>
            <a:r>
              <a:rPr sz="1800" spc="-75" dirty="0">
                <a:latin typeface="Arial"/>
                <a:cs typeface="Arial"/>
              </a:rPr>
              <a:t>Windows </a:t>
            </a:r>
            <a:r>
              <a:rPr sz="1800" spc="-95" dirty="0">
                <a:latin typeface="Arial"/>
                <a:cs typeface="Arial"/>
              </a:rPr>
              <a:t>98 </a:t>
            </a:r>
            <a:r>
              <a:rPr sz="1800" spc="195" dirty="0">
                <a:latin typeface="Arial"/>
                <a:cs typeface="Arial"/>
              </a:rPr>
              <a:t>/ </a:t>
            </a:r>
            <a:r>
              <a:rPr sz="1800" spc="-25" dirty="0">
                <a:latin typeface="Arial"/>
                <a:cs typeface="Arial"/>
              </a:rPr>
              <a:t>Millenium </a:t>
            </a:r>
            <a:r>
              <a:rPr sz="1800" spc="195" dirty="0">
                <a:latin typeface="Arial"/>
                <a:cs typeface="Arial"/>
              </a:rPr>
              <a:t>/  </a:t>
            </a:r>
            <a:r>
              <a:rPr sz="1800" spc="-70" dirty="0">
                <a:latin typeface="Arial"/>
                <a:cs typeface="Arial"/>
              </a:rPr>
              <a:t>Windows </a:t>
            </a:r>
            <a:r>
              <a:rPr sz="1800" spc="-95" dirty="0">
                <a:latin typeface="Arial"/>
                <a:cs typeface="Arial"/>
              </a:rPr>
              <a:t>2000 </a:t>
            </a:r>
            <a:r>
              <a:rPr sz="1800" spc="195" dirty="0">
                <a:latin typeface="Arial"/>
                <a:cs typeface="Arial"/>
              </a:rPr>
              <a:t>/ </a:t>
            </a:r>
            <a:r>
              <a:rPr sz="1800" spc="-70" dirty="0">
                <a:latin typeface="Arial"/>
                <a:cs typeface="Arial"/>
              </a:rPr>
              <a:t>Windows </a:t>
            </a:r>
            <a:r>
              <a:rPr sz="1800" spc="-95" dirty="0">
                <a:latin typeface="Arial"/>
                <a:cs typeface="Arial"/>
              </a:rPr>
              <a:t>Vista </a:t>
            </a:r>
            <a:r>
              <a:rPr sz="1800" spc="195" dirty="0">
                <a:latin typeface="Arial"/>
                <a:cs typeface="Arial"/>
              </a:rPr>
              <a:t>/ </a:t>
            </a:r>
            <a:r>
              <a:rPr sz="1800" spc="-114" dirty="0">
                <a:latin typeface="Arial"/>
                <a:cs typeface="Arial"/>
              </a:rPr>
              <a:t>Windows.NET </a:t>
            </a:r>
            <a:r>
              <a:rPr sz="1800" spc="-100" dirty="0">
                <a:latin typeface="Arial"/>
                <a:cs typeface="Arial"/>
              </a:rPr>
              <a:t>server,  </a:t>
            </a:r>
            <a:r>
              <a:rPr sz="1800" spc="-95" dirty="0">
                <a:latin typeface="Arial"/>
                <a:cs typeface="Arial"/>
              </a:rPr>
              <a:t>sistema </a:t>
            </a:r>
            <a:r>
              <a:rPr sz="1800" spc="-50" dirty="0">
                <a:latin typeface="Arial"/>
                <a:cs typeface="Arial"/>
              </a:rPr>
              <a:t>operativo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80" dirty="0">
                <a:latin typeface="Arial"/>
                <a:cs typeface="Arial"/>
              </a:rPr>
              <a:t>servidores </a:t>
            </a:r>
            <a:r>
              <a:rPr sz="1800" spc="195" dirty="0">
                <a:latin typeface="Arial"/>
                <a:cs typeface="Arial"/>
              </a:rPr>
              <a:t>/ </a:t>
            </a:r>
            <a:r>
              <a:rPr sz="1800" spc="-75" dirty="0">
                <a:latin typeface="Arial"/>
                <a:cs typeface="Arial"/>
              </a:rPr>
              <a:t>Windows </a:t>
            </a:r>
            <a:r>
              <a:rPr sz="1800" spc="-245" dirty="0">
                <a:latin typeface="Arial"/>
                <a:cs typeface="Arial"/>
              </a:rPr>
              <a:t>CE, </a:t>
            </a:r>
            <a:r>
              <a:rPr sz="1800" spc="-75" dirty="0">
                <a:latin typeface="Arial"/>
                <a:cs typeface="Arial"/>
              </a:rPr>
              <a:t>versión  </a:t>
            </a:r>
            <a:r>
              <a:rPr sz="1800" spc="-55" dirty="0">
                <a:latin typeface="Arial"/>
                <a:cs typeface="Arial"/>
              </a:rPr>
              <a:t>corta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Windows </a:t>
            </a:r>
            <a:r>
              <a:rPr sz="1800" spc="-85" dirty="0">
                <a:latin typeface="Arial"/>
                <a:cs typeface="Arial"/>
              </a:rPr>
              <a:t>para </a:t>
            </a:r>
            <a:r>
              <a:rPr sz="1800" spc="-80" dirty="0">
                <a:latin typeface="Arial"/>
                <a:cs typeface="Arial"/>
              </a:rPr>
              <a:t>computadoras </a:t>
            </a:r>
            <a:r>
              <a:rPr sz="1800" spc="-40" dirty="0">
                <a:latin typeface="Arial"/>
                <a:cs typeface="Arial"/>
              </a:rPr>
              <a:t>portátiles </a:t>
            </a:r>
            <a:r>
              <a:rPr sz="1800" spc="-90" dirty="0">
                <a:latin typeface="Arial"/>
                <a:cs typeface="Arial"/>
              </a:rPr>
              <a:t>y  </a:t>
            </a:r>
            <a:r>
              <a:rPr sz="1800" spc="-70" dirty="0">
                <a:latin typeface="Arial"/>
                <a:cs typeface="Arial"/>
              </a:rPr>
              <a:t>dispositivos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comunicación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inalámbricos.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2807715"/>
            <a:ext cx="4156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  <a:tab pos="1065530" algn="l"/>
                <a:tab pos="2043430" algn="l"/>
                <a:tab pos="2618105" algn="l"/>
                <a:tab pos="3164840" algn="l"/>
              </a:tabLst>
            </a:pPr>
            <a:r>
              <a:rPr sz="1800" b="1" spc="-114" dirty="0">
                <a:latin typeface="Arial"/>
                <a:cs typeface="Arial"/>
              </a:rPr>
              <a:t>UNIX:	</a:t>
            </a:r>
            <a:r>
              <a:rPr sz="1800" spc="-55" dirty="0">
                <a:latin typeface="Arial"/>
                <a:cs typeface="Arial"/>
              </a:rPr>
              <a:t>Utilizado	</a:t>
            </a:r>
            <a:r>
              <a:rPr sz="1800" spc="-90" dirty="0">
                <a:latin typeface="Arial"/>
                <a:cs typeface="Arial"/>
              </a:rPr>
              <a:t>para	</a:t>
            </a:r>
            <a:r>
              <a:rPr sz="1800" spc="-215" dirty="0">
                <a:latin typeface="Arial"/>
                <a:cs typeface="Arial"/>
              </a:rPr>
              <a:t>PCs,	</a:t>
            </a:r>
            <a:r>
              <a:rPr sz="1800" spc="-95" dirty="0">
                <a:latin typeface="Arial"/>
                <a:cs typeface="Arial"/>
              </a:rPr>
              <a:t>estaciones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9835" y="2807715"/>
            <a:ext cx="1350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8305" algn="l"/>
                <a:tab pos="1233805" algn="l"/>
              </a:tabLst>
            </a:pPr>
            <a:r>
              <a:rPr sz="1800" spc="-80" dirty="0">
                <a:latin typeface="Arial"/>
                <a:cs typeface="Arial"/>
              </a:rPr>
              <a:t>d</a:t>
            </a:r>
            <a:r>
              <a:rPr sz="1800" spc="-8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55" dirty="0">
                <a:latin typeface="Arial"/>
                <a:cs typeface="Arial"/>
              </a:rPr>
              <a:t>t</a:t>
            </a:r>
            <a:r>
              <a:rPr sz="1800" spc="30" dirty="0">
                <a:latin typeface="Arial"/>
                <a:cs typeface="Arial"/>
              </a:rPr>
              <a:t>r</a:t>
            </a:r>
            <a:r>
              <a:rPr sz="1800" spc="-75" dirty="0">
                <a:latin typeface="Arial"/>
                <a:cs typeface="Arial"/>
              </a:rPr>
              <a:t>abajo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9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servidores </a:t>
            </a:r>
            <a:r>
              <a:rPr spc="-85" dirty="0"/>
              <a:t>de </a:t>
            </a:r>
            <a:r>
              <a:rPr spc="-55" dirty="0"/>
              <a:t>red</a:t>
            </a:r>
            <a:r>
              <a:rPr spc="-110" dirty="0"/>
              <a:t> </a:t>
            </a:r>
            <a:r>
              <a:rPr spc="-55" dirty="0"/>
              <a:t>potentes.</a:t>
            </a: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b="1" spc="-150" dirty="0">
                <a:latin typeface="Arial"/>
                <a:cs typeface="Arial"/>
              </a:rPr>
              <a:t>Linux</a:t>
            </a:r>
            <a:r>
              <a:rPr spc="-150" dirty="0"/>
              <a:t>: </a:t>
            </a:r>
            <a:r>
              <a:rPr spc="-45" dirty="0"/>
              <a:t>alternativa </a:t>
            </a:r>
            <a:r>
              <a:rPr spc="-60" dirty="0"/>
              <a:t>confiable </a:t>
            </a:r>
            <a:r>
              <a:rPr spc="-90" dirty="0"/>
              <a:t>y </a:t>
            </a:r>
            <a:r>
              <a:rPr spc="-45" dirty="0"/>
              <a:t>gratuita </a:t>
            </a:r>
            <a:r>
              <a:rPr spc="-140" dirty="0"/>
              <a:t>a </a:t>
            </a:r>
            <a:r>
              <a:rPr spc="-155" dirty="0"/>
              <a:t>UNIX </a:t>
            </a:r>
            <a:r>
              <a:rPr spc="-90" dirty="0"/>
              <a:t>y </a:t>
            </a:r>
            <a:r>
              <a:rPr spc="-70" dirty="0"/>
              <a:t>Windows  </a:t>
            </a:r>
            <a:r>
              <a:rPr spc="-90" dirty="0"/>
              <a:t>2000, </a:t>
            </a:r>
            <a:r>
              <a:rPr spc="-80" dirty="0"/>
              <a:t>de código </a:t>
            </a:r>
            <a:r>
              <a:rPr spc="-35" dirty="0"/>
              <a:t>fuente </a:t>
            </a:r>
            <a:r>
              <a:rPr spc="-40" dirty="0"/>
              <a:t>abierto, </a:t>
            </a:r>
            <a:r>
              <a:rPr spc="-155" dirty="0"/>
              <a:t>es </a:t>
            </a:r>
            <a:r>
              <a:rPr spc="-85" dirty="0"/>
              <a:t>decir, </a:t>
            </a:r>
            <a:r>
              <a:rPr spc="-75" dirty="0"/>
              <a:t>puede </a:t>
            </a:r>
            <a:r>
              <a:rPr spc="-100" dirty="0"/>
              <a:t>ser  </a:t>
            </a:r>
            <a:r>
              <a:rPr spc="-50" dirty="0"/>
              <a:t>modificado </a:t>
            </a:r>
            <a:r>
              <a:rPr spc="-30" dirty="0"/>
              <a:t>por </a:t>
            </a:r>
            <a:r>
              <a:rPr spc="-75" dirty="0"/>
              <a:t>desarrolladores </a:t>
            </a:r>
            <a:r>
              <a:rPr spc="-80" dirty="0"/>
              <a:t>de </a:t>
            </a:r>
            <a:r>
              <a:rPr spc="-50" dirty="0"/>
              <a:t>software </a:t>
            </a:r>
            <a:r>
              <a:rPr spc="-90" dirty="0"/>
              <a:t>para  </a:t>
            </a:r>
            <a:r>
              <a:rPr spc="-60" dirty="0"/>
              <a:t>reparar </a:t>
            </a:r>
            <a:r>
              <a:rPr spc="-65" dirty="0"/>
              <a:t>errores </a:t>
            </a:r>
            <a:r>
              <a:rPr spc="-55" dirty="0"/>
              <a:t>o efectuar </a:t>
            </a:r>
            <a:r>
              <a:rPr spc="-75" dirty="0"/>
              <a:t>mejoras. </a:t>
            </a:r>
            <a:r>
              <a:rPr spc="-95" dirty="0"/>
              <a:t>No </a:t>
            </a:r>
            <a:r>
              <a:rPr spc="-155" dirty="0"/>
              <a:t>es </a:t>
            </a:r>
            <a:r>
              <a:rPr spc="-60" dirty="0"/>
              <a:t>propiedad </a:t>
            </a:r>
            <a:r>
              <a:rPr spc="-80" dirty="0"/>
              <a:t>de  </a:t>
            </a:r>
            <a:r>
              <a:rPr spc="-100" dirty="0"/>
              <a:t>compañía </a:t>
            </a:r>
            <a:r>
              <a:rPr spc="-55" dirty="0"/>
              <a:t>o </a:t>
            </a:r>
            <a:r>
              <a:rPr spc="-40" dirty="0"/>
              <a:t>individuo</a:t>
            </a:r>
            <a:r>
              <a:rPr spc="-114" dirty="0"/>
              <a:t> </a:t>
            </a:r>
            <a:r>
              <a:rPr spc="-70" dirty="0"/>
              <a:t>alguno.</a:t>
            </a:r>
          </a:p>
          <a:p>
            <a:pPr marL="355600" marR="5715" indent="-342900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b="1" spc="-95" dirty="0">
                <a:latin typeface="Arial"/>
                <a:cs typeface="Arial"/>
              </a:rPr>
              <a:t>OS/2: </a:t>
            </a:r>
            <a:r>
              <a:rPr spc="-160" dirty="0"/>
              <a:t>se </a:t>
            </a:r>
            <a:r>
              <a:rPr spc="-45" dirty="0"/>
              <a:t>utiliza </a:t>
            </a:r>
            <a:r>
              <a:rPr spc="-90" dirty="0"/>
              <a:t>para </a:t>
            </a:r>
            <a:r>
              <a:rPr spc="-85" dirty="0"/>
              <a:t>aplicaciones </a:t>
            </a:r>
            <a:r>
              <a:rPr spc="-80" dirty="0"/>
              <a:t>complejas, </a:t>
            </a:r>
            <a:r>
              <a:rPr spc="-85" dirty="0"/>
              <a:t>de </a:t>
            </a:r>
            <a:r>
              <a:rPr spc="-105" dirty="0"/>
              <a:t>uso  </a:t>
            </a:r>
            <a:r>
              <a:rPr spc="-55" dirty="0"/>
              <a:t>intensivo </a:t>
            </a:r>
            <a:r>
              <a:rPr spc="-80" dirty="0"/>
              <a:t>de </a:t>
            </a:r>
            <a:r>
              <a:rPr spc="-55" dirty="0"/>
              <a:t>memoria o </a:t>
            </a:r>
            <a:r>
              <a:rPr spc="-90" dirty="0"/>
              <a:t>para </a:t>
            </a:r>
            <a:r>
              <a:rPr spc="-75" dirty="0"/>
              <a:t>aquellos </a:t>
            </a:r>
            <a:r>
              <a:rPr spc="-70" dirty="0"/>
              <a:t>que </a:t>
            </a:r>
            <a:r>
              <a:rPr spc="-55" dirty="0"/>
              <a:t>requieren  </a:t>
            </a:r>
            <a:r>
              <a:rPr spc="-65" dirty="0"/>
              <a:t>conectividad </a:t>
            </a:r>
            <a:r>
              <a:rPr spc="-85" dirty="0"/>
              <a:t>de </a:t>
            </a:r>
            <a:r>
              <a:rPr spc="-90" dirty="0"/>
              <a:t>redes, </a:t>
            </a:r>
            <a:r>
              <a:rPr spc="-45" dirty="0"/>
              <a:t>multitareas </a:t>
            </a:r>
            <a:r>
              <a:rPr spc="-55" dirty="0"/>
              <a:t>o </a:t>
            </a:r>
            <a:r>
              <a:rPr spc="-95" dirty="0"/>
              <a:t>programas</a:t>
            </a:r>
            <a:r>
              <a:rPr spc="-150" dirty="0"/>
              <a:t> </a:t>
            </a:r>
            <a:r>
              <a:rPr spc="-100" dirty="0"/>
              <a:t>grandes.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9268" y="5551170"/>
            <a:ext cx="2182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  <a:tab pos="949960" algn="l"/>
                <a:tab pos="1460500" algn="l"/>
              </a:tabLst>
            </a:pPr>
            <a:r>
              <a:rPr sz="1800" b="1" spc="-100" dirty="0">
                <a:latin typeface="Arial"/>
                <a:cs typeface="Arial"/>
              </a:rPr>
              <a:t>Mac	</a:t>
            </a:r>
            <a:r>
              <a:rPr sz="1800" b="1" spc="-185" dirty="0">
                <a:latin typeface="Arial"/>
                <a:cs typeface="Arial"/>
              </a:rPr>
              <a:t>OS</a:t>
            </a:r>
            <a:r>
              <a:rPr sz="1800" spc="-185" dirty="0">
                <a:latin typeface="Arial"/>
                <a:cs typeface="Arial"/>
              </a:rPr>
              <a:t>:	</a:t>
            </a:r>
            <a:r>
              <a:rPr sz="1800" spc="-95" dirty="0">
                <a:latin typeface="Arial"/>
                <a:cs typeface="Arial"/>
              </a:rPr>
              <a:t>sistema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1910" y="5551170"/>
            <a:ext cx="3298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6485" algn="l"/>
                <a:tab pos="1688464" algn="l"/>
                <a:tab pos="2037080" algn="l"/>
              </a:tabLst>
            </a:pPr>
            <a:r>
              <a:rPr sz="1800" spc="-60" dirty="0">
                <a:latin typeface="Arial"/>
                <a:cs typeface="Arial"/>
              </a:rPr>
              <a:t>o</a:t>
            </a:r>
            <a:r>
              <a:rPr sz="1800" spc="-50" dirty="0">
                <a:latin typeface="Arial"/>
                <a:cs typeface="Arial"/>
              </a:rPr>
              <a:t>pe</a:t>
            </a:r>
            <a:r>
              <a:rPr sz="1800" spc="-70" dirty="0">
                <a:latin typeface="Arial"/>
                <a:cs typeface="Arial"/>
              </a:rPr>
              <a:t>r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ti</a:t>
            </a:r>
            <a:r>
              <a:rPr sz="1800" spc="-10" dirty="0">
                <a:latin typeface="Arial"/>
                <a:cs typeface="Arial"/>
              </a:rPr>
              <a:t>v</a:t>
            </a:r>
            <a:r>
              <a:rPr sz="1800" spc="-5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70" dirty="0">
                <a:latin typeface="Arial"/>
                <a:cs typeface="Arial"/>
              </a:rPr>
              <a:t>par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65" dirty="0">
                <a:latin typeface="Arial"/>
                <a:cs typeface="Arial"/>
              </a:rPr>
              <a:t>la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60" dirty="0">
                <a:latin typeface="Arial"/>
                <a:cs typeface="Arial"/>
              </a:rPr>
              <a:t>c</a:t>
            </a:r>
            <a:r>
              <a:rPr sz="1800" spc="-55" dirty="0">
                <a:latin typeface="Arial"/>
                <a:cs typeface="Arial"/>
              </a:rPr>
              <a:t>o</a:t>
            </a:r>
            <a:r>
              <a:rPr sz="1800" spc="-70" dirty="0">
                <a:latin typeface="Arial"/>
                <a:cs typeface="Arial"/>
              </a:rPr>
              <a:t>m</a:t>
            </a:r>
            <a:r>
              <a:rPr sz="1800" spc="-65" dirty="0">
                <a:latin typeface="Arial"/>
                <a:cs typeface="Arial"/>
              </a:rPr>
              <a:t>p</a:t>
            </a:r>
            <a:r>
              <a:rPr sz="1800" spc="-60" dirty="0">
                <a:latin typeface="Arial"/>
                <a:cs typeface="Arial"/>
              </a:rPr>
              <a:t>u</a:t>
            </a:r>
            <a:r>
              <a:rPr sz="1800" spc="70" dirty="0">
                <a:latin typeface="Arial"/>
                <a:cs typeface="Arial"/>
              </a:rPr>
              <a:t>t</a:t>
            </a:r>
            <a:r>
              <a:rPr sz="1800" spc="-100" dirty="0">
                <a:latin typeface="Arial"/>
                <a:cs typeface="Arial"/>
              </a:rPr>
              <a:t>a</a:t>
            </a:r>
            <a:r>
              <a:rPr sz="1800" spc="-95" dirty="0">
                <a:latin typeface="Arial"/>
                <a:cs typeface="Arial"/>
              </a:rPr>
              <a:t>d</a:t>
            </a:r>
            <a:r>
              <a:rPr sz="1800" spc="-20" dirty="0">
                <a:latin typeface="Arial"/>
                <a:cs typeface="Arial"/>
              </a:rPr>
              <a:t>o</a:t>
            </a:r>
            <a:r>
              <a:rPr sz="1800" spc="-45" dirty="0">
                <a:latin typeface="Arial"/>
                <a:cs typeface="Arial"/>
              </a:rPr>
              <a:t>r</a:t>
            </a:r>
            <a:r>
              <a:rPr sz="1800" spc="-14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68" y="5825490"/>
            <a:ext cx="1403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Arial"/>
                <a:cs typeface="Arial"/>
              </a:rPr>
              <a:t>Macintosh.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spc="-240" dirty="0">
                <a:latin typeface="Arial"/>
                <a:cs typeface="Arial"/>
              </a:rPr>
              <a:t>DOS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14566" y="1143000"/>
            <a:ext cx="1569720" cy="13860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94703" y="2778251"/>
            <a:ext cx="2401061" cy="498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09738" y="3546045"/>
            <a:ext cx="904716" cy="1016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81165" y="3505200"/>
            <a:ext cx="1385315" cy="1143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48400" y="4876800"/>
            <a:ext cx="1223772" cy="1223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43800" y="4953000"/>
            <a:ext cx="1175766" cy="111937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998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Software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33780"/>
            <a:ext cx="661924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55" dirty="0">
                <a:solidFill>
                  <a:srgbClr val="000000"/>
                </a:solidFill>
              </a:rPr>
              <a:t>Software </a:t>
            </a:r>
            <a:r>
              <a:rPr sz="2600" spc="-140" dirty="0">
                <a:solidFill>
                  <a:srgbClr val="000000"/>
                </a:solidFill>
              </a:rPr>
              <a:t>del </a:t>
            </a:r>
            <a:r>
              <a:rPr sz="2600" spc="-225" dirty="0">
                <a:solidFill>
                  <a:srgbClr val="000000"/>
                </a:solidFill>
              </a:rPr>
              <a:t>Sistema </a:t>
            </a:r>
            <a:r>
              <a:rPr sz="2600" spc="-155" dirty="0">
                <a:solidFill>
                  <a:srgbClr val="000000"/>
                </a:solidFill>
              </a:rPr>
              <a:t>– </a:t>
            </a:r>
            <a:r>
              <a:rPr sz="2600" spc="-190" dirty="0">
                <a:solidFill>
                  <a:srgbClr val="000000"/>
                </a:solidFill>
              </a:rPr>
              <a:t>Administración </a:t>
            </a:r>
            <a:r>
              <a:rPr sz="2600" spc="-170" dirty="0">
                <a:solidFill>
                  <a:srgbClr val="000000"/>
                </a:solidFill>
              </a:rPr>
              <a:t>de</a:t>
            </a:r>
            <a:r>
              <a:rPr sz="2600" spc="90" dirty="0">
                <a:solidFill>
                  <a:srgbClr val="000000"/>
                </a:solidFill>
              </a:rPr>
              <a:t> </a:t>
            </a:r>
            <a:r>
              <a:rPr sz="2600" spc="-270" dirty="0">
                <a:solidFill>
                  <a:srgbClr val="000000"/>
                </a:solidFill>
              </a:rPr>
              <a:t>Redes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827021"/>
            <a:ext cx="861631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255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</a:tabLst>
            </a:pPr>
            <a:r>
              <a:rPr sz="2400" spc="-80" dirty="0">
                <a:latin typeface="Arial"/>
                <a:cs typeface="Arial"/>
              </a:rPr>
              <a:t>Administran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10" dirty="0">
                <a:latin typeface="Arial"/>
                <a:cs typeface="Arial"/>
              </a:rPr>
              <a:t>flujo </a:t>
            </a:r>
            <a:r>
              <a:rPr sz="2400" spc="-114" dirty="0">
                <a:latin typeface="Arial"/>
                <a:cs typeface="Arial"/>
              </a:rPr>
              <a:t>de </a:t>
            </a:r>
            <a:r>
              <a:rPr sz="2400" spc="-65" dirty="0">
                <a:latin typeface="Arial"/>
                <a:cs typeface="Arial"/>
              </a:rPr>
              <a:t>información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10" dirty="0">
                <a:latin typeface="Arial"/>
                <a:cs typeface="Arial"/>
              </a:rPr>
              <a:t>través de </a:t>
            </a:r>
            <a:r>
              <a:rPr sz="2400" spc="-35" dirty="0">
                <a:latin typeface="Arial"/>
                <a:cs typeface="Arial"/>
              </a:rPr>
              <a:t>Internet, </a:t>
            </a:r>
            <a:r>
              <a:rPr sz="2400" spc="-60" dirty="0">
                <a:latin typeface="Arial"/>
                <a:cs typeface="Arial"/>
              </a:rPr>
              <a:t>intranets,  </a:t>
            </a:r>
            <a:r>
              <a:rPr sz="2400" spc="-85" dirty="0">
                <a:latin typeface="Arial"/>
                <a:cs typeface="Arial"/>
              </a:rPr>
              <a:t>extranets, </a:t>
            </a:r>
            <a:r>
              <a:rPr sz="2400" spc="-215" dirty="0">
                <a:latin typeface="Arial"/>
                <a:cs typeface="Arial"/>
              </a:rPr>
              <a:t>LANs,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WANs.</a:t>
            </a:r>
            <a:endParaRPr sz="2400">
              <a:latin typeface="Arial"/>
              <a:cs typeface="Arial"/>
            </a:endParaRPr>
          </a:p>
          <a:p>
            <a:pPr marL="355600" marR="8890" indent="-342900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2400" spc="-85" dirty="0">
                <a:latin typeface="Arial"/>
                <a:cs typeface="Arial"/>
              </a:rPr>
              <a:t>Interconectan </a:t>
            </a:r>
            <a:r>
              <a:rPr sz="2400" spc="-125" dirty="0">
                <a:latin typeface="Arial"/>
                <a:cs typeface="Arial"/>
              </a:rPr>
              <a:t>estaciones </a:t>
            </a:r>
            <a:r>
              <a:rPr sz="2400" spc="-105" dirty="0">
                <a:latin typeface="Arial"/>
                <a:cs typeface="Arial"/>
              </a:rPr>
              <a:t>de </a:t>
            </a:r>
            <a:r>
              <a:rPr sz="2400" spc="-55" dirty="0">
                <a:latin typeface="Arial"/>
                <a:cs typeface="Arial"/>
              </a:rPr>
              <a:t>trabajo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usuarios </a:t>
            </a:r>
            <a:r>
              <a:rPr sz="2400" spc="-85" dirty="0">
                <a:latin typeface="Arial"/>
                <a:cs typeface="Arial"/>
              </a:rPr>
              <a:t>finales, </a:t>
            </a:r>
            <a:r>
              <a:rPr sz="2400" spc="-100" dirty="0">
                <a:latin typeface="Arial"/>
                <a:cs typeface="Arial"/>
              </a:rPr>
              <a:t>servidores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red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60" dirty="0">
                <a:latin typeface="Arial"/>
                <a:cs typeface="Arial"/>
              </a:rPr>
              <a:t>otros </a:t>
            </a:r>
            <a:r>
              <a:rPr sz="2400" spc="-140" dirty="0">
                <a:latin typeface="Arial"/>
                <a:cs typeface="Arial"/>
              </a:rPr>
              <a:t>sistemas</a:t>
            </a:r>
            <a:r>
              <a:rPr sz="2400" spc="-2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computacionales.</a:t>
            </a:r>
            <a:endParaRPr sz="24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2400" spc="-165" dirty="0">
                <a:latin typeface="Arial"/>
                <a:cs typeface="Arial"/>
              </a:rPr>
              <a:t>Realizan </a:t>
            </a:r>
            <a:r>
              <a:rPr sz="2400" spc="-114" dirty="0">
                <a:latin typeface="Arial"/>
                <a:cs typeface="Arial"/>
              </a:rPr>
              <a:t>tareas </a:t>
            </a:r>
            <a:r>
              <a:rPr sz="2400" spc="-95" dirty="0">
                <a:latin typeface="Arial"/>
                <a:cs typeface="Arial"/>
              </a:rPr>
              <a:t>tales </a:t>
            </a:r>
            <a:r>
              <a:rPr sz="2400" spc="-114" dirty="0">
                <a:latin typeface="Arial"/>
                <a:cs typeface="Arial"/>
              </a:rPr>
              <a:t>como </a:t>
            </a:r>
            <a:r>
              <a:rPr sz="2400" spc="-95" dirty="0">
                <a:latin typeface="Arial"/>
                <a:cs typeface="Arial"/>
              </a:rPr>
              <a:t>revisar </a:t>
            </a:r>
            <a:r>
              <a:rPr sz="2400" spc="-75" dirty="0">
                <a:latin typeface="Arial"/>
                <a:cs typeface="Arial"/>
              </a:rPr>
              <a:t>automáticamente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409" dirty="0">
                <a:latin typeface="Arial"/>
                <a:cs typeface="Arial"/>
              </a:rPr>
              <a:t>PC </a:t>
            </a:r>
            <a:r>
              <a:rPr sz="2400" spc="-65" dirty="0">
                <a:latin typeface="Arial"/>
                <a:cs typeface="Arial"/>
              </a:rPr>
              <a:t>cliente 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75" dirty="0">
                <a:latin typeface="Arial"/>
                <a:cs typeface="Arial"/>
              </a:rPr>
              <a:t>terminales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video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75" dirty="0">
                <a:latin typeface="Arial"/>
                <a:cs typeface="Arial"/>
              </a:rPr>
              <a:t>actividad entrada/salida, </a:t>
            </a:r>
            <a:r>
              <a:rPr sz="2400" spc="-125" dirty="0">
                <a:latin typeface="Arial"/>
                <a:cs typeface="Arial"/>
              </a:rPr>
              <a:t>asignando  </a:t>
            </a:r>
            <a:r>
              <a:rPr sz="2400" spc="-75" dirty="0">
                <a:latin typeface="Arial"/>
                <a:cs typeface="Arial"/>
              </a:rPr>
              <a:t>prioridades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85" dirty="0">
                <a:latin typeface="Arial"/>
                <a:cs typeface="Arial"/>
              </a:rPr>
              <a:t>solicitudes </a:t>
            </a:r>
            <a:r>
              <a:rPr sz="2400" spc="-105" dirty="0">
                <a:latin typeface="Arial"/>
                <a:cs typeface="Arial"/>
              </a:rPr>
              <a:t>de </a:t>
            </a:r>
            <a:r>
              <a:rPr sz="2400" spc="-120" dirty="0">
                <a:latin typeface="Arial"/>
                <a:cs typeface="Arial"/>
              </a:rPr>
              <a:t>comunicaciones </a:t>
            </a:r>
            <a:r>
              <a:rPr sz="2400" spc="-105" dirty="0">
                <a:latin typeface="Arial"/>
                <a:cs typeface="Arial"/>
              </a:rPr>
              <a:t>de datos de  </a:t>
            </a:r>
            <a:r>
              <a:rPr sz="2400" spc="-90" dirty="0">
                <a:latin typeface="Arial"/>
                <a:cs typeface="Arial"/>
              </a:rPr>
              <a:t>clientes 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terminales.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67400" y="4724400"/>
            <a:ext cx="3000755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998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Software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33780"/>
            <a:ext cx="34677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55" dirty="0">
                <a:solidFill>
                  <a:srgbClr val="000000"/>
                </a:solidFill>
              </a:rPr>
              <a:t>Software </a:t>
            </a:r>
            <a:r>
              <a:rPr sz="2600" spc="-170" dirty="0">
                <a:solidFill>
                  <a:srgbClr val="000000"/>
                </a:solidFill>
              </a:rPr>
              <a:t>de</a:t>
            </a:r>
            <a:r>
              <a:rPr sz="2600" spc="-150" dirty="0">
                <a:solidFill>
                  <a:srgbClr val="000000"/>
                </a:solidFill>
              </a:rPr>
              <a:t> </a:t>
            </a:r>
            <a:r>
              <a:rPr sz="2600" spc="-220" dirty="0">
                <a:solidFill>
                  <a:srgbClr val="000000"/>
                </a:solidFill>
              </a:rPr>
              <a:t>Aplicaciones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827021"/>
            <a:ext cx="861504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marR="5080" indent="-28257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95910" algn="l"/>
              </a:tabLst>
            </a:pPr>
            <a:r>
              <a:rPr sz="2400" spc="-160" dirty="0">
                <a:latin typeface="Arial"/>
                <a:cs typeface="Arial"/>
              </a:rPr>
              <a:t>Gran </a:t>
            </a:r>
            <a:r>
              <a:rPr sz="2400" spc="-55" dirty="0">
                <a:latin typeface="Arial"/>
                <a:cs typeface="Arial"/>
              </a:rPr>
              <a:t>parte </a:t>
            </a:r>
            <a:r>
              <a:rPr sz="2400" spc="-70" dirty="0">
                <a:latin typeface="Arial"/>
                <a:cs typeface="Arial"/>
              </a:rPr>
              <a:t>del software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60" dirty="0">
                <a:latin typeface="Arial"/>
                <a:cs typeface="Arial"/>
              </a:rPr>
              <a:t>utiliza </a:t>
            </a:r>
            <a:r>
              <a:rPr sz="2400" spc="-80" dirty="0">
                <a:latin typeface="Arial"/>
                <a:cs typeface="Arial"/>
              </a:rPr>
              <a:t>actualmente </a:t>
            </a:r>
            <a:r>
              <a:rPr sz="2400" spc="-105" dirty="0">
                <a:latin typeface="Arial"/>
                <a:cs typeface="Arial"/>
              </a:rPr>
              <a:t>en </a:t>
            </a:r>
            <a:r>
              <a:rPr sz="2400" spc="-145" dirty="0">
                <a:latin typeface="Arial"/>
                <a:cs typeface="Arial"/>
              </a:rPr>
              <a:t>las empresas  </a:t>
            </a:r>
            <a:r>
              <a:rPr sz="2400" spc="-75" dirty="0">
                <a:latin typeface="Arial"/>
                <a:cs typeface="Arial"/>
              </a:rPr>
              <a:t>no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105" dirty="0">
                <a:latin typeface="Arial"/>
                <a:cs typeface="Arial"/>
              </a:rPr>
              <a:t>programa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90" dirty="0">
                <a:latin typeface="Arial"/>
                <a:cs typeface="Arial"/>
              </a:rPr>
              <a:t>medida, </a:t>
            </a:r>
            <a:r>
              <a:rPr sz="2400" spc="-105" dirty="0">
                <a:latin typeface="Arial"/>
                <a:cs typeface="Arial"/>
              </a:rPr>
              <a:t>sino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25" dirty="0">
                <a:latin typeface="Arial"/>
                <a:cs typeface="Arial"/>
              </a:rPr>
              <a:t>consta </a:t>
            </a:r>
            <a:r>
              <a:rPr sz="2400" spc="-110" dirty="0">
                <a:latin typeface="Arial"/>
                <a:cs typeface="Arial"/>
              </a:rPr>
              <a:t>de paquetes </a:t>
            </a:r>
            <a:r>
              <a:rPr sz="2400" spc="-114" dirty="0">
                <a:latin typeface="Arial"/>
                <a:cs typeface="Arial"/>
              </a:rPr>
              <a:t>de  </a:t>
            </a:r>
            <a:r>
              <a:rPr sz="2400" spc="-70" dirty="0">
                <a:latin typeface="Arial"/>
                <a:cs typeface="Arial"/>
              </a:rPr>
              <a:t>software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aplicaciones y </a:t>
            </a:r>
            <a:r>
              <a:rPr sz="2400" spc="-90" dirty="0">
                <a:latin typeface="Arial"/>
                <a:cs typeface="Arial"/>
              </a:rPr>
              <a:t>herramientas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productividad.</a:t>
            </a:r>
            <a:endParaRPr sz="2400">
              <a:latin typeface="Arial"/>
              <a:cs typeface="Arial"/>
            </a:endParaRPr>
          </a:p>
          <a:p>
            <a:pPr marL="295275" marR="5080" indent="-282575" algn="just">
              <a:lnSpc>
                <a:spcPct val="100000"/>
              </a:lnSpc>
              <a:buChar char="•"/>
              <a:tabLst>
                <a:tab pos="295910" algn="l"/>
              </a:tabLst>
            </a:pPr>
            <a:r>
              <a:rPr sz="2400" spc="-135" dirty="0">
                <a:latin typeface="Arial"/>
                <a:cs typeface="Arial"/>
              </a:rPr>
              <a:t>Un </a:t>
            </a:r>
            <a:r>
              <a:rPr sz="2400" spc="-90" dirty="0">
                <a:latin typeface="Arial"/>
                <a:cs typeface="Arial"/>
              </a:rPr>
              <a:t>paquete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0" dirty="0">
                <a:latin typeface="Arial"/>
                <a:cs typeface="Arial"/>
              </a:rPr>
              <a:t>software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75" dirty="0">
                <a:latin typeface="Arial"/>
                <a:cs typeface="Arial"/>
              </a:rPr>
              <a:t>un </a:t>
            </a:r>
            <a:r>
              <a:rPr sz="2400" spc="-60" dirty="0">
                <a:latin typeface="Arial"/>
                <a:cs typeface="Arial"/>
              </a:rPr>
              <a:t>conjunto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5" dirty="0">
                <a:latin typeface="Arial"/>
                <a:cs typeface="Arial"/>
              </a:rPr>
              <a:t>programas </a:t>
            </a:r>
            <a:r>
              <a:rPr sz="2400" spc="-90" dirty="0">
                <a:latin typeface="Arial"/>
                <a:cs typeface="Arial"/>
              </a:rPr>
              <a:t>pre-escritos,  </a:t>
            </a:r>
            <a:r>
              <a:rPr sz="2400" spc="-95" dirty="0">
                <a:latin typeface="Arial"/>
                <a:cs typeface="Arial"/>
              </a:rPr>
              <a:t>pre-codificados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95" dirty="0">
                <a:latin typeface="Arial"/>
                <a:cs typeface="Arial"/>
              </a:rPr>
              <a:t>disponibles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comercialmente.</a:t>
            </a:r>
            <a:endParaRPr sz="2400">
              <a:latin typeface="Arial"/>
              <a:cs typeface="Arial"/>
            </a:endParaRPr>
          </a:p>
          <a:p>
            <a:pPr marL="295275" marR="6350" indent="-282575" algn="just">
              <a:lnSpc>
                <a:spcPct val="100000"/>
              </a:lnSpc>
              <a:buChar char="•"/>
              <a:tabLst>
                <a:tab pos="295910" algn="l"/>
              </a:tabLst>
            </a:pPr>
            <a:r>
              <a:rPr sz="2400" spc="-110" dirty="0">
                <a:latin typeface="Arial"/>
                <a:cs typeface="Arial"/>
              </a:rPr>
              <a:t>Comúnmente,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10" dirty="0">
                <a:latin typeface="Arial"/>
                <a:cs typeface="Arial"/>
              </a:rPr>
              <a:t>paquetes de </a:t>
            </a:r>
            <a:r>
              <a:rPr sz="2400" spc="-65" dirty="0">
                <a:latin typeface="Arial"/>
                <a:cs typeface="Arial"/>
              </a:rPr>
              <a:t>software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80" dirty="0">
                <a:latin typeface="Arial"/>
                <a:cs typeface="Arial"/>
              </a:rPr>
              <a:t>corren </a:t>
            </a:r>
            <a:r>
              <a:rPr sz="2400" spc="-110" dirty="0">
                <a:latin typeface="Arial"/>
                <a:cs typeface="Arial"/>
              </a:rPr>
              <a:t>en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i="1" spc="-110" dirty="0">
                <a:latin typeface="Trebuchet MS"/>
                <a:cs typeface="Trebuchet MS"/>
              </a:rPr>
              <a:t>mainframes  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spc="43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computadoras </a:t>
            </a:r>
            <a:r>
              <a:rPr sz="2400" spc="-180" dirty="0">
                <a:latin typeface="Arial"/>
                <a:cs typeface="Arial"/>
              </a:rPr>
              <a:t>más </a:t>
            </a:r>
            <a:r>
              <a:rPr sz="2400" spc="-130" dirty="0">
                <a:latin typeface="Arial"/>
                <a:cs typeface="Arial"/>
              </a:rPr>
              <a:t>grandes, </a:t>
            </a:r>
            <a:r>
              <a:rPr sz="2400" spc="-70" dirty="0">
                <a:latin typeface="Arial"/>
                <a:cs typeface="Arial"/>
              </a:rPr>
              <a:t>requieren </a:t>
            </a:r>
            <a:r>
              <a:rPr sz="2400" spc="-110" dirty="0">
                <a:latin typeface="Arial"/>
                <a:cs typeface="Arial"/>
              </a:rPr>
              <a:t>de programadores  </a:t>
            </a:r>
            <a:r>
              <a:rPr sz="2400" spc="-100" dirty="0">
                <a:latin typeface="Arial"/>
                <a:cs typeface="Arial"/>
              </a:rPr>
              <a:t>profesionales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175" dirty="0">
                <a:latin typeface="Arial"/>
                <a:cs typeface="Arial"/>
              </a:rPr>
              <a:t>su </a:t>
            </a:r>
            <a:r>
              <a:rPr sz="2400" spc="-85" dirty="0">
                <a:latin typeface="Arial"/>
                <a:cs typeface="Arial"/>
              </a:rPr>
              <a:t>instalación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75" dirty="0">
                <a:latin typeface="Arial"/>
                <a:cs typeface="Arial"/>
              </a:rPr>
              <a:t>soporte. </a:t>
            </a:r>
            <a:r>
              <a:rPr sz="2400" spc="-190" dirty="0">
                <a:latin typeface="Arial"/>
                <a:cs typeface="Arial"/>
              </a:rPr>
              <a:t>Sin </a:t>
            </a:r>
            <a:r>
              <a:rPr sz="2400" spc="-114" dirty="0">
                <a:latin typeface="Arial"/>
                <a:cs typeface="Arial"/>
              </a:rPr>
              <a:t>embargo, </a:t>
            </a:r>
            <a:r>
              <a:rPr sz="2400" spc="-65" dirty="0">
                <a:latin typeface="Arial"/>
                <a:cs typeface="Arial"/>
              </a:rPr>
              <a:t>también  </a:t>
            </a:r>
            <a:r>
              <a:rPr sz="2400" spc="-105" dirty="0">
                <a:latin typeface="Arial"/>
                <a:cs typeface="Arial"/>
              </a:rPr>
              <a:t>existen </a:t>
            </a:r>
            <a:r>
              <a:rPr sz="2400" spc="-110" dirty="0">
                <a:latin typeface="Arial"/>
                <a:cs typeface="Arial"/>
              </a:rPr>
              <a:t>paquetes </a:t>
            </a:r>
            <a:r>
              <a:rPr sz="2400" spc="-105" dirty="0">
                <a:latin typeface="Arial"/>
                <a:cs typeface="Arial"/>
              </a:rPr>
              <a:t>de </a:t>
            </a:r>
            <a:r>
              <a:rPr sz="2400" spc="-70" dirty="0">
                <a:latin typeface="Arial"/>
                <a:cs typeface="Arial"/>
              </a:rPr>
              <a:t>software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aplicaciones </a:t>
            </a:r>
            <a:r>
              <a:rPr sz="2400" spc="-105" dirty="0">
                <a:latin typeface="Arial"/>
                <a:cs typeface="Arial"/>
              </a:rPr>
              <a:t>desarrollados  </a:t>
            </a:r>
            <a:r>
              <a:rPr sz="2400" spc="-85" dirty="0">
                <a:latin typeface="Arial"/>
                <a:cs typeface="Arial"/>
              </a:rPr>
              <a:t>explícitamente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114" dirty="0">
                <a:latin typeface="Arial"/>
                <a:cs typeface="Arial"/>
              </a:rPr>
              <a:t>usuarios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finales.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998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Software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33780"/>
            <a:ext cx="566674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600" spc="-155" dirty="0">
                <a:solidFill>
                  <a:srgbClr val="000000"/>
                </a:solidFill>
              </a:rPr>
              <a:t>Software </a:t>
            </a:r>
            <a:r>
              <a:rPr sz="2600" spc="-170" dirty="0">
                <a:solidFill>
                  <a:srgbClr val="000000"/>
                </a:solidFill>
              </a:rPr>
              <a:t>de </a:t>
            </a:r>
            <a:r>
              <a:rPr sz="2600" spc="-220" dirty="0">
                <a:solidFill>
                  <a:srgbClr val="000000"/>
                </a:solidFill>
              </a:rPr>
              <a:t>Aplicaciones </a:t>
            </a:r>
            <a:r>
              <a:rPr sz="2600" spc="-155" dirty="0">
                <a:solidFill>
                  <a:srgbClr val="000000"/>
                </a:solidFill>
              </a:rPr>
              <a:t>– </a:t>
            </a:r>
            <a:r>
              <a:rPr sz="2600" spc="-235" dirty="0">
                <a:solidFill>
                  <a:srgbClr val="000000"/>
                </a:solidFill>
              </a:rPr>
              <a:t>Programas </a:t>
            </a:r>
            <a:r>
              <a:rPr sz="2600" spc="-170" dirty="0">
                <a:solidFill>
                  <a:srgbClr val="000000"/>
                </a:solidFill>
              </a:rPr>
              <a:t>de  </a:t>
            </a:r>
            <a:r>
              <a:rPr sz="2600" spc="-195" dirty="0">
                <a:solidFill>
                  <a:srgbClr val="000000"/>
                </a:solidFill>
              </a:rPr>
              <a:t>aplicación </a:t>
            </a:r>
            <a:r>
              <a:rPr sz="2600" spc="-170" dirty="0">
                <a:solidFill>
                  <a:srgbClr val="000000"/>
                </a:solidFill>
              </a:rPr>
              <a:t>de </a:t>
            </a:r>
            <a:r>
              <a:rPr sz="2600" spc="-175" dirty="0">
                <a:solidFill>
                  <a:srgbClr val="000000"/>
                </a:solidFill>
              </a:rPr>
              <a:t>propósito</a:t>
            </a:r>
            <a:r>
              <a:rPr sz="2600" spc="5" dirty="0">
                <a:solidFill>
                  <a:srgbClr val="000000"/>
                </a:solidFill>
              </a:rPr>
              <a:t> </a:t>
            </a:r>
            <a:r>
              <a:rPr sz="2600" spc="-185" dirty="0">
                <a:solidFill>
                  <a:srgbClr val="000000"/>
                </a:solidFill>
              </a:rPr>
              <a:t>general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2223261"/>
            <a:ext cx="587057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65" dirty="0">
                <a:latin typeface="Arial"/>
                <a:cs typeface="Arial"/>
              </a:rPr>
              <a:t>Realizan </a:t>
            </a:r>
            <a:r>
              <a:rPr sz="2400" spc="-114" dirty="0">
                <a:latin typeface="Arial"/>
                <a:cs typeface="Arial"/>
              </a:rPr>
              <a:t>tareas </a:t>
            </a:r>
            <a:r>
              <a:rPr sz="2400" spc="-135" dirty="0">
                <a:latin typeface="Arial"/>
                <a:cs typeface="Arial"/>
              </a:rPr>
              <a:t>comunes </a:t>
            </a:r>
            <a:r>
              <a:rPr sz="2400" spc="-105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procesamiento </a:t>
            </a:r>
            <a:r>
              <a:rPr sz="2400" spc="-114" dirty="0">
                <a:latin typeface="Arial"/>
                <a:cs typeface="Arial"/>
              </a:rPr>
              <a:t>de  </a:t>
            </a:r>
            <a:r>
              <a:rPr sz="2400" spc="-65" dirty="0">
                <a:latin typeface="Arial"/>
                <a:cs typeface="Arial"/>
              </a:rPr>
              <a:t>información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114" dirty="0">
                <a:latin typeface="Arial"/>
                <a:cs typeface="Arial"/>
              </a:rPr>
              <a:t>usuarios </a:t>
            </a:r>
            <a:r>
              <a:rPr sz="2400" spc="-80" dirty="0">
                <a:latin typeface="Arial"/>
                <a:cs typeface="Arial"/>
              </a:rPr>
              <a:t>finales. </a:t>
            </a:r>
            <a:r>
              <a:rPr sz="2400" spc="-265" dirty="0">
                <a:latin typeface="Arial"/>
                <a:cs typeface="Arial"/>
              </a:rPr>
              <a:t>Las  </a:t>
            </a:r>
            <a:r>
              <a:rPr sz="2400" spc="-114" dirty="0">
                <a:latin typeface="Arial"/>
                <a:cs typeface="Arial"/>
              </a:rPr>
              <a:t>aplicaciones y </a:t>
            </a:r>
            <a:r>
              <a:rPr sz="2400" spc="-90" dirty="0">
                <a:latin typeface="Arial"/>
                <a:cs typeface="Arial"/>
              </a:rPr>
              <a:t>herramientas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0" dirty="0">
                <a:latin typeface="Arial"/>
                <a:cs typeface="Arial"/>
              </a:rPr>
              <a:t>software </a:t>
            </a:r>
            <a:r>
              <a:rPr sz="2400" spc="-105" dirty="0">
                <a:latin typeface="Arial"/>
                <a:cs typeface="Arial"/>
              </a:rPr>
              <a:t>de  </a:t>
            </a:r>
            <a:r>
              <a:rPr sz="2400" spc="-100" dirty="0">
                <a:latin typeface="Arial"/>
                <a:cs typeface="Arial"/>
              </a:rPr>
              <a:t>mayor </a:t>
            </a:r>
            <a:r>
              <a:rPr sz="2400" spc="-140" dirty="0">
                <a:latin typeface="Arial"/>
                <a:cs typeface="Arial"/>
              </a:rPr>
              <a:t>uso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son: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3755" y="5278373"/>
            <a:ext cx="6953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5925" algn="l"/>
              </a:tabLst>
            </a:pPr>
            <a:r>
              <a:rPr sz="1600" spc="-110" dirty="0">
                <a:latin typeface="Arial"/>
                <a:cs typeface="Arial"/>
              </a:rPr>
              <a:t>(Ej</a:t>
            </a:r>
            <a:r>
              <a:rPr sz="1600" spc="-45" dirty="0">
                <a:latin typeface="Arial"/>
                <a:cs typeface="Arial"/>
              </a:rPr>
              <a:t>.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160" dirty="0">
                <a:latin typeface="Arial"/>
                <a:cs typeface="Arial"/>
              </a:rPr>
              <a:t>MS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68" y="4059173"/>
            <a:ext cx="505714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  <a:tab pos="245110" algn="l"/>
              </a:tabLst>
            </a:pPr>
            <a:r>
              <a:rPr sz="1600" spc="-65" dirty="0">
                <a:latin typeface="Arial"/>
                <a:cs typeface="Arial"/>
              </a:rPr>
              <a:t>Software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procesamiento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30" dirty="0">
                <a:latin typeface="Arial"/>
                <a:cs typeface="Arial"/>
              </a:rPr>
              <a:t>texto </a:t>
            </a:r>
            <a:r>
              <a:rPr sz="1600" spc="-90" dirty="0">
                <a:latin typeface="Arial"/>
                <a:cs typeface="Arial"/>
              </a:rPr>
              <a:t>(Ej. </a:t>
            </a:r>
            <a:r>
              <a:rPr sz="1600" spc="-150" dirty="0">
                <a:latin typeface="Arial"/>
                <a:cs typeface="Arial"/>
              </a:rPr>
              <a:t>MS </a:t>
            </a:r>
            <a:r>
              <a:rPr sz="1600" spc="-65" dirty="0">
                <a:latin typeface="Arial"/>
                <a:cs typeface="Arial"/>
              </a:rPr>
              <a:t>Word)</a:t>
            </a:r>
            <a:endParaRPr sz="1600">
              <a:latin typeface="Arial"/>
              <a:cs typeface="Arial"/>
            </a:endParaRPr>
          </a:p>
          <a:p>
            <a:pPr marL="244475" indent="-231775">
              <a:lnSpc>
                <a:spcPct val="100000"/>
              </a:lnSpc>
              <a:buChar char="•"/>
              <a:tabLst>
                <a:tab pos="244475" algn="l"/>
                <a:tab pos="245110" algn="l"/>
              </a:tabLst>
            </a:pPr>
            <a:r>
              <a:rPr sz="1600" spc="-100" dirty="0">
                <a:latin typeface="Arial"/>
                <a:cs typeface="Arial"/>
              </a:rPr>
              <a:t>Hojas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cálculo </a:t>
            </a:r>
            <a:r>
              <a:rPr sz="1600" spc="-90" dirty="0">
                <a:latin typeface="Arial"/>
                <a:cs typeface="Arial"/>
              </a:rPr>
              <a:t>(Ej. </a:t>
            </a:r>
            <a:r>
              <a:rPr sz="1600" spc="-114" dirty="0">
                <a:latin typeface="Arial"/>
                <a:cs typeface="Arial"/>
              </a:rPr>
              <a:t>Excel, </a:t>
            </a:r>
            <a:r>
              <a:rPr sz="1600" spc="-85" dirty="0">
                <a:latin typeface="Arial"/>
                <a:cs typeface="Arial"/>
              </a:rPr>
              <a:t>Lotus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1-2-3)</a:t>
            </a:r>
            <a:endParaRPr sz="1600">
              <a:latin typeface="Arial"/>
              <a:cs typeface="Arial"/>
            </a:endParaRPr>
          </a:p>
          <a:p>
            <a:pPr marL="244475" indent="-231775">
              <a:lnSpc>
                <a:spcPct val="100000"/>
              </a:lnSpc>
              <a:buChar char="•"/>
              <a:tabLst>
                <a:tab pos="244475" algn="l"/>
                <a:tab pos="245110" algn="l"/>
              </a:tabLst>
            </a:pPr>
            <a:r>
              <a:rPr sz="1600" spc="-65" dirty="0">
                <a:latin typeface="Arial"/>
                <a:cs typeface="Arial"/>
              </a:rPr>
              <a:t>Software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administración </a:t>
            </a:r>
            <a:r>
              <a:rPr sz="1600" spc="-75" dirty="0">
                <a:latin typeface="Arial"/>
                <a:cs typeface="Arial"/>
              </a:rPr>
              <a:t>de datos </a:t>
            </a:r>
            <a:r>
              <a:rPr sz="1600" spc="-90" dirty="0">
                <a:latin typeface="Arial"/>
                <a:cs typeface="Arial"/>
              </a:rPr>
              <a:t>(Ej.</a:t>
            </a:r>
            <a:r>
              <a:rPr sz="1600" spc="-125" dirty="0">
                <a:latin typeface="Arial"/>
                <a:cs typeface="Arial"/>
              </a:rPr>
              <a:t> </a:t>
            </a:r>
            <a:r>
              <a:rPr sz="1600" spc="-130" dirty="0">
                <a:latin typeface="Arial"/>
                <a:cs typeface="Arial"/>
              </a:rPr>
              <a:t>Access)</a:t>
            </a:r>
            <a:endParaRPr sz="1600">
              <a:latin typeface="Arial"/>
              <a:cs typeface="Arial"/>
            </a:endParaRPr>
          </a:p>
          <a:p>
            <a:pPr marL="244475" indent="-231775">
              <a:lnSpc>
                <a:spcPct val="100000"/>
              </a:lnSpc>
              <a:buChar char="•"/>
              <a:tabLst>
                <a:tab pos="244475" algn="l"/>
                <a:tab pos="245110" algn="l"/>
              </a:tabLst>
            </a:pPr>
            <a:r>
              <a:rPr sz="1600" spc="-65" dirty="0">
                <a:latin typeface="Arial"/>
                <a:cs typeface="Arial"/>
              </a:rPr>
              <a:t>Software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80" dirty="0">
                <a:latin typeface="Arial"/>
                <a:cs typeface="Arial"/>
              </a:rPr>
              <a:t>gráficos para </a:t>
            </a:r>
            <a:r>
              <a:rPr sz="1600" spc="-75" dirty="0">
                <a:latin typeface="Arial"/>
                <a:cs typeface="Arial"/>
              </a:rPr>
              <a:t>presentaciones </a:t>
            </a:r>
            <a:r>
              <a:rPr sz="1600" spc="-90" dirty="0">
                <a:latin typeface="Arial"/>
                <a:cs typeface="Arial"/>
              </a:rPr>
              <a:t>(Ej.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PowerPoint)</a:t>
            </a:r>
            <a:endParaRPr sz="1600">
              <a:latin typeface="Arial"/>
              <a:cs typeface="Arial"/>
            </a:endParaRPr>
          </a:p>
          <a:p>
            <a:pPr marL="244475" indent="-231775">
              <a:lnSpc>
                <a:spcPct val="100000"/>
              </a:lnSpc>
              <a:buChar char="•"/>
              <a:tabLst>
                <a:tab pos="244475" algn="l"/>
                <a:tab pos="245110" algn="l"/>
              </a:tabLst>
            </a:pPr>
            <a:r>
              <a:rPr sz="1600" spc="-65" dirty="0">
                <a:latin typeface="Arial"/>
                <a:cs typeface="Arial"/>
              </a:rPr>
              <a:t>Software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correo </a:t>
            </a:r>
            <a:r>
              <a:rPr sz="1600" spc="-45" dirty="0">
                <a:latin typeface="Arial"/>
                <a:cs typeface="Arial"/>
              </a:rPr>
              <a:t>electrónico </a:t>
            </a:r>
            <a:r>
              <a:rPr sz="1600" spc="-90" dirty="0">
                <a:latin typeface="Arial"/>
                <a:cs typeface="Arial"/>
              </a:rPr>
              <a:t>(Ej. </a:t>
            </a:r>
            <a:r>
              <a:rPr sz="1600" spc="-50" dirty="0">
                <a:latin typeface="Arial"/>
                <a:cs typeface="Arial"/>
              </a:rPr>
              <a:t>Outlook</a:t>
            </a:r>
            <a:r>
              <a:rPr sz="1600" spc="-125" dirty="0">
                <a:latin typeface="Arial"/>
                <a:cs typeface="Arial"/>
              </a:rPr>
              <a:t> </a:t>
            </a:r>
            <a:r>
              <a:rPr sz="1600" spc="-120" dirty="0">
                <a:latin typeface="Arial"/>
                <a:cs typeface="Arial"/>
              </a:rPr>
              <a:t>Express)</a:t>
            </a:r>
            <a:endParaRPr sz="1600">
              <a:latin typeface="Arial"/>
              <a:cs typeface="Arial"/>
            </a:endParaRPr>
          </a:p>
          <a:p>
            <a:pPr marL="244475" marR="5080" indent="-231775">
              <a:lnSpc>
                <a:spcPct val="100000"/>
              </a:lnSpc>
              <a:buChar char="•"/>
              <a:tabLst>
                <a:tab pos="244475" algn="l"/>
                <a:tab pos="245110" algn="l"/>
                <a:tab pos="1129665" algn="l"/>
                <a:tab pos="1480185" algn="l"/>
                <a:tab pos="2843530" algn="l"/>
                <a:tab pos="3194685" algn="l"/>
                <a:tab pos="4330065" algn="l"/>
              </a:tabLst>
            </a:pPr>
            <a:r>
              <a:rPr sz="1600" spc="-75" dirty="0">
                <a:latin typeface="Arial"/>
                <a:cs typeface="Arial"/>
              </a:rPr>
              <a:t>Sof</a:t>
            </a:r>
            <a:r>
              <a:rPr sz="1600" spc="-40" dirty="0">
                <a:latin typeface="Arial"/>
                <a:cs typeface="Arial"/>
              </a:rPr>
              <a:t>t</a:t>
            </a:r>
            <a:r>
              <a:rPr sz="1600" spc="-35" dirty="0">
                <a:latin typeface="Arial"/>
                <a:cs typeface="Arial"/>
              </a:rPr>
              <a:t>w</a:t>
            </a:r>
            <a:r>
              <a:rPr sz="1600" spc="-65" dirty="0">
                <a:latin typeface="Arial"/>
                <a:cs typeface="Arial"/>
              </a:rPr>
              <a:t>a</a:t>
            </a:r>
            <a:r>
              <a:rPr sz="1600" spc="-60" dirty="0">
                <a:latin typeface="Arial"/>
                <a:cs typeface="Arial"/>
              </a:rPr>
              <a:t>r</a:t>
            </a:r>
            <a:r>
              <a:rPr sz="1600" spc="-9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80" dirty="0">
                <a:latin typeface="Arial"/>
                <a:cs typeface="Arial"/>
              </a:rPr>
              <a:t>d</a:t>
            </a:r>
            <a:r>
              <a:rPr sz="1600" spc="-7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65" dirty="0">
                <a:latin typeface="Arial"/>
                <a:cs typeface="Arial"/>
              </a:rPr>
              <a:t>adm</a:t>
            </a:r>
            <a:r>
              <a:rPr sz="1600" spc="-30" dirty="0">
                <a:latin typeface="Arial"/>
                <a:cs typeface="Arial"/>
              </a:rPr>
              <a:t>i</a:t>
            </a:r>
            <a:r>
              <a:rPr sz="1600" spc="-60" dirty="0">
                <a:latin typeface="Arial"/>
                <a:cs typeface="Arial"/>
              </a:rPr>
              <a:t>n</a:t>
            </a:r>
            <a:r>
              <a:rPr sz="1600" spc="-50" dirty="0">
                <a:latin typeface="Arial"/>
                <a:cs typeface="Arial"/>
              </a:rPr>
              <a:t>i</a:t>
            </a:r>
            <a:r>
              <a:rPr sz="1600" spc="-140" dirty="0">
                <a:latin typeface="Arial"/>
                <a:cs typeface="Arial"/>
              </a:rPr>
              <a:t>s</a:t>
            </a:r>
            <a:r>
              <a:rPr sz="1600" spc="50" dirty="0">
                <a:latin typeface="Arial"/>
                <a:cs typeface="Arial"/>
              </a:rPr>
              <a:t>t</a:t>
            </a:r>
            <a:r>
              <a:rPr sz="1600" spc="20" dirty="0">
                <a:latin typeface="Arial"/>
                <a:cs typeface="Arial"/>
              </a:rPr>
              <a:t>r</a:t>
            </a:r>
            <a:r>
              <a:rPr sz="1600" spc="-70" dirty="0">
                <a:latin typeface="Arial"/>
                <a:cs typeface="Arial"/>
              </a:rPr>
              <a:t>ación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80" dirty="0">
                <a:latin typeface="Arial"/>
                <a:cs typeface="Arial"/>
              </a:rPr>
              <a:t>d</a:t>
            </a:r>
            <a:r>
              <a:rPr sz="1600" spc="-7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15" dirty="0">
                <a:latin typeface="Arial"/>
                <a:cs typeface="Arial"/>
              </a:rPr>
              <a:t>i</a:t>
            </a:r>
            <a:r>
              <a:rPr sz="1600" spc="-50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f</a:t>
            </a:r>
            <a:r>
              <a:rPr sz="1600" spc="-40" dirty="0">
                <a:latin typeface="Arial"/>
                <a:cs typeface="Arial"/>
              </a:rPr>
              <a:t>o</a:t>
            </a:r>
            <a:r>
              <a:rPr sz="1600" spc="-75" dirty="0">
                <a:latin typeface="Arial"/>
                <a:cs typeface="Arial"/>
              </a:rPr>
              <a:t>rmac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55" dirty="0">
                <a:latin typeface="Arial"/>
                <a:cs typeface="Arial"/>
              </a:rPr>
              <a:t>ó</a:t>
            </a:r>
            <a:r>
              <a:rPr sz="1600" spc="-50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80" dirty="0">
                <a:latin typeface="Arial"/>
                <a:cs typeface="Arial"/>
              </a:rPr>
              <a:t>p</a:t>
            </a:r>
            <a:r>
              <a:rPr sz="1600" spc="-75" dirty="0">
                <a:latin typeface="Arial"/>
                <a:cs typeface="Arial"/>
              </a:rPr>
              <a:t>e</a:t>
            </a:r>
            <a:r>
              <a:rPr sz="1600" spc="-5" dirty="0">
                <a:latin typeface="Arial"/>
                <a:cs typeface="Arial"/>
              </a:rPr>
              <a:t>r</a:t>
            </a:r>
            <a:r>
              <a:rPr sz="1600" spc="-110" dirty="0">
                <a:latin typeface="Arial"/>
                <a:cs typeface="Arial"/>
              </a:rPr>
              <a:t>s</a:t>
            </a:r>
            <a:r>
              <a:rPr sz="1600" spc="-114" dirty="0">
                <a:latin typeface="Arial"/>
                <a:cs typeface="Arial"/>
              </a:rPr>
              <a:t>o</a:t>
            </a:r>
            <a:r>
              <a:rPr sz="1600" spc="-50" dirty="0">
                <a:latin typeface="Arial"/>
                <a:cs typeface="Arial"/>
              </a:rPr>
              <a:t>nal  Outlook)</a:t>
            </a:r>
            <a:endParaRPr sz="1600">
              <a:latin typeface="Arial"/>
              <a:cs typeface="Arial"/>
            </a:endParaRPr>
          </a:p>
          <a:p>
            <a:pPr marL="244475" indent="-231775">
              <a:lnSpc>
                <a:spcPct val="100000"/>
              </a:lnSpc>
              <a:buChar char="•"/>
              <a:tabLst>
                <a:tab pos="244475" algn="l"/>
                <a:tab pos="245110" algn="l"/>
              </a:tabLst>
            </a:pPr>
            <a:r>
              <a:rPr sz="1600" spc="-105" dirty="0">
                <a:latin typeface="Arial"/>
                <a:cs typeface="Arial"/>
              </a:rPr>
              <a:t>Navegadores </a:t>
            </a:r>
            <a:r>
              <a:rPr sz="1600" spc="-100" dirty="0">
                <a:latin typeface="Arial"/>
                <a:cs typeface="Arial"/>
              </a:rPr>
              <a:t>Web </a:t>
            </a:r>
            <a:r>
              <a:rPr sz="1600" spc="-90" dirty="0">
                <a:latin typeface="Arial"/>
                <a:cs typeface="Arial"/>
              </a:rPr>
              <a:t>(Ej.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Explorer)</a:t>
            </a:r>
            <a:endParaRPr sz="1600">
              <a:latin typeface="Arial"/>
              <a:cs typeface="Arial"/>
            </a:endParaRPr>
          </a:p>
          <a:p>
            <a:pPr marL="244475" indent="-231775">
              <a:lnSpc>
                <a:spcPct val="100000"/>
              </a:lnSpc>
              <a:buChar char="•"/>
              <a:tabLst>
                <a:tab pos="244475" algn="l"/>
                <a:tab pos="245110" algn="l"/>
              </a:tabLst>
            </a:pPr>
            <a:r>
              <a:rPr sz="1600" spc="-75" dirty="0">
                <a:latin typeface="Arial"/>
                <a:cs typeface="Arial"/>
              </a:rPr>
              <a:t>Groupware </a:t>
            </a:r>
            <a:r>
              <a:rPr sz="1600" spc="-90" dirty="0">
                <a:latin typeface="Arial"/>
                <a:cs typeface="Arial"/>
              </a:rPr>
              <a:t>(Ej. </a:t>
            </a:r>
            <a:r>
              <a:rPr sz="1600" spc="-85" dirty="0">
                <a:latin typeface="Arial"/>
                <a:cs typeface="Arial"/>
              </a:rPr>
              <a:t>Lotus </a:t>
            </a:r>
            <a:r>
              <a:rPr sz="1600" spc="-70" dirty="0">
                <a:latin typeface="Arial"/>
                <a:cs typeface="Arial"/>
              </a:rPr>
              <a:t>Notes,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Livelink)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77000" y="1143000"/>
            <a:ext cx="2438400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72605" y="2667000"/>
            <a:ext cx="2599946" cy="1743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77000" y="4520184"/>
            <a:ext cx="2467355" cy="1847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690610" cy="5275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5" dirty="0">
                <a:latin typeface="Arial"/>
                <a:cs typeface="Arial"/>
              </a:rPr>
              <a:t>Software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190" dirty="0">
                <a:latin typeface="Arial"/>
                <a:cs typeface="Arial"/>
              </a:rPr>
              <a:t>Administración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20" dirty="0">
                <a:latin typeface="Arial"/>
                <a:cs typeface="Arial"/>
              </a:rPr>
              <a:t> </a:t>
            </a:r>
            <a:r>
              <a:rPr sz="2600" b="1" spc="-210" dirty="0">
                <a:latin typeface="Arial"/>
                <a:cs typeface="Arial"/>
              </a:rPr>
              <a:t>Datos</a:t>
            </a:r>
            <a:endParaRPr sz="2600" dirty="0">
              <a:latin typeface="Arial"/>
              <a:cs typeface="Arial"/>
            </a:endParaRPr>
          </a:p>
          <a:p>
            <a:pPr marL="12700" marR="5715">
              <a:lnSpc>
                <a:spcPct val="100000"/>
              </a:lnSpc>
              <a:spcBef>
                <a:spcPts val="35"/>
              </a:spcBef>
            </a:pPr>
            <a:r>
              <a:rPr sz="2000" spc="-75" dirty="0">
                <a:latin typeface="Arial"/>
                <a:cs typeface="Arial"/>
              </a:rPr>
              <a:t>Permiten </a:t>
            </a:r>
            <a:r>
              <a:rPr sz="2000" spc="-80" dirty="0">
                <a:latin typeface="Arial"/>
                <a:cs typeface="Arial"/>
              </a:rPr>
              <a:t>crear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manejar </a:t>
            </a:r>
            <a:r>
              <a:rPr sz="2000" spc="-155" dirty="0">
                <a:latin typeface="Arial"/>
                <a:cs typeface="Arial"/>
              </a:rPr>
              <a:t>bases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datos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5" dirty="0">
                <a:latin typeface="Arial"/>
                <a:cs typeface="Arial"/>
              </a:rPr>
              <a:t>la computadora </a:t>
            </a:r>
            <a:r>
              <a:rPr sz="2000" spc="-85" dirty="0">
                <a:latin typeface="Arial"/>
                <a:cs typeface="Arial"/>
              </a:rPr>
              <a:t>personal, </a:t>
            </a:r>
            <a:r>
              <a:rPr sz="2000" spc="-60" dirty="0">
                <a:latin typeface="Arial"/>
                <a:cs typeface="Arial"/>
              </a:rPr>
              <a:t>servidor </a:t>
            </a:r>
            <a:r>
              <a:rPr sz="2000" spc="-90" dirty="0">
                <a:latin typeface="Arial"/>
                <a:cs typeface="Arial"/>
              </a:rPr>
              <a:t>de  </a:t>
            </a:r>
            <a:r>
              <a:rPr sz="2000" spc="-65" dirty="0">
                <a:latin typeface="Arial"/>
                <a:cs typeface="Arial"/>
              </a:rPr>
              <a:t>red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World </a:t>
            </a:r>
            <a:r>
              <a:rPr sz="2000" spc="-70" dirty="0">
                <a:latin typeface="Arial"/>
                <a:cs typeface="Arial"/>
              </a:rPr>
              <a:t>Wide </a:t>
            </a:r>
            <a:r>
              <a:rPr sz="2000" spc="-105" dirty="0">
                <a:latin typeface="Arial"/>
                <a:cs typeface="Arial"/>
              </a:rPr>
              <a:t>Web. </a:t>
            </a:r>
            <a:r>
              <a:rPr sz="2000" spc="-114" dirty="0">
                <a:latin typeface="Arial"/>
                <a:cs typeface="Arial"/>
              </a:rPr>
              <a:t>Cumplen </a:t>
            </a:r>
            <a:r>
              <a:rPr sz="2000" spc="-60" dirty="0">
                <a:latin typeface="Arial"/>
                <a:cs typeface="Arial"/>
              </a:rPr>
              <a:t>cuatro </a:t>
            </a:r>
            <a:r>
              <a:rPr sz="2000" spc="-95" dirty="0">
                <a:latin typeface="Arial"/>
                <a:cs typeface="Arial"/>
              </a:rPr>
              <a:t>tareas</a:t>
            </a:r>
            <a:r>
              <a:rPr sz="2000" spc="-28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primarias: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469900" marR="5715" indent="-457200" algn="just">
              <a:lnSpc>
                <a:spcPct val="100000"/>
              </a:lnSpc>
              <a:buFont typeface="Arial"/>
              <a:buChar char="•"/>
              <a:tabLst>
                <a:tab pos="470534" algn="l"/>
              </a:tabLst>
            </a:pPr>
            <a:r>
              <a:rPr sz="2000" b="1" spc="-135" dirty="0">
                <a:latin typeface="Arial"/>
                <a:cs typeface="Arial"/>
              </a:rPr>
              <a:t>Desarrollo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204" dirty="0">
                <a:latin typeface="Arial"/>
                <a:cs typeface="Arial"/>
              </a:rPr>
              <a:t>bases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45" dirty="0">
                <a:latin typeface="Arial"/>
                <a:cs typeface="Arial"/>
              </a:rPr>
              <a:t>datos: </a:t>
            </a:r>
            <a:r>
              <a:rPr sz="2000" spc="-25" dirty="0">
                <a:latin typeface="Arial"/>
                <a:cs typeface="Arial"/>
              </a:rPr>
              <a:t>definir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5" dirty="0">
                <a:latin typeface="Arial"/>
                <a:cs typeface="Arial"/>
              </a:rPr>
              <a:t>organizar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60" dirty="0">
                <a:latin typeface="Arial"/>
                <a:cs typeface="Arial"/>
              </a:rPr>
              <a:t>contenido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85" dirty="0">
                <a:latin typeface="Arial"/>
                <a:cs typeface="Arial"/>
              </a:rPr>
              <a:t>relaciones 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estructura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5" dirty="0">
                <a:latin typeface="Arial"/>
                <a:cs typeface="Arial"/>
              </a:rPr>
              <a:t>datos </a:t>
            </a:r>
            <a:r>
              <a:rPr sz="2000" spc="-110" dirty="0">
                <a:latin typeface="Arial"/>
                <a:cs typeface="Arial"/>
              </a:rPr>
              <a:t>necesarios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50" dirty="0">
                <a:latin typeface="Arial"/>
                <a:cs typeface="Arial"/>
              </a:rPr>
              <a:t>construir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140" dirty="0">
                <a:latin typeface="Arial"/>
                <a:cs typeface="Arial"/>
              </a:rPr>
              <a:t>base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datos,  </a:t>
            </a:r>
            <a:r>
              <a:rPr sz="2000" spc="-70" dirty="0">
                <a:latin typeface="Arial"/>
                <a:cs typeface="Arial"/>
              </a:rPr>
              <a:t>incluidos </a:t>
            </a:r>
            <a:r>
              <a:rPr sz="2000" spc="-95" dirty="0">
                <a:latin typeface="Arial"/>
                <a:cs typeface="Arial"/>
              </a:rPr>
              <a:t>cualesquiera </a:t>
            </a:r>
            <a:r>
              <a:rPr sz="2000" spc="-90" dirty="0">
                <a:latin typeface="Arial"/>
                <a:cs typeface="Arial"/>
              </a:rPr>
              <a:t>hiperenlaces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125" dirty="0">
                <a:latin typeface="Arial"/>
                <a:cs typeface="Arial"/>
              </a:rPr>
              <a:t>páginas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Web.</a:t>
            </a:r>
            <a:endParaRPr sz="2000" dirty="0">
              <a:latin typeface="Arial"/>
              <a:cs typeface="Arial"/>
            </a:endParaRPr>
          </a:p>
          <a:p>
            <a:pPr marL="469900" marR="6985" indent="-457200" algn="just">
              <a:lnSpc>
                <a:spcPct val="100000"/>
              </a:lnSpc>
              <a:buFont typeface="Arial"/>
              <a:buChar char="•"/>
              <a:tabLst>
                <a:tab pos="470534" algn="l"/>
              </a:tabLst>
            </a:pPr>
            <a:r>
              <a:rPr sz="2000" b="1" spc="-130" dirty="0">
                <a:latin typeface="Arial"/>
                <a:cs typeface="Arial"/>
              </a:rPr>
              <a:t>Interrogación de </a:t>
            </a:r>
            <a:r>
              <a:rPr sz="2000" b="1" spc="-100" dirty="0">
                <a:latin typeface="Arial"/>
                <a:cs typeface="Arial"/>
              </a:rPr>
              <a:t>la </a:t>
            </a:r>
            <a:r>
              <a:rPr sz="2000" b="1" spc="-175" dirty="0">
                <a:latin typeface="Arial"/>
                <a:cs typeface="Arial"/>
              </a:rPr>
              <a:t>base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50" dirty="0">
                <a:latin typeface="Arial"/>
                <a:cs typeface="Arial"/>
              </a:rPr>
              <a:t>datos: </a:t>
            </a:r>
            <a:r>
              <a:rPr sz="2000" spc="-105" dirty="0">
                <a:latin typeface="Arial"/>
                <a:cs typeface="Arial"/>
              </a:rPr>
              <a:t>acceder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5" dirty="0">
                <a:latin typeface="Arial"/>
                <a:cs typeface="Arial"/>
              </a:rPr>
              <a:t>datos </a:t>
            </a:r>
            <a:r>
              <a:rPr sz="2000" spc="-95" dirty="0">
                <a:latin typeface="Arial"/>
                <a:cs typeface="Arial"/>
              </a:rPr>
              <a:t>de una </a:t>
            </a:r>
            <a:r>
              <a:rPr sz="2000" spc="-140" dirty="0">
                <a:latin typeface="Arial"/>
                <a:cs typeface="Arial"/>
              </a:rPr>
              <a:t>base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datos 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70" dirty="0">
                <a:latin typeface="Arial"/>
                <a:cs typeface="Arial"/>
              </a:rPr>
              <a:t>presentar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90" dirty="0">
                <a:latin typeface="Arial"/>
                <a:cs typeface="Arial"/>
              </a:rPr>
              <a:t>en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80" dirty="0">
                <a:latin typeface="Arial"/>
                <a:cs typeface="Arial"/>
              </a:rPr>
              <a:t>variedad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formatos. </a:t>
            </a: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95" dirty="0">
                <a:latin typeface="Arial"/>
                <a:cs typeface="Arial"/>
              </a:rPr>
              <a:t>usuarios </a:t>
            </a:r>
            <a:r>
              <a:rPr sz="2000" spc="-70" dirty="0">
                <a:latin typeface="Arial"/>
                <a:cs typeface="Arial"/>
              </a:rPr>
              <a:t>finales  </a:t>
            </a:r>
            <a:r>
              <a:rPr sz="2000" spc="-85" dirty="0">
                <a:latin typeface="Arial"/>
                <a:cs typeface="Arial"/>
              </a:rPr>
              <a:t>pueden </a:t>
            </a:r>
            <a:r>
              <a:rPr sz="2000" spc="-75" dirty="0">
                <a:latin typeface="Arial"/>
                <a:cs typeface="Arial"/>
              </a:rPr>
              <a:t>recuperar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presentar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5" dirty="0">
                <a:latin typeface="Arial"/>
                <a:cs typeface="Arial"/>
              </a:rPr>
              <a:t>forma </a:t>
            </a:r>
            <a:r>
              <a:rPr sz="2000" spc="-85" dirty="0">
                <a:latin typeface="Arial"/>
                <a:cs typeface="Arial"/>
              </a:rPr>
              <a:t>selectiva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0" dirty="0">
                <a:latin typeface="Arial"/>
                <a:cs typeface="Arial"/>
              </a:rPr>
              <a:t>generar  </a:t>
            </a:r>
            <a:r>
              <a:rPr sz="2000" spc="-55" dirty="0">
                <a:latin typeface="Arial"/>
                <a:cs typeface="Arial"/>
              </a:rPr>
              <a:t>formularios, </a:t>
            </a:r>
            <a:r>
              <a:rPr sz="2000" spc="-65" dirty="0">
                <a:latin typeface="Arial"/>
                <a:cs typeface="Arial"/>
              </a:rPr>
              <a:t>informes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0" dirty="0">
                <a:latin typeface="Arial"/>
                <a:cs typeface="Arial"/>
              </a:rPr>
              <a:t>otros </a:t>
            </a:r>
            <a:r>
              <a:rPr sz="2000" spc="-80" dirty="0">
                <a:latin typeface="Arial"/>
                <a:cs typeface="Arial"/>
              </a:rPr>
              <a:t>documentos, incluidas </a:t>
            </a:r>
            <a:r>
              <a:rPr sz="2000" spc="-125" dirty="0">
                <a:latin typeface="Arial"/>
                <a:cs typeface="Arial"/>
              </a:rPr>
              <a:t>páginas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Web.</a:t>
            </a:r>
            <a:endParaRPr sz="2000" dirty="0">
              <a:latin typeface="Arial"/>
              <a:cs typeface="Arial"/>
            </a:endParaRPr>
          </a:p>
          <a:p>
            <a:pPr marL="469900" marR="6985" indent="-457200" algn="just">
              <a:lnSpc>
                <a:spcPct val="100000"/>
              </a:lnSpc>
              <a:buFont typeface="Arial"/>
              <a:buChar char="•"/>
              <a:tabLst>
                <a:tab pos="470534" algn="l"/>
              </a:tabLst>
            </a:pPr>
            <a:r>
              <a:rPr sz="2000" b="1" spc="-95" dirty="0">
                <a:latin typeface="Arial"/>
                <a:cs typeface="Arial"/>
              </a:rPr>
              <a:t>Mantenimiento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00" dirty="0">
                <a:latin typeface="Arial"/>
                <a:cs typeface="Arial"/>
              </a:rPr>
              <a:t>la </a:t>
            </a:r>
            <a:r>
              <a:rPr sz="2000" b="1" spc="-175" dirty="0">
                <a:latin typeface="Arial"/>
                <a:cs typeface="Arial"/>
              </a:rPr>
              <a:t>base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45" dirty="0">
                <a:latin typeface="Arial"/>
                <a:cs typeface="Arial"/>
              </a:rPr>
              <a:t>datos: </a:t>
            </a:r>
            <a:r>
              <a:rPr sz="2000" spc="-130" dirty="0">
                <a:latin typeface="Arial"/>
                <a:cs typeface="Arial"/>
              </a:rPr>
              <a:t>agregar, </a:t>
            </a:r>
            <a:r>
              <a:rPr sz="2000" spc="-65" dirty="0">
                <a:latin typeface="Arial"/>
                <a:cs typeface="Arial"/>
              </a:rPr>
              <a:t>eliminar, </a:t>
            </a:r>
            <a:r>
              <a:rPr sz="2000" spc="-75" dirty="0">
                <a:latin typeface="Arial"/>
                <a:cs typeface="Arial"/>
              </a:rPr>
              <a:t>actualizar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0" dirty="0">
                <a:latin typeface="Arial"/>
                <a:cs typeface="Arial"/>
              </a:rPr>
              <a:t>corregir 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45" dirty="0">
                <a:latin typeface="Arial"/>
                <a:cs typeface="Arial"/>
              </a:rPr>
              <a:t>base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datos.</a:t>
            </a:r>
            <a:endParaRPr sz="2000" dirty="0">
              <a:latin typeface="Arial"/>
              <a:cs typeface="Arial"/>
            </a:endParaRPr>
          </a:p>
          <a:p>
            <a:pPr marL="469900" marR="6985" indent="-457200" algn="just">
              <a:lnSpc>
                <a:spcPct val="100000"/>
              </a:lnSpc>
              <a:buFont typeface="Arial"/>
              <a:buChar char="•"/>
              <a:tabLst>
                <a:tab pos="470534" algn="l"/>
              </a:tabLst>
            </a:pPr>
            <a:r>
              <a:rPr sz="2000" b="1" spc="-135" dirty="0">
                <a:latin typeface="Arial"/>
                <a:cs typeface="Arial"/>
              </a:rPr>
              <a:t>Desarrollo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55" dirty="0">
                <a:latin typeface="Arial"/>
                <a:cs typeface="Arial"/>
              </a:rPr>
              <a:t>aplicaciones: </a:t>
            </a:r>
            <a:r>
              <a:rPr sz="2000" spc="-65" dirty="0">
                <a:latin typeface="Arial"/>
                <a:cs typeface="Arial"/>
              </a:rPr>
              <a:t>desarrollar </a:t>
            </a:r>
            <a:r>
              <a:rPr sz="2000" spc="-35" dirty="0">
                <a:latin typeface="Arial"/>
                <a:cs typeface="Arial"/>
              </a:rPr>
              <a:t>prototipos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14" dirty="0">
                <a:latin typeface="Arial"/>
                <a:cs typeface="Arial"/>
              </a:rPr>
              <a:t>páginas </a:t>
            </a:r>
            <a:r>
              <a:rPr sz="2000" spc="-110" dirty="0">
                <a:latin typeface="Arial"/>
                <a:cs typeface="Arial"/>
              </a:rPr>
              <a:t>Web, </a:t>
            </a:r>
            <a:r>
              <a:rPr sz="2000" spc="-95" dirty="0">
                <a:latin typeface="Arial"/>
                <a:cs typeface="Arial"/>
              </a:rPr>
              <a:t>consultas,  </a:t>
            </a:r>
            <a:r>
              <a:rPr sz="2000" spc="-55" dirty="0">
                <a:latin typeface="Arial"/>
                <a:cs typeface="Arial"/>
              </a:rPr>
              <a:t>formularios, </a:t>
            </a:r>
            <a:r>
              <a:rPr sz="2000" spc="-65" dirty="0">
                <a:latin typeface="Arial"/>
                <a:cs typeface="Arial"/>
              </a:rPr>
              <a:t>informes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etiquetas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80" dirty="0">
                <a:latin typeface="Arial"/>
                <a:cs typeface="Arial"/>
              </a:rPr>
              <a:t>aplicación empresarial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propuesta.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4516755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5" dirty="0">
                <a:latin typeface="Arial"/>
                <a:cs typeface="Arial"/>
              </a:rPr>
              <a:t>Software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175" dirty="0">
                <a:latin typeface="Arial"/>
                <a:cs typeface="Arial"/>
              </a:rPr>
              <a:t>propósito</a:t>
            </a:r>
            <a:r>
              <a:rPr sz="2600" b="1" spc="-105" dirty="0">
                <a:latin typeface="Arial"/>
                <a:cs typeface="Arial"/>
              </a:rPr>
              <a:t> </a:t>
            </a:r>
            <a:r>
              <a:rPr sz="2600" b="1" spc="-210" dirty="0">
                <a:latin typeface="Arial"/>
                <a:cs typeface="Arial"/>
              </a:rPr>
              <a:t>específico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0449" y="1655723"/>
            <a:ext cx="7221304" cy="4538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998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Software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33780"/>
            <a:ext cx="49987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55" dirty="0">
                <a:solidFill>
                  <a:srgbClr val="000000"/>
                </a:solidFill>
              </a:rPr>
              <a:t>Software </a:t>
            </a:r>
            <a:r>
              <a:rPr sz="2600" spc="-170" dirty="0">
                <a:solidFill>
                  <a:srgbClr val="000000"/>
                </a:solidFill>
              </a:rPr>
              <a:t>de </a:t>
            </a:r>
            <a:r>
              <a:rPr sz="2600" spc="-180" dirty="0">
                <a:solidFill>
                  <a:srgbClr val="000000"/>
                </a:solidFill>
              </a:rPr>
              <a:t>integración</a:t>
            </a:r>
            <a:r>
              <a:rPr sz="2600" spc="-70" dirty="0">
                <a:solidFill>
                  <a:srgbClr val="000000"/>
                </a:solidFill>
              </a:rPr>
              <a:t> </a:t>
            </a:r>
            <a:r>
              <a:rPr sz="2600" spc="-170" dirty="0">
                <a:solidFill>
                  <a:srgbClr val="000000"/>
                </a:solidFill>
              </a:rPr>
              <a:t>empresarial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828545"/>
            <a:ext cx="861441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320" dirty="0">
                <a:latin typeface="Arial"/>
                <a:cs typeface="Arial"/>
              </a:rPr>
              <a:t>Es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un </a:t>
            </a:r>
            <a:r>
              <a:rPr sz="2200" spc="-55" dirty="0">
                <a:latin typeface="Arial"/>
                <a:cs typeface="Arial"/>
              </a:rPr>
              <a:t>conjunto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5" dirty="0">
                <a:latin typeface="Arial"/>
                <a:cs typeface="Arial"/>
              </a:rPr>
              <a:t>módulos </a:t>
            </a:r>
            <a:r>
              <a:rPr sz="2200" spc="-90" dirty="0">
                <a:latin typeface="Arial"/>
                <a:cs typeface="Arial"/>
              </a:rPr>
              <a:t>integrados </a:t>
            </a:r>
            <a:r>
              <a:rPr sz="2200" spc="-110" dirty="0">
                <a:latin typeface="Arial"/>
                <a:cs typeface="Arial"/>
              </a:rPr>
              <a:t>para aplicaciones </a:t>
            </a:r>
            <a:r>
              <a:rPr sz="2200" spc="-100" dirty="0">
                <a:latin typeface="Arial"/>
                <a:cs typeface="Arial"/>
              </a:rPr>
              <a:t>como </a:t>
            </a:r>
            <a:r>
              <a:rPr sz="2200" spc="-114" dirty="0">
                <a:latin typeface="Arial"/>
                <a:cs typeface="Arial"/>
              </a:rPr>
              <a:t>ventas</a:t>
            </a:r>
            <a:r>
              <a:rPr sz="2200" spc="15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2163825"/>
            <a:ext cx="63633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3380" algn="l"/>
                <a:tab pos="3260090" algn="l"/>
                <a:tab pos="4672965" algn="l"/>
              </a:tabLst>
            </a:pPr>
            <a:r>
              <a:rPr sz="2200" spc="-55" dirty="0">
                <a:latin typeface="Arial"/>
                <a:cs typeface="Arial"/>
              </a:rPr>
              <a:t>distribución,	</a:t>
            </a:r>
            <a:r>
              <a:rPr sz="2200" spc="-70" dirty="0">
                <a:latin typeface="Arial"/>
                <a:cs typeface="Arial"/>
              </a:rPr>
              <a:t>contabilidad	</a:t>
            </a:r>
            <a:r>
              <a:rPr sz="2200" spc="-75" dirty="0">
                <a:latin typeface="Arial"/>
                <a:cs typeface="Arial"/>
              </a:rPr>
              <a:t>financiera,	administración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68" y="2499105"/>
            <a:ext cx="63709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0889" algn="l"/>
                <a:tab pos="2679065" algn="l"/>
                <a:tab pos="4293870" algn="l"/>
                <a:tab pos="6071235" algn="l"/>
              </a:tabLst>
            </a:pPr>
            <a:r>
              <a:rPr sz="2200" spc="-90" dirty="0">
                <a:latin typeface="Arial"/>
                <a:cs typeface="Arial"/>
              </a:rPr>
              <a:t>adm</a:t>
            </a:r>
            <a:r>
              <a:rPr sz="2200" spc="-45" dirty="0">
                <a:latin typeface="Arial"/>
                <a:cs typeface="Arial"/>
              </a:rPr>
              <a:t>in</a:t>
            </a:r>
            <a:r>
              <a:rPr sz="2200" spc="-30" dirty="0">
                <a:latin typeface="Arial"/>
                <a:cs typeface="Arial"/>
              </a:rPr>
              <a:t>i</a:t>
            </a:r>
            <a:r>
              <a:rPr sz="2200" spc="-265" dirty="0">
                <a:latin typeface="Arial"/>
                <a:cs typeface="Arial"/>
              </a:rPr>
              <a:t>s</a:t>
            </a:r>
            <a:r>
              <a:rPr sz="2200" spc="70" dirty="0">
                <a:latin typeface="Arial"/>
                <a:cs typeface="Arial"/>
              </a:rPr>
              <a:t>t</a:t>
            </a:r>
            <a:r>
              <a:rPr sz="2200" spc="30" dirty="0">
                <a:latin typeface="Arial"/>
                <a:cs typeface="Arial"/>
              </a:rPr>
              <a:t>r</a:t>
            </a:r>
            <a:r>
              <a:rPr sz="2200" spc="-135" dirty="0">
                <a:latin typeface="Arial"/>
                <a:cs typeface="Arial"/>
              </a:rPr>
              <a:t>ac</a:t>
            </a:r>
            <a:r>
              <a:rPr sz="2200" spc="-80" dirty="0">
                <a:latin typeface="Arial"/>
                <a:cs typeface="Arial"/>
              </a:rPr>
              <a:t>i</a:t>
            </a:r>
            <a:r>
              <a:rPr sz="2200" spc="-70" dirty="0">
                <a:latin typeface="Arial"/>
                <a:cs typeface="Arial"/>
              </a:rPr>
              <a:t>ó</a:t>
            </a:r>
            <a:r>
              <a:rPr sz="2200" spc="-65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14" dirty="0">
                <a:latin typeface="Arial"/>
                <a:cs typeface="Arial"/>
              </a:rPr>
              <a:t>d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50" dirty="0">
                <a:latin typeface="Arial"/>
                <a:cs typeface="Arial"/>
              </a:rPr>
              <a:t>m</a:t>
            </a:r>
            <a:r>
              <a:rPr sz="2200" spc="-114" dirty="0">
                <a:latin typeface="Arial"/>
                <a:cs typeface="Arial"/>
              </a:rPr>
              <a:t>a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60" dirty="0">
                <a:latin typeface="Arial"/>
                <a:cs typeface="Arial"/>
              </a:rPr>
              <a:t>e</a:t>
            </a:r>
            <a:r>
              <a:rPr sz="2200" spc="-45" dirty="0">
                <a:latin typeface="Arial"/>
                <a:cs typeface="Arial"/>
              </a:rPr>
              <a:t>r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10" dirty="0">
                <a:latin typeface="Arial"/>
                <a:cs typeface="Arial"/>
              </a:rPr>
              <a:t>a</a:t>
            </a:r>
            <a:r>
              <a:rPr sz="2200" spc="-55" dirty="0">
                <a:latin typeface="Arial"/>
                <a:cs typeface="Arial"/>
              </a:rPr>
              <a:t>l</a:t>
            </a:r>
            <a:r>
              <a:rPr sz="2200" spc="-145" dirty="0">
                <a:latin typeface="Arial"/>
                <a:cs typeface="Arial"/>
              </a:rPr>
              <a:t>es,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45" dirty="0">
                <a:latin typeface="Arial"/>
                <a:cs typeface="Arial"/>
              </a:rPr>
              <a:t>p</a:t>
            </a:r>
            <a:r>
              <a:rPr sz="2200" spc="-30" dirty="0">
                <a:latin typeface="Arial"/>
                <a:cs typeface="Arial"/>
              </a:rPr>
              <a:t>l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n</a:t>
            </a:r>
            <a:r>
              <a:rPr sz="2200" spc="30" dirty="0">
                <a:latin typeface="Arial"/>
                <a:cs typeface="Arial"/>
              </a:rPr>
              <a:t>if</a:t>
            </a:r>
            <a:r>
              <a:rPr sz="2200" spc="15" dirty="0">
                <a:latin typeface="Arial"/>
                <a:cs typeface="Arial"/>
              </a:rPr>
              <a:t>i</a:t>
            </a:r>
            <a:r>
              <a:rPr sz="2200" spc="-200" dirty="0">
                <a:latin typeface="Arial"/>
                <a:cs typeface="Arial"/>
              </a:rPr>
              <a:t>c</a:t>
            </a:r>
            <a:r>
              <a:rPr sz="2200" spc="-135" dirty="0">
                <a:latin typeface="Arial"/>
                <a:cs typeface="Arial"/>
              </a:rPr>
              <a:t>ac</a:t>
            </a:r>
            <a:r>
              <a:rPr sz="2200" spc="-80" dirty="0">
                <a:latin typeface="Arial"/>
                <a:cs typeface="Arial"/>
              </a:rPr>
              <a:t>i</a:t>
            </a:r>
            <a:r>
              <a:rPr sz="2200" spc="-70" dirty="0">
                <a:latin typeface="Arial"/>
                <a:cs typeface="Arial"/>
              </a:rPr>
              <a:t>ó</a:t>
            </a:r>
            <a:r>
              <a:rPr sz="2200" spc="-65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9833" y="2163825"/>
            <a:ext cx="20523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 marR="5080" indent="-137160">
              <a:lnSpc>
                <a:spcPct val="100000"/>
              </a:lnSpc>
              <a:spcBef>
                <a:spcPts val="100"/>
              </a:spcBef>
              <a:tabLst>
                <a:tab pos="521970" algn="l"/>
                <a:tab pos="943610" algn="l"/>
              </a:tabLst>
            </a:pPr>
            <a:r>
              <a:rPr sz="2200" spc="-100" dirty="0">
                <a:latin typeface="Arial"/>
                <a:cs typeface="Arial"/>
              </a:rPr>
              <a:t>de	</a:t>
            </a:r>
            <a:r>
              <a:rPr sz="2200" spc="-55" dirty="0">
                <a:latin typeface="Arial"/>
                <a:cs typeface="Arial"/>
              </a:rPr>
              <a:t>l</a:t>
            </a:r>
            <a:r>
              <a:rPr sz="2200" spc="-11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14" dirty="0">
                <a:latin typeface="Arial"/>
                <a:cs typeface="Arial"/>
              </a:rPr>
              <a:t>n</a:t>
            </a:r>
            <a:r>
              <a:rPr sz="2200" spc="-145" dirty="0">
                <a:latin typeface="Arial"/>
                <a:cs typeface="Arial"/>
              </a:rPr>
              <a:t>v</a:t>
            </a:r>
            <a:r>
              <a:rPr sz="2200" spc="-60" dirty="0">
                <a:latin typeface="Arial"/>
                <a:cs typeface="Arial"/>
              </a:rPr>
              <a:t>e</a:t>
            </a:r>
            <a:r>
              <a:rPr sz="2200" spc="-70" dirty="0">
                <a:latin typeface="Arial"/>
                <a:cs typeface="Arial"/>
              </a:rPr>
              <a:t>r</a:t>
            </a:r>
            <a:r>
              <a:rPr sz="2200" spc="-90" dirty="0">
                <a:latin typeface="Arial"/>
                <a:cs typeface="Arial"/>
              </a:rPr>
              <a:t>si</a:t>
            </a:r>
            <a:r>
              <a:rPr sz="2200" spc="-135" dirty="0">
                <a:latin typeface="Arial"/>
                <a:cs typeface="Arial"/>
              </a:rPr>
              <a:t>ó</a:t>
            </a:r>
            <a:r>
              <a:rPr sz="2200" spc="-60" dirty="0">
                <a:latin typeface="Arial"/>
                <a:cs typeface="Arial"/>
              </a:rPr>
              <a:t>n,  </a:t>
            </a:r>
            <a:r>
              <a:rPr sz="2200" spc="-90" dirty="0">
                <a:latin typeface="Arial"/>
                <a:cs typeface="Arial"/>
              </a:rPr>
              <a:t>la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6395" y="2499105"/>
            <a:ext cx="13671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80" dirty="0">
                <a:latin typeface="Arial"/>
                <a:cs typeface="Arial"/>
              </a:rPr>
              <a:t>producción,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68" y="2834386"/>
            <a:ext cx="861441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5" dirty="0">
                <a:latin typeface="Arial"/>
                <a:cs typeface="Arial"/>
              </a:rPr>
              <a:t>mantenimiento</a:t>
            </a:r>
            <a:r>
              <a:rPr sz="2200" spc="95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9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plantas</a:t>
            </a:r>
            <a:r>
              <a:rPr sz="2200" spc="10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y</a:t>
            </a:r>
            <a:r>
              <a:rPr sz="2200" spc="95" dirty="0">
                <a:latin typeface="Arial"/>
                <a:cs typeface="Arial"/>
              </a:rPr>
              <a:t> </a:t>
            </a:r>
            <a:r>
              <a:rPr sz="2200" spc="-120" dirty="0">
                <a:latin typeface="Arial"/>
                <a:cs typeface="Arial"/>
              </a:rPr>
              <a:t>recursos</a:t>
            </a:r>
            <a:r>
              <a:rPr sz="2200" spc="105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humanos,</a:t>
            </a:r>
            <a:r>
              <a:rPr sz="2200" spc="105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lo</a:t>
            </a:r>
            <a:r>
              <a:rPr sz="2200" spc="100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que</a:t>
            </a:r>
            <a:r>
              <a:rPr sz="2200" spc="95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permite</a:t>
            </a:r>
            <a:r>
              <a:rPr sz="2200" spc="105" dirty="0"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utilizar</a:t>
            </a:r>
            <a:r>
              <a:rPr sz="2200" spc="100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los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268" y="3169666"/>
            <a:ext cx="724915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4710" algn="l"/>
                <a:tab pos="1575435" algn="l"/>
                <a:tab pos="2841625" algn="l"/>
                <a:tab pos="4161790" algn="l"/>
                <a:tab pos="4504690" algn="l"/>
                <a:tab pos="5731510" algn="l"/>
                <a:tab pos="6234430" algn="l"/>
              </a:tabLst>
            </a:pP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45" dirty="0">
                <a:latin typeface="Arial"/>
                <a:cs typeface="Arial"/>
              </a:rPr>
              <a:t>a</a:t>
            </a:r>
            <a:r>
              <a:rPr sz="2200" spc="95" dirty="0">
                <a:latin typeface="Arial"/>
                <a:cs typeface="Arial"/>
              </a:rPr>
              <a:t>t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p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20" dirty="0">
                <a:latin typeface="Arial"/>
                <a:cs typeface="Arial"/>
              </a:rPr>
              <a:t>r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múl</a:t>
            </a:r>
            <a:r>
              <a:rPr sz="2200" spc="-10" dirty="0">
                <a:latin typeface="Arial"/>
                <a:cs typeface="Arial"/>
              </a:rPr>
              <a:t>t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10" dirty="0">
                <a:latin typeface="Arial"/>
                <a:cs typeface="Arial"/>
              </a:rPr>
              <a:t>ple</a:t>
            </a:r>
            <a:r>
              <a:rPr sz="2200" spc="-114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30" dirty="0">
                <a:latin typeface="Arial"/>
                <a:cs typeface="Arial"/>
              </a:rPr>
              <a:t>fu</a:t>
            </a:r>
            <a:r>
              <a:rPr sz="2200" spc="-40" dirty="0">
                <a:latin typeface="Arial"/>
                <a:cs typeface="Arial"/>
              </a:rPr>
              <a:t>n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-100" dirty="0">
                <a:latin typeface="Arial"/>
                <a:cs typeface="Arial"/>
              </a:rPr>
              <a:t>iones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y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25" dirty="0">
                <a:latin typeface="Arial"/>
                <a:cs typeface="Arial"/>
              </a:rPr>
              <a:t>p</a:t>
            </a:r>
            <a:r>
              <a:rPr sz="2200" spc="-65" dirty="0">
                <a:latin typeface="Arial"/>
                <a:cs typeface="Arial"/>
              </a:rPr>
              <a:t>r</a:t>
            </a:r>
            <a:r>
              <a:rPr sz="2200" spc="-160" dirty="0">
                <a:latin typeface="Arial"/>
                <a:cs typeface="Arial"/>
              </a:rPr>
              <a:t>oceso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35" dirty="0">
                <a:latin typeface="Arial"/>
                <a:cs typeface="Arial"/>
              </a:rPr>
              <a:t>ne</a:t>
            </a:r>
            <a:r>
              <a:rPr sz="2200" spc="-155" dirty="0">
                <a:latin typeface="Arial"/>
                <a:cs typeface="Arial"/>
              </a:rPr>
              <a:t>g</a:t>
            </a:r>
            <a:r>
              <a:rPr sz="2200" spc="-110" dirty="0">
                <a:latin typeface="Arial"/>
                <a:cs typeface="Arial"/>
              </a:rPr>
              <a:t>ocios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79943" y="3169666"/>
            <a:ext cx="11734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4060" algn="l"/>
              </a:tabLst>
            </a:pPr>
            <a:r>
              <a:rPr sz="2200" spc="-85" dirty="0">
                <a:latin typeface="Arial"/>
                <a:cs typeface="Arial"/>
              </a:rPr>
              <a:t>pa</a:t>
            </a:r>
            <a:r>
              <a:rPr sz="2200" spc="-110" dirty="0">
                <a:latin typeface="Arial"/>
                <a:cs typeface="Arial"/>
              </a:rPr>
              <a:t>r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10" dirty="0">
                <a:latin typeface="Arial"/>
                <a:cs typeface="Arial"/>
              </a:rPr>
              <a:t>una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268" y="3504946"/>
            <a:ext cx="8615045" cy="237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80" dirty="0">
                <a:latin typeface="Arial"/>
                <a:cs typeface="Arial"/>
              </a:rPr>
              <a:t>coordinación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40" dirty="0">
                <a:latin typeface="Arial"/>
                <a:cs typeface="Arial"/>
              </a:rPr>
              <a:t>control </a:t>
            </a:r>
            <a:r>
              <a:rPr sz="2200" spc="-105" dirty="0">
                <a:latin typeface="Arial"/>
                <a:cs typeface="Arial"/>
              </a:rPr>
              <a:t>organizacional </a:t>
            </a:r>
            <a:r>
              <a:rPr sz="2200" spc="-165" dirty="0">
                <a:latin typeface="Arial"/>
                <a:cs typeface="Arial"/>
              </a:rPr>
              <a:t>más</a:t>
            </a:r>
            <a:r>
              <a:rPr sz="2200" spc="-295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precisos.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200" spc="-204" dirty="0">
                <a:latin typeface="Arial"/>
                <a:cs typeface="Arial"/>
              </a:rPr>
              <a:t>Los </a:t>
            </a:r>
            <a:r>
              <a:rPr sz="2200" spc="-85" dirty="0">
                <a:latin typeface="Arial"/>
                <a:cs typeface="Arial"/>
              </a:rPr>
              <a:t>módulos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90" dirty="0">
                <a:latin typeface="Arial"/>
                <a:cs typeface="Arial"/>
              </a:rPr>
              <a:t>pueden </a:t>
            </a:r>
            <a:r>
              <a:rPr sz="2200" spc="-95" dirty="0">
                <a:latin typeface="Arial"/>
                <a:cs typeface="Arial"/>
              </a:rPr>
              <a:t>comunicar </a:t>
            </a:r>
            <a:r>
              <a:rPr sz="2200" spc="-50" dirty="0">
                <a:latin typeface="Arial"/>
                <a:cs typeface="Arial"/>
              </a:rPr>
              <a:t>entre </a:t>
            </a:r>
            <a:r>
              <a:rPr sz="2200" spc="-175" dirty="0">
                <a:latin typeface="Arial"/>
                <a:cs typeface="Arial"/>
              </a:rPr>
              <a:t>sí </a:t>
            </a:r>
            <a:r>
              <a:rPr sz="2200" spc="-65" dirty="0">
                <a:latin typeface="Arial"/>
                <a:cs typeface="Arial"/>
              </a:rPr>
              <a:t>directamente compartiendo </a:t>
            </a:r>
            <a:r>
              <a:rPr sz="2200" spc="-75" dirty="0">
                <a:latin typeface="Arial"/>
                <a:cs typeface="Arial"/>
              </a:rPr>
              <a:t>un  </a:t>
            </a:r>
            <a:r>
              <a:rPr sz="2200" spc="-70" dirty="0">
                <a:latin typeface="Arial"/>
                <a:cs typeface="Arial"/>
              </a:rPr>
              <a:t>depósito </a:t>
            </a:r>
            <a:r>
              <a:rPr sz="2200" spc="-100" dirty="0">
                <a:latin typeface="Arial"/>
                <a:cs typeface="Arial"/>
              </a:rPr>
              <a:t>común de </a:t>
            </a:r>
            <a:r>
              <a:rPr sz="2200" spc="-90" dirty="0">
                <a:latin typeface="Arial"/>
                <a:cs typeface="Arial"/>
              </a:rPr>
              <a:t>datos. </a:t>
            </a:r>
            <a:r>
              <a:rPr sz="2200" spc="-204" dirty="0">
                <a:latin typeface="Arial"/>
                <a:cs typeface="Arial"/>
              </a:rPr>
              <a:t>Los </a:t>
            </a:r>
            <a:r>
              <a:rPr sz="2200" spc="-130" dirty="0">
                <a:latin typeface="Arial"/>
                <a:cs typeface="Arial"/>
              </a:rPr>
              <a:t>sistemas </a:t>
            </a:r>
            <a:r>
              <a:rPr sz="2200" spc="-100" dirty="0">
                <a:latin typeface="Arial"/>
                <a:cs typeface="Arial"/>
              </a:rPr>
              <a:t>empresariales </a:t>
            </a:r>
            <a:r>
              <a:rPr sz="2200" spc="-95" dirty="0">
                <a:latin typeface="Arial"/>
                <a:cs typeface="Arial"/>
              </a:rPr>
              <a:t>contemporáneos  </a:t>
            </a:r>
            <a:r>
              <a:rPr sz="2200" spc="-55" dirty="0">
                <a:latin typeface="Arial"/>
                <a:cs typeface="Arial"/>
              </a:rPr>
              <a:t>utilizan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55" dirty="0">
                <a:latin typeface="Arial"/>
                <a:cs typeface="Arial"/>
              </a:rPr>
              <a:t>arquitectura</a:t>
            </a:r>
            <a:r>
              <a:rPr sz="2200" spc="-229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cliente/servidor.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200" b="1" u="heavy" spc="-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Ejemplos</a:t>
            </a:r>
            <a:r>
              <a:rPr sz="2200" spc="-170" dirty="0">
                <a:latin typeface="Arial"/>
                <a:cs typeface="Arial"/>
              </a:rPr>
              <a:t>: </a:t>
            </a:r>
            <a:r>
              <a:rPr sz="2200" spc="-340" dirty="0">
                <a:latin typeface="Arial"/>
                <a:cs typeface="Arial"/>
              </a:rPr>
              <a:t>SAP, </a:t>
            </a:r>
            <a:r>
              <a:rPr sz="2200" spc="-114" dirty="0">
                <a:latin typeface="Arial"/>
                <a:cs typeface="Arial"/>
              </a:rPr>
              <a:t>Oracle, </a:t>
            </a:r>
            <a:r>
              <a:rPr sz="2200" spc="-110" dirty="0">
                <a:latin typeface="Arial"/>
                <a:cs typeface="Arial"/>
              </a:rPr>
              <a:t>PeopleSoft </a:t>
            </a:r>
            <a:r>
              <a:rPr sz="2200" spc="-105" dirty="0">
                <a:latin typeface="Arial"/>
                <a:cs typeface="Arial"/>
              </a:rPr>
              <a:t>y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150" dirty="0">
                <a:latin typeface="Arial"/>
                <a:cs typeface="Arial"/>
              </a:rPr>
              <a:t>Baan.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57800" y="5153405"/>
            <a:ext cx="1907348" cy="1055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91400" y="5486400"/>
            <a:ext cx="1371600" cy="257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5998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Software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33780"/>
            <a:ext cx="601154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55" dirty="0">
                <a:solidFill>
                  <a:srgbClr val="000000"/>
                </a:solidFill>
              </a:rPr>
              <a:t>Software </a:t>
            </a:r>
            <a:r>
              <a:rPr sz="2600" spc="-170" dirty="0">
                <a:solidFill>
                  <a:srgbClr val="000000"/>
                </a:solidFill>
              </a:rPr>
              <a:t>de </a:t>
            </a:r>
            <a:r>
              <a:rPr sz="2600" spc="-180" dirty="0">
                <a:solidFill>
                  <a:srgbClr val="000000"/>
                </a:solidFill>
              </a:rPr>
              <a:t>integración </a:t>
            </a:r>
            <a:r>
              <a:rPr sz="2600" spc="-170" dirty="0">
                <a:solidFill>
                  <a:srgbClr val="000000"/>
                </a:solidFill>
              </a:rPr>
              <a:t>empresarial</a:t>
            </a:r>
            <a:r>
              <a:rPr sz="2600" spc="30" dirty="0">
                <a:solidFill>
                  <a:srgbClr val="000000"/>
                </a:solidFill>
              </a:rPr>
              <a:t> </a:t>
            </a:r>
            <a:r>
              <a:rPr sz="2600" spc="-150" dirty="0">
                <a:solidFill>
                  <a:srgbClr val="000000"/>
                </a:solidFill>
              </a:rPr>
              <a:t>(Cont.)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827021"/>
            <a:ext cx="8615045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65" dirty="0">
                <a:latin typeface="Arial"/>
                <a:cs typeface="Arial"/>
              </a:rPr>
              <a:t>Las </a:t>
            </a:r>
            <a:r>
              <a:rPr sz="2400" spc="-145" dirty="0">
                <a:latin typeface="Arial"/>
                <a:cs typeface="Arial"/>
              </a:rPr>
              <a:t>empresas </a:t>
            </a:r>
            <a:r>
              <a:rPr sz="2400" spc="-100" dirty="0">
                <a:latin typeface="Arial"/>
                <a:cs typeface="Arial"/>
              </a:rPr>
              <a:t>pueden </a:t>
            </a:r>
            <a:r>
              <a:rPr sz="2400" spc="-60" dirty="0">
                <a:latin typeface="Arial"/>
                <a:cs typeface="Arial"/>
              </a:rPr>
              <a:t>implementar </a:t>
            </a:r>
            <a:r>
              <a:rPr sz="2400" spc="-80" dirty="0">
                <a:latin typeface="Arial"/>
                <a:cs typeface="Arial"/>
              </a:rPr>
              <a:t>todos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90" dirty="0">
                <a:latin typeface="Arial"/>
                <a:cs typeface="Arial"/>
              </a:rPr>
              <a:t>módulos </a:t>
            </a:r>
            <a:r>
              <a:rPr sz="2400" spc="-75" dirty="0">
                <a:latin typeface="Arial"/>
                <a:cs typeface="Arial"/>
              </a:rPr>
              <a:t>del </a:t>
            </a:r>
            <a:r>
              <a:rPr sz="2400" spc="-65" dirty="0">
                <a:latin typeface="Arial"/>
                <a:cs typeface="Arial"/>
              </a:rPr>
              <a:t>software  </a:t>
            </a:r>
            <a:r>
              <a:rPr sz="2400" spc="-90" dirty="0">
                <a:latin typeface="Arial"/>
                <a:cs typeface="Arial"/>
              </a:rPr>
              <a:t>empresarial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65" dirty="0">
                <a:latin typeface="Arial"/>
                <a:cs typeface="Arial"/>
              </a:rPr>
              <a:t>le </a:t>
            </a:r>
            <a:r>
              <a:rPr sz="2400" spc="-80" dirty="0">
                <a:latin typeface="Arial"/>
                <a:cs typeface="Arial"/>
              </a:rPr>
              <a:t>ofrece un proveedor </a:t>
            </a:r>
            <a:r>
              <a:rPr sz="2400" spc="-70" dirty="0">
                <a:latin typeface="Arial"/>
                <a:cs typeface="Arial"/>
              </a:rPr>
              <a:t>o </a:t>
            </a:r>
            <a:r>
              <a:rPr sz="2400" spc="-110" dirty="0">
                <a:latin typeface="Arial"/>
                <a:cs typeface="Arial"/>
              </a:rPr>
              <a:t>seleccionar </a:t>
            </a:r>
            <a:r>
              <a:rPr sz="2400" spc="-100" dirty="0">
                <a:latin typeface="Arial"/>
                <a:cs typeface="Arial"/>
              </a:rPr>
              <a:t>solamente </a:t>
            </a:r>
            <a:r>
              <a:rPr sz="2400" spc="-105" dirty="0">
                <a:latin typeface="Arial"/>
                <a:cs typeface="Arial"/>
              </a:rPr>
              <a:t>los  </a:t>
            </a:r>
            <a:r>
              <a:rPr sz="2400" spc="-90" dirty="0">
                <a:latin typeface="Arial"/>
                <a:cs typeface="Arial"/>
              </a:rPr>
              <a:t>módulos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65" dirty="0">
                <a:latin typeface="Arial"/>
                <a:cs typeface="Arial"/>
              </a:rPr>
              <a:t>le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interesen.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260" dirty="0">
                <a:latin typeface="Arial"/>
                <a:cs typeface="Arial"/>
              </a:rPr>
              <a:t>La </a:t>
            </a:r>
            <a:r>
              <a:rPr sz="2400" spc="-120" dirty="0">
                <a:latin typeface="Arial"/>
                <a:cs typeface="Arial"/>
              </a:rPr>
              <a:t>mayoría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45" dirty="0">
                <a:latin typeface="Arial"/>
                <a:cs typeface="Arial"/>
              </a:rPr>
              <a:t>las empresas </a:t>
            </a:r>
            <a:r>
              <a:rPr sz="2400" spc="-75" dirty="0">
                <a:latin typeface="Arial"/>
                <a:cs typeface="Arial"/>
              </a:rPr>
              <a:t>no </a:t>
            </a:r>
            <a:r>
              <a:rPr sz="2400" spc="-105" dirty="0">
                <a:latin typeface="Arial"/>
                <a:cs typeface="Arial"/>
              </a:rPr>
              <a:t>puede </a:t>
            </a:r>
            <a:r>
              <a:rPr sz="2400" spc="-130" dirty="0">
                <a:latin typeface="Arial"/>
                <a:cs typeface="Arial"/>
              </a:rPr>
              <a:t>desechar </a:t>
            </a:r>
            <a:r>
              <a:rPr sz="2400" spc="-80" dirty="0">
                <a:latin typeface="Arial"/>
                <a:cs typeface="Arial"/>
              </a:rPr>
              <a:t>todos </a:t>
            </a:r>
            <a:r>
              <a:rPr sz="2400" spc="-204" dirty="0">
                <a:latin typeface="Arial"/>
                <a:cs typeface="Arial"/>
              </a:rPr>
              <a:t>sus </a:t>
            </a:r>
            <a:r>
              <a:rPr sz="2400" spc="-140" dirty="0">
                <a:latin typeface="Arial"/>
                <a:cs typeface="Arial"/>
              </a:rPr>
              <a:t>sistemas  </a:t>
            </a:r>
            <a:r>
              <a:rPr sz="2400" spc="-105" dirty="0">
                <a:latin typeface="Arial"/>
                <a:cs typeface="Arial"/>
              </a:rPr>
              <a:t>existentes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95" dirty="0">
                <a:latin typeface="Arial"/>
                <a:cs typeface="Arial"/>
              </a:rPr>
              <a:t>crear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80" dirty="0">
                <a:latin typeface="Arial"/>
                <a:cs typeface="Arial"/>
              </a:rPr>
              <a:t>integración </a:t>
            </a:r>
            <a:r>
              <a:rPr sz="2400" spc="-185" dirty="0">
                <a:latin typeface="Arial"/>
                <a:cs typeface="Arial"/>
              </a:rPr>
              <a:t>a </a:t>
            </a:r>
            <a:r>
              <a:rPr sz="2400" spc="-70" dirty="0">
                <a:latin typeface="Arial"/>
                <a:cs typeface="Arial"/>
              </a:rPr>
              <a:t>nivel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60" dirty="0">
                <a:latin typeface="Arial"/>
                <a:cs typeface="Arial"/>
              </a:rPr>
              <a:t>toda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125" dirty="0">
                <a:latin typeface="Arial"/>
                <a:cs typeface="Arial"/>
              </a:rPr>
              <a:t>empresa </a:t>
            </a:r>
            <a:r>
              <a:rPr sz="2400" spc="-140" dirty="0">
                <a:latin typeface="Arial"/>
                <a:cs typeface="Arial"/>
              </a:rPr>
              <a:t>desde </a:t>
            </a:r>
            <a:r>
              <a:rPr sz="2400" spc="-85" dirty="0">
                <a:latin typeface="Arial"/>
                <a:cs typeface="Arial"/>
              </a:rPr>
              <a:t>la  </a:t>
            </a:r>
            <a:r>
              <a:rPr sz="2400" spc="-120" dirty="0">
                <a:latin typeface="Arial"/>
                <a:cs typeface="Arial"/>
              </a:rPr>
              <a:t>nada. </a:t>
            </a:r>
            <a:r>
              <a:rPr sz="2400" spc="-125" dirty="0">
                <a:latin typeface="Arial"/>
                <a:cs typeface="Arial"/>
              </a:rPr>
              <a:t>Muchas </a:t>
            </a:r>
            <a:r>
              <a:rPr sz="2400" spc="-114" dirty="0">
                <a:latin typeface="Arial"/>
                <a:cs typeface="Arial"/>
              </a:rPr>
              <a:t>aplicaciones </a:t>
            </a:r>
            <a:r>
              <a:rPr sz="2400" spc="-130" dirty="0">
                <a:latin typeface="Arial"/>
                <a:cs typeface="Arial"/>
              </a:rPr>
              <a:t>heredadas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mainframe </a:t>
            </a:r>
            <a:r>
              <a:rPr sz="2400" spc="-70" dirty="0">
                <a:latin typeface="Arial"/>
                <a:cs typeface="Arial"/>
              </a:rPr>
              <a:t>o </a:t>
            </a:r>
            <a:r>
              <a:rPr sz="2400" spc="-105" dirty="0">
                <a:latin typeface="Arial"/>
                <a:cs typeface="Arial"/>
              </a:rPr>
              <a:t>existentes </a:t>
            </a:r>
            <a:r>
              <a:rPr sz="2400" spc="-140" dirty="0">
                <a:latin typeface="Arial"/>
                <a:cs typeface="Arial"/>
              </a:rPr>
              <a:t>son  esenciales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14" dirty="0">
                <a:latin typeface="Arial"/>
                <a:cs typeface="Arial"/>
              </a:rPr>
              <a:t>operaciones </a:t>
            </a:r>
            <a:r>
              <a:rPr sz="2400" spc="-95" dirty="0">
                <a:latin typeface="Arial"/>
                <a:cs typeface="Arial"/>
              </a:rPr>
              <a:t>diarias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90" dirty="0">
                <a:latin typeface="Arial"/>
                <a:cs typeface="Arial"/>
              </a:rPr>
              <a:t>muy </a:t>
            </a:r>
            <a:r>
              <a:rPr sz="2400" spc="-125" dirty="0">
                <a:latin typeface="Arial"/>
                <a:cs typeface="Arial"/>
              </a:rPr>
              <a:t>riesgoso </a:t>
            </a:r>
            <a:r>
              <a:rPr sz="2400" spc="-110" dirty="0">
                <a:latin typeface="Arial"/>
                <a:cs typeface="Arial"/>
              </a:rPr>
              <a:t>cambiarlas.  </a:t>
            </a:r>
            <a:r>
              <a:rPr sz="2400" spc="-155" dirty="0">
                <a:latin typeface="Arial"/>
                <a:cs typeface="Arial"/>
              </a:rPr>
              <a:t>Una </a:t>
            </a:r>
            <a:r>
              <a:rPr sz="2400" spc="-114" dirty="0">
                <a:latin typeface="Arial"/>
                <a:cs typeface="Arial"/>
              </a:rPr>
              <a:t>manera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60" dirty="0">
                <a:latin typeface="Arial"/>
                <a:cs typeface="Arial"/>
              </a:rPr>
              <a:t>integrar </a:t>
            </a:r>
            <a:r>
              <a:rPr sz="2400" spc="-125" dirty="0">
                <a:latin typeface="Arial"/>
                <a:cs typeface="Arial"/>
              </a:rPr>
              <a:t>varias </a:t>
            </a:r>
            <a:r>
              <a:rPr sz="2400" spc="-114" dirty="0">
                <a:latin typeface="Arial"/>
                <a:cs typeface="Arial"/>
              </a:rPr>
              <a:t>aplicaciones </a:t>
            </a:r>
            <a:r>
              <a:rPr sz="2400" spc="-130" dirty="0">
                <a:latin typeface="Arial"/>
                <a:cs typeface="Arial"/>
              </a:rPr>
              <a:t>heredadas </a:t>
            </a:r>
            <a:r>
              <a:rPr sz="2400" spc="-200" dirty="0">
                <a:latin typeface="Arial"/>
                <a:cs typeface="Arial"/>
              </a:rPr>
              <a:t>es </a:t>
            </a:r>
            <a:r>
              <a:rPr sz="2400" spc="-45" dirty="0">
                <a:latin typeface="Arial"/>
                <a:cs typeface="Arial"/>
              </a:rPr>
              <a:t>utilizar </a:t>
            </a:r>
            <a:r>
              <a:rPr sz="2400" spc="-70" dirty="0">
                <a:latin typeface="Arial"/>
                <a:cs typeface="Arial"/>
              </a:rPr>
              <a:t>un  software </a:t>
            </a:r>
            <a:r>
              <a:rPr sz="2400" spc="-120" dirty="0">
                <a:latin typeface="Arial"/>
                <a:cs typeface="Arial"/>
              </a:rPr>
              <a:t>especial </a:t>
            </a:r>
            <a:r>
              <a:rPr sz="2400" spc="-85" dirty="0">
                <a:latin typeface="Arial"/>
                <a:cs typeface="Arial"/>
              </a:rPr>
              <a:t>llamado </a:t>
            </a:r>
            <a:r>
              <a:rPr sz="2400" b="1" spc="-140" dirty="0">
                <a:latin typeface="Arial"/>
                <a:cs typeface="Arial"/>
              </a:rPr>
              <a:t>middleware </a:t>
            </a:r>
            <a:r>
              <a:rPr sz="2400" b="1" spc="-155" dirty="0">
                <a:latin typeface="Arial"/>
                <a:cs typeface="Arial"/>
              </a:rPr>
              <a:t>para </a:t>
            </a:r>
            <a:r>
              <a:rPr sz="2400" b="1" spc="-165" dirty="0">
                <a:latin typeface="Arial"/>
                <a:cs typeface="Arial"/>
              </a:rPr>
              <a:t>crear </a:t>
            </a:r>
            <a:r>
              <a:rPr sz="2400" b="1" spc="-170" dirty="0">
                <a:latin typeface="Arial"/>
                <a:cs typeface="Arial"/>
              </a:rPr>
              <a:t>una </a:t>
            </a:r>
            <a:r>
              <a:rPr sz="2400" b="1" spc="-125" dirty="0">
                <a:latin typeface="Arial"/>
                <a:cs typeface="Arial"/>
              </a:rPr>
              <a:t>interfaz </a:t>
            </a:r>
            <a:r>
              <a:rPr sz="2400" b="1" spc="-180" dirty="0">
                <a:latin typeface="Arial"/>
                <a:cs typeface="Arial"/>
              </a:rPr>
              <a:t>o  </a:t>
            </a:r>
            <a:r>
              <a:rPr sz="2400" spc="-75" dirty="0">
                <a:latin typeface="Arial"/>
                <a:cs typeface="Arial"/>
              </a:rPr>
              <a:t>puente </a:t>
            </a:r>
            <a:r>
              <a:rPr sz="2400" spc="-50" dirty="0">
                <a:latin typeface="Arial"/>
                <a:cs typeface="Arial"/>
              </a:rPr>
              <a:t>entre </a:t>
            </a:r>
            <a:r>
              <a:rPr sz="2400" spc="-140" dirty="0">
                <a:latin typeface="Arial"/>
                <a:cs typeface="Arial"/>
              </a:rPr>
              <a:t>dos sistemas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diferentes.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613775" cy="174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Criterios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b="1" spc="-300" dirty="0">
                <a:latin typeface="Arial"/>
                <a:cs typeface="Arial"/>
              </a:rPr>
              <a:t>Si </a:t>
            </a:r>
            <a:r>
              <a:rPr sz="2600" b="1" spc="-275" dirty="0">
                <a:latin typeface="Arial"/>
                <a:cs typeface="Arial"/>
              </a:rPr>
              <a:t>se </a:t>
            </a:r>
            <a:r>
              <a:rPr sz="2600" b="1" spc="-145" dirty="0">
                <a:latin typeface="Arial"/>
                <a:cs typeface="Arial"/>
              </a:rPr>
              <a:t>quiere </a:t>
            </a:r>
            <a:r>
              <a:rPr sz="2600" b="1" spc="-140" dirty="0">
                <a:latin typeface="Arial"/>
                <a:cs typeface="Arial"/>
              </a:rPr>
              <a:t>automatizar </a:t>
            </a:r>
            <a:r>
              <a:rPr sz="2600" b="1" spc="-195" dirty="0">
                <a:latin typeface="Arial"/>
                <a:cs typeface="Arial"/>
              </a:rPr>
              <a:t>un </a:t>
            </a:r>
            <a:r>
              <a:rPr sz="2600" b="1" spc="-229" dirty="0">
                <a:latin typeface="Arial"/>
                <a:cs typeface="Arial"/>
              </a:rPr>
              <a:t>proceso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220" dirty="0">
                <a:latin typeface="Arial"/>
                <a:cs typeface="Arial"/>
              </a:rPr>
              <a:t>negocio </a:t>
            </a:r>
            <a:r>
              <a:rPr sz="2600" b="1" spc="-195" dirty="0">
                <a:latin typeface="Arial"/>
                <a:cs typeface="Arial"/>
              </a:rPr>
              <a:t>u </a:t>
            </a:r>
            <a:r>
              <a:rPr sz="2600" b="1" spc="-135" dirty="0">
                <a:latin typeface="Arial"/>
                <a:cs typeface="Arial"/>
              </a:rPr>
              <a:t>obtener </a:t>
            </a:r>
            <a:r>
              <a:rPr sz="2600" b="1" spc="-185" dirty="0">
                <a:latin typeface="Arial"/>
                <a:cs typeface="Arial"/>
              </a:rPr>
              <a:t>una  </a:t>
            </a:r>
            <a:r>
              <a:rPr sz="2600" b="1" spc="-140" dirty="0">
                <a:latin typeface="Arial"/>
                <a:cs typeface="Arial"/>
              </a:rPr>
              <a:t>ventaja </a:t>
            </a:r>
            <a:r>
              <a:rPr sz="2600" b="1" spc="-150" dirty="0">
                <a:latin typeface="Arial"/>
                <a:cs typeface="Arial"/>
              </a:rPr>
              <a:t>competitiva </a:t>
            </a:r>
            <a:r>
              <a:rPr sz="2600" b="1" spc="-245" dirty="0">
                <a:latin typeface="Arial"/>
                <a:cs typeface="Arial"/>
              </a:rPr>
              <a:t>¿Qué </a:t>
            </a:r>
            <a:r>
              <a:rPr sz="2600" b="1" spc="-165" dirty="0">
                <a:latin typeface="Arial"/>
                <a:cs typeface="Arial"/>
              </a:rPr>
              <a:t>criterios </a:t>
            </a:r>
            <a:r>
              <a:rPr sz="2600" b="1" spc="-185" dirty="0">
                <a:latin typeface="Arial"/>
                <a:cs typeface="Arial"/>
              </a:rPr>
              <a:t>usarían </a:t>
            </a:r>
            <a:r>
              <a:rPr sz="2600" b="1" spc="-170" dirty="0">
                <a:latin typeface="Arial"/>
                <a:cs typeface="Arial"/>
              </a:rPr>
              <a:t>para </a:t>
            </a:r>
            <a:r>
              <a:rPr sz="2600" b="1" spc="-200" dirty="0">
                <a:latin typeface="Arial"/>
                <a:cs typeface="Arial"/>
              </a:rPr>
              <a:t>seleccionar </a:t>
            </a:r>
            <a:r>
              <a:rPr sz="2600" b="1" spc="-110" dirty="0">
                <a:latin typeface="Arial"/>
                <a:cs typeface="Arial"/>
              </a:rPr>
              <a:t>el  </a:t>
            </a:r>
            <a:r>
              <a:rPr sz="2600" b="1" spc="-140" dirty="0">
                <a:latin typeface="Arial"/>
                <a:cs typeface="Arial"/>
              </a:rPr>
              <a:t>mejor</a:t>
            </a:r>
            <a:r>
              <a:rPr sz="2600" b="1" spc="-125" dirty="0">
                <a:latin typeface="Arial"/>
                <a:cs typeface="Arial"/>
              </a:rPr>
              <a:t> </a:t>
            </a:r>
            <a:r>
              <a:rPr sz="2600" b="1" spc="-175" dirty="0">
                <a:latin typeface="Arial"/>
                <a:cs typeface="Arial"/>
              </a:rPr>
              <a:t>software?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5091" y="2514600"/>
            <a:ext cx="2667000" cy="381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74492" y="2514600"/>
            <a:ext cx="5562600" cy="2002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74492" y="4648200"/>
            <a:ext cx="2715006" cy="16863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93891" y="4648200"/>
            <a:ext cx="2743200" cy="16878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5686425" cy="491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Criterios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Criterio 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2600" spc="-75" dirty="0">
                <a:latin typeface="Arial"/>
                <a:cs typeface="Arial"/>
              </a:rPr>
              <a:t>: </a:t>
            </a:r>
            <a:r>
              <a:rPr sz="2600" b="1" spc="-260" dirty="0">
                <a:latin typeface="Arial"/>
                <a:cs typeface="Arial"/>
              </a:rPr>
              <a:t>según </a:t>
            </a:r>
            <a:r>
              <a:rPr sz="2600" b="1" spc="-305" dirty="0">
                <a:latin typeface="Arial"/>
                <a:cs typeface="Arial"/>
              </a:rPr>
              <a:t>su </a:t>
            </a:r>
            <a:r>
              <a:rPr sz="2600" b="1" spc="-204" dirty="0">
                <a:latin typeface="Arial"/>
                <a:cs typeface="Arial"/>
              </a:rPr>
              <a:t>diseño </a:t>
            </a:r>
            <a:r>
              <a:rPr sz="2600" b="1" spc="-220" dirty="0">
                <a:latin typeface="Arial"/>
                <a:cs typeface="Arial"/>
              </a:rPr>
              <a:t>y</a:t>
            </a:r>
            <a:r>
              <a:rPr sz="2600" b="1" spc="-155" dirty="0">
                <a:latin typeface="Arial"/>
                <a:cs typeface="Arial"/>
              </a:rPr>
              <a:t> </a:t>
            </a:r>
            <a:r>
              <a:rPr sz="2600" b="1" spc="-225" dirty="0">
                <a:latin typeface="Arial"/>
                <a:cs typeface="Arial"/>
              </a:rPr>
              <a:t>construcción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75" dirty="0">
                <a:latin typeface="Arial"/>
                <a:cs typeface="Arial"/>
              </a:rPr>
              <a:t>Desarrollado </a:t>
            </a:r>
            <a:r>
              <a:rPr sz="2600" b="1" spc="-165" dirty="0">
                <a:latin typeface="Arial"/>
                <a:cs typeface="Arial"/>
              </a:rPr>
              <a:t>a</a:t>
            </a:r>
            <a:r>
              <a:rPr sz="2600" b="1" spc="-80" dirty="0">
                <a:latin typeface="Arial"/>
                <a:cs typeface="Arial"/>
              </a:rPr>
              <a:t> </a:t>
            </a:r>
            <a:r>
              <a:rPr sz="2600" b="1" spc="-165" dirty="0">
                <a:latin typeface="Arial"/>
                <a:cs typeface="Arial"/>
              </a:rPr>
              <a:t>medida</a:t>
            </a:r>
            <a:endParaRPr sz="2600">
              <a:latin typeface="Arial"/>
              <a:cs typeface="Arial"/>
            </a:endParaRPr>
          </a:p>
          <a:p>
            <a:pPr marL="927100" marR="970915" lvl="1" indent="-45720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105" dirty="0">
                <a:latin typeface="Arial"/>
                <a:cs typeface="Arial"/>
              </a:rPr>
              <a:t>Desarrollo </a:t>
            </a:r>
            <a:r>
              <a:rPr sz="2600" spc="-65" dirty="0">
                <a:latin typeface="Arial"/>
                <a:cs typeface="Arial"/>
              </a:rPr>
              <a:t>propio, </a:t>
            </a:r>
            <a:r>
              <a:rPr sz="2600" spc="-80" dirty="0">
                <a:latin typeface="Arial"/>
                <a:cs typeface="Arial"/>
              </a:rPr>
              <a:t>externo</a:t>
            </a:r>
            <a:r>
              <a:rPr sz="2600" spc="-240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o  </a:t>
            </a:r>
            <a:r>
              <a:rPr sz="2600" spc="-50" dirty="0">
                <a:latin typeface="Arial"/>
                <a:cs typeface="Arial"/>
              </a:rPr>
              <a:t>mixto.</a:t>
            </a:r>
            <a:endParaRPr sz="2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Wingdings"/>
              <a:buChar char=""/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10" dirty="0">
                <a:latin typeface="Arial"/>
                <a:cs typeface="Arial"/>
              </a:rPr>
              <a:t>Paquetes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spc="-145" dirty="0">
                <a:latin typeface="Arial"/>
                <a:cs typeface="Arial"/>
              </a:rPr>
              <a:t>software</a:t>
            </a:r>
            <a:endParaRPr sz="2600">
              <a:latin typeface="Arial"/>
              <a:cs typeface="Arial"/>
            </a:endParaRPr>
          </a:p>
          <a:p>
            <a:pPr marL="927100" marR="1099185" lvl="1" indent="-45720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135" dirty="0">
                <a:latin typeface="Arial"/>
                <a:cs typeface="Arial"/>
              </a:rPr>
              <a:t>Pre-planeados: </a:t>
            </a:r>
            <a:r>
              <a:rPr sz="2600" spc="-55" dirty="0">
                <a:latin typeface="Arial"/>
                <a:cs typeface="Arial"/>
              </a:rPr>
              <a:t>permiten  </a:t>
            </a:r>
            <a:r>
              <a:rPr sz="2600" spc="-125" dirty="0">
                <a:latin typeface="Arial"/>
                <a:cs typeface="Arial"/>
              </a:rPr>
              <a:t>adaptaciones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empresa;</a:t>
            </a:r>
            <a:endParaRPr sz="2600">
              <a:latin typeface="Arial"/>
              <a:cs typeface="Arial"/>
            </a:endParaRPr>
          </a:p>
          <a:p>
            <a:pPr marL="927100" marR="1789430" lvl="1" indent="-45720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135" dirty="0">
                <a:latin typeface="Arial"/>
                <a:cs typeface="Arial"/>
              </a:rPr>
              <a:t>Enlatados: </a:t>
            </a:r>
            <a:r>
              <a:rPr sz="2600" spc="-85" dirty="0">
                <a:latin typeface="Arial"/>
                <a:cs typeface="Arial"/>
              </a:rPr>
              <a:t>no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permite  </a:t>
            </a:r>
            <a:r>
              <a:rPr sz="2600" spc="-120" dirty="0">
                <a:latin typeface="Arial"/>
                <a:cs typeface="Arial"/>
              </a:rPr>
              <a:t>adaptaciones.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32278" y="1775538"/>
            <a:ext cx="3345944" cy="20695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67400" y="3962400"/>
            <a:ext cx="2819400" cy="2328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6679565" cy="452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Criterios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Criterio 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2600" spc="-75" dirty="0">
                <a:latin typeface="Arial"/>
                <a:cs typeface="Arial"/>
              </a:rPr>
              <a:t>: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b="1" spc="-165" dirty="0">
                <a:latin typeface="Arial"/>
                <a:cs typeface="Arial"/>
              </a:rPr>
              <a:t>propiedad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29" dirty="0">
                <a:latin typeface="Arial"/>
                <a:cs typeface="Arial"/>
              </a:rPr>
              <a:t>Comprado </a:t>
            </a:r>
            <a:r>
              <a:rPr sz="2600" b="1" spc="-204" dirty="0">
                <a:latin typeface="Arial"/>
                <a:cs typeface="Arial"/>
              </a:rPr>
              <a:t>(cesión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195" dirty="0">
                <a:latin typeface="Arial"/>
                <a:cs typeface="Arial"/>
              </a:rPr>
              <a:t>derecho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185" dirty="0">
                <a:latin typeface="Arial"/>
                <a:cs typeface="Arial"/>
              </a:rPr>
              <a:t> </a:t>
            </a:r>
            <a:r>
              <a:rPr sz="2600" b="1" spc="-215" dirty="0">
                <a:latin typeface="Arial"/>
                <a:cs typeface="Arial"/>
              </a:rPr>
              <a:t>uso)</a:t>
            </a:r>
            <a:endParaRPr sz="2600">
              <a:latin typeface="Arial"/>
              <a:cs typeface="Arial"/>
            </a:endParaRPr>
          </a:p>
          <a:p>
            <a:pPr marL="927100" marR="5080" lvl="1" indent="-45720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140" dirty="0">
                <a:latin typeface="Arial"/>
                <a:cs typeface="Arial"/>
              </a:rPr>
              <a:t>No </a:t>
            </a:r>
            <a:r>
              <a:rPr sz="2600" spc="-110" dirty="0">
                <a:latin typeface="Arial"/>
                <a:cs typeface="Arial"/>
              </a:rPr>
              <a:t>puede </a:t>
            </a:r>
            <a:r>
              <a:rPr sz="2600" spc="-140" dirty="0">
                <a:latin typeface="Arial"/>
                <a:cs typeface="Arial"/>
              </a:rPr>
              <a:t>ser </a:t>
            </a:r>
            <a:r>
              <a:rPr sz="2600" spc="-75" dirty="0">
                <a:latin typeface="Arial"/>
                <a:cs typeface="Arial"/>
              </a:rPr>
              <a:t>modificado </a:t>
            </a:r>
            <a:r>
              <a:rPr sz="2600" spc="-35" dirty="0">
                <a:latin typeface="Arial"/>
                <a:cs typeface="Arial"/>
              </a:rPr>
              <a:t>ni </a:t>
            </a:r>
            <a:r>
              <a:rPr sz="2600" spc="-75" dirty="0">
                <a:latin typeface="Arial"/>
                <a:cs typeface="Arial"/>
              </a:rPr>
              <a:t>transferido,</a:t>
            </a:r>
            <a:r>
              <a:rPr sz="2600" spc="-315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en 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145" dirty="0">
                <a:latin typeface="Arial"/>
                <a:cs typeface="Arial"/>
              </a:rPr>
              <a:t>sola </a:t>
            </a:r>
            <a:r>
              <a:rPr sz="2600" spc="-95" dirty="0">
                <a:latin typeface="Arial"/>
                <a:cs typeface="Arial"/>
              </a:rPr>
              <a:t>instalación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145" dirty="0">
                <a:latin typeface="Arial"/>
                <a:cs typeface="Arial"/>
              </a:rPr>
              <a:t>sola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empresa;</a:t>
            </a:r>
            <a:endParaRPr sz="2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350" dirty="0">
                <a:latin typeface="Arial"/>
                <a:cs typeface="Arial"/>
              </a:rPr>
              <a:t>Se </a:t>
            </a:r>
            <a:r>
              <a:rPr sz="2600" spc="-114" dirty="0">
                <a:latin typeface="Arial"/>
                <a:cs typeface="Arial"/>
              </a:rPr>
              <a:t>puede </a:t>
            </a:r>
            <a:r>
              <a:rPr sz="2600" spc="-50" dirty="0">
                <a:latin typeface="Arial"/>
                <a:cs typeface="Arial"/>
              </a:rPr>
              <a:t>tener </a:t>
            </a:r>
            <a:r>
              <a:rPr sz="2600" spc="-120" dirty="0">
                <a:latin typeface="Arial"/>
                <a:cs typeface="Arial"/>
              </a:rPr>
              <a:t>los </a:t>
            </a:r>
            <a:r>
              <a:rPr sz="2600" spc="-135" dirty="0">
                <a:latin typeface="Arial"/>
                <a:cs typeface="Arial"/>
              </a:rPr>
              <a:t>programas </a:t>
            </a:r>
            <a:r>
              <a:rPr sz="2600" spc="-55" dirty="0">
                <a:latin typeface="Arial"/>
                <a:cs typeface="Arial"/>
              </a:rPr>
              <a:t>fuente </a:t>
            </a:r>
            <a:r>
              <a:rPr sz="2600" spc="-80" dirty="0">
                <a:latin typeface="Arial"/>
                <a:cs typeface="Arial"/>
              </a:rPr>
              <a:t>o</a:t>
            </a:r>
            <a:r>
              <a:rPr sz="2600" spc="-545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no.</a:t>
            </a:r>
            <a:endParaRPr sz="2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Wingdings"/>
              <a:buChar char=""/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95" dirty="0">
                <a:latin typeface="Arial"/>
                <a:cs typeface="Arial"/>
              </a:rPr>
              <a:t>Propio</a:t>
            </a:r>
            <a:endParaRPr sz="2600">
              <a:latin typeface="Arial"/>
              <a:cs typeface="Arial"/>
            </a:endParaRPr>
          </a:p>
          <a:p>
            <a:pPr marL="933450" lvl="1" indent="-46355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110" dirty="0">
                <a:latin typeface="Arial"/>
                <a:cs typeface="Arial"/>
              </a:rPr>
              <a:t>Desarrollado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100" dirty="0">
                <a:latin typeface="Arial"/>
                <a:cs typeface="Arial"/>
              </a:rPr>
              <a:t>medida </a:t>
            </a:r>
            <a:r>
              <a:rPr sz="2600" spc="-45" dirty="0">
                <a:latin typeface="Arial"/>
                <a:cs typeface="Arial"/>
              </a:rPr>
              <a:t>por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encargo;</a:t>
            </a:r>
            <a:endParaRPr sz="2600">
              <a:latin typeface="Arial"/>
              <a:cs typeface="Arial"/>
            </a:endParaRPr>
          </a:p>
          <a:p>
            <a:pPr marL="933450" lvl="1" indent="-46355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110" dirty="0">
                <a:latin typeface="Arial"/>
                <a:cs typeface="Arial"/>
              </a:rPr>
              <a:t>Desarrollado </a:t>
            </a:r>
            <a:r>
              <a:rPr sz="2600" spc="-45" dirty="0">
                <a:latin typeface="Arial"/>
                <a:cs typeface="Arial"/>
              </a:rPr>
              <a:t>por </a:t>
            </a:r>
            <a:r>
              <a:rPr sz="2600" spc="-114" dirty="0">
                <a:latin typeface="Arial"/>
                <a:cs typeface="Arial"/>
              </a:rPr>
              <a:t>personal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0" dirty="0">
                <a:latin typeface="Arial"/>
                <a:cs typeface="Arial"/>
              </a:rPr>
              <a:t>la</a:t>
            </a:r>
            <a:r>
              <a:rPr sz="2600" spc="-295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empresa.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62600" y="5210555"/>
            <a:ext cx="3343655" cy="1152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5486400" cy="491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Criterios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Criterio 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</a:t>
            </a:r>
            <a:r>
              <a:rPr sz="2600" spc="-75" dirty="0">
                <a:latin typeface="Arial"/>
                <a:cs typeface="Arial"/>
              </a:rPr>
              <a:t>: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b="1" spc="-185" dirty="0">
                <a:latin typeface="Arial"/>
                <a:cs typeface="Arial"/>
              </a:rPr>
              <a:t>precio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marR="508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10" dirty="0">
                <a:latin typeface="Arial"/>
                <a:cs typeface="Arial"/>
              </a:rPr>
              <a:t>Provisión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229" dirty="0">
                <a:latin typeface="Arial"/>
                <a:cs typeface="Arial"/>
              </a:rPr>
              <a:t>los </a:t>
            </a:r>
            <a:r>
              <a:rPr sz="2600" b="1" spc="-215" dirty="0">
                <a:latin typeface="Arial"/>
                <a:cs typeface="Arial"/>
              </a:rPr>
              <a:t>módulos </a:t>
            </a:r>
            <a:r>
              <a:rPr sz="2600" b="1" spc="-220" dirty="0">
                <a:latin typeface="Arial"/>
                <a:cs typeface="Arial"/>
              </a:rPr>
              <a:t>necesarios  </a:t>
            </a:r>
            <a:r>
              <a:rPr sz="2600" b="1" spc="-170" dirty="0">
                <a:latin typeface="Arial"/>
                <a:cs typeface="Arial"/>
              </a:rPr>
              <a:t>para </a:t>
            </a:r>
            <a:r>
              <a:rPr sz="2600" b="1" spc="-180" dirty="0">
                <a:latin typeface="Arial"/>
                <a:cs typeface="Arial"/>
              </a:rPr>
              <a:t>que </a:t>
            </a:r>
            <a:r>
              <a:rPr sz="2600" b="1" spc="-114" dirty="0">
                <a:latin typeface="Arial"/>
                <a:cs typeface="Arial"/>
              </a:rPr>
              <a:t>el </a:t>
            </a:r>
            <a:r>
              <a:rPr sz="2600" b="1" spc="-210" dirty="0">
                <a:latin typeface="Arial"/>
                <a:cs typeface="Arial"/>
              </a:rPr>
              <a:t>sistema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spc="-180" dirty="0">
                <a:latin typeface="Arial"/>
                <a:cs typeface="Arial"/>
              </a:rPr>
              <a:t>funcione;</a:t>
            </a:r>
            <a:endParaRPr sz="2600">
              <a:latin typeface="Arial"/>
              <a:cs typeface="Arial"/>
            </a:endParaRPr>
          </a:p>
          <a:p>
            <a:pPr marL="527050" marR="5588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40" dirty="0">
                <a:latin typeface="Arial"/>
                <a:cs typeface="Arial"/>
              </a:rPr>
              <a:t>Condiciones </a:t>
            </a:r>
            <a:r>
              <a:rPr sz="2600" b="1" spc="-220" dirty="0">
                <a:latin typeface="Arial"/>
                <a:cs typeface="Arial"/>
              </a:rPr>
              <a:t>y precios </a:t>
            </a:r>
            <a:r>
              <a:rPr sz="2600" b="1" spc="-250" dirty="0">
                <a:latin typeface="Arial"/>
                <a:cs typeface="Arial"/>
              </a:rPr>
              <a:t>si </a:t>
            </a:r>
            <a:r>
              <a:rPr sz="2600" b="1" spc="-275" dirty="0">
                <a:latin typeface="Arial"/>
                <a:cs typeface="Arial"/>
              </a:rPr>
              <a:t>se </a:t>
            </a:r>
            <a:r>
              <a:rPr sz="2600" b="1" spc="-210" dirty="0">
                <a:latin typeface="Arial"/>
                <a:cs typeface="Arial"/>
              </a:rPr>
              <a:t>compran  </a:t>
            </a:r>
            <a:r>
              <a:rPr sz="2600" b="1" spc="-265" dirty="0">
                <a:latin typeface="Arial"/>
                <a:cs typeface="Arial"/>
              </a:rPr>
              <a:t>más</a:t>
            </a:r>
            <a:r>
              <a:rPr sz="2600" b="1" spc="-140" dirty="0">
                <a:latin typeface="Arial"/>
                <a:cs typeface="Arial"/>
              </a:rPr>
              <a:t> </a:t>
            </a:r>
            <a:r>
              <a:rPr sz="2600" b="1" spc="-210" dirty="0">
                <a:latin typeface="Arial"/>
                <a:cs typeface="Arial"/>
              </a:rPr>
              <a:t>módulos;</a:t>
            </a:r>
            <a:endParaRPr sz="2600">
              <a:latin typeface="Arial"/>
              <a:cs typeface="Arial"/>
            </a:endParaRPr>
          </a:p>
          <a:p>
            <a:pPr marL="527050" marR="555625" indent="-514350" algn="just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600" b="1" spc="-175" dirty="0">
                <a:latin typeface="Arial"/>
                <a:cs typeface="Arial"/>
              </a:rPr>
              <a:t>Instalación </a:t>
            </a:r>
            <a:r>
              <a:rPr sz="2600" b="1" spc="-225" dirty="0">
                <a:latin typeface="Arial"/>
                <a:cs typeface="Arial"/>
              </a:rPr>
              <a:t>+ </a:t>
            </a:r>
            <a:r>
              <a:rPr sz="2600" b="1" spc="-195" dirty="0">
                <a:latin typeface="Arial"/>
                <a:cs typeface="Arial"/>
              </a:rPr>
              <a:t>capacitación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229" dirty="0">
                <a:latin typeface="Arial"/>
                <a:cs typeface="Arial"/>
              </a:rPr>
              <a:t>los  </a:t>
            </a:r>
            <a:r>
              <a:rPr sz="2600" b="1" spc="-220" dirty="0">
                <a:latin typeface="Arial"/>
                <a:cs typeface="Arial"/>
              </a:rPr>
              <a:t>usuarios </a:t>
            </a:r>
            <a:r>
              <a:rPr sz="2600" b="1" spc="-225" dirty="0">
                <a:latin typeface="Arial"/>
                <a:cs typeface="Arial"/>
              </a:rPr>
              <a:t>+ </a:t>
            </a:r>
            <a:r>
              <a:rPr sz="2600" b="1" spc="-200" dirty="0">
                <a:latin typeface="Arial"/>
                <a:cs typeface="Arial"/>
              </a:rPr>
              <a:t>servicio </a:t>
            </a:r>
            <a:r>
              <a:rPr sz="2600" b="1" spc="-165" dirty="0">
                <a:latin typeface="Arial"/>
                <a:cs typeface="Arial"/>
              </a:rPr>
              <a:t>post-venta </a:t>
            </a:r>
            <a:r>
              <a:rPr sz="2600" b="1" spc="-225" dirty="0">
                <a:latin typeface="Arial"/>
                <a:cs typeface="Arial"/>
              </a:rPr>
              <a:t>+  </a:t>
            </a:r>
            <a:r>
              <a:rPr sz="2600" b="1" spc="-145" dirty="0">
                <a:latin typeface="Arial"/>
                <a:cs typeface="Arial"/>
              </a:rPr>
              <a:t>mantenimiento;</a:t>
            </a:r>
            <a:endParaRPr sz="2600">
              <a:latin typeface="Arial"/>
              <a:cs typeface="Arial"/>
            </a:endParaRPr>
          </a:p>
          <a:p>
            <a:pPr marL="527050" marR="132715" indent="-5143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600" b="1" spc="-270" dirty="0">
                <a:latin typeface="Arial"/>
                <a:cs typeface="Arial"/>
              </a:rPr>
              <a:t>Costo </a:t>
            </a:r>
            <a:r>
              <a:rPr sz="2600" b="1" spc="-165" dirty="0">
                <a:latin typeface="Arial"/>
                <a:cs typeface="Arial"/>
              </a:rPr>
              <a:t>(aproximado) </a:t>
            </a:r>
            <a:r>
              <a:rPr sz="2600" b="1" spc="-170" dirty="0">
                <a:latin typeface="Arial"/>
                <a:cs typeface="Arial"/>
              </a:rPr>
              <a:t>de  </a:t>
            </a:r>
            <a:r>
              <a:rPr sz="2600" b="1" spc="-195" dirty="0">
                <a:latin typeface="Arial"/>
                <a:cs typeface="Arial"/>
              </a:rPr>
              <a:t>actualizaciones </a:t>
            </a:r>
            <a:r>
              <a:rPr sz="2600" b="1" spc="-220" dirty="0">
                <a:latin typeface="Arial"/>
                <a:cs typeface="Arial"/>
              </a:rPr>
              <a:t>y </a:t>
            </a:r>
            <a:r>
              <a:rPr sz="2600" b="1" spc="-229" dirty="0">
                <a:latin typeface="Arial"/>
                <a:cs typeface="Arial"/>
              </a:rPr>
              <a:t>nuevas</a:t>
            </a:r>
            <a:r>
              <a:rPr sz="2600" b="1" spc="80" dirty="0">
                <a:latin typeface="Arial"/>
                <a:cs typeface="Arial"/>
              </a:rPr>
              <a:t> </a:t>
            </a:r>
            <a:r>
              <a:rPr sz="2600" b="1" spc="-200" dirty="0">
                <a:latin typeface="Arial"/>
                <a:cs typeface="Arial"/>
              </a:rPr>
              <a:t>versiones.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45906" y="1384169"/>
            <a:ext cx="2288094" cy="1968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3600" y="3505200"/>
            <a:ext cx="2862833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589645" cy="3729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Criterios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Criterio 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4</a:t>
            </a:r>
            <a:r>
              <a:rPr sz="2600" spc="-75" dirty="0">
                <a:latin typeface="Arial"/>
                <a:cs typeface="Arial"/>
              </a:rPr>
              <a:t>: </a:t>
            </a:r>
            <a:r>
              <a:rPr sz="2600" b="1" spc="-185" dirty="0">
                <a:latin typeface="Arial"/>
                <a:cs typeface="Arial"/>
              </a:rPr>
              <a:t>calidad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95" dirty="0">
                <a:latin typeface="Arial"/>
                <a:cs typeface="Arial"/>
              </a:rPr>
              <a:t> </a:t>
            </a:r>
            <a:r>
              <a:rPr sz="2600" b="1" spc="-204" dirty="0">
                <a:latin typeface="Arial"/>
                <a:cs typeface="Arial"/>
              </a:rPr>
              <a:t>diseño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00" dirty="0">
                <a:latin typeface="Arial"/>
                <a:cs typeface="Arial"/>
              </a:rPr>
              <a:t>Amigable </a:t>
            </a:r>
            <a:r>
              <a:rPr sz="2600" b="1" spc="-254" dirty="0">
                <a:latin typeface="Arial"/>
                <a:cs typeface="Arial"/>
              </a:rPr>
              <a:t>con </a:t>
            </a:r>
            <a:r>
              <a:rPr sz="2600" b="1" spc="-114" dirty="0">
                <a:latin typeface="Arial"/>
                <a:cs typeface="Arial"/>
              </a:rPr>
              <a:t>el</a:t>
            </a:r>
            <a:r>
              <a:rPr sz="2600" b="1" spc="70" dirty="0">
                <a:latin typeface="Arial"/>
                <a:cs typeface="Arial"/>
              </a:rPr>
              <a:t> </a:t>
            </a:r>
            <a:r>
              <a:rPr sz="2600" b="1" spc="-185" dirty="0">
                <a:latin typeface="Arial"/>
                <a:cs typeface="Arial"/>
              </a:rPr>
              <a:t>usuario;</a:t>
            </a:r>
            <a:endParaRPr sz="2600">
              <a:latin typeface="Arial"/>
              <a:cs typeface="Arial"/>
            </a:endParaRPr>
          </a:p>
          <a:p>
            <a:pPr marL="527050" marR="845185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10" dirty="0">
                <a:latin typeface="Arial"/>
                <a:cs typeface="Arial"/>
              </a:rPr>
              <a:t>Seguridad: </a:t>
            </a:r>
            <a:r>
              <a:rPr sz="2600" b="1" spc="-180" dirty="0">
                <a:latin typeface="Arial"/>
                <a:cs typeface="Arial"/>
              </a:rPr>
              <a:t>que </a:t>
            </a:r>
            <a:r>
              <a:rPr sz="2600" b="1" spc="-114" dirty="0">
                <a:latin typeface="Arial"/>
                <a:cs typeface="Arial"/>
              </a:rPr>
              <a:t>el </a:t>
            </a:r>
            <a:r>
              <a:rPr sz="2600" b="1" spc="-190" dirty="0">
                <a:latin typeface="Arial"/>
                <a:cs typeface="Arial"/>
              </a:rPr>
              <a:t>usuario </a:t>
            </a:r>
            <a:r>
              <a:rPr sz="2600" b="1" spc="-180" dirty="0">
                <a:latin typeface="Arial"/>
                <a:cs typeface="Arial"/>
              </a:rPr>
              <a:t>pueda </a:t>
            </a:r>
            <a:r>
              <a:rPr sz="2600" b="1" spc="-160" dirty="0">
                <a:latin typeface="Arial"/>
                <a:cs typeface="Arial"/>
              </a:rPr>
              <a:t>ver </a:t>
            </a:r>
            <a:r>
              <a:rPr sz="2600" b="1" spc="-220" dirty="0">
                <a:latin typeface="Arial"/>
                <a:cs typeface="Arial"/>
              </a:rPr>
              <a:t>sólo </a:t>
            </a:r>
            <a:r>
              <a:rPr sz="2600" b="1" spc="-125" dirty="0">
                <a:latin typeface="Arial"/>
                <a:cs typeface="Arial"/>
              </a:rPr>
              <a:t>la </a:t>
            </a:r>
            <a:r>
              <a:rPr sz="2600" b="1" spc="-120" dirty="0">
                <a:latin typeface="Arial"/>
                <a:cs typeface="Arial"/>
              </a:rPr>
              <a:t>parte </a:t>
            </a:r>
            <a:r>
              <a:rPr sz="2600" b="1" spc="-140" dirty="0">
                <a:latin typeface="Arial"/>
                <a:cs typeface="Arial"/>
              </a:rPr>
              <a:t>del  </a:t>
            </a:r>
            <a:r>
              <a:rPr sz="2600" b="1" spc="-210" dirty="0">
                <a:latin typeface="Arial"/>
                <a:cs typeface="Arial"/>
              </a:rPr>
              <a:t>sistema </a:t>
            </a:r>
            <a:r>
              <a:rPr sz="2600" b="1" spc="-180" dirty="0">
                <a:latin typeface="Arial"/>
                <a:cs typeface="Arial"/>
              </a:rPr>
              <a:t>que </a:t>
            </a:r>
            <a:r>
              <a:rPr sz="2600" b="1" spc="-190" dirty="0">
                <a:latin typeface="Arial"/>
                <a:cs typeface="Arial"/>
              </a:rPr>
              <a:t>está</a:t>
            </a:r>
            <a:r>
              <a:rPr sz="2600" b="1" spc="-5" dirty="0">
                <a:latin typeface="Arial"/>
                <a:cs typeface="Arial"/>
              </a:rPr>
              <a:t> </a:t>
            </a:r>
            <a:r>
              <a:rPr sz="2600" b="1" spc="-160" dirty="0">
                <a:latin typeface="Arial"/>
                <a:cs typeface="Arial"/>
              </a:rPr>
              <a:t>autorizado;</a:t>
            </a:r>
            <a:endParaRPr sz="2600">
              <a:latin typeface="Arial"/>
              <a:cs typeface="Arial"/>
            </a:endParaRPr>
          </a:p>
          <a:p>
            <a:pPr marL="527050" marR="508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04" dirty="0">
                <a:latin typeface="Arial"/>
                <a:cs typeface="Arial"/>
              </a:rPr>
              <a:t>Reportes </a:t>
            </a:r>
            <a:r>
              <a:rPr sz="2600" b="1" spc="-140" dirty="0">
                <a:latin typeface="Arial"/>
                <a:cs typeface="Arial"/>
              </a:rPr>
              <a:t>e </a:t>
            </a:r>
            <a:r>
              <a:rPr sz="2600" b="1" spc="-180" dirty="0">
                <a:latin typeface="Arial"/>
                <a:cs typeface="Arial"/>
              </a:rPr>
              <a:t>informes </a:t>
            </a:r>
            <a:r>
              <a:rPr sz="2600" b="1" spc="-220" dirty="0">
                <a:latin typeface="Arial"/>
                <a:cs typeface="Arial"/>
              </a:rPr>
              <a:t>y </a:t>
            </a:r>
            <a:r>
              <a:rPr sz="2600" b="1" spc="-235" dirty="0">
                <a:latin typeface="Arial"/>
                <a:cs typeface="Arial"/>
              </a:rPr>
              <a:t>haga </a:t>
            </a:r>
            <a:r>
              <a:rPr sz="2600" b="1" spc="-225" dirty="0">
                <a:latin typeface="Arial"/>
                <a:cs typeface="Arial"/>
              </a:rPr>
              <a:t>consultas </a:t>
            </a:r>
            <a:r>
              <a:rPr sz="2600" b="1" spc="-180" dirty="0">
                <a:latin typeface="Arial"/>
                <a:cs typeface="Arial"/>
              </a:rPr>
              <a:t>ad </a:t>
            </a:r>
            <a:r>
              <a:rPr sz="2600" b="1" spc="-250" dirty="0">
                <a:latin typeface="Arial"/>
                <a:cs typeface="Arial"/>
              </a:rPr>
              <a:t>hoc </a:t>
            </a:r>
            <a:r>
              <a:rPr sz="2600" b="1" spc="-229" dirty="0">
                <a:latin typeface="Arial"/>
                <a:cs typeface="Arial"/>
              </a:rPr>
              <a:t>diseñas </a:t>
            </a:r>
            <a:r>
              <a:rPr sz="2600" b="1" spc="-160" dirty="0">
                <a:latin typeface="Arial"/>
                <a:cs typeface="Arial"/>
              </a:rPr>
              <a:t>por </a:t>
            </a:r>
            <a:r>
              <a:rPr sz="2600" b="1" spc="-120" dirty="0">
                <a:latin typeface="Arial"/>
                <a:cs typeface="Arial"/>
              </a:rPr>
              <a:t>el  </a:t>
            </a:r>
            <a:r>
              <a:rPr sz="2600" b="1" spc="-185" dirty="0">
                <a:latin typeface="Arial"/>
                <a:cs typeface="Arial"/>
              </a:rPr>
              <a:t>usuario;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600" b="1" spc="-210" dirty="0">
                <a:latin typeface="Arial"/>
                <a:cs typeface="Arial"/>
              </a:rPr>
              <a:t>Ingreso </a:t>
            </a:r>
            <a:r>
              <a:rPr sz="2600" b="1" spc="-200" dirty="0">
                <a:latin typeface="Arial"/>
                <a:cs typeface="Arial"/>
              </a:rPr>
              <a:t>datos </a:t>
            </a:r>
            <a:r>
              <a:rPr sz="2600" b="1" spc="-150" dirty="0">
                <a:latin typeface="Arial"/>
                <a:cs typeface="Arial"/>
              </a:rPr>
              <a:t>interactivo </a:t>
            </a:r>
            <a:r>
              <a:rPr sz="2600" b="1" spc="-220" dirty="0">
                <a:latin typeface="Arial"/>
                <a:cs typeface="Arial"/>
              </a:rPr>
              <a:t>y </a:t>
            </a:r>
            <a:r>
              <a:rPr sz="2600" b="1" spc="-195" dirty="0">
                <a:latin typeface="Arial"/>
                <a:cs typeface="Arial"/>
              </a:rPr>
              <a:t>no</a:t>
            </a:r>
            <a:r>
              <a:rPr sz="2600" b="1" spc="160" dirty="0">
                <a:latin typeface="Arial"/>
                <a:cs typeface="Arial"/>
              </a:rPr>
              <a:t> </a:t>
            </a:r>
            <a:r>
              <a:rPr sz="2600" b="1" spc="-140" dirty="0">
                <a:latin typeface="Arial"/>
                <a:cs typeface="Arial"/>
              </a:rPr>
              <a:t>interactivo.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00" y="4495800"/>
            <a:ext cx="5636513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547100" cy="491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Criterios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Criterio 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6</a:t>
            </a:r>
            <a:r>
              <a:rPr sz="2600" spc="-75" dirty="0">
                <a:latin typeface="Arial"/>
                <a:cs typeface="Arial"/>
              </a:rPr>
              <a:t>: </a:t>
            </a:r>
            <a:r>
              <a:rPr sz="2600" b="1" spc="-204" dirty="0">
                <a:latin typeface="Arial"/>
                <a:cs typeface="Arial"/>
              </a:rPr>
              <a:t>diseño </a:t>
            </a:r>
            <a:r>
              <a:rPr sz="2600" b="1" spc="-225" dirty="0">
                <a:latin typeface="Arial"/>
                <a:cs typeface="Arial"/>
              </a:rPr>
              <a:t>+</a:t>
            </a:r>
            <a:r>
              <a:rPr sz="2600" b="1" spc="-90" dirty="0">
                <a:latin typeface="Arial"/>
                <a:cs typeface="Arial"/>
              </a:rPr>
              <a:t> </a:t>
            </a:r>
            <a:r>
              <a:rPr sz="2600" b="1" spc="-140" dirty="0">
                <a:latin typeface="Arial"/>
                <a:cs typeface="Arial"/>
              </a:rPr>
              <a:t>portabilidad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15" dirty="0">
                <a:latin typeface="Arial"/>
                <a:cs typeface="Arial"/>
              </a:rPr>
              <a:t>Diseño</a:t>
            </a:r>
            <a:r>
              <a:rPr sz="2600" b="1" spc="-135" dirty="0">
                <a:latin typeface="Arial"/>
                <a:cs typeface="Arial"/>
              </a:rPr>
              <a:t> </a:t>
            </a:r>
            <a:r>
              <a:rPr sz="2600" b="1" spc="-120" dirty="0">
                <a:latin typeface="Arial"/>
                <a:cs typeface="Arial"/>
              </a:rPr>
              <a:t>Modular</a:t>
            </a:r>
            <a:endParaRPr sz="2600">
              <a:latin typeface="Arial"/>
              <a:cs typeface="Arial"/>
            </a:endParaRPr>
          </a:p>
          <a:p>
            <a:pPr marL="927100" marR="192405" lvl="1" indent="-45720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229" dirty="0">
                <a:latin typeface="Arial"/>
                <a:cs typeface="Arial"/>
              </a:rPr>
              <a:t>El </a:t>
            </a:r>
            <a:r>
              <a:rPr sz="2600" spc="-135" dirty="0">
                <a:latin typeface="Arial"/>
                <a:cs typeface="Arial"/>
              </a:rPr>
              <a:t>sistema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125" dirty="0">
                <a:latin typeface="Arial"/>
                <a:cs typeface="Arial"/>
              </a:rPr>
              <a:t>debe </a:t>
            </a:r>
            <a:r>
              <a:rPr sz="2600" spc="-35" dirty="0">
                <a:latin typeface="Arial"/>
                <a:cs typeface="Arial"/>
              </a:rPr>
              <a:t>dividir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00" dirty="0">
                <a:latin typeface="Arial"/>
                <a:cs typeface="Arial"/>
              </a:rPr>
              <a:t>módulos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20" dirty="0">
                <a:latin typeface="Arial"/>
                <a:cs typeface="Arial"/>
              </a:rPr>
              <a:t>realizan </a:t>
            </a:r>
            <a:r>
              <a:rPr sz="2600" spc="-180" dirty="0">
                <a:latin typeface="Arial"/>
                <a:cs typeface="Arial"/>
              </a:rPr>
              <a:t>cada  </a:t>
            </a:r>
            <a:r>
              <a:rPr sz="2600" spc="-85" dirty="0">
                <a:latin typeface="Arial"/>
                <a:cs typeface="Arial"/>
              </a:rPr>
              <a:t>uno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65" dirty="0">
                <a:latin typeface="Arial"/>
                <a:cs typeface="Arial"/>
              </a:rPr>
              <a:t>función </a:t>
            </a:r>
            <a:r>
              <a:rPr sz="2600" spc="-130" dirty="0">
                <a:latin typeface="Arial"/>
                <a:cs typeface="Arial"/>
              </a:rPr>
              <a:t>(compras, </a:t>
            </a:r>
            <a:r>
              <a:rPr sz="2600" spc="-125" dirty="0">
                <a:latin typeface="Arial"/>
                <a:cs typeface="Arial"/>
              </a:rPr>
              <a:t>ventas,</a:t>
            </a:r>
            <a:r>
              <a:rPr sz="2600" spc="-285" dirty="0">
                <a:latin typeface="Arial"/>
                <a:cs typeface="Arial"/>
              </a:rPr>
              <a:t> </a:t>
            </a:r>
            <a:r>
              <a:rPr sz="2600" spc="-310" dirty="0">
                <a:latin typeface="Arial"/>
                <a:cs typeface="Arial"/>
              </a:rPr>
              <a:t>…);</a:t>
            </a:r>
            <a:endParaRPr sz="2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100" dirty="0">
                <a:latin typeface="Arial"/>
                <a:cs typeface="Arial"/>
              </a:rPr>
              <a:t>Permite </a:t>
            </a:r>
            <a:r>
              <a:rPr sz="2600" spc="-85" dirty="0">
                <a:latin typeface="Arial"/>
                <a:cs typeface="Arial"/>
              </a:rPr>
              <a:t>no </a:t>
            </a:r>
            <a:r>
              <a:rPr sz="2600" spc="-50" dirty="0">
                <a:latin typeface="Arial"/>
                <a:cs typeface="Arial"/>
              </a:rPr>
              <a:t>tener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00" dirty="0">
                <a:latin typeface="Arial"/>
                <a:cs typeface="Arial"/>
              </a:rPr>
              <a:t>comprar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35" dirty="0">
                <a:latin typeface="Arial"/>
                <a:cs typeface="Arial"/>
              </a:rPr>
              <a:t>sistema</a:t>
            </a:r>
            <a:r>
              <a:rPr sz="2600" spc="-415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completo;</a:t>
            </a:r>
            <a:endParaRPr sz="2600">
              <a:latin typeface="Arial"/>
              <a:cs typeface="Arial"/>
            </a:endParaRPr>
          </a:p>
          <a:p>
            <a:pPr marL="927100" marR="5080" lvl="1" indent="-45720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100" dirty="0">
                <a:latin typeface="Arial"/>
                <a:cs typeface="Arial"/>
              </a:rPr>
              <a:t>módulos </a:t>
            </a:r>
            <a:r>
              <a:rPr sz="2600" spc="-110" dirty="0">
                <a:latin typeface="Arial"/>
                <a:cs typeface="Arial"/>
              </a:rPr>
              <a:t>deben estar </a:t>
            </a:r>
            <a:r>
              <a:rPr sz="2600" spc="-80" dirty="0">
                <a:latin typeface="Arial"/>
                <a:cs typeface="Arial"/>
              </a:rPr>
              <a:t>bien </a:t>
            </a:r>
            <a:r>
              <a:rPr sz="2600" spc="-105" dirty="0">
                <a:latin typeface="Arial"/>
                <a:cs typeface="Arial"/>
              </a:rPr>
              <a:t>integrados </a:t>
            </a:r>
            <a:r>
              <a:rPr sz="2600" spc="-95" dirty="0">
                <a:latin typeface="Arial"/>
                <a:cs typeface="Arial"/>
              </a:rPr>
              <a:t>(acoplamiento) 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55" dirty="0">
                <a:latin typeface="Arial"/>
                <a:cs typeface="Arial"/>
              </a:rPr>
              <a:t>evitar </a:t>
            </a:r>
            <a:r>
              <a:rPr sz="2600" spc="-110" dirty="0">
                <a:latin typeface="Arial"/>
                <a:cs typeface="Arial"/>
              </a:rPr>
              <a:t>reingreso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225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datos.</a:t>
            </a:r>
            <a:endParaRPr sz="2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Wingdings"/>
              <a:buChar char=""/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55" dirty="0">
                <a:latin typeface="Arial"/>
                <a:cs typeface="Arial"/>
              </a:rPr>
              <a:t>Portabilidad</a:t>
            </a:r>
            <a:endParaRPr sz="2600">
              <a:latin typeface="Arial"/>
              <a:cs typeface="Arial"/>
            </a:endParaRPr>
          </a:p>
          <a:p>
            <a:pPr marL="933450" lvl="1" indent="-463550">
              <a:lnSpc>
                <a:spcPct val="100000"/>
              </a:lnSpc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600" spc="-114" dirty="0">
                <a:latin typeface="Arial"/>
                <a:cs typeface="Arial"/>
              </a:rPr>
              <a:t>Posibilidad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0" dirty="0">
                <a:latin typeface="Arial"/>
                <a:cs typeface="Arial"/>
              </a:rPr>
              <a:t>instalar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35" dirty="0">
                <a:latin typeface="Arial"/>
                <a:cs typeface="Arial"/>
              </a:rPr>
              <a:t>sistema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0" dirty="0">
                <a:latin typeface="Arial"/>
                <a:cs typeface="Arial"/>
              </a:rPr>
              <a:t>otro </a:t>
            </a:r>
            <a:r>
              <a:rPr sz="2600" spc="-204" dirty="0">
                <a:latin typeface="Arial"/>
                <a:cs typeface="Arial"/>
              </a:rPr>
              <a:t>HW 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spc="-310" dirty="0">
                <a:latin typeface="Arial"/>
                <a:cs typeface="Arial"/>
              </a:rPr>
              <a:t> </a:t>
            </a:r>
            <a:r>
              <a:rPr sz="2600" spc="-315" dirty="0">
                <a:latin typeface="Arial"/>
                <a:cs typeface="Arial"/>
              </a:rPr>
              <a:t>SO.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184515" cy="565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Criterios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Criterio </a:t>
            </a:r>
            <a:r>
              <a:rPr sz="2600" b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7</a:t>
            </a:r>
            <a:r>
              <a:rPr sz="2600" spc="-75" dirty="0">
                <a:latin typeface="Arial"/>
                <a:cs typeface="Arial"/>
              </a:rPr>
              <a:t>: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b="1" spc="-180" dirty="0">
                <a:latin typeface="Arial"/>
                <a:cs typeface="Arial"/>
              </a:rPr>
              <a:t>otros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80" dirty="0">
                <a:latin typeface="Arial"/>
                <a:cs typeface="Arial"/>
              </a:rPr>
              <a:t>Parametrización</a:t>
            </a:r>
            <a:endParaRPr sz="2600">
              <a:latin typeface="Arial"/>
              <a:cs typeface="Arial"/>
            </a:endParaRPr>
          </a:p>
          <a:p>
            <a:pPr marL="927100" marR="288290" lvl="1" indent="-457200">
              <a:lnSpc>
                <a:spcPct val="100000"/>
              </a:lnSpc>
              <a:spcBef>
                <a:spcPts val="35"/>
              </a:spcBef>
              <a:buFont typeface="Wingdings"/>
              <a:buChar char=""/>
              <a:tabLst>
                <a:tab pos="932815" algn="l"/>
                <a:tab pos="933450" algn="l"/>
              </a:tabLst>
            </a:pPr>
            <a:r>
              <a:rPr sz="2000" spc="-45" dirty="0">
                <a:latin typeface="Arial"/>
                <a:cs typeface="Arial"/>
              </a:rPr>
              <a:t>Permitir </a:t>
            </a:r>
            <a:r>
              <a:rPr sz="2000" spc="-25" dirty="0">
                <a:latin typeface="Arial"/>
                <a:cs typeface="Arial"/>
              </a:rPr>
              <a:t>definir </a:t>
            </a:r>
            <a:r>
              <a:rPr sz="2000" spc="-80" dirty="0">
                <a:latin typeface="Arial"/>
                <a:cs typeface="Arial"/>
              </a:rPr>
              <a:t>parámetros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45" dirty="0">
                <a:latin typeface="Arial"/>
                <a:cs typeface="Arial"/>
              </a:rPr>
              <a:t>modifiquen </a:t>
            </a:r>
            <a:r>
              <a:rPr sz="2000" spc="-145" dirty="0">
                <a:latin typeface="Arial"/>
                <a:cs typeface="Arial"/>
              </a:rPr>
              <a:t>su </a:t>
            </a:r>
            <a:r>
              <a:rPr sz="2000" spc="-50" dirty="0">
                <a:latin typeface="Arial"/>
                <a:cs typeface="Arial"/>
              </a:rPr>
              <a:t>comportamiento</a:t>
            </a:r>
            <a:r>
              <a:rPr sz="2000" spc="-21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sin  </a:t>
            </a:r>
            <a:r>
              <a:rPr sz="2000" spc="-50" dirty="0">
                <a:latin typeface="Arial"/>
                <a:cs typeface="Arial"/>
              </a:rPr>
              <a:t>modificar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95" dirty="0">
                <a:latin typeface="Arial"/>
                <a:cs typeface="Arial"/>
              </a:rPr>
              <a:t>código</a:t>
            </a:r>
            <a:r>
              <a:rPr sz="2000" spc="-19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fuente.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75" dirty="0">
                <a:latin typeface="Arial"/>
                <a:cs typeface="Arial"/>
              </a:rPr>
              <a:t>Disponibilidad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65" dirty="0">
                <a:latin typeface="Arial"/>
                <a:cs typeface="Arial"/>
              </a:rPr>
              <a:t> </a:t>
            </a:r>
            <a:r>
              <a:rPr sz="2600" b="1" spc="-330" dirty="0">
                <a:latin typeface="Arial"/>
                <a:cs typeface="Arial"/>
              </a:rPr>
              <a:t>RRHH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210" dirty="0">
                <a:latin typeface="Arial"/>
                <a:cs typeface="Arial"/>
              </a:rPr>
              <a:t>Servicio</a:t>
            </a:r>
            <a:r>
              <a:rPr sz="2600" b="1" spc="-145" dirty="0">
                <a:latin typeface="Arial"/>
                <a:cs typeface="Arial"/>
              </a:rPr>
              <a:t> </a:t>
            </a:r>
            <a:r>
              <a:rPr sz="2600" b="1" spc="-165" dirty="0">
                <a:latin typeface="Arial"/>
                <a:cs typeface="Arial"/>
              </a:rPr>
              <a:t>post-venta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85" dirty="0">
                <a:latin typeface="Arial"/>
                <a:cs typeface="Arial"/>
              </a:rPr>
              <a:t>Continuidad </a:t>
            </a:r>
            <a:r>
              <a:rPr sz="2600" b="1" spc="-140" dirty="0">
                <a:latin typeface="Arial"/>
                <a:cs typeface="Arial"/>
              </a:rPr>
              <a:t>del</a:t>
            </a:r>
            <a:r>
              <a:rPr sz="2600" b="1" spc="-60" dirty="0">
                <a:latin typeface="Arial"/>
                <a:cs typeface="Arial"/>
              </a:rPr>
              <a:t> </a:t>
            </a:r>
            <a:r>
              <a:rPr sz="2600" b="1" spc="-200" dirty="0">
                <a:latin typeface="Arial"/>
                <a:cs typeface="Arial"/>
              </a:rPr>
              <a:t>servicio</a:t>
            </a:r>
            <a:endParaRPr sz="26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spcBef>
                <a:spcPts val="35"/>
              </a:spcBef>
              <a:buFont typeface="Wingdings"/>
              <a:buChar char=""/>
              <a:tabLst>
                <a:tab pos="984250" algn="l"/>
                <a:tab pos="984885" algn="l"/>
              </a:tabLst>
            </a:pPr>
            <a:r>
              <a:rPr sz="2000" spc="-204" dirty="0">
                <a:latin typeface="Arial"/>
                <a:cs typeface="Arial"/>
              </a:rPr>
              <a:t>Si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70" dirty="0">
                <a:latin typeface="Arial"/>
                <a:cs typeface="Arial"/>
              </a:rPr>
              <a:t>proveedor </a:t>
            </a:r>
            <a:r>
              <a:rPr sz="2000" spc="-120" dirty="0">
                <a:latin typeface="Arial"/>
                <a:cs typeface="Arial"/>
              </a:rPr>
              <a:t>desaparece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90" dirty="0">
                <a:latin typeface="Arial"/>
                <a:cs typeface="Arial"/>
              </a:rPr>
              <a:t>personal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100" dirty="0">
                <a:latin typeface="Arial"/>
                <a:cs typeface="Arial"/>
              </a:rPr>
              <a:t>desvincula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35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empresa-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26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90" dirty="0">
                <a:latin typeface="Arial"/>
                <a:cs typeface="Arial"/>
              </a:rPr>
              <a:t>Actualización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95" dirty="0">
                <a:latin typeface="Arial"/>
                <a:cs typeface="Arial"/>
              </a:rPr>
              <a:t>Referencia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180" dirty="0">
                <a:latin typeface="Arial"/>
                <a:cs typeface="Arial"/>
              </a:rPr>
              <a:t>otros</a:t>
            </a:r>
            <a:r>
              <a:rPr sz="2600" b="1" spc="-15" dirty="0">
                <a:latin typeface="Arial"/>
                <a:cs typeface="Arial"/>
              </a:rPr>
              <a:t> </a:t>
            </a:r>
            <a:r>
              <a:rPr sz="2600" b="1" spc="-220" dirty="0">
                <a:latin typeface="Arial"/>
                <a:cs typeface="Arial"/>
              </a:rPr>
              <a:t>usuarios</a:t>
            </a:r>
            <a:endParaRPr sz="26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spcBef>
                <a:spcPts val="35"/>
              </a:spcBef>
              <a:buFont typeface="Wingdings"/>
              <a:buChar char=""/>
              <a:tabLst>
                <a:tab pos="984250" algn="l"/>
                <a:tab pos="984885" algn="l"/>
              </a:tabLst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65" dirty="0">
                <a:latin typeface="Arial"/>
                <a:cs typeface="Arial"/>
              </a:rPr>
              <a:t>proveedor </a:t>
            </a:r>
            <a:r>
              <a:rPr sz="2000" spc="-60" dirty="0">
                <a:latin typeface="Arial"/>
                <a:cs typeface="Arial"/>
              </a:rPr>
              <a:t>mantiene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105" dirty="0">
                <a:latin typeface="Arial"/>
                <a:cs typeface="Arial"/>
              </a:rPr>
              <a:t>sistema </a:t>
            </a:r>
            <a:r>
              <a:rPr sz="2000" spc="-75" dirty="0">
                <a:latin typeface="Arial"/>
                <a:cs typeface="Arial"/>
              </a:rPr>
              <a:t>al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día.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4317365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Criterios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225" dirty="0">
                <a:latin typeface="Arial"/>
                <a:cs typeface="Arial"/>
              </a:rPr>
              <a:t>Evaluación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spc="-204" dirty="0">
                <a:latin typeface="Arial"/>
                <a:cs typeface="Arial"/>
              </a:rPr>
              <a:t>conveniencia</a:t>
            </a:r>
            <a:endParaRPr sz="26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4650" y="1746250"/>
          <a:ext cx="8458200" cy="426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1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Cuando </a:t>
                      </a:r>
                      <a:r>
                        <a:rPr sz="1400" b="1" spc="-1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quiere…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191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2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 </a:t>
                      </a:r>
                      <a:r>
                        <a:rPr sz="1400" b="1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más </a:t>
                      </a:r>
                      <a:r>
                        <a:rPr sz="1400" b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conveniente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60" dirty="0">
                          <a:latin typeface="Arial"/>
                          <a:cs typeface="Arial"/>
                        </a:rPr>
                        <a:t>Desarrollo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medida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Paquete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60" dirty="0">
                          <a:latin typeface="Arial"/>
                          <a:cs typeface="Arial"/>
                        </a:rPr>
                        <a:t>Cubrir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necesidades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requerimientos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específicos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Tener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mayor satisfacción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necesidades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específicas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90" dirty="0">
                          <a:latin typeface="Arial"/>
                          <a:cs typeface="Arial"/>
                        </a:rPr>
                        <a:t>Necesidades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consisten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soluciones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estándar…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Tener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menos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mantenimiento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Tener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una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ventaja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competitiva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5" dirty="0">
                          <a:latin typeface="Arial"/>
                          <a:cs typeface="Arial"/>
                        </a:rPr>
                        <a:t>Mejor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precio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65" dirty="0">
                          <a:latin typeface="Arial"/>
                          <a:cs typeface="Arial"/>
                        </a:rPr>
                        <a:t>Documentación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interna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controlar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desarrollo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4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sistema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Mejoras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periódicas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45" dirty="0">
                          <a:latin typeface="Arial"/>
                          <a:cs typeface="Arial"/>
                        </a:rPr>
                        <a:t>Mayor confiablidad </a:t>
                      </a:r>
                      <a:r>
                        <a:rPr sz="1400" spc="-145" dirty="0">
                          <a:latin typeface="Arial"/>
                          <a:cs typeface="Arial"/>
                        </a:rPr>
                        <a:t>(SW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probado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muchas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empresas)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Implementación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rápida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Tener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la propiedad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desarrollo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65" dirty="0">
                          <a:latin typeface="Arial"/>
                          <a:cs typeface="Arial"/>
                        </a:rPr>
                        <a:t>Aprovechar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ventajas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195" dirty="0">
                          <a:latin typeface="Arial"/>
                          <a:cs typeface="Arial"/>
                        </a:rPr>
                        <a:t>SW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industrias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particular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58" y="347374"/>
            <a:ext cx="6052820" cy="595503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Virtualización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Computing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</a:pPr>
            <a:r>
              <a:rPr sz="2600" b="1" spc="-240" dirty="0">
                <a:latin typeface="Arial"/>
                <a:cs typeface="Arial"/>
              </a:rPr>
              <a:t>Cloud </a:t>
            </a:r>
            <a:r>
              <a:rPr sz="2600" b="1" spc="-215" dirty="0">
                <a:latin typeface="Arial"/>
                <a:cs typeface="Arial"/>
              </a:rPr>
              <a:t>Computing </a:t>
            </a:r>
            <a:r>
              <a:rPr sz="2600" b="1" spc="-75" dirty="0">
                <a:latin typeface="Arial"/>
                <a:cs typeface="Arial"/>
              </a:rPr>
              <a:t>- </a:t>
            </a:r>
            <a:r>
              <a:rPr sz="2600" b="1" spc="-245" dirty="0">
                <a:latin typeface="Arial"/>
                <a:cs typeface="Arial"/>
              </a:rPr>
              <a:t>¿Qué</a:t>
            </a:r>
            <a:r>
              <a:rPr sz="2600" b="1" spc="50" dirty="0">
                <a:latin typeface="Arial"/>
                <a:cs typeface="Arial"/>
              </a:rPr>
              <a:t> </a:t>
            </a:r>
            <a:r>
              <a:rPr sz="2600" b="1" spc="-315" dirty="0">
                <a:latin typeface="Arial"/>
                <a:cs typeface="Arial"/>
              </a:rPr>
              <a:t>es?</a:t>
            </a:r>
            <a:endParaRPr sz="2600">
              <a:latin typeface="Arial"/>
              <a:cs typeface="Arial"/>
            </a:endParaRPr>
          </a:p>
          <a:p>
            <a:pPr marL="313690" marR="5080" indent="-297180" algn="just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314325" algn="l"/>
              </a:tabLst>
            </a:pPr>
            <a:r>
              <a:rPr sz="16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Conceptualmente</a:t>
            </a:r>
            <a:r>
              <a:rPr sz="1600" spc="-90" dirty="0">
                <a:latin typeface="Arial"/>
                <a:cs typeface="Arial"/>
              </a:rPr>
              <a:t>, </a:t>
            </a:r>
            <a:r>
              <a:rPr sz="1600" spc="-75" dirty="0">
                <a:latin typeface="Arial"/>
                <a:cs typeface="Arial"/>
              </a:rPr>
              <a:t>describe </a:t>
            </a:r>
            <a:r>
              <a:rPr sz="1600" spc="-50" dirty="0">
                <a:latin typeface="Arial"/>
                <a:cs typeface="Arial"/>
              </a:rPr>
              <a:t>un </a:t>
            </a:r>
            <a:r>
              <a:rPr sz="1600" spc="-85" dirty="0">
                <a:latin typeface="Arial"/>
                <a:cs typeface="Arial"/>
              </a:rPr>
              <a:t>sistema </a:t>
            </a:r>
            <a:r>
              <a:rPr sz="1600" spc="-65" dirty="0">
                <a:latin typeface="Arial"/>
                <a:cs typeface="Arial"/>
              </a:rPr>
              <a:t>donde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80" dirty="0">
                <a:latin typeface="Arial"/>
                <a:cs typeface="Arial"/>
              </a:rPr>
              <a:t>usuarios </a:t>
            </a:r>
            <a:r>
              <a:rPr sz="1600" spc="-70" dirty="0">
                <a:latin typeface="Arial"/>
                <a:cs typeface="Arial"/>
              </a:rPr>
              <a:t>pueden  </a:t>
            </a:r>
            <a:r>
              <a:rPr sz="1600" spc="-80" dirty="0">
                <a:latin typeface="Arial"/>
                <a:cs typeface="Arial"/>
              </a:rPr>
              <a:t>conectarse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95" dirty="0">
                <a:latin typeface="Arial"/>
                <a:cs typeface="Arial"/>
              </a:rPr>
              <a:t>vasta </a:t>
            </a:r>
            <a:r>
              <a:rPr sz="1600" spc="-50" dirty="0">
                <a:latin typeface="Arial"/>
                <a:cs typeface="Arial"/>
              </a:rPr>
              <a:t>red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85" dirty="0">
                <a:latin typeface="Arial"/>
                <a:cs typeface="Arial"/>
              </a:rPr>
              <a:t>recursos </a:t>
            </a:r>
            <a:r>
              <a:rPr sz="1600" spc="-65" dirty="0">
                <a:latin typeface="Arial"/>
                <a:cs typeface="Arial"/>
              </a:rPr>
              <a:t>computacionales, </a:t>
            </a:r>
            <a:r>
              <a:rPr sz="1600" spc="-70" dirty="0">
                <a:latin typeface="Arial"/>
                <a:cs typeface="Arial"/>
              </a:rPr>
              <a:t>datos </a:t>
            </a:r>
            <a:r>
              <a:rPr sz="1600" spc="-75" dirty="0">
                <a:latin typeface="Arial"/>
                <a:cs typeface="Arial"/>
              </a:rPr>
              <a:t>y  </a:t>
            </a:r>
            <a:r>
              <a:rPr sz="1600" spc="-70" dirty="0">
                <a:latin typeface="Arial"/>
                <a:cs typeface="Arial"/>
              </a:rPr>
              <a:t>servidores que residen </a:t>
            </a:r>
            <a:r>
              <a:rPr sz="1600" spc="-75" dirty="0">
                <a:latin typeface="Arial"/>
                <a:cs typeface="Arial"/>
              </a:rPr>
              <a:t>en algún </a:t>
            </a:r>
            <a:r>
              <a:rPr sz="1600" spc="-65" dirty="0">
                <a:latin typeface="Arial"/>
                <a:cs typeface="Arial"/>
              </a:rPr>
              <a:t>lugar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25" dirty="0">
                <a:latin typeface="Arial"/>
                <a:cs typeface="Arial"/>
              </a:rPr>
              <a:t>Internet </a:t>
            </a:r>
            <a:r>
              <a:rPr sz="1600" spc="-105" dirty="0">
                <a:latin typeface="Arial"/>
                <a:cs typeface="Arial"/>
              </a:rPr>
              <a:t>(es </a:t>
            </a:r>
            <a:r>
              <a:rPr sz="1600" spc="-50" dirty="0">
                <a:latin typeface="Arial"/>
                <a:cs typeface="Arial"/>
              </a:rPr>
              <a:t>decir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65" dirty="0">
                <a:latin typeface="Arial"/>
                <a:cs typeface="Arial"/>
              </a:rPr>
              <a:t>la  </a:t>
            </a:r>
            <a:r>
              <a:rPr sz="1600" spc="-10" dirty="0">
                <a:latin typeface="Arial"/>
                <a:cs typeface="Arial"/>
              </a:rPr>
              <a:t>“nube”)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65" dirty="0">
                <a:latin typeface="Arial"/>
                <a:cs typeface="Arial"/>
              </a:rPr>
              <a:t>lugar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hacerlo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65" dirty="0">
                <a:latin typeface="Arial"/>
                <a:cs typeface="Arial"/>
              </a:rPr>
              <a:t>máquina </a:t>
            </a:r>
            <a:r>
              <a:rPr sz="1600" spc="-60" dirty="0">
                <a:latin typeface="Arial"/>
                <a:cs typeface="Arial"/>
              </a:rPr>
              <a:t>local,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155" dirty="0">
                <a:latin typeface="Arial"/>
                <a:cs typeface="Arial"/>
              </a:rPr>
              <a:t>Red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0" dirty="0">
                <a:latin typeface="Arial"/>
                <a:cs typeface="Arial"/>
              </a:rPr>
              <a:t>Área  </a:t>
            </a:r>
            <a:r>
              <a:rPr sz="1600" spc="-105" dirty="0">
                <a:latin typeface="Arial"/>
                <a:cs typeface="Arial"/>
              </a:rPr>
              <a:t>Local </a:t>
            </a:r>
            <a:r>
              <a:rPr sz="1600" spc="-120" dirty="0">
                <a:latin typeface="Arial"/>
                <a:cs typeface="Arial"/>
              </a:rPr>
              <a:t>(LAN) </a:t>
            </a:r>
            <a:r>
              <a:rPr sz="1600" spc="-45" dirty="0">
                <a:latin typeface="Arial"/>
                <a:cs typeface="Arial"/>
              </a:rPr>
              <a:t>o </a:t>
            </a:r>
            <a:r>
              <a:rPr sz="1600" spc="-55" dirty="0">
                <a:latin typeface="Arial"/>
                <a:cs typeface="Arial"/>
              </a:rPr>
              <a:t>un </a:t>
            </a:r>
            <a:r>
              <a:rPr sz="1600" spc="-65" dirty="0">
                <a:latin typeface="Arial"/>
                <a:cs typeface="Arial"/>
              </a:rPr>
              <a:t>data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center</a:t>
            </a:r>
            <a:r>
              <a:rPr sz="1000" spc="-4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13690" marR="5715" indent="-297180" algn="just">
              <a:lnSpc>
                <a:spcPct val="100000"/>
              </a:lnSpc>
              <a:buChar char="•"/>
              <a:tabLst>
                <a:tab pos="314325" algn="l"/>
              </a:tabLst>
            </a:pPr>
            <a:r>
              <a:rPr sz="1600" spc="-80" dirty="0">
                <a:latin typeface="Arial"/>
                <a:cs typeface="Arial"/>
              </a:rPr>
              <a:t>Proviene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65" dirty="0">
                <a:latin typeface="Arial"/>
                <a:cs typeface="Arial"/>
              </a:rPr>
              <a:t>concepto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i="1" spc="-95" dirty="0">
                <a:latin typeface="Trebuchet MS"/>
                <a:cs typeface="Trebuchet MS"/>
              </a:rPr>
              <a:t>Grid </a:t>
            </a:r>
            <a:r>
              <a:rPr sz="1600" i="1" spc="-75" dirty="0">
                <a:latin typeface="Trebuchet MS"/>
                <a:cs typeface="Trebuchet MS"/>
              </a:rPr>
              <a:t>Computing </a:t>
            </a:r>
            <a:r>
              <a:rPr sz="1600" spc="-70" dirty="0">
                <a:latin typeface="Arial"/>
                <a:cs typeface="Arial"/>
              </a:rPr>
              <a:t>(conexión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50" dirty="0">
                <a:latin typeface="Arial"/>
                <a:cs typeface="Arial"/>
              </a:rPr>
              <a:t>red  </a:t>
            </a:r>
            <a:r>
              <a:rPr sz="1600" spc="-60" dirty="0">
                <a:latin typeface="Arial"/>
                <a:cs typeface="Arial"/>
              </a:rPr>
              <a:t>computacional </a:t>
            </a:r>
            <a:r>
              <a:rPr sz="1600" spc="-20" dirty="0">
                <a:latin typeface="Arial"/>
                <a:cs typeface="Arial"/>
              </a:rPr>
              <a:t>tal </a:t>
            </a:r>
            <a:r>
              <a:rPr sz="1600" spc="-75" dirty="0">
                <a:latin typeface="Arial"/>
                <a:cs typeface="Arial"/>
              </a:rPr>
              <a:t>como </a:t>
            </a:r>
            <a:r>
              <a:rPr sz="1600" spc="-135" dirty="0">
                <a:latin typeface="Arial"/>
                <a:cs typeface="Arial"/>
              </a:rPr>
              <a:t>se </a:t>
            </a:r>
            <a:r>
              <a:rPr sz="1600" spc="-105" dirty="0">
                <a:latin typeface="Arial"/>
                <a:cs typeface="Arial"/>
              </a:rPr>
              <a:t>accede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50" dirty="0">
                <a:latin typeface="Arial"/>
                <a:cs typeface="Arial"/>
              </a:rPr>
              <a:t>red eléctrica)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5" dirty="0">
                <a:latin typeface="Arial"/>
                <a:cs typeface="Arial"/>
              </a:rPr>
              <a:t>funciona  </a:t>
            </a:r>
            <a:r>
              <a:rPr sz="1600" spc="-100" dirty="0">
                <a:latin typeface="Arial"/>
                <a:cs typeface="Arial"/>
              </a:rPr>
              <a:t>gracias </a:t>
            </a:r>
            <a:r>
              <a:rPr sz="1600" spc="-60" dirty="0">
                <a:latin typeface="Arial"/>
                <a:cs typeface="Arial"/>
              </a:rPr>
              <a:t>al </a:t>
            </a:r>
            <a:r>
              <a:rPr sz="1600" spc="-50" dirty="0">
                <a:latin typeface="Arial"/>
                <a:cs typeface="Arial"/>
              </a:rPr>
              <a:t>crecimiento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</a:t>
            </a:r>
            <a:r>
              <a:rPr sz="1600" spc="-16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virtualización.</a:t>
            </a:r>
            <a:endParaRPr sz="1600">
              <a:latin typeface="Arial"/>
              <a:cs typeface="Arial"/>
            </a:endParaRPr>
          </a:p>
          <a:p>
            <a:pPr marL="313690" marR="5715" indent="-297180" algn="just">
              <a:lnSpc>
                <a:spcPct val="100000"/>
              </a:lnSpc>
              <a:buChar char="•"/>
              <a:tabLst>
                <a:tab pos="314325" algn="l"/>
              </a:tabLst>
            </a:pPr>
            <a:r>
              <a:rPr sz="1600" spc="-235" dirty="0">
                <a:latin typeface="Arial"/>
                <a:cs typeface="Arial"/>
              </a:rPr>
              <a:t>Es </a:t>
            </a:r>
            <a:r>
              <a:rPr sz="1600" spc="-55" dirty="0">
                <a:latin typeface="Arial"/>
                <a:cs typeface="Arial"/>
              </a:rPr>
              <a:t>un </a:t>
            </a:r>
            <a:r>
              <a:rPr sz="1600" spc="-75" dirty="0">
                <a:latin typeface="Arial"/>
                <a:cs typeface="Arial"/>
              </a:rPr>
              <a:t>nuevo </a:t>
            </a:r>
            <a:r>
              <a:rPr sz="1600" spc="-50" dirty="0">
                <a:latin typeface="Arial"/>
                <a:cs typeface="Arial"/>
              </a:rPr>
              <a:t>modelo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prestación </a:t>
            </a:r>
            <a:r>
              <a:rPr sz="1600" spc="-75" dirty="0">
                <a:latin typeface="Arial"/>
                <a:cs typeface="Arial"/>
              </a:rPr>
              <a:t>de servicios de negocio y  </a:t>
            </a:r>
            <a:r>
              <a:rPr sz="1600" spc="-65" dirty="0">
                <a:latin typeface="Arial"/>
                <a:cs typeface="Arial"/>
              </a:rPr>
              <a:t>tecnología,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30" dirty="0">
                <a:latin typeface="Arial"/>
                <a:cs typeface="Arial"/>
              </a:rPr>
              <a:t>permite </a:t>
            </a:r>
            <a:r>
              <a:rPr sz="1600" spc="-65" dirty="0">
                <a:latin typeface="Arial"/>
                <a:cs typeface="Arial"/>
              </a:rPr>
              <a:t>incluso al usuario </a:t>
            </a:r>
            <a:r>
              <a:rPr sz="1600" spc="-85" dirty="0">
                <a:latin typeface="Arial"/>
                <a:cs typeface="Arial"/>
              </a:rPr>
              <a:t>acceder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55" dirty="0">
                <a:latin typeface="Arial"/>
                <a:cs typeface="Arial"/>
              </a:rPr>
              <a:t>un </a:t>
            </a:r>
            <a:r>
              <a:rPr sz="1600" spc="-75" dirty="0">
                <a:latin typeface="Arial"/>
                <a:cs typeface="Arial"/>
              </a:rPr>
              <a:t>catálogo </a:t>
            </a:r>
            <a:r>
              <a:rPr sz="1600" spc="-80" dirty="0">
                <a:latin typeface="Arial"/>
                <a:cs typeface="Arial"/>
              </a:rPr>
              <a:t>de  </a:t>
            </a:r>
            <a:r>
              <a:rPr sz="1600" spc="-75" dirty="0">
                <a:latin typeface="Arial"/>
                <a:cs typeface="Arial"/>
              </a:rPr>
              <a:t>servicios </a:t>
            </a:r>
            <a:r>
              <a:rPr sz="1600" spc="-85" dirty="0">
                <a:latin typeface="Arial"/>
                <a:cs typeface="Arial"/>
              </a:rPr>
              <a:t>estandarizados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60" dirty="0">
                <a:latin typeface="Arial"/>
                <a:cs typeface="Arial"/>
              </a:rPr>
              <a:t>responder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60" dirty="0">
                <a:latin typeface="Arial"/>
                <a:cs typeface="Arial"/>
              </a:rPr>
              <a:t>ellos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100" dirty="0">
                <a:latin typeface="Arial"/>
                <a:cs typeface="Arial"/>
              </a:rPr>
              <a:t>las necesidades </a:t>
            </a:r>
            <a:r>
              <a:rPr sz="1600" spc="-80" dirty="0">
                <a:latin typeface="Arial"/>
                <a:cs typeface="Arial"/>
              </a:rPr>
              <a:t>de  </a:t>
            </a:r>
            <a:r>
              <a:rPr sz="1600" spc="-114" dirty="0">
                <a:latin typeface="Arial"/>
                <a:cs typeface="Arial"/>
              </a:rPr>
              <a:t>su </a:t>
            </a:r>
            <a:r>
              <a:rPr sz="1600" spc="-75" dirty="0">
                <a:latin typeface="Arial"/>
                <a:cs typeface="Arial"/>
              </a:rPr>
              <a:t>negocio, de </a:t>
            </a:r>
            <a:r>
              <a:rPr sz="1600" spc="-45" dirty="0">
                <a:latin typeface="Arial"/>
                <a:cs typeface="Arial"/>
              </a:rPr>
              <a:t>forma </a:t>
            </a:r>
            <a:r>
              <a:rPr sz="1600" spc="-40" dirty="0">
                <a:latin typeface="Arial"/>
                <a:cs typeface="Arial"/>
              </a:rPr>
              <a:t>flexible </a:t>
            </a:r>
            <a:r>
              <a:rPr sz="1600" spc="-75" dirty="0">
                <a:latin typeface="Arial"/>
                <a:cs typeface="Arial"/>
              </a:rPr>
              <a:t>y</a:t>
            </a:r>
            <a:r>
              <a:rPr sz="1600" spc="-180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adaptativa.</a:t>
            </a:r>
            <a:endParaRPr sz="1600">
              <a:latin typeface="Arial"/>
              <a:cs typeface="Arial"/>
            </a:endParaRPr>
          </a:p>
          <a:p>
            <a:pPr marL="313690" marR="5080" indent="-29718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314325" algn="l"/>
              </a:tabLst>
            </a:pPr>
            <a:r>
              <a:rPr sz="1600" spc="-105" dirty="0">
                <a:latin typeface="Arial"/>
                <a:cs typeface="Arial"/>
              </a:rPr>
              <a:t>Puede </a:t>
            </a:r>
            <a:r>
              <a:rPr sz="1600" spc="-55" dirty="0">
                <a:latin typeface="Arial"/>
                <a:cs typeface="Arial"/>
              </a:rPr>
              <a:t>proveer </a:t>
            </a:r>
            <a:r>
              <a:rPr sz="1600" spc="-114" dirty="0">
                <a:latin typeface="Arial"/>
                <a:cs typeface="Arial"/>
              </a:rPr>
              <a:t>acceso </a:t>
            </a:r>
            <a:r>
              <a:rPr sz="1600" i="1" spc="-65" dirty="0">
                <a:latin typeface="Trebuchet MS"/>
                <a:cs typeface="Trebuchet MS"/>
              </a:rPr>
              <a:t>on-demand </a:t>
            </a:r>
            <a:r>
              <a:rPr sz="1600" spc="-60" dirty="0">
                <a:latin typeface="Arial"/>
                <a:cs typeface="Arial"/>
              </a:rPr>
              <a:t>al </a:t>
            </a:r>
            <a:r>
              <a:rPr sz="1600" spc="-50" dirty="0">
                <a:latin typeface="Arial"/>
                <a:cs typeface="Arial"/>
              </a:rPr>
              <a:t>poder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procesamiento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80" dirty="0">
                <a:latin typeface="Arial"/>
                <a:cs typeface="Arial"/>
              </a:rPr>
              <a:t>una  </a:t>
            </a:r>
            <a:r>
              <a:rPr sz="1600" spc="-65" dirty="0">
                <a:latin typeface="Arial"/>
                <a:cs typeface="Arial"/>
              </a:rPr>
              <a:t>supercomputadora </a:t>
            </a:r>
            <a:r>
              <a:rPr sz="1600" spc="-75" dirty="0">
                <a:latin typeface="Arial"/>
                <a:cs typeface="Arial"/>
              </a:rPr>
              <a:t>(</a:t>
            </a:r>
            <a:r>
              <a:rPr sz="1600" i="1" spc="-75" dirty="0">
                <a:latin typeface="Trebuchet MS"/>
                <a:cs typeface="Trebuchet MS"/>
              </a:rPr>
              <a:t>mainframe</a:t>
            </a:r>
            <a:r>
              <a:rPr sz="1600" spc="-75" dirty="0">
                <a:latin typeface="Arial"/>
                <a:cs typeface="Arial"/>
              </a:rPr>
              <a:t>), </a:t>
            </a:r>
            <a:r>
              <a:rPr sz="1600" spc="-65" dirty="0">
                <a:latin typeface="Arial"/>
                <a:cs typeface="Arial"/>
              </a:rPr>
              <a:t>inclusive </a:t>
            </a:r>
            <a:r>
              <a:rPr sz="1600" spc="-55" dirty="0">
                <a:latin typeface="Arial"/>
                <a:cs typeface="Arial"/>
              </a:rPr>
              <a:t>un dispositivo </a:t>
            </a:r>
            <a:r>
              <a:rPr sz="1600" spc="-35" dirty="0">
                <a:latin typeface="Arial"/>
                <a:cs typeface="Arial"/>
              </a:rPr>
              <a:t>móvil </a:t>
            </a:r>
            <a:r>
              <a:rPr sz="1600" spc="-75" dirty="0">
                <a:latin typeface="Arial"/>
                <a:cs typeface="Arial"/>
              </a:rPr>
              <a:t>como 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i="1" spc="-70" dirty="0">
                <a:latin typeface="Trebuchet MS"/>
                <a:cs typeface="Trebuchet MS"/>
              </a:rPr>
              <a:t>smartphones </a:t>
            </a:r>
            <a:r>
              <a:rPr sz="1600" spc="-45" dirty="0">
                <a:latin typeface="Arial"/>
                <a:cs typeface="Arial"/>
              </a:rPr>
              <a:t>o </a:t>
            </a:r>
            <a:r>
              <a:rPr sz="1600" spc="-95" dirty="0">
                <a:latin typeface="Arial"/>
                <a:cs typeface="Arial"/>
              </a:rPr>
              <a:t>las </a:t>
            </a:r>
            <a:r>
              <a:rPr sz="1600" spc="-55" dirty="0">
                <a:latin typeface="Arial"/>
                <a:cs typeface="Arial"/>
              </a:rPr>
              <a:t>laptops. </a:t>
            </a:r>
            <a:r>
              <a:rPr sz="1600" spc="-90" dirty="0">
                <a:latin typeface="Arial"/>
                <a:cs typeface="Arial"/>
              </a:rPr>
              <a:t>Sirven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135" dirty="0">
                <a:latin typeface="Arial"/>
                <a:cs typeface="Arial"/>
              </a:rPr>
              <a:t>sus </a:t>
            </a:r>
            <a:r>
              <a:rPr sz="1600" spc="-80" dirty="0">
                <a:latin typeface="Arial"/>
                <a:cs typeface="Arial"/>
              </a:rPr>
              <a:t>usuarios </a:t>
            </a:r>
            <a:r>
              <a:rPr sz="1600" spc="-100" dirty="0">
                <a:latin typeface="Arial"/>
                <a:cs typeface="Arial"/>
              </a:rPr>
              <a:t>desde </a:t>
            </a:r>
            <a:r>
              <a:rPr sz="1600" spc="-70" dirty="0">
                <a:latin typeface="Arial"/>
                <a:cs typeface="Arial"/>
              </a:rPr>
              <a:t>varios  proveedores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40" dirty="0">
                <a:latin typeface="Arial"/>
                <a:cs typeface="Arial"/>
              </a:rPr>
              <a:t>alojamiento </a:t>
            </a:r>
            <a:r>
              <a:rPr sz="1600" spc="-70" dirty="0">
                <a:latin typeface="Arial"/>
                <a:cs typeface="Arial"/>
              </a:rPr>
              <a:t>(hosts) </a:t>
            </a:r>
            <a:r>
              <a:rPr sz="1600" spc="-45" dirty="0">
                <a:latin typeface="Arial"/>
                <a:cs typeface="Arial"/>
              </a:rPr>
              <a:t>repartidos </a:t>
            </a:r>
            <a:r>
              <a:rPr sz="1600" spc="-50" dirty="0">
                <a:latin typeface="Arial"/>
                <a:cs typeface="Arial"/>
              </a:rPr>
              <a:t>frecuentemente </a:t>
            </a:r>
            <a:r>
              <a:rPr sz="1600" spc="-25" dirty="0">
                <a:latin typeface="Arial"/>
                <a:cs typeface="Arial"/>
              </a:rPr>
              <a:t>por  </a:t>
            </a:r>
            <a:r>
              <a:rPr sz="1600" spc="-20" dirty="0">
                <a:latin typeface="Arial"/>
                <a:cs typeface="Arial"/>
              </a:rPr>
              <a:t>todo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55" dirty="0">
                <a:latin typeface="Arial"/>
                <a:cs typeface="Arial"/>
              </a:rPr>
              <a:t>mundo. </a:t>
            </a:r>
            <a:r>
              <a:rPr sz="1600" spc="-135" dirty="0">
                <a:latin typeface="Arial"/>
                <a:cs typeface="Arial"/>
              </a:rPr>
              <a:t>Esta </a:t>
            </a:r>
            <a:r>
              <a:rPr sz="1600" spc="-65" dirty="0">
                <a:latin typeface="Arial"/>
                <a:cs typeface="Arial"/>
              </a:rPr>
              <a:t>medida </a:t>
            </a:r>
            <a:r>
              <a:rPr sz="1600" spc="-70" dirty="0">
                <a:latin typeface="Arial"/>
                <a:cs typeface="Arial"/>
              </a:rPr>
              <a:t>reduce los </a:t>
            </a:r>
            <a:r>
              <a:rPr sz="1600" spc="-90" dirty="0">
                <a:latin typeface="Arial"/>
                <a:cs typeface="Arial"/>
              </a:rPr>
              <a:t>costes, </a:t>
            </a:r>
            <a:r>
              <a:rPr sz="1600" spc="-80" dirty="0">
                <a:latin typeface="Arial"/>
                <a:cs typeface="Arial"/>
              </a:rPr>
              <a:t>garantiza </a:t>
            </a:r>
            <a:r>
              <a:rPr sz="1600" spc="-50" dirty="0">
                <a:latin typeface="Arial"/>
                <a:cs typeface="Arial"/>
              </a:rPr>
              <a:t>un </a:t>
            </a:r>
            <a:r>
              <a:rPr sz="1600" spc="-30" dirty="0">
                <a:latin typeface="Arial"/>
                <a:cs typeface="Arial"/>
              </a:rPr>
              <a:t>mejor  </a:t>
            </a:r>
            <a:r>
              <a:rPr sz="1600" spc="-25" dirty="0">
                <a:latin typeface="Arial"/>
                <a:cs typeface="Arial"/>
              </a:rPr>
              <a:t>tiempo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actividad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que los </a:t>
            </a:r>
            <a:r>
              <a:rPr sz="1600" spc="-50" dirty="0">
                <a:latin typeface="Arial"/>
                <a:cs typeface="Arial"/>
              </a:rPr>
              <a:t>sitios </a:t>
            </a:r>
            <a:r>
              <a:rPr sz="1600" spc="-55" dirty="0">
                <a:latin typeface="Arial"/>
                <a:cs typeface="Arial"/>
              </a:rPr>
              <a:t>web </a:t>
            </a:r>
            <a:r>
              <a:rPr sz="1600" spc="-114" dirty="0">
                <a:latin typeface="Arial"/>
                <a:cs typeface="Arial"/>
              </a:rPr>
              <a:t>sean </a:t>
            </a:r>
            <a:r>
              <a:rPr sz="1600" spc="-65" dirty="0">
                <a:latin typeface="Arial"/>
                <a:cs typeface="Arial"/>
              </a:rPr>
              <a:t>invulnerables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70" dirty="0">
                <a:latin typeface="Arial"/>
                <a:cs typeface="Arial"/>
              </a:rPr>
              <a:t>los  </a:t>
            </a:r>
            <a:r>
              <a:rPr sz="1600" spc="-95" dirty="0">
                <a:latin typeface="Arial"/>
                <a:cs typeface="Arial"/>
              </a:rPr>
              <a:t>hackers,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70" dirty="0">
                <a:latin typeface="Arial"/>
                <a:cs typeface="Arial"/>
              </a:rPr>
              <a:t>los gobiernos </a:t>
            </a:r>
            <a:r>
              <a:rPr sz="1600" spc="-80" dirty="0">
                <a:latin typeface="Arial"/>
                <a:cs typeface="Arial"/>
              </a:rPr>
              <a:t>locales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135" dirty="0">
                <a:latin typeface="Arial"/>
                <a:cs typeface="Arial"/>
              </a:rPr>
              <a:t>sus </a:t>
            </a:r>
            <a:r>
              <a:rPr sz="1600" spc="-90" dirty="0">
                <a:latin typeface="Arial"/>
                <a:cs typeface="Arial"/>
              </a:rPr>
              <a:t>redadas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60" dirty="0">
                <a:latin typeface="Arial"/>
                <a:cs typeface="Arial"/>
              </a:rPr>
              <a:t>policiales.</a:t>
            </a:r>
            <a:endParaRPr sz="16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1600" b="1" spc="-90" dirty="0">
                <a:latin typeface="Arial"/>
                <a:cs typeface="Arial"/>
              </a:rPr>
              <a:t>Video</a:t>
            </a:r>
            <a:r>
              <a:rPr sz="1600" spc="-90" dirty="0">
                <a:latin typeface="Arial"/>
                <a:cs typeface="Arial"/>
              </a:rPr>
              <a:t>: </a:t>
            </a:r>
            <a:r>
              <a:rPr sz="1600" i="1" spc="-95" dirty="0">
                <a:latin typeface="Trebuchet MS"/>
                <a:cs typeface="Trebuchet MS"/>
              </a:rPr>
              <a:t>C.Computing </a:t>
            </a:r>
            <a:r>
              <a:rPr sz="1600" spc="-45" dirty="0">
                <a:latin typeface="Arial"/>
                <a:cs typeface="Arial"/>
              </a:rPr>
              <a:t>-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u="heavy" spc="-7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2"/>
              </a:rPr>
              <a:t>https://www.youtube.com/watch?v=HYuZK3X28FU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0" y="1161634"/>
            <a:ext cx="1390650" cy="1327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48600" y="1219200"/>
            <a:ext cx="1219200" cy="1219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5006" y="4495800"/>
            <a:ext cx="2466594" cy="18478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2656" y="2479548"/>
            <a:ext cx="1914144" cy="19141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Software</a:t>
            </a:r>
            <a:r>
              <a:rPr spc="-210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58" y="347374"/>
            <a:ext cx="5900420" cy="586359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Virtualización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Cloud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Computing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Times New Roman"/>
              <a:cs typeface="Times New Roman"/>
            </a:endParaRPr>
          </a:p>
          <a:p>
            <a:pPr marL="19685" marR="6350">
              <a:lnSpc>
                <a:spcPct val="100000"/>
              </a:lnSpc>
            </a:pPr>
            <a:r>
              <a:rPr sz="2600" b="1" spc="-240" dirty="0">
                <a:latin typeface="Arial"/>
                <a:cs typeface="Arial"/>
              </a:rPr>
              <a:t>Cloud </a:t>
            </a:r>
            <a:r>
              <a:rPr sz="2600" b="1" spc="-210" dirty="0">
                <a:latin typeface="Arial"/>
                <a:cs typeface="Arial"/>
              </a:rPr>
              <a:t>Computing </a:t>
            </a:r>
            <a:r>
              <a:rPr sz="2600" b="1" spc="-75" dirty="0">
                <a:latin typeface="Arial"/>
                <a:cs typeface="Arial"/>
              </a:rPr>
              <a:t>- </a:t>
            </a:r>
            <a:r>
              <a:rPr sz="2600" b="1" spc="-270" dirty="0">
                <a:latin typeface="Arial"/>
                <a:cs typeface="Arial"/>
              </a:rPr>
              <a:t>¿Cuál </a:t>
            </a:r>
            <a:r>
              <a:rPr sz="2600" b="1" spc="-275" dirty="0">
                <a:latin typeface="Arial"/>
                <a:cs typeface="Arial"/>
              </a:rPr>
              <a:t>es </a:t>
            </a:r>
            <a:r>
              <a:rPr sz="2600" b="1" spc="-110" dirty="0">
                <a:latin typeface="Arial"/>
                <a:cs typeface="Arial"/>
              </a:rPr>
              <a:t>el </a:t>
            </a:r>
            <a:r>
              <a:rPr sz="2600" b="1" spc="-170" dirty="0">
                <a:latin typeface="Arial"/>
                <a:cs typeface="Arial"/>
              </a:rPr>
              <a:t>impacto </a:t>
            </a:r>
            <a:r>
              <a:rPr sz="2600" b="1" spc="-180" dirty="0">
                <a:latin typeface="Arial"/>
                <a:cs typeface="Arial"/>
              </a:rPr>
              <a:t>que  </a:t>
            </a:r>
            <a:r>
              <a:rPr sz="2600" b="1" spc="-215" dirty="0">
                <a:latin typeface="Arial"/>
                <a:cs typeface="Arial"/>
              </a:rPr>
              <a:t>posee </a:t>
            </a:r>
            <a:r>
              <a:rPr sz="2600" b="1" spc="-170" dirty="0">
                <a:latin typeface="Arial"/>
                <a:cs typeface="Arial"/>
              </a:rPr>
              <a:t>en </a:t>
            </a:r>
            <a:r>
              <a:rPr sz="2600" b="1" spc="-229" dirty="0">
                <a:latin typeface="Arial"/>
                <a:cs typeface="Arial"/>
              </a:rPr>
              <a:t>los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260" dirty="0">
                <a:latin typeface="Arial"/>
                <a:cs typeface="Arial"/>
              </a:rPr>
              <a:t>negocios?</a:t>
            </a:r>
            <a:endParaRPr sz="2600">
              <a:latin typeface="Arial"/>
              <a:cs typeface="Arial"/>
            </a:endParaRPr>
          </a:p>
          <a:p>
            <a:pPr marL="313690" marR="5715" indent="-297180" algn="just">
              <a:lnSpc>
                <a:spcPct val="100000"/>
              </a:lnSpc>
              <a:spcBef>
                <a:spcPts val="65"/>
              </a:spcBef>
              <a:buChar char="•"/>
              <a:tabLst>
                <a:tab pos="314325" algn="l"/>
              </a:tabLst>
            </a:pPr>
            <a:r>
              <a:rPr sz="1600" spc="-215" dirty="0">
                <a:latin typeface="Arial"/>
                <a:cs typeface="Arial"/>
              </a:rPr>
              <a:t>Se </a:t>
            </a:r>
            <a:r>
              <a:rPr sz="1600" spc="-65" dirty="0">
                <a:latin typeface="Arial"/>
                <a:cs typeface="Arial"/>
              </a:rPr>
              <a:t>migra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60" dirty="0">
                <a:latin typeface="Arial"/>
                <a:cs typeface="Arial"/>
              </a:rPr>
              <a:t>inversión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0" dirty="0">
                <a:latin typeface="Arial"/>
                <a:cs typeface="Arial"/>
              </a:rPr>
              <a:t>capital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55" dirty="0">
                <a:latin typeface="Arial"/>
                <a:cs typeface="Arial"/>
              </a:rPr>
              <a:t>un </a:t>
            </a:r>
            <a:r>
              <a:rPr sz="1600" spc="-75" dirty="0">
                <a:latin typeface="Arial"/>
                <a:cs typeface="Arial"/>
              </a:rPr>
              <a:t>costo </a:t>
            </a:r>
            <a:r>
              <a:rPr sz="1600" spc="-50" dirty="0">
                <a:latin typeface="Arial"/>
                <a:cs typeface="Arial"/>
              </a:rPr>
              <a:t>operativo, </a:t>
            </a:r>
            <a:r>
              <a:rPr sz="1600" spc="-85" dirty="0">
                <a:latin typeface="Arial"/>
                <a:cs typeface="Arial"/>
              </a:rPr>
              <a:t>con  </a:t>
            </a:r>
            <a:r>
              <a:rPr sz="1600" spc="-70" dirty="0">
                <a:latin typeface="Arial"/>
                <a:cs typeface="Arial"/>
              </a:rPr>
              <a:t>todas </a:t>
            </a:r>
            <a:r>
              <a:rPr sz="1600" spc="-95" dirty="0">
                <a:latin typeface="Arial"/>
                <a:cs typeface="Arial"/>
              </a:rPr>
              <a:t>las </a:t>
            </a:r>
            <a:r>
              <a:rPr sz="1600" spc="-70" dirty="0">
                <a:latin typeface="Arial"/>
                <a:cs typeface="Arial"/>
              </a:rPr>
              <a:t>implicancias </a:t>
            </a:r>
            <a:r>
              <a:rPr sz="1600" spc="-90" dirty="0">
                <a:latin typeface="Arial"/>
                <a:cs typeface="Arial"/>
              </a:rPr>
              <a:t>económicas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30" dirty="0">
                <a:latin typeface="Arial"/>
                <a:cs typeface="Arial"/>
              </a:rPr>
              <a:t>ello</a:t>
            </a:r>
            <a:r>
              <a:rPr sz="1600" spc="-170" dirty="0">
                <a:latin typeface="Arial"/>
                <a:cs typeface="Arial"/>
              </a:rPr>
              <a:t> </a:t>
            </a:r>
            <a:r>
              <a:rPr sz="1600" spc="-30" dirty="0">
                <a:latin typeface="Arial"/>
                <a:cs typeface="Arial"/>
              </a:rPr>
              <a:t>tiene.</a:t>
            </a:r>
            <a:endParaRPr sz="1600">
              <a:latin typeface="Arial"/>
              <a:cs typeface="Arial"/>
            </a:endParaRPr>
          </a:p>
          <a:p>
            <a:pPr marL="313690" marR="5080" indent="-297180" algn="just">
              <a:lnSpc>
                <a:spcPct val="100000"/>
              </a:lnSpc>
              <a:buChar char="•"/>
              <a:tabLst>
                <a:tab pos="314325" algn="l"/>
              </a:tabLst>
            </a:pPr>
            <a:r>
              <a:rPr sz="1600" spc="-150" dirty="0">
                <a:latin typeface="Arial"/>
                <a:cs typeface="Arial"/>
              </a:rPr>
              <a:t>Los </a:t>
            </a:r>
            <a:r>
              <a:rPr sz="1600" spc="-70" dirty="0">
                <a:latin typeface="Arial"/>
                <a:cs typeface="Arial"/>
              </a:rPr>
              <a:t>proveedores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5" dirty="0">
                <a:latin typeface="Arial"/>
                <a:cs typeface="Arial"/>
              </a:rPr>
              <a:t>Cloud </a:t>
            </a:r>
            <a:r>
              <a:rPr sz="1600" spc="-70" dirty="0">
                <a:latin typeface="Arial"/>
                <a:cs typeface="Arial"/>
              </a:rPr>
              <a:t>Computing </a:t>
            </a:r>
            <a:r>
              <a:rPr sz="1600" spc="-35" dirty="0">
                <a:latin typeface="Arial"/>
                <a:cs typeface="Arial"/>
              </a:rPr>
              <a:t>tienen </a:t>
            </a:r>
            <a:r>
              <a:rPr sz="1600" spc="-75" dirty="0">
                <a:latin typeface="Arial"/>
                <a:cs typeface="Arial"/>
              </a:rPr>
              <a:t>menores </a:t>
            </a:r>
            <a:r>
              <a:rPr sz="1600" spc="-90" dirty="0">
                <a:latin typeface="Arial"/>
                <a:cs typeface="Arial"/>
              </a:rPr>
              <a:t>costos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45" dirty="0">
                <a:latin typeface="Arial"/>
                <a:cs typeface="Arial"/>
              </a:rPr>
              <a:t>el  </a:t>
            </a:r>
            <a:r>
              <a:rPr sz="1600" spc="-50" dirty="0">
                <a:latin typeface="Arial"/>
                <a:cs typeface="Arial"/>
              </a:rPr>
              <a:t>orden </a:t>
            </a:r>
            <a:r>
              <a:rPr sz="1600" spc="-75" dirty="0">
                <a:latin typeface="Arial"/>
                <a:cs typeface="Arial"/>
              </a:rPr>
              <a:t>de 75/80% </a:t>
            </a:r>
            <a:r>
              <a:rPr sz="1600" spc="-65" dirty="0">
                <a:latin typeface="Arial"/>
                <a:cs typeface="Arial"/>
              </a:rPr>
              <a:t>respecto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65" dirty="0">
                <a:latin typeface="Arial"/>
                <a:cs typeface="Arial"/>
              </a:rPr>
              <a:t>data </a:t>
            </a:r>
            <a:r>
              <a:rPr sz="1600" spc="-70" dirty="0">
                <a:latin typeface="Arial"/>
                <a:cs typeface="Arial"/>
              </a:rPr>
              <a:t>centers</a:t>
            </a:r>
            <a:r>
              <a:rPr sz="1600" spc="-17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internos.</a:t>
            </a:r>
            <a:endParaRPr sz="1600">
              <a:latin typeface="Arial"/>
              <a:cs typeface="Arial"/>
            </a:endParaRPr>
          </a:p>
          <a:p>
            <a:pPr marL="313690" indent="-297180">
              <a:lnSpc>
                <a:spcPct val="100000"/>
              </a:lnSpc>
              <a:buChar char="•"/>
              <a:tabLst>
                <a:tab pos="313690" algn="l"/>
                <a:tab pos="314325" algn="l"/>
              </a:tabLst>
            </a:pPr>
            <a:r>
              <a:rPr sz="1600" spc="-100" dirty="0">
                <a:latin typeface="Arial"/>
                <a:cs typeface="Arial"/>
              </a:rPr>
              <a:t>Provee </a:t>
            </a:r>
            <a:r>
              <a:rPr sz="1600" spc="-70" dirty="0">
                <a:latin typeface="Arial"/>
                <a:cs typeface="Arial"/>
              </a:rPr>
              <a:t>mayor </a:t>
            </a:r>
            <a:r>
              <a:rPr sz="1600" spc="-40" dirty="0">
                <a:latin typeface="Arial"/>
                <a:cs typeface="Arial"/>
              </a:rPr>
              <a:t>flexibilidad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75" dirty="0">
                <a:latin typeface="Arial"/>
                <a:cs typeface="Arial"/>
              </a:rPr>
              <a:t>alocación de </a:t>
            </a:r>
            <a:r>
              <a:rPr sz="1600" spc="-85" dirty="0">
                <a:latin typeface="Arial"/>
                <a:cs typeface="Arial"/>
              </a:rPr>
              <a:t>recursos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175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TI.</a:t>
            </a:r>
            <a:endParaRPr sz="1600">
              <a:latin typeface="Arial"/>
              <a:cs typeface="Arial"/>
            </a:endParaRPr>
          </a:p>
          <a:p>
            <a:pPr marL="313690" marR="6350" indent="-297180" algn="just">
              <a:lnSpc>
                <a:spcPct val="100000"/>
              </a:lnSpc>
              <a:buChar char="•"/>
              <a:tabLst>
                <a:tab pos="314325" algn="l"/>
              </a:tabLst>
            </a:pPr>
            <a:r>
              <a:rPr sz="1600" spc="-100" dirty="0">
                <a:latin typeface="Arial"/>
                <a:cs typeface="Arial"/>
              </a:rPr>
              <a:t>Genera </a:t>
            </a:r>
            <a:r>
              <a:rPr sz="1600" spc="-70" dirty="0">
                <a:latin typeface="Arial"/>
                <a:cs typeface="Arial"/>
              </a:rPr>
              <a:t>en los </a:t>
            </a:r>
            <a:r>
              <a:rPr sz="1600" spc="-85" dirty="0">
                <a:latin typeface="Arial"/>
                <a:cs typeface="Arial"/>
              </a:rPr>
              <a:t>responsables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125" dirty="0">
                <a:latin typeface="Arial"/>
                <a:cs typeface="Arial"/>
              </a:rPr>
              <a:t>TI </a:t>
            </a:r>
            <a:r>
              <a:rPr sz="1600" spc="-65" dirty="0">
                <a:latin typeface="Arial"/>
                <a:cs typeface="Arial"/>
              </a:rPr>
              <a:t>preocupación </a:t>
            </a:r>
            <a:r>
              <a:rPr sz="1600" spc="-50" dirty="0">
                <a:latin typeface="Arial"/>
                <a:cs typeface="Arial"/>
              </a:rPr>
              <a:t>bien </a:t>
            </a:r>
            <a:r>
              <a:rPr sz="1600" spc="-65" dirty="0">
                <a:latin typeface="Arial"/>
                <a:cs typeface="Arial"/>
              </a:rPr>
              <a:t>fundada </a:t>
            </a:r>
            <a:r>
              <a:rPr sz="1600" spc="-30" dirty="0">
                <a:latin typeface="Arial"/>
                <a:cs typeface="Arial"/>
              </a:rPr>
              <a:t>por </a:t>
            </a:r>
            <a:r>
              <a:rPr sz="1600" spc="-65" dirty="0">
                <a:latin typeface="Arial"/>
                <a:cs typeface="Arial"/>
              </a:rPr>
              <a:t>la  </a:t>
            </a:r>
            <a:r>
              <a:rPr sz="1600" spc="-60" dirty="0">
                <a:latin typeface="Arial"/>
                <a:cs typeface="Arial"/>
              </a:rPr>
              <a:t>aparente </a:t>
            </a:r>
            <a:r>
              <a:rPr sz="1600" spc="-35" dirty="0">
                <a:latin typeface="Arial"/>
                <a:cs typeface="Arial"/>
              </a:rPr>
              <a:t>falta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30" dirty="0">
                <a:latin typeface="Arial"/>
                <a:cs typeface="Arial"/>
              </a:rPr>
              <a:t>control: </a:t>
            </a:r>
            <a:r>
              <a:rPr sz="1600" spc="-75" dirty="0">
                <a:latin typeface="Arial"/>
                <a:cs typeface="Arial"/>
              </a:rPr>
              <a:t>seguridad, estado </a:t>
            </a:r>
            <a:r>
              <a:rPr sz="1600" spc="-40" dirty="0">
                <a:latin typeface="Arial"/>
                <a:cs typeface="Arial"/>
              </a:rPr>
              <a:t>latente, </a:t>
            </a:r>
            <a:r>
              <a:rPr sz="1600" spc="-70" dirty="0">
                <a:latin typeface="Arial"/>
                <a:cs typeface="Arial"/>
              </a:rPr>
              <a:t>niveles </a:t>
            </a:r>
            <a:r>
              <a:rPr sz="1600" spc="-80" dirty="0">
                <a:latin typeface="Arial"/>
                <a:cs typeface="Arial"/>
              </a:rPr>
              <a:t>de  </a:t>
            </a:r>
            <a:r>
              <a:rPr sz="1600" spc="-60" dirty="0">
                <a:latin typeface="Arial"/>
                <a:cs typeface="Arial"/>
              </a:rPr>
              <a:t>servicio,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disponibilidad.</a:t>
            </a:r>
            <a:endParaRPr sz="1600">
              <a:latin typeface="Arial"/>
              <a:cs typeface="Arial"/>
            </a:endParaRPr>
          </a:p>
          <a:p>
            <a:pPr marL="313690" marR="5080" indent="-297180" algn="just">
              <a:lnSpc>
                <a:spcPct val="100000"/>
              </a:lnSpc>
              <a:buChar char="•"/>
              <a:tabLst>
                <a:tab pos="314325" algn="l"/>
              </a:tabLst>
            </a:pPr>
            <a:r>
              <a:rPr sz="1600" spc="-60" dirty="0">
                <a:latin typeface="Arial"/>
                <a:cs typeface="Arial"/>
              </a:rPr>
              <a:t>Permite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50" dirty="0">
                <a:latin typeface="Arial"/>
                <a:cs typeface="Arial"/>
              </a:rPr>
              <a:t>implementación </a:t>
            </a:r>
            <a:r>
              <a:rPr sz="1600" spc="-120" dirty="0">
                <a:latin typeface="Arial"/>
                <a:cs typeface="Arial"/>
              </a:rPr>
              <a:t>más </a:t>
            </a:r>
            <a:r>
              <a:rPr sz="1600" spc="-60" dirty="0">
                <a:latin typeface="Arial"/>
                <a:cs typeface="Arial"/>
              </a:rPr>
              <a:t>rápida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85" dirty="0">
                <a:latin typeface="Arial"/>
                <a:cs typeface="Arial"/>
              </a:rPr>
              <a:t>con menos </a:t>
            </a:r>
            <a:r>
              <a:rPr sz="1600" spc="-90" dirty="0">
                <a:latin typeface="Arial"/>
                <a:cs typeface="Arial"/>
              </a:rPr>
              <a:t>riesgos </a:t>
            </a:r>
            <a:r>
              <a:rPr sz="1600" spc="-55" dirty="0">
                <a:latin typeface="Arial"/>
                <a:cs typeface="Arial"/>
              </a:rPr>
              <a:t>(no  </a:t>
            </a:r>
            <a:r>
              <a:rPr sz="1600" spc="-135" dirty="0">
                <a:latin typeface="Arial"/>
                <a:cs typeface="Arial"/>
              </a:rPr>
              <a:t>es </a:t>
            </a:r>
            <a:r>
              <a:rPr sz="1600" spc="-90" dirty="0">
                <a:latin typeface="Arial"/>
                <a:cs typeface="Arial"/>
              </a:rPr>
              <a:t>necesaria </a:t>
            </a:r>
            <a:r>
              <a:rPr sz="1600" spc="-80" dirty="0">
                <a:latin typeface="Arial"/>
                <a:cs typeface="Arial"/>
              </a:rPr>
              <a:t>una gran </a:t>
            </a:r>
            <a:r>
              <a:rPr sz="1600" spc="-60" dirty="0">
                <a:latin typeface="Arial"/>
                <a:cs typeface="Arial"/>
              </a:rPr>
              <a:t>inversión). </a:t>
            </a:r>
            <a:r>
              <a:rPr sz="1600" spc="-175" dirty="0">
                <a:latin typeface="Arial"/>
                <a:cs typeface="Arial"/>
              </a:rPr>
              <a:t>Las </a:t>
            </a:r>
            <a:r>
              <a:rPr sz="1600" spc="-80" dirty="0">
                <a:latin typeface="Arial"/>
                <a:cs typeface="Arial"/>
              </a:rPr>
              <a:t>aplicaciones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55" dirty="0">
                <a:latin typeface="Arial"/>
                <a:cs typeface="Arial"/>
              </a:rPr>
              <a:t>cloud  computing </a:t>
            </a:r>
            <a:r>
              <a:rPr sz="1600" spc="-85" dirty="0">
                <a:latin typeface="Arial"/>
                <a:cs typeface="Arial"/>
              </a:rPr>
              <a:t>suelen </a:t>
            </a:r>
            <a:r>
              <a:rPr sz="1600" spc="-65" dirty="0">
                <a:latin typeface="Arial"/>
                <a:cs typeface="Arial"/>
              </a:rPr>
              <a:t>estar </a:t>
            </a:r>
            <a:r>
              <a:rPr sz="1600" spc="-70" dirty="0">
                <a:latin typeface="Arial"/>
                <a:cs typeface="Arial"/>
              </a:rPr>
              <a:t>disponibles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60" dirty="0">
                <a:latin typeface="Arial"/>
                <a:cs typeface="Arial"/>
              </a:rPr>
              <a:t>cuestión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110" dirty="0">
                <a:latin typeface="Arial"/>
                <a:cs typeface="Arial"/>
              </a:rPr>
              <a:t>días </a:t>
            </a:r>
            <a:r>
              <a:rPr sz="1600" spc="-50" dirty="0">
                <a:latin typeface="Arial"/>
                <a:cs typeface="Arial"/>
              </a:rPr>
              <a:t>u </a:t>
            </a:r>
            <a:r>
              <a:rPr sz="1600" spc="-85" dirty="0">
                <a:latin typeface="Arial"/>
                <a:cs typeface="Arial"/>
              </a:rPr>
              <a:t>horas </a:t>
            </a:r>
            <a:r>
              <a:rPr sz="1600" spc="-75" dirty="0">
                <a:latin typeface="Arial"/>
                <a:cs typeface="Arial"/>
              </a:rPr>
              <a:t>en  </a:t>
            </a:r>
            <a:r>
              <a:rPr sz="1600" spc="-65" dirty="0">
                <a:latin typeface="Arial"/>
                <a:cs typeface="Arial"/>
              </a:rPr>
              <a:t>lugar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120" dirty="0">
                <a:latin typeface="Arial"/>
                <a:cs typeface="Arial"/>
              </a:rPr>
              <a:t>semanas </a:t>
            </a:r>
            <a:r>
              <a:rPr sz="1600" spc="-45" dirty="0">
                <a:latin typeface="Arial"/>
                <a:cs typeface="Arial"/>
              </a:rPr>
              <a:t>o </a:t>
            </a:r>
            <a:r>
              <a:rPr sz="1600" spc="-105" dirty="0">
                <a:latin typeface="Arial"/>
                <a:cs typeface="Arial"/>
              </a:rPr>
              <a:t>meses, </a:t>
            </a:r>
            <a:r>
              <a:rPr sz="1600" spc="-65" dirty="0">
                <a:latin typeface="Arial"/>
                <a:cs typeface="Arial"/>
              </a:rPr>
              <a:t>incluso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50" dirty="0">
                <a:latin typeface="Arial"/>
                <a:cs typeface="Arial"/>
              </a:rPr>
              <a:t>un </a:t>
            </a:r>
            <a:r>
              <a:rPr sz="1600" spc="-45" dirty="0">
                <a:latin typeface="Arial"/>
                <a:cs typeface="Arial"/>
              </a:rPr>
              <a:t>nivel </a:t>
            </a:r>
            <a:r>
              <a:rPr sz="1600" spc="-70" dirty="0">
                <a:latin typeface="Arial"/>
                <a:cs typeface="Arial"/>
              </a:rPr>
              <a:t>considerable </a:t>
            </a:r>
            <a:r>
              <a:rPr sz="1600" spc="-80" dirty="0">
                <a:latin typeface="Arial"/>
                <a:cs typeface="Arial"/>
              </a:rPr>
              <a:t>de  </a:t>
            </a:r>
            <a:r>
              <a:rPr sz="1600" spc="-75" dirty="0">
                <a:latin typeface="Arial"/>
                <a:cs typeface="Arial"/>
              </a:rPr>
              <a:t>personalización </a:t>
            </a:r>
            <a:r>
              <a:rPr sz="1600" spc="-45" dirty="0">
                <a:latin typeface="Arial"/>
                <a:cs typeface="Arial"/>
              </a:rPr>
              <a:t>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integración.</a:t>
            </a:r>
            <a:endParaRPr sz="1600">
              <a:latin typeface="Arial"/>
              <a:cs typeface="Arial"/>
            </a:endParaRPr>
          </a:p>
          <a:p>
            <a:pPr marL="313690" marR="5715" indent="-29718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314325" algn="l"/>
              </a:tabLst>
            </a:pPr>
            <a:r>
              <a:rPr sz="1600" spc="-235" dirty="0">
                <a:latin typeface="Arial"/>
                <a:cs typeface="Arial"/>
              </a:rPr>
              <a:t>Es </a:t>
            </a:r>
            <a:r>
              <a:rPr sz="1600" spc="-60" dirty="0">
                <a:latin typeface="Arial"/>
                <a:cs typeface="Arial"/>
              </a:rPr>
              <a:t>absolutamente </a:t>
            </a:r>
            <a:r>
              <a:rPr sz="1600" spc="-80" dirty="0">
                <a:latin typeface="Arial"/>
                <a:cs typeface="Arial"/>
              </a:rPr>
              <a:t>necesario </a:t>
            </a:r>
            <a:r>
              <a:rPr sz="1600" spc="-50" dirty="0">
                <a:latin typeface="Arial"/>
                <a:cs typeface="Arial"/>
              </a:rPr>
              <a:t>contar </a:t>
            </a:r>
            <a:r>
              <a:rPr sz="1600" spc="-80" dirty="0">
                <a:latin typeface="Arial"/>
                <a:cs typeface="Arial"/>
              </a:rPr>
              <a:t>con una </a:t>
            </a:r>
            <a:r>
              <a:rPr sz="1600" spc="-95" dirty="0">
                <a:latin typeface="Arial"/>
                <a:cs typeface="Arial"/>
              </a:rPr>
              <a:t>adecuada </a:t>
            </a:r>
            <a:r>
              <a:rPr sz="1600" spc="-65" dirty="0">
                <a:latin typeface="Arial"/>
                <a:cs typeface="Arial"/>
              </a:rPr>
              <a:t>estrategia </a:t>
            </a:r>
            <a:r>
              <a:rPr sz="1600" spc="-80" dirty="0">
                <a:latin typeface="Arial"/>
                <a:cs typeface="Arial"/>
              </a:rPr>
              <a:t>de  </a:t>
            </a:r>
            <a:r>
              <a:rPr sz="1600" spc="-75" dirty="0">
                <a:latin typeface="Arial"/>
                <a:cs typeface="Arial"/>
              </a:rPr>
              <a:t>salida: </a:t>
            </a:r>
            <a:r>
              <a:rPr sz="1600" spc="-60" dirty="0">
                <a:latin typeface="Arial"/>
                <a:cs typeface="Arial"/>
              </a:rPr>
              <a:t>Procedimiento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abandono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5" dirty="0">
                <a:latin typeface="Arial"/>
                <a:cs typeface="Arial"/>
              </a:rPr>
              <a:t>las </a:t>
            </a:r>
            <a:r>
              <a:rPr sz="1600" spc="-75" dirty="0">
                <a:latin typeface="Arial"/>
                <a:cs typeface="Arial"/>
              </a:rPr>
              <a:t>aplicaciones; </a:t>
            </a:r>
            <a:r>
              <a:rPr sz="1600" spc="-114" dirty="0">
                <a:latin typeface="Arial"/>
                <a:cs typeface="Arial"/>
              </a:rPr>
              <a:t>Cómo </a:t>
            </a:r>
            <a:r>
              <a:rPr sz="1600" spc="-140" dirty="0">
                <a:latin typeface="Arial"/>
                <a:cs typeface="Arial"/>
              </a:rPr>
              <a:t>se  </a:t>
            </a:r>
            <a:r>
              <a:rPr sz="1600" spc="-60" dirty="0">
                <a:latin typeface="Arial"/>
                <a:cs typeface="Arial"/>
              </a:rPr>
              <a:t>extraen </a:t>
            </a:r>
            <a:r>
              <a:rPr sz="1600" spc="-75" dirty="0">
                <a:latin typeface="Arial"/>
                <a:cs typeface="Arial"/>
              </a:rPr>
              <a:t>los </a:t>
            </a:r>
            <a:r>
              <a:rPr sz="1600" spc="-60" dirty="0">
                <a:latin typeface="Arial"/>
                <a:cs typeface="Arial"/>
              </a:rPr>
              <a:t>datos; </a:t>
            </a:r>
            <a:r>
              <a:rPr sz="1600" spc="-120" dirty="0">
                <a:latin typeface="Arial"/>
                <a:cs typeface="Arial"/>
              </a:rPr>
              <a:t>Cuál</a:t>
            </a:r>
            <a:r>
              <a:rPr sz="1600" spc="200" dirty="0">
                <a:latin typeface="Arial"/>
                <a:cs typeface="Arial"/>
              </a:rPr>
              <a:t> </a:t>
            </a:r>
            <a:r>
              <a:rPr sz="1600" spc="-135" dirty="0">
                <a:latin typeface="Arial"/>
                <a:cs typeface="Arial"/>
              </a:rPr>
              <a:t>es </a:t>
            </a:r>
            <a:r>
              <a:rPr sz="1600" spc="-60" dirty="0">
                <a:latin typeface="Arial"/>
                <a:cs typeface="Arial"/>
              </a:rPr>
              <a:t>la involucración </a:t>
            </a:r>
            <a:r>
              <a:rPr sz="1600" spc="-50" dirty="0">
                <a:latin typeface="Arial"/>
                <a:cs typeface="Arial"/>
              </a:rPr>
              <a:t>del proveedor; </a:t>
            </a:r>
            <a:r>
              <a:rPr sz="1600" spc="-140" dirty="0">
                <a:latin typeface="Arial"/>
                <a:cs typeface="Arial"/>
              </a:rPr>
              <a:t>Con  </a:t>
            </a:r>
            <a:r>
              <a:rPr sz="1600" spc="-60" dirty="0">
                <a:latin typeface="Arial"/>
                <a:cs typeface="Arial"/>
              </a:rPr>
              <a:t>cuánto </a:t>
            </a:r>
            <a:r>
              <a:rPr sz="1600" spc="-25" dirty="0">
                <a:latin typeface="Arial"/>
                <a:cs typeface="Arial"/>
              </a:rPr>
              <a:t>tiempo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65" dirty="0">
                <a:latin typeface="Arial"/>
                <a:cs typeface="Arial"/>
              </a:rPr>
              <a:t>cuenta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50" dirty="0">
                <a:latin typeface="Arial"/>
                <a:cs typeface="Arial"/>
              </a:rPr>
              <a:t>migrar</a:t>
            </a:r>
            <a:r>
              <a:rPr sz="1600" spc="-155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datos.</a:t>
            </a:r>
            <a:endParaRPr sz="1600">
              <a:latin typeface="Arial"/>
              <a:cs typeface="Arial"/>
            </a:endParaRPr>
          </a:p>
          <a:p>
            <a:pPr marL="313690" indent="-297180">
              <a:lnSpc>
                <a:spcPct val="100000"/>
              </a:lnSpc>
              <a:buChar char="•"/>
              <a:tabLst>
                <a:tab pos="313690" algn="l"/>
                <a:tab pos="314325" algn="l"/>
              </a:tabLst>
            </a:pPr>
            <a:r>
              <a:rPr sz="1600" spc="-60" dirty="0">
                <a:latin typeface="Arial"/>
                <a:cs typeface="Arial"/>
              </a:rPr>
              <a:t>Contribuye al </a:t>
            </a:r>
            <a:r>
              <a:rPr sz="1600" spc="-95" dirty="0">
                <a:latin typeface="Arial"/>
                <a:cs typeface="Arial"/>
              </a:rPr>
              <a:t>uso </a:t>
            </a:r>
            <a:r>
              <a:rPr sz="1600" spc="-45" dirty="0">
                <a:latin typeface="Arial"/>
                <a:cs typeface="Arial"/>
              </a:rPr>
              <a:t>eficiente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</a:t>
            </a:r>
            <a:r>
              <a:rPr sz="1600" spc="-19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energía.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05600" y="1066800"/>
            <a:ext cx="1817023" cy="941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5109" y="2133600"/>
            <a:ext cx="861954" cy="1101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72400" y="2286000"/>
            <a:ext cx="1111757" cy="8671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19543" y="3352800"/>
            <a:ext cx="1362455" cy="15697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44461" y="5112258"/>
            <a:ext cx="1956816" cy="12313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225" dirty="0">
                <a:solidFill>
                  <a:srgbClr val="00338D"/>
                </a:solidFill>
                <a:latin typeface="Arial"/>
                <a:cs typeface="Arial"/>
              </a:rPr>
              <a:t>Síntesis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5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639810" cy="424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75" dirty="0">
                <a:solidFill>
                  <a:srgbClr val="FFFFFF"/>
                </a:solidFill>
                <a:latin typeface="Arial"/>
                <a:cs typeface="Arial"/>
              </a:rPr>
              <a:t>Síntesis</a:t>
            </a:r>
            <a:endParaRPr sz="2000" dirty="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85" dirty="0">
                <a:latin typeface="Arial"/>
                <a:cs typeface="Arial"/>
              </a:rPr>
              <a:t>concepto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6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software.</a:t>
            </a:r>
            <a:endParaRPr sz="2400" dirty="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859280" algn="l"/>
                <a:tab pos="2243455" algn="l"/>
                <a:tab pos="3796665" algn="l"/>
                <a:tab pos="4637405" algn="l"/>
                <a:tab pos="5155565" algn="l"/>
                <a:tab pos="6440805" algn="l"/>
                <a:tab pos="6831965" algn="l"/>
                <a:tab pos="8096884" algn="l"/>
                <a:tab pos="8402955" algn="l"/>
              </a:tabLst>
            </a:pPr>
            <a:r>
              <a:rPr sz="2400" spc="-130" dirty="0">
                <a:latin typeface="Arial"/>
                <a:cs typeface="Arial"/>
              </a:rPr>
              <a:t>Analizamos	</a:t>
            </a:r>
            <a:r>
              <a:rPr sz="2400" spc="-55" dirty="0">
                <a:latin typeface="Arial"/>
                <a:cs typeface="Arial"/>
              </a:rPr>
              <a:t>l</a:t>
            </a:r>
            <a:r>
              <a:rPr sz="2400" spc="-12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5" dirty="0">
                <a:latin typeface="Arial"/>
                <a:cs typeface="Arial"/>
              </a:rPr>
              <a:t>int</a:t>
            </a:r>
            <a:r>
              <a:rPr sz="2400" spc="-35" dirty="0">
                <a:latin typeface="Arial"/>
                <a:cs typeface="Arial"/>
              </a:rPr>
              <a:t>e</a:t>
            </a:r>
            <a:r>
              <a:rPr sz="2400" spc="-95" dirty="0">
                <a:latin typeface="Arial"/>
                <a:cs typeface="Arial"/>
              </a:rPr>
              <a:t>racción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40" dirty="0">
                <a:latin typeface="Arial"/>
                <a:cs typeface="Arial"/>
              </a:rPr>
              <a:t>entre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los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usuarios</a:t>
            </a:r>
            <a:r>
              <a:rPr sz="2400" spc="-6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e</a:t>
            </a:r>
            <a:r>
              <a:rPr sz="2400" spc="-40" dirty="0">
                <a:latin typeface="Arial"/>
                <a:cs typeface="Arial"/>
              </a:rPr>
              <a:t>l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" dirty="0">
                <a:latin typeface="Arial"/>
                <a:cs typeface="Arial"/>
              </a:rPr>
              <a:t>soft</a:t>
            </a:r>
            <a:r>
              <a:rPr sz="2400" spc="-55" dirty="0">
                <a:latin typeface="Arial"/>
                <a:cs typeface="Arial"/>
              </a:rPr>
              <a:t>w</a:t>
            </a:r>
            <a:r>
              <a:rPr sz="2400" spc="-100" dirty="0">
                <a:latin typeface="Arial"/>
                <a:cs typeface="Arial"/>
              </a:rPr>
              <a:t>are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0" dirty="0">
                <a:latin typeface="Arial"/>
                <a:cs typeface="Arial"/>
              </a:rPr>
              <a:t>el  </a:t>
            </a:r>
            <a:r>
              <a:rPr sz="2400" spc="-80" dirty="0">
                <a:latin typeface="Arial"/>
                <a:cs typeface="Arial"/>
              </a:rPr>
              <a:t>hardware.</a:t>
            </a:r>
            <a:endParaRPr sz="24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10" dirty="0">
                <a:latin typeface="Arial"/>
                <a:cs typeface="Arial"/>
              </a:rPr>
              <a:t>Explicitamos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0" dirty="0">
                <a:latin typeface="Arial"/>
                <a:cs typeface="Arial"/>
              </a:rPr>
              <a:t>desarrollamos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14" dirty="0">
                <a:latin typeface="Arial"/>
                <a:cs typeface="Arial"/>
              </a:rPr>
              <a:t>diversos </a:t>
            </a:r>
            <a:r>
              <a:rPr sz="2400" spc="-50" dirty="0">
                <a:latin typeface="Arial"/>
                <a:cs typeface="Arial"/>
              </a:rPr>
              <a:t>tipos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33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software.</a:t>
            </a:r>
            <a:endParaRPr sz="2400" dirty="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961514" algn="l"/>
                <a:tab pos="2476500" algn="l"/>
                <a:tab pos="3668395" algn="l"/>
                <a:tab pos="4848860" algn="l"/>
                <a:tab pos="5488305" algn="l"/>
                <a:tab pos="6600825" algn="l"/>
                <a:tab pos="8068945" algn="l"/>
              </a:tabLst>
            </a:pPr>
            <a:r>
              <a:rPr sz="2400" spc="-185" dirty="0">
                <a:latin typeface="Arial"/>
                <a:cs typeface="Arial"/>
              </a:rPr>
              <a:t>Desc</a:t>
            </a:r>
            <a:r>
              <a:rPr sz="2400" spc="-114" dirty="0">
                <a:latin typeface="Arial"/>
                <a:cs typeface="Arial"/>
              </a:rPr>
              <a:t>r</a:t>
            </a:r>
            <a:r>
              <a:rPr sz="2400" spc="-80" dirty="0">
                <a:latin typeface="Arial"/>
                <a:cs typeface="Arial"/>
              </a:rPr>
              <a:t>ibimos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los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diverso</a:t>
            </a:r>
            <a:r>
              <a:rPr sz="2400" spc="-12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0" dirty="0">
                <a:latin typeface="Arial"/>
                <a:cs typeface="Arial"/>
              </a:rPr>
              <a:t>crite</a:t>
            </a:r>
            <a:r>
              <a:rPr sz="2400" spc="-25" dirty="0">
                <a:latin typeface="Arial"/>
                <a:cs typeface="Arial"/>
              </a:rPr>
              <a:t>r</a:t>
            </a:r>
            <a:r>
              <a:rPr sz="2400" spc="-105" dirty="0">
                <a:latin typeface="Arial"/>
                <a:cs typeface="Arial"/>
              </a:rPr>
              <a:t>ios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qu</a:t>
            </a:r>
            <a:r>
              <a:rPr sz="2400" spc="-10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pu</a:t>
            </a:r>
            <a:r>
              <a:rPr sz="2400" spc="-95" dirty="0">
                <a:latin typeface="Arial"/>
                <a:cs typeface="Arial"/>
              </a:rPr>
              <a:t>e</a:t>
            </a:r>
            <a:r>
              <a:rPr sz="2400" spc="-105" dirty="0">
                <a:latin typeface="Arial"/>
                <a:cs typeface="Arial"/>
              </a:rPr>
              <a:t>de</a:t>
            </a:r>
            <a:r>
              <a:rPr sz="2400" spc="-10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emple</a:t>
            </a:r>
            <a:r>
              <a:rPr sz="2400" spc="-100" dirty="0">
                <a:latin typeface="Arial"/>
                <a:cs typeface="Arial"/>
              </a:rPr>
              <a:t>a</a:t>
            </a:r>
            <a:r>
              <a:rPr sz="2400" spc="-125" dirty="0">
                <a:latin typeface="Arial"/>
                <a:cs typeface="Arial"/>
              </a:rPr>
              <a:t>rse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para  </a:t>
            </a:r>
            <a:r>
              <a:rPr sz="2400" spc="-110" dirty="0">
                <a:latin typeface="Arial"/>
                <a:cs typeface="Arial"/>
              </a:rPr>
              <a:t>seleccionar </a:t>
            </a:r>
            <a:r>
              <a:rPr sz="2400" spc="-70" dirty="0">
                <a:latin typeface="Arial"/>
                <a:cs typeface="Arial"/>
              </a:rPr>
              <a:t>alternativas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Software.</a:t>
            </a:r>
            <a:endParaRPr sz="2400" dirty="0">
              <a:latin typeface="Arial"/>
              <a:cs typeface="Arial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90" dirty="0">
                <a:latin typeface="Arial"/>
                <a:cs typeface="Arial"/>
              </a:rPr>
              <a:t>Definimos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14" dirty="0">
                <a:latin typeface="Arial"/>
                <a:cs typeface="Arial"/>
              </a:rPr>
              <a:t>consideraciones </a:t>
            </a:r>
            <a:r>
              <a:rPr sz="2400" spc="-140" dirty="0">
                <a:latin typeface="Arial"/>
                <a:cs typeface="Arial"/>
              </a:rPr>
              <a:t>necesarias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40" dirty="0">
                <a:latin typeface="Arial"/>
                <a:cs typeface="Arial"/>
              </a:rPr>
              <a:t>nos </a:t>
            </a:r>
            <a:r>
              <a:rPr sz="2400" spc="-50" dirty="0">
                <a:latin typeface="Arial"/>
                <a:cs typeface="Arial"/>
              </a:rPr>
              <a:t>permitan </a:t>
            </a:r>
            <a:r>
              <a:rPr sz="2400" spc="-60" dirty="0">
                <a:latin typeface="Arial"/>
                <a:cs typeface="Arial"/>
              </a:rPr>
              <a:t>decidir  </a:t>
            </a:r>
            <a:r>
              <a:rPr sz="2400" spc="-110" dirty="0">
                <a:latin typeface="Arial"/>
                <a:cs typeface="Arial"/>
              </a:rPr>
              <a:t>sobre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105" dirty="0">
                <a:latin typeface="Arial"/>
                <a:cs typeface="Arial"/>
              </a:rPr>
              <a:t>conveniencia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desarrollar </a:t>
            </a:r>
            <a:r>
              <a:rPr sz="2400" spc="-60" dirty="0">
                <a:latin typeface="Arial"/>
                <a:cs typeface="Arial"/>
              </a:rPr>
              <a:t>software </a:t>
            </a:r>
            <a:r>
              <a:rPr sz="2400" spc="-70" dirty="0">
                <a:latin typeface="Arial"/>
                <a:cs typeface="Arial"/>
              </a:rPr>
              <a:t>o</a:t>
            </a:r>
            <a:r>
              <a:rPr sz="2400" spc="-33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adquirirlo.</a:t>
            </a:r>
            <a:endParaRPr sz="24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10" dirty="0">
                <a:latin typeface="Arial"/>
                <a:cs typeface="Arial"/>
              </a:rPr>
              <a:t>Explicitamos </a:t>
            </a:r>
            <a:r>
              <a:rPr sz="2400" spc="-105" dirty="0">
                <a:latin typeface="Arial"/>
                <a:cs typeface="Arial"/>
              </a:rPr>
              <a:t>los conceptos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35" dirty="0">
                <a:latin typeface="Arial"/>
                <a:cs typeface="Arial"/>
              </a:rPr>
              <a:t>Cloud</a:t>
            </a:r>
            <a:r>
              <a:rPr sz="2400" spc="-31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Computing.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3787775" cy="117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75" dirty="0">
                <a:solidFill>
                  <a:srgbClr val="FFFFFF"/>
                </a:solidFill>
                <a:latin typeface="Arial"/>
                <a:cs typeface="Arial"/>
              </a:rPr>
              <a:t>Síntesis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spcBef>
                <a:spcPts val="1605"/>
              </a:spcBef>
              <a:buFont typeface="Wingdings"/>
              <a:buChar char=""/>
              <a:tabLst>
                <a:tab pos="278765" algn="l"/>
                <a:tab pos="279400" algn="l"/>
                <a:tab pos="1145540" algn="l"/>
                <a:tab pos="1623695" algn="l"/>
                <a:tab pos="3068955" algn="l"/>
              </a:tabLst>
            </a:pPr>
            <a:r>
              <a:rPr sz="2400" spc="-210" dirty="0">
                <a:latin typeface="Arial"/>
                <a:cs typeface="Arial"/>
              </a:rPr>
              <a:t>¿Qué	</a:t>
            </a:r>
            <a:r>
              <a:rPr sz="2400" spc="-204" dirty="0">
                <a:latin typeface="Arial"/>
                <a:cs typeface="Arial"/>
              </a:rPr>
              <a:t>es	</a:t>
            </a:r>
            <a:r>
              <a:rPr sz="2400" spc="-80" dirty="0">
                <a:latin typeface="Arial"/>
                <a:cs typeface="Arial"/>
              </a:rPr>
              <a:t>software?	</a:t>
            </a:r>
            <a:r>
              <a:rPr sz="2400" spc="-215" dirty="0">
                <a:latin typeface="Arial"/>
                <a:cs typeface="Arial"/>
              </a:rPr>
              <a:t>¿Qué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119371" y="978153"/>
            <a:ext cx="4716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9944" algn="l"/>
                <a:tab pos="1349375" algn="l"/>
                <a:tab pos="2654300" algn="l"/>
                <a:tab pos="3889375" algn="l"/>
              </a:tabLst>
            </a:pPr>
            <a:r>
              <a:rPr sz="2400" dirty="0">
                <a:latin typeface="Arial"/>
                <a:cs typeface="Arial"/>
              </a:rPr>
              <a:t>tip</a:t>
            </a:r>
            <a:r>
              <a:rPr sz="2400" spc="-10" dirty="0">
                <a:latin typeface="Arial"/>
                <a:cs typeface="Arial"/>
              </a:rPr>
              <a:t>o</a:t>
            </a:r>
            <a:r>
              <a:rPr sz="2400" spc="-26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60" dirty="0">
                <a:latin typeface="Arial"/>
                <a:cs typeface="Arial"/>
              </a:rPr>
              <a:t>softwar</a:t>
            </a:r>
            <a:r>
              <a:rPr sz="2400" spc="-6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0" dirty="0">
                <a:latin typeface="Arial"/>
                <a:cs typeface="Arial"/>
              </a:rPr>
              <a:t>existen?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0" dirty="0">
                <a:latin typeface="Arial"/>
                <a:cs typeface="Arial"/>
              </a:rPr>
              <a:t>Brinde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342" y="1343914"/>
            <a:ext cx="864044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latin typeface="Arial"/>
                <a:cs typeface="Arial"/>
              </a:rPr>
              <a:t>ejemplos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60" dirty="0">
                <a:latin typeface="Arial"/>
                <a:cs typeface="Arial"/>
              </a:rPr>
              <a:t>cada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uno;</a:t>
            </a:r>
            <a:endParaRPr sz="24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120" dirty="0">
                <a:latin typeface="Arial"/>
                <a:cs typeface="Arial"/>
              </a:rPr>
              <a:t>sistema </a:t>
            </a:r>
            <a:r>
              <a:rPr sz="2400" spc="-75" dirty="0">
                <a:latin typeface="Arial"/>
                <a:cs typeface="Arial"/>
              </a:rPr>
              <a:t>operativo? </a:t>
            </a:r>
            <a:r>
              <a:rPr sz="2400" spc="-215" dirty="0">
                <a:latin typeface="Arial"/>
                <a:cs typeface="Arial"/>
              </a:rPr>
              <a:t>¿Cuáles </a:t>
            </a:r>
            <a:r>
              <a:rPr sz="2400" spc="-140" dirty="0">
                <a:latin typeface="Arial"/>
                <a:cs typeface="Arial"/>
              </a:rPr>
              <a:t>son </a:t>
            </a:r>
            <a:r>
              <a:rPr sz="2400" spc="-204" dirty="0">
                <a:latin typeface="Arial"/>
                <a:cs typeface="Arial"/>
              </a:rPr>
              <a:t>sus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funciones?;</a:t>
            </a:r>
            <a:endParaRPr sz="24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90" dirty="0">
                <a:latin typeface="Arial"/>
                <a:cs typeface="Arial"/>
              </a:rPr>
              <a:t>formas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40" dirty="0">
                <a:latin typeface="Arial"/>
                <a:cs typeface="Arial"/>
              </a:rPr>
              <a:t>adquirir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65" dirty="0">
                <a:latin typeface="Arial"/>
                <a:cs typeface="Arial"/>
              </a:rPr>
              <a:t>mantener </a:t>
            </a:r>
            <a:r>
              <a:rPr sz="2400" spc="-60" dirty="0">
                <a:latin typeface="Arial"/>
                <a:cs typeface="Arial"/>
              </a:rPr>
              <a:t>software</a:t>
            </a:r>
            <a:r>
              <a:rPr sz="2400" spc="-290" dirty="0">
                <a:latin typeface="Arial"/>
                <a:cs typeface="Arial"/>
              </a:rPr>
              <a:t> </a:t>
            </a:r>
            <a:r>
              <a:rPr sz="2400" spc="-100" dirty="0" err="1">
                <a:latin typeface="Arial"/>
                <a:cs typeface="Arial"/>
              </a:rPr>
              <a:t>existen</a:t>
            </a:r>
            <a:r>
              <a:rPr sz="2400" spc="-100" dirty="0">
                <a:latin typeface="Arial"/>
                <a:cs typeface="Arial"/>
              </a:rPr>
              <a:t>?;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30" dirty="0"/>
              <a:t>¿Dudas?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3000" spc="-445" dirty="0"/>
              <a:t>¿</a:t>
            </a:r>
            <a:r>
              <a:rPr sz="3000" spc="-275" dirty="0"/>
              <a:t>Consulta</a:t>
            </a:r>
            <a:r>
              <a:rPr sz="3000" spc="-280" dirty="0"/>
              <a:t>s</a:t>
            </a:r>
            <a:r>
              <a:rPr sz="3000" spc="-445" dirty="0"/>
              <a:t>?</a:t>
            </a:r>
            <a:endParaRPr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5900" y="81787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495" dirty="0">
                <a:latin typeface="Arial"/>
                <a:cs typeface="Arial"/>
              </a:rPr>
              <a:t>Sistemas </a:t>
            </a:r>
            <a:r>
              <a:rPr sz="5400" i="1" spc="-400" dirty="0">
                <a:latin typeface="Arial"/>
                <a:cs typeface="Arial"/>
              </a:rPr>
              <a:t>de  </a:t>
            </a:r>
            <a:r>
              <a:rPr sz="5400" i="1" spc="-340" dirty="0">
                <a:latin typeface="Arial"/>
                <a:cs typeface="Arial"/>
              </a:rPr>
              <a:t>Información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292" y="1959101"/>
            <a:ext cx="2464308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6773" y="2349245"/>
            <a:ext cx="3678174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773" y="2623566"/>
            <a:ext cx="1454658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6568" y="2025141"/>
            <a:ext cx="3348990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55" dirty="0">
                <a:solidFill>
                  <a:srgbClr val="FFFFFF"/>
                </a:solidFill>
                <a:latin typeface="Arial"/>
                <a:cs typeface="Arial"/>
              </a:rPr>
              <a:t>Unidad </a:t>
            </a:r>
            <a:r>
              <a:rPr sz="2400" b="1" i="1" spc="-12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400" b="1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spc="-14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100" dirty="0">
                <a:solidFill>
                  <a:srgbClr val="FFFFFF"/>
                </a:solidFill>
                <a:latin typeface="Arial"/>
                <a:cs typeface="Arial"/>
              </a:rPr>
              <a:t>Infraestructura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140" dirty="0">
                <a:solidFill>
                  <a:srgbClr val="FFFFFF"/>
                </a:solidFill>
                <a:latin typeface="Arial"/>
                <a:cs typeface="Arial"/>
              </a:rPr>
              <a:t>Tecnología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5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1800" b="1" i="1" spc="-114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Mag. </a:t>
            </a:r>
            <a:r>
              <a:rPr lang="es-AR"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Javier F. Klus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 err="1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@uade.edu.ar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r>
              <a:rPr lang="es-AR"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4695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736854"/>
            <a:ext cx="1597914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789940"/>
            <a:ext cx="12966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70" dirty="0">
                <a:solidFill>
                  <a:srgbClr val="003186"/>
                </a:solidFill>
                <a:latin typeface="Trebuchet MS"/>
                <a:cs typeface="Trebuchet MS"/>
              </a:rPr>
              <a:t>Bases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600" b="1" spc="-23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7795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12355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solidFill>
                  <a:srgbClr val="FFFFFF"/>
                </a:solidFill>
                <a:latin typeface="Trebuchet MS"/>
                <a:cs typeface="Trebuchet MS"/>
              </a:rPr>
              <a:t>Contenido </a:t>
            </a:r>
            <a:r>
              <a:rPr sz="3000" b="1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00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35" dirty="0">
                <a:solidFill>
                  <a:srgbClr val="FFFFFF"/>
                </a:solidFill>
                <a:latin typeface="Trebuchet MS"/>
                <a:cs typeface="Trebuchet MS"/>
              </a:rPr>
              <a:t>la  sesión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1317244"/>
            <a:ext cx="298005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Conceptos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básicos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Bases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29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endParaRPr sz="14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Relevancia</a:t>
            </a:r>
            <a:r>
              <a:rPr sz="1400" b="1" spc="-10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estratégica</a:t>
            </a:r>
            <a:endParaRPr sz="14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Términos</a:t>
            </a:r>
            <a:r>
              <a:rPr sz="1400" b="1" spc="-114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clave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94655" y="2064004"/>
            <a:ext cx="27546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2.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Administración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Bases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 Datos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51855" y="2277363"/>
            <a:ext cx="246189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Software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7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Administración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Tipos de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Bases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2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Estructuras de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Bases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2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40427" y="31245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0427" y="31245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03876" y="3218180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69204" y="3670172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46953" y="3192779"/>
            <a:ext cx="966977" cy="509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97829" y="3246119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Síntesis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93640" y="3771646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1.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Resumen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preguntas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repaso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3741" y="4649723"/>
            <a:ext cx="3194685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3000" b="1" spc="-4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20" dirty="0">
                <a:solidFill>
                  <a:srgbClr val="00338D"/>
                </a:solidFill>
                <a:latin typeface="Trebuchet MS"/>
                <a:cs typeface="Trebuchet MS"/>
              </a:rPr>
              <a:t>Bases 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r>
              <a:rPr sz="2800" b="1" spc="-31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95" dirty="0">
                <a:solidFill>
                  <a:srgbClr val="00338D"/>
                </a:solidFill>
                <a:latin typeface="Trebuchet MS"/>
                <a:cs typeface="Trebuchet MS"/>
              </a:rPr>
              <a:t>Datos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478529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85" dirty="0">
                <a:solidFill>
                  <a:srgbClr val="FFFFFF"/>
                </a:solidFill>
                <a:latin typeface="Trebuchet MS"/>
                <a:cs typeface="Trebuchet MS"/>
              </a:rPr>
              <a:t>Bases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3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75" dirty="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Bases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98041"/>
            <a:ext cx="5441315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600" spc="-170" dirty="0">
                <a:solidFill>
                  <a:srgbClr val="000000"/>
                </a:solidFill>
              </a:rPr>
              <a:t>Los </a:t>
            </a:r>
            <a:r>
              <a:rPr sz="2600" spc="-114" dirty="0">
                <a:solidFill>
                  <a:srgbClr val="000000"/>
                </a:solidFill>
              </a:rPr>
              <a:t>datos </a:t>
            </a:r>
            <a:r>
              <a:rPr sz="2600" spc="-100" dirty="0">
                <a:solidFill>
                  <a:srgbClr val="000000"/>
                </a:solidFill>
              </a:rPr>
              <a:t>son </a:t>
            </a:r>
            <a:r>
              <a:rPr sz="2600" spc="-145" dirty="0">
                <a:solidFill>
                  <a:srgbClr val="000000"/>
                </a:solidFill>
              </a:rPr>
              <a:t>un </a:t>
            </a:r>
            <a:r>
              <a:rPr sz="2600" spc="-170" dirty="0">
                <a:solidFill>
                  <a:srgbClr val="000000"/>
                </a:solidFill>
              </a:rPr>
              <a:t>recurso</a:t>
            </a:r>
            <a:r>
              <a:rPr sz="2600" spc="-459" dirty="0">
                <a:solidFill>
                  <a:srgbClr val="000000"/>
                </a:solidFill>
              </a:rPr>
              <a:t> </a:t>
            </a:r>
            <a:r>
              <a:rPr sz="2600" spc="-150" dirty="0">
                <a:solidFill>
                  <a:srgbClr val="000000"/>
                </a:solidFill>
              </a:rPr>
              <a:t>organizacional  </a:t>
            </a:r>
            <a:r>
              <a:rPr sz="2600" spc="-140" dirty="0">
                <a:solidFill>
                  <a:srgbClr val="000000"/>
                </a:solidFill>
              </a:rPr>
              <a:t>vital </a:t>
            </a:r>
            <a:r>
              <a:rPr sz="2600" spc="-155" dirty="0">
                <a:solidFill>
                  <a:srgbClr val="000000"/>
                </a:solidFill>
              </a:rPr>
              <a:t>que </a:t>
            </a:r>
            <a:r>
              <a:rPr sz="2600" spc="-175" dirty="0">
                <a:solidFill>
                  <a:srgbClr val="000000"/>
                </a:solidFill>
              </a:rPr>
              <a:t>requieren </a:t>
            </a:r>
            <a:r>
              <a:rPr sz="2600" spc="-165" dirty="0">
                <a:solidFill>
                  <a:srgbClr val="000000"/>
                </a:solidFill>
              </a:rPr>
              <a:t>manejarse </a:t>
            </a:r>
            <a:r>
              <a:rPr sz="2600" spc="-135" dirty="0">
                <a:solidFill>
                  <a:srgbClr val="000000"/>
                </a:solidFill>
              </a:rPr>
              <a:t>como  </a:t>
            </a:r>
            <a:r>
              <a:rPr sz="2600" spc="-160" dirty="0">
                <a:solidFill>
                  <a:srgbClr val="000000"/>
                </a:solidFill>
              </a:rPr>
              <a:t>cualquier </a:t>
            </a:r>
            <a:r>
              <a:rPr sz="2600" spc="-125" dirty="0">
                <a:solidFill>
                  <a:srgbClr val="000000"/>
                </a:solidFill>
              </a:rPr>
              <a:t>otro </a:t>
            </a:r>
            <a:r>
              <a:rPr sz="2600" spc="-145" dirty="0">
                <a:solidFill>
                  <a:srgbClr val="000000"/>
                </a:solidFill>
              </a:rPr>
              <a:t>activo </a:t>
            </a:r>
            <a:r>
              <a:rPr sz="2600" spc="-160" dirty="0">
                <a:solidFill>
                  <a:srgbClr val="000000"/>
                </a:solidFill>
              </a:rPr>
              <a:t>empresarial. </a:t>
            </a:r>
            <a:r>
              <a:rPr sz="2600" spc="-50" dirty="0">
                <a:solidFill>
                  <a:srgbClr val="000000"/>
                </a:solidFill>
              </a:rPr>
              <a:t>No  </a:t>
            </a:r>
            <a:r>
              <a:rPr sz="2600" spc="-155" dirty="0">
                <a:solidFill>
                  <a:srgbClr val="000000"/>
                </a:solidFill>
              </a:rPr>
              <a:t>obstante, </a:t>
            </a:r>
            <a:r>
              <a:rPr sz="2600" spc="-165" dirty="0">
                <a:solidFill>
                  <a:srgbClr val="000000"/>
                </a:solidFill>
              </a:rPr>
              <a:t>en </a:t>
            </a:r>
            <a:r>
              <a:rPr sz="2600" spc="-145" dirty="0">
                <a:solidFill>
                  <a:srgbClr val="000000"/>
                </a:solidFill>
              </a:rPr>
              <a:t>muchas</a:t>
            </a:r>
            <a:r>
              <a:rPr sz="2600" spc="-254" dirty="0">
                <a:solidFill>
                  <a:srgbClr val="000000"/>
                </a:solidFill>
              </a:rPr>
              <a:t> </a:t>
            </a:r>
            <a:r>
              <a:rPr sz="2600" spc="-160" dirty="0">
                <a:solidFill>
                  <a:srgbClr val="000000"/>
                </a:solidFill>
              </a:rPr>
              <a:t>organizaciones: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307847" y="3111541"/>
            <a:ext cx="5481320" cy="32130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0" marR="107950" indent="-34798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749300" algn="l"/>
                <a:tab pos="749935" algn="l"/>
              </a:tabLst>
            </a:pP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114" dirty="0">
                <a:latin typeface="Arial"/>
                <a:cs typeface="Arial"/>
              </a:rPr>
              <a:t>datos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130" dirty="0">
                <a:latin typeface="Arial"/>
                <a:cs typeface="Arial"/>
              </a:rPr>
              <a:t>organizan, </a:t>
            </a:r>
            <a:r>
              <a:rPr sz="2600" spc="-135" dirty="0">
                <a:latin typeface="Arial"/>
                <a:cs typeface="Arial"/>
              </a:rPr>
              <a:t>almacenan 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40" dirty="0">
                <a:latin typeface="Arial"/>
                <a:cs typeface="Arial"/>
              </a:rPr>
              <a:t>procesan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25" dirty="0">
                <a:latin typeface="Arial"/>
                <a:cs typeface="Arial"/>
              </a:rPr>
              <a:t>archivos  </a:t>
            </a:r>
            <a:r>
              <a:rPr sz="2600" spc="-90" dirty="0">
                <a:latin typeface="Arial"/>
                <a:cs typeface="Arial"/>
              </a:rPr>
              <a:t>independientes.</a:t>
            </a:r>
            <a:endParaRPr sz="2600" dirty="0">
              <a:latin typeface="Arial"/>
              <a:cs typeface="Arial"/>
            </a:endParaRPr>
          </a:p>
          <a:p>
            <a:pPr marL="749300" marR="5080" indent="-347980">
              <a:lnSpc>
                <a:spcPct val="100000"/>
              </a:lnSpc>
              <a:buFont typeface="Wingdings"/>
              <a:buChar char=""/>
              <a:tabLst>
                <a:tab pos="749300" algn="l"/>
                <a:tab pos="749935" algn="l"/>
              </a:tabLst>
            </a:pPr>
            <a:r>
              <a:rPr sz="2600" spc="-250" dirty="0">
                <a:latin typeface="Arial"/>
                <a:cs typeface="Arial"/>
              </a:rPr>
              <a:t>Cada </a:t>
            </a:r>
            <a:r>
              <a:rPr sz="2600" spc="-105" dirty="0">
                <a:latin typeface="Arial"/>
                <a:cs typeface="Arial"/>
              </a:rPr>
              <a:t>aplicación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135" dirty="0">
                <a:latin typeface="Arial"/>
                <a:cs typeface="Arial"/>
              </a:rPr>
              <a:t>diseña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140" dirty="0">
                <a:latin typeface="Arial"/>
                <a:cs typeface="Arial"/>
              </a:rPr>
              <a:t>usar  </a:t>
            </a:r>
            <a:r>
              <a:rPr sz="2600" spc="-125" dirty="0">
                <a:latin typeface="Arial"/>
                <a:cs typeface="Arial"/>
              </a:rPr>
              <a:t>archivos </a:t>
            </a:r>
            <a:r>
              <a:rPr sz="2600" spc="-145" dirty="0">
                <a:latin typeface="Arial"/>
                <a:cs typeface="Arial"/>
              </a:rPr>
              <a:t>especializados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4" dirty="0">
                <a:latin typeface="Arial"/>
                <a:cs typeface="Arial"/>
              </a:rPr>
              <a:t>datos  </a:t>
            </a:r>
            <a:r>
              <a:rPr sz="2600" spc="-110" dirty="0">
                <a:latin typeface="Arial"/>
                <a:cs typeface="Arial"/>
              </a:rPr>
              <a:t>que sólo </a:t>
            </a:r>
            <a:r>
              <a:rPr sz="2600" spc="-85" dirty="0">
                <a:latin typeface="Arial"/>
                <a:cs typeface="Arial"/>
              </a:rPr>
              <a:t>contienen </a:t>
            </a:r>
            <a:r>
              <a:rPr sz="2600" spc="-55" dirty="0">
                <a:latin typeface="Arial"/>
                <a:cs typeface="Arial"/>
              </a:rPr>
              <a:t>tipos  </a:t>
            </a:r>
            <a:r>
              <a:rPr sz="2600" spc="-140" dirty="0">
                <a:latin typeface="Arial"/>
                <a:cs typeface="Arial"/>
              </a:rPr>
              <a:t>específicos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5" dirty="0">
                <a:latin typeface="Arial"/>
                <a:cs typeface="Arial"/>
              </a:rPr>
              <a:t>registros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85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datos.</a:t>
            </a:r>
            <a:endParaRPr sz="2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600" b="1" i="1" spc="-225" dirty="0">
                <a:solidFill>
                  <a:srgbClr val="00338D"/>
                </a:solidFill>
                <a:latin typeface="Arial"/>
                <a:cs typeface="Arial"/>
              </a:rPr>
              <a:t>¿Constituye </a:t>
            </a:r>
            <a:r>
              <a:rPr sz="2600" b="1" i="1" spc="-180" dirty="0">
                <a:solidFill>
                  <a:srgbClr val="00338D"/>
                </a:solidFill>
                <a:latin typeface="Arial"/>
                <a:cs typeface="Arial"/>
              </a:rPr>
              <a:t>esta </a:t>
            </a:r>
            <a:r>
              <a:rPr sz="2600" b="1" i="1" spc="-165" dirty="0">
                <a:solidFill>
                  <a:srgbClr val="00338D"/>
                </a:solidFill>
                <a:latin typeface="Arial"/>
                <a:cs typeface="Arial"/>
              </a:rPr>
              <a:t>práctica </a:t>
            </a:r>
            <a:r>
              <a:rPr sz="2600" b="1" i="1" spc="-225" dirty="0">
                <a:solidFill>
                  <a:srgbClr val="00338D"/>
                </a:solidFill>
                <a:latin typeface="Arial"/>
                <a:cs typeface="Arial"/>
              </a:rPr>
              <a:t>un</a:t>
            </a:r>
            <a:r>
              <a:rPr sz="2600" b="1" i="1" spc="5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600" b="1" i="1" spc="-190" dirty="0">
                <a:solidFill>
                  <a:srgbClr val="00338D"/>
                </a:solidFill>
                <a:latin typeface="Arial"/>
                <a:cs typeface="Arial"/>
              </a:rPr>
              <a:t>problema?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72200" y="3886200"/>
            <a:ext cx="2467355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96000" y="1239519"/>
            <a:ext cx="2590800" cy="2418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96200" y="3429000"/>
            <a:ext cx="1143000" cy="381000"/>
          </a:xfrm>
          <a:custGeom>
            <a:avLst/>
            <a:gdLst/>
            <a:ahLst/>
            <a:cxnLst/>
            <a:rect l="l" t="t" r="r" b="b"/>
            <a:pathLst>
              <a:path w="1143000" h="381000">
                <a:moveTo>
                  <a:pt x="0" y="381000"/>
                </a:moveTo>
                <a:lnTo>
                  <a:pt x="1143000" y="381000"/>
                </a:lnTo>
                <a:lnTo>
                  <a:pt x="1143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</a:t>
            </a:r>
            <a:r>
              <a:rPr lang="es-AR" b="1" spc="-5" dirty="0">
                <a:latin typeface="Arial"/>
                <a:cs typeface="Arial"/>
              </a:rPr>
              <a:t>20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lang="es-AR" spc="-5" dirty="0"/>
              <a:t>Javier F. Klus</a:t>
            </a:r>
            <a:r>
              <a:rPr spc="-30" dirty="0"/>
              <a:t>(</a:t>
            </a:r>
            <a:r>
              <a:rPr lang="es-AR" spc="-30" dirty="0" err="1"/>
              <a:t>jklus</a:t>
            </a:r>
            <a:r>
              <a:rPr spc="-30" dirty="0"/>
              <a:t>@uade.edu.ar)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16623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85" dirty="0">
                <a:solidFill>
                  <a:srgbClr val="FFFFFF"/>
                </a:solidFill>
                <a:latin typeface="Trebuchet MS"/>
                <a:cs typeface="Trebuchet MS"/>
              </a:rPr>
              <a:t>Bases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70" dirty="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r>
              <a:rPr sz="2000" b="1" spc="-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Bases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33780"/>
            <a:ext cx="3751579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marR="5080" indent="-514984">
              <a:lnSpc>
                <a:spcPct val="100000"/>
              </a:lnSpc>
              <a:spcBef>
                <a:spcPts val="95"/>
              </a:spcBef>
              <a:tabLst>
                <a:tab pos="527050" algn="l"/>
              </a:tabLst>
            </a:pPr>
            <a:r>
              <a:rPr sz="2600" spc="-240" dirty="0">
                <a:solidFill>
                  <a:srgbClr val="000000"/>
                </a:solidFill>
              </a:rPr>
              <a:t>1.	</a:t>
            </a:r>
            <a:r>
              <a:rPr sz="2600" spc="-120" dirty="0">
                <a:solidFill>
                  <a:srgbClr val="000000"/>
                </a:solidFill>
              </a:rPr>
              <a:t>Alta </a:t>
            </a:r>
            <a:r>
              <a:rPr sz="2600" spc="-155" dirty="0">
                <a:solidFill>
                  <a:srgbClr val="000000"/>
                </a:solidFill>
              </a:rPr>
              <a:t>dependencia</a:t>
            </a:r>
            <a:r>
              <a:rPr sz="2600" spc="-285" dirty="0">
                <a:solidFill>
                  <a:srgbClr val="000000"/>
                </a:solidFill>
              </a:rPr>
              <a:t> </a:t>
            </a:r>
            <a:r>
              <a:rPr sz="2600" spc="-180" dirty="0">
                <a:solidFill>
                  <a:srgbClr val="000000"/>
                </a:solidFill>
              </a:rPr>
              <a:t>entre  </a:t>
            </a:r>
            <a:r>
              <a:rPr sz="2600" spc="-130" dirty="0">
                <a:solidFill>
                  <a:srgbClr val="000000"/>
                </a:solidFill>
              </a:rPr>
              <a:t>programas </a:t>
            </a:r>
            <a:r>
              <a:rPr sz="2600" spc="-160" dirty="0">
                <a:solidFill>
                  <a:srgbClr val="000000"/>
                </a:solidFill>
              </a:rPr>
              <a:t>y</a:t>
            </a:r>
            <a:r>
              <a:rPr sz="2600" spc="-245" dirty="0">
                <a:solidFill>
                  <a:srgbClr val="000000"/>
                </a:solidFill>
              </a:rPr>
              <a:t> </a:t>
            </a:r>
            <a:r>
              <a:rPr sz="2600" spc="-114" dirty="0">
                <a:solidFill>
                  <a:srgbClr val="000000"/>
                </a:solidFill>
              </a:rPr>
              <a:t>datos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828545"/>
            <a:ext cx="4582795" cy="3742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0" marR="728345" indent="-514350">
              <a:lnSpc>
                <a:spcPct val="100000"/>
              </a:lnSpc>
              <a:spcBef>
                <a:spcPts val="100"/>
              </a:spcBef>
              <a:buChar char="•"/>
              <a:tabLst>
                <a:tab pos="984250" algn="l"/>
                <a:tab pos="984885" algn="l"/>
              </a:tabLst>
            </a:pPr>
            <a:r>
              <a:rPr sz="2200" spc="-55" dirty="0">
                <a:latin typeface="Arial"/>
                <a:cs typeface="Arial"/>
              </a:rPr>
              <a:t>Dificulta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5" dirty="0">
                <a:latin typeface="Arial"/>
                <a:cs typeface="Arial"/>
              </a:rPr>
              <a:t>desarrollo </a:t>
            </a:r>
            <a:r>
              <a:rPr sz="2200" spc="-105" dirty="0">
                <a:latin typeface="Arial"/>
                <a:cs typeface="Arial"/>
              </a:rPr>
              <a:t>y</a:t>
            </a:r>
            <a:r>
              <a:rPr sz="2200" spc="-320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50" dirty="0">
                <a:latin typeface="Arial"/>
                <a:cs typeface="Arial"/>
              </a:rPr>
              <a:t>mantenimiento</a:t>
            </a:r>
            <a:endParaRPr sz="2200">
              <a:latin typeface="Arial"/>
              <a:cs typeface="Arial"/>
            </a:endParaRPr>
          </a:p>
          <a:p>
            <a:pPr marL="527050" indent="-514350">
              <a:lnSpc>
                <a:spcPts val="3100"/>
              </a:lnSpc>
              <a:buAutoNum type="arabicPeriod" startAt="2"/>
              <a:tabLst>
                <a:tab pos="527050" algn="l"/>
                <a:tab pos="527685" algn="l"/>
              </a:tabLst>
            </a:pPr>
            <a:r>
              <a:rPr sz="2600" b="1" spc="-160" dirty="0">
                <a:latin typeface="Trebuchet MS"/>
                <a:cs typeface="Trebuchet MS"/>
              </a:rPr>
              <a:t>Poca</a:t>
            </a:r>
            <a:r>
              <a:rPr sz="2600" b="1" spc="-18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flexibilidad</a:t>
            </a:r>
            <a:endParaRPr sz="2600">
              <a:latin typeface="Trebuchet MS"/>
              <a:cs typeface="Trebuchet MS"/>
            </a:endParaRPr>
          </a:p>
          <a:p>
            <a:pPr marL="527050" marR="5080" indent="-514350">
              <a:lnSpc>
                <a:spcPct val="100000"/>
              </a:lnSpc>
              <a:buAutoNum type="arabicPeriod" startAt="2"/>
              <a:tabLst>
                <a:tab pos="527050" algn="l"/>
                <a:tab pos="527685" algn="l"/>
              </a:tabLst>
            </a:pPr>
            <a:r>
              <a:rPr sz="2600" b="1" spc="-120" dirty="0">
                <a:latin typeface="Trebuchet MS"/>
                <a:cs typeface="Trebuchet MS"/>
              </a:rPr>
              <a:t>Alta </a:t>
            </a:r>
            <a:r>
              <a:rPr sz="2600" b="1" spc="-145" dirty="0">
                <a:latin typeface="Trebuchet MS"/>
                <a:cs typeface="Trebuchet MS"/>
              </a:rPr>
              <a:t>dificultad para</a:t>
            </a:r>
            <a:r>
              <a:rPr sz="2600" b="1" spc="-30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compartir  </a:t>
            </a:r>
            <a:r>
              <a:rPr sz="2600" b="1" spc="-114" dirty="0">
                <a:latin typeface="Trebuchet MS"/>
                <a:cs typeface="Trebuchet MS"/>
              </a:rPr>
              <a:t>datos </a:t>
            </a:r>
            <a:r>
              <a:rPr sz="2600" b="1" spc="-180" dirty="0">
                <a:latin typeface="Trebuchet MS"/>
                <a:cs typeface="Trebuchet MS"/>
              </a:rPr>
              <a:t>entre</a:t>
            </a:r>
            <a:r>
              <a:rPr sz="2600" b="1" spc="-270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aplicaciones</a:t>
            </a:r>
            <a:endParaRPr sz="2600">
              <a:latin typeface="Trebuchet MS"/>
              <a:cs typeface="Trebuchet MS"/>
            </a:endParaRPr>
          </a:p>
          <a:p>
            <a:pPr marL="984250" marR="761365" lvl="1" indent="-51435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984250" algn="l"/>
                <a:tab pos="984885" algn="l"/>
              </a:tabLst>
            </a:pPr>
            <a:r>
              <a:rPr sz="2200" b="1" spc="-175" dirty="0">
                <a:latin typeface="Trebuchet MS"/>
                <a:cs typeface="Trebuchet MS"/>
              </a:rPr>
              <a:t>Lo </a:t>
            </a:r>
            <a:r>
              <a:rPr sz="2200" b="1" spc="-130" dirty="0">
                <a:latin typeface="Trebuchet MS"/>
                <a:cs typeface="Trebuchet MS"/>
              </a:rPr>
              <a:t>que </a:t>
            </a:r>
            <a:r>
              <a:rPr sz="2200" b="1" spc="-125" dirty="0">
                <a:latin typeface="Trebuchet MS"/>
                <a:cs typeface="Trebuchet MS"/>
              </a:rPr>
              <a:t>provoca </a:t>
            </a:r>
            <a:r>
              <a:rPr sz="2200" b="1" spc="-110" dirty="0">
                <a:latin typeface="Trebuchet MS"/>
                <a:cs typeface="Trebuchet MS"/>
              </a:rPr>
              <a:t>una</a:t>
            </a:r>
            <a:r>
              <a:rPr sz="2200" b="1" spc="-300" dirty="0">
                <a:latin typeface="Trebuchet MS"/>
                <a:cs typeface="Trebuchet MS"/>
              </a:rPr>
              <a:t> </a:t>
            </a:r>
            <a:r>
              <a:rPr sz="2200" b="1" spc="-130" dirty="0">
                <a:latin typeface="Trebuchet MS"/>
                <a:cs typeface="Trebuchet MS"/>
              </a:rPr>
              <a:t>baja  integración</a:t>
            </a:r>
            <a:endParaRPr sz="2200">
              <a:latin typeface="Trebuchet MS"/>
              <a:cs typeface="Trebuchet MS"/>
            </a:endParaRPr>
          </a:p>
          <a:p>
            <a:pPr marL="527050" indent="-514350">
              <a:lnSpc>
                <a:spcPts val="3100"/>
              </a:lnSpc>
              <a:buAutoNum type="arabicPeriod" startAt="2"/>
              <a:tabLst>
                <a:tab pos="527050" algn="l"/>
                <a:tab pos="527685" algn="l"/>
              </a:tabLst>
            </a:pPr>
            <a:r>
              <a:rPr sz="2600" b="1" spc="-150" dirty="0">
                <a:latin typeface="Trebuchet MS"/>
                <a:cs typeface="Trebuchet MS"/>
              </a:rPr>
              <a:t>Redundancia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0" dirty="0">
                <a:latin typeface="Trebuchet MS"/>
                <a:cs typeface="Trebuchet MS"/>
              </a:rPr>
              <a:t> </a:t>
            </a:r>
            <a:r>
              <a:rPr sz="2600" b="1" spc="-114" dirty="0">
                <a:latin typeface="Trebuchet MS"/>
                <a:cs typeface="Trebuchet MS"/>
              </a:rPr>
              <a:t>datos</a:t>
            </a:r>
            <a:endParaRPr sz="2600">
              <a:latin typeface="Trebuchet MS"/>
              <a:cs typeface="Trebuchet MS"/>
            </a:endParaRPr>
          </a:p>
          <a:p>
            <a:pPr marL="984250" lvl="1" indent="-514350">
              <a:lnSpc>
                <a:spcPct val="100000"/>
              </a:lnSpc>
              <a:spcBef>
                <a:spcPts val="400"/>
              </a:spcBef>
              <a:buChar char="•"/>
              <a:tabLst>
                <a:tab pos="984250" algn="l"/>
                <a:tab pos="984885" algn="l"/>
              </a:tabLst>
            </a:pPr>
            <a:r>
              <a:rPr sz="2200" spc="-95" dirty="0">
                <a:latin typeface="Arial"/>
                <a:cs typeface="Arial"/>
              </a:rPr>
              <a:t>Posibilidad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8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inconsistencia</a:t>
            </a:r>
            <a:endParaRPr sz="22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spcBef>
                <a:spcPts val="80"/>
              </a:spcBef>
              <a:buAutoNum type="arabicPeriod" startAt="2"/>
              <a:tabLst>
                <a:tab pos="527050" algn="l"/>
                <a:tab pos="527685" algn="l"/>
              </a:tabLst>
            </a:pPr>
            <a:r>
              <a:rPr sz="2600" b="1" spc="-160" dirty="0">
                <a:latin typeface="Trebuchet MS"/>
                <a:cs typeface="Trebuchet MS"/>
              </a:rPr>
              <a:t>Poca </a:t>
            </a:r>
            <a:r>
              <a:rPr sz="2600" b="1" spc="-130" dirty="0">
                <a:latin typeface="Trebuchet MS"/>
                <a:cs typeface="Trebuchet MS"/>
              </a:rPr>
              <a:t>seguridad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54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acceso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0" y="4331208"/>
            <a:ext cx="3371850" cy="1623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05450" y="1143000"/>
            <a:ext cx="3333750" cy="27782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32765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5" dirty="0"/>
              <a:t>Bases </a:t>
            </a:r>
            <a:r>
              <a:rPr spc="-120" dirty="0"/>
              <a:t>de </a:t>
            </a:r>
            <a:r>
              <a:rPr spc="-70" dirty="0"/>
              <a:t>Datos</a:t>
            </a:r>
            <a:r>
              <a:rPr spc="-409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5536565" cy="571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Bases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60680" marR="185420" indent="-347980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120" dirty="0">
                <a:latin typeface="Trebuchet MS"/>
                <a:cs typeface="Trebuchet MS"/>
              </a:rPr>
              <a:t>Base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0" dirty="0">
                <a:latin typeface="Trebuchet MS"/>
                <a:cs typeface="Trebuchet MS"/>
              </a:rPr>
              <a:t>Datos </a:t>
            </a:r>
            <a:r>
              <a:rPr sz="2600" b="1" spc="-135" dirty="0">
                <a:latin typeface="Trebuchet MS"/>
                <a:cs typeface="Trebuchet MS"/>
              </a:rPr>
              <a:t>(BD): </a:t>
            </a:r>
            <a:r>
              <a:rPr sz="2600" spc="-145" dirty="0">
                <a:latin typeface="Arial"/>
                <a:cs typeface="Arial"/>
              </a:rPr>
              <a:t>espacio </a:t>
            </a:r>
            <a:r>
              <a:rPr sz="2600" spc="-100" dirty="0">
                <a:latin typeface="Arial"/>
                <a:cs typeface="Arial"/>
              </a:rPr>
              <a:t>lógico  </a:t>
            </a:r>
            <a:r>
              <a:rPr sz="2600" spc="-50" dirty="0">
                <a:latin typeface="Arial"/>
                <a:cs typeface="Arial"/>
              </a:rPr>
              <a:t>dentro </a:t>
            </a:r>
            <a:r>
              <a:rPr sz="2600" spc="-114" dirty="0">
                <a:latin typeface="Arial"/>
                <a:cs typeface="Arial"/>
              </a:rPr>
              <a:t>de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135" dirty="0">
                <a:latin typeface="Arial"/>
                <a:cs typeface="Arial"/>
              </a:rPr>
              <a:t>disco, </a:t>
            </a:r>
            <a:r>
              <a:rPr sz="2600" spc="-85" dirty="0">
                <a:latin typeface="Arial"/>
                <a:cs typeface="Arial"/>
              </a:rPr>
              <a:t>administrado </a:t>
            </a:r>
            <a:r>
              <a:rPr sz="2600" spc="-45" dirty="0">
                <a:latin typeface="Arial"/>
                <a:cs typeface="Arial"/>
              </a:rPr>
              <a:t>por 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75" dirty="0">
                <a:latin typeface="Arial"/>
                <a:cs typeface="Arial"/>
              </a:rPr>
              <a:t>software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00" dirty="0">
                <a:latin typeface="Arial"/>
                <a:cs typeface="Arial"/>
              </a:rPr>
              <a:t>recibe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75" dirty="0">
                <a:latin typeface="Arial"/>
                <a:cs typeface="Arial"/>
              </a:rPr>
              <a:t>impacto</a:t>
            </a:r>
            <a:r>
              <a:rPr sz="2600" spc="-39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125" dirty="0">
                <a:latin typeface="Arial"/>
                <a:cs typeface="Arial"/>
              </a:rPr>
              <a:t>transacciones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empresariales.</a:t>
            </a:r>
            <a:endParaRPr sz="2600">
              <a:latin typeface="Arial"/>
              <a:cs typeface="Arial"/>
            </a:endParaRPr>
          </a:p>
          <a:p>
            <a:pPr marL="360680" marR="5080" indent="-347980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175" dirty="0">
                <a:latin typeface="Trebuchet MS"/>
                <a:cs typeface="Trebuchet MS"/>
              </a:rPr>
              <a:t>El </a:t>
            </a:r>
            <a:r>
              <a:rPr sz="2600" b="1" spc="-125" dirty="0">
                <a:latin typeface="Trebuchet MS"/>
                <a:cs typeface="Trebuchet MS"/>
              </a:rPr>
              <a:t>diseño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0" dirty="0">
                <a:latin typeface="Trebuchet MS"/>
                <a:cs typeface="Trebuchet MS"/>
              </a:rPr>
              <a:t>la </a:t>
            </a:r>
            <a:r>
              <a:rPr sz="2600" b="1" spc="-65" dirty="0">
                <a:latin typeface="Trebuchet MS"/>
                <a:cs typeface="Trebuchet MS"/>
              </a:rPr>
              <a:t>BD </a:t>
            </a:r>
            <a:r>
              <a:rPr sz="2600" b="1" spc="-140" dirty="0">
                <a:latin typeface="Trebuchet MS"/>
                <a:cs typeface="Trebuchet MS"/>
              </a:rPr>
              <a:t>es </a:t>
            </a:r>
            <a:r>
              <a:rPr sz="2600" b="1" spc="-175" dirty="0">
                <a:latin typeface="Trebuchet MS"/>
                <a:cs typeface="Trebuchet MS"/>
              </a:rPr>
              <a:t>clave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70" dirty="0">
                <a:latin typeface="Arial"/>
                <a:cs typeface="Arial"/>
              </a:rPr>
              <a:t>el  funcionamiento </a:t>
            </a:r>
            <a:r>
              <a:rPr sz="2600" spc="-80" dirty="0">
                <a:latin typeface="Arial"/>
                <a:cs typeface="Arial"/>
              </a:rPr>
              <a:t>del </a:t>
            </a:r>
            <a:r>
              <a:rPr sz="2600" spc="-130" dirty="0">
                <a:latin typeface="Arial"/>
                <a:cs typeface="Arial"/>
              </a:rPr>
              <a:t>sistema, </a:t>
            </a:r>
            <a:r>
              <a:rPr sz="2600" spc="-190" dirty="0">
                <a:latin typeface="Arial"/>
                <a:cs typeface="Arial"/>
              </a:rPr>
              <a:t>ya </a:t>
            </a:r>
            <a:r>
              <a:rPr sz="2600" spc="-110" dirty="0">
                <a:latin typeface="Arial"/>
                <a:cs typeface="Arial"/>
              </a:rPr>
              <a:t>que</a:t>
            </a:r>
            <a:r>
              <a:rPr sz="2600" spc="-245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250" dirty="0">
                <a:latin typeface="Arial"/>
                <a:cs typeface="Arial"/>
              </a:rPr>
              <a:t>BD,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60" dirty="0">
                <a:latin typeface="Arial"/>
                <a:cs typeface="Arial"/>
              </a:rPr>
              <a:t>obtiene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90" dirty="0">
                <a:latin typeface="Arial"/>
                <a:cs typeface="Arial"/>
              </a:rPr>
              <a:t>correlación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114" dirty="0">
                <a:latin typeface="Arial"/>
                <a:cs typeface="Arial"/>
              </a:rPr>
              <a:t>datos </a:t>
            </a:r>
            <a:r>
              <a:rPr sz="2600" spc="-75" dirty="0">
                <a:latin typeface="Arial"/>
                <a:cs typeface="Arial"/>
              </a:rPr>
              <a:t>(información)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14" dirty="0">
                <a:latin typeface="Arial"/>
                <a:cs typeface="Arial"/>
              </a:rPr>
              <a:t>luego, </a:t>
            </a:r>
            <a:r>
              <a:rPr sz="2600" spc="-95" dirty="0">
                <a:latin typeface="Arial"/>
                <a:cs typeface="Arial"/>
              </a:rPr>
              <a:t>la  </a:t>
            </a:r>
            <a:r>
              <a:rPr sz="2600" spc="-90" dirty="0">
                <a:latin typeface="Arial"/>
                <a:cs typeface="Arial"/>
              </a:rPr>
              <a:t>correlación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75" dirty="0">
                <a:latin typeface="Arial"/>
                <a:cs typeface="Arial"/>
              </a:rPr>
              <a:t>información  </a:t>
            </a:r>
            <a:r>
              <a:rPr sz="2600" spc="-85" dirty="0">
                <a:latin typeface="Arial"/>
                <a:cs typeface="Arial"/>
              </a:rPr>
              <a:t>(conocimiento)</a:t>
            </a:r>
            <a:endParaRPr sz="2600">
              <a:latin typeface="Arial"/>
              <a:cs typeface="Arial"/>
            </a:endParaRPr>
          </a:p>
          <a:p>
            <a:pPr marL="360680" marR="333375" indent="-34798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61315" algn="l"/>
              </a:tabLst>
            </a:pPr>
            <a:r>
              <a:rPr sz="2600" spc="-265" dirty="0">
                <a:latin typeface="Arial"/>
                <a:cs typeface="Arial"/>
              </a:rPr>
              <a:t>Si </a:t>
            </a:r>
            <a:r>
              <a:rPr sz="2600" spc="-85" dirty="0">
                <a:latin typeface="Arial"/>
                <a:cs typeface="Arial"/>
              </a:rPr>
              <a:t>no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75" dirty="0">
                <a:latin typeface="Arial"/>
                <a:cs typeface="Arial"/>
              </a:rPr>
              <a:t>define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0" dirty="0">
                <a:latin typeface="Arial"/>
                <a:cs typeface="Arial"/>
              </a:rPr>
              <a:t>total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0" dirty="0">
                <a:latin typeface="Arial"/>
                <a:cs typeface="Arial"/>
              </a:rPr>
              <a:t>la </a:t>
            </a:r>
            <a:r>
              <a:rPr sz="2600" spc="-250" dirty="0">
                <a:latin typeface="Arial"/>
                <a:cs typeface="Arial"/>
              </a:rPr>
              <a:t>BD, </a:t>
            </a:r>
            <a:r>
              <a:rPr sz="2600" spc="-170" dirty="0">
                <a:latin typeface="Arial"/>
                <a:cs typeface="Arial"/>
              </a:rPr>
              <a:t>será  </a:t>
            </a:r>
            <a:r>
              <a:rPr sz="2600" spc="-100" dirty="0">
                <a:latin typeface="Arial"/>
                <a:cs typeface="Arial"/>
              </a:rPr>
              <a:t>muy </a:t>
            </a:r>
            <a:r>
              <a:rPr sz="2600" spc="-50" dirty="0">
                <a:latin typeface="Arial"/>
                <a:cs typeface="Arial"/>
              </a:rPr>
              <a:t>difícil </a:t>
            </a:r>
            <a:r>
              <a:rPr sz="2600" spc="-60" dirty="0">
                <a:latin typeface="Arial"/>
                <a:cs typeface="Arial"/>
              </a:rPr>
              <a:t>obtener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75" dirty="0">
                <a:latin typeface="Arial"/>
                <a:cs typeface="Arial"/>
              </a:rPr>
              <a:t>información  </a:t>
            </a:r>
            <a:r>
              <a:rPr sz="2600" spc="-80" dirty="0">
                <a:latin typeface="Arial"/>
                <a:cs typeface="Arial"/>
              </a:rPr>
              <a:t>requerida </a:t>
            </a:r>
            <a:r>
              <a:rPr sz="2600" spc="-45" dirty="0">
                <a:latin typeface="Arial"/>
                <a:cs typeface="Arial"/>
              </a:rPr>
              <a:t>por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280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organización.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83277" y="1312163"/>
            <a:ext cx="2807154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6000" y="3674364"/>
            <a:ext cx="2514600" cy="2269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32765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5" dirty="0"/>
              <a:t>Bases </a:t>
            </a:r>
            <a:r>
              <a:rPr spc="-120" dirty="0"/>
              <a:t>de </a:t>
            </a:r>
            <a:r>
              <a:rPr spc="-70" dirty="0"/>
              <a:t>Datos</a:t>
            </a:r>
            <a:r>
              <a:rPr spc="-409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32765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622030" cy="571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Bases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190" dirty="0">
                <a:latin typeface="Trebuchet MS"/>
                <a:cs typeface="Trebuchet MS"/>
              </a:rPr>
              <a:t>Carácter: </a:t>
            </a:r>
            <a:r>
              <a:rPr sz="2600" spc="-225" dirty="0">
                <a:latin typeface="Arial"/>
                <a:cs typeface="Arial"/>
              </a:rPr>
              <a:t>es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80" dirty="0">
                <a:latin typeface="Arial"/>
                <a:cs typeface="Arial"/>
              </a:rPr>
              <a:t>elemento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70" dirty="0">
                <a:latin typeface="Arial"/>
                <a:cs typeface="Arial"/>
              </a:rPr>
              <a:t>dato </a:t>
            </a:r>
            <a:r>
              <a:rPr sz="2600" spc="-95" dirty="0">
                <a:latin typeface="Arial"/>
                <a:cs typeface="Arial"/>
              </a:rPr>
              <a:t>lógico </a:t>
            </a:r>
            <a:r>
              <a:rPr sz="2600" spc="-195" dirty="0">
                <a:latin typeface="Arial"/>
                <a:cs typeface="Arial"/>
              </a:rPr>
              <a:t>más </a:t>
            </a:r>
            <a:r>
              <a:rPr sz="2600" spc="-145" dirty="0">
                <a:latin typeface="Arial"/>
                <a:cs typeface="Arial"/>
              </a:rPr>
              <a:t>básico </a:t>
            </a:r>
            <a:r>
              <a:rPr sz="2600" spc="-114" dirty="0">
                <a:latin typeface="Arial"/>
                <a:cs typeface="Arial"/>
              </a:rPr>
              <a:t>que  </a:t>
            </a:r>
            <a:r>
              <a:rPr sz="2600" spc="-120" dirty="0">
                <a:latin typeface="Arial"/>
                <a:cs typeface="Arial"/>
              </a:rPr>
              <a:t>puede </a:t>
            </a:r>
            <a:r>
              <a:rPr sz="2600" spc="-140" dirty="0">
                <a:latin typeface="Arial"/>
                <a:cs typeface="Arial"/>
              </a:rPr>
              <a:t>observarse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05" dirty="0">
                <a:latin typeface="Arial"/>
                <a:cs typeface="Arial"/>
              </a:rPr>
              <a:t>manipularse. </a:t>
            </a:r>
            <a:r>
              <a:rPr sz="2600" spc="-345" dirty="0">
                <a:latin typeface="Arial"/>
                <a:cs typeface="Arial"/>
              </a:rPr>
              <a:t>Se</a:t>
            </a:r>
            <a:r>
              <a:rPr sz="2600" spc="30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compone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i="1" spc="-114" dirty="0">
                <a:latin typeface="Arial"/>
                <a:cs typeface="Arial"/>
              </a:rPr>
              <a:t>un </a:t>
            </a:r>
            <a:r>
              <a:rPr sz="2600" i="1" spc="-130" dirty="0">
                <a:latin typeface="Arial"/>
                <a:cs typeface="Arial"/>
              </a:rPr>
              <a:t>solo  </a:t>
            </a:r>
            <a:r>
              <a:rPr sz="2600" i="1" spc="-125" dirty="0">
                <a:latin typeface="Arial"/>
                <a:cs typeface="Arial"/>
              </a:rPr>
              <a:t>símbolo </a:t>
            </a:r>
            <a:r>
              <a:rPr sz="2600" i="1" spc="-80" dirty="0">
                <a:latin typeface="Arial"/>
                <a:cs typeface="Arial"/>
              </a:rPr>
              <a:t>alfabético, </a:t>
            </a:r>
            <a:r>
              <a:rPr sz="2600" i="1" spc="-110" dirty="0">
                <a:latin typeface="Arial"/>
                <a:cs typeface="Arial"/>
              </a:rPr>
              <a:t>numérico, </a:t>
            </a:r>
            <a:r>
              <a:rPr sz="2600" i="1" spc="-114" dirty="0">
                <a:latin typeface="Arial"/>
                <a:cs typeface="Arial"/>
              </a:rPr>
              <a:t>u </a:t>
            </a:r>
            <a:r>
              <a:rPr sz="2600" i="1" spc="-20" dirty="0">
                <a:latin typeface="Arial"/>
                <a:cs typeface="Arial"/>
              </a:rPr>
              <a:t>otro</a:t>
            </a:r>
            <a:r>
              <a:rPr sz="2600" i="1" spc="-165" dirty="0">
                <a:latin typeface="Arial"/>
                <a:cs typeface="Arial"/>
              </a:rPr>
              <a:t> </a:t>
            </a:r>
            <a:r>
              <a:rPr sz="2600" i="1" spc="-120" dirty="0">
                <a:latin typeface="Arial"/>
                <a:cs typeface="Arial"/>
              </a:rPr>
              <a:t>símbolo</a:t>
            </a:r>
            <a:r>
              <a:rPr sz="2600" spc="-12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"/>
            </a:pPr>
            <a:endParaRPr sz="2700">
              <a:latin typeface="Times New Roman"/>
              <a:cs typeface="Times New Roman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150" dirty="0">
                <a:latin typeface="Trebuchet MS"/>
                <a:cs typeface="Trebuchet MS"/>
              </a:rPr>
              <a:t>Campo: </a:t>
            </a:r>
            <a:r>
              <a:rPr sz="2600" spc="-80" dirty="0">
                <a:latin typeface="Arial"/>
                <a:cs typeface="Arial"/>
              </a:rPr>
              <a:t>elemento </a:t>
            </a:r>
            <a:r>
              <a:rPr sz="2600" spc="-114" dirty="0">
                <a:latin typeface="Arial"/>
                <a:cs typeface="Arial"/>
              </a:rPr>
              <a:t>compuesto </a:t>
            </a:r>
            <a:r>
              <a:rPr sz="2600" spc="-45" dirty="0">
                <a:latin typeface="Arial"/>
                <a:cs typeface="Arial"/>
              </a:rPr>
              <a:t>por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i="1" spc="-100" dirty="0">
                <a:latin typeface="Arial"/>
                <a:cs typeface="Arial"/>
              </a:rPr>
              <a:t>agrupación </a:t>
            </a:r>
            <a:r>
              <a:rPr sz="2600" i="1" spc="-165" dirty="0">
                <a:latin typeface="Arial"/>
                <a:cs typeface="Arial"/>
              </a:rPr>
              <a:t>de </a:t>
            </a:r>
            <a:r>
              <a:rPr sz="2600" i="1" u="heavy" spc="-1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i="1" u="heavy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caracteres</a:t>
            </a:r>
            <a:r>
              <a:rPr sz="2600" spc="-120" dirty="0">
                <a:latin typeface="Arial"/>
                <a:cs typeface="Arial"/>
              </a:rPr>
              <a:t>. </a:t>
            </a:r>
            <a:r>
              <a:rPr sz="2600" spc="-155" dirty="0">
                <a:latin typeface="Arial"/>
                <a:cs typeface="Arial"/>
              </a:rPr>
              <a:t>Representa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20" dirty="0">
                <a:latin typeface="Arial"/>
                <a:cs typeface="Arial"/>
              </a:rPr>
              <a:t>atributo </a:t>
            </a:r>
            <a:r>
              <a:rPr sz="2600" spc="-110" dirty="0">
                <a:latin typeface="Arial"/>
                <a:cs typeface="Arial"/>
              </a:rPr>
              <a:t>(característica </a:t>
            </a:r>
            <a:r>
              <a:rPr sz="2600" spc="-80" dirty="0">
                <a:latin typeface="Arial"/>
                <a:cs typeface="Arial"/>
              </a:rPr>
              <a:t>o </a:t>
            </a:r>
            <a:r>
              <a:rPr sz="2600" spc="-105" dirty="0">
                <a:latin typeface="Arial"/>
                <a:cs typeface="Arial"/>
              </a:rPr>
              <a:t>calidad) 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30" dirty="0">
                <a:latin typeface="Arial"/>
                <a:cs typeface="Arial"/>
              </a:rPr>
              <a:t>alguna </a:t>
            </a:r>
            <a:r>
              <a:rPr sz="2600" spc="-70" dirty="0">
                <a:latin typeface="Arial"/>
                <a:cs typeface="Arial"/>
              </a:rPr>
              <a:t>entidad </a:t>
            </a:r>
            <a:r>
              <a:rPr sz="2600" spc="-60" dirty="0">
                <a:latin typeface="Arial"/>
                <a:cs typeface="Arial"/>
              </a:rPr>
              <a:t>(objeto, </a:t>
            </a:r>
            <a:r>
              <a:rPr sz="2600" spc="-125" dirty="0">
                <a:latin typeface="Arial"/>
                <a:cs typeface="Arial"/>
              </a:rPr>
              <a:t>persona, </a:t>
            </a:r>
            <a:r>
              <a:rPr sz="2600" spc="-135" dirty="0">
                <a:latin typeface="Arial"/>
                <a:cs typeface="Arial"/>
              </a:rPr>
              <a:t>lugar, </a:t>
            </a:r>
            <a:r>
              <a:rPr sz="2600" spc="-80" dirty="0">
                <a:latin typeface="Arial"/>
                <a:cs typeface="Arial"/>
              </a:rPr>
              <a:t>o </a:t>
            </a:r>
            <a:r>
              <a:rPr sz="2600" spc="-90" dirty="0">
                <a:latin typeface="Arial"/>
                <a:cs typeface="Arial"/>
              </a:rPr>
              <a:t>evento). </a:t>
            </a:r>
            <a:r>
              <a:rPr sz="2600" spc="-165" dirty="0">
                <a:latin typeface="Arial"/>
                <a:cs typeface="Arial"/>
              </a:rPr>
              <a:t>Por  </a:t>
            </a:r>
            <a:r>
              <a:rPr sz="2600" spc="-80" dirty="0">
                <a:latin typeface="Arial"/>
                <a:cs typeface="Arial"/>
              </a:rPr>
              <a:t>ejemplo,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100" dirty="0">
                <a:latin typeface="Arial"/>
                <a:cs typeface="Arial"/>
              </a:rPr>
              <a:t>Nombre,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50" dirty="0">
                <a:latin typeface="Arial"/>
                <a:cs typeface="Arial"/>
              </a:rPr>
              <a:t>monto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25" dirty="0">
                <a:latin typeface="Arial"/>
                <a:cs typeface="Arial"/>
              </a:rPr>
              <a:t>una</a:t>
            </a:r>
            <a:r>
              <a:rPr sz="2600" spc="-475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factura.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"/>
            </a:pPr>
            <a:endParaRPr sz="2700">
              <a:latin typeface="Times New Roman"/>
              <a:cs typeface="Times New Roman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130" dirty="0">
                <a:latin typeface="Trebuchet MS"/>
                <a:cs typeface="Trebuchet MS"/>
              </a:rPr>
              <a:t>Registro</a:t>
            </a:r>
            <a:r>
              <a:rPr sz="2600" spc="-130" dirty="0">
                <a:latin typeface="Arial"/>
                <a:cs typeface="Arial"/>
              </a:rPr>
              <a:t>: </a:t>
            </a:r>
            <a:r>
              <a:rPr sz="2600" spc="-140" dirty="0">
                <a:latin typeface="Arial"/>
                <a:cs typeface="Arial"/>
              </a:rPr>
              <a:t>está </a:t>
            </a:r>
            <a:r>
              <a:rPr sz="2600" spc="-55" dirty="0">
                <a:latin typeface="Arial"/>
                <a:cs typeface="Arial"/>
              </a:rPr>
              <a:t>constituido </a:t>
            </a:r>
            <a:r>
              <a:rPr sz="2600" spc="-45" dirty="0">
                <a:latin typeface="Arial"/>
                <a:cs typeface="Arial"/>
              </a:rPr>
              <a:t>por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i="1" spc="-100" dirty="0">
                <a:latin typeface="Arial"/>
                <a:cs typeface="Arial"/>
              </a:rPr>
              <a:t>agrupación </a:t>
            </a:r>
            <a:r>
              <a:rPr sz="2600" i="1" spc="-160" dirty="0">
                <a:latin typeface="Arial"/>
                <a:cs typeface="Arial"/>
              </a:rPr>
              <a:t>de </a:t>
            </a:r>
            <a:r>
              <a:rPr sz="2600" i="1" u="heavy" spc="-1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campos</a:t>
            </a:r>
            <a:r>
              <a:rPr sz="2600" spc="-150" dirty="0">
                <a:latin typeface="Arial"/>
                <a:cs typeface="Arial"/>
              </a:rPr>
              <a:t>. Un  </a:t>
            </a:r>
            <a:r>
              <a:rPr sz="2600" spc="-75" dirty="0">
                <a:latin typeface="Arial"/>
                <a:cs typeface="Arial"/>
              </a:rPr>
              <a:t>registro </a:t>
            </a:r>
            <a:r>
              <a:rPr sz="2600" spc="-105" dirty="0">
                <a:latin typeface="Arial"/>
                <a:cs typeface="Arial"/>
              </a:rPr>
              <a:t>representa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i="1" spc="-85" dirty="0">
                <a:latin typeface="Arial"/>
                <a:cs typeface="Arial"/>
              </a:rPr>
              <a:t>conjunto </a:t>
            </a:r>
            <a:r>
              <a:rPr sz="2600" i="1" spc="-160" dirty="0">
                <a:latin typeface="Arial"/>
                <a:cs typeface="Arial"/>
              </a:rPr>
              <a:t>de </a:t>
            </a:r>
            <a:r>
              <a:rPr sz="2600" i="1" spc="-55" dirty="0">
                <a:latin typeface="Arial"/>
                <a:cs typeface="Arial"/>
              </a:rPr>
              <a:t>atributos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14" dirty="0">
                <a:latin typeface="Arial"/>
                <a:cs typeface="Arial"/>
              </a:rPr>
              <a:t>describen </a:t>
            </a:r>
            <a:r>
              <a:rPr sz="2600" spc="49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70" dirty="0">
                <a:latin typeface="Arial"/>
                <a:cs typeface="Arial"/>
              </a:rPr>
              <a:t>entidad. </a:t>
            </a:r>
            <a:r>
              <a:rPr sz="2600" spc="-215" dirty="0">
                <a:latin typeface="Arial"/>
                <a:cs typeface="Arial"/>
              </a:rPr>
              <a:t>Hay </a:t>
            </a:r>
            <a:r>
              <a:rPr sz="2600" spc="-100" dirty="0">
                <a:latin typeface="Arial"/>
                <a:cs typeface="Arial"/>
              </a:rPr>
              <a:t>registros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45" dirty="0">
                <a:latin typeface="Arial"/>
                <a:cs typeface="Arial"/>
              </a:rPr>
              <a:t>longitud </a:t>
            </a:r>
            <a:r>
              <a:rPr sz="2600" spc="-25" dirty="0">
                <a:latin typeface="Arial"/>
                <a:cs typeface="Arial"/>
              </a:rPr>
              <a:t>fija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00" dirty="0">
                <a:latin typeface="Arial"/>
                <a:cs typeface="Arial"/>
              </a:rPr>
              <a:t>registros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45" dirty="0">
                <a:latin typeface="Arial"/>
                <a:cs typeface="Arial"/>
              </a:rPr>
              <a:t>longitud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variable.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5" dirty="0"/>
              <a:t>Bases </a:t>
            </a:r>
            <a:r>
              <a:rPr spc="-120" dirty="0"/>
              <a:t>de </a:t>
            </a:r>
            <a:r>
              <a:rPr spc="-70" dirty="0"/>
              <a:t>Datos</a:t>
            </a:r>
            <a:r>
              <a:rPr spc="-409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620760" cy="174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Bases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165" dirty="0">
                <a:latin typeface="Trebuchet MS"/>
                <a:cs typeface="Trebuchet MS"/>
              </a:rPr>
              <a:t>Archivo: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100" dirty="0">
                <a:latin typeface="Arial"/>
                <a:cs typeface="Arial"/>
              </a:rPr>
              <a:t>archivo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0" dirty="0">
                <a:latin typeface="Arial"/>
                <a:cs typeface="Arial"/>
              </a:rPr>
              <a:t>datos </a:t>
            </a:r>
            <a:r>
              <a:rPr sz="2600" spc="-80" dirty="0">
                <a:latin typeface="Arial"/>
                <a:cs typeface="Arial"/>
              </a:rPr>
              <a:t>o </a:t>
            </a:r>
            <a:r>
              <a:rPr sz="2600" spc="-70" dirty="0">
                <a:latin typeface="Arial"/>
                <a:cs typeface="Arial"/>
              </a:rPr>
              <a:t>tabla, </a:t>
            </a:r>
            <a:r>
              <a:rPr sz="2600" spc="-145" dirty="0">
                <a:latin typeface="Arial"/>
                <a:cs typeface="Arial"/>
              </a:rPr>
              <a:t>está </a:t>
            </a:r>
            <a:r>
              <a:rPr sz="2600" spc="-114" dirty="0">
                <a:latin typeface="Arial"/>
                <a:cs typeface="Arial"/>
              </a:rPr>
              <a:t>compuesto </a:t>
            </a:r>
            <a:r>
              <a:rPr sz="2600" spc="-45" dirty="0">
                <a:latin typeface="Arial"/>
                <a:cs typeface="Arial"/>
              </a:rPr>
              <a:t>por </a:t>
            </a:r>
            <a:r>
              <a:rPr sz="2600" spc="-90" dirty="0">
                <a:latin typeface="Arial"/>
                <a:cs typeface="Arial"/>
              </a:rPr>
              <a:t>un  </a:t>
            </a:r>
            <a:r>
              <a:rPr sz="2600" i="1" spc="-90" dirty="0">
                <a:latin typeface="Arial"/>
                <a:cs typeface="Arial"/>
              </a:rPr>
              <a:t>grupo </a:t>
            </a:r>
            <a:r>
              <a:rPr sz="2600" i="1" spc="-160" dirty="0">
                <a:latin typeface="Arial"/>
                <a:cs typeface="Arial"/>
              </a:rPr>
              <a:t>de </a:t>
            </a:r>
            <a:r>
              <a:rPr sz="2600" i="1" u="heavy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registros </a:t>
            </a:r>
            <a:r>
              <a:rPr sz="2600" i="1" u="heavy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relacionados</a:t>
            </a:r>
            <a:r>
              <a:rPr sz="2600" spc="-110" dirty="0">
                <a:latin typeface="Arial"/>
                <a:cs typeface="Arial"/>
              </a:rPr>
              <a:t>. </a:t>
            </a: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125" dirty="0">
                <a:latin typeface="Arial"/>
                <a:cs typeface="Arial"/>
              </a:rPr>
              <a:t>archivos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110" dirty="0">
                <a:latin typeface="Arial"/>
                <a:cs typeface="Arial"/>
              </a:rPr>
              <a:t>clasifican  </a:t>
            </a:r>
            <a:r>
              <a:rPr sz="2600" spc="-145" dirty="0">
                <a:latin typeface="Arial"/>
                <a:cs typeface="Arial"/>
              </a:rPr>
              <a:t>según: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722" y="2230119"/>
            <a:ext cx="816483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1600" spc="-175" dirty="0">
                <a:latin typeface="Arial"/>
                <a:cs typeface="Arial"/>
              </a:rPr>
              <a:t>La </a:t>
            </a:r>
            <a:r>
              <a:rPr sz="1600" spc="-65" dirty="0">
                <a:latin typeface="Arial"/>
                <a:cs typeface="Arial"/>
              </a:rPr>
              <a:t>aplicación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75" dirty="0">
                <a:latin typeface="Arial"/>
                <a:cs typeface="Arial"/>
              </a:rPr>
              <a:t>cual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40" dirty="0">
                <a:latin typeface="Arial"/>
                <a:cs typeface="Arial"/>
              </a:rPr>
              <a:t>utilizan </a:t>
            </a:r>
            <a:r>
              <a:rPr sz="1600" spc="-70" dirty="0">
                <a:latin typeface="Arial"/>
                <a:cs typeface="Arial"/>
              </a:rPr>
              <a:t>(de </a:t>
            </a:r>
            <a:r>
              <a:rPr sz="1600" spc="-55" dirty="0">
                <a:latin typeface="Arial"/>
                <a:cs typeface="Arial"/>
              </a:rPr>
              <a:t>nómina, </a:t>
            </a:r>
            <a:r>
              <a:rPr sz="1600" spc="-45" dirty="0">
                <a:latin typeface="Arial"/>
                <a:cs typeface="Arial"/>
              </a:rPr>
              <a:t>inventario,</a:t>
            </a:r>
            <a:r>
              <a:rPr sz="1600" spc="-15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etc.);</a:t>
            </a:r>
            <a:endParaRPr sz="1600">
              <a:latin typeface="Arial"/>
              <a:cs typeface="Arial"/>
            </a:endParaRPr>
          </a:p>
          <a:p>
            <a:pPr marL="360680" indent="-347980">
              <a:lnSpc>
                <a:spcPct val="100000"/>
              </a:lnSpc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1600" spc="-140" dirty="0">
                <a:latin typeface="Arial"/>
                <a:cs typeface="Arial"/>
              </a:rPr>
              <a:t>El </a:t>
            </a:r>
            <a:r>
              <a:rPr sz="1600" dirty="0">
                <a:latin typeface="Arial"/>
                <a:cs typeface="Arial"/>
              </a:rPr>
              <a:t>tipo </a:t>
            </a:r>
            <a:r>
              <a:rPr sz="1600" spc="-75" dirty="0">
                <a:latin typeface="Arial"/>
                <a:cs typeface="Arial"/>
              </a:rPr>
              <a:t>de datos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60" dirty="0">
                <a:latin typeface="Arial"/>
                <a:cs typeface="Arial"/>
              </a:rPr>
              <a:t>incluyen </a:t>
            </a:r>
            <a:r>
              <a:rPr sz="1600" spc="-65" dirty="0">
                <a:latin typeface="Arial"/>
                <a:cs typeface="Arial"/>
              </a:rPr>
              <a:t>(documentos,</a:t>
            </a:r>
            <a:r>
              <a:rPr sz="1600" spc="-17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imágenes);</a:t>
            </a:r>
            <a:endParaRPr sz="1600">
              <a:latin typeface="Arial"/>
              <a:cs typeface="Arial"/>
            </a:endParaRPr>
          </a:p>
          <a:p>
            <a:pPr marL="360680" indent="-347980">
              <a:lnSpc>
                <a:spcPct val="100000"/>
              </a:lnSpc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1600" spc="-190" dirty="0">
                <a:latin typeface="Arial"/>
                <a:cs typeface="Arial"/>
              </a:rPr>
              <a:t>Su </a:t>
            </a:r>
            <a:r>
              <a:rPr sz="1600" spc="-70" dirty="0">
                <a:latin typeface="Arial"/>
                <a:cs typeface="Arial"/>
              </a:rPr>
              <a:t>permanencia </a:t>
            </a:r>
            <a:r>
              <a:rPr sz="1600" spc="-60" dirty="0">
                <a:latin typeface="Arial"/>
                <a:cs typeface="Arial"/>
              </a:rPr>
              <a:t>(archivo </a:t>
            </a:r>
            <a:r>
              <a:rPr sz="1600" spc="-65" dirty="0">
                <a:latin typeface="Arial"/>
                <a:cs typeface="Arial"/>
              </a:rPr>
              <a:t>maestro </a:t>
            </a:r>
            <a:r>
              <a:rPr sz="1600" spc="-130" dirty="0">
                <a:latin typeface="Arial"/>
                <a:cs typeface="Arial"/>
              </a:rPr>
              <a:t>vs </a:t>
            </a:r>
            <a:r>
              <a:rPr sz="1600" spc="-65" dirty="0">
                <a:latin typeface="Arial"/>
                <a:cs typeface="Arial"/>
              </a:rPr>
              <a:t>archivo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80" dirty="0">
                <a:latin typeface="Arial"/>
                <a:cs typeface="Arial"/>
              </a:rPr>
              <a:t>transacciones </a:t>
            </a:r>
            <a:r>
              <a:rPr sz="1600" spc="-100" dirty="0">
                <a:latin typeface="Arial"/>
                <a:cs typeface="Arial"/>
              </a:rPr>
              <a:t>semanales,</a:t>
            </a:r>
            <a:r>
              <a:rPr sz="1600" spc="-31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etc.);</a:t>
            </a:r>
            <a:endParaRPr sz="1600">
              <a:latin typeface="Arial"/>
              <a:cs typeface="Arial"/>
            </a:endParaRPr>
          </a:p>
          <a:p>
            <a:pPr marL="360680" marR="5080" indent="-347980">
              <a:lnSpc>
                <a:spcPct val="100000"/>
              </a:lnSpc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1600" spc="-80" dirty="0">
                <a:latin typeface="Arial"/>
                <a:cs typeface="Arial"/>
              </a:rPr>
              <a:t>Archivos </a:t>
            </a:r>
            <a:r>
              <a:rPr sz="1600" spc="-75" dirty="0">
                <a:latin typeface="Arial"/>
                <a:cs typeface="Arial"/>
              </a:rPr>
              <a:t>actualizables </a:t>
            </a:r>
            <a:r>
              <a:rPr sz="1600" spc="-30" dirty="0">
                <a:latin typeface="Arial"/>
                <a:cs typeface="Arial"/>
              </a:rPr>
              <a:t>(por </a:t>
            </a:r>
            <a:r>
              <a:rPr sz="1600" spc="-35" dirty="0">
                <a:latin typeface="Arial"/>
                <a:cs typeface="Arial"/>
              </a:rPr>
              <a:t>ej. </a:t>
            </a:r>
            <a:r>
              <a:rPr sz="1600" spc="-95" dirty="0">
                <a:latin typeface="Arial"/>
                <a:cs typeface="Arial"/>
              </a:rPr>
              <a:t>Un </a:t>
            </a:r>
            <a:r>
              <a:rPr sz="1600" spc="-65" dirty="0">
                <a:latin typeface="Arial"/>
                <a:cs typeface="Arial"/>
              </a:rPr>
              <a:t>archivo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80" dirty="0">
                <a:latin typeface="Arial"/>
                <a:cs typeface="Arial"/>
              </a:rPr>
              <a:t>transacciones </a:t>
            </a:r>
            <a:r>
              <a:rPr sz="1600" spc="-50" dirty="0">
                <a:latin typeface="Arial"/>
                <a:cs typeface="Arial"/>
              </a:rPr>
              <a:t>contiene </a:t>
            </a:r>
            <a:r>
              <a:rPr sz="1600" spc="-65" dirty="0">
                <a:latin typeface="Arial"/>
                <a:cs typeface="Arial"/>
              </a:rPr>
              <a:t>registros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65" dirty="0">
                <a:latin typeface="Arial"/>
                <a:cs typeface="Arial"/>
              </a:rPr>
              <a:t>actualizar 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65" dirty="0">
                <a:latin typeface="Arial"/>
                <a:cs typeface="Arial"/>
              </a:rPr>
              <a:t>registros </a:t>
            </a:r>
            <a:r>
              <a:rPr sz="1600" spc="-70" dirty="0">
                <a:latin typeface="Arial"/>
                <a:cs typeface="Arial"/>
              </a:rPr>
              <a:t>permanentes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un </a:t>
            </a:r>
            <a:r>
              <a:rPr sz="1600" spc="-65" dirty="0">
                <a:latin typeface="Arial"/>
                <a:cs typeface="Arial"/>
              </a:rPr>
              <a:t>archivo</a:t>
            </a:r>
            <a:r>
              <a:rPr sz="1600" spc="-165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maestro);</a:t>
            </a:r>
            <a:endParaRPr sz="1600">
              <a:latin typeface="Arial"/>
              <a:cs typeface="Arial"/>
            </a:endParaRPr>
          </a:p>
          <a:p>
            <a:pPr marL="360680" marR="5715" indent="-347980">
              <a:lnSpc>
                <a:spcPct val="100000"/>
              </a:lnSpc>
              <a:buFont typeface="Wingdings"/>
              <a:buChar char=""/>
              <a:tabLst>
                <a:tab pos="360680" algn="l"/>
                <a:tab pos="361315" algn="l"/>
                <a:tab pos="1190625" algn="l"/>
                <a:tab pos="2164715" algn="l"/>
                <a:tab pos="2895600" algn="l"/>
                <a:tab pos="3745865" algn="l"/>
                <a:tab pos="4189095" algn="l"/>
                <a:tab pos="4498340" algn="l"/>
                <a:tab pos="5365750" algn="l"/>
                <a:tab pos="5861050" algn="l"/>
                <a:tab pos="6864984" algn="l"/>
                <a:tab pos="7202170" algn="l"/>
                <a:tab pos="8042909" algn="l"/>
              </a:tabLst>
            </a:pPr>
            <a:r>
              <a:rPr sz="1600" spc="-80" dirty="0">
                <a:latin typeface="Arial"/>
                <a:cs typeface="Arial"/>
              </a:rPr>
              <a:t>A</a:t>
            </a:r>
            <a:r>
              <a:rPr sz="1600" spc="-70" dirty="0">
                <a:latin typeface="Arial"/>
                <a:cs typeface="Arial"/>
              </a:rPr>
              <a:t>r</a:t>
            </a:r>
            <a:r>
              <a:rPr sz="1600" spc="-60" dirty="0">
                <a:latin typeface="Arial"/>
                <a:cs typeface="Arial"/>
              </a:rPr>
              <a:t>chi</a:t>
            </a:r>
            <a:r>
              <a:rPr sz="1600" spc="-90" dirty="0">
                <a:latin typeface="Arial"/>
                <a:cs typeface="Arial"/>
              </a:rPr>
              <a:t>v</a:t>
            </a:r>
            <a:r>
              <a:rPr sz="1600" spc="-120" dirty="0">
                <a:latin typeface="Arial"/>
                <a:cs typeface="Arial"/>
              </a:rPr>
              <a:t>o</a:t>
            </a:r>
            <a:r>
              <a:rPr sz="1600" spc="-105" dirty="0">
                <a:latin typeface="Arial"/>
                <a:cs typeface="Arial"/>
              </a:rPr>
              <a:t>s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70" dirty="0">
                <a:latin typeface="Arial"/>
                <a:cs typeface="Arial"/>
              </a:rPr>
              <a:t>hi</a:t>
            </a:r>
            <a:r>
              <a:rPr sz="1600" spc="-110" dirty="0">
                <a:latin typeface="Arial"/>
                <a:cs typeface="Arial"/>
              </a:rPr>
              <a:t>s</a:t>
            </a:r>
            <a:r>
              <a:rPr sz="1600" spc="65" dirty="0">
                <a:latin typeface="Arial"/>
                <a:cs typeface="Arial"/>
              </a:rPr>
              <a:t>t</a:t>
            </a:r>
            <a:r>
              <a:rPr sz="1600" spc="-40" dirty="0">
                <a:latin typeface="Arial"/>
                <a:cs typeface="Arial"/>
              </a:rPr>
              <a:t>ó</a:t>
            </a:r>
            <a:r>
              <a:rPr sz="1600" spc="-25" dirty="0">
                <a:latin typeface="Arial"/>
                <a:cs typeface="Arial"/>
              </a:rPr>
              <a:t>ri</a:t>
            </a:r>
            <a:r>
              <a:rPr sz="1600" spc="-60" dirty="0">
                <a:latin typeface="Arial"/>
                <a:cs typeface="Arial"/>
              </a:rPr>
              <a:t>c</a:t>
            </a:r>
            <a:r>
              <a:rPr sz="1600" spc="-120" dirty="0">
                <a:latin typeface="Arial"/>
                <a:cs typeface="Arial"/>
              </a:rPr>
              <a:t>o</a:t>
            </a:r>
            <a:r>
              <a:rPr sz="1600" spc="-105" dirty="0">
                <a:latin typeface="Arial"/>
                <a:cs typeface="Arial"/>
              </a:rPr>
              <a:t>s</a:t>
            </a:r>
            <a:r>
              <a:rPr sz="1600" spc="-20" dirty="0">
                <a:latin typeface="Arial"/>
                <a:cs typeface="Arial"/>
              </a:rPr>
              <a:t>: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65" dirty="0">
                <a:latin typeface="Arial"/>
                <a:cs typeface="Arial"/>
              </a:rPr>
              <a:t>ar</a:t>
            </a:r>
            <a:r>
              <a:rPr sz="1600" spc="-60" dirty="0">
                <a:latin typeface="Arial"/>
                <a:cs typeface="Arial"/>
              </a:rPr>
              <a:t>chi</a:t>
            </a:r>
            <a:r>
              <a:rPr sz="1600" spc="-90" dirty="0">
                <a:latin typeface="Arial"/>
                <a:cs typeface="Arial"/>
              </a:rPr>
              <a:t>v</a:t>
            </a:r>
            <a:r>
              <a:rPr sz="1600" spc="-45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55" dirty="0">
                <a:latin typeface="Arial"/>
                <a:cs typeface="Arial"/>
              </a:rPr>
              <a:t>o</a:t>
            </a:r>
            <a:r>
              <a:rPr sz="1600" spc="-60" dirty="0">
                <a:latin typeface="Arial"/>
                <a:cs typeface="Arial"/>
              </a:rPr>
              <a:t>b</a:t>
            </a:r>
            <a:r>
              <a:rPr sz="1600" spc="-50" dirty="0">
                <a:latin typeface="Arial"/>
                <a:cs typeface="Arial"/>
              </a:rPr>
              <a:t>solet</a:t>
            </a:r>
            <a:r>
              <a:rPr sz="1600" spc="-45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70" dirty="0">
                <a:latin typeface="Arial"/>
                <a:cs typeface="Arial"/>
              </a:rPr>
              <a:t>qu</a:t>
            </a:r>
            <a:r>
              <a:rPr sz="1600" spc="-6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135" dirty="0">
                <a:latin typeface="Arial"/>
                <a:cs typeface="Arial"/>
              </a:rPr>
              <a:t>s</a:t>
            </a:r>
            <a:r>
              <a:rPr sz="1600" spc="-14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140" dirty="0">
                <a:latin typeface="Arial"/>
                <a:cs typeface="Arial"/>
              </a:rPr>
              <a:t>c</a:t>
            </a:r>
            <a:r>
              <a:rPr sz="1600" spc="-80" dirty="0">
                <a:latin typeface="Arial"/>
                <a:cs typeface="Arial"/>
              </a:rPr>
              <a:t>onse</a:t>
            </a:r>
            <a:r>
              <a:rPr sz="1600" spc="-35" dirty="0">
                <a:latin typeface="Arial"/>
                <a:cs typeface="Arial"/>
              </a:rPr>
              <a:t>r</a:t>
            </a:r>
            <a:r>
              <a:rPr sz="1600" spc="-105" dirty="0">
                <a:latin typeface="Arial"/>
                <a:cs typeface="Arial"/>
              </a:rPr>
              <a:t>v</a:t>
            </a:r>
            <a:r>
              <a:rPr sz="1600" spc="-125" dirty="0">
                <a:latin typeface="Arial"/>
                <a:cs typeface="Arial"/>
              </a:rPr>
              <a:t>a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95" dirty="0">
                <a:latin typeface="Arial"/>
                <a:cs typeface="Arial"/>
              </a:rPr>
              <a:t>p</a:t>
            </a:r>
            <a:r>
              <a:rPr sz="1600" spc="-1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r</a:t>
            </a:r>
            <a:r>
              <a:rPr sz="1600" spc="-125" dirty="0">
                <a:latin typeface="Arial"/>
                <a:cs typeface="Arial"/>
              </a:rPr>
              <a:t>a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20" dirty="0">
                <a:latin typeface="Arial"/>
                <a:cs typeface="Arial"/>
              </a:rPr>
              <a:t>p</a:t>
            </a:r>
            <a:r>
              <a:rPr sz="1600" spc="-35" dirty="0">
                <a:latin typeface="Arial"/>
                <a:cs typeface="Arial"/>
              </a:rPr>
              <a:t>r</a:t>
            </a:r>
            <a:r>
              <a:rPr sz="1600" spc="-45" dirty="0">
                <a:latin typeface="Arial"/>
                <a:cs typeface="Arial"/>
              </a:rPr>
              <a:t>opósit</a:t>
            </a:r>
            <a:r>
              <a:rPr sz="1600" spc="-120" dirty="0">
                <a:latin typeface="Arial"/>
                <a:cs typeface="Arial"/>
              </a:rPr>
              <a:t>o</a:t>
            </a:r>
            <a:r>
              <a:rPr sz="1600" spc="-105" dirty="0">
                <a:latin typeface="Arial"/>
                <a:cs typeface="Arial"/>
              </a:rPr>
              <a:t>s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80" dirty="0">
                <a:latin typeface="Arial"/>
                <a:cs typeface="Arial"/>
              </a:rPr>
              <a:t>d</a:t>
            </a:r>
            <a:r>
              <a:rPr sz="1600" spc="-7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	r</a:t>
            </a:r>
            <a:r>
              <a:rPr sz="1600" spc="-90" dirty="0">
                <a:latin typeface="Arial"/>
                <a:cs typeface="Arial"/>
              </a:rPr>
              <a:t>e</a:t>
            </a:r>
            <a:r>
              <a:rPr sz="1600" spc="-105" dirty="0">
                <a:latin typeface="Arial"/>
                <a:cs typeface="Arial"/>
              </a:rPr>
              <a:t>spa</a:t>
            </a:r>
            <a:r>
              <a:rPr sz="1600" spc="-60" dirty="0">
                <a:latin typeface="Arial"/>
                <a:cs typeface="Arial"/>
              </a:rPr>
              <a:t>l</a:t>
            </a:r>
            <a:r>
              <a:rPr sz="1600" spc="-55" dirty="0">
                <a:latin typeface="Arial"/>
                <a:cs typeface="Arial"/>
              </a:rPr>
              <a:t>d</a:t>
            </a:r>
            <a:r>
              <a:rPr sz="1600" spc="-50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30" dirty="0">
                <a:latin typeface="Arial"/>
                <a:cs typeface="Arial"/>
              </a:rPr>
              <a:t>o  </a:t>
            </a:r>
            <a:r>
              <a:rPr sz="1600" spc="-65" dirty="0">
                <a:latin typeface="Arial"/>
                <a:cs typeface="Arial"/>
              </a:rPr>
              <a:t>almacenamiento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histórico.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80884" y="4124266"/>
            <a:ext cx="6963158" cy="218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16623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5" dirty="0"/>
              <a:t>Bases </a:t>
            </a:r>
            <a:r>
              <a:rPr spc="-120" dirty="0"/>
              <a:t>de </a:t>
            </a:r>
            <a:r>
              <a:rPr spc="-70" dirty="0"/>
              <a:t>Datos</a:t>
            </a:r>
            <a:r>
              <a:rPr spc="-36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75" dirty="0">
                <a:latin typeface="Arial"/>
                <a:cs typeface="Arial"/>
              </a:rPr>
              <a:t>Bases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0" dirty="0">
                <a:latin typeface="Arial"/>
                <a:cs typeface="Arial"/>
              </a:rPr>
              <a:t>Datos</a:t>
            </a:r>
            <a:r>
              <a:rPr sz="1800" b="0" spc="4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5181" y="1371980"/>
            <a:ext cx="8534400" cy="4800600"/>
          </a:xfrm>
          <a:custGeom>
            <a:avLst/>
            <a:gdLst/>
            <a:ahLst/>
            <a:cxnLst/>
            <a:rect l="l" t="t" r="r" b="b"/>
            <a:pathLst>
              <a:path w="8534400" h="4800600">
                <a:moveTo>
                  <a:pt x="0" y="4800600"/>
                </a:moveTo>
                <a:lnTo>
                  <a:pt x="8534400" y="4800600"/>
                </a:lnTo>
                <a:lnTo>
                  <a:pt x="8534400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2514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76978" y="5662421"/>
            <a:ext cx="4183379" cy="678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54270" y="5746241"/>
            <a:ext cx="3804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9510" algn="l"/>
              </a:tabLst>
            </a:pPr>
            <a:r>
              <a:rPr sz="2400" dirty="0">
                <a:latin typeface="Verdana"/>
                <a:cs typeface="Verdana"/>
              </a:rPr>
              <a:t>Base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Datos	</a:t>
            </a:r>
            <a:r>
              <a:rPr sz="2400" spc="-5" dirty="0">
                <a:latin typeface="Verdana"/>
                <a:cs typeface="Verdana"/>
              </a:rPr>
              <a:t>de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RRHH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5401564" y="1374242"/>
            <a:ext cx="2303780" cy="68008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sz="1600" b="1" spc="-5" dirty="0">
                <a:latin typeface="Verdana"/>
                <a:cs typeface="Verdana"/>
              </a:rPr>
              <a:t>Archivo de</a:t>
            </a:r>
            <a:r>
              <a:rPr sz="1600" b="1" spc="-7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Nóminas</a:t>
            </a:r>
            <a:endParaRPr sz="1600">
              <a:latin typeface="Verdana"/>
              <a:cs typeface="Verdana"/>
            </a:endParaRPr>
          </a:p>
          <a:p>
            <a:pPr marL="71755" algn="ctr">
              <a:lnSpc>
                <a:spcPct val="100000"/>
              </a:lnSpc>
              <a:spcBef>
                <a:spcPts val="720"/>
              </a:spcBef>
              <a:tabLst>
                <a:tab pos="1145540" algn="l"/>
              </a:tabLst>
            </a:pPr>
            <a:r>
              <a:rPr sz="1400" spc="-10" dirty="0">
                <a:latin typeface="Verdana"/>
                <a:cs typeface="Verdana"/>
              </a:rPr>
              <a:t>Campo</a:t>
            </a:r>
            <a:r>
              <a:rPr sz="140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1	</a:t>
            </a:r>
            <a:r>
              <a:rPr sz="1400" spc="-10" dirty="0">
                <a:latin typeface="Verdana"/>
                <a:cs typeface="Verdana"/>
              </a:rPr>
              <a:t>Campo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2145" y="1815592"/>
            <a:ext cx="82232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Verdana"/>
                <a:cs typeface="Verdana"/>
              </a:rPr>
              <a:t>Campo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0691" y="2319731"/>
            <a:ext cx="932815" cy="100838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400" spc="-10" dirty="0">
                <a:latin typeface="Verdana"/>
                <a:cs typeface="Verdana"/>
              </a:rPr>
              <a:t>Registro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400" spc="-10" dirty="0">
                <a:latin typeface="Verdana"/>
                <a:cs typeface="Verdana"/>
              </a:rPr>
              <a:t>Registro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400" spc="-10" dirty="0">
                <a:latin typeface="Verdana"/>
                <a:cs typeface="Verdana"/>
              </a:rPr>
              <a:t>Registro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3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526404" y="2081529"/>
          <a:ext cx="3154045" cy="1294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Nombre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10" dirty="0">
                          <a:latin typeface="Verdana"/>
                          <a:cs typeface="Verdana"/>
                        </a:rPr>
                        <a:t>DNI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Salario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García,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22998473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20</a:t>
                      </a:r>
                      <a:r>
                        <a:rPr sz="14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Pérez, 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32993992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18</a:t>
                      </a:r>
                      <a:r>
                        <a:rPr sz="14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Munch,</a:t>
                      </a:r>
                      <a:r>
                        <a:rPr sz="14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R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26223431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21</a:t>
                      </a:r>
                      <a:r>
                        <a:rPr sz="14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129538" y="4010254"/>
            <a:ext cx="3425825" cy="68008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600" b="1" spc="-5" dirty="0">
                <a:latin typeface="Verdana"/>
                <a:cs typeface="Verdana"/>
              </a:rPr>
              <a:t>Archivo de</a:t>
            </a:r>
            <a:r>
              <a:rPr sz="1600" b="1" spc="-2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Prestaciones</a:t>
            </a:r>
            <a:endParaRPr sz="1600">
              <a:latin typeface="Verdana"/>
              <a:cs typeface="Verdana"/>
            </a:endParaRPr>
          </a:p>
          <a:p>
            <a:pPr marL="485140">
              <a:lnSpc>
                <a:spcPct val="100000"/>
              </a:lnSpc>
              <a:spcBef>
                <a:spcPts val="720"/>
              </a:spcBef>
              <a:tabLst>
                <a:tab pos="1558925" algn="l"/>
                <a:tab pos="2616200" algn="l"/>
              </a:tabLst>
            </a:pPr>
            <a:r>
              <a:rPr sz="1400" spc="-10" dirty="0">
                <a:latin typeface="Verdana"/>
                <a:cs typeface="Verdana"/>
              </a:rPr>
              <a:t>Campo</a:t>
            </a:r>
            <a:r>
              <a:rPr sz="140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1	</a:t>
            </a:r>
            <a:r>
              <a:rPr sz="1400" spc="-10" dirty="0">
                <a:latin typeface="Verdana"/>
                <a:cs typeface="Verdana"/>
              </a:rPr>
              <a:t>Campo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2	</a:t>
            </a:r>
            <a:r>
              <a:rPr sz="1400" spc="-10" dirty="0">
                <a:latin typeface="Verdana"/>
                <a:cs typeface="Verdana"/>
              </a:rPr>
              <a:t>Campo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1837" y="4955488"/>
            <a:ext cx="932815" cy="100838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10" dirty="0">
                <a:latin typeface="Verdana"/>
                <a:cs typeface="Verdana"/>
              </a:rPr>
              <a:t>Registro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4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400" spc="-10" dirty="0">
                <a:latin typeface="Verdana"/>
                <a:cs typeface="Verdana"/>
              </a:rPr>
              <a:t>Registro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5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spc="-10" dirty="0">
                <a:latin typeface="Verdana"/>
                <a:cs typeface="Verdana"/>
              </a:rPr>
              <a:t>Registro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6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487805" y="4717415"/>
          <a:ext cx="3154045" cy="1294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Nombre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10" dirty="0">
                          <a:latin typeface="Verdana"/>
                          <a:cs typeface="Verdana"/>
                        </a:rPr>
                        <a:t>DNI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10" dirty="0">
                          <a:latin typeface="Verdana"/>
                          <a:cs typeface="Verdana"/>
                        </a:rPr>
                        <a:t>Seguro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García,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22998473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210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Pérez, 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32993992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190</a:t>
                      </a:r>
                      <a:r>
                        <a:rPr sz="14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Munch,</a:t>
                      </a:r>
                      <a:r>
                        <a:rPr sz="14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R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26223431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140</a:t>
                      </a:r>
                      <a:r>
                        <a:rPr sz="14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5" dirty="0"/>
              <a:t>Bases </a:t>
            </a:r>
            <a:r>
              <a:rPr spc="-120" dirty="0"/>
              <a:t>de </a:t>
            </a:r>
            <a:r>
              <a:rPr spc="-70" dirty="0"/>
              <a:t>Datos</a:t>
            </a:r>
            <a:r>
              <a:rPr spc="-409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622030" cy="5899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Administración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Base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35" dirty="0">
                <a:latin typeface="Trebuchet MS"/>
                <a:cs typeface="Trebuchet MS"/>
              </a:rPr>
              <a:t>Software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40" dirty="0">
                <a:latin typeface="Trebuchet MS"/>
                <a:cs typeface="Trebuchet MS"/>
              </a:rPr>
              <a:t>Administración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0" dirty="0">
                <a:latin typeface="Trebuchet MS"/>
                <a:cs typeface="Trebuchet MS"/>
              </a:rPr>
              <a:t>Base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400" dirty="0">
                <a:latin typeface="Trebuchet MS"/>
                <a:cs typeface="Trebuchet MS"/>
              </a:rPr>
              <a:t> </a:t>
            </a:r>
            <a:r>
              <a:rPr sz="2600" b="1" spc="-100" dirty="0">
                <a:latin typeface="Trebuchet MS"/>
                <a:cs typeface="Trebuchet MS"/>
              </a:rPr>
              <a:t>Datos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360680" marR="5715" indent="-347980">
              <a:lnSpc>
                <a:spcPct val="100000"/>
              </a:lnSpc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80" dirty="0">
                <a:latin typeface="Arial"/>
                <a:cs typeface="Arial"/>
              </a:rPr>
              <a:t>Software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desarrollo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Administración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235" dirty="0">
                <a:latin typeface="Arial"/>
                <a:cs typeface="Arial"/>
              </a:rPr>
              <a:t>BD </a:t>
            </a:r>
            <a:r>
              <a:rPr sz="2000" spc="-60" dirty="0">
                <a:latin typeface="Arial"/>
                <a:cs typeface="Arial"/>
              </a:rPr>
              <a:t>constituyen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40" dirty="0">
                <a:latin typeface="Arial"/>
                <a:cs typeface="Arial"/>
              </a:rPr>
              <a:t>base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75" dirty="0">
                <a:latin typeface="Arial"/>
                <a:cs typeface="Arial"/>
              </a:rPr>
              <a:t>métodos </a:t>
            </a:r>
            <a:r>
              <a:rPr sz="2000" spc="-80" dirty="0">
                <a:latin typeface="Arial"/>
                <a:cs typeface="Arial"/>
              </a:rPr>
              <a:t>modernos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manejo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datos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organizados.</a:t>
            </a:r>
            <a:endParaRPr sz="2000" dirty="0">
              <a:latin typeface="Arial"/>
              <a:cs typeface="Arial"/>
            </a:endParaRPr>
          </a:p>
          <a:p>
            <a:pPr marL="360680" marR="6985" indent="-347980">
              <a:lnSpc>
                <a:spcPct val="100000"/>
              </a:lnSpc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000" spc="-240" dirty="0">
                <a:latin typeface="Arial"/>
                <a:cs typeface="Arial"/>
              </a:rPr>
              <a:t>Su </a:t>
            </a:r>
            <a:r>
              <a:rPr sz="2000" spc="-70" dirty="0">
                <a:latin typeface="Arial"/>
                <a:cs typeface="Arial"/>
              </a:rPr>
              <a:t>enfoque </a:t>
            </a:r>
            <a:r>
              <a:rPr sz="2000" spc="-90" dirty="0">
                <a:latin typeface="Arial"/>
                <a:cs typeface="Arial"/>
              </a:rPr>
              <a:t>consolida los </a:t>
            </a:r>
            <a:r>
              <a:rPr sz="2000" spc="-75" dirty="0">
                <a:latin typeface="Arial"/>
                <a:cs typeface="Arial"/>
              </a:rPr>
              <a:t>registros </a:t>
            </a:r>
            <a:r>
              <a:rPr sz="2000" spc="-90" dirty="0">
                <a:latin typeface="Arial"/>
                <a:cs typeface="Arial"/>
              </a:rPr>
              <a:t>de datos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objetos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235" dirty="0">
                <a:latin typeface="Arial"/>
                <a:cs typeface="Arial"/>
              </a:rPr>
              <a:t>BBDD </a:t>
            </a:r>
            <a:r>
              <a:rPr sz="2000" spc="-85" dirty="0">
                <a:latin typeface="Arial"/>
                <a:cs typeface="Arial"/>
              </a:rPr>
              <a:t>que pueden  </a:t>
            </a:r>
            <a:r>
              <a:rPr sz="2000" spc="-125" dirty="0">
                <a:latin typeface="Arial"/>
                <a:cs typeface="Arial"/>
              </a:rPr>
              <a:t>accederse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5" dirty="0">
                <a:latin typeface="Arial"/>
                <a:cs typeface="Arial"/>
              </a:rPr>
              <a:t>través de </a:t>
            </a:r>
            <a:r>
              <a:rPr sz="2000" spc="-50" dirty="0">
                <a:latin typeface="Arial"/>
                <a:cs typeface="Arial"/>
              </a:rPr>
              <a:t>distintos </a:t>
            </a:r>
            <a:r>
              <a:rPr sz="2000" spc="-105" dirty="0">
                <a:latin typeface="Arial"/>
                <a:cs typeface="Arial"/>
              </a:rPr>
              <a:t>programas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aplicación.</a:t>
            </a:r>
            <a:endParaRPr sz="2000" dirty="0">
              <a:latin typeface="Arial"/>
              <a:cs typeface="Arial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000" spc="-110" dirty="0">
                <a:highlight>
                  <a:srgbClr val="FFFF00"/>
                </a:highlight>
                <a:latin typeface="Arial"/>
                <a:cs typeface="Arial"/>
              </a:rPr>
              <a:t>Comprende </a:t>
            </a:r>
            <a:r>
              <a:rPr sz="2000" spc="-50" dirty="0">
                <a:highlight>
                  <a:srgbClr val="FFFF00"/>
                </a:highlight>
                <a:latin typeface="Arial"/>
                <a:cs typeface="Arial"/>
              </a:rPr>
              <a:t>el </a:t>
            </a:r>
            <a:r>
              <a:rPr sz="2000" spc="-120" dirty="0">
                <a:highlight>
                  <a:srgbClr val="FFFF00"/>
                </a:highlight>
                <a:latin typeface="Arial"/>
                <a:cs typeface="Arial"/>
              </a:rPr>
              <a:t>uso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55" dirty="0">
                <a:highlight>
                  <a:srgbClr val="FFFF00"/>
                </a:highlight>
                <a:latin typeface="Arial"/>
                <a:cs typeface="Arial"/>
              </a:rPr>
              <a:t>software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65" dirty="0">
                <a:highlight>
                  <a:srgbClr val="FFFF00"/>
                </a:highlight>
                <a:latin typeface="Arial"/>
                <a:cs typeface="Arial"/>
              </a:rPr>
              <a:t>administración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140" dirty="0">
                <a:highlight>
                  <a:srgbClr val="FFFF00"/>
                </a:highlight>
                <a:latin typeface="Arial"/>
                <a:cs typeface="Arial"/>
              </a:rPr>
              <a:t>base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85" dirty="0">
                <a:highlight>
                  <a:srgbClr val="FFFF00"/>
                </a:highlight>
                <a:latin typeface="Arial"/>
                <a:cs typeface="Arial"/>
              </a:rPr>
              <a:t>datos </a:t>
            </a:r>
            <a:r>
              <a:rPr sz="2000" spc="-165" dirty="0">
                <a:highlight>
                  <a:srgbClr val="FFFF00"/>
                </a:highlight>
                <a:latin typeface="Arial"/>
                <a:cs typeface="Arial"/>
              </a:rPr>
              <a:t>(DBMS) </a:t>
            </a:r>
            <a:r>
              <a:rPr sz="2000" spc="-105" dirty="0">
                <a:highlight>
                  <a:srgbClr val="FFFF00"/>
                </a:highlight>
                <a:latin typeface="Arial"/>
                <a:cs typeface="Arial"/>
              </a:rPr>
              <a:t>con  </a:t>
            </a:r>
            <a:r>
              <a:rPr sz="2000" spc="-50" dirty="0">
                <a:highlight>
                  <a:srgbClr val="FFFF00"/>
                </a:highlight>
                <a:latin typeface="Arial"/>
                <a:cs typeface="Arial"/>
              </a:rPr>
              <a:t>el </a:t>
            </a:r>
            <a:r>
              <a:rPr sz="2000" dirty="0">
                <a:highlight>
                  <a:srgbClr val="FFFF00"/>
                </a:highlight>
                <a:latin typeface="Arial"/>
                <a:cs typeface="Arial"/>
              </a:rPr>
              <a:t>fin </a:t>
            </a:r>
            <a:r>
              <a:rPr sz="2000" spc="-90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45" dirty="0">
                <a:highlight>
                  <a:srgbClr val="FFFF00"/>
                </a:highlight>
                <a:latin typeface="Arial"/>
                <a:cs typeface="Arial"/>
              </a:rPr>
              <a:t>controlar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la </a:t>
            </a:r>
            <a:r>
              <a:rPr sz="2000" spc="-85" dirty="0">
                <a:highlight>
                  <a:srgbClr val="FFFF00"/>
                </a:highlight>
                <a:latin typeface="Arial"/>
                <a:cs typeface="Arial"/>
              </a:rPr>
              <a:t>creación, </a:t>
            </a:r>
            <a:r>
              <a:rPr sz="2000" spc="-80" dirty="0">
                <a:highlight>
                  <a:srgbClr val="FFFF00"/>
                </a:highlight>
                <a:latin typeface="Arial"/>
                <a:cs typeface="Arial"/>
              </a:rPr>
              <a:t>consulta </a:t>
            </a:r>
            <a:r>
              <a:rPr sz="2000" spc="-100" dirty="0">
                <a:highlight>
                  <a:srgbClr val="FFFF00"/>
                </a:highlight>
                <a:latin typeface="Arial"/>
                <a:cs typeface="Arial"/>
              </a:rPr>
              <a:t>y </a:t>
            </a:r>
            <a:r>
              <a:rPr sz="2000" spc="-50" dirty="0">
                <a:highlight>
                  <a:srgbClr val="FFFF00"/>
                </a:highlight>
                <a:latin typeface="Arial"/>
                <a:cs typeface="Arial"/>
              </a:rPr>
              <a:t>mantenimiento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la </a:t>
            </a:r>
            <a:r>
              <a:rPr sz="2000" spc="-140" dirty="0">
                <a:highlight>
                  <a:srgbClr val="FFFF00"/>
                </a:highlight>
                <a:latin typeface="Arial"/>
                <a:cs typeface="Arial"/>
              </a:rPr>
              <a:t>base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90" dirty="0">
                <a:highlight>
                  <a:srgbClr val="FFFF00"/>
                </a:highlight>
                <a:latin typeface="Arial"/>
                <a:cs typeface="Arial"/>
              </a:rPr>
              <a:t>datos  </a:t>
            </a:r>
            <a:r>
              <a:rPr sz="2000" spc="-100" dirty="0">
                <a:highlight>
                  <a:srgbClr val="FFFF00"/>
                </a:highlight>
                <a:latin typeface="Arial"/>
                <a:cs typeface="Arial"/>
              </a:rPr>
              <a:t>para </a:t>
            </a:r>
            <a:r>
              <a:rPr sz="2000" spc="-55" dirty="0">
                <a:highlight>
                  <a:srgbClr val="FFFF00"/>
                </a:highlight>
                <a:latin typeface="Arial"/>
                <a:cs typeface="Arial"/>
              </a:rPr>
              <a:t>proporcionar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la </a:t>
            </a:r>
            <a:r>
              <a:rPr sz="2000" spc="-55" dirty="0">
                <a:highlight>
                  <a:srgbClr val="FFFF00"/>
                </a:highlight>
                <a:latin typeface="Arial"/>
                <a:cs typeface="Arial"/>
              </a:rPr>
              <a:t>información </a:t>
            </a:r>
            <a:r>
              <a:rPr sz="2000" spc="-85" dirty="0">
                <a:highlight>
                  <a:srgbClr val="FFFF00"/>
                </a:highlight>
                <a:latin typeface="Arial"/>
                <a:cs typeface="Arial"/>
              </a:rPr>
              <a:t>que </a:t>
            </a:r>
            <a:r>
              <a:rPr sz="2000" spc="-90" dirty="0">
                <a:highlight>
                  <a:srgbClr val="FFFF00"/>
                </a:highlight>
                <a:latin typeface="Arial"/>
                <a:cs typeface="Arial"/>
              </a:rPr>
              <a:t>necesitan los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usuarios </a:t>
            </a:r>
            <a:r>
              <a:rPr sz="2000" spc="-70" dirty="0">
                <a:highlight>
                  <a:srgbClr val="FFFF00"/>
                </a:highlight>
                <a:latin typeface="Arial"/>
                <a:cs typeface="Arial"/>
              </a:rPr>
              <a:t>finales </a:t>
            </a:r>
            <a:r>
              <a:rPr sz="2000" spc="-100" dirty="0">
                <a:highlight>
                  <a:srgbClr val="FFFF00"/>
                </a:highlight>
                <a:latin typeface="Arial"/>
                <a:cs typeface="Arial"/>
              </a:rPr>
              <a:t>y </a:t>
            </a:r>
            <a:r>
              <a:rPr sz="2000" spc="-120" dirty="0">
                <a:highlight>
                  <a:srgbClr val="FFFF00"/>
                </a:highlight>
                <a:latin typeface="Arial"/>
                <a:cs typeface="Arial"/>
              </a:rPr>
              <a:t>las  </a:t>
            </a:r>
            <a:r>
              <a:rPr sz="2000" spc="-105" dirty="0">
                <a:highlight>
                  <a:srgbClr val="FFFF00"/>
                </a:highlight>
                <a:latin typeface="Arial"/>
                <a:cs typeface="Arial"/>
              </a:rPr>
              <a:t>organizaciones. </a:t>
            </a:r>
            <a:r>
              <a:rPr sz="2000" spc="-90" dirty="0">
                <a:highlight>
                  <a:srgbClr val="FFFF00"/>
                </a:highlight>
                <a:latin typeface="Arial"/>
                <a:cs typeface="Arial"/>
              </a:rPr>
              <a:t>Actúa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como </a:t>
            </a:r>
            <a:r>
              <a:rPr sz="2000" spc="-55" dirty="0">
                <a:highlight>
                  <a:srgbClr val="FFFF00"/>
                </a:highlight>
                <a:latin typeface="Arial"/>
                <a:cs typeface="Arial"/>
              </a:rPr>
              <a:t>interfaz </a:t>
            </a:r>
            <a:r>
              <a:rPr sz="2000" spc="-40" dirty="0">
                <a:highlight>
                  <a:srgbClr val="FFFF00"/>
                </a:highlight>
                <a:latin typeface="Arial"/>
                <a:cs typeface="Arial"/>
              </a:rPr>
              <a:t>entre </a:t>
            </a:r>
            <a:r>
              <a:rPr sz="2000" spc="-50" dirty="0">
                <a:highlight>
                  <a:srgbClr val="FFFF00"/>
                </a:highlight>
                <a:latin typeface="Arial"/>
                <a:cs typeface="Arial"/>
              </a:rPr>
              <a:t>el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usuario </a:t>
            </a:r>
            <a:r>
              <a:rPr sz="2000" spc="-100" dirty="0">
                <a:highlight>
                  <a:srgbClr val="FFFF00"/>
                </a:highlight>
                <a:latin typeface="Arial"/>
                <a:cs typeface="Arial"/>
              </a:rPr>
              <a:t>y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la </a:t>
            </a:r>
            <a:r>
              <a:rPr sz="2000" spc="-185" dirty="0">
                <a:highlight>
                  <a:srgbClr val="FFFF00"/>
                </a:highlight>
                <a:latin typeface="Arial"/>
                <a:cs typeface="Arial"/>
              </a:rPr>
              <a:t>Base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105" dirty="0">
                <a:highlight>
                  <a:srgbClr val="FFFF00"/>
                </a:highlight>
                <a:latin typeface="Arial"/>
                <a:cs typeface="Arial"/>
              </a:rPr>
              <a:t>Datos.  Comprende </a:t>
            </a:r>
            <a:r>
              <a:rPr sz="2000" spc="-55" dirty="0">
                <a:highlight>
                  <a:srgbClr val="FFFF00"/>
                </a:highlight>
                <a:latin typeface="Arial"/>
                <a:cs typeface="Arial"/>
              </a:rPr>
              <a:t>tres </a:t>
            </a:r>
            <a:r>
              <a:rPr sz="2000" spc="-85" dirty="0">
                <a:highlight>
                  <a:srgbClr val="FFFF00"/>
                </a:highlight>
                <a:latin typeface="Arial"/>
                <a:cs typeface="Arial"/>
              </a:rPr>
              <a:t>actividades</a:t>
            </a:r>
            <a:r>
              <a:rPr sz="2000" spc="-114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2000" spc="-130" dirty="0">
                <a:highlight>
                  <a:srgbClr val="FFFF00"/>
                </a:highlight>
                <a:latin typeface="Arial"/>
                <a:cs typeface="Arial"/>
              </a:rPr>
              <a:t>básicas:</a:t>
            </a:r>
            <a:endParaRPr sz="20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817880" lvl="1" indent="-34798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2000" spc="-85" dirty="0">
                <a:highlight>
                  <a:srgbClr val="FFFF00"/>
                </a:highlight>
                <a:latin typeface="Arial"/>
                <a:cs typeface="Arial"/>
              </a:rPr>
              <a:t>Actualización </a:t>
            </a:r>
            <a:r>
              <a:rPr sz="2000" spc="-100" dirty="0">
                <a:highlight>
                  <a:srgbClr val="FFFF00"/>
                </a:highlight>
                <a:latin typeface="Arial"/>
                <a:cs typeface="Arial"/>
              </a:rPr>
              <a:t>y </a:t>
            </a:r>
            <a:r>
              <a:rPr sz="2000" spc="-50" dirty="0">
                <a:highlight>
                  <a:srgbClr val="FFFF00"/>
                </a:highlight>
                <a:latin typeface="Arial"/>
                <a:cs typeface="Arial"/>
              </a:rPr>
              <a:t>mantenimiento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145" dirty="0">
                <a:highlight>
                  <a:srgbClr val="FFFF00"/>
                </a:highlight>
                <a:latin typeface="Arial"/>
                <a:cs typeface="Arial"/>
              </a:rPr>
              <a:t>base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90" dirty="0">
                <a:highlight>
                  <a:srgbClr val="FFFF00"/>
                </a:highlight>
                <a:latin typeface="Arial"/>
                <a:cs typeface="Arial"/>
              </a:rPr>
              <a:t>datos </a:t>
            </a:r>
            <a:r>
              <a:rPr sz="2000" spc="-105" dirty="0">
                <a:highlight>
                  <a:srgbClr val="FFFF00"/>
                </a:highlight>
                <a:latin typeface="Arial"/>
                <a:cs typeface="Arial"/>
              </a:rPr>
              <a:t>comunes;</a:t>
            </a:r>
            <a:endParaRPr sz="20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817880" marR="5715" lvl="1" indent="-347980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2000" spc="-80" dirty="0">
                <a:highlight>
                  <a:srgbClr val="FFFF00"/>
                </a:highlight>
                <a:latin typeface="Arial"/>
                <a:cs typeface="Arial"/>
              </a:rPr>
              <a:t>Suministro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la </a:t>
            </a:r>
            <a:r>
              <a:rPr sz="2000" spc="-55" dirty="0">
                <a:highlight>
                  <a:srgbClr val="FFFF00"/>
                </a:highlight>
                <a:latin typeface="Arial"/>
                <a:cs typeface="Arial"/>
              </a:rPr>
              <a:t>información </a:t>
            </a:r>
            <a:r>
              <a:rPr sz="2000" spc="-105" dirty="0">
                <a:highlight>
                  <a:srgbClr val="FFFF00"/>
                </a:highlight>
                <a:latin typeface="Arial"/>
                <a:cs typeface="Arial"/>
              </a:rPr>
              <a:t>necesaria </a:t>
            </a:r>
            <a:r>
              <a:rPr sz="2000" spc="-60" dirty="0">
                <a:highlight>
                  <a:srgbClr val="FFFF00"/>
                </a:highlight>
                <a:latin typeface="Arial"/>
                <a:cs typeface="Arial"/>
              </a:rPr>
              <a:t>requerida </a:t>
            </a:r>
            <a:r>
              <a:rPr sz="2000" spc="-35" dirty="0">
                <a:highlight>
                  <a:srgbClr val="FFFF00"/>
                </a:highlight>
                <a:latin typeface="Arial"/>
                <a:cs typeface="Arial"/>
              </a:rPr>
              <a:t>por </a:t>
            </a:r>
            <a:r>
              <a:rPr sz="2000" spc="-140" dirty="0">
                <a:highlight>
                  <a:srgbClr val="FFFF00"/>
                </a:highlight>
                <a:latin typeface="Arial"/>
                <a:cs typeface="Arial"/>
              </a:rPr>
              <a:t>cada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usuario </a:t>
            </a:r>
            <a:r>
              <a:rPr sz="2000" spc="-30" dirty="0">
                <a:highlight>
                  <a:srgbClr val="FFFF00"/>
                </a:highlight>
                <a:latin typeface="Arial"/>
                <a:cs typeface="Arial"/>
              </a:rPr>
              <a:t>final  </a:t>
            </a:r>
            <a:r>
              <a:rPr sz="2000" spc="-50" dirty="0">
                <a:highlight>
                  <a:srgbClr val="FFFF00"/>
                </a:highlight>
                <a:latin typeface="Arial"/>
                <a:cs typeface="Arial"/>
              </a:rPr>
              <a:t>utilizando </a:t>
            </a:r>
            <a:r>
              <a:rPr sz="2000" spc="-105" dirty="0">
                <a:highlight>
                  <a:srgbClr val="FFFF00"/>
                </a:highlight>
                <a:latin typeface="Arial"/>
                <a:cs typeface="Arial"/>
              </a:rPr>
              <a:t>programas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80" dirty="0">
                <a:highlight>
                  <a:srgbClr val="FFFF00"/>
                </a:highlight>
                <a:latin typeface="Arial"/>
                <a:cs typeface="Arial"/>
              </a:rPr>
              <a:t>aplicación </a:t>
            </a:r>
            <a:r>
              <a:rPr sz="2000" spc="-85" dirty="0">
                <a:highlight>
                  <a:srgbClr val="FFFF00"/>
                </a:highlight>
                <a:latin typeface="Arial"/>
                <a:cs typeface="Arial"/>
              </a:rPr>
              <a:t>que </a:t>
            </a:r>
            <a:r>
              <a:rPr sz="2000" spc="-65" dirty="0">
                <a:highlight>
                  <a:srgbClr val="FFFF00"/>
                </a:highlight>
                <a:latin typeface="Arial"/>
                <a:cs typeface="Arial"/>
              </a:rPr>
              <a:t>comparten </a:t>
            </a:r>
            <a:r>
              <a:rPr sz="2000" spc="-90" dirty="0">
                <a:highlight>
                  <a:srgbClr val="FFFF00"/>
                </a:highlight>
                <a:latin typeface="Arial"/>
                <a:cs typeface="Arial"/>
              </a:rPr>
              <a:t>los datos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en </a:t>
            </a:r>
            <a:r>
              <a:rPr sz="2000" spc="-155" dirty="0">
                <a:highlight>
                  <a:srgbClr val="FFFF00"/>
                </a:highlight>
                <a:latin typeface="Arial"/>
                <a:cs typeface="Arial"/>
              </a:rPr>
              <a:t>bases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 </a:t>
            </a:r>
            <a:r>
              <a:rPr sz="2000" spc="-90" dirty="0">
                <a:highlight>
                  <a:srgbClr val="FFFF00"/>
                </a:highlight>
                <a:latin typeface="Arial"/>
                <a:cs typeface="Arial"/>
              </a:rPr>
              <a:t>datos</a:t>
            </a:r>
            <a:r>
              <a:rPr sz="2000" spc="-105" dirty="0">
                <a:highlight>
                  <a:srgbClr val="FFFF00"/>
                </a:highlight>
                <a:latin typeface="Arial"/>
                <a:cs typeface="Arial"/>
              </a:rPr>
              <a:t> comunes;</a:t>
            </a:r>
            <a:endParaRPr sz="20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817880" marR="5080" lvl="1" indent="-347980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2000" spc="-135" dirty="0">
                <a:highlight>
                  <a:srgbClr val="FFFF00"/>
                </a:highlight>
                <a:latin typeface="Arial"/>
                <a:cs typeface="Arial"/>
              </a:rPr>
              <a:t>Capacidad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80" dirty="0">
                <a:highlight>
                  <a:srgbClr val="FFFF00"/>
                </a:highlight>
                <a:latin typeface="Arial"/>
                <a:cs typeface="Arial"/>
              </a:rPr>
              <a:t>consulta </a:t>
            </a:r>
            <a:r>
              <a:rPr sz="2000" spc="-70" dirty="0">
                <a:highlight>
                  <a:srgbClr val="FFFF00"/>
                </a:highlight>
                <a:latin typeface="Arial"/>
                <a:cs typeface="Arial"/>
              </a:rPr>
              <a:t>/respuesta </a:t>
            </a:r>
            <a:r>
              <a:rPr sz="2000" spc="-100" dirty="0">
                <a:highlight>
                  <a:srgbClr val="FFFF00"/>
                </a:highlight>
                <a:latin typeface="Arial"/>
                <a:cs typeface="Arial"/>
              </a:rPr>
              <a:t>y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elaboración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</a:t>
            </a:r>
            <a:r>
              <a:rPr sz="2000" spc="-65" dirty="0">
                <a:highlight>
                  <a:srgbClr val="FFFF00"/>
                </a:highlight>
                <a:latin typeface="Arial"/>
                <a:cs typeface="Arial"/>
              </a:rPr>
              <a:t>informes </a:t>
            </a:r>
            <a:r>
              <a:rPr sz="2000" spc="-160" dirty="0">
                <a:highlight>
                  <a:srgbClr val="FFFF00"/>
                </a:highlight>
                <a:latin typeface="Arial"/>
                <a:cs typeface="Arial"/>
              </a:rPr>
              <a:t>a </a:t>
            </a:r>
            <a:r>
              <a:rPr sz="2000" spc="-90" dirty="0">
                <a:highlight>
                  <a:srgbClr val="FFFF00"/>
                </a:highlight>
                <a:latin typeface="Arial"/>
                <a:cs typeface="Arial"/>
              </a:rPr>
              <a:t>través </a:t>
            </a:r>
            <a:r>
              <a:rPr sz="2000" spc="-95" dirty="0">
                <a:highlight>
                  <a:srgbClr val="FFFF00"/>
                </a:highlight>
                <a:latin typeface="Arial"/>
                <a:cs typeface="Arial"/>
              </a:rPr>
              <a:t>de  </a:t>
            </a:r>
            <a:r>
              <a:rPr sz="2000" spc="-65" dirty="0">
                <a:highlight>
                  <a:srgbClr val="FFFF00"/>
                </a:highlight>
                <a:latin typeface="Arial"/>
                <a:cs typeface="Arial"/>
              </a:rPr>
              <a:t>un </a:t>
            </a:r>
            <a:r>
              <a:rPr sz="2000" spc="-75" dirty="0">
                <a:highlight>
                  <a:srgbClr val="FFFF00"/>
                </a:highlight>
                <a:latin typeface="Arial"/>
                <a:cs typeface="Arial"/>
              </a:rPr>
              <a:t>paquete</a:t>
            </a:r>
            <a:r>
              <a:rPr sz="2000" spc="-135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2000" spc="-185" dirty="0">
                <a:highlight>
                  <a:srgbClr val="FFFF00"/>
                </a:highlight>
                <a:latin typeface="Arial"/>
                <a:cs typeface="Arial"/>
              </a:rPr>
              <a:t>DBMS.</a:t>
            </a:r>
            <a:endParaRPr sz="2000" dirty="0">
              <a:highlight>
                <a:srgbClr val="FFFF00"/>
              </a:highlight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85" dirty="0"/>
              <a:t>Bases </a:t>
            </a:r>
            <a:r>
              <a:rPr spc="-120" dirty="0"/>
              <a:t>de </a:t>
            </a:r>
            <a:r>
              <a:rPr spc="-70" dirty="0"/>
              <a:t>Datos</a:t>
            </a:r>
            <a:r>
              <a:rPr spc="-409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735965"/>
            <a:ext cx="5794375" cy="452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Administración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Base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40" dirty="0">
                <a:latin typeface="Trebuchet MS"/>
                <a:cs typeface="Trebuchet MS"/>
              </a:rPr>
              <a:t>Consulta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0" dirty="0">
                <a:latin typeface="Trebuchet MS"/>
                <a:cs typeface="Trebuchet MS"/>
              </a:rPr>
              <a:t>Base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05" dirty="0">
                <a:latin typeface="Trebuchet MS"/>
                <a:cs typeface="Trebuchet MS"/>
              </a:rPr>
              <a:t> </a:t>
            </a:r>
            <a:r>
              <a:rPr sz="2600" b="1" spc="-100" dirty="0">
                <a:latin typeface="Trebuchet MS"/>
                <a:cs typeface="Trebuchet MS"/>
              </a:rPr>
              <a:t>Datos</a:t>
            </a:r>
            <a:endParaRPr sz="2600" dirty="0">
              <a:latin typeface="Trebuchet MS"/>
              <a:cs typeface="Trebuchet MS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"/>
              <a:tabLst>
                <a:tab pos="361315" algn="l"/>
              </a:tabLst>
            </a:pP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125" dirty="0">
                <a:latin typeface="Arial"/>
                <a:cs typeface="Arial"/>
              </a:rPr>
              <a:t>usuarios </a:t>
            </a:r>
            <a:r>
              <a:rPr sz="2600" spc="-95" dirty="0">
                <a:latin typeface="Arial"/>
                <a:cs typeface="Arial"/>
              </a:rPr>
              <a:t>finales </a:t>
            </a:r>
            <a:r>
              <a:rPr sz="2600" spc="-114" dirty="0">
                <a:latin typeface="Arial"/>
                <a:cs typeface="Arial"/>
              </a:rPr>
              <a:t>pueden </a:t>
            </a:r>
            <a:r>
              <a:rPr sz="2600" spc="-50" dirty="0">
                <a:latin typeface="Arial"/>
                <a:cs typeface="Arial"/>
              </a:rPr>
              <a:t>utilizar </a:t>
            </a:r>
            <a:r>
              <a:rPr sz="2600" spc="-85" dirty="0">
                <a:latin typeface="Arial"/>
                <a:cs typeface="Arial"/>
              </a:rPr>
              <a:t>un  </a:t>
            </a:r>
            <a:r>
              <a:rPr sz="2600" spc="-280" dirty="0">
                <a:latin typeface="Arial"/>
                <a:cs typeface="Arial"/>
              </a:rPr>
              <a:t>DBMS </a:t>
            </a:r>
            <a:r>
              <a:rPr sz="2600" spc="-95" dirty="0">
                <a:latin typeface="Arial"/>
                <a:cs typeface="Arial"/>
              </a:rPr>
              <a:t>al </a:t>
            </a:r>
            <a:r>
              <a:rPr sz="2600" spc="-65" dirty="0">
                <a:latin typeface="Arial"/>
                <a:cs typeface="Arial"/>
              </a:rPr>
              <a:t>solicitar </a:t>
            </a:r>
            <a:r>
              <a:rPr sz="2600" spc="-70" dirty="0">
                <a:latin typeface="Arial"/>
                <a:cs typeface="Arial"/>
              </a:rPr>
              <a:t>información </a:t>
            </a:r>
            <a:r>
              <a:rPr sz="2600" spc="-140" dirty="0">
                <a:latin typeface="Arial"/>
                <a:cs typeface="Arial"/>
              </a:rPr>
              <a:t>usando 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110" dirty="0">
                <a:latin typeface="Arial"/>
                <a:cs typeface="Arial"/>
              </a:rPr>
              <a:t>lenguaje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5" dirty="0">
                <a:latin typeface="Arial"/>
                <a:cs typeface="Arial"/>
              </a:rPr>
              <a:t>consulta </a:t>
            </a:r>
            <a:r>
              <a:rPr sz="2600" spc="-80" dirty="0">
                <a:latin typeface="Arial"/>
                <a:cs typeface="Arial"/>
              </a:rPr>
              <a:t>o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110" dirty="0">
                <a:latin typeface="Arial"/>
                <a:cs typeface="Arial"/>
              </a:rPr>
              <a:t>generador 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informes.</a:t>
            </a:r>
            <a:endParaRPr sz="2600" dirty="0">
              <a:latin typeface="Arial"/>
              <a:cs typeface="Arial"/>
            </a:endParaRPr>
          </a:p>
          <a:p>
            <a:pPr marL="360680" marR="5715" indent="-347980" algn="just">
              <a:lnSpc>
                <a:spcPct val="100000"/>
              </a:lnSpc>
              <a:buFont typeface="Wingdings"/>
              <a:buChar char=""/>
              <a:tabLst>
                <a:tab pos="361315" algn="l"/>
              </a:tabLst>
            </a:pPr>
            <a:r>
              <a:rPr sz="2600" spc="-135" dirty="0">
                <a:latin typeface="Arial"/>
                <a:cs typeface="Arial"/>
              </a:rPr>
              <a:t>Ventajas: </a:t>
            </a:r>
            <a:r>
              <a:rPr sz="2600" spc="-80" dirty="0">
                <a:latin typeface="Arial"/>
                <a:cs typeface="Arial"/>
              </a:rPr>
              <a:t>no requiere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105" dirty="0">
                <a:latin typeface="Arial"/>
                <a:cs typeface="Arial"/>
              </a:rPr>
              <a:t>programación  </a:t>
            </a:r>
            <a:r>
              <a:rPr sz="2600" spc="-50" dirty="0">
                <a:latin typeface="Arial"/>
                <a:cs typeface="Arial"/>
              </a:rPr>
              <a:t>difícil,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50" dirty="0">
                <a:latin typeface="Arial"/>
                <a:cs typeface="Arial"/>
              </a:rPr>
              <a:t>permite </a:t>
            </a:r>
            <a:r>
              <a:rPr sz="2600" spc="-60" dirty="0">
                <a:latin typeface="Arial"/>
                <a:cs typeface="Arial"/>
              </a:rPr>
              <a:t>obtener </a:t>
            </a:r>
            <a:r>
              <a:rPr sz="2600" spc="-130" dirty="0">
                <a:latin typeface="Arial"/>
                <a:cs typeface="Arial"/>
              </a:rPr>
              <a:t>con </a:t>
            </a:r>
            <a:r>
              <a:rPr sz="2600" spc="-80" dirty="0">
                <a:latin typeface="Arial"/>
                <a:cs typeface="Arial"/>
              </a:rPr>
              <a:t>facilidad  </a:t>
            </a:r>
            <a:r>
              <a:rPr sz="2600" spc="-145" dirty="0">
                <a:latin typeface="Arial"/>
                <a:cs typeface="Arial"/>
              </a:rPr>
              <a:t>respuestas </a:t>
            </a:r>
            <a:r>
              <a:rPr sz="2600" spc="-100" dirty="0">
                <a:latin typeface="Arial"/>
                <a:cs typeface="Arial"/>
              </a:rPr>
              <a:t>inmediatas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90" dirty="0">
                <a:latin typeface="Arial"/>
                <a:cs typeface="Arial"/>
              </a:rPr>
              <a:t>solicitudes </a:t>
            </a:r>
            <a:r>
              <a:rPr sz="2600" spc="-150" dirty="0">
                <a:latin typeface="Arial"/>
                <a:cs typeface="Arial"/>
              </a:rPr>
              <a:t>ad  </a:t>
            </a:r>
            <a:r>
              <a:rPr sz="2600" spc="-110" dirty="0">
                <a:latin typeface="Arial"/>
                <a:cs typeface="Arial"/>
              </a:rPr>
              <a:t>hoc.</a:t>
            </a:r>
            <a:endParaRPr sz="2600" dirty="0">
              <a:latin typeface="Arial"/>
              <a:cs typeface="Arial"/>
            </a:endParaRPr>
          </a:p>
          <a:p>
            <a:pPr marL="360680" indent="-34798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2600" spc="-155" dirty="0">
                <a:latin typeface="Arial"/>
                <a:cs typeface="Arial"/>
              </a:rPr>
              <a:t>Lenguaje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0" dirty="0">
                <a:latin typeface="Arial"/>
                <a:cs typeface="Arial"/>
              </a:rPr>
              <a:t>consulta: </a:t>
            </a:r>
            <a:r>
              <a:rPr sz="2600" spc="-395" dirty="0">
                <a:latin typeface="Arial"/>
                <a:cs typeface="Arial"/>
              </a:rPr>
              <a:t>SQL </a:t>
            </a:r>
            <a:r>
              <a:rPr sz="2600" spc="-470" dirty="0">
                <a:latin typeface="Arial"/>
                <a:cs typeface="Arial"/>
              </a:rPr>
              <a:t>Y</a:t>
            </a:r>
            <a:r>
              <a:rPr sz="2600" spc="-254" dirty="0">
                <a:latin typeface="Arial"/>
                <a:cs typeface="Arial"/>
              </a:rPr>
              <a:t> </a:t>
            </a:r>
            <a:r>
              <a:rPr sz="2600" spc="-335" dirty="0">
                <a:latin typeface="Arial"/>
                <a:cs typeface="Arial"/>
              </a:rPr>
              <a:t>QBE.SQL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74891" y="1269491"/>
            <a:ext cx="2486406" cy="18387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91088" y="3187924"/>
            <a:ext cx="1183154" cy="1255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0000" y="3380543"/>
            <a:ext cx="1223772" cy="881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05600" y="4495800"/>
            <a:ext cx="1838705" cy="1838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770629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85" dirty="0">
                <a:solidFill>
                  <a:srgbClr val="FFFFFF"/>
                </a:solidFill>
                <a:latin typeface="Trebuchet MS"/>
                <a:cs typeface="Trebuchet MS"/>
              </a:rPr>
              <a:t>Bases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70" dirty="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r>
              <a:rPr sz="2000" b="1" spc="-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Administración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Base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762000"/>
            <a:ext cx="398335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70" dirty="0">
                <a:solidFill>
                  <a:srgbClr val="000000"/>
                </a:solidFill>
              </a:rPr>
              <a:t>Estructura </a:t>
            </a:r>
            <a:r>
              <a:rPr sz="2600" spc="-155" dirty="0">
                <a:solidFill>
                  <a:srgbClr val="000000"/>
                </a:solidFill>
              </a:rPr>
              <a:t>de </a:t>
            </a:r>
            <a:r>
              <a:rPr sz="2600" spc="-110" dirty="0">
                <a:solidFill>
                  <a:srgbClr val="000000"/>
                </a:solidFill>
              </a:rPr>
              <a:t>Bases </a:t>
            </a:r>
            <a:r>
              <a:rPr sz="2600" spc="-155" dirty="0">
                <a:solidFill>
                  <a:srgbClr val="000000"/>
                </a:solidFill>
              </a:rPr>
              <a:t>de</a:t>
            </a:r>
            <a:r>
              <a:rPr sz="2600" spc="-330" dirty="0">
                <a:solidFill>
                  <a:srgbClr val="000000"/>
                </a:solidFill>
              </a:rPr>
              <a:t> </a:t>
            </a:r>
            <a:r>
              <a:rPr sz="2600" spc="-100" dirty="0">
                <a:solidFill>
                  <a:srgbClr val="000000"/>
                </a:solidFill>
              </a:rPr>
              <a:t>Datos</a:t>
            </a:r>
            <a:endParaRPr sz="2600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1392173"/>
            <a:ext cx="8613140" cy="5027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2400" b="1" spc="-155" dirty="0">
                <a:latin typeface="Trebuchet MS"/>
                <a:cs typeface="Trebuchet MS"/>
              </a:rPr>
              <a:t>Estructura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b="1" spc="-145" dirty="0">
                <a:latin typeface="Trebuchet MS"/>
                <a:cs typeface="Trebuchet MS"/>
              </a:rPr>
              <a:t>Relacional:</a:t>
            </a:r>
            <a:endParaRPr sz="2400">
              <a:latin typeface="Trebuchet MS"/>
              <a:cs typeface="Trebuchet MS"/>
            </a:endParaRPr>
          </a:p>
          <a:p>
            <a:pPr marL="817880" marR="5080" lvl="1" indent="-347980" algn="just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818515" algn="l"/>
              </a:tabLst>
            </a:pPr>
            <a:r>
              <a:rPr sz="2000" spc="-265" dirty="0">
                <a:latin typeface="Arial"/>
                <a:cs typeface="Arial"/>
              </a:rPr>
              <a:t>Se </a:t>
            </a:r>
            <a:r>
              <a:rPr sz="2000" spc="-95" dirty="0">
                <a:latin typeface="Arial"/>
                <a:cs typeface="Arial"/>
              </a:rPr>
              <a:t>considera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65" dirty="0">
                <a:latin typeface="Arial"/>
                <a:cs typeface="Arial"/>
              </a:rPr>
              <a:t>todos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elementos </a:t>
            </a:r>
            <a:r>
              <a:rPr sz="2000" spc="-40" dirty="0">
                <a:latin typeface="Arial"/>
                <a:cs typeface="Arial"/>
              </a:rPr>
              <a:t>dentro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40" dirty="0">
                <a:latin typeface="Arial"/>
                <a:cs typeface="Arial"/>
              </a:rPr>
              <a:t>base </a:t>
            </a:r>
            <a:r>
              <a:rPr sz="2000" spc="-90" dirty="0">
                <a:latin typeface="Arial"/>
                <a:cs typeface="Arial"/>
              </a:rPr>
              <a:t>de datos </a:t>
            </a:r>
            <a:r>
              <a:rPr sz="2000" spc="-100" dirty="0">
                <a:latin typeface="Arial"/>
                <a:cs typeface="Arial"/>
              </a:rPr>
              <a:t>están  </a:t>
            </a:r>
            <a:r>
              <a:rPr sz="2000" spc="-110" dirty="0">
                <a:latin typeface="Arial"/>
                <a:cs typeface="Arial"/>
              </a:rPr>
              <a:t>almacenados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5" dirty="0">
                <a:latin typeface="Arial"/>
                <a:cs typeface="Arial"/>
              </a:rPr>
              <a:t>forma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tablas </a:t>
            </a:r>
            <a:r>
              <a:rPr sz="2000" spc="-90" dirty="0">
                <a:latin typeface="Arial"/>
                <a:cs typeface="Arial"/>
              </a:rPr>
              <a:t>simples. </a:t>
            </a:r>
            <a:r>
              <a:rPr sz="2000" spc="-75" dirty="0">
                <a:latin typeface="Arial"/>
                <a:cs typeface="Arial"/>
              </a:rPr>
              <a:t>Permiten </a:t>
            </a:r>
            <a:r>
              <a:rPr sz="2000" spc="-100" dirty="0">
                <a:latin typeface="Arial"/>
                <a:cs typeface="Arial"/>
              </a:rPr>
              <a:t>enlazar </a:t>
            </a:r>
            <a:r>
              <a:rPr sz="2000" spc="-75" dirty="0">
                <a:latin typeface="Arial"/>
                <a:cs typeface="Arial"/>
              </a:rPr>
              <a:t>elementos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14" dirty="0">
                <a:latin typeface="Arial"/>
                <a:cs typeface="Arial"/>
              </a:rPr>
              <a:t>diversas </a:t>
            </a:r>
            <a:r>
              <a:rPr sz="2000" spc="-80" dirty="0">
                <a:latin typeface="Arial"/>
                <a:cs typeface="Arial"/>
              </a:rPr>
              <a:t>tablas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55" dirty="0">
                <a:latin typeface="Arial"/>
                <a:cs typeface="Arial"/>
              </a:rPr>
              <a:t>proporcionar información </a:t>
            </a:r>
            <a:r>
              <a:rPr sz="2000" spc="-100" dirty="0">
                <a:latin typeface="Arial"/>
                <a:cs typeface="Arial"/>
              </a:rPr>
              <a:t>personalizada  </a:t>
            </a:r>
            <a:r>
              <a:rPr sz="2000" spc="-130" dirty="0">
                <a:latin typeface="Arial"/>
                <a:cs typeface="Arial"/>
              </a:rPr>
              <a:t>según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55" dirty="0">
                <a:latin typeface="Arial"/>
                <a:cs typeface="Arial"/>
              </a:rPr>
              <a:t>requerimientos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20" dirty="0">
                <a:latin typeface="Arial"/>
                <a:cs typeface="Arial"/>
              </a:rPr>
              <a:t>necesidades </a:t>
            </a:r>
            <a:r>
              <a:rPr sz="2000" spc="-85" dirty="0">
                <a:latin typeface="Arial"/>
                <a:cs typeface="Arial"/>
              </a:rPr>
              <a:t>diferenciadas </a:t>
            </a:r>
            <a:r>
              <a:rPr sz="2000" spc="-95" dirty="0">
                <a:latin typeface="Arial"/>
                <a:cs typeface="Arial"/>
              </a:rPr>
              <a:t>de usuarios </a:t>
            </a:r>
            <a:r>
              <a:rPr sz="2000" spc="-65" dirty="0">
                <a:latin typeface="Arial"/>
                <a:cs typeface="Arial"/>
              </a:rPr>
              <a:t>finales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distintas </a:t>
            </a:r>
            <a:r>
              <a:rPr sz="2000" spc="-130" dirty="0">
                <a:latin typeface="Arial"/>
                <a:cs typeface="Arial"/>
              </a:rPr>
              <a:t>áreas </a:t>
            </a:r>
            <a:r>
              <a:rPr sz="2000" spc="-40" dirty="0">
                <a:latin typeface="Arial"/>
                <a:cs typeface="Arial"/>
              </a:rPr>
              <a:t>dentro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organización.</a:t>
            </a:r>
            <a:endParaRPr sz="2000">
              <a:latin typeface="Arial"/>
              <a:cs typeface="Arial"/>
            </a:endParaRPr>
          </a:p>
          <a:p>
            <a:pPr marL="360680" indent="-347980">
              <a:lnSpc>
                <a:spcPts val="2850"/>
              </a:lnSpc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2400" b="1" spc="-155" dirty="0">
                <a:latin typeface="Trebuchet MS"/>
                <a:cs typeface="Trebuchet MS"/>
              </a:rPr>
              <a:t>Estructura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b="1" spc="-105" dirty="0">
                <a:latin typeface="Trebuchet MS"/>
                <a:cs typeface="Trebuchet MS"/>
              </a:rPr>
              <a:t>Multidimensional:</a:t>
            </a:r>
            <a:endParaRPr sz="2400">
              <a:latin typeface="Trebuchet MS"/>
              <a:cs typeface="Trebuchet MS"/>
            </a:endParaRPr>
          </a:p>
          <a:p>
            <a:pPr marL="817880" lvl="1" indent="-347980">
              <a:lnSpc>
                <a:spcPct val="100000"/>
              </a:lnSpc>
              <a:spcBef>
                <a:spcPts val="30"/>
              </a:spcBef>
              <a:buFont typeface="Wingdings"/>
              <a:buChar char=""/>
              <a:tabLst>
                <a:tab pos="817880" algn="l"/>
                <a:tab pos="818515" algn="l"/>
              </a:tabLst>
            </a:pPr>
            <a:r>
              <a:rPr sz="2000" spc="-290" dirty="0">
                <a:latin typeface="Arial"/>
                <a:cs typeface="Arial"/>
              </a:rPr>
              <a:t>Es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75" dirty="0">
                <a:latin typeface="Arial"/>
                <a:cs typeface="Arial"/>
              </a:rPr>
              <a:t>variación </a:t>
            </a:r>
            <a:r>
              <a:rPr sz="2000" spc="-60" dirty="0">
                <a:latin typeface="Arial"/>
                <a:cs typeface="Arial"/>
              </a:rPr>
              <a:t>del modelo</a:t>
            </a:r>
            <a:r>
              <a:rPr sz="2000" spc="-24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relacional.</a:t>
            </a:r>
            <a:endParaRPr sz="2000">
              <a:latin typeface="Arial"/>
              <a:cs typeface="Arial"/>
            </a:endParaRPr>
          </a:p>
          <a:p>
            <a:pPr marL="817880" marR="5080" lvl="1" indent="-347980" algn="just">
              <a:lnSpc>
                <a:spcPct val="100000"/>
              </a:lnSpc>
              <a:buFont typeface="Wingdings"/>
              <a:buChar char=""/>
              <a:tabLst>
                <a:tab pos="818515" algn="l"/>
              </a:tabLst>
            </a:pPr>
            <a:r>
              <a:rPr sz="2000" spc="-155" dirty="0">
                <a:latin typeface="Arial"/>
                <a:cs typeface="Arial"/>
              </a:rPr>
              <a:t>Sigue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55" dirty="0">
                <a:latin typeface="Arial"/>
                <a:cs typeface="Arial"/>
              </a:rPr>
              <a:t>estructura </a:t>
            </a:r>
            <a:r>
              <a:rPr sz="2000" spc="-50" dirty="0">
                <a:latin typeface="Arial"/>
                <a:cs typeface="Arial"/>
              </a:rPr>
              <a:t>multidimensional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95" dirty="0">
                <a:latin typeface="Arial"/>
                <a:cs typeface="Arial"/>
              </a:rPr>
              <a:t>organizar </a:t>
            </a:r>
            <a:r>
              <a:rPr sz="2000" spc="-85" dirty="0">
                <a:latin typeface="Arial"/>
                <a:cs typeface="Arial"/>
              </a:rPr>
              <a:t>datos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05" dirty="0">
                <a:latin typeface="Arial"/>
                <a:cs typeface="Arial"/>
              </a:rPr>
              <a:t>expresar </a:t>
            </a:r>
            <a:r>
              <a:rPr sz="2000" spc="-175" dirty="0">
                <a:latin typeface="Arial"/>
                <a:cs typeface="Arial"/>
              </a:rPr>
              <a:t>sus  </a:t>
            </a:r>
            <a:r>
              <a:rPr sz="2000" spc="-85" dirty="0">
                <a:latin typeface="Arial"/>
                <a:cs typeface="Arial"/>
              </a:rPr>
              <a:t>relaciones. </a:t>
            </a:r>
            <a:r>
              <a:rPr sz="2000" spc="-270" dirty="0">
                <a:latin typeface="Arial"/>
                <a:cs typeface="Arial"/>
              </a:rPr>
              <a:t>Se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visualiza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25" dirty="0">
                <a:latin typeface="Arial"/>
                <a:cs typeface="Arial"/>
              </a:rPr>
              <a:t>lo </a:t>
            </a:r>
            <a:r>
              <a:rPr sz="2000" spc="-95" dirty="0">
                <a:latin typeface="Arial"/>
                <a:cs typeface="Arial"/>
              </a:rPr>
              <a:t>general como </a:t>
            </a:r>
            <a:r>
              <a:rPr sz="2000" spc="-114" dirty="0">
                <a:latin typeface="Arial"/>
                <a:cs typeface="Arial"/>
              </a:rPr>
              <a:t>cubos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datos, donde </a:t>
            </a:r>
            <a:r>
              <a:rPr sz="2000" spc="-140" dirty="0">
                <a:latin typeface="Arial"/>
                <a:cs typeface="Arial"/>
              </a:rPr>
              <a:t>cada  </a:t>
            </a:r>
            <a:r>
              <a:rPr sz="2000" spc="-125" dirty="0">
                <a:latin typeface="Arial"/>
                <a:cs typeface="Arial"/>
              </a:rPr>
              <a:t>cara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85" dirty="0">
                <a:latin typeface="Arial"/>
                <a:cs typeface="Arial"/>
              </a:rPr>
              <a:t>cubo </a:t>
            </a:r>
            <a:r>
              <a:rPr sz="2000" spc="-75" dirty="0">
                <a:latin typeface="Arial"/>
                <a:cs typeface="Arial"/>
              </a:rPr>
              <a:t>conforma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75" dirty="0">
                <a:latin typeface="Arial"/>
                <a:cs typeface="Arial"/>
              </a:rPr>
              <a:t>dimensión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datos.</a:t>
            </a:r>
            <a:endParaRPr sz="2000">
              <a:latin typeface="Arial"/>
              <a:cs typeface="Arial"/>
            </a:endParaRPr>
          </a:p>
          <a:p>
            <a:pPr marL="817880" marR="5715" lvl="1" indent="-347980" algn="just">
              <a:lnSpc>
                <a:spcPct val="100000"/>
              </a:lnSpc>
              <a:buFont typeface="Wingdings"/>
              <a:buChar char=""/>
              <a:tabLst>
                <a:tab pos="818515" algn="l"/>
              </a:tabLst>
            </a:pPr>
            <a:r>
              <a:rPr sz="2000" spc="-195" dirty="0">
                <a:latin typeface="Arial"/>
                <a:cs typeface="Arial"/>
              </a:rPr>
              <a:t>Cada </a:t>
            </a:r>
            <a:r>
              <a:rPr sz="2000" spc="-95" dirty="0">
                <a:latin typeface="Arial"/>
                <a:cs typeface="Arial"/>
              </a:rPr>
              <a:t>celda </a:t>
            </a:r>
            <a:r>
              <a:rPr sz="2000" spc="-65" dirty="0">
                <a:latin typeface="Arial"/>
                <a:cs typeface="Arial"/>
              </a:rPr>
              <a:t>contiene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130" dirty="0">
                <a:latin typeface="Arial"/>
                <a:cs typeface="Arial"/>
              </a:rPr>
              <a:t>agregados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75" dirty="0">
                <a:latin typeface="Arial"/>
                <a:cs typeface="Arial"/>
              </a:rPr>
              <a:t>relacionan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elementos 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25" dirty="0">
                <a:latin typeface="Arial"/>
                <a:cs typeface="Arial"/>
              </a:rPr>
              <a:t>lo </a:t>
            </a:r>
            <a:r>
              <a:rPr sz="2000" spc="-80" dirty="0">
                <a:latin typeface="Arial"/>
                <a:cs typeface="Arial"/>
              </a:rPr>
              <a:t>largo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40" dirty="0">
                <a:latin typeface="Arial"/>
                <a:cs typeface="Arial"/>
              </a:rPr>
              <a:t>cada </a:t>
            </a:r>
            <a:r>
              <a:rPr sz="2000" spc="-95" dirty="0">
                <a:latin typeface="Arial"/>
                <a:cs typeface="Arial"/>
              </a:rPr>
              <a:t>una de </a:t>
            </a:r>
            <a:r>
              <a:rPr sz="2000" spc="-170" dirty="0">
                <a:latin typeface="Arial"/>
                <a:cs typeface="Arial"/>
              </a:rPr>
              <a:t>sus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dimensiones.</a:t>
            </a:r>
            <a:endParaRPr sz="2000">
              <a:latin typeface="Arial"/>
              <a:cs typeface="Arial"/>
            </a:endParaRPr>
          </a:p>
          <a:p>
            <a:pPr marL="817880" marR="5080" lvl="1" indent="-347980" algn="just">
              <a:lnSpc>
                <a:spcPct val="100000"/>
              </a:lnSpc>
              <a:buFont typeface="Wingdings"/>
              <a:buChar char=""/>
              <a:tabLst>
                <a:tab pos="818515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105" dirty="0">
                <a:latin typeface="Arial"/>
                <a:cs typeface="Arial"/>
              </a:rPr>
              <a:t>gran </a:t>
            </a:r>
            <a:r>
              <a:rPr sz="2000" spc="-75" dirty="0">
                <a:latin typeface="Arial"/>
                <a:cs typeface="Arial"/>
              </a:rPr>
              <a:t>ventaja </a:t>
            </a:r>
            <a:r>
              <a:rPr sz="2000" spc="-95" dirty="0">
                <a:latin typeface="Arial"/>
                <a:cs typeface="Arial"/>
              </a:rPr>
              <a:t>de este </a:t>
            </a:r>
            <a:r>
              <a:rPr sz="2000" spc="-60" dirty="0">
                <a:latin typeface="Arial"/>
                <a:cs typeface="Arial"/>
              </a:rPr>
              <a:t>modelo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60" dirty="0">
                <a:latin typeface="Arial"/>
                <a:cs typeface="Arial"/>
              </a:rPr>
              <a:t>constituye </a:t>
            </a:r>
            <a:r>
              <a:rPr sz="2000" spc="-95" dirty="0">
                <a:latin typeface="Arial"/>
                <a:cs typeface="Arial"/>
              </a:rPr>
              <a:t>una manera compacta,  </a:t>
            </a:r>
            <a:r>
              <a:rPr sz="2000" spc="-55" dirty="0">
                <a:latin typeface="Arial"/>
                <a:cs typeface="Arial"/>
              </a:rPr>
              <a:t>fácil </a:t>
            </a:r>
            <a:r>
              <a:rPr sz="2000" spc="-120" dirty="0">
                <a:latin typeface="Arial"/>
                <a:cs typeface="Arial"/>
              </a:rPr>
              <a:t>e </a:t>
            </a:r>
            <a:r>
              <a:rPr sz="2000" spc="-20" dirty="0">
                <a:latin typeface="Arial"/>
                <a:cs typeface="Arial"/>
              </a:rPr>
              <a:t>intuitiva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visualizar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0" dirty="0">
                <a:latin typeface="Arial"/>
                <a:cs typeface="Arial"/>
              </a:rPr>
              <a:t>manipular </a:t>
            </a:r>
            <a:r>
              <a:rPr sz="2000" spc="-75" dirty="0">
                <a:latin typeface="Arial"/>
                <a:cs typeface="Arial"/>
              </a:rPr>
              <a:t>elementos </a:t>
            </a:r>
            <a:r>
              <a:rPr sz="2000" spc="-90" dirty="0">
                <a:latin typeface="Arial"/>
                <a:cs typeface="Arial"/>
              </a:rPr>
              <a:t>de datos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120" dirty="0">
                <a:latin typeface="Arial"/>
                <a:cs typeface="Arial"/>
              </a:rPr>
              <a:t>muchas  </a:t>
            </a:r>
            <a:r>
              <a:rPr sz="2000" spc="-65" dirty="0">
                <a:latin typeface="Arial"/>
                <a:cs typeface="Arial"/>
              </a:rPr>
              <a:t>interrelaciones.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770629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85" dirty="0">
                <a:solidFill>
                  <a:srgbClr val="FFFFFF"/>
                </a:solidFill>
                <a:latin typeface="Trebuchet MS"/>
                <a:cs typeface="Trebuchet MS"/>
              </a:rPr>
              <a:t>Bases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70" dirty="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r>
              <a:rPr sz="2000" b="1" spc="-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Administración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Base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994918"/>
            <a:ext cx="398335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70" dirty="0">
                <a:solidFill>
                  <a:srgbClr val="000000"/>
                </a:solidFill>
              </a:rPr>
              <a:t>Estructura </a:t>
            </a:r>
            <a:r>
              <a:rPr sz="2600" spc="-155" dirty="0">
                <a:solidFill>
                  <a:srgbClr val="000000"/>
                </a:solidFill>
              </a:rPr>
              <a:t>de </a:t>
            </a:r>
            <a:r>
              <a:rPr sz="2600" spc="-110" dirty="0">
                <a:solidFill>
                  <a:srgbClr val="000000"/>
                </a:solidFill>
              </a:rPr>
              <a:t>Bases </a:t>
            </a:r>
            <a:r>
              <a:rPr sz="2600" spc="-155" dirty="0">
                <a:solidFill>
                  <a:srgbClr val="000000"/>
                </a:solidFill>
              </a:rPr>
              <a:t>de</a:t>
            </a:r>
            <a:r>
              <a:rPr sz="2600" spc="-330" dirty="0">
                <a:solidFill>
                  <a:srgbClr val="000000"/>
                </a:solidFill>
              </a:rPr>
              <a:t> </a:t>
            </a:r>
            <a:r>
              <a:rPr sz="2600" spc="-100" dirty="0">
                <a:solidFill>
                  <a:srgbClr val="000000"/>
                </a:solidFill>
              </a:rPr>
              <a:t>Datos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4104005"/>
            <a:ext cx="405955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2400" b="1" spc="-155" dirty="0">
                <a:latin typeface="Trebuchet MS"/>
                <a:cs typeface="Trebuchet MS"/>
              </a:rPr>
              <a:t>Estructura</a:t>
            </a:r>
            <a:r>
              <a:rPr sz="2400" b="1" spc="-180" dirty="0">
                <a:latin typeface="Trebuchet MS"/>
                <a:cs typeface="Trebuchet MS"/>
              </a:rPr>
              <a:t> </a:t>
            </a:r>
            <a:r>
              <a:rPr sz="2400" b="1" spc="-105" dirty="0">
                <a:latin typeface="Trebuchet MS"/>
                <a:cs typeface="Trebuchet MS"/>
              </a:rPr>
              <a:t>Multidimensional: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575" y="1753235"/>
            <a:ext cx="3121025" cy="68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2400" b="1" spc="-155" dirty="0">
                <a:latin typeface="Trebuchet MS"/>
                <a:cs typeface="Trebuchet MS"/>
              </a:rPr>
              <a:t>Estructura</a:t>
            </a:r>
            <a:r>
              <a:rPr sz="2400" b="1" spc="-200" dirty="0">
                <a:latin typeface="Trebuchet MS"/>
                <a:cs typeface="Trebuchet MS"/>
              </a:rPr>
              <a:t> </a:t>
            </a:r>
            <a:r>
              <a:rPr sz="2400" b="1" spc="-145" dirty="0">
                <a:latin typeface="Trebuchet MS"/>
                <a:cs typeface="Trebuchet MS"/>
              </a:rPr>
              <a:t>Relacional:</a:t>
            </a:r>
            <a:endParaRPr sz="2400" dirty="0">
              <a:latin typeface="Trebuchet MS"/>
              <a:cs typeface="Trebuchet MS"/>
            </a:endParaRPr>
          </a:p>
          <a:p>
            <a:pPr marL="80645">
              <a:lnSpc>
                <a:spcPct val="100000"/>
              </a:lnSpc>
              <a:spcBef>
                <a:spcPts val="1115"/>
              </a:spcBef>
            </a:pPr>
            <a:r>
              <a:rPr sz="1000" b="1" spc="-5" dirty="0">
                <a:latin typeface="Verdana"/>
                <a:cs typeface="Verdana"/>
              </a:rPr>
              <a:t>Tabla de</a:t>
            </a:r>
            <a:r>
              <a:rPr sz="1000" b="1" spc="-35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departamentos</a:t>
            </a:r>
            <a:endParaRPr sz="1000" dirty="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609163"/>
              </p:ext>
            </p:extLst>
          </p:nvPr>
        </p:nvGraphicFramePr>
        <p:xfrm>
          <a:off x="222250" y="2455548"/>
          <a:ext cx="3916679" cy="9734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204"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spc="-5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000" b="1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000" b="1" spc="-5" dirty="0">
                          <a:latin typeface="Verdana"/>
                          <a:cs typeface="Verdana"/>
                        </a:rPr>
                        <a:t>par</a:t>
                      </a:r>
                      <a:r>
                        <a:rPr sz="1000" b="1" spc="-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000" b="1" spc="-5" dirty="0">
                          <a:latin typeface="Verdana"/>
                          <a:cs typeface="Verdana"/>
                        </a:rPr>
                        <a:t>amen</a:t>
                      </a:r>
                      <a:r>
                        <a:rPr sz="1000" b="1" spc="-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000" b="1" dirty="0">
                          <a:latin typeface="Verdana"/>
                          <a:cs typeface="Verdana"/>
                        </a:rPr>
                        <a:t>o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dirty="0">
                          <a:latin typeface="Verdana"/>
                          <a:cs typeface="Verdana"/>
                        </a:rPr>
                        <a:t>Nombre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spc="-5" dirty="0">
                          <a:latin typeface="Verdana"/>
                          <a:cs typeface="Verdana"/>
                        </a:rPr>
                        <a:t>Ubicación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dirty="0">
                          <a:latin typeface="Verdana"/>
                          <a:cs typeface="Verdana"/>
                        </a:rPr>
                        <a:t>Adm.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R="13716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A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R="13716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B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C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346194" y="2012314"/>
            <a:ext cx="14446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Verdana"/>
                <a:cs typeface="Verdana"/>
              </a:rPr>
              <a:t>Tabla de</a:t>
            </a:r>
            <a:r>
              <a:rPr sz="1000" b="1" spc="-7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empleados</a:t>
            </a:r>
            <a:endParaRPr sz="10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942269"/>
              </p:ext>
            </p:extLst>
          </p:nvPr>
        </p:nvGraphicFramePr>
        <p:xfrm>
          <a:off x="4260850" y="2261107"/>
          <a:ext cx="4572000" cy="1703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R="1689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spc="-5" dirty="0">
                          <a:latin typeface="Verdana"/>
                          <a:cs typeface="Verdana"/>
                        </a:rPr>
                        <a:t>Em</a:t>
                      </a:r>
                      <a:r>
                        <a:rPr sz="1000" b="1" dirty="0">
                          <a:latin typeface="Verdana"/>
                          <a:cs typeface="Verdana"/>
                        </a:rPr>
                        <a:t>pleado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dirty="0">
                          <a:latin typeface="Verdana"/>
                          <a:cs typeface="Verdana"/>
                        </a:rPr>
                        <a:t>Nombre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dirty="0">
                          <a:latin typeface="Verdana"/>
                          <a:cs typeface="Verdana"/>
                        </a:rPr>
                        <a:t>Título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spc="-5" dirty="0">
                          <a:latin typeface="Verdana"/>
                          <a:cs typeface="Verdana"/>
                        </a:rPr>
                        <a:t>Salario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b="1" spc="-5" dirty="0">
                          <a:latin typeface="Verdana"/>
                          <a:cs typeface="Verdana"/>
                        </a:rPr>
                        <a:t>Departamento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Empleado</a:t>
                      </a:r>
                      <a:r>
                        <a:rPr sz="10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1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A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Empleado</a:t>
                      </a:r>
                      <a:r>
                        <a:rPr sz="10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2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A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Empleado</a:t>
                      </a:r>
                      <a:r>
                        <a:rPr sz="10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3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B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Empleado</a:t>
                      </a:r>
                      <a:r>
                        <a:rPr sz="10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4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B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Empleado</a:t>
                      </a:r>
                      <a:r>
                        <a:rPr sz="10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5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C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Empleado</a:t>
                      </a:r>
                      <a:r>
                        <a:rPr sz="10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6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Departamento</a:t>
                      </a:r>
                      <a:r>
                        <a:rPr sz="10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B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66705" y="4572000"/>
            <a:ext cx="2467350" cy="1724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71825" y="4578474"/>
            <a:ext cx="2457450" cy="1723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76950" y="4600575"/>
            <a:ext cx="2457450" cy="17240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770629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85" dirty="0">
                <a:solidFill>
                  <a:srgbClr val="FFFFFF"/>
                </a:solidFill>
                <a:latin typeface="Trebuchet MS"/>
                <a:cs typeface="Trebuchet MS"/>
              </a:rPr>
              <a:t>Bases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70" dirty="0">
                <a:solidFill>
                  <a:srgbClr val="FFFFFF"/>
                </a:solidFill>
                <a:latin typeface="Trebuchet MS"/>
                <a:cs typeface="Trebuchet MS"/>
              </a:rPr>
              <a:t>Datos</a:t>
            </a:r>
            <a:r>
              <a:rPr sz="2000" b="1" spc="-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Administración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Base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994918"/>
            <a:ext cx="6009132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25" dirty="0">
                <a:solidFill>
                  <a:srgbClr val="000000"/>
                </a:solidFill>
              </a:rPr>
              <a:t>Desarrollo </a:t>
            </a:r>
            <a:r>
              <a:rPr sz="2600" spc="-155" dirty="0">
                <a:solidFill>
                  <a:srgbClr val="000000"/>
                </a:solidFill>
              </a:rPr>
              <a:t>de </a:t>
            </a:r>
            <a:r>
              <a:rPr sz="2600" spc="-110" dirty="0">
                <a:solidFill>
                  <a:srgbClr val="000000"/>
                </a:solidFill>
              </a:rPr>
              <a:t>Bases </a:t>
            </a:r>
            <a:r>
              <a:rPr sz="2600" spc="-155" dirty="0">
                <a:solidFill>
                  <a:srgbClr val="000000"/>
                </a:solidFill>
              </a:rPr>
              <a:t>de</a:t>
            </a:r>
            <a:r>
              <a:rPr lang="es-AR" sz="2600" spc="-155" dirty="0">
                <a:solidFill>
                  <a:srgbClr val="000000"/>
                </a:solidFill>
              </a:rPr>
              <a:t> Datos</a:t>
            </a:r>
            <a:endParaRPr sz="2600" dirty="0"/>
          </a:p>
        </p:txBody>
      </p:sp>
      <p:sp>
        <p:nvSpPr>
          <p:cNvPr id="4" name="object 4"/>
          <p:cNvSpPr txBox="1"/>
          <p:nvPr/>
        </p:nvSpPr>
        <p:spPr>
          <a:xfrm>
            <a:off x="224790" y="1447800"/>
            <a:ext cx="8614410" cy="502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600" b="1" spc="-145" dirty="0">
                <a:latin typeface="Trebuchet MS"/>
                <a:cs typeface="Trebuchet MS"/>
              </a:rPr>
              <a:t>Planeamiento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04" dirty="0">
                <a:latin typeface="Trebuchet MS"/>
                <a:cs typeface="Trebuchet MS"/>
              </a:rPr>
              <a:t> </a:t>
            </a:r>
            <a:r>
              <a:rPr sz="2600" b="1" spc="-100" dirty="0">
                <a:latin typeface="Trebuchet MS"/>
                <a:cs typeface="Trebuchet MS"/>
              </a:rPr>
              <a:t>Datos</a:t>
            </a:r>
            <a:endParaRPr sz="2600" dirty="0">
              <a:latin typeface="Trebuchet MS"/>
              <a:cs typeface="Trebuchet MS"/>
            </a:endParaRPr>
          </a:p>
          <a:p>
            <a:pPr marL="817880" lvl="1" indent="-288290">
              <a:lnSpc>
                <a:spcPts val="2630"/>
              </a:lnSpc>
              <a:spcBef>
                <a:spcPts val="25"/>
              </a:spcBef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2200" spc="-100" dirty="0">
                <a:latin typeface="Arial"/>
                <a:cs typeface="Arial"/>
              </a:rPr>
              <a:t>Desarrolla </a:t>
            </a:r>
            <a:r>
              <a:rPr sz="2200" spc="-70" dirty="0">
                <a:latin typeface="Arial"/>
                <a:cs typeface="Arial"/>
              </a:rPr>
              <a:t>un </a:t>
            </a:r>
            <a:r>
              <a:rPr sz="2200" spc="-65" dirty="0">
                <a:latin typeface="Arial"/>
                <a:cs typeface="Arial"/>
              </a:rPr>
              <a:t>modelo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25" dirty="0">
                <a:latin typeface="Arial"/>
                <a:cs typeface="Arial"/>
              </a:rPr>
              <a:t>procesos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31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negocio;</a:t>
            </a:r>
            <a:endParaRPr sz="2200" dirty="0">
              <a:latin typeface="Arial"/>
              <a:cs typeface="Arial"/>
            </a:endParaRPr>
          </a:p>
          <a:p>
            <a:pPr marL="527050" indent="-514350">
              <a:lnSpc>
                <a:spcPts val="311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60" dirty="0">
                <a:latin typeface="Trebuchet MS"/>
                <a:cs typeface="Trebuchet MS"/>
              </a:rPr>
              <a:t>Especificación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04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Requerimientos</a:t>
            </a:r>
            <a:endParaRPr sz="2600" dirty="0">
              <a:latin typeface="Trebuchet MS"/>
              <a:cs typeface="Trebuchet MS"/>
            </a:endParaRPr>
          </a:p>
          <a:p>
            <a:pPr marL="817880" marR="5080" lvl="1" indent="-28829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817880" algn="l"/>
                <a:tab pos="818515" algn="l"/>
                <a:tab pos="1727200" algn="l"/>
                <a:tab pos="3283585" algn="l"/>
                <a:tab pos="3735704" algn="l"/>
                <a:tab pos="5266055" algn="l"/>
                <a:tab pos="5718175" algn="l"/>
                <a:tab pos="6203315" algn="l"/>
                <a:tab pos="7322184" algn="l"/>
                <a:tab pos="8250555" algn="l"/>
              </a:tabLst>
            </a:pPr>
            <a:r>
              <a:rPr sz="2200" spc="-210" dirty="0">
                <a:latin typeface="Arial"/>
                <a:cs typeface="Arial"/>
              </a:rPr>
              <a:t>D</a:t>
            </a:r>
            <a:r>
              <a:rPr sz="2200" spc="-180" dirty="0">
                <a:latin typeface="Arial"/>
                <a:cs typeface="Arial"/>
              </a:rPr>
              <a:t>e</a:t>
            </a:r>
            <a:r>
              <a:rPr sz="2200" spc="35" dirty="0">
                <a:latin typeface="Arial"/>
                <a:cs typeface="Arial"/>
              </a:rPr>
              <a:t>f</a:t>
            </a:r>
            <a:r>
              <a:rPr sz="2200" spc="20" dirty="0">
                <a:latin typeface="Arial"/>
                <a:cs typeface="Arial"/>
              </a:rPr>
              <a:t>i</a:t>
            </a:r>
            <a:r>
              <a:rPr sz="2200" spc="-105" dirty="0">
                <a:latin typeface="Arial"/>
                <a:cs typeface="Arial"/>
              </a:rPr>
              <a:t>n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40" dirty="0">
                <a:latin typeface="Arial"/>
                <a:cs typeface="Arial"/>
              </a:rPr>
              <a:t>neces</a:t>
            </a:r>
            <a:r>
              <a:rPr sz="2200" spc="-65" dirty="0">
                <a:latin typeface="Arial"/>
                <a:cs typeface="Arial"/>
              </a:rPr>
              <a:t>i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155" dirty="0">
                <a:latin typeface="Arial"/>
                <a:cs typeface="Arial"/>
              </a:rPr>
              <a:t>de</a:t>
            </a:r>
            <a:r>
              <a:rPr sz="2200" spc="-13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85" dirty="0">
                <a:latin typeface="Arial"/>
                <a:cs typeface="Arial"/>
              </a:rPr>
              <a:t>n</a:t>
            </a:r>
            <a:r>
              <a:rPr sz="2200" spc="10" dirty="0">
                <a:latin typeface="Arial"/>
                <a:cs typeface="Arial"/>
              </a:rPr>
              <a:t>f</a:t>
            </a:r>
            <a:r>
              <a:rPr sz="2200" spc="-75" dirty="0">
                <a:latin typeface="Arial"/>
                <a:cs typeface="Arial"/>
              </a:rPr>
              <a:t>orm</a:t>
            </a:r>
            <a:r>
              <a:rPr sz="2200" spc="-80" dirty="0">
                <a:latin typeface="Arial"/>
                <a:cs typeface="Arial"/>
              </a:rPr>
              <a:t>a</a:t>
            </a:r>
            <a:r>
              <a:rPr sz="2200" spc="-110" dirty="0">
                <a:latin typeface="Arial"/>
                <a:cs typeface="Arial"/>
              </a:rPr>
              <a:t>c</a:t>
            </a:r>
            <a:r>
              <a:rPr sz="2200" spc="-60" dirty="0">
                <a:latin typeface="Arial"/>
                <a:cs typeface="Arial"/>
              </a:rPr>
              <a:t>i</a:t>
            </a:r>
            <a:r>
              <a:rPr sz="2200" spc="-70" dirty="0">
                <a:latin typeface="Arial"/>
                <a:cs typeface="Arial"/>
              </a:rPr>
              <a:t>ó</a:t>
            </a:r>
            <a:r>
              <a:rPr sz="2200" spc="-65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95" dirty="0">
                <a:latin typeface="Arial"/>
                <a:cs typeface="Arial"/>
              </a:rPr>
              <a:t>lo</a:t>
            </a:r>
            <a:r>
              <a:rPr sz="2200" spc="-114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40" dirty="0">
                <a:latin typeface="Arial"/>
                <a:cs typeface="Arial"/>
              </a:rPr>
              <a:t>usu</a:t>
            </a:r>
            <a:r>
              <a:rPr sz="2200" spc="-150" dirty="0">
                <a:latin typeface="Arial"/>
                <a:cs typeface="Arial"/>
              </a:rPr>
              <a:t>a</a:t>
            </a:r>
            <a:r>
              <a:rPr sz="2200" spc="30" dirty="0">
                <a:latin typeface="Arial"/>
                <a:cs typeface="Arial"/>
              </a:rPr>
              <a:t>r</a:t>
            </a:r>
            <a:r>
              <a:rPr sz="2200" spc="10" dirty="0">
                <a:latin typeface="Arial"/>
                <a:cs typeface="Arial"/>
              </a:rPr>
              <a:t>i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95" dirty="0">
                <a:latin typeface="Arial"/>
                <a:cs typeface="Arial"/>
              </a:rPr>
              <a:t>de</a:t>
            </a:r>
            <a:r>
              <a:rPr sz="2200" spc="-110" dirty="0">
                <a:latin typeface="Arial"/>
                <a:cs typeface="Arial"/>
              </a:rPr>
              <a:t>n</a:t>
            </a:r>
            <a:r>
              <a:rPr sz="2200" spc="70" dirty="0">
                <a:latin typeface="Arial"/>
                <a:cs typeface="Arial"/>
              </a:rPr>
              <a:t>t</a:t>
            </a:r>
            <a:r>
              <a:rPr sz="2200" spc="35" dirty="0">
                <a:latin typeface="Arial"/>
                <a:cs typeface="Arial"/>
              </a:rPr>
              <a:t>r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5" dirty="0">
                <a:latin typeface="Arial"/>
                <a:cs typeface="Arial"/>
              </a:rPr>
              <a:t>del  </a:t>
            </a:r>
            <a:r>
              <a:rPr sz="2200" spc="-110" dirty="0">
                <a:latin typeface="Arial"/>
                <a:cs typeface="Arial"/>
              </a:rPr>
              <a:t>proceso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3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negocio;</a:t>
            </a:r>
            <a:endParaRPr sz="2200" dirty="0">
              <a:latin typeface="Arial"/>
              <a:cs typeface="Arial"/>
            </a:endParaRPr>
          </a:p>
          <a:p>
            <a:pPr marL="527050" indent="-514350">
              <a:lnSpc>
                <a:spcPts val="31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14" dirty="0">
                <a:latin typeface="Trebuchet MS"/>
                <a:cs typeface="Trebuchet MS"/>
              </a:rPr>
              <a:t>Diseño</a:t>
            </a:r>
            <a:r>
              <a:rPr sz="2600" b="1" spc="-185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conceptual</a:t>
            </a:r>
            <a:endParaRPr sz="2600" dirty="0">
              <a:latin typeface="Trebuchet MS"/>
              <a:cs typeface="Trebuchet MS"/>
            </a:endParaRPr>
          </a:p>
          <a:p>
            <a:pPr marL="817880" marR="6350" lvl="1" indent="-28829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2200" spc="-170" dirty="0">
                <a:latin typeface="Arial"/>
                <a:cs typeface="Arial"/>
              </a:rPr>
              <a:t>Expresa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65" dirty="0">
                <a:latin typeface="Arial"/>
                <a:cs typeface="Arial"/>
              </a:rPr>
              <a:t>requerimientos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60" dirty="0">
                <a:latin typeface="Arial"/>
                <a:cs typeface="Arial"/>
              </a:rPr>
              <a:t>información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70" dirty="0">
                <a:latin typeface="Arial"/>
                <a:cs typeface="Arial"/>
              </a:rPr>
              <a:t>un </a:t>
            </a:r>
            <a:r>
              <a:rPr sz="2200" spc="-65" dirty="0">
                <a:latin typeface="Arial"/>
                <a:cs typeface="Arial"/>
              </a:rPr>
              <a:t>modelo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35" dirty="0">
                <a:latin typeface="Arial"/>
                <a:cs typeface="Arial"/>
              </a:rPr>
              <a:t>alto  </a:t>
            </a:r>
            <a:r>
              <a:rPr sz="2200" spc="-55" dirty="0">
                <a:latin typeface="Arial"/>
                <a:cs typeface="Arial"/>
              </a:rPr>
              <a:t>nivel;</a:t>
            </a:r>
            <a:endParaRPr sz="2200" dirty="0">
              <a:latin typeface="Arial"/>
              <a:cs typeface="Arial"/>
            </a:endParaRPr>
          </a:p>
          <a:p>
            <a:pPr marL="527050" indent="-514350">
              <a:lnSpc>
                <a:spcPts val="31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14" dirty="0">
                <a:latin typeface="Trebuchet MS"/>
                <a:cs typeface="Trebuchet MS"/>
              </a:rPr>
              <a:t>Diseño</a:t>
            </a:r>
            <a:r>
              <a:rPr sz="2600" b="1" spc="-185" dirty="0">
                <a:latin typeface="Trebuchet MS"/>
                <a:cs typeface="Trebuchet MS"/>
              </a:rPr>
              <a:t> </a:t>
            </a:r>
            <a:r>
              <a:rPr sz="2600" b="1" spc="-130" dirty="0">
                <a:latin typeface="Trebuchet MS"/>
                <a:cs typeface="Trebuchet MS"/>
              </a:rPr>
              <a:t>lógico</a:t>
            </a:r>
            <a:endParaRPr sz="2600" dirty="0">
              <a:latin typeface="Trebuchet MS"/>
              <a:cs typeface="Trebuchet MS"/>
            </a:endParaRPr>
          </a:p>
          <a:p>
            <a:pPr marL="817880" marR="6350" lvl="1" indent="-28829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2200" spc="-155" dirty="0">
                <a:latin typeface="Arial"/>
                <a:cs typeface="Arial"/>
              </a:rPr>
              <a:t>Traduce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00" dirty="0">
                <a:latin typeface="Arial"/>
                <a:cs typeface="Arial"/>
              </a:rPr>
              <a:t>diseño </a:t>
            </a:r>
            <a:r>
              <a:rPr sz="2200" spc="-85" dirty="0">
                <a:latin typeface="Arial"/>
                <a:cs typeface="Arial"/>
              </a:rPr>
              <a:t>conceptual </a:t>
            </a:r>
            <a:r>
              <a:rPr sz="2200" spc="-80" dirty="0">
                <a:latin typeface="Arial"/>
                <a:cs typeface="Arial"/>
              </a:rPr>
              <a:t>al </a:t>
            </a:r>
            <a:r>
              <a:rPr sz="2200" spc="-65" dirty="0">
                <a:latin typeface="Arial"/>
                <a:cs typeface="Arial"/>
              </a:rPr>
              <a:t>modelo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datos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0" dirty="0">
                <a:latin typeface="Arial"/>
                <a:cs typeface="Arial"/>
              </a:rPr>
              <a:t>un </a:t>
            </a:r>
            <a:r>
              <a:rPr sz="2200" spc="-110" dirty="0">
                <a:latin typeface="Arial"/>
                <a:cs typeface="Arial"/>
              </a:rPr>
              <a:t>sistema </a:t>
            </a:r>
            <a:r>
              <a:rPr sz="2200" spc="-105" dirty="0">
                <a:latin typeface="Arial"/>
                <a:cs typeface="Arial"/>
              </a:rPr>
              <a:t>de  </a:t>
            </a:r>
            <a:r>
              <a:rPr sz="2200" spc="-75" dirty="0">
                <a:latin typeface="Arial"/>
                <a:cs typeface="Arial"/>
              </a:rPr>
              <a:t>administración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80" dirty="0">
                <a:latin typeface="Arial"/>
                <a:cs typeface="Arial"/>
              </a:rPr>
              <a:t> </a:t>
            </a:r>
            <a:r>
              <a:rPr sz="2200" spc="-210" dirty="0">
                <a:latin typeface="Arial"/>
                <a:cs typeface="Arial"/>
              </a:rPr>
              <a:t>BBDD;</a:t>
            </a:r>
            <a:endParaRPr sz="2200" dirty="0">
              <a:latin typeface="Arial"/>
              <a:cs typeface="Arial"/>
            </a:endParaRPr>
          </a:p>
          <a:p>
            <a:pPr marL="527050" indent="-514350">
              <a:lnSpc>
                <a:spcPts val="31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14" dirty="0">
                <a:latin typeface="Trebuchet MS"/>
                <a:cs typeface="Trebuchet MS"/>
              </a:rPr>
              <a:t>Diseño</a:t>
            </a:r>
            <a:r>
              <a:rPr sz="2600" b="1" spc="-185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físico</a:t>
            </a:r>
            <a:endParaRPr sz="2600" dirty="0">
              <a:latin typeface="Trebuchet MS"/>
              <a:cs typeface="Trebuchet MS"/>
            </a:endParaRPr>
          </a:p>
          <a:p>
            <a:pPr marL="817880" marR="5080" lvl="1" indent="-28829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817880" algn="l"/>
                <a:tab pos="818515" algn="l"/>
                <a:tab pos="2203450" algn="l"/>
                <a:tab pos="2691765" algn="l"/>
                <a:tab pos="4147185" algn="l"/>
                <a:tab pos="4614545" algn="l"/>
                <a:tab pos="6696075" algn="l"/>
                <a:tab pos="7163434" algn="l"/>
                <a:tab pos="7970520" algn="l"/>
                <a:tab pos="8278495" algn="l"/>
              </a:tabLst>
            </a:pPr>
            <a:r>
              <a:rPr sz="2200" spc="-210" dirty="0">
                <a:latin typeface="Arial"/>
                <a:cs typeface="Arial"/>
              </a:rPr>
              <a:t>D</a:t>
            </a:r>
            <a:r>
              <a:rPr sz="2200" spc="-170" dirty="0">
                <a:latin typeface="Arial"/>
                <a:cs typeface="Arial"/>
              </a:rPr>
              <a:t>e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45" dirty="0">
                <a:latin typeface="Arial"/>
                <a:cs typeface="Arial"/>
              </a:rPr>
              <a:t>erm</a:t>
            </a:r>
            <a:r>
              <a:rPr sz="2200" spc="-30" dirty="0">
                <a:latin typeface="Arial"/>
                <a:cs typeface="Arial"/>
              </a:rPr>
              <a:t>i</a:t>
            </a:r>
            <a:r>
              <a:rPr sz="2200" spc="-125" dirty="0">
                <a:latin typeface="Arial"/>
                <a:cs typeface="Arial"/>
              </a:rPr>
              <a:t>n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l</a:t>
            </a:r>
            <a:r>
              <a:rPr sz="2200" spc="-204" dirty="0">
                <a:latin typeface="Arial"/>
                <a:cs typeface="Arial"/>
              </a:rPr>
              <a:t>as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5" dirty="0">
                <a:latin typeface="Arial"/>
                <a:cs typeface="Arial"/>
              </a:rPr>
              <a:t>es</a:t>
            </a:r>
            <a:r>
              <a:rPr sz="2200" spc="20" dirty="0">
                <a:latin typeface="Arial"/>
                <a:cs typeface="Arial"/>
              </a:rPr>
              <a:t>tr</a:t>
            </a:r>
            <a:r>
              <a:rPr sz="2200" spc="30" dirty="0">
                <a:latin typeface="Arial"/>
                <a:cs typeface="Arial"/>
              </a:rPr>
              <a:t>u</a:t>
            </a:r>
            <a:r>
              <a:rPr sz="2200" spc="-30" dirty="0">
                <a:latin typeface="Arial"/>
                <a:cs typeface="Arial"/>
              </a:rPr>
              <a:t>ct</a:t>
            </a:r>
            <a:r>
              <a:rPr sz="2200" spc="-85" dirty="0">
                <a:latin typeface="Arial"/>
                <a:cs typeface="Arial"/>
              </a:rPr>
              <a:t>u</a:t>
            </a:r>
            <a:r>
              <a:rPr sz="2200" spc="-15" dirty="0">
                <a:latin typeface="Arial"/>
                <a:cs typeface="Arial"/>
              </a:rPr>
              <a:t>r</a:t>
            </a:r>
            <a:r>
              <a:rPr sz="2200" spc="-204" dirty="0">
                <a:latin typeface="Arial"/>
                <a:cs typeface="Arial"/>
              </a:rPr>
              <a:t>as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d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alm</a:t>
            </a:r>
            <a:r>
              <a:rPr sz="2200" spc="-114" dirty="0">
                <a:latin typeface="Arial"/>
                <a:cs typeface="Arial"/>
              </a:rPr>
              <a:t>a</a:t>
            </a:r>
            <a:r>
              <a:rPr sz="2200" spc="-120" dirty="0">
                <a:latin typeface="Arial"/>
                <a:cs typeface="Arial"/>
              </a:rPr>
              <a:t>ce</a:t>
            </a:r>
            <a:r>
              <a:rPr sz="2200" spc="-145" dirty="0">
                <a:latin typeface="Arial"/>
                <a:cs typeface="Arial"/>
              </a:rPr>
              <a:t>n</a:t>
            </a:r>
            <a:r>
              <a:rPr sz="2200" spc="-100" dirty="0">
                <a:latin typeface="Arial"/>
                <a:cs typeface="Arial"/>
              </a:rPr>
              <a:t>am</a:t>
            </a:r>
            <a:r>
              <a:rPr sz="2200" spc="-45" dirty="0">
                <a:latin typeface="Arial"/>
                <a:cs typeface="Arial"/>
              </a:rPr>
              <a:t>i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spc="-114" dirty="0">
                <a:latin typeface="Arial"/>
                <a:cs typeface="Arial"/>
              </a:rPr>
              <a:t>n</a:t>
            </a:r>
            <a:r>
              <a:rPr sz="2200" spc="95" dirty="0">
                <a:latin typeface="Arial"/>
                <a:cs typeface="Arial"/>
              </a:rPr>
              <a:t>t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45" dirty="0">
                <a:latin typeface="Arial"/>
                <a:cs typeface="Arial"/>
              </a:rPr>
              <a:t>a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y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5" dirty="0">
                <a:latin typeface="Arial"/>
                <a:cs typeface="Arial"/>
              </a:rPr>
              <a:t>los  </a:t>
            </a:r>
            <a:r>
              <a:rPr sz="2200" spc="-80" dirty="0">
                <a:latin typeface="Arial"/>
                <a:cs typeface="Arial"/>
              </a:rPr>
              <a:t>métodos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55" dirty="0">
                <a:latin typeface="Arial"/>
                <a:cs typeface="Arial"/>
              </a:rPr>
              <a:t> </a:t>
            </a:r>
            <a:r>
              <a:rPr sz="2200" spc="-145" dirty="0">
                <a:latin typeface="Arial"/>
                <a:cs typeface="Arial"/>
              </a:rPr>
              <a:t>acceso.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2125" y="1102360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25" dirty="0">
                <a:solidFill>
                  <a:srgbClr val="00338D"/>
                </a:solidFill>
                <a:latin typeface="Trebuchet MS"/>
                <a:cs typeface="Trebuchet MS"/>
              </a:rPr>
              <a:t>Síntesis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6342" y="193801"/>
            <a:ext cx="8641080" cy="3838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110" dirty="0">
                <a:latin typeface="Arial"/>
                <a:cs typeface="Arial"/>
              </a:rPr>
              <a:t>cuál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95" dirty="0">
                <a:latin typeface="Arial"/>
                <a:cs typeface="Arial"/>
              </a:rPr>
              <a:t>relevancia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85" dirty="0">
                <a:latin typeface="Arial"/>
                <a:cs typeface="Arial"/>
              </a:rPr>
              <a:t>concepto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25" dirty="0">
                <a:latin typeface="Arial"/>
                <a:cs typeface="Arial"/>
              </a:rPr>
              <a:t>Base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30" dirty="0">
                <a:latin typeface="Arial"/>
                <a:cs typeface="Arial"/>
              </a:rPr>
              <a:t>Datos  </a:t>
            </a:r>
            <a:r>
              <a:rPr sz="2400" spc="-110" dirty="0">
                <a:latin typeface="Arial"/>
                <a:cs typeface="Arial"/>
              </a:rPr>
              <a:t>para </a:t>
            </a:r>
            <a:r>
              <a:rPr sz="2400" spc="-85" dirty="0">
                <a:latin typeface="Arial"/>
                <a:cs typeface="Arial"/>
              </a:rPr>
              <a:t>la gestión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spc="-28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organizaciones.</a:t>
            </a:r>
            <a:endParaRPr sz="2400">
              <a:latin typeface="Arial"/>
              <a:cs typeface="Arial"/>
            </a:endParaRPr>
          </a:p>
          <a:p>
            <a:pPr marL="279400" marR="698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2154555" algn="l"/>
                <a:tab pos="2696210" algn="l"/>
                <a:tab pos="4161154" algn="l"/>
                <a:tab pos="6219825" algn="l"/>
                <a:tab pos="6885940" algn="l"/>
                <a:tab pos="8404225" algn="l"/>
              </a:tabLst>
            </a:pPr>
            <a:r>
              <a:rPr sz="2400" spc="-70" dirty="0">
                <a:latin typeface="Arial"/>
                <a:cs typeface="Arial"/>
              </a:rPr>
              <a:t>Identificamos	</a:t>
            </a:r>
            <a:r>
              <a:rPr sz="2400" spc="-15" dirty="0">
                <a:latin typeface="Arial"/>
                <a:cs typeface="Arial"/>
              </a:rPr>
              <a:t>l</a:t>
            </a:r>
            <a:r>
              <a:rPr sz="2400" spc="-55" dirty="0">
                <a:latin typeface="Arial"/>
                <a:cs typeface="Arial"/>
              </a:rPr>
              <a:t>o</a:t>
            </a:r>
            <a:r>
              <a:rPr sz="2400" spc="-26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35" dirty="0">
                <a:latin typeface="Arial"/>
                <a:cs typeface="Arial"/>
              </a:rPr>
              <a:t>conc</a:t>
            </a:r>
            <a:r>
              <a:rPr sz="2400" spc="-85" dirty="0">
                <a:latin typeface="Arial"/>
                <a:cs typeface="Arial"/>
              </a:rPr>
              <a:t>eptos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0" dirty="0">
                <a:latin typeface="Arial"/>
                <a:cs typeface="Arial"/>
              </a:rPr>
              <a:t>fun</a:t>
            </a:r>
            <a:r>
              <a:rPr sz="2400" spc="-105" dirty="0">
                <a:latin typeface="Arial"/>
                <a:cs typeface="Arial"/>
              </a:rPr>
              <a:t>damentale</a:t>
            </a:r>
            <a:r>
              <a:rPr sz="2400" spc="-10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qu</a:t>
            </a:r>
            <a:r>
              <a:rPr sz="2400" spc="-10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co</a:t>
            </a:r>
            <a:r>
              <a:rPr sz="2400" spc="-165" dirty="0">
                <a:latin typeface="Arial"/>
                <a:cs typeface="Arial"/>
              </a:rPr>
              <a:t>m</a:t>
            </a:r>
            <a:r>
              <a:rPr sz="2400" spc="-95" dirty="0">
                <a:latin typeface="Arial"/>
                <a:cs typeface="Arial"/>
              </a:rPr>
              <a:t>pone</a:t>
            </a:r>
            <a:r>
              <a:rPr sz="2400" spc="-9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60" dirty="0">
                <a:latin typeface="Arial"/>
                <a:cs typeface="Arial"/>
              </a:rPr>
              <a:t>el  </a:t>
            </a:r>
            <a:r>
              <a:rPr sz="2400" spc="-40" dirty="0">
                <a:latin typeface="Arial"/>
                <a:cs typeface="Arial"/>
              </a:rPr>
              <a:t>entorno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70" dirty="0">
                <a:latin typeface="Arial"/>
                <a:cs typeface="Arial"/>
              </a:rPr>
              <a:t>ambiente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25" dirty="0">
                <a:latin typeface="Arial"/>
                <a:cs typeface="Arial"/>
              </a:rPr>
              <a:t>Base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Datos.</a:t>
            </a:r>
            <a:endParaRPr sz="24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35" dirty="0">
                <a:latin typeface="Arial"/>
                <a:cs typeface="Arial"/>
              </a:rPr>
              <a:t>Clasificamos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14" dirty="0">
                <a:latin typeface="Arial"/>
                <a:cs typeface="Arial"/>
              </a:rPr>
              <a:t>diversos </a:t>
            </a:r>
            <a:r>
              <a:rPr sz="2400" spc="-50" dirty="0">
                <a:latin typeface="Arial"/>
                <a:cs typeface="Arial"/>
              </a:rPr>
              <a:t>tipos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25" dirty="0">
                <a:latin typeface="Arial"/>
                <a:cs typeface="Arial"/>
              </a:rPr>
              <a:t>Base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Datos.</a:t>
            </a:r>
            <a:endParaRPr sz="2400">
              <a:latin typeface="Arial"/>
              <a:cs typeface="Arial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848485" algn="l"/>
              </a:tabLst>
            </a:pPr>
            <a:r>
              <a:rPr sz="2400" spc="-130" dirty="0">
                <a:latin typeface="Arial"/>
                <a:cs typeface="Arial"/>
              </a:rPr>
              <a:t>Analizamos	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85" dirty="0">
                <a:latin typeface="Arial"/>
                <a:cs typeface="Arial"/>
              </a:rPr>
              <a:t>concepto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60" dirty="0">
                <a:latin typeface="Arial"/>
                <a:cs typeface="Arial"/>
              </a:rPr>
              <a:t>software </a:t>
            </a:r>
            <a:r>
              <a:rPr sz="2400" spc="-105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administración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25" dirty="0">
                <a:latin typeface="Arial"/>
                <a:cs typeface="Arial"/>
              </a:rPr>
              <a:t>Base </a:t>
            </a:r>
            <a:r>
              <a:rPr sz="2400" spc="-114" dirty="0">
                <a:latin typeface="Arial"/>
                <a:cs typeface="Arial"/>
              </a:rPr>
              <a:t>de  </a:t>
            </a:r>
            <a:r>
              <a:rPr sz="2400" spc="-120" dirty="0">
                <a:latin typeface="Arial"/>
                <a:cs typeface="Arial"/>
              </a:rPr>
              <a:t>Datos.</a:t>
            </a:r>
            <a:endParaRPr sz="24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20" dirty="0">
                <a:latin typeface="Arial"/>
                <a:cs typeface="Arial"/>
              </a:rPr>
              <a:t>etapas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40" dirty="0">
                <a:latin typeface="Arial"/>
                <a:cs typeface="Arial"/>
              </a:rPr>
              <a:t>Ciclo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Desarrollo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20" dirty="0">
                <a:latin typeface="Arial"/>
                <a:cs typeface="Arial"/>
              </a:rPr>
              <a:t>Base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Datos.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19824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0" dirty="0"/>
              <a:t>Síntesis</a:t>
            </a:r>
            <a:r>
              <a:rPr spc="-30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s-ES" b="1" spc="-5" dirty="0">
                <a:latin typeface="Arial"/>
                <a:cs typeface="Arial"/>
              </a:rPr>
              <a:t>2020</a:t>
            </a:r>
            <a:r>
              <a:rPr lang="es-ES" b="1" spc="-25" dirty="0">
                <a:latin typeface="Arial"/>
                <a:cs typeface="Arial"/>
              </a:rPr>
              <a:t> </a:t>
            </a:r>
            <a:r>
              <a:rPr lang="es-ES" b="1" spc="-5" dirty="0">
                <a:latin typeface="Arial"/>
                <a:cs typeface="Arial"/>
              </a:rPr>
              <a:t>Universidad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b="1" spc="5" dirty="0">
                <a:latin typeface="Arial"/>
                <a:cs typeface="Arial"/>
              </a:rPr>
              <a:t>Argentina</a:t>
            </a:r>
            <a:r>
              <a:rPr lang="es-ES" b="1" spc="-15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de</a:t>
            </a:r>
            <a:r>
              <a:rPr lang="es-ES" b="1" spc="-10" dirty="0">
                <a:latin typeface="Arial"/>
                <a:cs typeface="Arial"/>
              </a:rPr>
              <a:t> </a:t>
            </a:r>
            <a:r>
              <a:rPr lang="es-ES" b="1" dirty="0">
                <a:latin typeface="Arial"/>
                <a:cs typeface="Arial"/>
              </a:rPr>
              <a:t>la </a:t>
            </a:r>
            <a:r>
              <a:rPr lang="es-ES" b="1" spc="-10" dirty="0">
                <a:latin typeface="Arial"/>
                <a:cs typeface="Arial"/>
              </a:rPr>
              <a:t>Empresa</a:t>
            </a:r>
            <a:r>
              <a:rPr lang="es-ES" b="1" spc="-20" dirty="0">
                <a:latin typeface="Arial"/>
                <a:cs typeface="Arial"/>
              </a:rPr>
              <a:t> </a:t>
            </a:r>
            <a:r>
              <a:rPr lang="es-ES" spc="130" dirty="0"/>
              <a:t>–</a:t>
            </a:r>
            <a:r>
              <a:rPr lang="es-ES" spc="-25" dirty="0"/>
              <a:t> </a:t>
            </a:r>
            <a:r>
              <a:rPr lang="es-ES" spc="40" dirty="0" err="1"/>
              <a:t>Mag</a:t>
            </a:r>
            <a:r>
              <a:rPr lang="es-ES" spc="40" dirty="0"/>
              <a:t>.</a:t>
            </a:r>
            <a:r>
              <a:rPr lang="es-ES" spc="-30" dirty="0"/>
              <a:t> </a:t>
            </a:r>
            <a:r>
              <a:rPr lang="es-ES" spc="-5" dirty="0"/>
              <a:t>Javier F. Klus</a:t>
            </a:r>
            <a:r>
              <a:rPr lang="es-ES" spc="-30" dirty="0"/>
              <a:t>(jklus@uade.edu.ar)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6342" y="500126"/>
            <a:ext cx="8640445" cy="23750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170" dirty="0">
                <a:latin typeface="Arial"/>
                <a:cs typeface="Arial"/>
              </a:rPr>
              <a:t>base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datos?</a:t>
            </a:r>
            <a:endParaRPr sz="24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20" dirty="0" err="1">
                <a:latin typeface="Arial"/>
                <a:cs typeface="Arial"/>
              </a:rPr>
              <a:t>Explique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los conceptos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60" dirty="0">
                <a:latin typeface="Arial"/>
                <a:cs typeface="Arial"/>
              </a:rPr>
              <a:t>tabla, registro, </a:t>
            </a:r>
            <a:r>
              <a:rPr sz="2400" spc="-114" dirty="0">
                <a:latin typeface="Arial"/>
                <a:cs typeface="Arial"/>
              </a:rPr>
              <a:t>campo,</a:t>
            </a:r>
            <a:r>
              <a:rPr sz="2400" spc="-36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carácter.</a:t>
            </a:r>
            <a:endParaRPr sz="24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35" dirty="0">
                <a:latin typeface="Arial"/>
                <a:cs typeface="Arial"/>
              </a:rPr>
              <a:t>Describa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14" dirty="0">
                <a:latin typeface="Arial"/>
                <a:cs typeface="Arial"/>
              </a:rPr>
              <a:t>diversos </a:t>
            </a:r>
            <a:r>
              <a:rPr sz="2400" spc="-50" dirty="0">
                <a:latin typeface="Arial"/>
                <a:cs typeface="Arial"/>
              </a:rPr>
              <a:t>tipos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29" dirty="0">
                <a:latin typeface="Arial"/>
                <a:cs typeface="Arial"/>
              </a:rPr>
              <a:t>Bases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35" dirty="0">
                <a:latin typeface="Arial"/>
                <a:cs typeface="Arial"/>
              </a:rPr>
              <a:t>Datos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existentes.</a:t>
            </a:r>
            <a:endParaRPr sz="2400" dirty="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466215" algn="l"/>
                <a:tab pos="1935480" algn="l"/>
                <a:tab pos="3460750" algn="l"/>
                <a:tab pos="3907790" algn="l"/>
                <a:tab pos="5292725" algn="l"/>
                <a:tab pos="5738495" algn="l"/>
                <a:tab pos="7151370" algn="l"/>
                <a:tab pos="7596505" algn="l"/>
                <a:tab pos="8312784" algn="l"/>
              </a:tabLst>
            </a:pPr>
            <a:r>
              <a:rPr sz="2400" spc="-120" dirty="0" err="1">
                <a:latin typeface="Arial"/>
                <a:cs typeface="Arial"/>
              </a:rPr>
              <a:t>Expliqu</a:t>
            </a:r>
            <a:r>
              <a:rPr sz="2400" spc="-135" dirty="0" err="1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65" dirty="0">
                <a:latin typeface="Arial"/>
                <a:cs typeface="Arial"/>
              </a:rPr>
              <a:t>act</a:t>
            </a:r>
            <a:r>
              <a:rPr sz="2400" spc="-50" dirty="0">
                <a:latin typeface="Arial"/>
                <a:cs typeface="Arial"/>
              </a:rPr>
              <a:t>i</a:t>
            </a:r>
            <a:r>
              <a:rPr sz="2400" spc="-120" dirty="0">
                <a:latin typeface="Arial"/>
                <a:cs typeface="Arial"/>
              </a:rPr>
              <a:t>vidades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5" dirty="0">
                <a:latin typeface="Arial"/>
                <a:cs typeface="Arial"/>
              </a:rPr>
              <a:t>desarroll</a:t>
            </a:r>
            <a:r>
              <a:rPr sz="2400" spc="-9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Desarroll</a:t>
            </a:r>
            <a:r>
              <a:rPr sz="2400" spc="-1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0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25" dirty="0">
                <a:latin typeface="Arial"/>
                <a:cs typeface="Arial"/>
              </a:rPr>
              <a:t>Base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5" dirty="0">
                <a:latin typeface="Arial"/>
                <a:cs typeface="Arial"/>
              </a:rPr>
              <a:t>de  </a:t>
            </a:r>
            <a:r>
              <a:rPr sz="2400" spc="-120" dirty="0">
                <a:latin typeface="Arial"/>
                <a:cs typeface="Arial"/>
              </a:rPr>
              <a:t>Datos.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22288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0" dirty="0"/>
              <a:t>¿Dudas?</a:t>
            </a:r>
            <a:endParaRPr sz="3000" dirty="0"/>
          </a:p>
          <a:p>
            <a:pPr marL="12700">
              <a:lnSpc>
                <a:spcPct val="100000"/>
              </a:lnSpc>
            </a:pPr>
            <a:r>
              <a:rPr sz="3000" spc="-105" dirty="0"/>
              <a:t>¿Consultas?</a:t>
            </a:r>
            <a:endParaRPr sz="3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0058" y="48005"/>
            <a:ext cx="348043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495" dirty="0">
                <a:latin typeface="Arial"/>
                <a:cs typeface="Arial"/>
              </a:rPr>
              <a:t>Sistemas </a:t>
            </a:r>
            <a:r>
              <a:rPr sz="5400" i="1" spc="-400" dirty="0">
                <a:latin typeface="Arial"/>
                <a:cs typeface="Arial"/>
              </a:rPr>
              <a:t>de  </a:t>
            </a:r>
            <a:r>
              <a:rPr sz="5400" i="1" spc="-340" dirty="0">
                <a:latin typeface="Arial"/>
                <a:cs typeface="Arial"/>
              </a:rPr>
              <a:t>Información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196" y="2004060"/>
            <a:ext cx="2464308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677" y="2394204"/>
            <a:ext cx="3678174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677" y="2668523"/>
            <a:ext cx="1454658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0725" y="2070100"/>
            <a:ext cx="3348990" cy="196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55" dirty="0">
                <a:solidFill>
                  <a:srgbClr val="FFFFFF"/>
                </a:solidFill>
                <a:latin typeface="Arial"/>
                <a:cs typeface="Arial"/>
              </a:rPr>
              <a:t>Unidad </a:t>
            </a:r>
            <a:r>
              <a:rPr sz="2400" b="1" i="1" spc="-12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400" b="1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spc="-14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100" dirty="0">
                <a:solidFill>
                  <a:srgbClr val="FFFFFF"/>
                </a:solidFill>
                <a:latin typeface="Arial"/>
                <a:cs typeface="Arial"/>
              </a:rPr>
              <a:t>Infraestructura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140" dirty="0">
                <a:solidFill>
                  <a:srgbClr val="FFFFFF"/>
                </a:solidFill>
                <a:latin typeface="Arial"/>
                <a:cs typeface="Arial"/>
              </a:rPr>
              <a:t>Tecnología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5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1800" b="1" i="1" spc="-114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Mag. </a:t>
            </a:r>
            <a:r>
              <a:rPr lang="es-AR"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Javier F. Klus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 err="1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@uade.edu.ar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r>
              <a:rPr lang="es-AR"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600" y="44759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736854"/>
            <a:ext cx="2727198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789940"/>
            <a:ext cx="24269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Telecomunicaciones y</a:t>
            </a:r>
            <a:r>
              <a:rPr sz="1600" b="1" spc="-22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Redes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7795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12355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solidFill>
                  <a:srgbClr val="FFFFFF"/>
                </a:solidFill>
                <a:latin typeface="Trebuchet MS"/>
                <a:cs typeface="Trebuchet MS"/>
              </a:rPr>
              <a:t>Contenido </a:t>
            </a:r>
            <a:r>
              <a:rPr sz="3000" b="1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00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35" dirty="0">
                <a:solidFill>
                  <a:srgbClr val="FFFFFF"/>
                </a:solidFill>
                <a:latin typeface="Trebuchet MS"/>
                <a:cs typeface="Trebuchet MS"/>
              </a:rPr>
              <a:t>la  sesión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1210259"/>
            <a:ext cx="335661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Consideraciones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aplicaciones</a:t>
            </a:r>
            <a:r>
              <a:rPr sz="1400" b="1" spc="-14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clave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Conceptos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básicos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2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Telecomunicaciones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1855" y="1850644"/>
            <a:ext cx="261429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715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Componentes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funciones de</a:t>
            </a:r>
            <a:r>
              <a:rPr sz="1400" b="1" spc="-20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un 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sistema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3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Telecomunicaciones</a:t>
            </a:r>
            <a:endParaRPr sz="14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Protocolos,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señales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canales</a:t>
            </a:r>
            <a:r>
              <a:rPr sz="1400" b="1" spc="-21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 comunicación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Redes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5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Telecomunicaciones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94655" y="3024124"/>
            <a:ext cx="23380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3. </a:t>
            </a: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Internet,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Intranet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5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Extranet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40427" y="37341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0427" y="37341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03876" y="3827779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69204" y="4279772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46953" y="3802379"/>
            <a:ext cx="966977" cy="509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97829" y="3855720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Síntesis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93640" y="4381246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1.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Resumen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preguntas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repaso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0822" y="4457999"/>
            <a:ext cx="3697604" cy="1707514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610"/>
              </a:spcBef>
            </a:pPr>
            <a:r>
              <a:rPr sz="3000" b="1" spc="-4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3000">
              <a:latin typeface="Trebuchet MS"/>
              <a:cs typeface="Trebuchet MS"/>
            </a:endParaRPr>
          </a:p>
          <a:p>
            <a:pPr marL="1183005" marR="445770" indent="-1170940">
              <a:lnSpc>
                <a:spcPct val="100000"/>
              </a:lnSpc>
              <a:spcBef>
                <a:spcPts val="1410"/>
              </a:spcBef>
            </a:pPr>
            <a:r>
              <a:rPr sz="2800" b="1" spc="-175" dirty="0">
                <a:solidFill>
                  <a:srgbClr val="00338D"/>
                </a:solidFill>
                <a:latin typeface="Trebuchet MS"/>
                <a:cs typeface="Trebuchet MS"/>
              </a:rPr>
              <a:t>Telecomunicaciones</a:t>
            </a:r>
            <a:r>
              <a:rPr sz="2800" b="1" spc="-31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70" dirty="0">
                <a:solidFill>
                  <a:srgbClr val="00338D"/>
                </a:solidFill>
                <a:latin typeface="Trebuchet MS"/>
                <a:cs typeface="Trebuchet MS"/>
              </a:rPr>
              <a:t>y  </a:t>
            </a:r>
            <a:r>
              <a:rPr sz="2800" b="1" spc="-150" dirty="0">
                <a:solidFill>
                  <a:srgbClr val="00338D"/>
                </a:solidFill>
                <a:latin typeface="Trebuchet MS"/>
                <a:cs typeface="Trebuchet MS"/>
              </a:rPr>
              <a:t>Redes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52001" cy="28642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0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Redes</a:t>
            </a:r>
            <a:endParaRPr sz="2000" dirty="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Consideraciones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2700" marR="109855">
              <a:lnSpc>
                <a:spcPct val="100000"/>
              </a:lnSpc>
            </a:pPr>
            <a:r>
              <a:rPr lang="es-AR" sz="2600" b="1" spc="-225" dirty="0">
                <a:latin typeface="Trebuchet MS"/>
                <a:cs typeface="Trebuchet MS"/>
              </a:rPr>
              <a:t>¿Piensen en un negocio que les gustaría desarrollar, pero la única restricción es que en el mundo no existes las estructuras de comunicaciones y redes?</a:t>
            </a:r>
          </a:p>
          <a:p>
            <a:pPr marL="12700" marR="109855">
              <a:lnSpc>
                <a:spcPct val="100000"/>
              </a:lnSpc>
            </a:pPr>
            <a:r>
              <a:rPr lang="es-AR" sz="2600" b="1" spc="-225" dirty="0">
                <a:latin typeface="Trebuchet MS"/>
                <a:cs typeface="Trebuchet MS"/>
              </a:rPr>
              <a:t>¿Qué desarrollarían?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3792474"/>
            <a:ext cx="2895600" cy="2168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08953" y="3581400"/>
            <a:ext cx="2590800" cy="2590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lang="es-AR" spc="-5" dirty="0"/>
              <a:t>Javier F. Klus (jklus@uade.edu.ar</a:t>
            </a:r>
            <a:r>
              <a:rPr spc="-30" dirty="0"/>
              <a:t>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5278755" cy="5807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0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Redes</a:t>
            </a:r>
            <a:endParaRPr sz="2000" dirty="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Consideraciones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2700" marR="109855">
              <a:lnSpc>
                <a:spcPct val="100000"/>
              </a:lnSpc>
            </a:pPr>
            <a:r>
              <a:rPr sz="2600" b="1" spc="-225" dirty="0">
                <a:latin typeface="Trebuchet MS"/>
                <a:cs typeface="Trebuchet MS"/>
              </a:rPr>
              <a:t>La </a:t>
            </a:r>
            <a:r>
              <a:rPr sz="2600" b="1" spc="-140" dirty="0">
                <a:latin typeface="Trebuchet MS"/>
                <a:cs typeface="Trebuchet MS"/>
              </a:rPr>
              <a:t>mayoría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0" dirty="0">
                <a:latin typeface="Trebuchet MS"/>
                <a:cs typeface="Trebuchet MS"/>
              </a:rPr>
              <a:t>los </a:t>
            </a:r>
            <a:r>
              <a:rPr sz="2600" b="1" spc="-130" dirty="0">
                <a:latin typeface="Trebuchet MS"/>
                <a:cs typeface="Trebuchet MS"/>
              </a:rPr>
              <a:t>Sistemas </a:t>
            </a:r>
            <a:r>
              <a:rPr sz="2600" b="1" spc="-155" dirty="0">
                <a:latin typeface="Trebuchet MS"/>
                <a:cs typeface="Trebuchet MS"/>
              </a:rPr>
              <a:t>de  </a:t>
            </a:r>
            <a:r>
              <a:rPr sz="2600" b="1" spc="-135" dirty="0">
                <a:latin typeface="Trebuchet MS"/>
                <a:cs typeface="Trebuchet MS"/>
              </a:rPr>
              <a:t>Información </a:t>
            </a:r>
            <a:r>
              <a:rPr sz="2600" b="1" spc="-155" dirty="0">
                <a:latin typeface="Trebuchet MS"/>
                <a:cs typeface="Trebuchet MS"/>
              </a:rPr>
              <a:t>que </a:t>
            </a:r>
            <a:r>
              <a:rPr sz="2600" b="1" spc="-135" dirty="0">
                <a:latin typeface="Trebuchet MS"/>
                <a:cs typeface="Trebuchet MS"/>
              </a:rPr>
              <a:t>se </a:t>
            </a:r>
            <a:r>
              <a:rPr sz="2600" b="1" spc="-165" dirty="0">
                <a:latin typeface="Trebuchet MS"/>
                <a:cs typeface="Trebuchet MS"/>
              </a:rPr>
              <a:t>utilizan  actualmente, </a:t>
            </a:r>
            <a:r>
              <a:rPr sz="2600" b="1" spc="-175" dirty="0">
                <a:latin typeface="Trebuchet MS"/>
                <a:cs typeface="Trebuchet MS"/>
              </a:rPr>
              <a:t>requieren </a:t>
            </a:r>
            <a:r>
              <a:rPr sz="2600" b="1" spc="-140" dirty="0">
                <a:latin typeface="Trebuchet MS"/>
                <a:cs typeface="Trebuchet MS"/>
              </a:rPr>
              <a:t>tecnología </a:t>
            </a:r>
            <a:r>
              <a:rPr sz="2600" b="1" spc="-155" dirty="0">
                <a:latin typeface="Trebuchet MS"/>
                <a:cs typeface="Trebuchet MS"/>
              </a:rPr>
              <a:t>de  </a:t>
            </a:r>
            <a:r>
              <a:rPr sz="2600" b="1" spc="-160" dirty="0">
                <a:latin typeface="Trebuchet MS"/>
                <a:cs typeface="Trebuchet MS"/>
              </a:rPr>
              <a:t>redes y </a:t>
            </a:r>
            <a:r>
              <a:rPr sz="2600" b="1" spc="-150" dirty="0">
                <a:latin typeface="Trebuchet MS"/>
                <a:cs typeface="Trebuchet MS"/>
              </a:rPr>
              <a:t>de </a:t>
            </a:r>
            <a:r>
              <a:rPr sz="2600" b="1" spc="-160" dirty="0">
                <a:latin typeface="Trebuchet MS"/>
                <a:cs typeface="Trebuchet MS"/>
              </a:rPr>
              <a:t>telecomunicaciones. </a:t>
            </a:r>
            <a:r>
              <a:rPr sz="2600" b="1" spc="-175" dirty="0">
                <a:latin typeface="Trebuchet MS"/>
                <a:cs typeface="Trebuchet MS"/>
              </a:rPr>
              <a:t>Las  </a:t>
            </a:r>
            <a:r>
              <a:rPr sz="2600" b="1" spc="-145" dirty="0">
                <a:latin typeface="Trebuchet MS"/>
                <a:cs typeface="Trebuchet MS"/>
              </a:rPr>
              <a:t>empresas </a:t>
            </a:r>
            <a:r>
              <a:rPr sz="2600" b="1" spc="-135" dirty="0">
                <a:latin typeface="Trebuchet MS"/>
                <a:cs typeface="Trebuchet MS"/>
              </a:rPr>
              <a:t>se </a:t>
            </a:r>
            <a:r>
              <a:rPr sz="2600" b="1" spc="-145" dirty="0">
                <a:latin typeface="Trebuchet MS"/>
                <a:cs typeface="Trebuchet MS"/>
              </a:rPr>
              <a:t>están </a:t>
            </a:r>
            <a:r>
              <a:rPr sz="2600" b="1" spc="-155" dirty="0">
                <a:latin typeface="Trebuchet MS"/>
                <a:cs typeface="Trebuchet MS"/>
              </a:rPr>
              <a:t>convirtiendo </a:t>
            </a:r>
            <a:r>
              <a:rPr sz="2600" b="1" spc="-170" dirty="0">
                <a:latin typeface="Trebuchet MS"/>
                <a:cs typeface="Trebuchet MS"/>
              </a:rPr>
              <a:t>en  </a:t>
            </a:r>
            <a:r>
              <a:rPr sz="2600" b="1" spc="-145" dirty="0">
                <a:latin typeface="Trebuchet MS"/>
                <a:cs typeface="Trebuchet MS"/>
              </a:rPr>
              <a:t>empresas </a:t>
            </a:r>
            <a:r>
              <a:rPr sz="2600" b="1" spc="-160" dirty="0">
                <a:latin typeface="Trebuchet MS"/>
                <a:cs typeface="Trebuchet MS"/>
              </a:rPr>
              <a:t>interconectadas </a:t>
            </a:r>
            <a:r>
              <a:rPr sz="2600" b="1" spc="-170" dirty="0">
                <a:latin typeface="Trebuchet MS"/>
                <a:cs typeface="Trebuchet MS"/>
              </a:rPr>
              <a:t>en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b="1" spc="-200" dirty="0">
                <a:latin typeface="Trebuchet MS"/>
                <a:cs typeface="Trebuchet MS"/>
              </a:rPr>
              <a:t>red.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i="1" spc="-95" dirty="0">
                <a:solidFill>
                  <a:srgbClr val="00338D"/>
                </a:solidFill>
                <a:latin typeface="Trebuchet MS"/>
                <a:cs typeface="Trebuchet MS"/>
              </a:rPr>
              <a:t>Las </a:t>
            </a:r>
            <a:r>
              <a:rPr sz="2400" i="1" spc="-125" dirty="0">
                <a:solidFill>
                  <a:srgbClr val="00338D"/>
                </a:solidFill>
                <a:latin typeface="Trebuchet MS"/>
                <a:cs typeface="Trebuchet MS"/>
              </a:rPr>
              <a:t>redes </a:t>
            </a:r>
            <a:r>
              <a:rPr sz="2400" i="1" spc="-130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400" i="1" spc="-125" dirty="0">
                <a:solidFill>
                  <a:srgbClr val="00338D"/>
                </a:solidFill>
                <a:latin typeface="Trebuchet MS"/>
                <a:cs typeface="Trebuchet MS"/>
              </a:rPr>
              <a:t>telecomunicaciones </a:t>
            </a:r>
            <a:r>
              <a:rPr sz="2400" i="1" spc="-175" dirty="0">
                <a:solidFill>
                  <a:srgbClr val="00338D"/>
                </a:solidFill>
                <a:latin typeface="Trebuchet MS"/>
                <a:cs typeface="Trebuchet MS"/>
              </a:rPr>
              <a:t>(internet,  </a:t>
            </a:r>
            <a:r>
              <a:rPr sz="2400" i="1" spc="-125" dirty="0">
                <a:solidFill>
                  <a:srgbClr val="00338D"/>
                </a:solidFill>
                <a:latin typeface="Trebuchet MS"/>
                <a:cs typeface="Trebuchet MS"/>
              </a:rPr>
              <a:t>redes </a:t>
            </a:r>
            <a:r>
              <a:rPr sz="2400" i="1" spc="-130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400" i="1" spc="-114" dirty="0">
                <a:solidFill>
                  <a:srgbClr val="00338D"/>
                </a:solidFill>
                <a:latin typeface="Trebuchet MS"/>
                <a:cs typeface="Trebuchet MS"/>
              </a:rPr>
              <a:t>servicios </a:t>
            </a:r>
            <a:r>
              <a:rPr sz="2400" i="1" spc="-30" dirty="0">
                <a:solidFill>
                  <a:srgbClr val="00338D"/>
                </a:solidFill>
                <a:latin typeface="Trebuchet MS"/>
                <a:cs typeface="Trebuchet MS"/>
              </a:rPr>
              <a:t>a </a:t>
            </a:r>
            <a:r>
              <a:rPr sz="2400" i="1" spc="-165" dirty="0">
                <a:solidFill>
                  <a:srgbClr val="00338D"/>
                </a:solidFill>
                <a:latin typeface="Trebuchet MS"/>
                <a:cs typeface="Trebuchet MS"/>
              </a:rPr>
              <a:t>clientes, </a:t>
            </a:r>
            <a:r>
              <a:rPr sz="2400" i="1" spc="-130" dirty="0">
                <a:solidFill>
                  <a:srgbClr val="00338D"/>
                </a:solidFill>
                <a:latin typeface="Trebuchet MS"/>
                <a:cs typeface="Trebuchet MS"/>
              </a:rPr>
              <a:t>intranets </a:t>
            </a:r>
            <a:r>
              <a:rPr sz="2400" i="1" spc="-114" dirty="0">
                <a:solidFill>
                  <a:srgbClr val="00338D"/>
                </a:solidFill>
                <a:latin typeface="Trebuchet MS"/>
                <a:cs typeface="Trebuchet MS"/>
              </a:rPr>
              <a:t>y  </a:t>
            </a:r>
            <a:r>
              <a:rPr sz="2400" i="1" spc="-145" dirty="0">
                <a:solidFill>
                  <a:srgbClr val="00338D"/>
                </a:solidFill>
                <a:latin typeface="Trebuchet MS"/>
                <a:cs typeface="Trebuchet MS"/>
              </a:rPr>
              <a:t>extranets) </a:t>
            </a:r>
            <a:r>
              <a:rPr sz="2400" i="1" spc="-150" dirty="0">
                <a:solidFill>
                  <a:srgbClr val="00338D"/>
                </a:solidFill>
                <a:latin typeface="Trebuchet MS"/>
                <a:cs typeface="Trebuchet MS"/>
              </a:rPr>
              <a:t>permiten </a:t>
            </a:r>
            <a:r>
              <a:rPr sz="2400" i="1" spc="-135" dirty="0">
                <a:solidFill>
                  <a:srgbClr val="00338D"/>
                </a:solidFill>
                <a:latin typeface="Trebuchet MS"/>
                <a:cs typeface="Trebuchet MS"/>
              </a:rPr>
              <a:t>intercambiar  </a:t>
            </a:r>
            <a:r>
              <a:rPr sz="2400" i="1" spc="-140" dirty="0">
                <a:solidFill>
                  <a:srgbClr val="00338D"/>
                </a:solidFill>
                <a:latin typeface="Trebuchet MS"/>
                <a:cs typeface="Trebuchet MS"/>
              </a:rPr>
              <a:t>electrónicamente </a:t>
            </a:r>
            <a:r>
              <a:rPr sz="2400" i="1" spc="-95" dirty="0">
                <a:solidFill>
                  <a:srgbClr val="00338D"/>
                </a:solidFill>
                <a:latin typeface="Trebuchet MS"/>
                <a:cs typeface="Trebuchet MS"/>
              </a:rPr>
              <a:t>datos </a:t>
            </a:r>
            <a:r>
              <a:rPr sz="2400" i="1" spc="-145" dirty="0">
                <a:solidFill>
                  <a:srgbClr val="00338D"/>
                </a:solidFill>
                <a:latin typeface="Trebuchet MS"/>
                <a:cs typeface="Trebuchet MS"/>
              </a:rPr>
              <a:t>e </a:t>
            </a:r>
            <a:r>
              <a:rPr sz="2400" i="1" spc="-125" dirty="0">
                <a:solidFill>
                  <a:srgbClr val="00338D"/>
                </a:solidFill>
                <a:latin typeface="Trebuchet MS"/>
                <a:cs typeface="Trebuchet MS"/>
              </a:rPr>
              <a:t>información </a:t>
            </a:r>
            <a:r>
              <a:rPr sz="2400" i="1" spc="-114" dirty="0">
                <a:solidFill>
                  <a:srgbClr val="00338D"/>
                </a:solidFill>
                <a:latin typeface="Trebuchet MS"/>
                <a:cs typeface="Trebuchet MS"/>
              </a:rPr>
              <a:t>en  </a:t>
            </a:r>
            <a:r>
              <a:rPr sz="2400" i="1" spc="-130" dirty="0">
                <a:solidFill>
                  <a:srgbClr val="00338D"/>
                </a:solidFill>
                <a:latin typeface="Trebuchet MS"/>
                <a:cs typeface="Trebuchet MS"/>
              </a:rPr>
              <a:t>cualquier </a:t>
            </a:r>
            <a:r>
              <a:rPr sz="2400" i="1" spc="-140" dirty="0">
                <a:solidFill>
                  <a:srgbClr val="00338D"/>
                </a:solidFill>
                <a:latin typeface="Trebuchet MS"/>
                <a:cs typeface="Trebuchet MS"/>
              </a:rPr>
              <a:t>parte </a:t>
            </a:r>
            <a:r>
              <a:rPr sz="2400" i="1" spc="-160" dirty="0">
                <a:solidFill>
                  <a:srgbClr val="00338D"/>
                </a:solidFill>
                <a:latin typeface="Trebuchet MS"/>
                <a:cs typeface="Trebuchet MS"/>
              </a:rPr>
              <a:t>del </a:t>
            </a:r>
            <a:r>
              <a:rPr sz="2400" i="1" spc="-95" dirty="0">
                <a:solidFill>
                  <a:srgbClr val="00338D"/>
                </a:solidFill>
                <a:latin typeface="Trebuchet MS"/>
                <a:cs typeface="Trebuchet MS"/>
              </a:rPr>
              <a:t>mundo </a:t>
            </a:r>
            <a:r>
              <a:rPr sz="2400" i="1" spc="-90" dirty="0">
                <a:solidFill>
                  <a:srgbClr val="00338D"/>
                </a:solidFill>
                <a:latin typeface="Trebuchet MS"/>
                <a:cs typeface="Trebuchet MS"/>
              </a:rPr>
              <a:t>con </a:t>
            </a:r>
            <a:r>
              <a:rPr sz="2400" i="1" spc="-105" dirty="0">
                <a:solidFill>
                  <a:srgbClr val="00338D"/>
                </a:solidFill>
                <a:latin typeface="Trebuchet MS"/>
                <a:cs typeface="Trebuchet MS"/>
              </a:rPr>
              <a:t>los</a:t>
            </a:r>
            <a:r>
              <a:rPr sz="2400" i="1" spc="-46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400" i="1" spc="-165" dirty="0">
                <a:solidFill>
                  <a:srgbClr val="00338D"/>
                </a:solidFill>
                <a:latin typeface="Trebuchet MS"/>
                <a:cs typeface="Trebuchet MS"/>
              </a:rPr>
              <a:t>clientes,  </a:t>
            </a:r>
            <a:r>
              <a:rPr sz="2400" i="1" spc="-114" dirty="0">
                <a:solidFill>
                  <a:srgbClr val="00338D"/>
                </a:solidFill>
                <a:latin typeface="Trebuchet MS"/>
                <a:cs typeface="Trebuchet MS"/>
              </a:rPr>
              <a:t>proveedores y </a:t>
            </a:r>
            <a:r>
              <a:rPr sz="2400" i="1" spc="-85" dirty="0">
                <a:solidFill>
                  <a:srgbClr val="00338D"/>
                </a:solidFill>
                <a:latin typeface="Trebuchet MS"/>
                <a:cs typeface="Trebuchet MS"/>
              </a:rPr>
              <a:t>socios</a:t>
            </a:r>
            <a:r>
              <a:rPr sz="2400" i="1" spc="-29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400" i="1" spc="-130" dirty="0">
                <a:solidFill>
                  <a:srgbClr val="00338D"/>
                </a:solidFill>
                <a:latin typeface="Trebuchet MS"/>
                <a:cs typeface="Trebuchet MS"/>
              </a:rPr>
              <a:t>empresariales.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43600" y="1219200"/>
            <a:ext cx="2895600" cy="2168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08953" y="3581400"/>
            <a:ext cx="2590800" cy="2590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620859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lang="es-AR" spc="-5" dirty="0"/>
              <a:t>Javier F. Klus (jklus@uade.edu.ar</a:t>
            </a:r>
            <a:r>
              <a:rPr spc="-30" dirty="0"/>
              <a:t>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2624222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8567420" cy="5911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Redes</a:t>
            </a:r>
            <a:r>
              <a:rPr sz="2000" b="1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Consideraciones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4108450" marR="5080" indent="485775" algn="r">
              <a:lnSpc>
                <a:spcPct val="100000"/>
              </a:lnSpc>
            </a:pPr>
            <a:r>
              <a:rPr sz="2600" b="1" spc="-175" dirty="0">
                <a:latin typeface="Trebuchet MS"/>
                <a:cs typeface="Trebuchet MS"/>
              </a:rPr>
              <a:t>Las </a:t>
            </a:r>
            <a:r>
              <a:rPr sz="2600" b="1" spc="-145" dirty="0">
                <a:latin typeface="Trebuchet MS"/>
                <a:cs typeface="Trebuchet MS"/>
              </a:rPr>
              <a:t>empresas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00" dirty="0">
                <a:latin typeface="Trebuchet MS"/>
                <a:cs typeface="Trebuchet MS"/>
              </a:rPr>
              <a:t>los</a:t>
            </a:r>
            <a:r>
              <a:rPr sz="2600" b="1" spc="-310" dirty="0">
                <a:latin typeface="Trebuchet MS"/>
                <a:cs typeface="Trebuchet MS"/>
              </a:rPr>
              <a:t> </a:t>
            </a:r>
            <a:r>
              <a:rPr sz="2600" b="1" spc="-120" dirty="0">
                <a:latin typeface="Trebuchet MS"/>
                <a:cs typeface="Trebuchet MS"/>
              </a:rPr>
              <a:t>grupos</a:t>
            </a:r>
            <a:r>
              <a:rPr sz="2600" b="1" spc="-190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80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trabajo pueden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colaborar</a:t>
            </a:r>
            <a:r>
              <a:rPr sz="2600" b="1" spc="-190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en </a:t>
            </a:r>
            <a:r>
              <a:rPr sz="2600" b="1" spc="-90" dirty="0">
                <a:latin typeface="Trebuchet MS"/>
                <a:cs typeface="Trebuchet MS"/>
              </a:rPr>
              <a:t> </a:t>
            </a:r>
            <a:r>
              <a:rPr sz="2600" b="1" spc="-135" dirty="0">
                <a:latin typeface="Trebuchet MS"/>
                <a:cs typeface="Trebuchet MS"/>
              </a:rPr>
              <a:t>forma </a:t>
            </a:r>
            <a:r>
              <a:rPr sz="2600" b="1" spc="-110" dirty="0">
                <a:latin typeface="Trebuchet MS"/>
                <a:cs typeface="Trebuchet MS"/>
              </a:rPr>
              <a:t>más </a:t>
            </a:r>
            <a:r>
              <a:rPr sz="2600" b="1" spc="-185" dirty="0">
                <a:latin typeface="Trebuchet MS"/>
                <a:cs typeface="Trebuchet MS"/>
              </a:rPr>
              <a:t>creativa,</a:t>
            </a:r>
            <a:r>
              <a:rPr sz="2600" b="1" spc="-325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manejar</a:t>
            </a:r>
            <a:r>
              <a:rPr sz="2600" b="1" spc="-185" dirty="0">
                <a:latin typeface="Trebuchet MS"/>
                <a:cs typeface="Trebuchet MS"/>
              </a:rPr>
              <a:t> </a:t>
            </a:r>
            <a:r>
              <a:rPr sz="2600" b="1" spc="-105" dirty="0">
                <a:latin typeface="Trebuchet MS"/>
                <a:cs typeface="Trebuchet MS"/>
              </a:rPr>
              <a:t>sus </a:t>
            </a:r>
            <a:r>
              <a:rPr sz="2600" b="1" spc="-65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operaciones</a:t>
            </a:r>
            <a:r>
              <a:rPr sz="2600" b="1" spc="-210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y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recursos </a:t>
            </a:r>
            <a:r>
              <a:rPr sz="2600" b="1" spc="-5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empresariales </a:t>
            </a:r>
            <a:r>
              <a:rPr sz="2600" b="1" spc="-170" dirty="0">
                <a:latin typeface="Trebuchet MS"/>
                <a:cs typeface="Trebuchet MS"/>
              </a:rPr>
              <a:t>en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b="1" spc="-135" dirty="0">
                <a:latin typeface="Trebuchet MS"/>
                <a:cs typeface="Trebuchet MS"/>
              </a:rPr>
              <a:t>forma</a:t>
            </a:r>
            <a:r>
              <a:rPr sz="2600" b="1" spc="-195" dirty="0">
                <a:latin typeface="Trebuchet MS"/>
                <a:cs typeface="Trebuchet MS"/>
              </a:rPr>
              <a:t> </a:t>
            </a:r>
            <a:r>
              <a:rPr sz="2600" b="1" spc="-110" dirty="0">
                <a:latin typeface="Trebuchet MS"/>
                <a:cs typeface="Trebuchet MS"/>
              </a:rPr>
              <a:t>más </a:t>
            </a:r>
            <a:r>
              <a:rPr sz="2600" b="1" spc="-60" dirty="0">
                <a:latin typeface="Trebuchet MS"/>
                <a:cs typeface="Trebuchet MS"/>
              </a:rPr>
              <a:t> </a:t>
            </a:r>
            <a:r>
              <a:rPr sz="2600" b="1" spc="-180" dirty="0">
                <a:latin typeface="Trebuchet MS"/>
                <a:cs typeface="Trebuchet MS"/>
              </a:rPr>
              <a:t>efectiva </a:t>
            </a:r>
            <a:r>
              <a:rPr sz="2600" b="1" spc="-160" dirty="0">
                <a:latin typeface="Trebuchet MS"/>
                <a:cs typeface="Trebuchet MS"/>
              </a:rPr>
              <a:t>y competir con </a:t>
            </a:r>
            <a:r>
              <a:rPr sz="2600" b="1" spc="-175" dirty="0">
                <a:latin typeface="Trebuchet MS"/>
                <a:cs typeface="Trebuchet MS"/>
              </a:rPr>
              <a:t>éxito</a:t>
            </a:r>
            <a:r>
              <a:rPr sz="2600" b="1" spc="-285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en</a:t>
            </a:r>
            <a:endParaRPr sz="2600" dirty="0">
              <a:latin typeface="Trebuchet MS"/>
              <a:cs typeface="Trebuchet MS"/>
            </a:endParaRPr>
          </a:p>
          <a:p>
            <a:pPr marR="6985" algn="r">
              <a:lnSpc>
                <a:spcPct val="100000"/>
              </a:lnSpc>
              <a:spcBef>
                <a:spcPts val="5"/>
              </a:spcBef>
            </a:pPr>
            <a:r>
              <a:rPr sz="2600" b="1" spc="-120" dirty="0">
                <a:latin typeface="Trebuchet MS"/>
                <a:cs typeface="Trebuchet MS"/>
              </a:rPr>
              <a:t>la </a:t>
            </a:r>
            <a:r>
              <a:rPr sz="2600" b="1" spc="-140" dirty="0">
                <a:latin typeface="Trebuchet MS"/>
                <a:cs typeface="Trebuchet MS"/>
              </a:rPr>
              <a:t>economía</a:t>
            </a:r>
            <a:r>
              <a:rPr sz="2600" b="1" spc="-315" dirty="0">
                <a:latin typeface="Trebuchet MS"/>
                <a:cs typeface="Trebuchet MS"/>
              </a:rPr>
              <a:t> </a:t>
            </a:r>
            <a:r>
              <a:rPr sz="2600" b="1" spc="-135" dirty="0">
                <a:latin typeface="Trebuchet MS"/>
                <a:cs typeface="Trebuchet MS"/>
              </a:rPr>
              <a:t>global.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4130675" marR="6350" indent="675640" algn="r">
              <a:lnSpc>
                <a:spcPct val="100000"/>
              </a:lnSpc>
            </a:pPr>
            <a:r>
              <a:rPr sz="2400" i="1" spc="-8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Es </a:t>
            </a:r>
            <a:r>
              <a:rPr sz="2400" i="1" spc="-12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imposible </a:t>
            </a:r>
            <a:r>
              <a:rPr sz="2400" i="1" spc="-13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sobrevivir</a:t>
            </a:r>
            <a:r>
              <a:rPr sz="2400" i="1" spc="-35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0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sin</a:t>
            </a:r>
            <a:r>
              <a:rPr sz="2400" i="1" spc="-19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7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una </a:t>
            </a:r>
            <a:r>
              <a:rPr sz="2400" i="1" spc="-2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1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variedad </a:t>
            </a:r>
            <a:r>
              <a:rPr sz="2400" i="1" spc="-13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de </a:t>
            </a:r>
            <a:r>
              <a:rPr sz="2400" i="1" spc="-12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redes</a:t>
            </a:r>
            <a:r>
              <a:rPr sz="2400" i="1" spc="-28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3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de</a:t>
            </a:r>
            <a:r>
              <a:rPr sz="2400" i="1" spc="-18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0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computadoras </a:t>
            </a:r>
            <a:r>
              <a:rPr sz="2400" i="1" spc="-5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2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interconectadas </a:t>
            </a:r>
            <a:r>
              <a:rPr sz="2400" i="1" spc="-9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para</a:t>
            </a:r>
            <a:r>
              <a:rPr sz="2400" i="1" spc="-22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3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atender</a:t>
            </a:r>
            <a:r>
              <a:rPr sz="2400" i="1" spc="-19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6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sus </a:t>
            </a:r>
            <a:r>
              <a:rPr sz="2400" i="1" spc="-3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0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necesidades </a:t>
            </a:r>
            <a:r>
              <a:rPr sz="2400" i="1" spc="-13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de</a:t>
            </a:r>
            <a:r>
              <a:rPr sz="2400" i="1" spc="-28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14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procesamiento</a:t>
            </a:r>
            <a:r>
              <a:rPr sz="2400" i="1" spc="-18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14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y </a:t>
            </a:r>
            <a:r>
              <a:rPr sz="2400" i="1" spc="-7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1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comunicación </a:t>
            </a:r>
            <a:r>
              <a:rPr sz="2400" i="1" spc="-13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de </a:t>
            </a:r>
            <a:r>
              <a:rPr sz="2400" i="1" spc="-125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la</a:t>
            </a:r>
            <a:r>
              <a:rPr sz="2400" i="1" spc="-26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i="1" spc="-140" dirty="0">
                <a:solidFill>
                  <a:srgbClr val="00338D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información</a:t>
            </a:r>
            <a:r>
              <a:rPr sz="2400" i="1" spc="-140" dirty="0">
                <a:solidFill>
                  <a:srgbClr val="00338D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3850" y="1143000"/>
            <a:ext cx="3115218" cy="23362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4755" y="3429000"/>
            <a:ext cx="2657094" cy="1724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3850" y="5131308"/>
            <a:ext cx="3486150" cy="13144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r>
              <a:rPr spc="-30" dirty="0"/>
              <a:t>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5045" cy="5685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Redes</a:t>
            </a:r>
            <a:r>
              <a:rPr sz="2000" b="1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Consideraciones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45" dirty="0">
                <a:latin typeface="Trebuchet MS"/>
                <a:cs typeface="Trebuchet MS"/>
              </a:rPr>
              <a:t>Aplicaciones </a:t>
            </a:r>
            <a:r>
              <a:rPr sz="2600" b="1" spc="-150" dirty="0">
                <a:latin typeface="Trebuchet MS"/>
                <a:cs typeface="Trebuchet MS"/>
              </a:rPr>
              <a:t>empresariales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5" dirty="0">
                <a:latin typeface="Trebuchet MS"/>
                <a:cs typeface="Trebuchet MS"/>
              </a:rPr>
              <a:t>las</a:t>
            </a:r>
            <a:r>
              <a:rPr sz="2600" b="1" spc="-260" dirty="0">
                <a:latin typeface="Trebuchet MS"/>
                <a:cs typeface="Trebuchet MS"/>
              </a:rPr>
              <a:t> </a:t>
            </a:r>
            <a:r>
              <a:rPr sz="2600" b="1" spc="-175" dirty="0">
                <a:latin typeface="Trebuchet MS"/>
                <a:cs typeface="Trebuchet MS"/>
              </a:rPr>
              <a:t>Telecomunicaciones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b="1" spc="-140" dirty="0">
                <a:latin typeface="Trebuchet MS"/>
                <a:cs typeface="Trebuchet MS"/>
              </a:rPr>
              <a:t>Colaboración </a:t>
            </a:r>
            <a:r>
              <a:rPr sz="2600" b="1" spc="-155" dirty="0">
                <a:latin typeface="Trebuchet MS"/>
                <a:cs typeface="Trebuchet MS"/>
              </a:rPr>
              <a:t>empresarial: </a:t>
            </a:r>
            <a:r>
              <a:rPr sz="2600" spc="-170" dirty="0">
                <a:latin typeface="Arial"/>
                <a:cs typeface="Arial"/>
              </a:rPr>
              <a:t>usan </a:t>
            </a:r>
            <a:r>
              <a:rPr sz="2600" spc="-140" dirty="0">
                <a:latin typeface="Arial"/>
                <a:cs typeface="Arial"/>
              </a:rPr>
              <a:t>redes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0" dirty="0">
                <a:latin typeface="Arial"/>
                <a:cs typeface="Arial"/>
              </a:rPr>
              <a:t>telecomunicaciones 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105" dirty="0">
                <a:latin typeface="Arial"/>
                <a:cs typeface="Arial"/>
              </a:rPr>
              <a:t>respaldar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10" dirty="0">
                <a:latin typeface="Arial"/>
                <a:cs typeface="Arial"/>
              </a:rPr>
              <a:t>comunicación, </a:t>
            </a:r>
            <a:r>
              <a:rPr sz="2600" spc="-90" dirty="0">
                <a:latin typeface="Arial"/>
                <a:cs typeface="Arial"/>
              </a:rPr>
              <a:t>coordinación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05" dirty="0">
                <a:latin typeface="Arial"/>
                <a:cs typeface="Arial"/>
              </a:rPr>
              <a:t>colaboración  </a:t>
            </a:r>
            <a:r>
              <a:rPr sz="2600" spc="-55" dirty="0">
                <a:latin typeface="Arial"/>
                <a:cs typeface="Arial"/>
              </a:rPr>
              <a:t>entre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00" dirty="0">
                <a:latin typeface="Arial"/>
                <a:cs typeface="Arial"/>
              </a:rPr>
              <a:t>miembros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0" dirty="0">
                <a:latin typeface="Arial"/>
                <a:cs typeface="Arial"/>
              </a:rPr>
              <a:t>equipos</a:t>
            </a:r>
            <a:r>
              <a:rPr sz="2600" spc="-310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empresariales.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00000"/>
              </a:lnSpc>
            </a:pPr>
            <a:r>
              <a:rPr sz="2600" b="1" spc="-165" dirty="0">
                <a:latin typeface="Trebuchet MS"/>
                <a:cs typeface="Trebuchet MS"/>
              </a:rPr>
              <a:t>Comercio </a:t>
            </a:r>
            <a:r>
              <a:rPr sz="2600" b="1" spc="-170" dirty="0">
                <a:latin typeface="Trebuchet MS"/>
                <a:cs typeface="Trebuchet MS"/>
              </a:rPr>
              <a:t>electrónico: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114" dirty="0">
                <a:latin typeface="Arial"/>
                <a:cs typeface="Arial"/>
              </a:rPr>
              <a:t>través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40" dirty="0">
                <a:latin typeface="Arial"/>
                <a:cs typeface="Arial"/>
              </a:rPr>
              <a:t>redes</a:t>
            </a:r>
            <a:r>
              <a:rPr sz="2600" spc="440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computacionales,  </a:t>
            </a:r>
            <a:r>
              <a:rPr sz="2600" spc="-120" dirty="0">
                <a:latin typeface="Arial"/>
                <a:cs typeface="Arial"/>
              </a:rPr>
              <a:t>como </a:t>
            </a:r>
            <a:r>
              <a:rPr sz="2600" spc="-40" dirty="0">
                <a:latin typeface="Arial"/>
                <a:cs typeface="Arial"/>
              </a:rPr>
              <a:t>Internet, </a:t>
            </a:r>
            <a:r>
              <a:rPr sz="2600" spc="-120" dirty="0">
                <a:latin typeface="Arial"/>
                <a:cs typeface="Arial"/>
              </a:rPr>
              <a:t>respaldan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20" dirty="0">
                <a:latin typeface="Arial"/>
                <a:cs typeface="Arial"/>
              </a:rPr>
              <a:t>compra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05" dirty="0">
                <a:latin typeface="Arial"/>
                <a:cs typeface="Arial"/>
              </a:rPr>
              <a:t>venta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0" dirty="0">
                <a:latin typeface="Arial"/>
                <a:cs typeface="Arial"/>
              </a:rPr>
              <a:t>productos,  </a:t>
            </a:r>
            <a:r>
              <a:rPr sz="2600" spc="-120" dirty="0">
                <a:latin typeface="Arial"/>
                <a:cs typeface="Arial"/>
              </a:rPr>
              <a:t>servicios </a:t>
            </a:r>
            <a:r>
              <a:rPr sz="2600" spc="-155" dirty="0">
                <a:latin typeface="Arial"/>
                <a:cs typeface="Arial"/>
              </a:rPr>
              <a:t>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70" dirty="0">
                <a:latin typeface="Arial"/>
                <a:cs typeface="Arial"/>
              </a:rPr>
              <a:t>información.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b="1" spc="-145" dirty="0">
                <a:latin typeface="Trebuchet MS"/>
                <a:cs typeface="Trebuchet MS"/>
              </a:rPr>
              <a:t>Empresariales </a:t>
            </a:r>
            <a:r>
              <a:rPr sz="2600" b="1" spc="-160" dirty="0">
                <a:latin typeface="Trebuchet MS"/>
                <a:cs typeface="Trebuchet MS"/>
              </a:rPr>
              <a:t>internas: </a:t>
            </a:r>
            <a:r>
              <a:rPr sz="2600" spc="-114" dirty="0">
                <a:latin typeface="Arial"/>
                <a:cs typeface="Arial"/>
              </a:rPr>
              <a:t>dependen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105" dirty="0">
                <a:latin typeface="Arial"/>
                <a:cs typeface="Arial"/>
              </a:rPr>
              <a:t>variedad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40" dirty="0">
                <a:latin typeface="Arial"/>
                <a:cs typeface="Arial"/>
              </a:rPr>
              <a:t>redes </a:t>
            </a:r>
            <a:r>
              <a:rPr sz="2600" spc="440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105" dirty="0">
                <a:latin typeface="Arial"/>
                <a:cs typeface="Arial"/>
              </a:rPr>
              <a:t>respaldar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125" dirty="0">
                <a:latin typeface="Arial"/>
                <a:cs typeface="Arial"/>
              </a:rPr>
              <a:t>operaciones </a:t>
            </a:r>
            <a:r>
              <a:rPr sz="2600" spc="-120" dirty="0">
                <a:latin typeface="Arial"/>
                <a:cs typeface="Arial"/>
              </a:rPr>
              <a:t>empresariales de </a:t>
            </a:r>
            <a:r>
              <a:rPr sz="2600" spc="-125" dirty="0">
                <a:latin typeface="Arial"/>
                <a:cs typeface="Arial"/>
              </a:rPr>
              <a:t>una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spc="-135" dirty="0">
                <a:latin typeface="Arial"/>
                <a:cs typeface="Arial"/>
              </a:rPr>
              <a:t>empresa.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r>
              <a:rPr spc="-30" dirty="0"/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55</a:t>
            </a:fld>
            <a:endParaRPr spc="-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5337810" cy="577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Redes</a:t>
            </a:r>
            <a:r>
              <a:rPr sz="2000" b="1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Consideraciones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1715135">
              <a:lnSpc>
                <a:spcPct val="100000"/>
              </a:lnSpc>
            </a:pPr>
            <a:r>
              <a:rPr sz="2600" b="1" spc="-175" dirty="0">
                <a:latin typeface="Trebuchet MS"/>
                <a:cs typeface="Trebuchet MS"/>
              </a:rPr>
              <a:t>El </a:t>
            </a:r>
            <a:r>
              <a:rPr sz="2600" b="1" spc="-145" dirty="0">
                <a:latin typeface="Trebuchet MS"/>
                <a:cs typeface="Trebuchet MS"/>
              </a:rPr>
              <a:t>Valor </a:t>
            </a:r>
            <a:r>
              <a:rPr sz="2600" b="1" spc="-150" dirty="0">
                <a:latin typeface="Trebuchet MS"/>
                <a:cs typeface="Trebuchet MS"/>
              </a:rPr>
              <a:t>Empresarial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55" dirty="0">
                <a:latin typeface="Trebuchet MS"/>
                <a:cs typeface="Trebuchet MS"/>
              </a:rPr>
              <a:t> </a:t>
            </a:r>
            <a:r>
              <a:rPr sz="2600" b="1" spc="-105" dirty="0">
                <a:latin typeface="Trebuchet MS"/>
                <a:cs typeface="Trebuchet MS"/>
              </a:rPr>
              <a:t>las  </a:t>
            </a:r>
            <a:r>
              <a:rPr sz="2600" b="1" spc="-175" dirty="0">
                <a:latin typeface="Trebuchet MS"/>
                <a:cs typeface="Trebuchet MS"/>
              </a:rPr>
              <a:t>Telecomunicaciones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200" dirty="0">
                <a:latin typeface="Arial"/>
                <a:cs typeface="Arial"/>
              </a:rPr>
              <a:t>Lo </a:t>
            </a:r>
            <a:r>
              <a:rPr sz="2400" spc="-75" dirty="0">
                <a:latin typeface="Arial"/>
                <a:cs typeface="Arial"/>
              </a:rPr>
              <a:t>realmente </a:t>
            </a:r>
            <a:r>
              <a:rPr sz="2400" spc="-60" dirty="0">
                <a:latin typeface="Arial"/>
                <a:cs typeface="Arial"/>
              </a:rPr>
              <a:t>crítico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114" dirty="0">
                <a:latin typeface="Arial"/>
                <a:cs typeface="Arial"/>
              </a:rPr>
              <a:t>una organización 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130" dirty="0">
                <a:latin typeface="Arial"/>
                <a:cs typeface="Arial"/>
              </a:rPr>
              <a:t>saber </a:t>
            </a:r>
            <a:r>
              <a:rPr sz="2400" spc="-100" dirty="0">
                <a:latin typeface="Arial"/>
                <a:cs typeface="Arial"/>
              </a:rPr>
              <a:t>qué </a:t>
            </a:r>
            <a:r>
              <a:rPr sz="2400" spc="-70" dirty="0">
                <a:latin typeface="Arial"/>
                <a:cs typeface="Arial"/>
              </a:rPr>
              <a:t>valor </a:t>
            </a:r>
            <a:r>
              <a:rPr sz="2400" spc="-125" dirty="0">
                <a:latin typeface="Arial"/>
                <a:cs typeface="Arial"/>
              </a:rPr>
              <a:t>generan </a:t>
            </a:r>
            <a:r>
              <a:rPr sz="2400" spc="-145" dirty="0">
                <a:latin typeface="Arial"/>
                <a:cs typeface="Arial"/>
              </a:rPr>
              <a:t>las  </a:t>
            </a:r>
            <a:r>
              <a:rPr sz="2400" spc="-114" dirty="0">
                <a:latin typeface="Arial"/>
                <a:cs typeface="Arial"/>
              </a:rPr>
              <a:t>aplicaciones</a:t>
            </a:r>
            <a:r>
              <a:rPr sz="2400" spc="434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empresariales </a:t>
            </a:r>
            <a:r>
              <a:rPr sz="2400" spc="-114" dirty="0">
                <a:latin typeface="Arial"/>
                <a:cs typeface="Arial"/>
              </a:rPr>
              <a:t>de  </a:t>
            </a:r>
            <a:r>
              <a:rPr sz="2400" spc="-100" dirty="0">
                <a:latin typeface="Arial"/>
                <a:cs typeface="Arial"/>
              </a:rPr>
              <a:t>telecomunicaciones.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120" dirty="0">
                <a:latin typeface="Arial"/>
                <a:cs typeface="Arial"/>
              </a:rPr>
              <a:t>Asimismo, </a:t>
            </a:r>
            <a:r>
              <a:rPr sz="2400" spc="-90" dirty="0">
                <a:latin typeface="Arial"/>
                <a:cs typeface="Arial"/>
              </a:rPr>
              <a:t>la </a:t>
            </a:r>
            <a:r>
              <a:rPr sz="2400" spc="-95" dirty="0">
                <a:latin typeface="Arial"/>
                <a:cs typeface="Arial"/>
              </a:rPr>
              <a:t>tecnología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la </a:t>
            </a:r>
            <a:r>
              <a:rPr sz="2400" spc="-65" dirty="0">
                <a:latin typeface="Arial"/>
                <a:cs typeface="Arial"/>
              </a:rPr>
              <a:t>información  </a:t>
            </a:r>
            <a:r>
              <a:rPr sz="2400" spc="-165" dirty="0">
                <a:latin typeface="Arial"/>
                <a:cs typeface="Arial"/>
              </a:rPr>
              <a:t>basada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00" dirty="0">
                <a:latin typeface="Arial"/>
                <a:cs typeface="Arial"/>
              </a:rPr>
              <a:t>telecomunicaciones </a:t>
            </a:r>
            <a:r>
              <a:rPr sz="2400" spc="-135" dirty="0">
                <a:latin typeface="Arial"/>
                <a:cs typeface="Arial"/>
              </a:rPr>
              <a:t>ayuda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5" dirty="0">
                <a:latin typeface="Arial"/>
                <a:cs typeface="Arial"/>
              </a:rPr>
              <a:t>la  </a:t>
            </a:r>
            <a:r>
              <a:rPr sz="2400" spc="-125" dirty="0">
                <a:latin typeface="Arial"/>
                <a:cs typeface="Arial"/>
              </a:rPr>
              <a:t>empresa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05" dirty="0">
                <a:latin typeface="Arial"/>
                <a:cs typeface="Arial"/>
              </a:rPr>
              <a:t>superar </a:t>
            </a:r>
            <a:r>
              <a:rPr sz="2400" b="1" i="1" spc="-145" dirty="0">
                <a:latin typeface="Arial"/>
                <a:cs typeface="Arial"/>
              </a:rPr>
              <a:t>barreras </a:t>
            </a:r>
            <a:r>
              <a:rPr sz="2400" b="1" i="1" spc="-165" dirty="0">
                <a:latin typeface="Arial"/>
                <a:cs typeface="Arial"/>
              </a:rPr>
              <a:t>geográficas,  </a:t>
            </a:r>
            <a:r>
              <a:rPr sz="2400" b="1" i="1" spc="-180" dirty="0">
                <a:latin typeface="Arial"/>
                <a:cs typeface="Arial"/>
              </a:rPr>
              <a:t>de </a:t>
            </a:r>
            <a:r>
              <a:rPr sz="2400" b="1" i="1" spc="-130" dirty="0">
                <a:latin typeface="Arial"/>
                <a:cs typeface="Arial"/>
              </a:rPr>
              <a:t>tiempo, </a:t>
            </a:r>
            <a:r>
              <a:rPr sz="2400" b="1" i="1" spc="-180" dirty="0">
                <a:latin typeface="Arial"/>
                <a:cs typeface="Arial"/>
              </a:rPr>
              <a:t>de </a:t>
            </a:r>
            <a:r>
              <a:rPr sz="2400" b="1" i="1" spc="-240" dirty="0">
                <a:latin typeface="Arial"/>
                <a:cs typeface="Arial"/>
              </a:rPr>
              <a:t>costo </a:t>
            </a:r>
            <a:r>
              <a:rPr sz="2400" b="1" i="1" spc="-210" dirty="0">
                <a:latin typeface="Arial"/>
                <a:cs typeface="Arial"/>
              </a:rPr>
              <a:t>y </a:t>
            </a:r>
            <a:r>
              <a:rPr sz="2400" b="1" i="1" spc="-170" dirty="0">
                <a:latin typeface="Arial"/>
                <a:cs typeface="Arial"/>
              </a:rPr>
              <a:t>estructurales </a:t>
            </a:r>
            <a:r>
              <a:rPr sz="2400" b="1" i="1" spc="-110" dirty="0">
                <a:latin typeface="Arial"/>
                <a:cs typeface="Arial"/>
              </a:rPr>
              <a:t>para  </a:t>
            </a:r>
            <a:r>
              <a:rPr sz="2400" b="1" i="1" spc="-125" dirty="0">
                <a:latin typeface="Arial"/>
                <a:cs typeface="Arial"/>
              </a:rPr>
              <a:t>lograr </a:t>
            </a:r>
            <a:r>
              <a:rPr sz="2400" b="1" i="1" spc="-120" dirty="0">
                <a:latin typeface="Arial"/>
                <a:cs typeface="Arial"/>
              </a:rPr>
              <a:t>el </a:t>
            </a:r>
            <a:r>
              <a:rPr sz="2400" b="1" i="1" spc="-150" dirty="0">
                <a:latin typeface="Arial"/>
                <a:cs typeface="Arial"/>
              </a:rPr>
              <a:t>éxito</a:t>
            </a:r>
            <a:r>
              <a:rPr sz="2400" b="1" i="1" spc="-165" dirty="0">
                <a:latin typeface="Arial"/>
                <a:cs typeface="Arial"/>
              </a:rPr>
              <a:t> </a:t>
            </a:r>
            <a:r>
              <a:rPr sz="2400" b="1" i="1" spc="-145" dirty="0">
                <a:latin typeface="Arial"/>
                <a:cs typeface="Arial"/>
              </a:rPr>
              <a:t>empresarial</a:t>
            </a:r>
            <a:r>
              <a:rPr sz="2400" spc="-14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67400" y="1346200"/>
            <a:ext cx="3048000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80353" y="3761994"/>
            <a:ext cx="2971800" cy="2486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5488940" cy="605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Redes</a:t>
            </a:r>
            <a:r>
              <a:rPr sz="200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Telecomunicaciones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244475" marR="46355" indent="-231775">
              <a:lnSpc>
                <a:spcPct val="100000"/>
              </a:lnSpc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b="1" spc="-170" dirty="0">
                <a:latin typeface="Trebuchet MS"/>
                <a:cs typeface="Trebuchet MS"/>
              </a:rPr>
              <a:t>Telecomunicaciones: </a:t>
            </a:r>
            <a:r>
              <a:rPr sz="2400" spc="-105" dirty="0">
                <a:latin typeface="Arial"/>
                <a:cs typeface="Arial"/>
              </a:rPr>
              <a:t>comunicación </a:t>
            </a:r>
            <a:r>
              <a:rPr sz="2400" spc="-114" dirty="0">
                <a:latin typeface="Arial"/>
                <a:cs typeface="Arial"/>
              </a:rPr>
              <a:t>de  </a:t>
            </a:r>
            <a:r>
              <a:rPr sz="2400" spc="-65" dirty="0">
                <a:latin typeface="Arial"/>
                <a:cs typeface="Arial"/>
              </a:rPr>
              <a:t>información </a:t>
            </a:r>
            <a:r>
              <a:rPr sz="2400" spc="-40" dirty="0">
                <a:latin typeface="Arial"/>
                <a:cs typeface="Arial"/>
              </a:rPr>
              <a:t>por </a:t>
            </a:r>
            <a:r>
              <a:rPr sz="2400" spc="-105" dirty="0">
                <a:latin typeface="Arial"/>
                <a:cs typeface="Arial"/>
              </a:rPr>
              <a:t>medios </a:t>
            </a:r>
            <a:r>
              <a:rPr sz="2400" spc="-85" dirty="0">
                <a:latin typeface="Arial"/>
                <a:cs typeface="Arial"/>
              </a:rPr>
              <a:t>electrónicos,  </a:t>
            </a:r>
            <a:r>
              <a:rPr sz="2400" spc="-100" dirty="0">
                <a:latin typeface="Arial"/>
                <a:cs typeface="Arial"/>
              </a:rPr>
              <a:t>usualmente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25" dirty="0">
                <a:latin typeface="Arial"/>
                <a:cs typeface="Arial"/>
              </a:rPr>
              <a:t>larga </a:t>
            </a:r>
            <a:r>
              <a:rPr sz="2400" spc="-95" dirty="0">
                <a:latin typeface="Arial"/>
                <a:cs typeface="Arial"/>
              </a:rPr>
              <a:t>distancia. </a:t>
            </a:r>
            <a:r>
              <a:rPr sz="2400" spc="-114" dirty="0">
                <a:latin typeface="Arial"/>
                <a:cs typeface="Arial"/>
              </a:rPr>
              <a:t>Proviene </a:t>
            </a:r>
            <a:r>
              <a:rPr sz="2400" spc="-75" dirty="0">
                <a:latin typeface="Arial"/>
                <a:cs typeface="Arial"/>
              </a:rPr>
              <a:t>del  </a:t>
            </a:r>
            <a:r>
              <a:rPr sz="2400" spc="-100" dirty="0">
                <a:latin typeface="Arial"/>
                <a:cs typeface="Arial"/>
              </a:rPr>
              <a:t>griego </a:t>
            </a:r>
            <a:r>
              <a:rPr sz="2400" i="1" spc="-165" dirty="0">
                <a:latin typeface="Trebuchet MS"/>
                <a:cs typeface="Trebuchet MS"/>
              </a:rPr>
              <a:t>tele</a:t>
            </a:r>
            <a:r>
              <a:rPr sz="2400" spc="-165" dirty="0">
                <a:latin typeface="Arial"/>
                <a:cs typeface="Arial"/>
              </a:rPr>
              <a:t>,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95" dirty="0">
                <a:latin typeface="Arial"/>
                <a:cs typeface="Arial"/>
              </a:rPr>
              <a:t>significa</a:t>
            </a:r>
            <a:r>
              <a:rPr sz="2400" spc="-18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distancia.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2500">
              <a:latin typeface="Times New Roman"/>
              <a:cs typeface="Times New Roman"/>
            </a:endParaRPr>
          </a:p>
          <a:p>
            <a:pPr marL="244475" marR="5080" indent="-231775">
              <a:lnSpc>
                <a:spcPct val="100000"/>
              </a:lnSpc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b="1" spc="-125" dirty="0">
                <a:latin typeface="Trebuchet MS"/>
                <a:cs typeface="Trebuchet MS"/>
              </a:rPr>
              <a:t>Sistema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70" dirty="0">
                <a:latin typeface="Trebuchet MS"/>
                <a:cs typeface="Trebuchet MS"/>
              </a:rPr>
              <a:t>Telecomunicaciones: </a:t>
            </a:r>
            <a:r>
              <a:rPr sz="2400" spc="-60" dirty="0">
                <a:latin typeface="Arial"/>
                <a:cs typeface="Arial"/>
              </a:rPr>
              <a:t>conjunto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hardware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70" dirty="0">
                <a:latin typeface="Arial"/>
                <a:cs typeface="Arial"/>
              </a:rPr>
              <a:t>software </a:t>
            </a:r>
            <a:r>
              <a:rPr sz="2400" spc="-90" dirty="0">
                <a:latin typeface="Arial"/>
                <a:cs typeface="Arial"/>
              </a:rPr>
              <a:t>compatibles,  </a:t>
            </a:r>
            <a:r>
              <a:rPr sz="2400" spc="-114" dirty="0">
                <a:latin typeface="Arial"/>
                <a:cs typeface="Arial"/>
              </a:rPr>
              <a:t>combinados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100" dirty="0">
                <a:latin typeface="Arial"/>
                <a:cs typeface="Arial"/>
              </a:rPr>
              <a:t>comunicar </a:t>
            </a:r>
            <a:r>
              <a:rPr sz="2400" spc="-65" dirty="0">
                <a:latin typeface="Arial"/>
                <a:cs typeface="Arial"/>
              </a:rPr>
              <a:t>información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95" dirty="0">
                <a:latin typeface="Arial"/>
                <a:cs typeface="Arial"/>
              </a:rPr>
              <a:t>lugar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20" dirty="0">
                <a:latin typeface="Arial"/>
                <a:cs typeface="Arial"/>
              </a:rPr>
              <a:t>otro. </a:t>
            </a:r>
            <a:r>
              <a:rPr sz="2400" spc="-150" dirty="0">
                <a:latin typeface="Arial"/>
                <a:cs typeface="Arial"/>
              </a:rPr>
              <a:t>Por </a:t>
            </a:r>
            <a:r>
              <a:rPr sz="2400" spc="-30" dirty="0">
                <a:latin typeface="Arial"/>
                <a:cs typeface="Arial"/>
              </a:rPr>
              <a:t>lo </a:t>
            </a:r>
            <a:r>
              <a:rPr sz="2400" spc="-105" dirty="0">
                <a:latin typeface="Arial"/>
                <a:cs typeface="Arial"/>
              </a:rPr>
              <a:t>general, </a:t>
            </a:r>
            <a:r>
              <a:rPr sz="2400" spc="-80" dirty="0">
                <a:latin typeface="Arial"/>
                <a:cs typeface="Arial"/>
              </a:rPr>
              <a:t>un  </a:t>
            </a:r>
            <a:r>
              <a:rPr sz="2400" spc="-125" dirty="0">
                <a:latin typeface="Arial"/>
                <a:cs typeface="Arial"/>
              </a:rPr>
              <a:t>sistema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0" dirty="0">
                <a:latin typeface="Arial"/>
                <a:cs typeface="Arial"/>
              </a:rPr>
              <a:t>telecomunicaciones </a:t>
            </a:r>
            <a:r>
              <a:rPr sz="2400" spc="-204" dirty="0">
                <a:latin typeface="Arial"/>
                <a:cs typeface="Arial"/>
              </a:rPr>
              <a:t>es  </a:t>
            </a:r>
            <a:r>
              <a:rPr sz="2400" spc="-75" dirty="0">
                <a:latin typeface="Arial"/>
                <a:cs typeface="Arial"/>
              </a:rPr>
              <a:t>cualquier </a:t>
            </a:r>
            <a:r>
              <a:rPr sz="2400" spc="-100" dirty="0">
                <a:latin typeface="Arial"/>
                <a:cs typeface="Arial"/>
              </a:rPr>
              <a:t>disposición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95" dirty="0">
                <a:latin typeface="Arial"/>
                <a:cs typeface="Arial"/>
              </a:rPr>
              <a:t>donde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85" dirty="0">
                <a:latin typeface="Arial"/>
                <a:cs typeface="Arial"/>
              </a:rPr>
              <a:t>emisor  </a:t>
            </a:r>
            <a:r>
              <a:rPr sz="2400" spc="-55" dirty="0">
                <a:latin typeface="Arial"/>
                <a:cs typeface="Arial"/>
              </a:rPr>
              <a:t>transmite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125" dirty="0">
                <a:latin typeface="Arial"/>
                <a:cs typeface="Arial"/>
              </a:rPr>
              <a:t>mensaje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60" dirty="0">
                <a:latin typeface="Arial"/>
                <a:cs typeface="Arial"/>
              </a:rPr>
              <a:t>receptor </a:t>
            </a:r>
            <a:r>
              <a:rPr sz="2400" spc="-190" dirty="0">
                <a:latin typeface="Arial"/>
                <a:cs typeface="Arial"/>
              </a:rPr>
              <a:t>a  </a:t>
            </a:r>
            <a:r>
              <a:rPr sz="2400" spc="-110" dirty="0">
                <a:latin typeface="Arial"/>
                <a:cs typeface="Arial"/>
              </a:rPr>
              <a:t>través de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130" dirty="0">
                <a:latin typeface="Arial"/>
                <a:cs typeface="Arial"/>
              </a:rPr>
              <a:t>canal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25" dirty="0">
                <a:latin typeface="Arial"/>
                <a:cs typeface="Arial"/>
              </a:rPr>
              <a:t>consta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algún  </a:t>
            </a:r>
            <a:r>
              <a:rPr sz="2400" dirty="0">
                <a:latin typeface="Arial"/>
                <a:cs typeface="Arial"/>
              </a:rPr>
              <a:t>tipo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7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medio.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0" y="1219200"/>
            <a:ext cx="2747009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6000" y="3505200"/>
            <a:ext cx="2667000" cy="2679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8613775" cy="5332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35" dirty="0">
                <a:latin typeface="Trebuchet MS"/>
                <a:cs typeface="Trebuchet MS"/>
              </a:rPr>
              <a:t>Componentes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30" dirty="0">
                <a:latin typeface="Trebuchet MS"/>
                <a:cs typeface="Trebuchet MS"/>
              </a:rPr>
              <a:t>un </a:t>
            </a:r>
            <a:r>
              <a:rPr sz="2400" b="1" spc="-125" dirty="0">
                <a:latin typeface="Trebuchet MS"/>
                <a:cs typeface="Trebuchet MS"/>
              </a:rPr>
              <a:t>Sistema </a:t>
            </a:r>
            <a:r>
              <a:rPr sz="2400" b="1" spc="-140" dirty="0">
                <a:latin typeface="Trebuchet MS"/>
                <a:cs typeface="Trebuchet MS"/>
              </a:rPr>
              <a:t>de</a:t>
            </a:r>
            <a:r>
              <a:rPr sz="2400" b="1" spc="-375" dirty="0">
                <a:latin typeface="Trebuchet MS"/>
                <a:cs typeface="Trebuchet MS"/>
              </a:rPr>
              <a:t>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Times New Roman"/>
              <a:cs typeface="Times New Roman"/>
            </a:endParaRPr>
          </a:p>
          <a:p>
            <a:pPr marL="244475" indent="-231775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2000" b="1" spc="-105" dirty="0">
                <a:latin typeface="Trebuchet MS"/>
                <a:cs typeface="Trebuchet MS"/>
              </a:rPr>
              <a:t>Computadoras </a:t>
            </a:r>
            <a:r>
              <a:rPr sz="2000" spc="-100" dirty="0">
                <a:latin typeface="Arial"/>
                <a:cs typeface="Arial"/>
              </a:rPr>
              <a:t>para procesar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información.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244475" indent="-231775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2000" b="1" spc="-145" dirty="0">
                <a:latin typeface="Trebuchet MS"/>
                <a:cs typeface="Trebuchet MS"/>
              </a:rPr>
              <a:t>Terminales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65" dirty="0">
                <a:latin typeface="Arial"/>
                <a:cs typeface="Arial"/>
              </a:rPr>
              <a:t>cualquier </a:t>
            </a:r>
            <a:r>
              <a:rPr sz="2000" b="1" spc="-90" dirty="0">
                <a:latin typeface="Trebuchet MS"/>
                <a:cs typeface="Trebuchet MS"/>
              </a:rPr>
              <a:t>dispositivo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10" dirty="0">
                <a:latin typeface="Arial"/>
                <a:cs typeface="Arial"/>
              </a:rPr>
              <a:t>envíe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80" dirty="0">
                <a:latin typeface="Arial"/>
                <a:cs typeface="Arial"/>
              </a:rPr>
              <a:t>reciba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datos.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244475" marR="5080" indent="-231775" algn="just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2000" b="1" spc="-110" dirty="0">
                <a:latin typeface="Trebuchet MS"/>
                <a:cs typeface="Trebuchet MS"/>
              </a:rPr>
              <a:t>Canales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25" dirty="0">
                <a:latin typeface="Trebuchet MS"/>
                <a:cs typeface="Trebuchet MS"/>
              </a:rPr>
              <a:t>telecomunicaciones: </a:t>
            </a:r>
            <a:r>
              <a:rPr sz="2000" spc="-114" dirty="0">
                <a:latin typeface="Arial"/>
                <a:cs typeface="Arial"/>
              </a:rPr>
              <a:t>enlaces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20" dirty="0">
                <a:latin typeface="Arial"/>
                <a:cs typeface="Arial"/>
              </a:rPr>
              <a:t>cuales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50" dirty="0">
                <a:latin typeface="Arial"/>
                <a:cs typeface="Arial"/>
              </a:rPr>
              <a:t>transmiten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155" dirty="0">
                <a:latin typeface="Arial"/>
                <a:cs typeface="Arial"/>
              </a:rPr>
              <a:t>voz 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dispositivos receptores </a:t>
            </a:r>
            <a:r>
              <a:rPr sz="2000" spc="-100" dirty="0">
                <a:latin typeface="Arial"/>
                <a:cs typeface="Arial"/>
              </a:rPr>
              <a:t>y emisores </a:t>
            </a:r>
            <a:r>
              <a:rPr sz="2000" spc="-95" dirty="0">
                <a:latin typeface="Arial"/>
                <a:cs typeface="Arial"/>
              </a:rPr>
              <a:t>de una </a:t>
            </a:r>
            <a:r>
              <a:rPr sz="2000" spc="-55" dirty="0">
                <a:latin typeface="Arial"/>
                <a:cs typeface="Arial"/>
              </a:rPr>
              <a:t>red. </a:t>
            </a: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125" dirty="0">
                <a:latin typeface="Arial"/>
                <a:cs typeface="Arial"/>
              </a:rPr>
              <a:t>canales </a:t>
            </a:r>
            <a:r>
              <a:rPr sz="2000" spc="-90" dirty="0">
                <a:latin typeface="Arial"/>
                <a:cs typeface="Arial"/>
              </a:rPr>
              <a:t>de  </a:t>
            </a:r>
            <a:r>
              <a:rPr sz="2000" spc="-85" dirty="0">
                <a:latin typeface="Arial"/>
                <a:cs typeface="Arial"/>
              </a:rPr>
              <a:t>comunicación </a:t>
            </a:r>
            <a:r>
              <a:rPr sz="2000" spc="-50" dirty="0">
                <a:latin typeface="Arial"/>
                <a:cs typeface="Arial"/>
              </a:rPr>
              <a:t>utilizan </a:t>
            </a:r>
            <a:r>
              <a:rPr sz="2000" spc="-90" dirty="0">
                <a:latin typeface="Arial"/>
                <a:cs typeface="Arial"/>
              </a:rPr>
              <a:t>varios </a:t>
            </a:r>
            <a:r>
              <a:rPr sz="2000" spc="-85" dirty="0">
                <a:latin typeface="Arial"/>
                <a:cs typeface="Arial"/>
              </a:rPr>
              <a:t>medios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comunicación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110" dirty="0">
                <a:latin typeface="Arial"/>
                <a:cs typeface="Arial"/>
              </a:rPr>
              <a:t>líneas </a:t>
            </a:r>
            <a:r>
              <a:rPr sz="2000" spc="-75" dirty="0">
                <a:latin typeface="Arial"/>
                <a:cs typeface="Arial"/>
              </a:rPr>
              <a:t>telefónicas,  </a:t>
            </a:r>
            <a:r>
              <a:rPr sz="2000" spc="-100" dirty="0">
                <a:latin typeface="Arial"/>
                <a:cs typeface="Arial"/>
              </a:rPr>
              <a:t>cable </a:t>
            </a:r>
            <a:r>
              <a:rPr sz="2000" spc="-95" dirty="0">
                <a:latin typeface="Arial"/>
                <a:cs typeface="Arial"/>
              </a:rPr>
              <a:t>coaxial, </a:t>
            </a:r>
            <a:r>
              <a:rPr sz="2000" spc="-100" dirty="0">
                <a:latin typeface="Arial"/>
                <a:cs typeface="Arial"/>
              </a:rPr>
              <a:t>cable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fibras </a:t>
            </a:r>
            <a:r>
              <a:rPr sz="2000" spc="-80" dirty="0">
                <a:latin typeface="Arial"/>
                <a:cs typeface="Arial"/>
              </a:rPr>
              <a:t>ópticas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transmisión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inalámbrica.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244475" marR="5080" indent="-231775" algn="just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2000" b="1" spc="-114" dirty="0">
                <a:latin typeface="Trebuchet MS"/>
                <a:cs typeface="Trebuchet MS"/>
              </a:rPr>
              <a:t>Procesadores </a:t>
            </a:r>
            <a:r>
              <a:rPr sz="2000" b="1" spc="-120" dirty="0">
                <a:latin typeface="Trebuchet MS"/>
                <a:cs typeface="Trebuchet MS"/>
              </a:rPr>
              <a:t>de comunicaciones </a:t>
            </a:r>
            <a:r>
              <a:rPr sz="2000" spc="-95" dirty="0">
                <a:latin typeface="Arial"/>
                <a:cs typeface="Arial"/>
              </a:rPr>
              <a:t>como módems, </a:t>
            </a:r>
            <a:r>
              <a:rPr sz="2000" spc="-70" dirty="0">
                <a:latin typeface="Arial"/>
                <a:cs typeface="Arial"/>
              </a:rPr>
              <a:t>controladores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05" dirty="0">
                <a:latin typeface="Arial"/>
                <a:cs typeface="Arial"/>
              </a:rPr>
              <a:t>procesadores  </a:t>
            </a:r>
            <a:r>
              <a:rPr sz="2000" i="1" spc="-114" dirty="0">
                <a:latin typeface="Trebuchet MS"/>
                <a:cs typeface="Trebuchet MS"/>
              </a:rPr>
              <a:t>front-end</a:t>
            </a:r>
            <a:r>
              <a:rPr sz="2000" spc="-114" dirty="0">
                <a:latin typeface="Arial"/>
                <a:cs typeface="Arial"/>
              </a:rPr>
              <a:t>,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cuales </a:t>
            </a:r>
            <a:r>
              <a:rPr sz="2000" spc="-65" dirty="0">
                <a:latin typeface="Arial"/>
                <a:cs typeface="Arial"/>
              </a:rPr>
              <a:t>proporcionan </a:t>
            </a:r>
            <a:r>
              <a:rPr sz="2000" spc="-75" dirty="0">
                <a:latin typeface="Arial"/>
                <a:cs typeface="Arial"/>
              </a:rPr>
              <a:t>funciones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soporte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65" dirty="0">
                <a:latin typeface="Arial"/>
                <a:cs typeface="Arial"/>
              </a:rPr>
              <a:t>transmisión </a:t>
            </a:r>
            <a:r>
              <a:rPr sz="2000" spc="-100" dirty="0">
                <a:latin typeface="Arial"/>
                <a:cs typeface="Arial"/>
              </a:rPr>
              <a:t>y  </a:t>
            </a:r>
            <a:r>
              <a:rPr sz="2000" spc="-80" dirty="0">
                <a:latin typeface="Arial"/>
                <a:cs typeface="Arial"/>
              </a:rPr>
              <a:t>recepción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datos.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"/>
            </a:pPr>
            <a:endParaRPr sz="2050">
              <a:latin typeface="Times New Roman"/>
              <a:cs typeface="Times New Roman"/>
            </a:endParaRPr>
          </a:p>
          <a:p>
            <a:pPr marL="244475" marR="6350" indent="-231775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2000" b="1" spc="-110" dirty="0">
                <a:latin typeface="Trebuchet MS"/>
                <a:cs typeface="Trebuchet MS"/>
              </a:rPr>
              <a:t>Software </a:t>
            </a:r>
            <a:r>
              <a:rPr sz="2000" b="1" spc="-114" dirty="0">
                <a:latin typeface="Trebuchet MS"/>
                <a:cs typeface="Trebuchet MS"/>
              </a:rPr>
              <a:t>de </a:t>
            </a:r>
            <a:r>
              <a:rPr sz="2000" b="1" spc="-120" dirty="0">
                <a:latin typeface="Trebuchet MS"/>
                <a:cs typeface="Trebuchet MS"/>
              </a:rPr>
              <a:t>control de telecomunicaciones</a:t>
            </a:r>
            <a:r>
              <a:rPr sz="2000" spc="-120" dirty="0">
                <a:latin typeface="Arial"/>
                <a:cs typeface="Arial"/>
              </a:rPr>
              <a:t>,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90" dirty="0">
                <a:latin typeface="Arial"/>
                <a:cs typeface="Arial"/>
              </a:rPr>
              <a:t>cual </a:t>
            </a:r>
            <a:r>
              <a:rPr sz="2000" spc="-55" dirty="0">
                <a:latin typeface="Arial"/>
                <a:cs typeface="Arial"/>
              </a:rPr>
              <a:t>controla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80" dirty="0">
                <a:latin typeface="Arial"/>
                <a:cs typeface="Arial"/>
              </a:rPr>
              <a:t>actividades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70" dirty="0">
                <a:latin typeface="Arial"/>
                <a:cs typeface="Arial"/>
              </a:rPr>
              <a:t>entrada </a:t>
            </a:r>
            <a:r>
              <a:rPr sz="2000" spc="-100" dirty="0">
                <a:latin typeface="Arial"/>
                <a:cs typeface="Arial"/>
              </a:rPr>
              <a:t>y salida y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130" dirty="0">
                <a:latin typeface="Arial"/>
                <a:cs typeface="Arial"/>
              </a:rPr>
              <a:t>encarga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otras </a:t>
            </a:r>
            <a:r>
              <a:rPr sz="2000" spc="-80" dirty="0">
                <a:latin typeface="Arial"/>
                <a:cs typeface="Arial"/>
              </a:rPr>
              <a:t>funciones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5" dirty="0">
                <a:latin typeface="Arial"/>
                <a:cs typeface="Arial"/>
              </a:rPr>
              <a:t>red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comunicaciones.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7537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35" dirty="0">
                <a:latin typeface="Trebuchet MS"/>
                <a:cs typeface="Trebuchet MS"/>
              </a:rPr>
              <a:t>Componentes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30" dirty="0">
                <a:latin typeface="Trebuchet MS"/>
                <a:cs typeface="Trebuchet MS"/>
              </a:rPr>
              <a:t>un </a:t>
            </a:r>
            <a:r>
              <a:rPr sz="2400" b="1" spc="-125" dirty="0">
                <a:latin typeface="Trebuchet MS"/>
                <a:cs typeface="Trebuchet MS"/>
              </a:rPr>
              <a:t>Sistema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r>
              <a:rPr sz="2400" b="1" spc="-409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1018" y="1798037"/>
            <a:ext cx="8228481" cy="4417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734" y="190538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980059" y="985139"/>
                </a:moveTo>
                <a:lnTo>
                  <a:pt x="10591" y="985139"/>
                </a:lnTo>
                <a:lnTo>
                  <a:pt x="15913" y="990600"/>
                </a:lnTo>
                <a:lnTo>
                  <a:pt x="974725" y="990600"/>
                </a:lnTo>
                <a:lnTo>
                  <a:pt x="980059" y="985139"/>
                </a:lnTo>
                <a:close/>
              </a:path>
              <a:path w="990600" h="990600">
                <a:moveTo>
                  <a:pt x="863473" y="604139"/>
                </a:moveTo>
                <a:lnTo>
                  <a:pt x="127127" y="604139"/>
                </a:lnTo>
                <a:lnTo>
                  <a:pt x="127127" y="849122"/>
                </a:lnTo>
                <a:lnTo>
                  <a:pt x="31775" y="930783"/>
                </a:lnTo>
                <a:lnTo>
                  <a:pt x="21183" y="936117"/>
                </a:lnTo>
                <a:lnTo>
                  <a:pt x="10591" y="947039"/>
                </a:lnTo>
                <a:lnTo>
                  <a:pt x="5321" y="957961"/>
                </a:lnTo>
                <a:lnTo>
                  <a:pt x="0" y="968756"/>
                </a:lnTo>
                <a:lnTo>
                  <a:pt x="0" y="974217"/>
                </a:lnTo>
                <a:lnTo>
                  <a:pt x="5321" y="979678"/>
                </a:lnTo>
                <a:lnTo>
                  <a:pt x="5321" y="985139"/>
                </a:lnTo>
                <a:lnTo>
                  <a:pt x="985266" y="985139"/>
                </a:lnTo>
                <a:lnTo>
                  <a:pt x="990600" y="979678"/>
                </a:lnTo>
                <a:lnTo>
                  <a:pt x="990600" y="968756"/>
                </a:lnTo>
                <a:lnTo>
                  <a:pt x="985266" y="957961"/>
                </a:lnTo>
                <a:lnTo>
                  <a:pt x="980059" y="947039"/>
                </a:lnTo>
                <a:lnTo>
                  <a:pt x="974725" y="936117"/>
                </a:lnTo>
                <a:lnTo>
                  <a:pt x="964057" y="930783"/>
                </a:lnTo>
                <a:lnTo>
                  <a:pt x="863473" y="843661"/>
                </a:lnTo>
                <a:lnTo>
                  <a:pt x="863473" y="604139"/>
                </a:lnTo>
                <a:close/>
              </a:path>
              <a:path w="990600" h="990600">
                <a:moveTo>
                  <a:pt x="709841" y="533400"/>
                </a:moveTo>
                <a:lnTo>
                  <a:pt x="280758" y="533400"/>
                </a:lnTo>
                <a:lnTo>
                  <a:pt x="280758" y="604139"/>
                </a:lnTo>
                <a:lnTo>
                  <a:pt x="709841" y="604139"/>
                </a:lnTo>
                <a:lnTo>
                  <a:pt x="709841" y="533400"/>
                </a:lnTo>
                <a:close/>
              </a:path>
              <a:path w="990600" h="990600">
                <a:moveTo>
                  <a:pt x="794639" y="0"/>
                </a:moveTo>
                <a:lnTo>
                  <a:pt x="196011" y="0"/>
                </a:lnTo>
                <a:lnTo>
                  <a:pt x="196011" y="533400"/>
                </a:lnTo>
                <a:lnTo>
                  <a:pt x="794639" y="533400"/>
                </a:lnTo>
                <a:lnTo>
                  <a:pt x="794639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241" y="2740850"/>
            <a:ext cx="657225" cy="0"/>
          </a:xfrm>
          <a:custGeom>
            <a:avLst/>
            <a:gdLst/>
            <a:ahLst/>
            <a:cxnLst/>
            <a:rect l="l" t="t" r="r" b="b"/>
            <a:pathLst>
              <a:path w="657225">
                <a:moveTo>
                  <a:pt x="0" y="0"/>
                </a:moveTo>
                <a:lnTo>
                  <a:pt x="656882" y="0"/>
                </a:lnTo>
              </a:path>
            </a:pathLst>
          </a:custGeom>
          <a:ln w="27304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7999" y="2795270"/>
            <a:ext cx="768350" cy="0"/>
          </a:xfrm>
          <a:custGeom>
            <a:avLst/>
            <a:gdLst/>
            <a:ahLst/>
            <a:cxnLst/>
            <a:rect l="l" t="t" r="r" b="b"/>
            <a:pathLst>
              <a:path w="768350">
                <a:moveTo>
                  <a:pt x="0" y="0"/>
                </a:moveTo>
                <a:lnTo>
                  <a:pt x="768083" y="0"/>
                </a:lnTo>
              </a:path>
            </a:pathLst>
          </a:custGeom>
          <a:ln w="27178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9706" y="2844292"/>
            <a:ext cx="890269" cy="0"/>
          </a:xfrm>
          <a:custGeom>
            <a:avLst/>
            <a:gdLst/>
            <a:ahLst/>
            <a:cxnLst/>
            <a:rect l="l" t="t" r="r" b="b"/>
            <a:pathLst>
              <a:path w="890269">
                <a:moveTo>
                  <a:pt x="0" y="0"/>
                </a:moveTo>
                <a:lnTo>
                  <a:pt x="889876" y="0"/>
                </a:lnTo>
              </a:path>
            </a:pathLst>
          </a:custGeom>
          <a:ln w="27177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3862" y="2553080"/>
            <a:ext cx="736600" cy="201930"/>
          </a:xfrm>
          <a:custGeom>
            <a:avLst/>
            <a:gdLst/>
            <a:ahLst/>
            <a:cxnLst/>
            <a:rect l="l" t="t" r="r" b="b"/>
            <a:pathLst>
              <a:path w="736600" h="201930">
                <a:moveTo>
                  <a:pt x="672719" y="141478"/>
                </a:moveTo>
                <a:lnTo>
                  <a:pt x="63563" y="141478"/>
                </a:lnTo>
                <a:lnTo>
                  <a:pt x="0" y="201422"/>
                </a:lnTo>
                <a:lnTo>
                  <a:pt x="736346" y="195961"/>
                </a:lnTo>
                <a:lnTo>
                  <a:pt x="672719" y="141478"/>
                </a:lnTo>
                <a:close/>
              </a:path>
              <a:path w="736600" h="201930">
                <a:moveTo>
                  <a:pt x="688594" y="0"/>
                </a:moveTo>
                <a:lnTo>
                  <a:pt x="476770" y="0"/>
                </a:lnTo>
                <a:lnTo>
                  <a:pt x="476770" y="27178"/>
                </a:lnTo>
                <a:lnTo>
                  <a:pt x="688594" y="27178"/>
                </a:lnTo>
                <a:lnTo>
                  <a:pt x="688594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27493" y="1992502"/>
            <a:ext cx="429259" cy="359410"/>
          </a:xfrm>
          <a:custGeom>
            <a:avLst/>
            <a:gdLst/>
            <a:ahLst/>
            <a:cxnLst/>
            <a:rect l="l" t="t" r="r" b="b"/>
            <a:pathLst>
              <a:path w="429259" h="359410">
                <a:moveTo>
                  <a:pt x="429082" y="0"/>
                </a:moveTo>
                <a:lnTo>
                  <a:pt x="0" y="0"/>
                </a:lnTo>
                <a:lnTo>
                  <a:pt x="0" y="359156"/>
                </a:lnTo>
                <a:lnTo>
                  <a:pt x="429082" y="359156"/>
                </a:lnTo>
                <a:lnTo>
                  <a:pt x="42908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7493" y="2474150"/>
            <a:ext cx="429259" cy="0"/>
          </a:xfrm>
          <a:custGeom>
            <a:avLst/>
            <a:gdLst/>
            <a:ahLst/>
            <a:cxnLst/>
            <a:rect l="l" t="t" r="r" b="b"/>
            <a:pathLst>
              <a:path w="429259">
                <a:moveTo>
                  <a:pt x="0" y="0"/>
                </a:moveTo>
                <a:lnTo>
                  <a:pt x="429082" y="0"/>
                </a:lnTo>
              </a:path>
            </a:pathLst>
          </a:custGeom>
          <a:ln w="70739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6734" y="190538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964057" y="930783"/>
                </a:moveTo>
                <a:lnTo>
                  <a:pt x="863473" y="843661"/>
                </a:lnTo>
                <a:lnTo>
                  <a:pt x="863473" y="604139"/>
                </a:lnTo>
                <a:lnTo>
                  <a:pt x="709841" y="604139"/>
                </a:lnTo>
                <a:lnTo>
                  <a:pt x="709841" y="533400"/>
                </a:lnTo>
                <a:lnTo>
                  <a:pt x="794639" y="533400"/>
                </a:lnTo>
                <a:lnTo>
                  <a:pt x="794639" y="511683"/>
                </a:lnTo>
                <a:lnTo>
                  <a:pt x="794639" y="0"/>
                </a:lnTo>
                <a:lnTo>
                  <a:pt x="497954" y="0"/>
                </a:lnTo>
                <a:lnTo>
                  <a:pt x="196011" y="0"/>
                </a:lnTo>
                <a:lnTo>
                  <a:pt x="196011" y="506222"/>
                </a:lnTo>
                <a:lnTo>
                  <a:pt x="196011" y="533400"/>
                </a:lnTo>
                <a:lnTo>
                  <a:pt x="280758" y="533400"/>
                </a:lnTo>
                <a:lnTo>
                  <a:pt x="280758" y="604139"/>
                </a:lnTo>
                <a:lnTo>
                  <a:pt x="127127" y="604139"/>
                </a:lnTo>
                <a:lnTo>
                  <a:pt x="127127" y="849122"/>
                </a:lnTo>
                <a:lnTo>
                  <a:pt x="31775" y="930783"/>
                </a:lnTo>
                <a:lnTo>
                  <a:pt x="21183" y="936117"/>
                </a:lnTo>
                <a:lnTo>
                  <a:pt x="10591" y="947039"/>
                </a:lnTo>
                <a:lnTo>
                  <a:pt x="5321" y="957961"/>
                </a:lnTo>
                <a:lnTo>
                  <a:pt x="0" y="968756"/>
                </a:lnTo>
                <a:lnTo>
                  <a:pt x="0" y="974217"/>
                </a:lnTo>
                <a:lnTo>
                  <a:pt x="5321" y="979678"/>
                </a:lnTo>
                <a:lnTo>
                  <a:pt x="5321" y="985139"/>
                </a:lnTo>
                <a:lnTo>
                  <a:pt x="10591" y="985139"/>
                </a:lnTo>
                <a:lnTo>
                  <a:pt x="15913" y="990600"/>
                </a:lnTo>
                <a:lnTo>
                  <a:pt x="26504" y="990600"/>
                </a:lnTo>
                <a:lnTo>
                  <a:pt x="31775" y="990600"/>
                </a:lnTo>
                <a:lnTo>
                  <a:pt x="497954" y="990600"/>
                </a:lnTo>
                <a:lnTo>
                  <a:pt x="958850" y="990600"/>
                </a:lnTo>
                <a:lnTo>
                  <a:pt x="969391" y="990600"/>
                </a:lnTo>
                <a:lnTo>
                  <a:pt x="974725" y="990600"/>
                </a:lnTo>
                <a:lnTo>
                  <a:pt x="980059" y="985139"/>
                </a:lnTo>
                <a:lnTo>
                  <a:pt x="985266" y="985139"/>
                </a:lnTo>
                <a:lnTo>
                  <a:pt x="990600" y="979678"/>
                </a:lnTo>
                <a:lnTo>
                  <a:pt x="990600" y="974217"/>
                </a:lnTo>
                <a:lnTo>
                  <a:pt x="990600" y="968756"/>
                </a:lnTo>
                <a:lnTo>
                  <a:pt x="985266" y="957961"/>
                </a:lnTo>
                <a:lnTo>
                  <a:pt x="980059" y="947039"/>
                </a:lnTo>
                <a:lnTo>
                  <a:pt x="974725" y="936117"/>
                </a:lnTo>
                <a:lnTo>
                  <a:pt x="964057" y="930783"/>
                </a:lnTo>
                <a:close/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6241" y="2727198"/>
            <a:ext cx="657225" cy="27305"/>
          </a:xfrm>
          <a:custGeom>
            <a:avLst/>
            <a:gdLst/>
            <a:ahLst/>
            <a:cxnLst/>
            <a:rect l="l" t="t" r="r" b="b"/>
            <a:pathLst>
              <a:path w="657225" h="27305">
                <a:moveTo>
                  <a:pt x="656882" y="27304"/>
                </a:moveTo>
                <a:lnTo>
                  <a:pt x="625132" y="0"/>
                </a:lnTo>
                <a:lnTo>
                  <a:pt x="31775" y="0"/>
                </a:lnTo>
                <a:lnTo>
                  <a:pt x="0" y="27304"/>
                </a:lnTo>
                <a:lnTo>
                  <a:pt x="656882" y="27304"/>
                </a:lnTo>
                <a:close/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7999" y="2781680"/>
            <a:ext cx="768350" cy="27305"/>
          </a:xfrm>
          <a:custGeom>
            <a:avLst/>
            <a:gdLst/>
            <a:ahLst/>
            <a:cxnLst/>
            <a:rect l="l" t="t" r="r" b="b"/>
            <a:pathLst>
              <a:path w="768350" h="27305">
                <a:moveTo>
                  <a:pt x="768083" y="27178"/>
                </a:moveTo>
                <a:lnTo>
                  <a:pt x="736333" y="0"/>
                </a:lnTo>
                <a:lnTo>
                  <a:pt x="31775" y="0"/>
                </a:lnTo>
                <a:lnTo>
                  <a:pt x="0" y="27178"/>
                </a:lnTo>
                <a:lnTo>
                  <a:pt x="768083" y="27178"/>
                </a:lnTo>
                <a:close/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9706" y="2830702"/>
            <a:ext cx="890269" cy="27305"/>
          </a:xfrm>
          <a:custGeom>
            <a:avLst/>
            <a:gdLst/>
            <a:ahLst/>
            <a:cxnLst/>
            <a:rect l="l" t="t" r="r" b="b"/>
            <a:pathLst>
              <a:path w="890269" h="27305">
                <a:moveTo>
                  <a:pt x="889876" y="27177"/>
                </a:moveTo>
                <a:lnTo>
                  <a:pt x="858126" y="0"/>
                </a:lnTo>
                <a:lnTo>
                  <a:pt x="31775" y="0"/>
                </a:lnTo>
                <a:lnTo>
                  <a:pt x="0" y="27177"/>
                </a:lnTo>
                <a:lnTo>
                  <a:pt x="889876" y="27177"/>
                </a:lnTo>
                <a:close/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3862" y="2694558"/>
            <a:ext cx="736600" cy="60325"/>
          </a:xfrm>
          <a:custGeom>
            <a:avLst/>
            <a:gdLst/>
            <a:ahLst/>
            <a:cxnLst/>
            <a:rect l="l" t="t" r="r" b="b"/>
            <a:pathLst>
              <a:path w="736600" h="60325">
                <a:moveTo>
                  <a:pt x="736346" y="54482"/>
                </a:moveTo>
                <a:lnTo>
                  <a:pt x="672719" y="0"/>
                </a:lnTo>
                <a:lnTo>
                  <a:pt x="63563" y="0"/>
                </a:lnTo>
                <a:lnTo>
                  <a:pt x="0" y="59943"/>
                </a:lnTo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38059" y="2566670"/>
            <a:ext cx="237490" cy="0"/>
          </a:xfrm>
          <a:custGeom>
            <a:avLst/>
            <a:gdLst/>
            <a:ahLst/>
            <a:cxnLst/>
            <a:rect l="l" t="t" r="r" b="b"/>
            <a:pathLst>
              <a:path w="237490">
                <a:moveTo>
                  <a:pt x="0" y="0"/>
                </a:moveTo>
                <a:lnTo>
                  <a:pt x="236969" y="0"/>
                </a:lnTo>
              </a:path>
            </a:pathLst>
          </a:custGeom>
          <a:ln w="52324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27493" y="1992502"/>
            <a:ext cx="429259" cy="359410"/>
          </a:xfrm>
          <a:custGeom>
            <a:avLst/>
            <a:gdLst/>
            <a:ahLst/>
            <a:cxnLst/>
            <a:rect l="l" t="t" r="r" b="b"/>
            <a:pathLst>
              <a:path w="429259" h="359410">
                <a:moveTo>
                  <a:pt x="0" y="0"/>
                </a:moveTo>
                <a:lnTo>
                  <a:pt x="0" y="359156"/>
                </a:lnTo>
                <a:lnTo>
                  <a:pt x="429082" y="359156"/>
                </a:lnTo>
                <a:lnTo>
                  <a:pt x="429082" y="0"/>
                </a:lnTo>
                <a:lnTo>
                  <a:pt x="0" y="0"/>
                </a:lnTo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7493" y="2438780"/>
            <a:ext cx="429259" cy="71120"/>
          </a:xfrm>
          <a:custGeom>
            <a:avLst/>
            <a:gdLst/>
            <a:ahLst/>
            <a:cxnLst/>
            <a:rect l="l" t="t" r="r" b="b"/>
            <a:pathLst>
              <a:path w="429259" h="71119">
                <a:moveTo>
                  <a:pt x="0" y="0"/>
                </a:moveTo>
                <a:lnTo>
                  <a:pt x="429082" y="0"/>
                </a:lnTo>
                <a:lnTo>
                  <a:pt x="429082" y="70739"/>
                </a:lnTo>
                <a:lnTo>
                  <a:pt x="0" y="70739"/>
                </a:lnTo>
                <a:lnTo>
                  <a:pt x="0" y="0"/>
                </a:lnTo>
                <a:close/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8300" y="4614926"/>
            <a:ext cx="139509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Verdana"/>
                <a:cs typeface="Verdana"/>
              </a:rPr>
              <a:t>Fuente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" dirty="0">
                <a:latin typeface="Verdana"/>
                <a:cs typeface="Verdana"/>
              </a:rPr>
              <a:t>PCs, </a:t>
            </a:r>
            <a:r>
              <a:rPr sz="1400" spc="-10" dirty="0">
                <a:latin typeface="Verdana"/>
                <a:cs typeface="Verdana"/>
              </a:rPr>
              <a:t>laptops,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47519" y="3265551"/>
            <a:ext cx="1200150" cy="304800"/>
          </a:xfrm>
          <a:custGeom>
            <a:avLst/>
            <a:gdLst/>
            <a:ahLst/>
            <a:cxnLst/>
            <a:rect l="l" t="t" r="r" b="b"/>
            <a:pathLst>
              <a:path w="1200150" h="304800">
                <a:moveTo>
                  <a:pt x="1034795" y="0"/>
                </a:moveTo>
                <a:lnTo>
                  <a:pt x="163449" y="0"/>
                </a:lnTo>
                <a:lnTo>
                  <a:pt x="0" y="72644"/>
                </a:lnTo>
                <a:lnTo>
                  <a:pt x="0" y="304800"/>
                </a:lnTo>
                <a:lnTo>
                  <a:pt x="1200150" y="304800"/>
                </a:lnTo>
                <a:lnTo>
                  <a:pt x="1200150" y="72644"/>
                </a:lnTo>
                <a:lnTo>
                  <a:pt x="10347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7519" y="3265551"/>
            <a:ext cx="1200150" cy="304800"/>
          </a:xfrm>
          <a:custGeom>
            <a:avLst/>
            <a:gdLst/>
            <a:ahLst/>
            <a:cxnLst/>
            <a:rect l="l" t="t" r="r" b="b"/>
            <a:pathLst>
              <a:path w="1200150" h="304800">
                <a:moveTo>
                  <a:pt x="0" y="72644"/>
                </a:moveTo>
                <a:lnTo>
                  <a:pt x="163449" y="0"/>
                </a:lnTo>
                <a:lnTo>
                  <a:pt x="1034795" y="0"/>
                </a:lnTo>
                <a:lnTo>
                  <a:pt x="1200150" y="72644"/>
                </a:lnTo>
                <a:lnTo>
                  <a:pt x="1200150" y="304800"/>
                </a:lnTo>
                <a:lnTo>
                  <a:pt x="0" y="304800"/>
                </a:lnTo>
                <a:lnTo>
                  <a:pt x="0" y="72644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7519" y="3339591"/>
            <a:ext cx="1200150" cy="0"/>
          </a:xfrm>
          <a:custGeom>
            <a:avLst/>
            <a:gdLst/>
            <a:ahLst/>
            <a:cxnLst/>
            <a:rect l="l" t="t" r="r" b="b"/>
            <a:pathLst>
              <a:path w="1200150">
                <a:moveTo>
                  <a:pt x="0" y="0"/>
                </a:moveTo>
                <a:lnTo>
                  <a:pt x="120015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6485" y="3431921"/>
            <a:ext cx="46990" cy="34925"/>
          </a:xfrm>
          <a:custGeom>
            <a:avLst/>
            <a:gdLst/>
            <a:ahLst/>
            <a:cxnLst/>
            <a:rect l="l" t="t" r="r" b="b"/>
            <a:pathLst>
              <a:path w="46989" h="34925">
                <a:moveTo>
                  <a:pt x="0" y="0"/>
                </a:moveTo>
                <a:lnTo>
                  <a:pt x="0" y="34925"/>
                </a:lnTo>
                <a:lnTo>
                  <a:pt x="46989" y="34925"/>
                </a:lnTo>
                <a:lnTo>
                  <a:pt x="46989" y="0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52242" y="3431893"/>
            <a:ext cx="46990" cy="35560"/>
          </a:xfrm>
          <a:custGeom>
            <a:avLst/>
            <a:gdLst/>
            <a:ahLst/>
            <a:cxnLst/>
            <a:rect l="l" t="t" r="r" b="b"/>
            <a:pathLst>
              <a:path w="46989" h="35560">
                <a:moveTo>
                  <a:pt x="0" y="34952"/>
                </a:moveTo>
                <a:lnTo>
                  <a:pt x="46950" y="34952"/>
                </a:lnTo>
                <a:lnTo>
                  <a:pt x="46950" y="0"/>
                </a:lnTo>
                <a:lnTo>
                  <a:pt x="0" y="0"/>
                </a:lnTo>
                <a:lnTo>
                  <a:pt x="0" y="3495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48001" y="3431893"/>
            <a:ext cx="47625" cy="35560"/>
          </a:xfrm>
          <a:custGeom>
            <a:avLst/>
            <a:gdLst/>
            <a:ahLst/>
            <a:cxnLst/>
            <a:rect l="l" t="t" r="r" b="b"/>
            <a:pathLst>
              <a:path w="47625" h="35560">
                <a:moveTo>
                  <a:pt x="0" y="34952"/>
                </a:moveTo>
                <a:lnTo>
                  <a:pt x="47005" y="34952"/>
                </a:lnTo>
                <a:lnTo>
                  <a:pt x="47005" y="0"/>
                </a:lnTo>
                <a:lnTo>
                  <a:pt x="0" y="0"/>
                </a:lnTo>
                <a:lnTo>
                  <a:pt x="0" y="3495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43758" y="3431893"/>
            <a:ext cx="46990" cy="35560"/>
          </a:xfrm>
          <a:custGeom>
            <a:avLst/>
            <a:gdLst/>
            <a:ahLst/>
            <a:cxnLst/>
            <a:rect l="l" t="t" r="r" b="b"/>
            <a:pathLst>
              <a:path w="46989" h="35560">
                <a:moveTo>
                  <a:pt x="0" y="34952"/>
                </a:moveTo>
                <a:lnTo>
                  <a:pt x="46950" y="34952"/>
                </a:lnTo>
                <a:lnTo>
                  <a:pt x="46950" y="0"/>
                </a:lnTo>
                <a:lnTo>
                  <a:pt x="0" y="0"/>
                </a:lnTo>
                <a:lnTo>
                  <a:pt x="0" y="3495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81326" y="2988055"/>
            <a:ext cx="711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Emiso</a:t>
            </a:r>
            <a:r>
              <a:rPr sz="1400" b="1" dirty="0">
                <a:latin typeface="Verdana"/>
                <a:cs typeface="Verdana"/>
              </a:rPr>
              <a:t>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62980" y="3265551"/>
            <a:ext cx="1200150" cy="304800"/>
          </a:xfrm>
          <a:custGeom>
            <a:avLst/>
            <a:gdLst/>
            <a:ahLst/>
            <a:cxnLst/>
            <a:rect l="l" t="t" r="r" b="b"/>
            <a:pathLst>
              <a:path w="1200150" h="304800">
                <a:moveTo>
                  <a:pt x="1034796" y="0"/>
                </a:moveTo>
                <a:lnTo>
                  <a:pt x="163449" y="0"/>
                </a:lnTo>
                <a:lnTo>
                  <a:pt x="0" y="72644"/>
                </a:lnTo>
                <a:lnTo>
                  <a:pt x="0" y="304800"/>
                </a:lnTo>
                <a:lnTo>
                  <a:pt x="1200150" y="304800"/>
                </a:lnTo>
                <a:lnTo>
                  <a:pt x="1200150" y="72644"/>
                </a:lnTo>
                <a:lnTo>
                  <a:pt x="103479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62980" y="3265551"/>
            <a:ext cx="1200150" cy="304800"/>
          </a:xfrm>
          <a:custGeom>
            <a:avLst/>
            <a:gdLst/>
            <a:ahLst/>
            <a:cxnLst/>
            <a:rect l="l" t="t" r="r" b="b"/>
            <a:pathLst>
              <a:path w="1200150" h="304800">
                <a:moveTo>
                  <a:pt x="0" y="72644"/>
                </a:moveTo>
                <a:lnTo>
                  <a:pt x="163449" y="0"/>
                </a:lnTo>
                <a:lnTo>
                  <a:pt x="1034796" y="0"/>
                </a:lnTo>
                <a:lnTo>
                  <a:pt x="1200150" y="72644"/>
                </a:lnTo>
                <a:lnTo>
                  <a:pt x="1200150" y="304800"/>
                </a:lnTo>
                <a:lnTo>
                  <a:pt x="0" y="304800"/>
                </a:lnTo>
                <a:lnTo>
                  <a:pt x="0" y="72644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62980" y="3339591"/>
            <a:ext cx="1200150" cy="0"/>
          </a:xfrm>
          <a:custGeom>
            <a:avLst/>
            <a:gdLst/>
            <a:ahLst/>
            <a:cxnLst/>
            <a:rect l="l" t="t" r="r" b="b"/>
            <a:pathLst>
              <a:path w="1200150">
                <a:moveTo>
                  <a:pt x="0" y="0"/>
                </a:moveTo>
                <a:lnTo>
                  <a:pt x="120015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71946" y="3431921"/>
            <a:ext cx="46990" cy="34925"/>
          </a:xfrm>
          <a:custGeom>
            <a:avLst/>
            <a:gdLst/>
            <a:ahLst/>
            <a:cxnLst/>
            <a:rect l="l" t="t" r="r" b="b"/>
            <a:pathLst>
              <a:path w="46989" h="34925">
                <a:moveTo>
                  <a:pt x="0" y="0"/>
                </a:moveTo>
                <a:lnTo>
                  <a:pt x="0" y="34925"/>
                </a:lnTo>
                <a:lnTo>
                  <a:pt x="46989" y="34925"/>
                </a:lnTo>
                <a:lnTo>
                  <a:pt x="46989" y="0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67704" y="3431893"/>
            <a:ext cx="46990" cy="35560"/>
          </a:xfrm>
          <a:custGeom>
            <a:avLst/>
            <a:gdLst/>
            <a:ahLst/>
            <a:cxnLst/>
            <a:rect l="l" t="t" r="r" b="b"/>
            <a:pathLst>
              <a:path w="46989" h="35560">
                <a:moveTo>
                  <a:pt x="0" y="34952"/>
                </a:moveTo>
                <a:lnTo>
                  <a:pt x="46950" y="34952"/>
                </a:lnTo>
                <a:lnTo>
                  <a:pt x="46950" y="0"/>
                </a:lnTo>
                <a:lnTo>
                  <a:pt x="0" y="0"/>
                </a:lnTo>
                <a:lnTo>
                  <a:pt x="0" y="3495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63463" y="3431893"/>
            <a:ext cx="47625" cy="35560"/>
          </a:xfrm>
          <a:custGeom>
            <a:avLst/>
            <a:gdLst/>
            <a:ahLst/>
            <a:cxnLst/>
            <a:rect l="l" t="t" r="r" b="b"/>
            <a:pathLst>
              <a:path w="47625" h="35560">
                <a:moveTo>
                  <a:pt x="0" y="34952"/>
                </a:moveTo>
                <a:lnTo>
                  <a:pt x="47005" y="34952"/>
                </a:lnTo>
                <a:lnTo>
                  <a:pt x="47005" y="0"/>
                </a:lnTo>
                <a:lnTo>
                  <a:pt x="0" y="0"/>
                </a:lnTo>
                <a:lnTo>
                  <a:pt x="0" y="3495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59221" y="3431893"/>
            <a:ext cx="46990" cy="35560"/>
          </a:xfrm>
          <a:custGeom>
            <a:avLst/>
            <a:gdLst/>
            <a:ahLst/>
            <a:cxnLst/>
            <a:rect l="l" t="t" r="r" b="b"/>
            <a:pathLst>
              <a:path w="46989" h="35560">
                <a:moveTo>
                  <a:pt x="0" y="34952"/>
                </a:moveTo>
                <a:lnTo>
                  <a:pt x="46950" y="34952"/>
                </a:lnTo>
                <a:lnTo>
                  <a:pt x="46950" y="0"/>
                </a:lnTo>
                <a:lnTo>
                  <a:pt x="0" y="0"/>
                </a:lnTo>
                <a:lnTo>
                  <a:pt x="0" y="34952"/>
                </a:lnTo>
                <a:close/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706617" y="2988055"/>
            <a:ext cx="920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Recep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or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77886" y="1736979"/>
            <a:ext cx="981075" cy="1285875"/>
          </a:xfrm>
          <a:custGeom>
            <a:avLst/>
            <a:gdLst/>
            <a:ahLst/>
            <a:cxnLst/>
            <a:rect l="l" t="t" r="r" b="b"/>
            <a:pathLst>
              <a:path w="981075" h="1285875">
                <a:moveTo>
                  <a:pt x="0" y="1285494"/>
                </a:moveTo>
                <a:lnTo>
                  <a:pt x="980694" y="1285494"/>
                </a:lnTo>
                <a:lnTo>
                  <a:pt x="980694" y="0"/>
                </a:lnTo>
                <a:lnTo>
                  <a:pt x="0" y="0"/>
                </a:lnTo>
                <a:lnTo>
                  <a:pt x="0" y="1285494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77886" y="1810892"/>
            <a:ext cx="981075" cy="767715"/>
          </a:xfrm>
          <a:custGeom>
            <a:avLst/>
            <a:gdLst/>
            <a:ahLst/>
            <a:cxnLst/>
            <a:rect l="l" t="t" r="r" b="b"/>
            <a:pathLst>
              <a:path w="981075" h="767714">
                <a:moveTo>
                  <a:pt x="410718" y="27812"/>
                </a:moveTo>
                <a:lnTo>
                  <a:pt x="75438" y="27812"/>
                </a:lnTo>
                <a:lnTo>
                  <a:pt x="75438" y="64770"/>
                </a:lnTo>
                <a:lnTo>
                  <a:pt x="410718" y="64770"/>
                </a:lnTo>
                <a:lnTo>
                  <a:pt x="410718" y="27812"/>
                </a:lnTo>
                <a:close/>
              </a:path>
              <a:path w="981075" h="767714">
                <a:moveTo>
                  <a:pt x="494538" y="478867"/>
                </a:moveTo>
                <a:lnTo>
                  <a:pt x="494538" y="767715"/>
                </a:lnTo>
                <a:lnTo>
                  <a:pt x="980694" y="767715"/>
                </a:lnTo>
                <a:lnTo>
                  <a:pt x="591451" y="536448"/>
                </a:lnTo>
                <a:lnTo>
                  <a:pt x="528066" y="536448"/>
                </a:lnTo>
                <a:lnTo>
                  <a:pt x="528066" y="499491"/>
                </a:lnTo>
                <a:lnTo>
                  <a:pt x="529249" y="499491"/>
                </a:lnTo>
                <a:lnTo>
                  <a:pt x="494538" y="478867"/>
                </a:lnTo>
                <a:close/>
              </a:path>
              <a:path w="981075" h="767714">
                <a:moveTo>
                  <a:pt x="561594" y="518708"/>
                </a:moveTo>
                <a:lnTo>
                  <a:pt x="561594" y="536448"/>
                </a:lnTo>
                <a:lnTo>
                  <a:pt x="591451" y="536448"/>
                </a:lnTo>
                <a:lnTo>
                  <a:pt x="561594" y="518708"/>
                </a:lnTo>
                <a:close/>
              </a:path>
              <a:path w="981075" h="767714">
                <a:moveTo>
                  <a:pt x="687324" y="499491"/>
                </a:moveTo>
                <a:lnTo>
                  <a:pt x="653796" y="499491"/>
                </a:lnTo>
                <a:lnTo>
                  <a:pt x="653796" y="536448"/>
                </a:lnTo>
                <a:lnTo>
                  <a:pt x="687324" y="536448"/>
                </a:lnTo>
                <a:lnTo>
                  <a:pt x="687324" y="499491"/>
                </a:lnTo>
                <a:close/>
              </a:path>
              <a:path w="981075" h="767714">
                <a:moveTo>
                  <a:pt x="804672" y="499491"/>
                </a:moveTo>
                <a:lnTo>
                  <a:pt x="771144" y="499491"/>
                </a:lnTo>
                <a:lnTo>
                  <a:pt x="771144" y="536448"/>
                </a:lnTo>
                <a:lnTo>
                  <a:pt x="804672" y="536448"/>
                </a:lnTo>
                <a:lnTo>
                  <a:pt x="804672" y="499491"/>
                </a:lnTo>
                <a:close/>
              </a:path>
              <a:path w="981075" h="767714">
                <a:moveTo>
                  <a:pt x="930402" y="499491"/>
                </a:moveTo>
                <a:lnTo>
                  <a:pt x="896874" y="499491"/>
                </a:lnTo>
                <a:lnTo>
                  <a:pt x="896874" y="536448"/>
                </a:lnTo>
                <a:lnTo>
                  <a:pt x="930402" y="536448"/>
                </a:lnTo>
                <a:lnTo>
                  <a:pt x="930402" y="499491"/>
                </a:lnTo>
                <a:close/>
              </a:path>
              <a:path w="981075" h="767714">
                <a:moveTo>
                  <a:pt x="561594" y="499491"/>
                </a:moveTo>
                <a:lnTo>
                  <a:pt x="529249" y="499491"/>
                </a:lnTo>
                <a:lnTo>
                  <a:pt x="561594" y="518708"/>
                </a:lnTo>
                <a:lnTo>
                  <a:pt x="561594" y="499491"/>
                </a:lnTo>
                <a:close/>
              </a:path>
              <a:path w="981075" h="767714">
                <a:moveTo>
                  <a:pt x="494538" y="185039"/>
                </a:moveTo>
                <a:lnTo>
                  <a:pt x="0" y="185039"/>
                </a:lnTo>
                <a:lnTo>
                  <a:pt x="494538" y="478867"/>
                </a:lnTo>
                <a:lnTo>
                  <a:pt x="494538" y="185039"/>
                </a:lnTo>
                <a:close/>
              </a:path>
              <a:path w="981075" h="767714">
                <a:moveTo>
                  <a:pt x="922020" y="407035"/>
                </a:moveTo>
                <a:lnTo>
                  <a:pt x="528066" y="407035"/>
                </a:lnTo>
                <a:lnTo>
                  <a:pt x="528066" y="425450"/>
                </a:lnTo>
                <a:lnTo>
                  <a:pt x="922020" y="425450"/>
                </a:lnTo>
                <a:lnTo>
                  <a:pt x="922020" y="407035"/>
                </a:lnTo>
                <a:close/>
              </a:path>
              <a:path w="981075" h="767714">
                <a:moveTo>
                  <a:pt x="930402" y="286766"/>
                </a:moveTo>
                <a:lnTo>
                  <a:pt x="528066" y="286766"/>
                </a:lnTo>
                <a:lnTo>
                  <a:pt x="528066" y="305308"/>
                </a:lnTo>
                <a:lnTo>
                  <a:pt x="930402" y="305308"/>
                </a:lnTo>
                <a:lnTo>
                  <a:pt x="930402" y="286766"/>
                </a:lnTo>
                <a:close/>
              </a:path>
              <a:path w="981075" h="767714">
                <a:moveTo>
                  <a:pt x="561594" y="175768"/>
                </a:moveTo>
                <a:lnTo>
                  <a:pt x="528066" y="175768"/>
                </a:lnTo>
                <a:lnTo>
                  <a:pt x="528066" y="212725"/>
                </a:lnTo>
                <a:lnTo>
                  <a:pt x="561594" y="212725"/>
                </a:lnTo>
                <a:lnTo>
                  <a:pt x="561594" y="175768"/>
                </a:lnTo>
                <a:close/>
              </a:path>
              <a:path w="981075" h="767714">
                <a:moveTo>
                  <a:pt x="687324" y="175768"/>
                </a:moveTo>
                <a:lnTo>
                  <a:pt x="653796" y="175768"/>
                </a:lnTo>
                <a:lnTo>
                  <a:pt x="653796" y="212725"/>
                </a:lnTo>
                <a:lnTo>
                  <a:pt x="687324" y="212725"/>
                </a:lnTo>
                <a:lnTo>
                  <a:pt x="687324" y="175768"/>
                </a:lnTo>
                <a:close/>
              </a:path>
              <a:path w="981075" h="767714">
                <a:moveTo>
                  <a:pt x="804672" y="175768"/>
                </a:moveTo>
                <a:lnTo>
                  <a:pt x="771144" y="175768"/>
                </a:lnTo>
                <a:lnTo>
                  <a:pt x="771144" y="212725"/>
                </a:lnTo>
                <a:lnTo>
                  <a:pt x="804672" y="212725"/>
                </a:lnTo>
                <a:lnTo>
                  <a:pt x="804672" y="175768"/>
                </a:lnTo>
                <a:close/>
              </a:path>
              <a:path w="981075" h="767714">
                <a:moveTo>
                  <a:pt x="930402" y="175768"/>
                </a:moveTo>
                <a:lnTo>
                  <a:pt x="896874" y="175768"/>
                </a:lnTo>
                <a:lnTo>
                  <a:pt x="896874" y="212725"/>
                </a:lnTo>
                <a:lnTo>
                  <a:pt x="930402" y="212725"/>
                </a:lnTo>
                <a:lnTo>
                  <a:pt x="930402" y="175768"/>
                </a:lnTo>
                <a:close/>
              </a:path>
              <a:path w="981075" h="767714">
                <a:moveTo>
                  <a:pt x="930402" y="120269"/>
                </a:moveTo>
                <a:lnTo>
                  <a:pt x="528066" y="120269"/>
                </a:lnTo>
                <a:lnTo>
                  <a:pt x="528066" y="138811"/>
                </a:lnTo>
                <a:lnTo>
                  <a:pt x="930402" y="138811"/>
                </a:lnTo>
                <a:lnTo>
                  <a:pt x="930402" y="120269"/>
                </a:lnTo>
                <a:close/>
              </a:path>
              <a:path w="981075" h="767714">
                <a:moveTo>
                  <a:pt x="930402" y="0"/>
                </a:moveTo>
                <a:lnTo>
                  <a:pt x="528066" y="0"/>
                </a:lnTo>
                <a:lnTo>
                  <a:pt x="528066" y="18542"/>
                </a:lnTo>
                <a:lnTo>
                  <a:pt x="930402" y="18542"/>
                </a:lnTo>
                <a:lnTo>
                  <a:pt x="93040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77886" y="1736979"/>
            <a:ext cx="981075" cy="1285875"/>
          </a:xfrm>
          <a:custGeom>
            <a:avLst/>
            <a:gdLst/>
            <a:ahLst/>
            <a:cxnLst/>
            <a:rect l="l" t="t" r="r" b="b"/>
            <a:pathLst>
              <a:path w="981075" h="1285875">
                <a:moveTo>
                  <a:pt x="0" y="1285494"/>
                </a:moveTo>
                <a:lnTo>
                  <a:pt x="980694" y="1285494"/>
                </a:lnTo>
                <a:lnTo>
                  <a:pt x="980694" y="0"/>
                </a:lnTo>
                <a:lnTo>
                  <a:pt x="0" y="0"/>
                </a:lnTo>
                <a:lnTo>
                  <a:pt x="0" y="1285494"/>
                </a:lnTo>
                <a:close/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540752" y="1857184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>
                <a:moveTo>
                  <a:pt x="0" y="0"/>
                </a:moveTo>
                <a:lnTo>
                  <a:pt x="360425" y="0"/>
                </a:lnTo>
              </a:path>
            </a:pathLst>
          </a:custGeom>
          <a:ln w="62103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477886" y="1995932"/>
            <a:ext cx="981075" cy="582930"/>
          </a:xfrm>
          <a:custGeom>
            <a:avLst/>
            <a:gdLst/>
            <a:ahLst/>
            <a:cxnLst/>
            <a:rect l="l" t="t" r="r" b="b"/>
            <a:pathLst>
              <a:path w="981075" h="582930">
                <a:moveTo>
                  <a:pt x="0" y="0"/>
                </a:moveTo>
                <a:lnTo>
                  <a:pt x="494538" y="0"/>
                </a:lnTo>
                <a:lnTo>
                  <a:pt x="494538" y="582676"/>
                </a:lnTo>
                <a:lnTo>
                  <a:pt x="980694" y="582676"/>
                </a:lnTo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993380" y="1820164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482" y="0"/>
                </a:lnTo>
              </a:path>
            </a:pathLst>
          </a:custGeom>
          <a:ln w="43688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993380" y="1940432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482" y="0"/>
                </a:lnTo>
              </a:path>
            </a:pathLst>
          </a:custGeom>
          <a:ln w="43687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993380" y="2106929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482" y="0"/>
                </a:lnTo>
              </a:path>
            </a:pathLst>
          </a:custGeom>
          <a:ln w="43687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993380" y="2227135"/>
            <a:ext cx="419100" cy="0"/>
          </a:xfrm>
          <a:custGeom>
            <a:avLst/>
            <a:gdLst/>
            <a:ahLst/>
            <a:cxnLst/>
            <a:rect l="l" t="t" r="r" b="b"/>
            <a:pathLst>
              <a:path w="419100">
                <a:moveTo>
                  <a:pt x="0" y="0"/>
                </a:moveTo>
                <a:lnTo>
                  <a:pt x="419100" y="0"/>
                </a:lnTo>
              </a:path>
            </a:pathLst>
          </a:custGeom>
          <a:ln w="43561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05953" y="1986660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0" y="0"/>
                </a:moveTo>
                <a:lnTo>
                  <a:pt x="33527" y="0"/>
                </a:lnTo>
                <a:lnTo>
                  <a:pt x="33527" y="36956"/>
                </a:lnTo>
                <a:lnTo>
                  <a:pt x="0" y="36956"/>
                </a:lnTo>
                <a:lnTo>
                  <a:pt x="0" y="0"/>
                </a:lnTo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31682" y="1986660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0" y="0"/>
                </a:moveTo>
                <a:lnTo>
                  <a:pt x="33527" y="0"/>
                </a:lnTo>
                <a:lnTo>
                  <a:pt x="33527" y="36956"/>
                </a:lnTo>
                <a:lnTo>
                  <a:pt x="0" y="36956"/>
                </a:lnTo>
                <a:lnTo>
                  <a:pt x="0" y="0"/>
                </a:lnTo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49031" y="1986660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0" y="0"/>
                </a:moveTo>
                <a:lnTo>
                  <a:pt x="33527" y="0"/>
                </a:lnTo>
                <a:lnTo>
                  <a:pt x="33527" y="36956"/>
                </a:lnTo>
                <a:lnTo>
                  <a:pt x="0" y="36956"/>
                </a:lnTo>
                <a:lnTo>
                  <a:pt x="0" y="0"/>
                </a:lnTo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374760" y="1986660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0" y="0"/>
                </a:moveTo>
                <a:lnTo>
                  <a:pt x="33528" y="0"/>
                </a:lnTo>
                <a:lnTo>
                  <a:pt x="33528" y="36956"/>
                </a:lnTo>
                <a:lnTo>
                  <a:pt x="0" y="36956"/>
                </a:lnTo>
                <a:lnTo>
                  <a:pt x="0" y="0"/>
                </a:lnTo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05953" y="2310383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0" y="0"/>
                </a:moveTo>
                <a:lnTo>
                  <a:pt x="33527" y="0"/>
                </a:lnTo>
                <a:lnTo>
                  <a:pt x="33527" y="36956"/>
                </a:lnTo>
                <a:lnTo>
                  <a:pt x="0" y="36956"/>
                </a:lnTo>
                <a:lnTo>
                  <a:pt x="0" y="0"/>
                </a:lnTo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31682" y="2310383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0" y="0"/>
                </a:moveTo>
                <a:lnTo>
                  <a:pt x="33527" y="0"/>
                </a:lnTo>
                <a:lnTo>
                  <a:pt x="33527" y="36956"/>
                </a:lnTo>
                <a:lnTo>
                  <a:pt x="0" y="36956"/>
                </a:lnTo>
                <a:lnTo>
                  <a:pt x="0" y="0"/>
                </a:lnTo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249031" y="2310383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0" y="0"/>
                </a:moveTo>
                <a:lnTo>
                  <a:pt x="33527" y="0"/>
                </a:lnTo>
                <a:lnTo>
                  <a:pt x="33527" y="36956"/>
                </a:lnTo>
                <a:lnTo>
                  <a:pt x="0" y="36956"/>
                </a:lnTo>
                <a:lnTo>
                  <a:pt x="0" y="0"/>
                </a:lnTo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374760" y="2310383"/>
            <a:ext cx="33655" cy="37465"/>
          </a:xfrm>
          <a:custGeom>
            <a:avLst/>
            <a:gdLst/>
            <a:ahLst/>
            <a:cxnLst/>
            <a:rect l="l" t="t" r="r" b="b"/>
            <a:pathLst>
              <a:path w="33654" h="37464">
                <a:moveTo>
                  <a:pt x="0" y="0"/>
                </a:moveTo>
                <a:lnTo>
                  <a:pt x="33528" y="0"/>
                </a:lnTo>
                <a:lnTo>
                  <a:pt x="33528" y="36956"/>
                </a:lnTo>
                <a:lnTo>
                  <a:pt x="0" y="36956"/>
                </a:lnTo>
                <a:lnTo>
                  <a:pt x="0" y="0"/>
                </a:lnTo>
              </a:path>
            </a:pathLst>
          </a:custGeom>
          <a:ln w="25145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972425" y="2578607"/>
            <a:ext cx="0" cy="443865"/>
          </a:xfrm>
          <a:custGeom>
            <a:avLst/>
            <a:gdLst/>
            <a:ahLst/>
            <a:cxnLst/>
            <a:rect l="l" t="t" r="r" b="b"/>
            <a:pathLst>
              <a:path h="443864">
                <a:moveTo>
                  <a:pt x="0" y="0"/>
                </a:moveTo>
                <a:lnTo>
                  <a:pt x="0" y="73913"/>
                </a:lnTo>
                <a:lnTo>
                  <a:pt x="0" y="351408"/>
                </a:lnTo>
                <a:lnTo>
                  <a:pt x="0" y="443864"/>
                </a:lnTo>
                <a:lnTo>
                  <a:pt x="0" y="0"/>
                </a:lnTo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972425" y="1736979"/>
            <a:ext cx="0" cy="259079"/>
          </a:xfrm>
          <a:custGeom>
            <a:avLst/>
            <a:gdLst/>
            <a:ahLst/>
            <a:cxnLst/>
            <a:rect l="l" t="t" r="r" b="b"/>
            <a:pathLst>
              <a:path h="259080">
                <a:moveTo>
                  <a:pt x="0" y="258953"/>
                </a:moveTo>
                <a:lnTo>
                  <a:pt x="0" y="212725"/>
                </a:lnTo>
                <a:lnTo>
                  <a:pt x="0" y="55499"/>
                </a:lnTo>
                <a:lnTo>
                  <a:pt x="0" y="0"/>
                </a:lnTo>
                <a:lnTo>
                  <a:pt x="0" y="258953"/>
                </a:lnTo>
              </a:path>
            </a:pathLst>
          </a:custGeom>
          <a:ln w="25146">
            <a:solidFill>
              <a:srgbClr val="0022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570469" y="5237734"/>
            <a:ext cx="7861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Verdana"/>
                <a:cs typeface="Verdana"/>
              </a:rPr>
              <a:t>Destino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64769" marR="9525" indent="-48260">
              <a:lnSpc>
                <a:spcPct val="100000"/>
              </a:lnSpc>
            </a:pPr>
            <a:r>
              <a:rPr sz="1400" spc="-5" dirty="0">
                <a:latin typeface="Verdana"/>
                <a:cs typeface="Verdana"/>
              </a:rPr>
              <a:t>Se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spc="-5" dirty="0">
                <a:latin typeface="Verdana"/>
                <a:cs typeface="Verdana"/>
              </a:rPr>
              <a:t>vid</a:t>
            </a:r>
            <a:r>
              <a:rPr sz="1400" dirty="0">
                <a:latin typeface="Verdana"/>
                <a:cs typeface="Verdana"/>
              </a:rPr>
              <a:t>o</a:t>
            </a:r>
            <a:r>
              <a:rPr sz="1400" spc="-5" dirty="0">
                <a:latin typeface="Verdana"/>
                <a:cs typeface="Verdana"/>
              </a:rPr>
              <a:t>r  </a:t>
            </a:r>
            <a:r>
              <a:rPr sz="1400" spc="-25" dirty="0">
                <a:latin typeface="Verdana"/>
                <a:cs typeface="Verdana"/>
              </a:rPr>
              <a:t>Web,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endParaRPr spc="-30" dirty="0"/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59</a:t>
            </a:fld>
            <a:endParaRPr spc="-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r>
              <a:rPr spc="-30" dirty="0"/>
              <a:t>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8615045" cy="4723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5" dirty="0">
                <a:latin typeface="Trebuchet MS"/>
                <a:cs typeface="Trebuchet MS"/>
              </a:rPr>
              <a:t>Funciones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30" dirty="0">
                <a:latin typeface="Trebuchet MS"/>
                <a:cs typeface="Trebuchet MS"/>
              </a:rPr>
              <a:t>un </a:t>
            </a:r>
            <a:r>
              <a:rPr sz="2400" b="1" spc="-125" dirty="0">
                <a:latin typeface="Trebuchet MS"/>
                <a:cs typeface="Trebuchet MS"/>
              </a:rPr>
              <a:t>Sistema </a:t>
            </a:r>
            <a:r>
              <a:rPr sz="2400" b="1" spc="-140" dirty="0">
                <a:latin typeface="Trebuchet MS"/>
                <a:cs typeface="Trebuchet MS"/>
              </a:rPr>
              <a:t>de</a:t>
            </a:r>
            <a:r>
              <a:rPr sz="2400" b="1" spc="-370" dirty="0">
                <a:latin typeface="Trebuchet MS"/>
                <a:cs typeface="Trebuchet MS"/>
              </a:rPr>
              <a:t>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673735" algn="l"/>
                <a:tab pos="1529080" algn="l"/>
                <a:tab pos="1845310" algn="l"/>
                <a:tab pos="2713990" algn="l"/>
                <a:tab pos="4184015" algn="l"/>
                <a:tab pos="4644390" algn="l"/>
                <a:tab pos="5113655" algn="l"/>
                <a:tab pos="5840095" algn="l"/>
                <a:tab pos="6160770" algn="l"/>
                <a:tab pos="6864984" algn="l"/>
                <a:tab pos="7333615" algn="l"/>
                <a:tab pos="8335645" algn="l"/>
              </a:tabLst>
            </a:pPr>
            <a:r>
              <a:rPr sz="2000" b="1" spc="-160" dirty="0">
                <a:latin typeface="Trebuchet MS"/>
                <a:cs typeface="Trebuchet MS"/>
              </a:rPr>
              <a:t>P</a:t>
            </a:r>
            <a:r>
              <a:rPr sz="2000" b="1" spc="-125" dirty="0">
                <a:latin typeface="Trebuchet MS"/>
                <a:cs typeface="Trebuchet MS"/>
              </a:rPr>
              <a:t>a</a:t>
            </a:r>
            <a:r>
              <a:rPr sz="2000" b="1" spc="-140" dirty="0">
                <a:latin typeface="Trebuchet MS"/>
                <a:cs typeface="Trebuchet MS"/>
              </a:rPr>
              <a:t>r</a:t>
            </a:r>
            <a:r>
              <a:rPr sz="2000" b="1" spc="-80" dirty="0">
                <a:latin typeface="Trebuchet MS"/>
                <a:cs typeface="Trebuchet MS"/>
              </a:rPr>
              <a:t>a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30" dirty="0">
                <a:latin typeface="Trebuchet MS"/>
                <a:cs typeface="Trebuchet MS"/>
              </a:rPr>
              <a:t>e</a:t>
            </a:r>
            <a:r>
              <a:rPr sz="2000" b="1" spc="-155" dirty="0">
                <a:latin typeface="Trebuchet MS"/>
                <a:cs typeface="Trebuchet MS"/>
              </a:rPr>
              <a:t>n</a:t>
            </a:r>
            <a:r>
              <a:rPr sz="2000" b="1" spc="-120" dirty="0">
                <a:latin typeface="Trebuchet MS"/>
                <a:cs typeface="Trebuchet MS"/>
              </a:rPr>
              <a:t>via</a:t>
            </a:r>
            <a:r>
              <a:rPr sz="2000" b="1" spc="-105" dirty="0">
                <a:latin typeface="Trebuchet MS"/>
                <a:cs typeface="Trebuchet MS"/>
              </a:rPr>
              <a:t>r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25" dirty="0">
                <a:latin typeface="Trebuchet MS"/>
                <a:cs typeface="Trebuchet MS"/>
              </a:rPr>
              <a:t>y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70" dirty="0">
                <a:latin typeface="Trebuchet MS"/>
                <a:cs typeface="Trebuchet MS"/>
              </a:rPr>
              <a:t>r</a:t>
            </a:r>
            <a:r>
              <a:rPr sz="2000" b="1" spc="-140" dirty="0">
                <a:latin typeface="Trebuchet MS"/>
                <a:cs typeface="Trebuchet MS"/>
              </a:rPr>
              <a:t>e</a:t>
            </a:r>
            <a:r>
              <a:rPr sz="2000" b="1" spc="-135" dirty="0">
                <a:latin typeface="Trebuchet MS"/>
                <a:cs typeface="Trebuchet MS"/>
              </a:rPr>
              <a:t>cibi</a:t>
            </a:r>
            <a:r>
              <a:rPr sz="2000" b="1" spc="-130" dirty="0">
                <a:latin typeface="Trebuchet MS"/>
                <a:cs typeface="Trebuchet MS"/>
              </a:rPr>
              <a:t>r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14" dirty="0">
                <a:latin typeface="Trebuchet MS"/>
                <a:cs typeface="Trebuchet MS"/>
              </a:rPr>
              <a:t>in</a:t>
            </a:r>
            <a:r>
              <a:rPr sz="2000" b="1" spc="-135" dirty="0">
                <a:latin typeface="Trebuchet MS"/>
                <a:cs typeface="Trebuchet MS"/>
              </a:rPr>
              <a:t>f</a:t>
            </a:r>
            <a:r>
              <a:rPr sz="2000" b="1" spc="-100" dirty="0">
                <a:latin typeface="Trebuchet MS"/>
                <a:cs typeface="Trebuchet MS"/>
              </a:rPr>
              <a:t>orm</a:t>
            </a:r>
            <a:r>
              <a:rPr sz="2000" b="1" spc="-80" dirty="0">
                <a:latin typeface="Trebuchet MS"/>
                <a:cs typeface="Trebuchet MS"/>
              </a:rPr>
              <a:t>a</a:t>
            </a:r>
            <a:r>
              <a:rPr sz="2000" b="1" spc="-114" dirty="0">
                <a:latin typeface="Trebuchet MS"/>
                <a:cs typeface="Trebuchet MS"/>
              </a:rPr>
              <a:t>ció</a:t>
            </a:r>
            <a:r>
              <a:rPr sz="2000" b="1" spc="-140" dirty="0">
                <a:latin typeface="Trebuchet MS"/>
                <a:cs typeface="Trebuchet MS"/>
              </a:rPr>
              <a:t>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14" dirty="0">
                <a:latin typeface="Trebuchet MS"/>
                <a:cs typeface="Trebuchet MS"/>
              </a:rPr>
              <a:t>d</a:t>
            </a:r>
            <a:r>
              <a:rPr sz="2000" b="1" spc="-120" dirty="0">
                <a:latin typeface="Trebuchet MS"/>
                <a:cs typeface="Trebuchet MS"/>
              </a:rPr>
              <a:t>e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5" dirty="0">
                <a:latin typeface="Trebuchet MS"/>
                <a:cs typeface="Trebuchet MS"/>
              </a:rPr>
              <a:t>u</a:t>
            </a:r>
            <a:r>
              <a:rPr sz="2000" b="1" spc="-110" dirty="0">
                <a:latin typeface="Trebuchet MS"/>
                <a:cs typeface="Trebuchet MS"/>
              </a:rPr>
              <a:t>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85" dirty="0">
                <a:latin typeface="Trebuchet MS"/>
                <a:cs typeface="Trebuchet MS"/>
              </a:rPr>
              <a:t>lu</a:t>
            </a:r>
            <a:r>
              <a:rPr sz="2000" b="1" spc="-135" dirty="0">
                <a:latin typeface="Trebuchet MS"/>
                <a:cs typeface="Trebuchet MS"/>
              </a:rPr>
              <a:t>g</a:t>
            </a:r>
            <a:r>
              <a:rPr sz="2000" b="1" spc="-114" dirty="0">
                <a:latin typeface="Trebuchet MS"/>
                <a:cs typeface="Trebuchet MS"/>
              </a:rPr>
              <a:t>ar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80" dirty="0">
                <a:latin typeface="Trebuchet MS"/>
                <a:cs typeface="Trebuchet MS"/>
              </a:rPr>
              <a:t>a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05" dirty="0">
                <a:latin typeface="Trebuchet MS"/>
                <a:cs typeface="Trebuchet MS"/>
              </a:rPr>
              <a:t>ot</a:t>
            </a:r>
            <a:r>
              <a:rPr sz="2000" b="1" spc="-125" dirty="0">
                <a:latin typeface="Trebuchet MS"/>
                <a:cs typeface="Trebuchet MS"/>
              </a:rPr>
              <a:t>r</a:t>
            </a:r>
            <a:r>
              <a:rPr sz="2000" b="1" spc="-90" dirty="0">
                <a:latin typeface="Trebuchet MS"/>
                <a:cs typeface="Trebuchet MS"/>
              </a:rPr>
              <a:t>o</a:t>
            </a:r>
            <a:r>
              <a:rPr sz="2000" b="1" spc="-220" dirty="0">
                <a:latin typeface="Trebuchet MS"/>
                <a:cs typeface="Trebuchet MS"/>
              </a:rPr>
              <a:t>,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110" dirty="0">
                <a:latin typeface="Trebuchet MS"/>
                <a:cs typeface="Trebuchet MS"/>
              </a:rPr>
              <a:t>un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75" dirty="0">
                <a:latin typeface="Trebuchet MS"/>
                <a:cs typeface="Trebuchet MS"/>
              </a:rPr>
              <a:t>si</a:t>
            </a:r>
            <a:r>
              <a:rPr sz="2000" b="1" spc="-114" dirty="0">
                <a:latin typeface="Trebuchet MS"/>
                <a:cs typeface="Trebuchet MS"/>
              </a:rPr>
              <a:t>s</a:t>
            </a:r>
            <a:r>
              <a:rPr sz="2000" b="1" spc="-135" dirty="0">
                <a:latin typeface="Trebuchet MS"/>
                <a:cs typeface="Trebuchet MS"/>
              </a:rPr>
              <a:t>t</a:t>
            </a:r>
            <a:r>
              <a:rPr sz="2000" b="1" spc="-140" dirty="0">
                <a:latin typeface="Trebuchet MS"/>
                <a:cs typeface="Trebuchet MS"/>
              </a:rPr>
              <a:t>e</a:t>
            </a:r>
            <a:r>
              <a:rPr sz="2000" b="1" spc="-114" dirty="0">
                <a:latin typeface="Trebuchet MS"/>
                <a:cs typeface="Trebuchet MS"/>
              </a:rPr>
              <a:t>m</a:t>
            </a:r>
            <a:r>
              <a:rPr sz="2000" b="1" spc="-70" dirty="0">
                <a:latin typeface="Trebuchet MS"/>
                <a:cs typeface="Trebuchet MS"/>
              </a:rPr>
              <a:t>a</a:t>
            </a:r>
            <a:r>
              <a:rPr sz="2000" b="1" dirty="0">
                <a:latin typeface="Trebuchet MS"/>
                <a:cs typeface="Trebuchet MS"/>
              </a:rPr>
              <a:t>	</a:t>
            </a:r>
            <a:r>
              <a:rPr sz="2000" b="1" spc="-85" dirty="0">
                <a:latin typeface="Trebuchet MS"/>
                <a:cs typeface="Trebuchet MS"/>
              </a:rPr>
              <a:t>de  </a:t>
            </a:r>
            <a:r>
              <a:rPr sz="2000" b="1" spc="-120" dirty="0">
                <a:latin typeface="Trebuchet MS"/>
                <a:cs typeface="Trebuchet MS"/>
              </a:rPr>
              <a:t>telecomunicaciones debe </a:t>
            </a:r>
            <a:r>
              <a:rPr sz="2000" b="1" spc="-140" dirty="0">
                <a:latin typeface="Trebuchet MS"/>
                <a:cs typeface="Trebuchet MS"/>
              </a:rPr>
              <a:t>efectuar </a:t>
            </a:r>
            <a:r>
              <a:rPr sz="2000" b="1" spc="-100" dirty="0">
                <a:latin typeface="Trebuchet MS"/>
                <a:cs typeface="Trebuchet MS"/>
              </a:rPr>
              <a:t>una </a:t>
            </a:r>
            <a:r>
              <a:rPr sz="2000" b="1" spc="-125" dirty="0">
                <a:latin typeface="Trebuchet MS"/>
                <a:cs typeface="Trebuchet MS"/>
              </a:rPr>
              <a:t>serie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14" dirty="0">
                <a:latin typeface="Trebuchet MS"/>
                <a:cs typeface="Trebuchet MS"/>
              </a:rPr>
              <a:t>funciones</a:t>
            </a:r>
            <a:r>
              <a:rPr sz="2000" b="1" spc="-235" dirty="0">
                <a:latin typeface="Trebuchet MS"/>
                <a:cs typeface="Trebuchet MS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separadas: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110" dirty="0">
                <a:latin typeface="Arial"/>
                <a:cs typeface="Arial"/>
              </a:rPr>
              <a:t>Establecer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b="1" i="1" spc="-100" dirty="0">
                <a:latin typeface="Arial"/>
                <a:cs typeface="Arial"/>
              </a:rPr>
              <a:t>interfaz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b="1" i="1" spc="-160" dirty="0">
                <a:latin typeface="Arial"/>
                <a:cs typeface="Arial"/>
              </a:rPr>
              <a:t>emisor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5" dirty="0">
                <a:latin typeface="Arial"/>
                <a:cs typeface="Arial"/>
              </a:rPr>
              <a:t>el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b="1" i="1" spc="-130" dirty="0">
                <a:latin typeface="Arial"/>
                <a:cs typeface="Arial"/>
              </a:rPr>
              <a:t>receptor</a:t>
            </a:r>
            <a:r>
              <a:rPr sz="2000" spc="-13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65" dirty="0">
                <a:latin typeface="Arial"/>
                <a:cs typeface="Arial"/>
              </a:rPr>
              <a:t>Mandar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b="1" i="1" spc="-175" dirty="0">
                <a:latin typeface="Arial"/>
                <a:cs typeface="Arial"/>
              </a:rPr>
              <a:t>mensajes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5" dirty="0">
                <a:latin typeface="Arial"/>
                <a:cs typeface="Arial"/>
              </a:rPr>
              <a:t>través 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b="1" i="1" spc="-130" dirty="0">
                <a:latin typeface="Arial"/>
                <a:cs typeface="Arial"/>
              </a:rPr>
              <a:t>rutas </a:t>
            </a:r>
            <a:r>
              <a:rPr sz="2000" spc="-150" dirty="0">
                <a:latin typeface="Arial"/>
                <a:cs typeface="Arial"/>
              </a:rPr>
              <a:t>más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eficientes.</a:t>
            </a:r>
            <a:endParaRPr sz="2000">
              <a:latin typeface="Arial"/>
              <a:cs typeface="Arial"/>
            </a:endParaRPr>
          </a:p>
          <a:p>
            <a:pPr marL="469900" marR="635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125" dirty="0">
                <a:latin typeface="Arial"/>
                <a:cs typeface="Arial"/>
              </a:rPr>
              <a:t>Realizar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b="1" i="1" spc="-155" dirty="0">
                <a:latin typeface="Arial"/>
                <a:cs typeface="Arial"/>
              </a:rPr>
              <a:t>procesamiento </a:t>
            </a:r>
            <a:r>
              <a:rPr sz="2000" b="1" i="1" spc="-110" dirty="0">
                <a:latin typeface="Arial"/>
                <a:cs typeface="Arial"/>
              </a:rPr>
              <a:t>elemental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95" dirty="0">
                <a:latin typeface="Arial"/>
                <a:cs typeface="Arial"/>
              </a:rPr>
              <a:t>para </a:t>
            </a:r>
            <a:r>
              <a:rPr sz="2000" i="1" spc="-80" dirty="0">
                <a:latin typeface="Trebuchet MS"/>
                <a:cs typeface="Trebuchet MS"/>
              </a:rPr>
              <a:t>asegurarse </a:t>
            </a:r>
            <a:r>
              <a:rPr sz="2000" i="1" spc="-110" dirty="0">
                <a:latin typeface="Trebuchet MS"/>
                <a:cs typeface="Trebuchet MS"/>
              </a:rPr>
              <a:t>de que  </a:t>
            </a:r>
            <a:r>
              <a:rPr sz="2000" i="1" spc="-155" dirty="0">
                <a:latin typeface="Trebuchet MS"/>
                <a:cs typeface="Trebuchet MS"/>
              </a:rPr>
              <a:t>el </a:t>
            </a:r>
            <a:r>
              <a:rPr sz="2000" i="1" spc="-100" dirty="0">
                <a:latin typeface="Trebuchet MS"/>
                <a:cs typeface="Trebuchet MS"/>
              </a:rPr>
              <a:t>mensaje </a:t>
            </a:r>
            <a:r>
              <a:rPr sz="2000" i="1" spc="-120" dirty="0">
                <a:latin typeface="Trebuchet MS"/>
                <a:cs typeface="Trebuchet MS"/>
              </a:rPr>
              <a:t>correcto </a:t>
            </a:r>
            <a:r>
              <a:rPr sz="2000" i="1" spc="-114" dirty="0">
                <a:latin typeface="Trebuchet MS"/>
                <a:cs typeface="Trebuchet MS"/>
              </a:rPr>
              <a:t>llegue </a:t>
            </a:r>
            <a:r>
              <a:rPr sz="2000" i="1" spc="-110" dirty="0">
                <a:latin typeface="Trebuchet MS"/>
                <a:cs typeface="Trebuchet MS"/>
              </a:rPr>
              <a:t>al </a:t>
            </a:r>
            <a:r>
              <a:rPr sz="2000" i="1" spc="-125" dirty="0">
                <a:latin typeface="Trebuchet MS"/>
                <a:cs typeface="Trebuchet MS"/>
              </a:rPr>
              <a:t>receptor</a:t>
            </a:r>
            <a:r>
              <a:rPr sz="2000" i="1" spc="-315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correcto</a:t>
            </a:r>
            <a:r>
              <a:rPr sz="2000" spc="-1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69900" marR="635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125" dirty="0">
                <a:latin typeface="Arial"/>
                <a:cs typeface="Arial"/>
              </a:rPr>
              <a:t>Realizar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b="1" i="1" spc="-110" dirty="0">
                <a:latin typeface="Arial"/>
                <a:cs typeface="Arial"/>
              </a:rPr>
              <a:t>tareas </a:t>
            </a:r>
            <a:r>
              <a:rPr sz="2000" b="1" i="1" spc="-170" dirty="0">
                <a:latin typeface="Arial"/>
                <a:cs typeface="Arial"/>
              </a:rPr>
              <a:t>necesarias </a:t>
            </a:r>
            <a:r>
              <a:rPr sz="2000" spc="-95" dirty="0">
                <a:latin typeface="Arial"/>
                <a:cs typeface="Arial"/>
              </a:rPr>
              <a:t>sobre </a:t>
            </a:r>
            <a:r>
              <a:rPr sz="2000" spc="-90" dirty="0">
                <a:latin typeface="Arial"/>
                <a:cs typeface="Arial"/>
              </a:rPr>
              <a:t>los datos </a:t>
            </a:r>
            <a:r>
              <a:rPr sz="2000" spc="-80" dirty="0">
                <a:latin typeface="Arial"/>
                <a:cs typeface="Arial"/>
              </a:rPr>
              <a:t>tales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i="1" spc="-130" dirty="0">
                <a:latin typeface="Trebuchet MS"/>
                <a:cs typeface="Trebuchet MS"/>
              </a:rPr>
              <a:t>verificar </a:t>
            </a:r>
            <a:r>
              <a:rPr sz="2000" i="1" spc="-110" dirty="0">
                <a:latin typeface="Trebuchet MS"/>
                <a:cs typeface="Trebuchet MS"/>
              </a:rPr>
              <a:t>errores de  </a:t>
            </a:r>
            <a:r>
              <a:rPr sz="2000" i="1" spc="-90" dirty="0">
                <a:latin typeface="Trebuchet MS"/>
                <a:cs typeface="Trebuchet MS"/>
              </a:rPr>
              <a:t>transmisión </a:t>
            </a:r>
            <a:r>
              <a:rPr sz="2000" i="1" spc="-95" dirty="0">
                <a:latin typeface="Trebuchet MS"/>
                <a:cs typeface="Trebuchet MS"/>
              </a:rPr>
              <a:t>y </a:t>
            </a:r>
            <a:r>
              <a:rPr sz="2000" i="1" spc="-105" dirty="0">
                <a:latin typeface="Trebuchet MS"/>
                <a:cs typeface="Trebuchet MS"/>
              </a:rPr>
              <a:t>reordenar </a:t>
            </a:r>
            <a:r>
              <a:rPr sz="2000" i="1" spc="-155" dirty="0">
                <a:latin typeface="Trebuchet MS"/>
                <a:cs typeface="Trebuchet MS"/>
              </a:rPr>
              <a:t>el</a:t>
            </a:r>
            <a:r>
              <a:rPr sz="2000" i="1" spc="-320" dirty="0">
                <a:latin typeface="Trebuchet MS"/>
                <a:cs typeface="Trebuchet MS"/>
              </a:rPr>
              <a:t> </a:t>
            </a:r>
            <a:r>
              <a:rPr sz="2000" i="1" spc="-105" dirty="0">
                <a:latin typeface="Trebuchet MS"/>
                <a:cs typeface="Trebuchet MS"/>
              </a:rPr>
              <a:t>formato</a:t>
            </a:r>
            <a:r>
              <a:rPr sz="2000" spc="-10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69900" marR="7620" indent="-457200" algn="just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sz="2000" spc="-70" dirty="0">
                <a:latin typeface="Arial"/>
                <a:cs typeface="Arial"/>
              </a:rPr>
              <a:t>Convertir </a:t>
            </a:r>
            <a:r>
              <a:rPr sz="2000" b="1" i="1" spc="-175" dirty="0">
                <a:latin typeface="Arial"/>
                <a:cs typeface="Arial"/>
              </a:rPr>
              <a:t>mensajes </a:t>
            </a:r>
            <a:r>
              <a:rPr sz="2000" spc="-95" dirty="0">
                <a:latin typeface="Arial"/>
                <a:cs typeface="Arial"/>
              </a:rPr>
              <a:t>de una </a:t>
            </a:r>
            <a:r>
              <a:rPr sz="2000" b="1" i="1" spc="-150" dirty="0">
                <a:latin typeface="Arial"/>
                <a:cs typeface="Arial"/>
              </a:rPr>
              <a:t>velocidad </a:t>
            </a:r>
            <a:r>
              <a:rPr sz="2000" spc="-55" dirty="0">
                <a:latin typeface="Arial"/>
                <a:cs typeface="Arial"/>
              </a:rPr>
              <a:t>–por </a:t>
            </a:r>
            <a:r>
              <a:rPr sz="2000" spc="-60" dirty="0">
                <a:latin typeface="Arial"/>
                <a:cs typeface="Arial"/>
              </a:rPr>
              <a:t>ejemplo,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velocidad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una  </a:t>
            </a:r>
            <a:r>
              <a:rPr sz="2000" spc="-75" dirty="0">
                <a:latin typeface="Arial"/>
                <a:cs typeface="Arial"/>
              </a:rPr>
              <a:t>computadora-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velocidad </a:t>
            </a:r>
            <a:r>
              <a:rPr sz="2000" spc="-95" dirty="0">
                <a:latin typeface="Arial"/>
                <a:cs typeface="Arial"/>
              </a:rPr>
              <a:t>de una </a:t>
            </a:r>
            <a:r>
              <a:rPr sz="2000" b="1" i="1" spc="-100" dirty="0">
                <a:latin typeface="Arial"/>
                <a:cs typeface="Arial"/>
              </a:rPr>
              <a:t>línea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90" dirty="0">
                <a:latin typeface="Arial"/>
                <a:cs typeface="Arial"/>
              </a:rPr>
              <a:t>comunicaciones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35" dirty="0">
                <a:latin typeface="Arial"/>
                <a:cs typeface="Arial"/>
              </a:rPr>
              <a:t>formato  </a:t>
            </a:r>
            <a:r>
              <a:rPr sz="2000" spc="-160" dirty="0">
                <a:latin typeface="Arial"/>
                <a:cs typeface="Arial"/>
              </a:rPr>
              <a:t>a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otro.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70" dirty="0">
                <a:latin typeface="Arial"/>
                <a:cs typeface="Arial"/>
              </a:rPr>
              <a:t>Controlar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b="1" i="1" spc="-105" dirty="0">
                <a:latin typeface="Arial"/>
                <a:cs typeface="Arial"/>
              </a:rPr>
              <a:t>flujo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65" dirty="0">
                <a:latin typeface="Arial"/>
                <a:cs typeface="Arial"/>
              </a:rPr>
              <a:t>la</a:t>
            </a:r>
            <a:r>
              <a:rPr sz="2000" b="1" i="1" spc="-155" dirty="0">
                <a:latin typeface="Arial"/>
                <a:cs typeface="Arial"/>
              </a:rPr>
              <a:t> </a:t>
            </a:r>
            <a:r>
              <a:rPr sz="2000" b="1" i="1" spc="-130" dirty="0">
                <a:latin typeface="Arial"/>
                <a:cs typeface="Arial"/>
              </a:rPr>
              <a:t>información</a:t>
            </a:r>
            <a:r>
              <a:rPr sz="2000" spc="-13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6022340" cy="539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02535">
              <a:lnSpc>
                <a:spcPct val="100000"/>
              </a:lnSpc>
              <a:spcBef>
                <a:spcPts val="100"/>
              </a:spcBef>
            </a:pPr>
            <a:r>
              <a:rPr sz="2400" b="1" spc="-155" dirty="0">
                <a:latin typeface="Trebuchet MS"/>
                <a:cs typeface="Trebuchet MS"/>
              </a:rPr>
              <a:t>Funciones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30" dirty="0">
                <a:latin typeface="Trebuchet MS"/>
                <a:cs typeface="Trebuchet MS"/>
              </a:rPr>
              <a:t>un </a:t>
            </a:r>
            <a:r>
              <a:rPr sz="2400" b="1" spc="-125" dirty="0">
                <a:latin typeface="Trebuchet MS"/>
                <a:cs typeface="Trebuchet MS"/>
              </a:rPr>
              <a:t>Sistema</a:t>
            </a:r>
            <a:r>
              <a:rPr sz="2400" b="1" spc="-350" dirty="0">
                <a:latin typeface="Trebuchet MS"/>
                <a:cs typeface="Trebuchet MS"/>
              </a:rPr>
              <a:t> </a:t>
            </a:r>
            <a:r>
              <a:rPr sz="2400" b="1" spc="-140" dirty="0">
                <a:latin typeface="Trebuchet MS"/>
                <a:cs typeface="Trebuchet MS"/>
              </a:rPr>
              <a:t>de 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b="1" spc="-155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Times New Roman"/>
              <a:cs typeface="Times New Roman"/>
            </a:endParaRPr>
          </a:p>
          <a:p>
            <a:pPr marL="295275" marR="5080" indent="-282575" algn="just">
              <a:lnSpc>
                <a:spcPct val="100000"/>
              </a:lnSpc>
              <a:buFont typeface="Wingdings"/>
              <a:buChar char=""/>
              <a:tabLst>
                <a:tab pos="295910" algn="l"/>
              </a:tabLst>
            </a:pP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50" dirty="0">
                <a:latin typeface="Arial"/>
                <a:cs typeface="Arial"/>
              </a:rPr>
              <a:t>distintos </a:t>
            </a:r>
            <a:r>
              <a:rPr sz="2000" spc="-90" dirty="0">
                <a:latin typeface="Arial"/>
                <a:cs typeface="Arial"/>
              </a:rPr>
              <a:t>componentes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hardware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5" dirty="0">
                <a:latin typeface="Arial"/>
                <a:cs typeface="Arial"/>
              </a:rPr>
              <a:t>software  </a:t>
            </a:r>
            <a:r>
              <a:rPr sz="2000" spc="-90" dirty="0">
                <a:latin typeface="Arial"/>
                <a:cs typeface="Arial"/>
              </a:rPr>
              <a:t>necesitan </a:t>
            </a:r>
            <a:r>
              <a:rPr sz="2000" spc="-50" dirty="0">
                <a:latin typeface="Arial"/>
                <a:cs typeface="Arial"/>
              </a:rPr>
              <a:t>trabajar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0" dirty="0">
                <a:latin typeface="Arial"/>
                <a:cs typeface="Arial"/>
              </a:rPr>
              <a:t>conjunto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25" dirty="0">
                <a:latin typeface="Arial"/>
                <a:cs typeface="Arial"/>
              </a:rPr>
              <a:t>transmitir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55" dirty="0">
                <a:latin typeface="Arial"/>
                <a:cs typeface="Arial"/>
              </a:rPr>
              <a:t>información.</a:t>
            </a:r>
            <a:endParaRPr sz="2000">
              <a:latin typeface="Arial"/>
              <a:cs typeface="Arial"/>
            </a:endParaRPr>
          </a:p>
          <a:p>
            <a:pPr marL="295275" marR="5715" indent="-282575" algn="just">
              <a:lnSpc>
                <a:spcPct val="100000"/>
              </a:lnSpc>
              <a:buFont typeface="Wingdings"/>
              <a:buChar char=""/>
              <a:tabLst>
                <a:tab pos="295910" algn="l"/>
              </a:tabLst>
            </a:pP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65" dirty="0">
                <a:latin typeface="Arial"/>
                <a:cs typeface="Arial"/>
              </a:rPr>
              <a:t>diferentes </a:t>
            </a:r>
            <a:r>
              <a:rPr sz="2000" spc="-90" dirty="0">
                <a:latin typeface="Arial"/>
                <a:cs typeface="Arial"/>
              </a:rPr>
              <a:t>componentes </a:t>
            </a:r>
            <a:r>
              <a:rPr sz="2000" spc="-95" dirty="0">
                <a:latin typeface="Arial"/>
                <a:cs typeface="Arial"/>
              </a:rPr>
              <a:t>de una </a:t>
            </a:r>
            <a:r>
              <a:rPr sz="2000" spc="-60" dirty="0">
                <a:latin typeface="Arial"/>
                <a:cs typeface="Arial"/>
              </a:rPr>
              <a:t>red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85" dirty="0">
                <a:latin typeface="Arial"/>
                <a:cs typeface="Arial"/>
              </a:rPr>
              <a:t>pueden  </a:t>
            </a:r>
            <a:r>
              <a:rPr sz="2000" spc="-80" dirty="0">
                <a:latin typeface="Arial"/>
                <a:cs typeface="Arial"/>
              </a:rPr>
              <a:t>comunicar </a:t>
            </a:r>
            <a:r>
              <a:rPr sz="2000" spc="-125" dirty="0">
                <a:latin typeface="Arial"/>
                <a:cs typeface="Arial"/>
              </a:rPr>
              <a:t>apegándose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50" dirty="0">
                <a:latin typeface="Arial"/>
                <a:cs typeface="Arial"/>
              </a:rPr>
              <a:t>conjunto </a:t>
            </a:r>
            <a:r>
              <a:rPr sz="2000" spc="-90" dirty="0">
                <a:latin typeface="Arial"/>
                <a:cs typeface="Arial"/>
              </a:rPr>
              <a:t>común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10" dirty="0">
                <a:latin typeface="Arial"/>
                <a:cs typeface="Arial"/>
              </a:rPr>
              <a:t>reglas 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10" dirty="0">
                <a:latin typeface="Arial"/>
                <a:cs typeface="Arial"/>
              </a:rPr>
              <a:t>les </a:t>
            </a:r>
            <a:r>
              <a:rPr sz="2000" spc="-40" dirty="0">
                <a:latin typeface="Arial"/>
                <a:cs typeface="Arial"/>
              </a:rPr>
              <a:t>permite </a:t>
            </a:r>
            <a:r>
              <a:rPr sz="2000" dirty="0">
                <a:latin typeface="Arial"/>
                <a:cs typeface="Arial"/>
              </a:rPr>
              <a:t>“hablar” </a:t>
            </a:r>
            <a:r>
              <a:rPr sz="2000" spc="-40" dirty="0">
                <a:latin typeface="Arial"/>
                <a:cs typeface="Arial"/>
              </a:rPr>
              <a:t>entre</a:t>
            </a:r>
            <a:r>
              <a:rPr sz="2000" spc="-22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sí.</a:t>
            </a:r>
            <a:endParaRPr sz="2000">
              <a:latin typeface="Arial"/>
              <a:cs typeface="Arial"/>
            </a:endParaRPr>
          </a:p>
          <a:p>
            <a:pPr marL="295275" marR="6985" indent="-282575" algn="just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5910" algn="l"/>
              </a:tabLst>
            </a:pPr>
            <a:r>
              <a:rPr sz="2000" spc="-160" dirty="0">
                <a:latin typeface="Arial"/>
                <a:cs typeface="Arial"/>
              </a:rPr>
              <a:t>Este </a:t>
            </a:r>
            <a:r>
              <a:rPr sz="2000" spc="-50" dirty="0">
                <a:latin typeface="Arial"/>
                <a:cs typeface="Arial"/>
              </a:rPr>
              <a:t>conjunto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reglas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procedimientos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80" dirty="0">
                <a:latin typeface="Arial"/>
                <a:cs typeface="Arial"/>
              </a:rPr>
              <a:t>gobierna 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5" dirty="0">
                <a:latin typeface="Arial"/>
                <a:cs typeface="Arial"/>
              </a:rPr>
              <a:t>transmisión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120" dirty="0">
                <a:latin typeface="Arial"/>
                <a:cs typeface="Arial"/>
              </a:rPr>
              <a:t>dos </a:t>
            </a:r>
            <a:r>
              <a:rPr sz="2000" spc="-70" dirty="0">
                <a:latin typeface="Arial"/>
                <a:cs typeface="Arial"/>
              </a:rPr>
              <a:t>puntos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5" dirty="0">
                <a:latin typeface="Arial"/>
                <a:cs typeface="Arial"/>
              </a:rPr>
              <a:t>red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70" dirty="0">
                <a:latin typeface="Arial"/>
                <a:cs typeface="Arial"/>
              </a:rPr>
              <a:t>llama  </a:t>
            </a:r>
            <a:r>
              <a:rPr sz="2000" spc="-45" dirty="0">
                <a:latin typeface="Arial"/>
                <a:cs typeface="Arial"/>
              </a:rPr>
              <a:t>protocolo.</a:t>
            </a:r>
            <a:endParaRPr sz="2000">
              <a:latin typeface="Arial"/>
              <a:cs typeface="Arial"/>
            </a:endParaRPr>
          </a:p>
          <a:p>
            <a:pPr marL="295275" marR="5715" indent="-282575" algn="just">
              <a:lnSpc>
                <a:spcPct val="100000"/>
              </a:lnSpc>
              <a:buFont typeface="Wingdings"/>
              <a:buChar char=""/>
              <a:tabLst>
                <a:tab pos="295910" algn="l"/>
              </a:tabLst>
            </a:pPr>
            <a:r>
              <a:rPr sz="2000" spc="-195" dirty="0">
                <a:latin typeface="Arial"/>
                <a:cs typeface="Arial"/>
              </a:rPr>
              <a:t>Cada </a:t>
            </a:r>
            <a:r>
              <a:rPr sz="2000" spc="-60" dirty="0">
                <a:latin typeface="Arial"/>
                <a:cs typeface="Arial"/>
              </a:rPr>
              <a:t>dispositivo </a:t>
            </a:r>
            <a:r>
              <a:rPr sz="2000" spc="-100" dirty="0">
                <a:latin typeface="Arial"/>
                <a:cs typeface="Arial"/>
              </a:rPr>
              <a:t>de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65" dirty="0">
                <a:latin typeface="Arial"/>
                <a:cs typeface="Arial"/>
              </a:rPr>
              <a:t>red </a:t>
            </a:r>
            <a:r>
              <a:rPr sz="2000" spc="-95" dirty="0">
                <a:latin typeface="Arial"/>
                <a:cs typeface="Arial"/>
              </a:rPr>
              <a:t>debe </a:t>
            </a:r>
            <a:r>
              <a:rPr sz="2000" spc="-105" dirty="0">
                <a:latin typeface="Arial"/>
                <a:cs typeface="Arial"/>
              </a:rPr>
              <a:t>ser </a:t>
            </a:r>
            <a:r>
              <a:rPr sz="2000" spc="-155" dirty="0">
                <a:latin typeface="Arial"/>
                <a:cs typeface="Arial"/>
              </a:rPr>
              <a:t>capaz </a:t>
            </a:r>
            <a:r>
              <a:rPr sz="2000" spc="-105" dirty="0">
                <a:latin typeface="Arial"/>
                <a:cs typeface="Arial"/>
              </a:rPr>
              <a:t>de  </a:t>
            </a:r>
            <a:r>
              <a:rPr sz="2000" spc="-30" dirty="0">
                <a:latin typeface="Arial"/>
                <a:cs typeface="Arial"/>
              </a:rPr>
              <a:t>interpretar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45" dirty="0">
                <a:latin typeface="Arial"/>
                <a:cs typeface="Arial"/>
              </a:rPr>
              <a:t>protocolo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30" dirty="0">
                <a:latin typeface="Arial"/>
                <a:cs typeface="Arial"/>
              </a:rPr>
              <a:t>demás</a:t>
            </a:r>
            <a:r>
              <a:rPr sz="2000" spc="-26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dispositivos.</a:t>
            </a:r>
            <a:endParaRPr sz="2000">
              <a:latin typeface="Arial"/>
              <a:cs typeface="Arial"/>
            </a:endParaRPr>
          </a:p>
          <a:p>
            <a:pPr marL="295275" marR="5715" indent="-282575" algn="just">
              <a:lnSpc>
                <a:spcPct val="100000"/>
              </a:lnSpc>
              <a:buFont typeface="Wingdings"/>
              <a:buChar char=""/>
              <a:tabLst>
                <a:tab pos="295910" algn="l"/>
              </a:tabLst>
            </a:pPr>
            <a:r>
              <a:rPr sz="2000" spc="-130" dirty="0">
                <a:latin typeface="Arial"/>
                <a:cs typeface="Arial"/>
              </a:rPr>
              <a:t>Por </a:t>
            </a:r>
            <a:r>
              <a:rPr sz="2000" spc="-60" dirty="0">
                <a:latin typeface="Arial"/>
                <a:cs typeface="Arial"/>
              </a:rPr>
              <a:t>ejemplo, </a:t>
            </a:r>
            <a:r>
              <a:rPr sz="2000" spc="-25" dirty="0">
                <a:latin typeface="Arial"/>
                <a:cs typeface="Arial"/>
              </a:rPr>
              <a:t>Internet </a:t>
            </a:r>
            <a:r>
              <a:rPr sz="2000" spc="-45" dirty="0">
                <a:latin typeface="Arial"/>
                <a:cs typeface="Arial"/>
              </a:rPr>
              <a:t>utiliza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100" dirty="0">
                <a:latin typeface="Arial"/>
                <a:cs typeface="Arial"/>
              </a:rPr>
              <a:t>sistema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protocolos  </a:t>
            </a:r>
            <a:r>
              <a:rPr sz="2000" spc="-260" dirty="0">
                <a:latin typeface="Arial"/>
                <a:cs typeface="Arial"/>
              </a:rPr>
              <a:t>TCIP </a:t>
            </a:r>
            <a:r>
              <a:rPr sz="2000" spc="215" dirty="0">
                <a:latin typeface="Arial"/>
                <a:cs typeface="Arial"/>
              </a:rPr>
              <a:t>/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90" dirty="0">
                <a:latin typeface="Arial"/>
                <a:cs typeface="Arial"/>
              </a:rPr>
              <a:t>(</a:t>
            </a:r>
            <a:r>
              <a:rPr sz="2000" i="1" spc="-90" dirty="0">
                <a:latin typeface="Trebuchet MS"/>
                <a:cs typeface="Trebuchet MS"/>
              </a:rPr>
              <a:t>Transmission </a:t>
            </a:r>
            <a:r>
              <a:rPr sz="2000" i="1" spc="-120" dirty="0">
                <a:latin typeface="Trebuchet MS"/>
                <a:cs typeface="Trebuchet MS"/>
              </a:rPr>
              <a:t>Control </a:t>
            </a:r>
            <a:r>
              <a:rPr sz="2000" i="1" spc="-105" dirty="0">
                <a:latin typeface="Trebuchet MS"/>
                <a:cs typeface="Trebuchet MS"/>
              </a:rPr>
              <a:t>Protocol </a:t>
            </a:r>
            <a:r>
              <a:rPr sz="2000" i="1" spc="-275" dirty="0">
                <a:latin typeface="Trebuchet MS"/>
                <a:cs typeface="Trebuchet MS"/>
              </a:rPr>
              <a:t>/ </a:t>
            </a:r>
            <a:r>
              <a:rPr sz="2000" i="1" spc="-125" dirty="0">
                <a:latin typeface="Trebuchet MS"/>
                <a:cs typeface="Trebuchet MS"/>
              </a:rPr>
              <a:t>Internet  </a:t>
            </a:r>
            <a:r>
              <a:rPr sz="2000" i="1" spc="-100" dirty="0">
                <a:latin typeface="Trebuchet MS"/>
                <a:cs typeface="Trebuchet MS"/>
              </a:rPr>
              <a:t>Protocol</a:t>
            </a:r>
            <a:r>
              <a:rPr sz="2000" spc="-100" dirty="0">
                <a:latin typeface="Arial"/>
                <a:cs typeface="Arial"/>
              </a:rPr>
              <a:t>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08064" y="1143000"/>
            <a:ext cx="2269998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48856" y="3251034"/>
            <a:ext cx="1761744" cy="13461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10400" y="4872228"/>
            <a:ext cx="1376172" cy="1376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61</a:t>
            </a:fld>
            <a:endParaRPr spc="-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5489575" cy="5271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40" dirty="0">
                <a:latin typeface="Trebuchet MS"/>
                <a:cs typeface="Trebuchet MS"/>
              </a:rPr>
              <a:t>Tipos de</a:t>
            </a:r>
            <a:r>
              <a:rPr sz="2400" b="1" spc="-240" dirty="0">
                <a:latin typeface="Trebuchet MS"/>
                <a:cs typeface="Trebuchet MS"/>
              </a:rPr>
              <a:t> </a:t>
            </a:r>
            <a:r>
              <a:rPr sz="2400" b="1" spc="-125" dirty="0">
                <a:latin typeface="Trebuchet MS"/>
                <a:cs typeface="Trebuchet MS"/>
              </a:rPr>
              <a:t>Señales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25"/>
              </a:spcBef>
            </a:pPr>
            <a:r>
              <a:rPr sz="2000" i="1" spc="-100" dirty="0">
                <a:latin typeface="Trebuchet MS"/>
                <a:cs typeface="Trebuchet MS"/>
              </a:rPr>
              <a:t>La información </a:t>
            </a:r>
            <a:r>
              <a:rPr sz="2000" i="1" spc="-114" dirty="0">
                <a:latin typeface="Trebuchet MS"/>
                <a:cs typeface="Trebuchet MS"/>
              </a:rPr>
              <a:t>viaja </a:t>
            </a:r>
            <a:r>
              <a:rPr sz="2000" i="1" spc="-25" dirty="0">
                <a:latin typeface="Trebuchet MS"/>
                <a:cs typeface="Trebuchet MS"/>
              </a:rPr>
              <a:t>a </a:t>
            </a:r>
            <a:r>
              <a:rPr sz="2000" i="1" spc="-100" dirty="0">
                <a:latin typeface="Trebuchet MS"/>
                <a:cs typeface="Trebuchet MS"/>
              </a:rPr>
              <a:t>través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80" dirty="0">
                <a:latin typeface="Trebuchet MS"/>
                <a:cs typeface="Trebuchet MS"/>
              </a:rPr>
              <a:t>un </a:t>
            </a:r>
            <a:r>
              <a:rPr sz="2000" i="1" spc="-100" dirty="0">
                <a:latin typeface="Trebuchet MS"/>
                <a:cs typeface="Trebuchet MS"/>
              </a:rPr>
              <a:t>sistema </a:t>
            </a:r>
            <a:r>
              <a:rPr sz="2000" i="1" spc="-110" dirty="0">
                <a:latin typeface="Trebuchet MS"/>
                <a:cs typeface="Trebuchet MS"/>
              </a:rPr>
              <a:t>de  </a:t>
            </a:r>
            <a:r>
              <a:rPr sz="2000" i="1" spc="-105" dirty="0">
                <a:latin typeface="Trebuchet MS"/>
                <a:cs typeface="Trebuchet MS"/>
              </a:rPr>
              <a:t>telecomunicaciones </a:t>
            </a:r>
            <a:r>
              <a:rPr sz="2000" i="1" spc="-100" dirty="0">
                <a:latin typeface="Trebuchet MS"/>
                <a:cs typeface="Trebuchet MS"/>
              </a:rPr>
              <a:t>en </a:t>
            </a:r>
            <a:r>
              <a:rPr sz="2000" i="1" spc="-110" dirty="0">
                <a:latin typeface="Trebuchet MS"/>
                <a:cs typeface="Trebuchet MS"/>
              </a:rPr>
              <a:t>forma de </a:t>
            </a:r>
            <a:r>
              <a:rPr sz="2000" i="1" spc="-90" dirty="0">
                <a:latin typeface="Trebuchet MS"/>
                <a:cs typeface="Trebuchet MS"/>
              </a:rPr>
              <a:t>señales  </a:t>
            </a:r>
            <a:r>
              <a:rPr sz="2000" i="1" spc="-100" dirty="0">
                <a:latin typeface="Trebuchet MS"/>
                <a:cs typeface="Trebuchet MS"/>
              </a:rPr>
              <a:t>electromagnéticas </a:t>
            </a:r>
            <a:r>
              <a:rPr sz="2000" i="1" spc="-105" dirty="0">
                <a:latin typeface="Trebuchet MS"/>
                <a:cs typeface="Trebuchet MS"/>
              </a:rPr>
              <a:t>que </a:t>
            </a:r>
            <a:r>
              <a:rPr sz="2000" i="1" spc="-100" dirty="0">
                <a:latin typeface="Trebuchet MS"/>
                <a:cs typeface="Trebuchet MS"/>
              </a:rPr>
              <a:t>pueden</a:t>
            </a:r>
            <a:r>
              <a:rPr sz="2000" i="1" spc="-265" dirty="0">
                <a:latin typeface="Trebuchet MS"/>
                <a:cs typeface="Trebuchet MS"/>
              </a:rPr>
              <a:t> </a:t>
            </a:r>
            <a:r>
              <a:rPr sz="2000" i="1" spc="-130" dirty="0">
                <a:latin typeface="Trebuchet MS"/>
                <a:cs typeface="Trebuchet MS"/>
              </a:rPr>
              <a:t>ser: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spc="-85" dirty="0">
                <a:latin typeface="Trebuchet MS"/>
                <a:cs typeface="Trebuchet MS"/>
              </a:rPr>
              <a:t>Analógicas</a:t>
            </a:r>
            <a:r>
              <a:rPr sz="2000" spc="-85" dirty="0">
                <a:latin typeface="Arial"/>
                <a:cs typeface="Arial"/>
              </a:rPr>
              <a:t>: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50" dirty="0">
                <a:latin typeface="Arial"/>
                <a:cs typeface="Arial"/>
              </a:rPr>
              <a:t>forma </a:t>
            </a:r>
            <a:r>
              <a:rPr sz="2000" spc="-90" dirty="0">
                <a:latin typeface="Arial"/>
                <a:cs typeface="Arial"/>
              </a:rPr>
              <a:t>de onda </a:t>
            </a:r>
            <a:r>
              <a:rPr sz="2000" spc="-60" dirty="0">
                <a:latin typeface="Arial"/>
                <a:cs typeface="Arial"/>
              </a:rPr>
              <a:t>continua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50" dirty="0">
                <a:latin typeface="Arial"/>
                <a:cs typeface="Arial"/>
              </a:rPr>
              <a:t>pasa 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través de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60" dirty="0">
                <a:latin typeface="Arial"/>
                <a:cs typeface="Arial"/>
              </a:rPr>
              <a:t>medio </a:t>
            </a:r>
            <a:r>
              <a:rPr sz="2000" spc="-95" dirty="0">
                <a:latin typeface="Arial"/>
                <a:cs typeface="Arial"/>
              </a:rPr>
              <a:t>de comunicaciones;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45" dirty="0">
                <a:latin typeface="Arial"/>
                <a:cs typeface="Arial"/>
              </a:rPr>
              <a:t>utiliza 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comunicaciones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20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voz</a:t>
            </a:r>
            <a:r>
              <a:rPr sz="2000" spc="-100" dirty="0">
                <a:latin typeface="Arial"/>
                <a:cs typeface="Arial"/>
              </a:rPr>
              <a:t>. </a:t>
            </a:r>
            <a:r>
              <a:rPr sz="2000" b="1" spc="-120" dirty="0">
                <a:solidFill>
                  <a:srgbClr val="00338D"/>
                </a:solidFill>
                <a:latin typeface="Trebuchet MS"/>
                <a:cs typeface="Trebuchet MS"/>
              </a:rPr>
              <a:t>Por </a:t>
            </a:r>
            <a:r>
              <a:rPr sz="2000" b="1" spc="-140" dirty="0">
                <a:solidFill>
                  <a:srgbClr val="00338D"/>
                </a:solidFill>
                <a:latin typeface="Trebuchet MS"/>
                <a:cs typeface="Trebuchet MS"/>
              </a:rPr>
              <a:t>ejemplo, </a:t>
            </a:r>
            <a:r>
              <a:rPr sz="2000" b="1" spc="-100" dirty="0">
                <a:solidFill>
                  <a:srgbClr val="00338D"/>
                </a:solidFill>
                <a:latin typeface="Trebuchet MS"/>
                <a:cs typeface="Trebuchet MS"/>
              </a:rPr>
              <a:t>una </a:t>
            </a:r>
            <a:r>
              <a:rPr sz="2000" b="1" spc="-140" dirty="0">
                <a:solidFill>
                  <a:srgbClr val="00338D"/>
                </a:solidFill>
                <a:latin typeface="Trebuchet MS"/>
                <a:cs typeface="Trebuchet MS"/>
              </a:rPr>
              <a:t>red  </a:t>
            </a:r>
            <a:r>
              <a:rPr sz="2000" b="1" spc="-125" dirty="0">
                <a:solidFill>
                  <a:srgbClr val="00338D"/>
                </a:solidFill>
                <a:latin typeface="Trebuchet MS"/>
                <a:cs typeface="Trebuchet MS"/>
              </a:rPr>
              <a:t>telefónica </a:t>
            </a:r>
            <a:r>
              <a:rPr sz="2000" b="1" spc="-110" dirty="0">
                <a:solidFill>
                  <a:srgbClr val="00338D"/>
                </a:solidFill>
                <a:latin typeface="Trebuchet MS"/>
                <a:cs typeface="Trebuchet MS"/>
              </a:rPr>
              <a:t>tradicional </a:t>
            </a:r>
            <a:r>
              <a:rPr sz="2000" b="1" spc="-114" dirty="0">
                <a:solidFill>
                  <a:srgbClr val="00338D"/>
                </a:solidFill>
                <a:latin typeface="Trebuchet MS"/>
                <a:cs typeface="Trebuchet MS"/>
              </a:rPr>
              <a:t>está </a:t>
            </a:r>
            <a:r>
              <a:rPr sz="2000" b="1" spc="-110" dirty="0">
                <a:solidFill>
                  <a:srgbClr val="00338D"/>
                </a:solidFill>
                <a:latin typeface="Trebuchet MS"/>
                <a:cs typeface="Trebuchet MS"/>
              </a:rPr>
              <a:t>ajustada para </a:t>
            </a:r>
            <a:r>
              <a:rPr sz="2000" b="1" spc="-120" dirty="0">
                <a:solidFill>
                  <a:srgbClr val="00338D"/>
                </a:solidFill>
                <a:latin typeface="Trebuchet MS"/>
                <a:cs typeface="Trebuchet MS"/>
              </a:rPr>
              <a:t>procesar  </a:t>
            </a:r>
            <a:r>
              <a:rPr sz="2000" b="1" spc="-105" dirty="0">
                <a:solidFill>
                  <a:srgbClr val="00338D"/>
                </a:solidFill>
                <a:latin typeface="Trebuchet MS"/>
                <a:cs typeface="Trebuchet MS"/>
              </a:rPr>
              <a:t>señales</a:t>
            </a:r>
            <a:r>
              <a:rPr sz="2000" b="1" spc="-14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000" b="1" spc="-105" dirty="0">
                <a:solidFill>
                  <a:srgbClr val="00338D"/>
                </a:solidFill>
                <a:latin typeface="Trebuchet MS"/>
                <a:cs typeface="Trebuchet MS"/>
              </a:rPr>
              <a:t>analógicas.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spc="-85" dirty="0">
                <a:latin typeface="Trebuchet MS"/>
                <a:cs typeface="Trebuchet MS"/>
              </a:rPr>
              <a:t>Digitales</a:t>
            </a:r>
            <a:r>
              <a:rPr sz="2000" spc="-85" dirty="0">
                <a:latin typeface="Arial"/>
                <a:cs typeface="Arial"/>
              </a:rPr>
              <a:t>: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55" dirty="0">
                <a:latin typeface="Arial"/>
                <a:cs typeface="Arial"/>
              </a:rPr>
              <a:t>forma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onda </a:t>
            </a:r>
            <a:r>
              <a:rPr sz="2000" spc="-80" dirty="0">
                <a:latin typeface="Arial"/>
                <a:cs typeface="Arial"/>
              </a:rPr>
              <a:t>discreta </a:t>
            </a:r>
            <a:r>
              <a:rPr sz="2000" spc="-85" dirty="0">
                <a:latin typeface="Arial"/>
                <a:cs typeface="Arial"/>
              </a:rPr>
              <a:t>que  </a:t>
            </a:r>
            <a:r>
              <a:rPr sz="2000" spc="-45" dirty="0">
                <a:latin typeface="Arial"/>
                <a:cs typeface="Arial"/>
              </a:rPr>
              <a:t>transmite </a:t>
            </a:r>
            <a:r>
              <a:rPr sz="2000" spc="-85" dirty="0">
                <a:latin typeface="Arial"/>
                <a:cs typeface="Arial"/>
              </a:rPr>
              <a:t>datos codificados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120" dirty="0">
                <a:latin typeface="Arial"/>
                <a:cs typeface="Arial"/>
              </a:rPr>
              <a:t>dos </a:t>
            </a:r>
            <a:r>
              <a:rPr sz="2000" spc="-110" dirty="0">
                <a:latin typeface="Arial"/>
                <a:cs typeface="Arial"/>
              </a:rPr>
              <a:t>estados </a:t>
            </a:r>
            <a:r>
              <a:rPr sz="2000" spc="-80" dirty="0">
                <a:latin typeface="Arial"/>
                <a:cs typeface="Arial"/>
              </a:rPr>
              <a:t>discretos 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45" dirty="0">
                <a:latin typeface="Arial"/>
                <a:cs typeface="Arial"/>
              </a:rPr>
              <a:t>bits </a:t>
            </a:r>
            <a:r>
              <a:rPr sz="2000" spc="-100" dirty="0">
                <a:latin typeface="Arial"/>
                <a:cs typeface="Arial"/>
              </a:rPr>
              <a:t>1 y </a:t>
            </a:r>
            <a:r>
              <a:rPr sz="2000" spc="-40" dirty="0">
                <a:latin typeface="Arial"/>
                <a:cs typeface="Arial"/>
              </a:rPr>
              <a:t>bits </a:t>
            </a:r>
            <a:r>
              <a:rPr sz="2000" spc="-80" dirty="0">
                <a:latin typeface="Arial"/>
                <a:cs typeface="Arial"/>
              </a:rPr>
              <a:t>0,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cuales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75" dirty="0">
                <a:latin typeface="Arial"/>
                <a:cs typeface="Arial"/>
              </a:rPr>
              <a:t>representan </a:t>
            </a:r>
            <a:r>
              <a:rPr sz="2000" spc="-95" dirty="0">
                <a:latin typeface="Arial"/>
                <a:cs typeface="Arial"/>
              </a:rPr>
              <a:t>como 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80" dirty="0">
                <a:latin typeface="Arial"/>
                <a:cs typeface="Arial"/>
              </a:rPr>
              <a:t>encendido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25" dirty="0">
                <a:latin typeface="Arial"/>
                <a:cs typeface="Arial"/>
              </a:rPr>
              <a:t>apagado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05" dirty="0">
                <a:latin typeface="Arial"/>
                <a:cs typeface="Arial"/>
              </a:rPr>
              <a:t>pulsos </a:t>
            </a:r>
            <a:r>
              <a:rPr sz="2000" spc="-65" dirty="0">
                <a:latin typeface="Arial"/>
                <a:cs typeface="Arial"/>
              </a:rPr>
              <a:t>eléctricos; </a:t>
            </a:r>
            <a:r>
              <a:rPr sz="2000" spc="-170" dirty="0">
                <a:latin typeface="Arial"/>
                <a:cs typeface="Arial"/>
              </a:rPr>
              <a:t>se  </a:t>
            </a:r>
            <a:r>
              <a:rPr sz="2000" spc="-150" dirty="0">
                <a:latin typeface="Arial"/>
                <a:cs typeface="Arial"/>
              </a:rPr>
              <a:t>usa </a:t>
            </a:r>
            <a:r>
              <a:rPr sz="2000" spc="-95" dirty="0">
                <a:latin typeface="Arial"/>
                <a:cs typeface="Arial"/>
              </a:rPr>
              <a:t>para </a:t>
            </a:r>
            <a:r>
              <a:rPr sz="20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comunicaciones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20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datos</a:t>
            </a:r>
            <a:r>
              <a:rPr sz="2000" spc="-80" dirty="0">
                <a:latin typeface="Arial"/>
                <a:cs typeface="Arial"/>
              </a:rPr>
              <a:t>. </a:t>
            </a:r>
            <a:r>
              <a:rPr sz="2000" b="1" spc="-170" dirty="0">
                <a:solidFill>
                  <a:srgbClr val="00338D"/>
                </a:solidFill>
                <a:latin typeface="Trebuchet MS"/>
                <a:cs typeface="Trebuchet MS"/>
              </a:rPr>
              <a:t>La </a:t>
            </a:r>
            <a:r>
              <a:rPr sz="2000" b="1" spc="-110" dirty="0">
                <a:solidFill>
                  <a:srgbClr val="00338D"/>
                </a:solidFill>
                <a:latin typeface="Trebuchet MS"/>
                <a:cs typeface="Trebuchet MS"/>
              </a:rPr>
              <a:t>mayoría </a:t>
            </a:r>
            <a:r>
              <a:rPr sz="2000" b="1" spc="-114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000" b="1" spc="-85" dirty="0">
                <a:solidFill>
                  <a:srgbClr val="00338D"/>
                </a:solidFill>
                <a:latin typeface="Trebuchet MS"/>
                <a:cs typeface="Trebuchet MS"/>
              </a:rPr>
              <a:t>las  </a:t>
            </a:r>
            <a:r>
              <a:rPr sz="2000" b="1" spc="-105" dirty="0">
                <a:solidFill>
                  <a:srgbClr val="00338D"/>
                </a:solidFill>
                <a:latin typeface="Trebuchet MS"/>
                <a:cs typeface="Trebuchet MS"/>
              </a:rPr>
              <a:t>computadoras se </a:t>
            </a:r>
            <a:r>
              <a:rPr sz="2000" b="1" spc="-120" dirty="0">
                <a:solidFill>
                  <a:srgbClr val="00338D"/>
                </a:solidFill>
                <a:latin typeface="Trebuchet MS"/>
                <a:cs typeface="Trebuchet MS"/>
              </a:rPr>
              <a:t>comunican </a:t>
            </a:r>
            <a:r>
              <a:rPr sz="2000" b="1" spc="-125" dirty="0">
                <a:solidFill>
                  <a:srgbClr val="00338D"/>
                </a:solidFill>
                <a:latin typeface="Trebuchet MS"/>
                <a:cs typeface="Trebuchet MS"/>
              </a:rPr>
              <a:t>con </a:t>
            </a:r>
            <a:r>
              <a:rPr sz="2000" b="1" spc="-105" dirty="0">
                <a:solidFill>
                  <a:srgbClr val="00338D"/>
                </a:solidFill>
                <a:latin typeface="Trebuchet MS"/>
                <a:cs typeface="Trebuchet MS"/>
              </a:rPr>
              <a:t>señales</a:t>
            </a:r>
            <a:r>
              <a:rPr sz="2000" b="1" spc="-25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000" b="1" spc="-110" dirty="0">
                <a:solidFill>
                  <a:srgbClr val="00338D"/>
                </a:solidFill>
                <a:latin typeface="Trebuchet MS"/>
                <a:cs typeface="Trebuchet MS"/>
              </a:rPr>
              <a:t>digitales.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67400" y="3810000"/>
            <a:ext cx="3045625" cy="2418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9038" y="1219200"/>
            <a:ext cx="2896362" cy="228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130" dirty="0"/>
              <a:t>–</a:t>
            </a:r>
            <a:r>
              <a:rPr lang="es-AR"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(jklus@uade.edu.ar</a:t>
            </a:r>
            <a:r>
              <a:rPr lang="es-AR" spc="-30" dirty="0"/>
              <a:t>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62</a:t>
            </a:fld>
            <a:endParaRPr spc="-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8614410" cy="496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40" dirty="0">
                <a:latin typeface="Trebuchet MS"/>
                <a:cs typeface="Trebuchet MS"/>
              </a:rPr>
              <a:t>Redes de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r>
              <a:rPr sz="2400" b="1" spc="-265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9900" algn="l"/>
              </a:tabLst>
            </a:pPr>
            <a:r>
              <a:rPr sz="2000" b="1" spc="-180" dirty="0">
                <a:latin typeface="Trebuchet MS"/>
                <a:cs typeface="Trebuchet MS"/>
              </a:rPr>
              <a:t>2.	</a:t>
            </a:r>
            <a:r>
              <a:rPr sz="2000" b="1" spc="-130" dirty="0">
                <a:latin typeface="Trebuchet MS"/>
                <a:cs typeface="Trebuchet MS"/>
              </a:rPr>
              <a:t>Alcance </a:t>
            </a:r>
            <a:r>
              <a:rPr sz="2000" b="1" spc="-114" dirty="0">
                <a:latin typeface="Trebuchet MS"/>
                <a:cs typeface="Trebuchet MS"/>
              </a:rPr>
              <a:t>geográfico </a:t>
            </a:r>
            <a:r>
              <a:rPr sz="2000" spc="-135" dirty="0">
                <a:latin typeface="Arial"/>
                <a:cs typeface="Arial"/>
              </a:rPr>
              <a:t>(es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forma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90" dirty="0">
                <a:latin typeface="Arial"/>
                <a:cs typeface="Arial"/>
              </a:rPr>
              <a:t>ubican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110" dirty="0">
                <a:latin typeface="Arial"/>
                <a:cs typeface="Arial"/>
              </a:rPr>
              <a:t>espacio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geográfico):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295275" marR="5080" indent="-282575" algn="just">
              <a:lnSpc>
                <a:spcPct val="100000"/>
              </a:lnSpc>
              <a:buFont typeface="Wingdings"/>
              <a:buChar char=""/>
              <a:tabLst>
                <a:tab pos="295910" algn="l"/>
              </a:tabLst>
            </a:pPr>
            <a:r>
              <a:rPr sz="2000" b="1" i="1" u="heavy" spc="-2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Red </a:t>
            </a:r>
            <a:r>
              <a:rPr sz="2000" b="1" i="1" u="heavy" spc="-1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000" b="1" i="1" u="heavy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área </a:t>
            </a:r>
            <a:r>
              <a:rPr sz="2000" b="1" i="1" u="heavy" spc="-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Local </a:t>
            </a:r>
            <a:r>
              <a:rPr sz="2000" b="1" i="1" u="heavy" spc="-1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(LAN)</a:t>
            </a:r>
            <a:r>
              <a:rPr sz="2000" spc="-145" dirty="0">
                <a:latin typeface="Arial"/>
                <a:cs typeface="Arial"/>
              </a:rPr>
              <a:t>: </a:t>
            </a:r>
            <a:r>
              <a:rPr sz="2000" spc="-120" dirty="0">
                <a:latin typeface="Arial"/>
                <a:cs typeface="Arial"/>
              </a:rPr>
              <a:t>abarca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80" dirty="0">
                <a:latin typeface="Arial"/>
                <a:cs typeface="Arial"/>
              </a:rPr>
              <a:t>distancia </a:t>
            </a:r>
            <a:r>
              <a:rPr sz="2000" spc="-40" dirty="0">
                <a:latin typeface="Arial"/>
                <a:cs typeface="Arial"/>
              </a:rPr>
              <a:t>limitada, </a:t>
            </a:r>
            <a:r>
              <a:rPr sz="2000" spc="-80" dirty="0">
                <a:latin typeface="Arial"/>
                <a:cs typeface="Arial"/>
              </a:rPr>
              <a:t>usualmente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40" dirty="0">
                <a:latin typeface="Arial"/>
                <a:cs typeface="Arial"/>
              </a:rPr>
              <a:t>edificio </a:t>
            </a:r>
            <a:r>
              <a:rPr sz="2000" spc="-60" dirty="0">
                <a:latin typeface="Arial"/>
                <a:cs typeface="Arial"/>
              </a:rPr>
              <a:t>o  </a:t>
            </a:r>
            <a:r>
              <a:rPr sz="2000" spc="-90" dirty="0">
                <a:latin typeface="Arial"/>
                <a:cs typeface="Arial"/>
              </a:rPr>
              <a:t>varios </a:t>
            </a:r>
            <a:r>
              <a:rPr sz="2000" spc="-60" dirty="0">
                <a:latin typeface="Arial"/>
                <a:cs typeface="Arial"/>
              </a:rPr>
              <a:t>edificios </a:t>
            </a:r>
            <a:r>
              <a:rPr sz="2000" spc="-110" dirty="0">
                <a:latin typeface="Arial"/>
                <a:cs typeface="Arial"/>
              </a:rPr>
              <a:t>cercanos. </a:t>
            </a: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210" dirty="0">
                <a:latin typeface="Arial"/>
                <a:cs typeface="Arial"/>
              </a:rPr>
              <a:t>LANs </a:t>
            </a:r>
            <a:r>
              <a:rPr sz="2000" spc="-60" dirty="0">
                <a:latin typeface="Arial"/>
                <a:cs typeface="Arial"/>
              </a:rPr>
              <a:t>requieren </a:t>
            </a:r>
            <a:r>
              <a:rPr sz="2000" spc="-170" dirty="0">
                <a:latin typeface="Arial"/>
                <a:cs typeface="Arial"/>
              </a:rPr>
              <a:t>sus </a:t>
            </a:r>
            <a:r>
              <a:rPr sz="2000" spc="-70" dirty="0">
                <a:latin typeface="Arial"/>
                <a:cs typeface="Arial"/>
              </a:rPr>
              <a:t>propios </a:t>
            </a:r>
            <a:r>
              <a:rPr sz="2000" spc="-125" dirty="0">
                <a:latin typeface="Arial"/>
                <a:cs typeface="Arial"/>
              </a:rPr>
              <a:t>canales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100" dirty="0">
                <a:latin typeface="Arial"/>
                <a:cs typeface="Arial"/>
              </a:rPr>
              <a:t>comunicaciones y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120" dirty="0">
                <a:latin typeface="Arial"/>
                <a:cs typeface="Arial"/>
              </a:rPr>
              <a:t>ocasiones las </a:t>
            </a:r>
            <a:r>
              <a:rPr sz="2000" spc="-55" dirty="0">
                <a:latin typeface="Arial"/>
                <a:cs typeface="Arial"/>
              </a:rPr>
              <a:t>controlan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85" dirty="0">
                <a:latin typeface="Arial"/>
                <a:cs typeface="Arial"/>
              </a:rPr>
              <a:t>operan </a:t>
            </a:r>
            <a:r>
              <a:rPr sz="2000" spc="-95" dirty="0">
                <a:latin typeface="Arial"/>
                <a:cs typeface="Arial"/>
              </a:rPr>
              <a:t>grupos de usuarios </a:t>
            </a:r>
            <a:r>
              <a:rPr sz="2000" spc="-60" dirty="0">
                <a:latin typeface="Arial"/>
                <a:cs typeface="Arial"/>
              </a:rPr>
              <a:t>o  </a:t>
            </a:r>
            <a:r>
              <a:rPr sz="2000" spc="-70" dirty="0">
                <a:latin typeface="Arial"/>
                <a:cs typeface="Arial"/>
              </a:rPr>
              <a:t>departamentos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la </a:t>
            </a:r>
            <a:r>
              <a:rPr sz="2000" spc="-100" dirty="0">
                <a:latin typeface="Arial"/>
                <a:cs typeface="Arial"/>
              </a:rPr>
              <a:t>empresa. </a:t>
            </a:r>
            <a:r>
              <a:rPr sz="2000" spc="-175" dirty="0">
                <a:latin typeface="Arial"/>
                <a:cs typeface="Arial"/>
              </a:rPr>
              <a:t>Con </a:t>
            </a:r>
            <a:r>
              <a:rPr sz="2000" spc="-75" dirty="0">
                <a:latin typeface="Arial"/>
                <a:cs typeface="Arial"/>
              </a:rPr>
              <a:t>frecuencia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210" dirty="0">
                <a:latin typeface="Arial"/>
                <a:cs typeface="Arial"/>
              </a:rPr>
              <a:t>LANs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50" dirty="0">
                <a:latin typeface="Arial"/>
                <a:cs typeface="Arial"/>
              </a:rPr>
              <a:t>utilizan </a:t>
            </a:r>
            <a:r>
              <a:rPr sz="2000" spc="-90" dirty="0">
                <a:latin typeface="Arial"/>
                <a:cs typeface="Arial"/>
              </a:rPr>
              <a:t>en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70" dirty="0">
                <a:latin typeface="Arial"/>
                <a:cs typeface="Arial"/>
              </a:rPr>
              <a:t>oficinas 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80" dirty="0">
                <a:latin typeface="Arial"/>
                <a:cs typeface="Arial"/>
              </a:rPr>
              <a:t>conectar </a:t>
            </a:r>
            <a:r>
              <a:rPr sz="2000" spc="-300" dirty="0">
                <a:latin typeface="Arial"/>
                <a:cs typeface="Arial"/>
              </a:rPr>
              <a:t>PCs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impresoras </a:t>
            </a:r>
            <a:r>
              <a:rPr sz="2000" spc="-75" dirty="0">
                <a:latin typeface="Arial"/>
                <a:cs typeface="Arial"/>
              </a:rPr>
              <a:t>compartidas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0" dirty="0">
                <a:latin typeface="Arial"/>
                <a:cs typeface="Arial"/>
              </a:rPr>
              <a:t>otros </a:t>
            </a:r>
            <a:r>
              <a:rPr sz="2000" spc="-105" dirty="0">
                <a:latin typeface="Arial"/>
                <a:cs typeface="Arial"/>
              </a:rPr>
              <a:t>recursos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100" dirty="0">
                <a:latin typeface="Arial"/>
                <a:cs typeface="Arial"/>
              </a:rPr>
              <a:t>para enlazar  </a:t>
            </a:r>
            <a:r>
              <a:rPr sz="2000" spc="-85" dirty="0">
                <a:latin typeface="Arial"/>
                <a:cs typeface="Arial"/>
              </a:rPr>
              <a:t>computadoras </a:t>
            </a:r>
            <a:r>
              <a:rPr sz="2000" spc="-100" dirty="0">
                <a:latin typeface="Arial"/>
                <a:cs typeface="Arial"/>
              </a:rPr>
              <a:t>y máquinas </a:t>
            </a:r>
            <a:r>
              <a:rPr sz="2000" spc="-80" dirty="0">
                <a:latin typeface="Arial"/>
                <a:cs typeface="Arial"/>
              </a:rPr>
              <a:t>controladas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75" dirty="0">
                <a:latin typeface="Arial"/>
                <a:cs typeface="Arial"/>
              </a:rPr>
              <a:t>computadora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120" dirty="0">
                <a:latin typeface="Arial"/>
                <a:cs typeface="Arial"/>
              </a:rPr>
              <a:t>las</a:t>
            </a:r>
            <a:r>
              <a:rPr sz="2000" spc="-19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fábricas.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295275" marR="5080" algn="just">
              <a:lnSpc>
                <a:spcPct val="100000"/>
              </a:lnSpc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210" dirty="0">
                <a:latin typeface="Arial"/>
                <a:cs typeface="Arial"/>
              </a:rPr>
              <a:t>LANs </a:t>
            </a:r>
            <a:r>
              <a:rPr sz="2000" spc="-105" dirty="0">
                <a:latin typeface="Arial"/>
                <a:cs typeface="Arial"/>
              </a:rPr>
              <a:t>consta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95" dirty="0">
                <a:latin typeface="Arial"/>
                <a:cs typeface="Arial"/>
              </a:rPr>
              <a:t>cableado </a:t>
            </a:r>
            <a:r>
              <a:rPr sz="2000" spc="5" dirty="0">
                <a:latin typeface="Arial"/>
                <a:cs typeface="Arial"/>
              </a:rPr>
              <a:t>y/o </a:t>
            </a:r>
            <a:r>
              <a:rPr sz="2000" spc="-70" dirty="0">
                <a:latin typeface="Arial"/>
                <a:cs typeface="Arial"/>
              </a:rPr>
              <a:t>inalámbrica </a:t>
            </a:r>
            <a:r>
              <a:rPr sz="2000" spc="-85" dirty="0">
                <a:latin typeface="Arial"/>
                <a:cs typeface="Arial"/>
              </a:rPr>
              <a:t>que  </a:t>
            </a:r>
            <a:r>
              <a:rPr sz="2000" spc="-120" dirty="0">
                <a:latin typeface="Arial"/>
                <a:cs typeface="Arial"/>
              </a:rPr>
              <a:t>enlaza </a:t>
            </a:r>
            <a:r>
              <a:rPr sz="2000" spc="-75" dirty="0">
                <a:latin typeface="Arial"/>
                <a:cs typeface="Arial"/>
              </a:rPr>
              <a:t>dispositivos </a:t>
            </a:r>
            <a:r>
              <a:rPr sz="2000" spc="-65" dirty="0">
                <a:latin typeface="Arial"/>
                <a:cs typeface="Arial"/>
              </a:rPr>
              <a:t>individuales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cómputo, </a:t>
            </a:r>
            <a:r>
              <a:rPr sz="2000" spc="-130" dirty="0">
                <a:latin typeface="Arial"/>
                <a:cs typeface="Arial"/>
              </a:rPr>
              <a:t>placas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red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5" dirty="0">
                <a:latin typeface="Arial"/>
                <a:cs typeface="Arial"/>
              </a:rPr>
              <a:t>software </a:t>
            </a:r>
            <a:r>
              <a:rPr sz="2000" spc="-100" dirty="0">
                <a:latin typeface="Arial"/>
                <a:cs typeface="Arial"/>
              </a:rPr>
              <a:t>para  </a:t>
            </a:r>
            <a:r>
              <a:rPr sz="2000" spc="-45" dirty="0">
                <a:latin typeface="Arial"/>
                <a:cs typeface="Arial"/>
              </a:rPr>
              <a:t>controlar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80" dirty="0">
                <a:latin typeface="Arial"/>
                <a:cs typeface="Arial"/>
              </a:rPr>
              <a:t>actividades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65" dirty="0">
                <a:latin typeface="Arial"/>
                <a:cs typeface="Arial"/>
              </a:rPr>
              <a:t>LAN. </a:t>
            </a: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110" dirty="0">
                <a:latin typeface="Arial"/>
                <a:cs typeface="Arial"/>
              </a:rPr>
              <a:t>placa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red </a:t>
            </a:r>
            <a:r>
              <a:rPr sz="2000" spc="-95" dirty="0">
                <a:latin typeface="Arial"/>
                <a:cs typeface="Arial"/>
              </a:rPr>
              <a:t>especifica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velocidad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65" dirty="0">
                <a:latin typeface="Arial"/>
                <a:cs typeface="Arial"/>
              </a:rPr>
              <a:t>transmisión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datos,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70" dirty="0">
                <a:latin typeface="Arial"/>
                <a:cs typeface="Arial"/>
              </a:rPr>
              <a:t>tamaño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5" dirty="0">
                <a:latin typeface="Arial"/>
                <a:cs typeface="Arial"/>
              </a:rPr>
              <a:t>unidades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mensaje,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70" dirty="0">
                <a:latin typeface="Arial"/>
                <a:cs typeface="Arial"/>
              </a:rPr>
              <a:t>dirección </a:t>
            </a:r>
            <a:r>
              <a:rPr sz="2000" spc="-60" dirty="0">
                <a:latin typeface="Arial"/>
                <a:cs typeface="Arial"/>
              </a:rPr>
              <a:t>adjunta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40" dirty="0">
                <a:latin typeface="Arial"/>
                <a:cs typeface="Arial"/>
              </a:rPr>
              <a:t>cada </a:t>
            </a:r>
            <a:r>
              <a:rPr sz="2000" spc="-105" dirty="0">
                <a:latin typeface="Arial"/>
                <a:cs typeface="Arial"/>
              </a:rPr>
              <a:t>mensaje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5" dirty="0">
                <a:latin typeface="Arial"/>
                <a:cs typeface="Arial"/>
              </a:rPr>
              <a:t>topología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red.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Redes</a:t>
            </a:r>
            <a:r>
              <a:rPr sz="200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Telecomunicaciones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4093" y="1041400"/>
            <a:ext cx="46990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40" dirty="0">
                <a:latin typeface="Trebuchet MS"/>
                <a:cs typeface="Trebuchet MS"/>
              </a:rPr>
              <a:t>Redes de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r>
              <a:rPr sz="2400" b="1" spc="-300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  </a:t>
            </a:r>
            <a:r>
              <a:rPr sz="2400" b="1" spc="-135" dirty="0">
                <a:latin typeface="Trebuchet MS"/>
                <a:cs typeface="Trebuchet MS"/>
              </a:rPr>
              <a:t>LAN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4741" y="1443989"/>
            <a:ext cx="6233230" cy="4766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64</a:t>
            </a:fld>
            <a:endParaRPr spc="-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8615045" cy="496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40" dirty="0">
                <a:latin typeface="Trebuchet MS"/>
                <a:cs typeface="Trebuchet MS"/>
              </a:rPr>
              <a:t>Redes de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r>
              <a:rPr sz="2400" b="1" spc="-265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Times New Roman"/>
              <a:cs typeface="Times New Roman"/>
            </a:endParaRPr>
          </a:p>
          <a:p>
            <a:pPr marL="295275" marR="5080" indent="-282575" algn="just">
              <a:lnSpc>
                <a:spcPct val="100000"/>
              </a:lnSpc>
              <a:buFont typeface="Wingdings"/>
              <a:buChar char=""/>
              <a:tabLst>
                <a:tab pos="295910" algn="l"/>
              </a:tabLst>
            </a:pPr>
            <a:r>
              <a:rPr sz="2000" b="1" i="1" u="heavy" spc="-2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Red</a:t>
            </a:r>
            <a:r>
              <a:rPr sz="2000" b="1" i="1" u="heavy" spc="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i="1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000" b="1" i="1" u="heavy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área </a:t>
            </a:r>
            <a:r>
              <a:rPr sz="2000" b="1" i="1" u="heavy" spc="-1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Amplia </a:t>
            </a:r>
            <a:r>
              <a:rPr sz="2000" b="1" i="1" u="heavy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(WAN)</a:t>
            </a:r>
            <a:r>
              <a:rPr sz="2000" spc="-110" dirty="0">
                <a:latin typeface="Arial"/>
                <a:cs typeface="Arial"/>
              </a:rPr>
              <a:t>: </a:t>
            </a:r>
            <a:r>
              <a:rPr sz="2000" spc="-125" dirty="0">
                <a:latin typeface="Arial"/>
                <a:cs typeface="Arial"/>
              </a:rPr>
              <a:t>alcanzan </a:t>
            </a:r>
            <a:r>
              <a:rPr sz="2000" spc="-90" dirty="0">
                <a:latin typeface="Arial"/>
                <a:cs typeface="Arial"/>
              </a:rPr>
              <a:t>enormes </a:t>
            </a:r>
            <a:r>
              <a:rPr sz="2000" spc="-95" dirty="0">
                <a:latin typeface="Arial"/>
                <a:cs typeface="Arial"/>
              </a:rPr>
              <a:t>distancias </a:t>
            </a:r>
            <a:r>
              <a:rPr sz="2000" spc="-110" dirty="0">
                <a:latin typeface="Arial"/>
                <a:cs typeface="Arial"/>
              </a:rPr>
              <a:t>geográficas </a:t>
            </a:r>
            <a:r>
              <a:rPr sz="2000" spc="-85" dirty="0">
                <a:latin typeface="Arial"/>
                <a:cs typeface="Arial"/>
              </a:rPr>
              <a:t>que  </a:t>
            </a:r>
            <a:r>
              <a:rPr sz="2000" spc="-110" dirty="0">
                <a:latin typeface="Arial"/>
                <a:cs typeface="Arial"/>
              </a:rPr>
              <a:t>abarcan </a:t>
            </a:r>
            <a:r>
              <a:rPr sz="2000" spc="-120" dirty="0">
                <a:latin typeface="Arial"/>
                <a:cs typeface="Arial"/>
              </a:rPr>
              <a:t>desde </a:t>
            </a:r>
            <a:r>
              <a:rPr sz="2000" spc="-90" dirty="0">
                <a:latin typeface="Arial"/>
                <a:cs typeface="Arial"/>
              </a:rPr>
              <a:t>varios </a:t>
            </a:r>
            <a:r>
              <a:rPr sz="2000" spc="-50" dirty="0">
                <a:latin typeface="Arial"/>
                <a:cs typeface="Arial"/>
              </a:rPr>
              <a:t>kilómetros </a:t>
            </a:r>
            <a:r>
              <a:rPr sz="2000" spc="-105" dirty="0">
                <a:latin typeface="Arial"/>
                <a:cs typeface="Arial"/>
              </a:rPr>
              <a:t>hasta </a:t>
            </a:r>
            <a:r>
              <a:rPr sz="2000" spc="-65" dirty="0">
                <a:latin typeface="Arial"/>
                <a:cs typeface="Arial"/>
              </a:rPr>
              <a:t>continentes </a:t>
            </a:r>
            <a:r>
              <a:rPr sz="2000" spc="-75" dirty="0">
                <a:latin typeface="Arial"/>
                <a:cs typeface="Arial"/>
              </a:rPr>
              <a:t>completos. </a:t>
            </a:r>
            <a:r>
              <a:rPr sz="2000" spc="-215" dirty="0">
                <a:latin typeface="Arial"/>
                <a:cs typeface="Arial"/>
              </a:rPr>
              <a:t>En </a:t>
            </a:r>
            <a:r>
              <a:rPr sz="2000" spc="-95" dirty="0">
                <a:latin typeface="Arial"/>
                <a:cs typeface="Arial"/>
              </a:rPr>
              <a:t>general </a:t>
            </a:r>
            <a:r>
              <a:rPr sz="2000" spc="-114" dirty="0">
                <a:latin typeface="Arial"/>
                <a:cs typeface="Arial"/>
              </a:rPr>
              <a:t>son </a:t>
            </a:r>
            <a:r>
              <a:rPr sz="2000" spc="-80" dirty="0">
                <a:latin typeface="Arial"/>
                <a:cs typeface="Arial"/>
              </a:rPr>
              <a:t>la  </a:t>
            </a:r>
            <a:r>
              <a:rPr sz="2000" spc="-55" dirty="0">
                <a:latin typeface="Arial"/>
                <a:cs typeface="Arial"/>
              </a:rPr>
              <a:t>unión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dos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150" dirty="0">
                <a:latin typeface="Arial"/>
                <a:cs typeface="Arial"/>
              </a:rPr>
              <a:t>más </a:t>
            </a:r>
            <a:r>
              <a:rPr sz="2000" spc="-165" dirty="0">
                <a:latin typeface="Arial"/>
                <a:cs typeface="Arial"/>
              </a:rPr>
              <a:t>LAN. </a:t>
            </a:r>
            <a:r>
              <a:rPr sz="2000" spc="-114" dirty="0">
                <a:latin typeface="Arial"/>
                <a:cs typeface="Arial"/>
              </a:rPr>
              <a:t>Un </a:t>
            </a:r>
            <a:r>
              <a:rPr sz="2000" spc="-55" dirty="0">
                <a:latin typeface="Arial"/>
                <a:cs typeface="Arial"/>
              </a:rPr>
              <a:t>ejemplo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red </a:t>
            </a:r>
            <a:r>
              <a:rPr sz="2000" spc="-180" dirty="0">
                <a:latin typeface="Arial"/>
                <a:cs typeface="Arial"/>
              </a:rPr>
              <a:t>WAN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30" dirty="0">
                <a:latin typeface="Arial"/>
                <a:cs typeface="Arial"/>
              </a:rPr>
              <a:t>Internet. </a:t>
            </a: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190" dirty="0">
                <a:latin typeface="Arial"/>
                <a:cs typeface="Arial"/>
              </a:rPr>
              <a:t>WANs </a:t>
            </a:r>
            <a:r>
              <a:rPr sz="2000" spc="-100" dirty="0">
                <a:latin typeface="Arial"/>
                <a:cs typeface="Arial"/>
              </a:rPr>
              <a:t>constan  </a:t>
            </a:r>
            <a:r>
              <a:rPr sz="2000" spc="-95" dirty="0">
                <a:latin typeface="Arial"/>
                <a:cs typeface="Arial"/>
              </a:rPr>
              <a:t>de una </a:t>
            </a:r>
            <a:r>
              <a:rPr sz="2000" spc="-80" dirty="0">
                <a:latin typeface="Arial"/>
                <a:cs typeface="Arial"/>
              </a:rPr>
              <a:t>combinación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líneas </a:t>
            </a:r>
            <a:r>
              <a:rPr sz="2000" spc="-95" dirty="0">
                <a:latin typeface="Arial"/>
                <a:cs typeface="Arial"/>
              </a:rPr>
              <a:t>conmutadas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10" dirty="0">
                <a:latin typeface="Arial"/>
                <a:cs typeface="Arial"/>
              </a:rPr>
              <a:t>dedicadas, </a:t>
            </a:r>
            <a:r>
              <a:rPr sz="2000" spc="-85" dirty="0">
                <a:latin typeface="Arial"/>
                <a:cs typeface="Arial"/>
              </a:rPr>
              <a:t>microondas </a:t>
            </a:r>
            <a:r>
              <a:rPr sz="2000" spc="-100" dirty="0">
                <a:latin typeface="Arial"/>
                <a:cs typeface="Arial"/>
              </a:rPr>
              <a:t>y  comunicaciones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50" dirty="0">
                <a:latin typeface="Arial"/>
                <a:cs typeface="Arial"/>
              </a:rPr>
              <a:t>satélite. </a:t>
            </a: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105" dirty="0">
                <a:latin typeface="Arial"/>
                <a:cs typeface="Arial"/>
              </a:rPr>
              <a:t>líneas </a:t>
            </a:r>
            <a:r>
              <a:rPr sz="2000" spc="-95" dirty="0">
                <a:latin typeface="Arial"/>
                <a:cs typeface="Arial"/>
              </a:rPr>
              <a:t>conmutadas </a:t>
            </a:r>
            <a:r>
              <a:rPr sz="2000" spc="-120" dirty="0">
                <a:latin typeface="Arial"/>
                <a:cs typeface="Arial"/>
              </a:rPr>
              <a:t>son </a:t>
            </a:r>
            <a:r>
              <a:rPr sz="2000" spc="-105" dirty="0">
                <a:latin typeface="Arial"/>
                <a:cs typeface="Arial"/>
              </a:rPr>
              <a:t>líneas </a:t>
            </a:r>
            <a:r>
              <a:rPr sz="2000" spc="-75" dirty="0">
                <a:latin typeface="Arial"/>
                <a:cs typeface="Arial"/>
              </a:rPr>
              <a:t>telefónicas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las 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100" dirty="0">
                <a:latin typeface="Arial"/>
                <a:cs typeface="Arial"/>
              </a:rPr>
              <a:t>persona </a:t>
            </a:r>
            <a:r>
              <a:rPr sz="2000" spc="-85" dirty="0">
                <a:latin typeface="Arial"/>
                <a:cs typeface="Arial"/>
              </a:rPr>
              <a:t>puede </a:t>
            </a:r>
            <a:r>
              <a:rPr sz="2000" spc="-35" dirty="0">
                <a:latin typeface="Arial"/>
                <a:cs typeface="Arial"/>
              </a:rPr>
              <a:t>tener </a:t>
            </a:r>
            <a:r>
              <a:rPr sz="2000" spc="-145" dirty="0">
                <a:latin typeface="Arial"/>
                <a:cs typeface="Arial"/>
              </a:rPr>
              <a:t>acceso </a:t>
            </a:r>
            <a:r>
              <a:rPr sz="2000" spc="-120" dirty="0">
                <a:latin typeface="Arial"/>
                <a:cs typeface="Arial"/>
              </a:rPr>
              <a:t>desde </a:t>
            </a:r>
            <a:r>
              <a:rPr sz="2000" spc="-145" dirty="0">
                <a:latin typeface="Arial"/>
                <a:cs typeface="Arial"/>
              </a:rPr>
              <a:t>su </a:t>
            </a:r>
            <a:r>
              <a:rPr sz="2000" spc="-30" dirty="0">
                <a:latin typeface="Arial"/>
                <a:cs typeface="Arial"/>
              </a:rPr>
              <a:t>terminal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25" dirty="0">
                <a:latin typeface="Arial"/>
                <a:cs typeface="Arial"/>
              </a:rPr>
              <a:t>transmitir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160" dirty="0">
                <a:latin typeface="Arial"/>
                <a:cs typeface="Arial"/>
              </a:rPr>
              <a:t>a  </a:t>
            </a:r>
            <a:r>
              <a:rPr sz="2000" spc="-30" dirty="0">
                <a:latin typeface="Arial"/>
                <a:cs typeface="Arial"/>
              </a:rPr>
              <a:t>otra </a:t>
            </a:r>
            <a:r>
              <a:rPr sz="2000" spc="-70" dirty="0">
                <a:latin typeface="Arial"/>
                <a:cs typeface="Arial"/>
              </a:rPr>
              <a:t>computadora;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5" dirty="0">
                <a:latin typeface="Arial"/>
                <a:cs typeface="Arial"/>
              </a:rPr>
              <a:t>llamada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45" dirty="0">
                <a:latin typeface="Arial"/>
                <a:cs typeface="Arial"/>
              </a:rPr>
              <a:t>enruta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través de </a:t>
            </a:r>
            <a:r>
              <a:rPr sz="2000" spc="-65" dirty="0">
                <a:latin typeface="Arial"/>
                <a:cs typeface="Arial"/>
              </a:rPr>
              <a:t>rutas </a:t>
            </a:r>
            <a:r>
              <a:rPr sz="2000" spc="-90" dirty="0">
                <a:latin typeface="Arial"/>
                <a:cs typeface="Arial"/>
              </a:rPr>
              <a:t>preestablecidas </a:t>
            </a:r>
            <a:r>
              <a:rPr sz="2000" spc="-70" dirty="0">
                <a:latin typeface="Arial"/>
                <a:cs typeface="Arial"/>
              </a:rPr>
              <a:t>al  </a:t>
            </a:r>
            <a:r>
              <a:rPr sz="2000" spc="-65" dirty="0">
                <a:latin typeface="Arial"/>
                <a:cs typeface="Arial"/>
              </a:rPr>
              <a:t>destino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designado.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295275" marR="5080" algn="just">
              <a:lnSpc>
                <a:spcPct val="100000"/>
              </a:lnSpc>
            </a:pPr>
            <a:r>
              <a:rPr sz="2000" spc="-220" dirty="0">
                <a:latin typeface="Arial"/>
                <a:cs typeface="Arial"/>
              </a:rPr>
              <a:t>Las</a:t>
            </a:r>
            <a:r>
              <a:rPr sz="2000" spc="114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líneas </a:t>
            </a:r>
            <a:r>
              <a:rPr sz="2000" spc="-114" dirty="0">
                <a:latin typeface="Arial"/>
                <a:cs typeface="Arial"/>
              </a:rPr>
              <a:t>dedicadas </a:t>
            </a:r>
            <a:r>
              <a:rPr sz="2000" spc="-100" dirty="0">
                <a:latin typeface="Arial"/>
                <a:cs typeface="Arial"/>
              </a:rPr>
              <a:t>están </a:t>
            </a:r>
            <a:r>
              <a:rPr sz="2000" spc="-80" dirty="0">
                <a:latin typeface="Arial"/>
                <a:cs typeface="Arial"/>
              </a:rPr>
              <a:t>disponibles </a:t>
            </a:r>
            <a:r>
              <a:rPr sz="2000" spc="-60" dirty="0">
                <a:latin typeface="Arial"/>
                <a:cs typeface="Arial"/>
              </a:rPr>
              <a:t>continuamente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65" dirty="0">
                <a:latin typeface="Arial"/>
                <a:cs typeface="Arial"/>
              </a:rPr>
              <a:t>transmisión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0" dirty="0">
                <a:latin typeface="Arial"/>
                <a:cs typeface="Arial"/>
              </a:rPr>
              <a:t>el  </a:t>
            </a:r>
            <a:r>
              <a:rPr sz="2000" spc="-55" dirty="0">
                <a:latin typeface="Arial"/>
                <a:cs typeface="Arial"/>
              </a:rPr>
              <a:t>arrendatario </a:t>
            </a:r>
            <a:r>
              <a:rPr sz="2000" spc="-105" dirty="0">
                <a:latin typeface="Arial"/>
                <a:cs typeface="Arial"/>
              </a:rPr>
              <a:t>suele </a:t>
            </a:r>
            <a:r>
              <a:rPr sz="2000" spc="-110" dirty="0">
                <a:latin typeface="Arial"/>
                <a:cs typeface="Arial"/>
              </a:rPr>
              <a:t>pagar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114" dirty="0">
                <a:latin typeface="Arial"/>
                <a:cs typeface="Arial"/>
              </a:rPr>
              <a:t>tasa </a:t>
            </a:r>
            <a:r>
              <a:rPr sz="2000" spc="-15" dirty="0">
                <a:latin typeface="Arial"/>
                <a:cs typeface="Arial"/>
              </a:rPr>
              <a:t>fija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145" dirty="0">
                <a:latin typeface="Arial"/>
                <a:cs typeface="Arial"/>
              </a:rPr>
              <a:t>acceso </a:t>
            </a:r>
            <a:r>
              <a:rPr sz="2000" spc="-5" dirty="0">
                <a:latin typeface="Arial"/>
                <a:cs typeface="Arial"/>
              </a:rPr>
              <a:t>total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línea. </a:t>
            </a: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120" dirty="0">
                <a:latin typeface="Arial"/>
                <a:cs typeface="Arial"/>
              </a:rPr>
              <a:t>empresas  </a:t>
            </a:r>
            <a:r>
              <a:rPr sz="2000" spc="-95" dirty="0">
                <a:latin typeface="Arial"/>
                <a:cs typeface="Arial"/>
              </a:rPr>
              <a:t>comerciales </a:t>
            </a:r>
            <a:r>
              <a:rPr sz="2000" spc="-65" dirty="0">
                <a:latin typeface="Arial"/>
                <a:cs typeface="Arial"/>
              </a:rPr>
              <a:t>individuales </a:t>
            </a:r>
            <a:r>
              <a:rPr sz="2000" spc="-70" dirty="0">
                <a:latin typeface="Arial"/>
                <a:cs typeface="Arial"/>
              </a:rPr>
              <a:t>podrían </a:t>
            </a:r>
            <a:r>
              <a:rPr sz="2000" spc="-85" dirty="0">
                <a:latin typeface="Arial"/>
                <a:cs typeface="Arial"/>
              </a:rPr>
              <a:t>establecer </a:t>
            </a:r>
            <a:r>
              <a:rPr sz="2000" spc="-170" dirty="0">
                <a:latin typeface="Arial"/>
                <a:cs typeface="Arial"/>
              </a:rPr>
              <a:t>sus </a:t>
            </a:r>
            <a:r>
              <a:rPr sz="2000" spc="-80" dirty="0">
                <a:latin typeface="Arial"/>
                <a:cs typeface="Arial"/>
              </a:rPr>
              <a:t>propias </a:t>
            </a:r>
            <a:r>
              <a:rPr sz="2000" spc="-105" dirty="0">
                <a:latin typeface="Arial"/>
                <a:cs typeface="Arial"/>
              </a:rPr>
              <a:t>redes </a:t>
            </a:r>
            <a:r>
              <a:rPr sz="2000" spc="-150" dirty="0">
                <a:latin typeface="Arial"/>
                <a:cs typeface="Arial"/>
              </a:rPr>
              <a:t>WAN. </a:t>
            </a: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105" dirty="0">
                <a:latin typeface="Arial"/>
                <a:cs typeface="Arial"/>
              </a:rPr>
              <a:t>empresa 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100" dirty="0">
                <a:latin typeface="Arial"/>
                <a:cs typeface="Arial"/>
              </a:rPr>
              <a:t>responsable </a:t>
            </a:r>
            <a:r>
              <a:rPr sz="2000" spc="-60" dirty="0">
                <a:latin typeface="Arial"/>
                <a:cs typeface="Arial"/>
              </a:rPr>
              <a:t>del contenido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5" dirty="0">
                <a:latin typeface="Arial"/>
                <a:cs typeface="Arial"/>
              </a:rPr>
              <a:t>administración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80" dirty="0">
                <a:latin typeface="Arial"/>
                <a:cs typeface="Arial"/>
              </a:rPr>
              <a:t>telecomunicaciones. </a:t>
            </a:r>
            <a:r>
              <a:rPr sz="2000" spc="-155" dirty="0">
                <a:latin typeface="Arial"/>
                <a:cs typeface="Arial"/>
              </a:rPr>
              <a:t>Sin  </a:t>
            </a:r>
            <a:r>
              <a:rPr sz="2000" spc="-95" dirty="0">
                <a:latin typeface="Arial"/>
                <a:cs typeface="Arial"/>
              </a:rPr>
              <a:t>embargo,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50" dirty="0">
                <a:latin typeface="Arial"/>
                <a:cs typeface="Arial"/>
              </a:rPr>
              <a:t>mantenimiento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105" dirty="0">
                <a:latin typeface="Arial"/>
                <a:cs typeface="Arial"/>
              </a:rPr>
              <a:t>redes </a:t>
            </a:r>
            <a:r>
              <a:rPr sz="2000" spc="-100" dirty="0">
                <a:latin typeface="Arial"/>
                <a:cs typeface="Arial"/>
              </a:rPr>
              <a:t>privadas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10" dirty="0">
                <a:latin typeface="Arial"/>
                <a:cs typeface="Arial"/>
              </a:rPr>
              <a:t>área </a:t>
            </a:r>
            <a:r>
              <a:rPr sz="2000" spc="-70" dirty="0">
                <a:latin typeface="Arial"/>
                <a:cs typeface="Arial"/>
              </a:rPr>
              <a:t>amplia </a:t>
            </a:r>
            <a:r>
              <a:rPr sz="2000" spc="-170" dirty="0">
                <a:latin typeface="Arial"/>
                <a:cs typeface="Arial"/>
              </a:rPr>
              <a:t>es</a:t>
            </a:r>
            <a:r>
              <a:rPr sz="2000" spc="-100" dirty="0">
                <a:latin typeface="Arial"/>
                <a:cs typeface="Arial"/>
              </a:rPr>
              <a:t> costoso.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8614410" cy="496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40" dirty="0">
                <a:latin typeface="Trebuchet MS"/>
                <a:cs typeface="Trebuchet MS"/>
              </a:rPr>
              <a:t>Redes de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r>
              <a:rPr sz="2400" b="1" spc="-265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spc="-25" dirty="0">
                <a:latin typeface="Arial"/>
                <a:cs typeface="Arial"/>
              </a:rPr>
              <a:t>Internet </a:t>
            </a:r>
            <a:r>
              <a:rPr sz="2000" spc="-35" dirty="0">
                <a:latin typeface="Arial"/>
                <a:cs typeface="Arial"/>
              </a:rPr>
              <a:t>permite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20" dirty="0">
                <a:latin typeface="Arial"/>
                <a:cs typeface="Arial"/>
              </a:rPr>
              <a:t>las compañías </a:t>
            </a:r>
            <a:r>
              <a:rPr sz="2000" spc="-90" dirty="0">
                <a:latin typeface="Arial"/>
                <a:cs typeface="Arial"/>
              </a:rPr>
              <a:t>creen </a:t>
            </a:r>
            <a:r>
              <a:rPr sz="2000" spc="-105" dirty="0">
                <a:latin typeface="Arial"/>
                <a:cs typeface="Arial"/>
              </a:rPr>
              <a:t>redes </a:t>
            </a:r>
            <a:r>
              <a:rPr sz="2000" spc="-95" dirty="0">
                <a:latin typeface="Arial"/>
                <a:cs typeface="Arial"/>
              </a:rPr>
              <a:t>privadas </a:t>
            </a:r>
            <a:r>
              <a:rPr sz="2000" spc="-55" dirty="0">
                <a:latin typeface="Arial"/>
                <a:cs typeface="Arial"/>
              </a:rPr>
              <a:t>virtuales </a:t>
            </a:r>
            <a:r>
              <a:rPr sz="2000" spc="-95" dirty="0">
                <a:latin typeface="Arial"/>
                <a:cs typeface="Arial"/>
              </a:rPr>
              <a:t>como  </a:t>
            </a:r>
            <a:r>
              <a:rPr sz="2000" spc="-65" dirty="0">
                <a:latin typeface="Arial"/>
                <a:cs typeface="Arial"/>
              </a:rPr>
              <a:t>alternativas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bajo </a:t>
            </a:r>
            <a:r>
              <a:rPr sz="2000" spc="-90" dirty="0">
                <a:latin typeface="Arial"/>
                <a:cs typeface="Arial"/>
              </a:rPr>
              <a:t>costo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190" dirty="0">
                <a:latin typeface="Arial"/>
                <a:cs typeface="Arial"/>
              </a:rPr>
              <a:t>WANs </a:t>
            </a:r>
            <a:r>
              <a:rPr sz="2000" spc="-90" dirty="0">
                <a:latin typeface="Arial"/>
                <a:cs typeface="Arial"/>
              </a:rPr>
              <a:t>privadas. </a:t>
            </a:r>
            <a:r>
              <a:rPr sz="2000" spc="-130" dirty="0">
                <a:latin typeface="Arial"/>
                <a:cs typeface="Arial"/>
              </a:rPr>
              <a:t>Una </a:t>
            </a:r>
            <a:r>
              <a:rPr sz="2000" b="1" i="1" spc="-220" dirty="0">
                <a:latin typeface="Arial"/>
                <a:cs typeface="Arial"/>
              </a:rPr>
              <a:t>Red </a:t>
            </a:r>
            <a:r>
              <a:rPr sz="2000" b="1" i="1" spc="-130" dirty="0">
                <a:latin typeface="Arial"/>
                <a:cs typeface="Arial"/>
              </a:rPr>
              <a:t>Privada </a:t>
            </a:r>
            <a:r>
              <a:rPr sz="2000" b="1" i="1" spc="-90" dirty="0">
                <a:latin typeface="Arial"/>
                <a:cs typeface="Arial"/>
              </a:rPr>
              <a:t>Virtual </a:t>
            </a:r>
            <a:r>
              <a:rPr sz="2000" b="1" i="1" spc="-150" dirty="0">
                <a:latin typeface="Arial"/>
                <a:cs typeface="Arial"/>
              </a:rPr>
              <a:t>(VPN </a:t>
            </a:r>
            <a:r>
              <a:rPr sz="2000" b="1" i="1" spc="-120" dirty="0">
                <a:latin typeface="Arial"/>
                <a:cs typeface="Arial"/>
              </a:rPr>
              <a:t>–  </a:t>
            </a:r>
            <a:r>
              <a:rPr sz="2000" b="1" i="1" spc="-85" dirty="0">
                <a:latin typeface="Arial"/>
                <a:cs typeface="Arial"/>
              </a:rPr>
              <a:t>Virtual </a:t>
            </a:r>
            <a:r>
              <a:rPr sz="2000" b="1" i="1" spc="-120" dirty="0">
                <a:latin typeface="Arial"/>
                <a:cs typeface="Arial"/>
              </a:rPr>
              <a:t>Private </a:t>
            </a:r>
            <a:r>
              <a:rPr sz="2000" b="1" i="1" spc="-100" dirty="0">
                <a:latin typeface="Arial"/>
                <a:cs typeface="Arial"/>
              </a:rPr>
              <a:t>Network)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90" dirty="0">
                <a:latin typeface="Arial"/>
                <a:cs typeface="Arial"/>
              </a:rPr>
              <a:t>conexión </a:t>
            </a:r>
            <a:r>
              <a:rPr sz="2000" spc="-130" dirty="0">
                <a:latin typeface="Arial"/>
                <a:cs typeface="Arial"/>
              </a:rPr>
              <a:t>segura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120" dirty="0">
                <a:latin typeface="Arial"/>
                <a:cs typeface="Arial"/>
              </a:rPr>
              <a:t>dos </a:t>
            </a:r>
            <a:r>
              <a:rPr sz="2000" spc="-70" dirty="0">
                <a:latin typeface="Arial"/>
                <a:cs typeface="Arial"/>
              </a:rPr>
              <a:t>puntos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30" dirty="0">
                <a:latin typeface="Arial"/>
                <a:cs typeface="Arial"/>
              </a:rPr>
              <a:t>Internet, </a:t>
            </a:r>
            <a:r>
              <a:rPr sz="2000" spc="-80" dirty="0">
                <a:latin typeface="Arial"/>
                <a:cs typeface="Arial"/>
              </a:rPr>
              <a:t>la  </a:t>
            </a:r>
            <a:r>
              <a:rPr sz="2000" spc="-90" dirty="0">
                <a:latin typeface="Arial"/>
                <a:cs typeface="Arial"/>
              </a:rPr>
              <a:t>cual </a:t>
            </a:r>
            <a:r>
              <a:rPr sz="2000" spc="-35" dirty="0">
                <a:latin typeface="Arial"/>
                <a:cs typeface="Arial"/>
              </a:rPr>
              <a:t>permite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100" dirty="0">
                <a:latin typeface="Arial"/>
                <a:cs typeface="Arial"/>
              </a:rPr>
              <a:t>comunicaciones </a:t>
            </a:r>
            <a:r>
              <a:rPr sz="2000" spc="-95" dirty="0">
                <a:latin typeface="Arial"/>
                <a:cs typeface="Arial"/>
              </a:rPr>
              <a:t>privadas </a:t>
            </a:r>
            <a:r>
              <a:rPr sz="2000" spc="-70" dirty="0">
                <a:latin typeface="Arial"/>
                <a:cs typeface="Arial"/>
              </a:rPr>
              <a:t>viajen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95" dirty="0">
                <a:latin typeface="Arial"/>
                <a:cs typeface="Arial"/>
              </a:rPr>
              <a:t>seguridad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través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50" dirty="0">
                <a:latin typeface="Arial"/>
                <a:cs typeface="Arial"/>
              </a:rPr>
              <a:t>infraestructura </a:t>
            </a:r>
            <a:r>
              <a:rPr sz="2000" spc="-70" dirty="0">
                <a:latin typeface="Arial"/>
                <a:cs typeface="Arial"/>
              </a:rPr>
              <a:t>pública. </a:t>
            </a:r>
            <a:r>
              <a:rPr sz="2000" i="1" spc="-85" dirty="0">
                <a:latin typeface="Trebuchet MS"/>
                <a:cs typeface="Trebuchet MS"/>
              </a:rPr>
              <a:t>Los </a:t>
            </a:r>
            <a:r>
              <a:rPr sz="2000" b="1" i="1" spc="-185" dirty="0">
                <a:latin typeface="Arial"/>
                <a:cs typeface="Arial"/>
              </a:rPr>
              <a:t>servicios </a:t>
            </a:r>
            <a:r>
              <a:rPr sz="2000" b="1" i="1" spc="-190" dirty="0">
                <a:latin typeface="Arial"/>
                <a:cs typeface="Arial"/>
              </a:rPr>
              <a:t>VPN </a:t>
            </a:r>
            <a:r>
              <a:rPr sz="2000" i="1" spc="-95" dirty="0">
                <a:latin typeface="Trebuchet MS"/>
                <a:cs typeface="Trebuchet MS"/>
              </a:rPr>
              <a:t>están </a:t>
            </a:r>
            <a:r>
              <a:rPr sz="2000" i="1" spc="-105" dirty="0">
                <a:latin typeface="Trebuchet MS"/>
                <a:cs typeface="Trebuchet MS"/>
              </a:rPr>
              <a:t>disponibles </a:t>
            </a:r>
            <a:r>
              <a:rPr sz="2000" i="1" spc="-25" dirty="0">
                <a:latin typeface="Trebuchet MS"/>
                <a:cs typeface="Trebuchet MS"/>
              </a:rPr>
              <a:t>a </a:t>
            </a:r>
            <a:r>
              <a:rPr sz="2000" i="1" spc="-100" dirty="0">
                <a:latin typeface="Trebuchet MS"/>
                <a:cs typeface="Trebuchet MS"/>
              </a:rPr>
              <a:t>través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95" dirty="0">
                <a:latin typeface="Trebuchet MS"/>
                <a:cs typeface="Trebuchet MS"/>
              </a:rPr>
              <a:t>los  </a:t>
            </a:r>
            <a:r>
              <a:rPr sz="2000" i="1" spc="-100" dirty="0">
                <a:latin typeface="Trebuchet MS"/>
                <a:cs typeface="Trebuchet MS"/>
              </a:rPr>
              <a:t>proveedores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100" dirty="0">
                <a:latin typeface="Trebuchet MS"/>
                <a:cs typeface="Trebuchet MS"/>
              </a:rPr>
              <a:t>servicios </a:t>
            </a:r>
            <a:r>
              <a:rPr sz="2000" i="1" spc="-110" dirty="0">
                <a:latin typeface="Trebuchet MS"/>
                <a:cs typeface="Trebuchet MS"/>
              </a:rPr>
              <a:t>de</a:t>
            </a:r>
            <a:r>
              <a:rPr sz="2000" i="1" spc="-315" dirty="0">
                <a:latin typeface="Trebuchet MS"/>
                <a:cs typeface="Trebuchet MS"/>
              </a:rPr>
              <a:t> </a:t>
            </a:r>
            <a:r>
              <a:rPr sz="2000" i="1" spc="-114" dirty="0">
                <a:latin typeface="Trebuchet MS"/>
                <a:cs typeface="Trebuchet MS"/>
              </a:rPr>
              <a:t>Internet</a:t>
            </a:r>
            <a:r>
              <a:rPr sz="2000" spc="-114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55" dirty="0">
                <a:latin typeface="Arial"/>
                <a:cs typeface="Arial"/>
              </a:rPr>
              <a:t>ejemplo </a:t>
            </a:r>
            <a:r>
              <a:rPr sz="2000" spc="-150" dirty="0">
                <a:latin typeface="Arial"/>
                <a:cs typeface="Arial"/>
              </a:rPr>
              <a:t>más </a:t>
            </a:r>
            <a:r>
              <a:rPr sz="2000" spc="-90" dirty="0">
                <a:latin typeface="Arial"/>
                <a:cs typeface="Arial"/>
              </a:rPr>
              <a:t>común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posibilidad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conectar </a:t>
            </a:r>
            <a:r>
              <a:rPr sz="2000" i="1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dos </a:t>
            </a:r>
            <a:r>
              <a:rPr sz="2000" i="1" u="heavy" spc="-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 más </a:t>
            </a:r>
            <a:r>
              <a:rPr sz="20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sucursales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2000" i="1" u="heavy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una </a:t>
            </a:r>
            <a:r>
              <a:rPr sz="2000" i="1" spc="-65" dirty="0">
                <a:latin typeface="Trebuchet MS"/>
                <a:cs typeface="Trebuchet MS"/>
              </a:rPr>
              <a:t> </a:t>
            </a:r>
            <a:r>
              <a:rPr sz="20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empresa </a:t>
            </a:r>
            <a:r>
              <a:rPr sz="2000" i="1" u="heavy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utilizando </a:t>
            </a:r>
            <a:r>
              <a:rPr sz="20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como </a:t>
            </a:r>
            <a:r>
              <a:rPr sz="20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vínculo </a:t>
            </a:r>
            <a:r>
              <a:rPr sz="2000" i="1" u="heavy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Internet</a:t>
            </a:r>
            <a:r>
              <a:rPr sz="2000" spc="-120" dirty="0">
                <a:latin typeface="Arial"/>
                <a:cs typeface="Arial"/>
              </a:rPr>
              <a:t>, </a:t>
            </a:r>
            <a:r>
              <a:rPr sz="2000" spc="-5" dirty="0">
                <a:latin typeface="Arial"/>
                <a:cs typeface="Arial"/>
              </a:rPr>
              <a:t>permitir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miembros </a:t>
            </a:r>
            <a:r>
              <a:rPr sz="2000" spc="-55" dirty="0">
                <a:latin typeface="Arial"/>
                <a:cs typeface="Arial"/>
              </a:rPr>
              <a:t>del </a:t>
            </a:r>
            <a:r>
              <a:rPr sz="2000" spc="-60" dirty="0">
                <a:latin typeface="Arial"/>
                <a:cs typeface="Arial"/>
              </a:rPr>
              <a:t>equipo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60" dirty="0">
                <a:latin typeface="Arial"/>
                <a:cs typeface="Arial"/>
              </a:rPr>
              <a:t>soporte </a:t>
            </a:r>
            <a:r>
              <a:rPr sz="2000" spc="-65" dirty="0">
                <a:latin typeface="Arial"/>
                <a:cs typeface="Arial"/>
              </a:rPr>
              <a:t>técnico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90" dirty="0">
                <a:latin typeface="Arial"/>
                <a:cs typeface="Arial"/>
              </a:rPr>
              <a:t>conexión </a:t>
            </a:r>
            <a:r>
              <a:rPr sz="2000" spc="-120" dirty="0">
                <a:latin typeface="Arial"/>
                <a:cs typeface="Arial"/>
              </a:rPr>
              <a:t>desde </a:t>
            </a:r>
            <a:r>
              <a:rPr sz="2000" spc="-145" dirty="0">
                <a:latin typeface="Arial"/>
                <a:cs typeface="Arial"/>
              </a:rPr>
              <a:t>su </a:t>
            </a:r>
            <a:r>
              <a:rPr sz="2000" spc="-175" dirty="0">
                <a:latin typeface="Arial"/>
                <a:cs typeface="Arial"/>
              </a:rPr>
              <a:t>casa </a:t>
            </a:r>
            <a:r>
              <a:rPr sz="2000" spc="-70" dirty="0">
                <a:latin typeface="Arial"/>
                <a:cs typeface="Arial"/>
              </a:rPr>
              <a:t>al </a:t>
            </a:r>
            <a:r>
              <a:rPr sz="2000" spc="-50" dirty="0">
                <a:latin typeface="Arial"/>
                <a:cs typeface="Arial"/>
              </a:rPr>
              <a:t>centro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cómputo,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75" dirty="0">
                <a:latin typeface="Arial"/>
                <a:cs typeface="Arial"/>
              </a:rPr>
              <a:t>usuario  </a:t>
            </a:r>
            <a:r>
              <a:rPr sz="2000" spc="-95" dirty="0">
                <a:latin typeface="Arial"/>
                <a:cs typeface="Arial"/>
              </a:rPr>
              <a:t>pueda </a:t>
            </a:r>
            <a:r>
              <a:rPr sz="2000" spc="-105" dirty="0">
                <a:latin typeface="Arial"/>
                <a:cs typeface="Arial"/>
              </a:rPr>
              <a:t>acceder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45" dirty="0">
                <a:latin typeface="Arial"/>
                <a:cs typeface="Arial"/>
              </a:rPr>
              <a:t>su </a:t>
            </a:r>
            <a:r>
              <a:rPr sz="2000" spc="-65" dirty="0">
                <a:latin typeface="Arial"/>
                <a:cs typeface="Arial"/>
              </a:rPr>
              <a:t>equipo </a:t>
            </a:r>
            <a:r>
              <a:rPr sz="2000" spc="-75" dirty="0">
                <a:latin typeface="Arial"/>
                <a:cs typeface="Arial"/>
              </a:rPr>
              <a:t>doméstico </a:t>
            </a:r>
            <a:r>
              <a:rPr sz="2000" spc="-120" dirty="0">
                <a:latin typeface="Arial"/>
                <a:cs typeface="Arial"/>
              </a:rPr>
              <a:t>desde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30" dirty="0">
                <a:latin typeface="Arial"/>
                <a:cs typeface="Arial"/>
              </a:rPr>
              <a:t>sitio </a:t>
            </a:r>
            <a:r>
              <a:rPr sz="2000" spc="-45" dirty="0">
                <a:latin typeface="Arial"/>
                <a:cs typeface="Arial"/>
              </a:rPr>
              <a:t>remoto,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55" dirty="0">
                <a:latin typeface="Arial"/>
                <a:cs typeface="Arial"/>
              </a:rPr>
              <a:t>ejemplo </a:t>
            </a:r>
            <a:r>
              <a:rPr sz="2000" spc="-65" dirty="0">
                <a:latin typeface="Arial"/>
                <a:cs typeface="Arial"/>
              </a:rPr>
              <a:t>un  </a:t>
            </a:r>
            <a:r>
              <a:rPr sz="2000" spc="-35" dirty="0">
                <a:latin typeface="Arial"/>
                <a:cs typeface="Arial"/>
              </a:rPr>
              <a:t>hotel. </a:t>
            </a:r>
            <a:r>
              <a:rPr sz="2000" spc="-170" dirty="0">
                <a:latin typeface="Arial"/>
                <a:cs typeface="Arial"/>
              </a:rPr>
              <a:t>Para </a:t>
            </a:r>
            <a:r>
              <a:rPr sz="2000" spc="-70" dirty="0">
                <a:latin typeface="Arial"/>
                <a:cs typeface="Arial"/>
              </a:rPr>
              <a:t>hacerlo </a:t>
            </a:r>
            <a:r>
              <a:rPr sz="2000" spc="-75" dirty="0">
                <a:latin typeface="Arial"/>
                <a:cs typeface="Arial"/>
              </a:rPr>
              <a:t>posible </a:t>
            </a:r>
            <a:r>
              <a:rPr sz="2000" spc="-95" dirty="0">
                <a:latin typeface="Arial"/>
                <a:cs typeface="Arial"/>
              </a:rPr>
              <a:t>de manera </a:t>
            </a:r>
            <a:r>
              <a:rPr sz="2000" spc="-125" dirty="0">
                <a:latin typeface="Arial"/>
                <a:cs typeface="Arial"/>
              </a:rPr>
              <a:t>segura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95" dirty="0">
                <a:latin typeface="Arial"/>
                <a:cs typeface="Arial"/>
              </a:rPr>
              <a:t>necesario </a:t>
            </a:r>
            <a:r>
              <a:rPr sz="2000" spc="-70" dirty="0">
                <a:latin typeface="Arial"/>
                <a:cs typeface="Arial"/>
              </a:rPr>
              <a:t>proveer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5" dirty="0">
                <a:latin typeface="Arial"/>
                <a:cs typeface="Arial"/>
              </a:rPr>
              <a:t>medios </a:t>
            </a:r>
            <a:r>
              <a:rPr sz="2000" spc="-100" dirty="0">
                <a:latin typeface="Arial"/>
                <a:cs typeface="Arial"/>
              </a:rPr>
              <a:t>para  </a:t>
            </a:r>
            <a:r>
              <a:rPr sz="2000" b="1" i="1" spc="-100" dirty="0">
                <a:latin typeface="Arial"/>
                <a:cs typeface="Arial"/>
              </a:rPr>
              <a:t>garantizar </a:t>
            </a:r>
            <a:r>
              <a:rPr sz="2000" b="1" i="1" spc="-65" dirty="0">
                <a:latin typeface="Arial"/>
                <a:cs typeface="Arial"/>
              </a:rPr>
              <a:t>la </a:t>
            </a:r>
            <a:r>
              <a:rPr sz="2000" b="1" i="1" spc="-125" dirty="0">
                <a:latin typeface="Arial"/>
                <a:cs typeface="Arial"/>
              </a:rPr>
              <a:t>autenticación, </a:t>
            </a:r>
            <a:r>
              <a:rPr sz="2000" b="1" i="1" spc="-114" dirty="0">
                <a:latin typeface="Arial"/>
                <a:cs typeface="Arial"/>
              </a:rPr>
              <a:t>integridad </a:t>
            </a:r>
            <a:r>
              <a:rPr sz="2000" b="1" i="1" spc="-175" dirty="0">
                <a:latin typeface="Arial"/>
                <a:cs typeface="Arial"/>
              </a:rPr>
              <a:t>y </a:t>
            </a:r>
            <a:r>
              <a:rPr sz="2000" b="1" i="1" spc="-140" dirty="0">
                <a:latin typeface="Arial"/>
                <a:cs typeface="Arial"/>
              </a:rPr>
              <a:t>confidencialidad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05" dirty="0">
                <a:latin typeface="Arial"/>
                <a:cs typeface="Arial"/>
              </a:rPr>
              <a:t>toda </a:t>
            </a:r>
            <a:r>
              <a:rPr sz="2000" b="1" i="1" spc="-70" dirty="0">
                <a:latin typeface="Arial"/>
                <a:cs typeface="Arial"/>
              </a:rPr>
              <a:t>la  </a:t>
            </a:r>
            <a:r>
              <a:rPr sz="2000" b="1" i="1" spc="-170" dirty="0">
                <a:latin typeface="Arial"/>
                <a:cs typeface="Arial"/>
              </a:rPr>
              <a:t>comunicación</a:t>
            </a:r>
            <a:r>
              <a:rPr sz="2000" spc="-17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6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0" dirty="0">
                <a:latin typeface="Arial"/>
                <a:cs typeface="Arial"/>
              </a:rPr>
              <a:t>Telecomunicaciones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8613775" cy="496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40" dirty="0">
                <a:latin typeface="Trebuchet MS"/>
                <a:cs typeface="Trebuchet MS"/>
              </a:rPr>
              <a:t>Redes de </a:t>
            </a:r>
            <a:r>
              <a:rPr sz="2400" b="1" spc="-165" dirty="0">
                <a:latin typeface="Trebuchet MS"/>
                <a:cs typeface="Trebuchet MS"/>
              </a:rPr>
              <a:t>Telecomunicaciones</a:t>
            </a:r>
            <a:r>
              <a:rPr sz="2400" b="1" spc="-265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spc="-135" dirty="0">
                <a:latin typeface="Arial"/>
                <a:cs typeface="Arial"/>
              </a:rPr>
              <a:t>Ventajas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70" dirty="0">
                <a:latin typeface="Arial"/>
                <a:cs typeface="Arial"/>
              </a:rPr>
              <a:t>un</a:t>
            </a:r>
            <a:r>
              <a:rPr sz="2000" b="1" i="1" spc="-60" dirty="0">
                <a:latin typeface="Arial"/>
                <a:cs typeface="Arial"/>
              </a:rPr>
              <a:t> </a:t>
            </a:r>
            <a:r>
              <a:rPr sz="2000" b="1" i="1" spc="-110" dirty="0">
                <a:latin typeface="Arial"/>
                <a:cs typeface="Arial"/>
              </a:rPr>
              <a:t>Firewall: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marR="5715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b="1" spc="-130" dirty="0">
                <a:latin typeface="Trebuchet MS"/>
                <a:cs typeface="Trebuchet MS"/>
              </a:rPr>
              <a:t>Protección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14" dirty="0">
                <a:latin typeface="Trebuchet MS"/>
                <a:cs typeface="Trebuchet MS"/>
              </a:rPr>
              <a:t>intrusiones: </a:t>
            </a:r>
            <a:r>
              <a:rPr sz="2000" spc="-80" dirty="0">
                <a:latin typeface="Arial"/>
                <a:cs typeface="Arial"/>
              </a:rPr>
              <a:t>solamente </a:t>
            </a:r>
            <a:r>
              <a:rPr sz="2000" spc="-50" dirty="0">
                <a:latin typeface="Arial"/>
                <a:cs typeface="Arial"/>
              </a:rPr>
              <a:t>entran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5" dirty="0">
                <a:latin typeface="Arial"/>
                <a:cs typeface="Arial"/>
              </a:rPr>
              <a:t>red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114" dirty="0">
                <a:latin typeface="Arial"/>
                <a:cs typeface="Arial"/>
              </a:rPr>
              <a:t>personas </a:t>
            </a:r>
            <a:r>
              <a:rPr sz="2000" spc="-90" dirty="0">
                <a:latin typeface="Arial"/>
                <a:cs typeface="Arial"/>
              </a:rPr>
              <a:t>autorizadas  </a:t>
            </a:r>
            <a:r>
              <a:rPr sz="2000" spc="-150" dirty="0">
                <a:latin typeface="Arial"/>
                <a:cs typeface="Arial"/>
              </a:rPr>
              <a:t>basadas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política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5" dirty="0">
                <a:latin typeface="Arial"/>
                <a:cs typeface="Arial"/>
              </a:rPr>
              <a:t>red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145" dirty="0">
                <a:latin typeface="Arial"/>
                <a:cs typeface="Arial"/>
              </a:rPr>
              <a:t>base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las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configuraciones.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rebuchet MS"/>
              <a:buAutoNum type="arabicPeriod"/>
            </a:pPr>
            <a:endParaRPr sz="205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sz="2000" b="1" spc="-120" dirty="0">
                <a:latin typeface="Trebuchet MS"/>
                <a:cs typeface="Trebuchet MS"/>
              </a:rPr>
              <a:t>Optimización de </a:t>
            </a:r>
            <a:r>
              <a:rPr sz="2000" b="1" spc="-130" dirty="0">
                <a:latin typeface="Trebuchet MS"/>
                <a:cs typeface="Trebuchet MS"/>
              </a:rPr>
              <a:t>acceso: </a:t>
            </a:r>
            <a:r>
              <a:rPr sz="2000" spc="-40" dirty="0">
                <a:latin typeface="Arial"/>
                <a:cs typeface="Arial"/>
              </a:rPr>
              <a:t>identifica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elementos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red </a:t>
            </a:r>
            <a:r>
              <a:rPr sz="2000" spc="-50" dirty="0">
                <a:latin typeface="Arial"/>
                <a:cs typeface="Arial"/>
              </a:rPr>
              <a:t>internos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0" dirty="0">
                <a:latin typeface="Arial"/>
                <a:cs typeface="Arial"/>
              </a:rPr>
              <a:t>optimiza 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5" dirty="0">
                <a:latin typeface="Arial"/>
                <a:cs typeface="Arial"/>
              </a:rPr>
              <a:t>comunicación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75" dirty="0">
                <a:latin typeface="Arial"/>
                <a:cs typeface="Arial"/>
              </a:rPr>
              <a:t>ellos </a:t>
            </a:r>
            <a:r>
              <a:rPr sz="2000" spc="-170" dirty="0">
                <a:latin typeface="Arial"/>
                <a:cs typeface="Arial"/>
              </a:rPr>
              <a:t>sea </a:t>
            </a:r>
            <a:r>
              <a:rPr sz="2000" spc="-150" dirty="0">
                <a:latin typeface="Arial"/>
                <a:cs typeface="Arial"/>
              </a:rPr>
              <a:t>más </a:t>
            </a:r>
            <a:r>
              <a:rPr sz="2000" spc="-55" dirty="0">
                <a:latin typeface="Arial"/>
                <a:cs typeface="Arial"/>
              </a:rPr>
              <a:t>directa </a:t>
            </a:r>
            <a:r>
              <a:rPr sz="2000" spc="-105" dirty="0">
                <a:latin typeface="Arial"/>
                <a:cs typeface="Arial"/>
              </a:rPr>
              <a:t>si </a:t>
            </a:r>
            <a:r>
              <a:rPr sz="2000" spc="-160" dirty="0">
                <a:latin typeface="Arial"/>
                <a:cs typeface="Arial"/>
              </a:rPr>
              <a:t>así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125" dirty="0">
                <a:latin typeface="Arial"/>
                <a:cs typeface="Arial"/>
              </a:rPr>
              <a:t>desea. </a:t>
            </a:r>
            <a:r>
              <a:rPr sz="2000" spc="-145" dirty="0">
                <a:latin typeface="Arial"/>
                <a:cs typeface="Arial"/>
              </a:rPr>
              <a:t>Esto </a:t>
            </a:r>
            <a:r>
              <a:rPr sz="2000" spc="-114" dirty="0">
                <a:latin typeface="Arial"/>
                <a:cs typeface="Arial"/>
              </a:rPr>
              <a:t>ayuda </a:t>
            </a:r>
            <a:r>
              <a:rPr sz="2000" spc="-160" dirty="0">
                <a:latin typeface="Arial"/>
                <a:cs typeface="Arial"/>
              </a:rPr>
              <a:t>a  </a:t>
            </a:r>
            <a:r>
              <a:rPr sz="2000" spc="-65" dirty="0">
                <a:latin typeface="Arial"/>
                <a:cs typeface="Arial"/>
              </a:rPr>
              <a:t>reconfigurar </a:t>
            </a:r>
            <a:r>
              <a:rPr sz="2000" spc="-75" dirty="0">
                <a:latin typeface="Arial"/>
                <a:cs typeface="Arial"/>
              </a:rPr>
              <a:t>rápida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0" dirty="0">
                <a:latin typeface="Arial"/>
                <a:cs typeface="Arial"/>
              </a:rPr>
              <a:t>fácilmente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0" dirty="0">
                <a:latin typeface="Arial"/>
                <a:cs typeface="Arial"/>
              </a:rPr>
              <a:t>parámetros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seguridad.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rebuchet MS"/>
              <a:buAutoNum type="arabicPeriod"/>
            </a:pPr>
            <a:endParaRPr sz="2050">
              <a:latin typeface="Times New Roman"/>
              <a:cs typeface="Times New Roman"/>
            </a:endParaRPr>
          </a:p>
          <a:p>
            <a:pPr marL="469900" marR="5715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b="1" spc="-130" dirty="0">
                <a:latin typeface="Trebuchet MS"/>
                <a:cs typeface="Trebuchet MS"/>
              </a:rPr>
              <a:t>Protección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14" dirty="0">
                <a:latin typeface="Trebuchet MS"/>
                <a:cs typeface="Trebuchet MS"/>
              </a:rPr>
              <a:t>información privada: </a:t>
            </a:r>
            <a:r>
              <a:rPr sz="2000" spc="-35" dirty="0">
                <a:latin typeface="Arial"/>
                <a:cs typeface="Arial"/>
              </a:rPr>
              <a:t>permite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145" dirty="0">
                <a:latin typeface="Arial"/>
                <a:cs typeface="Arial"/>
              </a:rPr>
              <a:t>acceso </a:t>
            </a:r>
            <a:r>
              <a:rPr sz="2000" spc="-80" dirty="0">
                <a:latin typeface="Arial"/>
                <a:cs typeface="Arial"/>
              </a:rPr>
              <a:t>solamente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65" dirty="0">
                <a:latin typeface="Arial"/>
                <a:cs typeface="Arial"/>
              </a:rPr>
              <a:t>quien  </a:t>
            </a:r>
            <a:r>
              <a:rPr sz="2000" spc="-95" dirty="0">
                <a:latin typeface="Arial"/>
                <a:cs typeface="Arial"/>
              </a:rPr>
              <a:t>tenga </a:t>
            </a:r>
            <a:r>
              <a:rPr sz="2000" spc="-65" dirty="0">
                <a:latin typeface="Arial"/>
                <a:cs typeface="Arial"/>
              </a:rPr>
              <a:t>privilegios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0" dirty="0">
                <a:latin typeface="Arial"/>
                <a:cs typeface="Arial"/>
              </a:rPr>
              <a:t>cierta </a:t>
            </a:r>
            <a:r>
              <a:rPr sz="2000" spc="-110" dirty="0">
                <a:latin typeface="Arial"/>
                <a:cs typeface="Arial"/>
              </a:rPr>
              <a:t>área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75" dirty="0">
                <a:latin typeface="Arial"/>
                <a:cs typeface="Arial"/>
              </a:rPr>
              <a:t>sector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red.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rebuchet MS"/>
              <a:buAutoNum type="arabicPeriod"/>
            </a:pPr>
            <a:endParaRPr sz="205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b="1" spc="-130" dirty="0">
                <a:latin typeface="Trebuchet MS"/>
                <a:cs typeface="Trebuchet MS"/>
              </a:rPr>
              <a:t>Protección contra </a:t>
            </a:r>
            <a:r>
              <a:rPr sz="2000" b="1" spc="-125" dirty="0">
                <a:latin typeface="Trebuchet MS"/>
                <a:cs typeface="Trebuchet MS"/>
              </a:rPr>
              <a:t>virus: </a:t>
            </a:r>
            <a:r>
              <a:rPr sz="2000" spc="-55" dirty="0">
                <a:latin typeface="Arial"/>
                <a:cs typeface="Arial"/>
              </a:rPr>
              <a:t>evita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red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135" dirty="0">
                <a:latin typeface="Arial"/>
                <a:cs typeface="Arial"/>
              </a:rPr>
              <a:t>vea </a:t>
            </a:r>
            <a:r>
              <a:rPr sz="2000" spc="-70" dirty="0">
                <a:latin typeface="Arial"/>
                <a:cs typeface="Arial"/>
              </a:rPr>
              <a:t>infectada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114" dirty="0">
                <a:latin typeface="Arial"/>
                <a:cs typeface="Arial"/>
              </a:rPr>
              <a:t>nuevos </a:t>
            </a:r>
            <a:r>
              <a:rPr sz="2000" spc="-70" dirty="0">
                <a:latin typeface="Arial"/>
                <a:cs typeface="Arial"/>
              </a:rPr>
              <a:t>virus </a:t>
            </a:r>
            <a:r>
              <a:rPr sz="2000" spc="-80" dirty="0">
                <a:latin typeface="Arial"/>
                <a:cs typeface="Arial"/>
              </a:rPr>
              <a:t>que  </a:t>
            </a:r>
            <a:r>
              <a:rPr sz="2000" spc="-145" dirty="0">
                <a:latin typeface="Arial"/>
                <a:cs typeface="Arial"/>
              </a:rPr>
              <a:t>sean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liberados.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65010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Redes</a:t>
            </a:r>
            <a:r>
              <a:rPr sz="200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Telecomunicaciones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6244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65" dirty="0">
                <a:latin typeface="Trebuchet MS"/>
                <a:cs typeface="Trebuchet MS"/>
              </a:rPr>
              <a:t>Telecomunicaciones </a:t>
            </a:r>
            <a:r>
              <a:rPr sz="2400" b="1" spc="-145" dirty="0">
                <a:latin typeface="Trebuchet MS"/>
                <a:cs typeface="Trebuchet MS"/>
              </a:rPr>
              <a:t>y </a:t>
            </a:r>
            <a:r>
              <a:rPr sz="2400" b="1" spc="-140" dirty="0">
                <a:latin typeface="Trebuchet MS"/>
                <a:cs typeface="Trebuchet MS"/>
              </a:rPr>
              <a:t>Redes </a:t>
            </a:r>
            <a:r>
              <a:rPr sz="2400" b="1" spc="-140" dirty="0">
                <a:latin typeface="Arial"/>
                <a:cs typeface="Arial"/>
              </a:rPr>
              <a:t>– </a:t>
            </a:r>
            <a:r>
              <a:rPr sz="2400" b="1" spc="-140" dirty="0">
                <a:latin typeface="Trebuchet MS"/>
                <a:cs typeface="Trebuchet MS"/>
              </a:rPr>
              <a:t>Principales</a:t>
            </a:r>
            <a:r>
              <a:rPr sz="2400" b="1" spc="-290" dirty="0">
                <a:latin typeface="Trebuchet MS"/>
                <a:cs typeface="Trebuchet MS"/>
              </a:rPr>
              <a:t> </a:t>
            </a:r>
            <a:r>
              <a:rPr sz="2400" b="1" spc="-70" dirty="0">
                <a:latin typeface="Trebuchet MS"/>
                <a:cs typeface="Trebuchet MS"/>
              </a:rPr>
              <a:t>Marcas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1845" y="1892045"/>
            <a:ext cx="1724406" cy="1028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4600" y="1905000"/>
            <a:ext cx="1905000" cy="1022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29200" y="2133600"/>
            <a:ext cx="3733800" cy="685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7781" y="3534155"/>
            <a:ext cx="3057845" cy="7810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53355" y="3477005"/>
            <a:ext cx="3323844" cy="9395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7284" y="4831505"/>
            <a:ext cx="2123840" cy="7594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1400" y="4391405"/>
            <a:ext cx="1341120" cy="178079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96000" y="4599432"/>
            <a:ext cx="2228850" cy="14965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68</a:t>
            </a:fld>
            <a:endParaRPr spc="-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1192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7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25" dirty="0">
                <a:latin typeface="Arial"/>
                <a:cs typeface="Arial"/>
              </a:rPr>
              <a:t>Internet, Intranet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70" dirty="0">
                <a:latin typeface="Arial"/>
                <a:cs typeface="Arial"/>
              </a:rPr>
              <a:t>Extranet</a:t>
            </a:r>
            <a:r>
              <a:rPr sz="1800" b="0" spc="-229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6022975" cy="496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0" dirty="0">
                <a:latin typeface="Trebuchet MS"/>
                <a:cs typeface="Trebuchet MS"/>
              </a:rPr>
              <a:t>¿Qué </a:t>
            </a:r>
            <a:r>
              <a:rPr sz="2400" b="1" spc="-130" dirty="0">
                <a:latin typeface="Trebuchet MS"/>
                <a:cs typeface="Trebuchet MS"/>
              </a:rPr>
              <a:t>es </a:t>
            </a:r>
            <a:r>
              <a:rPr sz="2400" b="1" spc="-120" dirty="0">
                <a:latin typeface="Trebuchet MS"/>
                <a:cs typeface="Trebuchet MS"/>
              </a:rPr>
              <a:t>una</a:t>
            </a:r>
            <a:r>
              <a:rPr sz="2400" b="1" spc="-340" dirty="0">
                <a:latin typeface="Trebuchet MS"/>
                <a:cs typeface="Trebuchet MS"/>
              </a:rPr>
              <a:t> </a:t>
            </a:r>
            <a:r>
              <a:rPr sz="2400" b="1" spc="-114" dirty="0">
                <a:latin typeface="Trebuchet MS"/>
                <a:cs typeface="Trebuchet MS"/>
              </a:rPr>
              <a:t>Intranet?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Times New Roman"/>
              <a:cs typeface="Times New Roman"/>
            </a:endParaRPr>
          </a:p>
          <a:p>
            <a:pPr marL="244475" marR="5080" indent="-231775" algn="just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2000" spc="-130" dirty="0">
                <a:latin typeface="Arial"/>
                <a:cs typeface="Arial"/>
              </a:rPr>
              <a:t>Una </a:t>
            </a:r>
            <a:r>
              <a:rPr sz="2000" b="1" i="1" spc="-80" dirty="0">
                <a:latin typeface="Arial"/>
                <a:cs typeface="Arial"/>
              </a:rPr>
              <a:t>Intranet </a:t>
            </a:r>
            <a:r>
              <a:rPr sz="2000" i="1" spc="-85" dirty="0">
                <a:latin typeface="Trebuchet MS"/>
                <a:cs typeface="Trebuchet MS"/>
              </a:rPr>
              <a:t>es </a:t>
            </a:r>
            <a:r>
              <a:rPr sz="2000" i="1" spc="-65" dirty="0">
                <a:latin typeface="Trebuchet MS"/>
                <a:cs typeface="Trebuchet MS"/>
              </a:rPr>
              <a:t>una </a:t>
            </a:r>
            <a:r>
              <a:rPr sz="2000" i="1" spc="-125" dirty="0">
                <a:latin typeface="Trebuchet MS"/>
                <a:cs typeface="Trebuchet MS"/>
              </a:rPr>
              <a:t>red </a:t>
            </a:r>
            <a:r>
              <a:rPr sz="2000" i="1" spc="-114" dirty="0">
                <a:latin typeface="Trebuchet MS"/>
                <a:cs typeface="Trebuchet MS"/>
              </a:rPr>
              <a:t>dentro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65" dirty="0">
                <a:latin typeface="Trebuchet MS"/>
                <a:cs typeface="Trebuchet MS"/>
              </a:rPr>
              <a:t>una </a:t>
            </a:r>
            <a:r>
              <a:rPr sz="2000" i="1" spc="-90" dirty="0">
                <a:latin typeface="Trebuchet MS"/>
                <a:cs typeface="Trebuchet MS"/>
              </a:rPr>
              <a:t>organización</a:t>
            </a:r>
            <a:r>
              <a:rPr sz="2000" i="1" spc="-425" dirty="0">
                <a:latin typeface="Trebuchet MS"/>
                <a:cs typeface="Trebuchet MS"/>
              </a:rPr>
              <a:t> </a:t>
            </a:r>
            <a:r>
              <a:rPr sz="2000" i="1" spc="-105" dirty="0">
                <a:latin typeface="Trebuchet MS"/>
                <a:cs typeface="Trebuchet MS"/>
              </a:rPr>
              <a:t>que  </a:t>
            </a:r>
            <a:r>
              <a:rPr sz="2000" i="1" spc="-145" dirty="0">
                <a:latin typeface="Trebuchet MS"/>
                <a:cs typeface="Trebuchet MS"/>
              </a:rPr>
              <a:t>utiliza </a:t>
            </a:r>
            <a:r>
              <a:rPr sz="2000" i="1" spc="-90" dirty="0">
                <a:latin typeface="Trebuchet MS"/>
                <a:cs typeface="Trebuchet MS"/>
              </a:rPr>
              <a:t>tecnologías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125" dirty="0">
                <a:latin typeface="Trebuchet MS"/>
                <a:cs typeface="Trebuchet MS"/>
              </a:rPr>
              <a:t>Internet </a:t>
            </a:r>
            <a:r>
              <a:rPr sz="2000" spc="-95" dirty="0">
                <a:latin typeface="Arial"/>
                <a:cs typeface="Arial"/>
              </a:rPr>
              <a:t>(con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5" dirty="0">
                <a:latin typeface="Arial"/>
                <a:cs typeface="Arial"/>
              </a:rPr>
              <a:t>fin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55" dirty="0">
                <a:latin typeface="Arial"/>
                <a:cs typeface="Arial"/>
              </a:rPr>
              <a:t>proporcionar </a:t>
            </a:r>
            <a:r>
              <a:rPr sz="2000" spc="-40" dirty="0">
                <a:latin typeface="Arial"/>
                <a:cs typeface="Arial"/>
              </a:rPr>
              <a:t>dentro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05" dirty="0">
                <a:latin typeface="Arial"/>
                <a:cs typeface="Arial"/>
              </a:rPr>
              <a:t>empresa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40" dirty="0">
                <a:latin typeface="Arial"/>
                <a:cs typeface="Arial"/>
              </a:rPr>
              <a:t>entorno </a:t>
            </a:r>
            <a:r>
              <a:rPr sz="2000" spc="-55" dirty="0">
                <a:latin typeface="Arial"/>
                <a:cs typeface="Arial"/>
              </a:rPr>
              <a:t>similar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a  </a:t>
            </a:r>
            <a:r>
              <a:rPr sz="2000" spc="-30" dirty="0">
                <a:latin typeface="Arial"/>
                <a:cs typeface="Arial"/>
              </a:rPr>
              <a:t>Internet) </a:t>
            </a:r>
            <a:r>
              <a:rPr sz="20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para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compartir </a:t>
            </a:r>
            <a:r>
              <a:rPr sz="2000" i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información, </a:t>
            </a:r>
            <a:r>
              <a:rPr sz="20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comunicaciones,  </a:t>
            </a:r>
            <a:r>
              <a:rPr sz="20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colaboración, </a:t>
            </a:r>
            <a:r>
              <a:rPr sz="20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</a:t>
            </a:r>
            <a:r>
              <a:rPr sz="2000" i="1" u="heavy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el </a:t>
            </a:r>
            <a:r>
              <a:rPr sz="20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respaldo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20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procesos</a:t>
            </a:r>
            <a:r>
              <a:rPr sz="2000" i="1" u="heavy" spc="-3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empresariales</a:t>
            </a:r>
            <a:r>
              <a:rPr sz="2000" spc="-10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244475" marR="5080" indent="-231775" algn="just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2000" spc="-120" dirty="0">
                <a:latin typeface="Arial"/>
                <a:cs typeface="Arial"/>
              </a:rPr>
              <a:t>Cuenta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protección </a:t>
            </a:r>
            <a:r>
              <a:rPr sz="2000" i="1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dada </a:t>
            </a:r>
            <a:r>
              <a:rPr sz="20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por </a:t>
            </a:r>
            <a:r>
              <a:rPr sz="20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medidas </a:t>
            </a:r>
            <a:r>
              <a:rPr sz="2000" i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 </a:t>
            </a:r>
            <a:r>
              <a:rPr sz="20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seguridad</a:t>
            </a:r>
            <a:r>
              <a:rPr sz="2000" spc="-85" dirty="0">
                <a:latin typeface="Arial"/>
                <a:cs typeface="Arial"/>
              </a:rPr>
              <a:t>,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100" dirty="0">
                <a:latin typeface="Arial"/>
                <a:cs typeface="Arial"/>
              </a:rPr>
              <a:t>contraseñas, </a:t>
            </a:r>
            <a:r>
              <a:rPr sz="2000" spc="-55" dirty="0">
                <a:latin typeface="Arial"/>
                <a:cs typeface="Arial"/>
              </a:rPr>
              <a:t>cifrado </a:t>
            </a:r>
            <a:r>
              <a:rPr sz="2000" spc="-60" dirty="0">
                <a:latin typeface="Arial"/>
                <a:cs typeface="Arial"/>
              </a:rPr>
              <a:t>o encriptación </a:t>
            </a:r>
            <a:r>
              <a:rPr sz="2000" spc="-100" dirty="0">
                <a:latin typeface="Arial"/>
                <a:cs typeface="Arial"/>
              </a:rPr>
              <a:t>y  </a:t>
            </a:r>
            <a:r>
              <a:rPr sz="2000" spc="-90" dirty="0">
                <a:latin typeface="Arial"/>
                <a:cs typeface="Arial"/>
              </a:rPr>
              <a:t>barreras de </a:t>
            </a:r>
            <a:r>
              <a:rPr sz="2000" spc="-75" dirty="0">
                <a:latin typeface="Arial"/>
                <a:cs typeface="Arial"/>
              </a:rPr>
              <a:t>fuego. </a:t>
            </a:r>
            <a:r>
              <a:rPr sz="2000" spc="-170" dirty="0">
                <a:latin typeface="Arial"/>
                <a:cs typeface="Arial"/>
              </a:rPr>
              <a:t>De</a:t>
            </a:r>
            <a:r>
              <a:rPr sz="2000" spc="21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esta </a:t>
            </a:r>
            <a:r>
              <a:rPr sz="2000" spc="-55" dirty="0">
                <a:latin typeface="Arial"/>
                <a:cs typeface="Arial"/>
              </a:rPr>
              <a:t>forma </a:t>
            </a:r>
            <a:r>
              <a:rPr sz="2000" i="1" spc="-85" dirty="0">
                <a:latin typeface="Trebuchet MS"/>
                <a:cs typeface="Trebuchet MS"/>
              </a:rPr>
              <a:t>sólo </a:t>
            </a:r>
            <a:r>
              <a:rPr sz="2000" i="1" spc="-90" dirty="0">
                <a:latin typeface="Trebuchet MS"/>
                <a:cs typeface="Trebuchet MS"/>
              </a:rPr>
              <a:t>los </a:t>
            </a:r>
            <a:r>
              <a:rPr sz="2000" i="1" spc="-85" dirty="0">
                <a:latin typeface="Trebuchet MS"/>
                <a:cs typeface="Trebuchet MS"/>
              </a:rPr>
              <a:t>usuarios  </a:t>
            </a:r>
            <a:r>
              <a:rPr sz="2000" i="1" spc="-100" dirty="0">
                <a:latin typeface="Trebuchet MS"/>
                <a:cs typeface="Trebuchet MS"/>
              </a:rPr>
              <a:t>autorizados </a:t>
            </a:r>
            <a:r>
              <a:rPr sz="2000" spc="-90" dirty="0">
                <a:latin typeface="Arial"/>
                <a:cs typeface="Arial"/>
              </a:rPr>
              <a:t>pueden </a:t>
            </a:r>
            <a:r>
              <a:rPr sz="2000" spc="-35" dirty="0">
                <a:latin typeface="Arial"/>
                <a:cs typeface="Arial"/>
              </a:rPr>
              <a:t>tener </a:t>
            </a:r>
            <a:r>
              <a:rPr sz="2000" spc="-145" dirty="0">
                <a:latin typeface="Arial"/>
                <a:cs typeface="Arial"/>
              </a:rPr>
              <a:t>acceso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65" dirty="0">
                <a:latin typeface="Arial"/>
                <a:cs typeface="Arial"/>
              </a:rPr>
              <a:t>ella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través de  </a:t>
            </a:r>
            <a:r>
              <a:rPr sz="2000" spc="-30" dirty="0">
                <a:latin typeface="Arial"/>
                <a:cs typeface="Arial"/>
              </a:rPr>
              <a:t>Internet.</a:t>
            </a:r>
            <a:endParaRPr sz="2000">
              <a:latin typeface="Arial"/>
              <a:cs typeface="Arial"/>
            </a:endParaRPr>
          </a:p>
          <a:p>
            <a:pPr marL="244475" marR="5080" indent="-231775" algn="just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45110" algn="l"/>
              </a:tabLst>
            </a:pPr>
            <a:r>
              <a:rPr sz="2000" spc="-90" dirty="0">
                <a:latin typeface="Arial"/>
                <a:cs typeface="Arial"/>
              </a:rPr>
              <a:t>Entre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5" dirty="0">
                <a:latin typeface="Arial"/>
                <a:cs typeface="Arial"/>
              </a:rPr>
              <a:t>aplicaciones </a:t>
            </a:r>
            <a:r>
              <a:rPr sz="2000" spc="-140" dirty="0">
                <a:latin typeface="Arial"/>
                <a:cs typeface="Arial"/>
              </a:rPr>
              <a:t>básicas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45" dirty="0">
                <a:latin typeface="Arial"/>
                <a:cs typeface="Arial"/>
              </a:rPr>
              <a:t>intranets </a:t>
            </a:r>
            <a:r>
              <a:rPr sz="2000" spc="-170" dirty="0">
                <a:latin typeface="Arial"/>
                <a:cs typeface="Arial"/>
              </a:rPr>
              <a:t>se  </a:t>
            </a:r>
            <a:r>
              <a:rPr sz="2000" spc="-70" dirty="0">
                <a:latin typeface="Arial"/>
                <a:cs typeface="Arial"/>
              </a:rPr>
              <a:t>incluyen </a:t>
            </a:r>
            <a:r>
              <a:rPr sz="2000" b="1" i="1" spc="-150" dirty="0">
                <a:latin typeface="Arial"/>
                <a:cs typeface="Arial"/>
              </a:rPr>
              <a:t>las </a:t>
            </a:r>
            <a:r>
              <a:rPr sz="2000" b="1" i="1" spc="-190" dirty="0">
                <a:latin typeface="Arial"/>
                <a:cs typeface="Arial"/>
              </a:rPr>
              <a:t>comunicaciones </a:t>
            </a:r>
            <a:r>
              <a:rPr sz="2000" b="1" i="1" spc="-175" dirty="0">
                <a:latin typeface="Arial"/>
                <a:cs typeface="Arial"/>
              </a:rPr>
              <a:t>y </a:t>
            </a:r>
            <a:r>
              <a:rPr sz="2000" b="1" i="1" spc="-65" dirty="0">
                <a:latin typeface="Arial"/>
                <a:cs typeface="Arial"/>
              </a:rPr>
              <a:t>la </a:t>
            </a:r>
            <a:r>
              <a:rPr sz="2000" b="1" i="1" spc="-145" dirty="0">
                <a:latin typeface="Arial"/>
                <a:cs typeface="Arial"/>
              </a:rPr>
              <a:t>colaboración, </a:t>
            </a:r>
            <a:r>
              <a:rPr sz="2000" b="1" i="1" spc="-70" dirty="0">
                <a:latin typeface="Arial"/>
                <a:cs typeface="Arial"/>
              </a:rPr>
              <a:t>la  </a:t>
            </a:r>
            <a:r>
              <a:rPr sz="2000" b="1" i="1" spc="-160" dirty="0">
                <a:latin typeface="Arial"/>
                <a:cs typeface="Arial"/>
              </a:rPr>
              <a:t>publicación </a:t>
            </a:r>
            <a:r>
              <a:rPr sz="2000" b="1" i="1" spc="-155" dirty="0">
                <a:latin typeface="Arial"/>
                <a:cs typeface="Arial"/>
              </a:rPr>
              <a:t>Web </a:t>
            </a:r>
            <a:r>
              <a:rPr sz="2000" b="1" i="1" spc="-175" dirty="0">
                <a:latin typeface="Arial"/>
                <a:cs typeface="Arial"/>
              </a:rPr>
              <a:t>y </a:t>
            </a:r>
            <a:r>
              <a:rPr sz="2000" b="1" i="1" spc="-65" dirty="0">
                <a:latin typeface="Arial"/>
                <a:cs typeface="Arial"/>
              </a:rPr>
              <a:t>la </a:t>
            </a:r>
            <a:r>
              <a:rPr sz="2000" b="1" i="1" spc="-135" dirty="0">
                <a:latin typeface="Arial"/>
                <a:cs typeface="Arial"/>
              </a:rPr>
              <a:t>administración </a:t>
            </a:r>
            <a:r>
              <a:rPr sz="2000" b="1" i="1" spc="-175" dirty="0">
                <a:latin typeface="Arial"/>
                <a:cs typeface="Arial"/>
              </a:rPr>
              <a:t>y </a:t>
            </a:r>
            <a:r>
              <a:rPr sz="2000" b="1" i="1" spc="-150" dirty="0">
                <a:latin typeface="Arial"/>
                <a:cs typeface="Arial"/>
              </a:rPr>
              <a:t>las </a:t>
            </a:r>
            <a:r>
              <a:rPr sz="2000" b="1" i="1" spc="-165" dirty="0">
                <a:latin typeface="Arial"/>
                <a:cs typeface="Arial"/>
              </a:rPr>
              <a:t>operaciones  </a:t>
            </a:r>
            <a:r>
              <a:rPr sz="2000" b="1" i="1" spc="-135" dirty="0">
                <a:latin typeface="Arial"/>
                <a:cs typeface="Arial"/>
              </a:rPr>
              <a:t>empresariales</a:t>
            </a:r>
            <a:r>
              <a:rPr sz="2000" spc="-13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8232" y="1143000"/>
            <a:ext cx="2386346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05600" y="3657600"/>
            <a:ext cx="1943100" cy="2353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69</a:t>
            </a:fld>
            <a:endParaRPr spc="-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1192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7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25" dirty="0">
                <a:latin typeface="Arial"/>
                <a:cs typeface="Arial"/>
              </a:rPr>
              <a:t>Internet, Intranet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70" dirty="0">
                <a:latin typeface="Arial"/>
                <a:cs typeface="Arial"/>
              </a:rPr>
              <a:t>Extranet</a:t>
            </a:r>
            <a:r>
              <a:rPr sz="1800" b="0" spc="-229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8614410" cy="509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35" dirty="0">
                <a:latin typeface="Trebuchet MS"/>
                <a:cs typeface="Trebuchet MS"/>
              </a:rPr>
              <a:t>Aplicaciones </a:t>
            </a:r>
            <a:r>
              <a:rPr sz="2400" b="1" spc="-120" dirty="0">
                <a:latin typeface="Trebuchet MS"/>
                <a:cs typeface="Trebuchet MS"/>
              </a:rPr>
              <a:t>básicas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00" dirty="0">
                <a:latin typeface="Trebuchet MS"/>
                <a:cs typeface="Trebuchet MS"/>
              </a:rPr>
              <a:t>las</a:t>
            </a:r>
            <a:r>
              <a:rPr sz="2400" b="1" spc="-345" dirty="0">
                <a:latin typeface="Trebuchet MS"/>
                <a:cs typeface="Trebuchet MS"/>
              </a:rPr>
              <a:t> </a:t>
            </a:r>
            <a:r>
              <a:rPr sz="2400" b="1" spc="-130" dirty="0">
                <a:latin typeface="Trebuchet MS"/>
                <a:cs typeface="Trebuchet MS"/>
              </a:rPr>
              <a:t>Intranets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Times New Roman"/>
              <a:cs typeface="Times New Roman"/>
            </a:endParaRPr>
          </a:p>
          <a:p>
            <a:pPr marL="244475" marR="5080" indent="-231775" algn="just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1800" b="1" spc="-110" dirty="0">
                <a:latin typeface="Trebuchet MS"/>
                <a:cs typeface="Trebuchet MS"/>
              </a:rPr>
              <a:t>Comunicaciones y </a:t>
            </a:r>
            <a:r>
              <a:rPr sz="1800" b="1" spc="-100" dirty="0">
                <a:latin typeface="Trebuchet MS"/>
                <a:cs typeface="Trebuchet MS"/>
              </a:rPr>
              <a:t>colaboración</a:t>
            </a:r>
            <a:r>
              <a:rPr sz="1800" spc="-100" dirty="0">
                <a:latin typeface="Arial"/>
                <a:cs typeface="Arial"/>
              </a:rPr>
              <a:t>. </a:t>
            </a:r>
            <a:r>
              <a:rPr sz="1800" spc="-200" dirty="0">
                <a:latin typeface="Arial"/>
                <a:cs typeface="Arial"/>
              </a:rPr>
              <a:t>Las </a:t>
            </a:r>
            <a:r>
              <a:rPr sz="1800" spc="-35" dirty="0">
                <a:latin typeface="Arial"/>
                <a:cs typeface="Arial"/>
              </a:rPr>
              <a:t>Intranet </a:t>
            </a:r>
            <a:r>
              <a:rPr sz="1800" spc="-60" dirty="0">
                <a:latin typeface="Arial"/>
                <a:cs typeface="Arial"/>
              </a:rPr>
              <a:t>mejoran </a:t>
            </a:r>
            <a:r>
              <a:rPr sz="1800" spc="-85" dirty="0">
                <a:latin typeface="Arial"/>
                <a:cs typeface="Arial"/>
              </a:rPr>
              <a:t>de manera </a:t>
            </a:r>
            <a:r>
              <a:rPr sz="1800" spc="-65" dirty="0">
                <a:latin typeface="Arial"/>
                <a:cs typeface="Arial"/>
              </a:rPr>
              <a:t>significativa </a:t>
            </a:r>
            <a:r>
              <a:rPr sz="1800" spc="-110" dirty="0">
                <a:latin typeface="Arial"/>
                <a:cs typeface="Arial"/>
              </a:rPr>
              <a:t>las  </a:t>
            </a:r>
            <a:r>
              <a:rPr sz="1800" spc="-90" dirty="0">
                <a:latin typeface="Arial"/>
                <a:cs typeface="Arial"/>
              </a:rPr>
              <a:t>comunicaciones y </a:t>
            </a:r>
            <a:r>
              <a:rPr sz="1800" spc="-75" dirty="0">
                <a:latin typeface="Arial"/>
                <a:cs typeface="Arial"/>
              </a:rPr>
              <a:t>colaboración </a:t>
            </a:r>
            <a:r>
              <a:rPr sz="1800" spc="-30" dirty="0">
                <a:latin typeface="Arial"/>
                <a:cs typeface="Arial"/>
              </a:rPr>
              <a:t>dentro </a:t>
            </a:r>
            <a:r>
              <a:rPr sz="1800" spc="-80" dirty="0">
                <a:latin typeface="Arial"/>
                <a:cs typeface="Arial"/>
              </a:rPr>
              <a:t>de una </a:t>
            </a:r>
            <a:r>
              <a:rPr sz="1800" spc="-90" dirty="0">
                <a:latin typeface="Arial"/>
                <a:cs typeface="Arial"/>
              </a:rPr>
              <a:t>empresa. </a:t>
            </a:r>
            <a:r>
              <a:rPr sz="1800" spc="-110" dirty="0">
                <a:latin typeface="Arial"/>
                <a:cs typeface="Arial"/>
              </a:rPr>
              <a:t>Pueden </a:t>
            </a:r>
            <a:r>
              <a:rPr sz="1800" spc="-60" dirty="0">
                <a:latin typeface="Arial"/>
                <a:cs typeface="Arial"/>
              </a:rPr>
              <a:t>utilizarse </a:t>
            </a:r>
            <a:r>
              <a:rPr sz="1800" spc="-90" dirty="0">
                <a:latin typeface="Arial"/>
                <a:cs typeface="Arial"/>
              </a:rPr>
              <a:t>características 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Groupware </a:t>
            </a:r>
            <a:r>
              <a:rPr sz="1800" spc="-30" dirty="0">
                <a:latin typeface="Arial"/>
                <a:cs typeface="Arial"/>
              </a:rPr>
              <a:t>Intranet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50" dirty="0">
                <a:latin typeface="Arial"/>
                <a:cs typeface="Arial"/>
              </a:rPr>
              <a:t>mejorar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5" dirty="0">
                <a:latin typeface="Arial"/>
                <a:cs typeface="Arial"/>
              </a:rPr>
              <a:t>colaboración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equipos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75" dirty="0">
                <a:latin typeface="Arial"/>
                <a:cs typeface="Arial"/>
              </a:rPr>
              <a:t>proyectos </a:t>
            </a:r>
            <a:r>
              <a:rPr sz="1800" spc="-90" dirty="0">
                <a:latin typeface="Arial"/>
                <a:cs typeface="Arial"/>
              </a:rPr>
              <a:t>con </a:t>
            </a:r>
            <a:r>
              <a:rPr sz="1800" spc="-85" dirty="0">
                <a:latin typeface="Arial"/>
                <a:cs typeface="Arial"/>
              </a:rPr>
              <a:t>servicios  como grupos de discusión, </a:t>
            </a:r>
            <a:r>
              <a:rPr sz="1800" spc="-110" dirty="0">
                <a:latin typeface="Arial"/>
                <a:cs typeface="Arial"/>
              </a:rPr>
              <a:t>salones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90" dirty="0">
                <a:latin typeface="Arial"/>
                <a:cs typeface="Arial"/>
              </a:rPr>
              <a:t>conversación, </a:t>
            </a:r>
            <a:r>
              <a:rPr sz="1800" spc="-70" dirty="0">
                <a:latin typeface="Arial"/>
                <a:cs typeface="Arial"/>
              </a:rPr>
              <a:t>audioconferencia </a:t>
            </a:r>
            <a:r>
              <a:rPr sz="1800" spc="-90" dirty="0">
                <a:latin typeface="Arial"/>
                <a:cs typeface="Arial"/>
              </a:rPr>
              <a:t>y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videoconferencia.</a:t>
            </a:r>
            <a:endParaRPr sz="1800">
              <a:latin typeface="Arial"/>
              <a:cs typeface="Arial"/>
            </a:endParaRPr>
          </a:p>
          <a:p>
            <a:pPr marL="244475" marR="6350" indent="-231775" algn="just">
              <a:lnSpc>
                <a:spcPct val="100000"/>
              </a:lnSpc>
              <a:buFont typeface="Wingdings"/>
              <a:buChar char=""/>
              <a:tabLst>
                <a:tab pos="245110" algn="l"/>
              </a:tabLst>
            </a:pPr>
            <a:r>
              <a:rPr sz="1800" b="1" spc="-110" dirty="0">
                <a:latin typeface="Trebuchet MS"/>
                <a:cs typeface="Trebuchet MS"/>
              </a:rPr>
              <a:t>Publicación </a:t>
            </a:r>
            <a:r>
              <a:rPr sz="1800" b="1" spc="-80" dirty="0">
                <a:latin typeface="Trebuchet MS"/>
                <a:cs typeface="Trebuchet MS"/>
              </a:rPr>
              <a:t>Web</a:t>
            </a:r>
            <a:r>
              <a:rPr sz="1800" spc="-80" dirty="0">
                <a:latin typeface="Arial"/>
                <a:cs typeface="Arial"/>
              </a:rPr>
              <a:t>. </a:t>
            </a:r>
            <a:r>
              <a:rPr sz="1800" spc="-70" dirty="0">
                <a:latin typeface="Arial"/>
                <a:cs typeface="Arial"/>
              </a:rPr>
              <a:t>Permite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60" dirty="0">
                <a:latin typeface="Arial"/>
                <a:cs typeface="Arial"/>
              </a:rPr>
              <a:t>desarrollo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65" dirty="0">
                <a:latin typeface="Arial"/>
                <a:cs typeface="Arial"/>
              </a:rPr>
              <a:t>la publicación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documentos </a:t>
            </a:r>
            <a:r>
              <a:rPr sz="1800" spc="-35" dirty="0">
                <a:latin typeface="Arial"/>
                <a:cs typeface="Arial"/>
              </a:rPr>
              <a:t>multimedia  </a:t>
            </a:r>
            <a:r>
              <a:rPr sz="1800" spc="-85" dirty="0">
                <a:latin typeface="Arial"/>
                <a:cs typeface="Arial"/>
              </a:rPr>
              <a:t>hiperenlazados en </a:t>
            </a:r>
            <a:r>
              <a:rPr sz="1800" spc="-140" dirty="0">
                <a:latin typeface="Arial"/>
                <a:cs typeface="Arial"/>
              </a:rPr>
              <a:t>bases </a:t>
            </a:r>
            <a:r>
              <a:rPr sz="1800" spc="-80" dirty="0">
                <a:latin typeface="Arial"/>
                <a:cs typeface="Arial"/>
              </a:rPr>
              <a:t>de datos </a:t>
            </a:r>
            <a:r>
              <a:rPr sz="1800" spc="-55" dirty="0">
                <a:latin typeface="Arial"/>
                <a:cs typeface="Arial"/>
              </a:rPr>
              <a:t>hipermedia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un modo </a:t>
            </a:r>
            <a:r>
              <a:rPr sz="1800" spc="-135" dirty="0">
                <a:latin typeface="Arial"/>
                <a:cs typeface="Arial"/>
              </a:rPr>
              <a:t>más </a:t>
            </a:r>
            <a:r>
              <a:rPr sz="1800" spc="-50" dirty="0">
                <a:latin typeface="Arial"/>
                <a:cs typeface="Arial"/>
              </a:rPr>
              <a:t>fácil, </a:t>
            </a:r>
            <a:r>
              <a:rPr sz="1800" spc="-45" dirty="0">
                <a:latin typeface="Arial"/>
                <a:cs typeface="Arial"/>
              </a:rPr>
              <a:t>atractivo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95" dirty="0">
                <a:latin typeface="Arial"/>
                <a:cs typeface="Arial"/>
              </a:rPr>
              <a:t>menos  </a:t>
            </a:r>
            <a:r>
              <a:rPr sz="1800" spc="-90" dirty="0">
                <a:latin typeface="Arial"/>
                <a:cs typeface="Arial"/>
              </a:rPr>
              <a:t>costoso. </a:t>
            </a:r>
            <a:r>
              <a:rPr sz="1800" spc="-170" dirty="0">
                <a:latin typeface="Arial"/>
                <a:cs typeface="Arial"/>
              </a:rPr>
              <a:t>Los </a:t>
            </a:r>
            <a:r>
              <a:rPr sz="1800" spc="-80" dirty="0">
                <a:latin typeface="Arial"/>
                <a:cs typeface="Arial"/>
              </a:rPr>
              <a:t>exploradores de </a:t>
            </a:r>
            <a:r>
              <a:rPr sz="1800" spc="-50" dirty="0">
                <a:latin typeface="Arial"/>
                <a:cs typeface="Arial"/>
              </a:rPr>
              <a:t>software </a:t>
            </a:r>
            <a:r>
              <a:rPr sz="1800" spc="-35" dirty="0">
                <a:latin typeface="Arial"/>
                <a:cs typeface="Arial"/>
              </a:rPr>
              <a:t>Intranet,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75" dirty="0">
                <a:latin typeface="Arial"/>
                <a:cs typeface="Arial"/>
              </a:rPr>
              <a:t>servidores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55" dirty="0">
                <a:latin typeface="Arial"/>
                <a:cs typeface="Arial"/>
              </a:rPr>
              <a:t>motores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95" dirty="0">
                <a:latin typeface="Arial"/>
                <a:cs typeface="Arial"/>
              </a:rPr>
              <a:t>búsqueda  </a:t>
            </a:r>
            <a:r>
              <a:rPr sz="1800" spc="-75" dirty="0">
                <a:latin typeface="Arial"/>
                <a:cs typeface="Arial"/>
              </a:rPr>
              <a:t>pueden ayudarle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110" dirty="0">
                <a:latin typeface="Arial"/>
                <a:cs typeface="Arial"/>
              </a:rPr>
              <a:t>navegar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75" dirty="0">
                <a:latin typeface="Arial"/>
                <a:cs typeface="Arial"/>
              </a:rPr>
              <a:t>localizar </a:t>
            </a:r>
            <a:r>
              <a:rPr sz="1800" spc="-95" dirty="0">
                <a:latin typeface="Arial"/>
                <a:cs typeface="Arial"/>
              </a:rPr>
              <a:t>con </a:t>
            </a:r>
            <a:r>
              <a:rPr sz="1800" spc="-55" dirty="0">
                <a:latin typeface="Arial"/>
                <a:cs typeface="Arial"/>
              </a:rPr>
              <a:t>facilidad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70" dirty="0">
                <a:latin typeface="Arial"/>
                <a:cs typeface="Arial"/>
              </a:rPr>
              <a:t>empresarial </a:t>
            </a:r>
            <a:r>
              <a:rPr sz="1800" spc="-75" dirty="0">
                <a:latin typeface="Arial"/>
                <a:cs typeface="Arial"/>
              </a:rPr>
              <a:t>que  </a:t>
            </a:r>
            <a:r>
              <a:rPr sz="1800" spc="-85" dirty="0">
                <a:latin typeface="Arial"/>
                <a:cs typeface="Arial"/>
              </a:rPr>
              <a:t>necesita.</a:t>
            </a:r>
            <a:endParaRPr sz="1800">
              <a:latin typeface="Arial"/>
              <a:cs typeface="Arial"/>
            </a:endParaRPr>
          </a:p>
          <a:p>
            <a:pPr marL="244475" marR="5715" indent="-231775" algn="just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45110" algn="l"/>
              </a:tabLst>
            </a:pPr>
            <a:r>
              <a:rPr sz="1800" b="1" spc="-100" dirty="0">
                <a:latin typeface="Trebuchet MS"/>
                <a:cs typeface="Trebuchet MS"/>
              </a:rPr>
              <a:t>Administración </a:t>
            </a:r>
            <a:r>
              <a:rPr sz="1800" b="1" spc="-110" dirty="0">
                <a:latin typeface="Trebuchet MS"/>
                <a:cs typeface="Trebuchet MS"/>
              </a:rPr>
              <a:t>y operaciones </a:t>
            </a:r>
            <a:r>
              <a:rPr sz="1800" b="1" spc="-100" dirty="0">
                <a:latin typeface="Trebuchet MS"/>
                <a:cs typeface="Trebuchet MS"/>
              </a:rPr>
              <a:t>empresariales</a:t>
            </a:r>
            <a:r>
              <a:rPr sz="1800" spc="-100" dirty="0">
                <a:latin typeface="Arial"/>
                <a:cs typeface="Arial"/>
              </a:rPr>
              <a:t>. </a:t>
            </a:r>
            <a:r>
              <a:rPr sz="1800" spc="-200" dirty="0">
                <a:latin typeface="Arial"/>
                <a:cs typeface="Arial"/>
              </a:rPr>
              <a:t>Las </a:t>
            </a:r>
            <a:r>
              <a:rPr sz="1800" spc="-30" dirty="0">
                <a:latin typeface="Arial"/>
                <a:cs typeface="Arial"/>
              </a:rPr>
              <a:t>Intranet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90" dirty="0">
                <a:latin typeface="Arial"/>
                <a:cs typeface="Arial"/>
              </a:rPr>
              <a:t>están </a:t>
            </a:r>
            <a:r>
              <a:rPr sz="1800" spc="-50" dirty="0">
                <a:latin typeface="Arial"/>
                <a:cs typeface="Arial"/>
              </a:rPr>
              <a:t>utilizando </a:t>
            </a:r>
            <a:r>
              <a:rPr sz="1800" spc="-85" dirty="0">
                <a:latin typeface="Arial"/>
                <a:cs typeface="Arial"/>
              </a:rPr>
              <a:t>como </a:t>
            </a:r>
            <a:r>
              <a:rPr sz="1800" spc="-65" dirty="0">
                <a:latin typeface="Arial"/>
                <a:cs typeface="Arial"/>
              </a:rPr>
              <a:t>la  </a:t>
            </a:r>
            <a:r>
              <a:rPr sz="1800" spc="-55" dirty="0">
                <a:latin typeface="Arial"/>
                <a:cs typeface="Arial"/>
              </a:rPr>
              <a:t>plataforma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60" dirty="0">
                <a:latin typeface="Arial"/>
                <a:cs typeface="Arial"/>
              </a:rPr>
              <a:t>desarrollar </a:t>
            </a:r>
            <a:r>
              <a:rPr sz="1800" spc="-90" dirty="0">
                <a:latin typeface="Arial"/>
                <a:cs typeface="Arial"/>
              </a:rPr>
              <a:t>y desplegar </a:t>
            </a:r>
            <a:r>
              <a:rPr sz="1800" spc="-85" dirty="0">
                <a:latin typeface="Arial"/>
                <a:cs typeface="Arial"/>
              </a:rPr>
              <a:t>aplicaciones </a:t>
            </a:r>
            <a:r>
              <a:rPr sz="1800" spc="-80" dirty="0">
                <a:latin typeface="Arial"/>
                <a:cs typeface="Arial"/>
              </a:rPr>
              <a:t>empresariales </a:t>
            </a:r>
            <a:r>
              <a:rPr sz="1800" spc="-75" dirty="0">
                <a:latin typeface="Arial"/>
                <a:cs typeface="Arial"/>
              </a:rPr>
              <a:t>críticas </a:t>
            </a:r>
            <a:r>
              <a:rPr sz="1800" spc="-90" dirty="0">
                <a:latin typeface="Arial"/>
                <a:cs typeface="Arial"/>
              </a:rPr>
              <a:t>y para  </a:t>
            </a:r>
            <a:r>
              <a:rPr sz="1800" spc="-75" dirty="0">
                <a:latin typeface="Arial"/>
                <a:cs typeface="Arial"/>
              </a:rPr>
              <a:t>respaldar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50" dirty="0">
                <a:latin typeface="Arial"/>
                <a:cs typeface="Arial"/>
              </a:rPr>
              <a:t>toma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95" dirty="0">
                <a:latin typeface="Arial"/>
                <a:cs typeface="Arial"/>
              </a:rPr>
              <a:t>decisiones </a:t>
            </a:r>
            <a:r>
              <a:rPr sz="1800" spc="-90" dirty="0">
                <a:latin typeface="Arial"/>
                <a:cs typeface="Arial"/>
              </a:rPr>
              <a:t>gerenciales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85" dirty="0">
                <a:latin typeface="Arial"/>
                <a:cs typeface="Arial"/>
              </a:rPr>
              <a:t>través 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95" dirty="0">
                <a:latin typeface="Arial"/>
                <a:cs typeface="Arial"/>
              </a:rPr>
              <a:t>empresa </a:t>
            </a:r>
            <a:r>
              <a:rPr sz="1800" spc="-65" dirty="0">
                <a:latin typeface="Arial"/>
                <a:cs typeface="Arial"/>
              </a:rPr>
              <a:t>interconectada </a:t>
            </a:r>
            <a:r>
              <a:rPr sz="1800" spc="-85" dirty="0">
                <a:latin typeface="Arial"/>
                <a:cs typeface="Arial"/>
              </a:rPr>
              <a:t>en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red.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b="1" i="1" spc="-145" dirty="0">
                <a:latin typeface="Arial"/>
                <a:cs typeface="Arial"/>
              </a:rPr>
              <a:t>Muchas </a:t>
            </a:r>
            <a:r>
              <a:rPr sz="1800" b="1" i="1" spc="-135" dirty="0">
                <a:latin typeface="Arial"/>
                <a:cs typeface="Arial"/>
              </a:rPr>
              <a:t>de </a:t>
            </a:r>
            <a:r>
              <a:rPr sz="1800" b="1" i="1" spc="-160" dirty="0">
                <a:latin typeface="Arial"/>
                <a:cs typeface="Arial"/>
              </a:rPr>
              <a:t>estas </a:t>
            </a:r>
            <a:r>
              <a:rPr sz="1800" b="1" i="1" spc="-145" dirty="0">
                <a:latin typeface="Arial"/>
                <a:cs typeface="Arial"/>
              </a:rPr>
              <a:t>aplicaciones </a:t>
            </a:r>
            <a:r>
              <a:rPr sz="1800" b="1" i="1" spc="-204" dirty="0">
                <a:latin typeface="Arial"/>
                <a:cs typeface="Arial"/>
              </a:rPr>
              <a:t>se </a:t>
            </a:r>
            <a:r>
              <a:rPr sz="1800" b="1" i="1" spc="-140" dirty="0">
                <a:latin typeface="Arial"/>
                <a:cs typeface="Arial"/>
              </a:rPr>
              <a:t>diseñan </a:t>
            </a:r>
            <a:r>
              <a:rPr sz="1800" b="1" i="1" spc="-80" dirty="0">
                <a:latin typeface="Arial"/>
                <a:cs typeface="Arial"/>
              </a:rPr>
              <a:t>para </a:t>
            </a:r>
            <a:r>
              <a:rPr sz="1800" b="1" i="1" spc="-140" dirty="0">
                <a:latin typeface="Arial"/>
                <a:cs typeface="Arial"/>
              </a:rPr>
              <a:t>que </a:t>
            </a:r>
            <a:r>
              <a:rPr sz="1800" b="1" i="1" spc="-120" dirty="0">
                <a:latin typeface="Arial"/>
                <a:cs typeface="Arial"/>
              </a:rPr>
              <a:t>actúen </a:t>
            </a:r>
            <a:r>
              <a:rPr sz="1800" b="1" i="1" spc="-190" dirty="0">
                <a:latin typeface="Arial"/>
                <a:cs typeface="Arial"/>
              </a:rPr>
              <a:t>como </a:t>
            </a:r>
            <a:r>
              <a:rPr sz="1800" b="1" i="1" spc="-90" dirty="0">
                <a:latin typeface="Arial"/>
                <a:cs typeface="Arial"/>
              </a:rPr>
              <a:t>interfaz </a:t>
            </a:r>
            <a:r>
              <a:rPr sz="1800" b="1" i="1" spc="-200" dirty="0">
                <a:latin typeface="Arial"/>
                <a:cs typeface="Arial"/>
              </a:rPr>
              <a:t>con </a:t>
            </a:r>
            <a:r>
              <a:rPr sz="1800" b="1" i="1" spc="-185" dirty="0">
                <a:latin typeface="Arial"/>
                <a:cs typeface="Arial"/>
              </a:rPr>
              <a:t>bases </a:t>
            </a:r>
            <a:r>
              <a:rPr sz="1800" b="1" i="1" spc="-135" dirty="0">
                <a:latin typeface="Arial"/>
                <a:cs typeface="Arial"/>
              </a:rPr>
              <a:t>de  </a:t>
            </a:r>
            <a:r>
              <a:rPr sz="1800" b="1" i="1" spc="-130" dirty="0">
                <a:latin typeface="Arial"/>
                <a:cs typeface="Arial"/>
              </a:rPr>
              <a:t>datos </a:t>
            </a:r>
            <a:r>
              <a:rPr sz="1800" b="1" i="1" spc="-135" dirty="0">
                <a:latin typeface="Arial"/>
                <a:cs typeface="Arial"/>
              </a:rPr>
              <a:t>de </a:t>
            </a:r>
            <a:r>
              <a:rPr sz="1800" b="1" i="1" spc="-55" dirty="0">
                <a:latin typeface="Arial"/>
                <a:cs typeface="Arial"/>
              </a:rPr>
              <a:t>la </a:t>
            </a:r>
            <a:r>
              <a:rPr sz="1800" b="1" i="1" spc="-140" dirty="0">
                <a:latin typeface="Arial"/>
                <a:cs typeface="Arial"/>
              </a:rPr>
              <a:t>empresa </a:t>
            </a:r>
            <a:r>
              <a:rPr sz="1800" b="1" i="1" spc="-155" dirty="0">
                <a:latin typeface="Arial"/>
                <a:cs typeface="Arial"/>
              </a:rPr>
              <a:t>y </a:t>
            </a:r>
            <a:r>
              <a:rPr sz="1800" b="1" i="1" spc="-165" dirty="0">
                <a:latin typeface="Arial"/>
                <a:cs typeface="Arial"/>
              </a:rPr>
              <a:t>sistemas </a:t>
            </a:r>
            <a:r>
              <a:rPr sz="1800" b="1" i="1" spc="-135" dirty="0">
                <a:latin typeface="Arial"/>
                <a:cs typeface="Arial"/>
              </a:rPr>
              <a:t>de </a:t>
            </a:r>
            <a:r>
              <a:rPr sz="1800" b="1" i="1" spc="-125" dirty="0">
                <a:latin typeface="Arial"/>
                <a:cs typeface="Arial"/>
              </a:rPr>
              <a:t>herencia </a:t>
            </a:r>
            <a:r>
              <a:rPr sz="1800" b="1" i="1" spc="-135" dirty="0">
                <a:latin typeface="Arial"/>
                <a:cs typeface="Arial"/>
              </a:rPr>
              <a:t>existentes, </a:t>
            </a:r>
            <a:r>
              <a:rPr sz="1800" b="1" i="1" spc="-155" dirty="0">
                <a:latin typeface="Arial"/>
                <a:cs typeface="Arial"/>
              </a:rPr>
              <a:t>y </a:t>
            </a:r>
            <a:r>
              <a:rPr sz="1800" b="1" i="1" spc="-80" dirty="0">
                <a:latin typeface="Arial"/>
                <a:cs typeface="Arial"/>
              </a:rPr>
              <a:t>para </a:t>
            </a:r>
            <a:r>
              <a:rPr sz="1800" b="1" i="1" spc="-95" dirty="0">
                <a:latin typeface="Arial"/>
                <a:cs typeface="Arial"/>
              </a:rPr>
              <a:t>tener </a:t>
            </a:r>
            <a:r>
              <a:rPr sz="1800" b="1" i="1" spc="-200" dirty="0">
                <a:latin typeface="Arial"/>
                <a:cs typeface="Arial"/>
              </a:rPr>
              <a:t>acceso </a:t>
            </a:r>
            <a:r>
              <a:rPr sz="1800" b="1" i="1" spc="-55" dirty="0">
                <a:latin typeface="Arial"/>
                <a:cs typeface="Arial"/>
              </a:rPr>
              <a:t>a </a:t>
            </a:r>
            <a:r>
              <a:rPr sz="1800" b="1" i="1" spc="-155" dirty="0">
                <a:latin typeface="Arial"/>
                <a:cs typeface="Arial"/>
              </a:rPr>
              <a:t>estas </a:t>
            </a:r>
            <a:r>
              <a:rPr sz="1800" b="1" i="1" spc="-185" dirty="0">
                <a:latin typeface="Arial"/>
                <a:cs typeface="Arial"/>
              </a:rPr>
              <a:t>bases  </a:t>
            </a:r>
            <a:r>
              <a:rPr sz="1800" b="1" i="1" spc="-140" dirty="0">
                <a:latin typeface="Arial"/>
                <a:cs typeface="Arial"/>
              </a:rPr>
              <a:t>de </a:t>
            </a:r>
            <a:r>
              <a:rPr sz="1800" b="1" i="1" spc="-130" dirty="0">
                <a:latin typeface="Arial"/>
                <a:cs typeface="Arial"/>
              </a:rPr>
              <a:t>datos </a:t>
            </a:r>
            <a:r>
              <a:rPr sz="1800" b="1" i="1" spc="-155" dirty="0">
                <a:latin typeface="Arial"/>
                <a:cs typeface="Arial"/>
              </a:rPr>
              <a:t>y</a:t>
            </a:r>
            <a:r>
              <a:rPr sz="1800" b="1" i="1" spc="10" dirty="0">
                <a:latin typeface="Arial"/>
                <a:cs typeface="Arial"/>
              </a:rPr>
              <a:t> </a:t>
            </a:r>
            <a:r>
              <a:rPr sz="1800" b="1" i="1" spc="-150" dirty="0">
                <a:latin typeface="Arial"/>
                <a:cs typeface="Arial"/>
              </a:rPr>
              <a:t>sistemas.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11924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/>
              <a:t>I </a:t>
            </a:r>
            <a:r>
              <a:rPr sz="2000" spc="-120" dirty="0">
                <a:latin typeface="Arial"/>
                <a:cs typeface="Arial"/>
              </a:rPr>
              <a:t>– </a:t>
            </a:r>
            <a:r>
              <a:rPr sz="2000" spc="-130" dirty="0"/>
              <a:t>Telecomunicaciones </a:t>
            </a:r>
            <a:r>
              <a:rPr sz="2000" spc="-125" dirty="0"/>
              <a:t>y </a:t>
            </a:r>
            <a:r>
              <a:rPr sz="2000" spc="-110" dirty="0"/>
              <a:t>Redes</a:t>
            </a:r>
            <a:r>
              <a:rPr sz="2000" spc="-275" dirty="0"/>
              <a:t> </a:t>
            </a:r>
            <a:r>
              <a:rPr sz="2000" spc="-125" dirty="0"/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25" dirty="0">
                <a:latin typeface="Arial"/>
                <a:cs typeface="Arial"/>
              </a:rPr>
              <a:t>Internet, Intranet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70" dirty="0">
                <a:latin typeface="Arial"/>
                <a:cs typeface="Arial"/>
              </a:rPr>
              <a:t>Extranet</a:t>
            </a:r>
            <a:r>
              <a:rPr sz="1800" b="0" spc="-229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097280"/>
            <a:ext cx="8153400" cy="3566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21357" y="3751326"/>
            <a:ext cx="6889242" cy="2636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330" y="5082540"/>
            <a:ext cx="853173" cy="7473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71</a:t>
            </a:fld>
            <a:endParaRPr spc="-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25" dirty="0">
                <a:solidFill>
                  <a:srgbClr val="00338D"/>
                </a:solidFill>
                <a:latin typeface="Trebuchet MS"/>
                <a:cs typeface="Trebuchet MS"/>
              </a:rPr>
              <a:t>Síntesis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697604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431791" y="1080261"/>
            <a:ext cx="129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latin typeface="Arial"/>
                <a:cs typeface="Arial"/>
              </a:rPr>
              <a:t>relevanc</a:t>
            </a:r>
            <a:r>
              <a:rPr sz="2400" spc="-85" dirty="0">
                <a:latin typeface="Arial"/>
                <a:cs typeface="Arial"/>
              </a:rPr>
              <a:t>ia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7044" y="1080261"/>
            <a:ext cx="1393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latin typeface="Arial"/>
                <a:cs typeface="Arial"/>
              </a:rPr>
              <a:t>estraté</a:t>
            </a:r>
            <a:r>
              <a:rPr sz="2400" spc="-110" dirty="0">
                <a:latin typeface="Arial"/>
                <a:cs typeface="Arial"/>
              </a:rPr>
              <a:t>g</a:t>
            </a:r>
            <a:r>
              <a:rPr sz="2400" spc="-120" dirty="0">
                <a:latin typeface="Arial"/>
                <a:cs typeface="Arial"/>
              </a:rPr>
              <a:t>ica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98561" y="1080261"/>
            <a:ext cx="1038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9610" algn="l"/>
              </a:tabLst>
            </a:pP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5" dirty="0">
                <a:latin typeface="Arial"/>
                <a:cs typeface="Arial"/>
              </a:rPr>
              <a:t>las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342" y="1080261"/>
            <a:ext cx="27559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5080" indent="-2667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78765" algn="l"/>
                <a:tab pos="279400" algn="l"/>
                <a:tab pos="2160270" algn="l"/>
              </a:tabLst>
            </a:pPr>
            <a:r>
              <a:rPr sz="2400" spc="-120" dirty="0">
                <a:latin typeface="Arial"/>
                <a:cs typeface="Arial"/>
              </a:rPr>
              <a:t>Describimos	</a:t>
            </a:r>
            <a:r>
              <a:rPr sz="2400" spc="-110" dirty="0">
                <a:latin typeface="Arial"/>
                <a:cs typeface="Arial"/>
              </a:rPr>
              <a:t>cuál  </a:t>
            </a:r>
            <a:r>
              <a:rPr sz="2400" spc="-80" dirty="0">
                <a:latin typeface="Arial"/>
                <a:cs typeface="Arial"/>
              </a:rPr>
              <a:t>telecomunicacio</a:t>
            </a:r>
            <a:r>
              <a:rPr sz="2400" spc="-105" dirty="0">
                <a:latin typeface="Arial"/>
                <a:cs typeface="Arial"/>
              </a:rPr>
              <a:t>n</a:t>
            </a:r>
            <a:r>
              <a:rPr sz="2400" spc="-204" dirty="0"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3183" y="1080261"/>
            <a:ext cx="4407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  <a:tabLst>
                <a:tab pos="739775" algn="l"/>
              </a:tabLst>
            </a:pPr>
            <a:r>
              <a:rPr sz="2400" spc="-204" dirty="0">
                <a:latin typeface="Arial"/>
                <a:cs typeface="Arial"/>
              </a:rPr>
              <a:t>es	</a:t>
            </a:r>
            <a:r>
              <a:rPr sz="2400" spc="-85" dirty="0">
                <a:latin typeface="Arial"/>
                <a:cs typeface="Arial"/>
              </a:rPr>
              <a:t>la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521334" algn="l"/>
                <a:tab pos="1053465" algn="l"/>
                <a:tab pos="3169285" algn="l"/>
                <a:tab pos="3701415" algn="l"/>
              </a:tabLst>
            </a:pPr>
            <a:r>
              <a:rPr sz="2400" spc="-105" dirty="0">
                <a:latin typeface="Arial"/>
                <a:cs typeface="Arial"/>
              </a:rPr>
              <a:t>e</a:t>
            </a:r>
            <a:r>
              <a:rPr sz="2400" spc="-1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0" dirty="0">
                <a:latin typeface="Arial"/>
                <a:cs typeface="Arial"/>
              </a:rPr>
              <a:t>org</a:t>
            </a:r>
            <a:r>
              <a:rPr sz="2400" spc="-130" dirty="0">
                <a:latin typeface="Arial"/>
                <a:cs typeface="Arial"/>
              </a:rPr>
              <a:t>anizaciones</a:t>
            </a:r>
            <a:r>
              <a:rPr sz="2400" spc="-7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90" dirty="0">
                <a:latin typeface="Arial"/>
                <a:cs typeface="Arial"/>
              </a:rPr>
              <a:t>así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co</a:t>
            </a:r>
            <a:r>
              <a:rPr sz="2400" spc="-160" dirty="0">
                <a:latin typeface="Arial"/>
                <a:cs typeface="Arial"/>
              </a:rPr>
              <a:t>m</a:t>
            </a:r>
            <a:r>
              <a:rPr sz="2400" spc="-7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01026" y="1446021"/>
            <a:ext cx="1135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Arial"/>
                <a:cs typeface="Arial"/>
              </a:rPr>
              <a:t>también,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342" y="1811782"/>
            <a:ext cx="8641715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sz="2400" spc="-140" dirty="0">
                <a:latin typeface="Arial"/>
                <a:cs typeface="Arial"/>
              </a:rPr>
              <a:t>cuáles son </a:t>
            </a:r>
            <a:r>
              <a:rPr sz="2400" spc="-204" dirty="0">
                <a:latin typeface="Arial"/>
                <a:cs typeface="Arial"/>
              </a:rPr>
              <a:t>sus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aplicaciones.</a:t>
            </a:r>
            <a:endParaRPr sz="2400" dirty="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2448560" algn="l"/>
                <a:tab pos="3713479" algn="l"/>
                <a:tab pos="4424045" algn="l"/>
                <a:tab pos="5532755" algn="l"/>
                <a:tab pos="7492365" algn="l"/>
                <a:tab pos="8292465" algn="l"/>
              </a:tabLst>
            </a:pPr>
            <a:r>
              <a:rPr sz="2400" spc="-70" dirty="0">
                <a:latin typeface="Arial"/>
                <a:cs typeface="Arial"/>
              </a:rPr>
              <a:t>Identificamos	</a:t>
            </a:r>
            <a:r>
              <a:rPr sz="2400" spc="-140" dirty="0">
                <a:latin typeface="Arial"/>
                <a:cs typeface="Arial"/>
              </a:rPr>
              <a:t>cuáles	</a:t>
            </a:r>
            <a:r>
              <a:rPr sz="2400" spc="-95" dirty="0">
                <a:latin typeface="Arial"/>
                <a:cs typeface="Arial"/>
              </a:rPr>
              <a:t>e</a:t>
            </a:r>
            <a:r>
              <a:rPr sz="2400" spc="-40" dirty="0">
                <a:latin typeface="Arial"/>
                <a:cs typeface="Arial"/>
              </a:rPr>
              <a:t>l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65" dirty="0">
                <a:latin typeface="Arial"/>
                <a:cs typeface="Arial"/>
              </a:rPr>
              <a:t>valor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0" dirty="0">
                <a:latin typeface="Arial"/>
                <a:cs typeface="Arial"/>
              </a:rPr>
              <a:t>empresarial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5" dirty="0">
                <a:latin typeface="Arial"/>
                <a:cs typeface="Arial"/>
              </a:rPr>
              <a:t>las  </a:t>
            </a:r>
            <a:r>
              <a:rPr sz="2400" spc="-95" dirty="0">
                <a:latin typeface="Arial"/>
                <a:cs typeface="Arial"/>
              </a:rPr>
              <a:t>telecomunicaciones.</a:t>
            </a:r>
            <a:endParaRPr sz="2400" dirty="0">
              <a:latin typeface="Arial"/>
              <a:cs typeface="Arial"/>
            </a:endParaRPr>
          </a:p>
          <a:p>
            <a:pPr marL="279400" marR="762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2688590" algn="l"/>
                <a:tab pos="3187065" algn="l"/>
                <a:tab pos="4646930" algn="l"/>
                <a:tab pos="5268595" algn="l"/>
                <a:tab pos="6743065" algn="l"/>
                <a:tab pos="7212965" algn="l"/>
                <a:tab pos="8314055" algn="l"/>
              </a:tabLst>
            </a:pPr>
            <a:r>
              <a:rPr sz="2400" spc="-114" dirty="0">
                <a:latin typeface="Arial"/>
                <a:cs typeface="Arial"/>
              </a:rPr>
              <a:t>Conceptualiza</a:t>
            </a:r>
            <a:r>
              <a:rPr sz="2400" spc="-200" dirty="0">
                <a:latin typeface="Arial"/>
                <a:cs typeface="Arial"/>
              </a:rPr>
              <a:t>m</a:t>
            </a:r>
            <a:r>
              <a:rPr sz="2400" spc="-180" dirty="0">
                <a:latin typeface="Arial"/>
                <a:cs typeface="Arial"/>
              </a:rPr>
              <a:t>o</a:t>
            </a:r>
            <a:r>
              <a:rPr sz="2400" spc="-16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los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5" dirty="0">
                <a:latin typeface="Arial"/>
                <a:cs typeface="Arial"/>
              </a:rPr>
              <a:t>ele</a:t>
            </a:r>
            <a:r>
              <a:rPr sz="2400" spc="-130" dirty="0">
                <a:latin typeface="Arial"/>
                <a:cs typeface="Arial"/>
              </a:rPr>
              <a:t>m</a:t>
            </a:r>
            <a:r>
              <a:rPr sz="2400" spc="-85" dirty="0">
                <a:latin typeface="Arial"/>
                <a:cs typeface="Arial"/>
              </a:rPr>
              <a:t>entos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qu</a:t>
            </a:r>
            <a:r>
              <a:rPr sz="2400" spc="-10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0" dirty="0">
                <a:latin typeface="Arial"/>
                <a:cs typeface="Arial"/>
              </a:rPr>
              <a:t>compo</a:t>
            </a:r>
            <a:r>
              <a:rPr sz="2400" spc="-105" dirty="0">
                <a:latin typeface="Arial"/>
                <a:cs typeface="Arial"/>
              </a:rPr>
              <a:t>ne</a:t>
            </a:r>
            <a:r>
              <a:rPr sz="2400" spc="-10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0" dirty="0">
                <a:latin typeface="Arial"/>
                <a:cs typeface="Arial"/>
              </a:rPr>
              <a:t>u</a:t>
            </a:r>
            <a:r>
              <a:rPr sz="2400" spc="-75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sistem</a:t>
            </a:r>
            <a:r>
              <a:rPr sz="2400" spc="-13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0" dirty="0">
                <a:latin typeface="Arial"/>
                <a:cs typeface="Arial"/>
              </a:rPr>
              <a:t>de  </a:t>
            </a:r>
            <a:r>
              <a:rPr sz="2400" spc="-95" dirty="0">
                <a:latin typeface="Arial"/>
                <a:cs typeface="Arial"/>
              </a:rPr>
              <a:t>telecomunicaciones, </a:t>
            </a:r>
            <a:r>
              <a:rPr sz="2400" spc="-190" dirty="0">
                <a:latin typeface="Arial"/>
                <a:cs typeface="Arial"/>
              </a:rPr>
              <a:t>así </a:t>
            </a:r>
            <a:r>
              <a:rPr sz="2400" spc="-105" dirty="0">
                <a:latin typeface="Arial"/>
                <a:cs typeface="Arial"/>
              </a:rPr>
              <a:t>como </a:t>
            </a:r>
            <a:r>
              <a:rPr sz="2400" spc="-60" dirty="0">
                <a:latin typeface="Arial"/>
                <a:cs typeface="Arial"/>
              </a:rPr>
              <a:t>también, </a:t>
            </a:r>
            <a:r>
              <a:rPr sz="2400" spc="-204" dirty="0">
                <a:latin typeface="Arial"/>
                <a:cs typeface="Arial"/>
              </a:rPr>
              <a:t>sus</a:t>
            </a:r>
            <a:r>
              <a:rPr sz="2400" spc="-22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funciones.</a:t>
            </a:r>
            <a:endParaRPr sz="24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14" dirty="0">
                <a:latin typeface="Arial"/>
                <a:cs typeface="Arial"/>
              </a:rPr>
              <a:t>diversos </a:t>
            </a:r>
            <a:r>
              <a:rPr sz="2400" spc="-145" dirty="0">
                <a:latin typeface="Arial"/>
                <a:cs typeface="Arial"/>
              </a:rPr>
              <a:t>canales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0" dirty="0">
                <a:latin typeface="Arial"/>
                <a:cs typeface="Arial"/>
              </a:rPr>
              <a:t>comunicación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existentes.</a:t>
            </a:r>
            <a:endParaRPr sz="24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95" dirty="0" err="1">
                <a:latin typeface="Arial"/>
                <a:cs typeface="Arial"/>
              </a:rPr>
              <a:t>Definimos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los conceptos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30" dirty="0">
                <a:latin typeface="Arial"/>
                <a:cs typeface="Arial"/>
              </a:rPr>
              <a:t>Intranet</a:t>
            </a:r>
            <a:r>
              <a:rPr sz="2400" spc="-9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641080" cy="314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r>
              <a:rPr sz="20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 dirty="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279400" marR="571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35" dirty="0">
                <a:latin typeface="Arial"/>
                <a:cs typeface="Arial"/>
              </a:rPr>
              <a:t>Describa </a:t>
            </a:r>
            <a:r>
              <a:rPr sz="2400" spc="-110" dirty="0">
                <a:latin typeface="Arial"/>
                <a:cs typeface="Arial"/>
              </a:rPr>
              <a:t>cuál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65" dirty="0">
                <a:latin typeface="Arial"/>
                <a:cs typeface="Arial"/>
              </a:rPr>
              <a:t>el valor </a:t>
            </a:r>
            <a:r>
              <a:rPr sz="2400" spc="-90" dirty="0">
                <a:latin typeface="Arial"/>
                <a:cs typeface="Arial"/>
              </a:rPr>
              <a:t>empresarial </a:t>
            </a:r>
            <a:r>
              <a:rPr sz="2400" spc="-114" dirty="0">
                <a:latin typeface="Arial"/>
                <a:cs typeface="Arial"/>
              </a:rPr>
              <a:t>de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95" dirty="0">
                <a:latin typeface="Arial"/>
                <a:cs typeface="Arial"/>
              </a:rPr>
              <a:t>telecomunicaciones </a:t>
            </a:r>
            <a:r>
              <a:rPr sz="2400" spc="-105" dirty="0">
                <a:latin typeface="Arial"/>
                <a:cs typeface="Arial"/>
              </a:rPr>
              <a:t>en  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organizaciones.</a:t>
            </a:r>
            <a:endParaRPr sz="2400" dirty="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65" dirty="0">
                <a:latin typeface="Arial"/>
                <a:cs typeface="Arial"/>
              </a:rPr>
              <a:t>Tipifique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50" dirty="0">
                <a:latin typeface="Arial"/>
                <a:cs typeface="Arial"/>
              </a:rPr>
              <a:t>ejemplifique </a:t>
            </a:r>
            <a:r>
              <a:rPr sz="2400" spc="-140" dirty="0">
                <a:latin typeface="Arial"/>
                <a:cs typeface="Arial"/>
              </a:rPr>
              <a:t>cuáles son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14" dirty="0">
                <a:latin typeface="Arial"/>
                <a:cs typeface="Arial"/>
              </a:rPr>
              <a:t>aplicaciones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30" dirty="0">
                <a:latin typeface="Arial"/>
                <a:cs typeface="Arial"/>
              </a:rPr>
              <a:t>poseen </a:t>
            </a:r>
            <a:r>
              <a:rPr sz="2400" spc="-145" dirty="0">
                <a:latin typeface="Arial"/>
                <a:cs typeface="Arial"/>
              </a:rPr>
              <a:t>las  </a:t>
            </a:r>
            <a:r>
              <a:rPr sz="2400" spc="-120" dirty="0">
                <a:latin typeface="Arial"/>
                <a:cs typeface="Arial"/>
              </a:rPr>
              <a:t>redes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telecomunicaciones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organizaciones.</a:t>
            </a:r>
            <a:endParaRPr sz="2400" dirty="0">
              <a:latin typeface="Arial"/>
              <a:cs typeface="Arial"/>
            </a:endParaRPr>
          </a:p>
          <a:p>
            <a:pPr marL="279400" marR="698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415415" algn="l"/>
                <a:tab pos="2040889" algn="l"/>
                <a:tab pos="2575560" algn="l"/>
                <a:tab pos="4458970" algn="l"/>
                <a:tab pos="4782820" algn="l"/>
                <a:tab pos="6172835" algn="l"/>
                <a:tab pos="6670675" algn="l"/>
                <a:tab pos="7176134" algn="l"/>
                <a:tab pos="8314055" algn="l"/>
              </a:tabLst>
            </a:pPr>
            <a:r>
              <a:rPr sz="2400" spc="-215" dirty="0">
                <a:latin typeface="Arial"/>
                <a:cs typeface="Arial"/>
              </a:rPr>
              <a:t>¿Cuále</a:t>
            </a:r>
            <a:r>
              <a:rPr sz="2400" spc="-19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0" dirty="0">
                <a:latin typeface="Arial"/>
                <a:cs typeface="Arial"/>
              </a:rPr>
              <a:t>son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los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co</a:t>
            </a:r>
            <a:r>
              <a:rPr sz="2400" spc="-170" dirty="0">
                <a:latin typeface="Arial"/>
                <a:cs typeface="Arial"/>
              </a:rPr>
              <a:t>m</a:t>
            </a:r>
            <a:r>
              <a:rPr sz="2400" spc="-95" dirty="0">
                <a:latin typeface="Arial"/>
                <a:cs typeface="Arial"/>
              </a:rPr>
              <a:t>ponente</a:t>
            </a:r>
            <a:r>
              <a:rPr sz="2400" spc="-8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funciones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0" dirty="0">
                <a:latin typeface="Arial"/>
                <a:cs typeface="Arial"/>
              </a:rPr>
              <a:t>u</a:t>
            </a:r>
            <a:r>
              <a:rPr sz="2400" spc="-75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sistem</a:t>
            </a:r>
            <a:r>
              <a:rPr sz="2400" spc="-13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0" dirty="0">
                <a:latin typeface="Arial"/>
                <a:cs typeface="Arial"/>
              </a:rPr>
              <a:t>de  </a:t>
            </a:r>
            <a:r>
              <a:rPr sz="2400" spc="-100" dirty="0" err="1">
                <a:latin typeface="Arial"/>
                <a:cs typeface="Arial"/>
              </a:rPr>
              <a:t>telecomunicaciones</a:t>
            </a:r>
            <a:r>
              <a:rPr sz="2400" spc="-100" dirty="0">
                <a:latin typeface="Arial"/>
                <a:cs typeface="Arial"/>
              </a:rPr>
              <a:t>?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74</a:t>
            </a:fld>
            <a:endParaRPr spc="-5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59D80B0-E894-4F4D-A504-3E3CB946F3DC}"/>
              </a:ext>
            </a:extLst>
          </p:cNvPr>
          <p:cNvSpPr txBox="1"/>
          <p:nvPr/>
        </p:nvSpPr>
        <p:spPr>
          <a:xfrm>
            <a:off x="76200" y="3295471"/>
            <a:ext cx="85828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lang="es-ES" sz="2400" spc="-215" dirty="0">
                <a:latin typeface="Arial"/>
                <a:cs typeface="Arial"/>
              </a:rPr>
              <a:t>¿Cuáles son las ventajas de contar con firewalls?</a:t>
            </a: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lang="es-ES" sz="2400" spc="-215" dirty="0">
                <a:latin typeface="Arial"/>
                <a:cs typeface="Arial"/>
              </a:rPr>
              <a:t>Explique el concepto de Intranet. ¿Para qué sirve y cuáles son los  beneficios derivados de su utilización?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¿Dudas?</a:t>
            </a:r>
          </a:p>
          <a:p>
            <a:pPr marL="12700">
              <a:lnSpc>
                <a:spcPct val="100000"/>
              </a:lnSpc>
            </a:pPr>
            <a:r>
              <a:rPr spc="-105" dirty="0"/>
              <a:t>¿Consultas?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1758</TotalTime>
  <Words>7811</Words>
  <Application>Microsoft Office PowerPoint</Application>
  <PresentationFormat>Presentación en pantalla (4:3)</PresentationFormat>
  <Paragraphs>812</Paragraphs>
  <Slides>75</Slides>
  <Notes>0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75</vt:i4>
      </vt:variant>
    </vt:vector>
  </HeadingPairs>
  <TitlesOfParts>
    <vt:vector size="82" baseType="lpstr">
      <vt:lpstr>Arial</vt:lpstr>
      <vt:lpstr>Calibri</vt:lpstr>
      <vt:lpstr>Times New Roman</vt:lpstr>
      <vt:lpstr>Trebuchet MS</vt:lpstr>
      <vt:lpstr>Verdana</vt:lpstr>
      <vt:lpstr>Wingdings</vt:lpstr>
      <vt:lpstr>Office Theme</vt:lpstr>
      <vt:lpstr>Sistema de  Información</vt:lpstr>
      <vt:lpstr>Presentación de PowerPoint</vt:lpstr>
      <vt:lpstr>Presentación de PowerPoint</vt:lpstr>
      <vt:lpstr>I – Software</vt:lpstr>
      <vt:lpstr>Existen 2 tipos principales de SW:</vt:lpstr>
      <vt:lpstr>I – Software (Cont.) Conceptos básicos de Software (Cont.)</vt:lpstr>
      <vt:lpstr>I – Software (Cont.)</vt:lpstr>
      <vt:lpstr>Funciones de un Sistema Operativo</vt:lpstr>
      <vt:lpstr>I – Software (Cont.)</vt:lpstr>
      <vt:lpstr>Software del Sistema – Administración de Redes</vt:lpstr>
      <vt:lpstr>Software de Aplicaciones</vt:lpstr>
      <vt:lpstr>Software de Aplicaciones – Programas de  aplicación de propósito general</vt:lpstr>
      <vt:lpstr>I – Software (Cont.)</vt:lpstr>
      <vt:lpstr>I – Software (Cont.)</vt:lpstr>
      <vt:lpstr>Software de integración empresarial</vt:lpstr>
      <vt:lpstr>Software de integración empresarial (Cont.)</vt:lpstr>
      <vt:lpstr>I – Software (Cont.)</vt:lpstr>
      <vt:lpstr>I – Software (Cont.)</vt:lpstr>
      <vt:lpstr>I – Software (Cont.)</vt:lpstr>
      <vt:lpstr>I – Software (Cont.)</vt:lpstr>
      <vt:lpstr>I – Software (Cont.)</vt:lpstr>
      <vt:lpstr>I – Software (Cont.)</vt:lpstr>
      <vt:lpstr>I – Software (Cont.)</vt:lpstr>
      <vt:lpstr>I – Software (Cont.)</vt:lpstr>
      <vt:lpstr>I – Software (Cont.)</vt:lpstr>
      <vt:lpstr>I – Software (Cont.)</vt:lpstr>
      <vt:lpstr>Presentación de PowerPoint</vt:lpstr>
      <vt:lpstr>Presentación de PowerPoint</vt:lpstr>
      <vt:lpstr>Presentación de PowerPoint</vt:lpstr>
      <vt:lpstr>¿Dudas? ¿Consultas?</vt:lpstr>
      <vt:lpstr>Sistemas de  Información</vt:lpstr>
      <vt:lpstr>Presentación de PowerPoint</vt:lpstr>
      <vt:lpstr>Presentación de PowerPoint</vt:lpstr>
      <vt:lpstr>Los datos son un recurso organizacional  vital que requieren manejarse como  cualquier otro activo empresarial. No  obstante, en muchas organizaciones:</vt:lpstr>
      <vt:lpstr>1. Alta dependencia entre  programas y datos</vt:lpstr>
      <vt:lpstr>I – Bases de Datos (Cont.)</vt:lpstr>
      <vt:lpstr>I – Bases de Datos (Cont.)</vt:lpstr>
      <vt:lpstr>I – Bases de Datos (Cont.)</vt:lpstr>
      <vt:lpstr>I – Bases de Datos (Cont.) Conceptos básicos de Bases de Datos (Cont.)</vt:lpstr>
      <vt:lpstr>I – Bases de Datos (Cont.)</vt:lpstr>
      <vt:lpstr>I – Bases de Datos (Cont.)</vt:lpstr>
      <vt:lpstr>Estructura de Bases de Datos</vt:lpstr>
      <vt:lpstr>Estructura de Bases de Datos</vt:lpstr>
      <vt:lpstr>Desarrollo de Bases de Datos</vt:lpstr>
      <vt:lpstr>Presentación de PowerPoint</vt:lpstr>
      <vt:lpstr>Presentación de PowerPoint</vt:lpstr>
      <vt:lpstr>II – Síntesis (Cont.)</vt:lpstr>
      <vt:lpstr>¿Dudas? ¿Consultas?</vt:lpstr>
      <vt:lpstr>Sistemas de  Información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 – Telecomunicaciones y Redes (Cont.) Conceptos básicos de Telecomunicaciones (Cont.)</vt:lpstr>
      <vt:lpstr>I – Telecomunicaciones y Redes (Cont.) Conceptos básicos de Telecomunicaciones (Cont.)</vt:lpstr>
      <vt:lpstr>I – Telecomunicaciones y Redes (Cont.) Conceptos básicos de Telecomunicaciones (Cont.)</vt:lpstr>
      <vt:lpstr>I – Telecomunicaciones y Redes (Cont.) Conceptos básicos de Telecomunicaciones (Cont.)</vt:lpstr>
      <vt:lpstr>I – Telecomunicaciones y Redes (Cont.) Conceptos básicos de Telecomunicaciones (Cont.)</vt:lpstr>
      <vt:lpstr>I – Telecomunicaciones y Redes (Cont.) Conceptos básicos de Telecomunicaciones (Cont.)</vt:lpstr>
      <vt:lpstr>Presentación de PowerPoint</vt:lpstr>
      <vt:lpstr>I – Telecomunicaciones y Redes (Cont.) Conceptos básicos de Telecomunicaciones (Cont.)</vt:lpstr>
      <vt:lpstr>I – Telecomunicaciones y Redes (Cont.) Conceptos básicos de Telecomunicaciones (Cont.)</vt:lpstr>
      <vt:lpstr>I – Telecomunicaciones y Redes (Cont.) Conceptos básicos de Telecomunicaciones (Cont.)</vt:lpstr>
      <vt:lpstr>Presentación de PowerPoint</vt:lpstr>
      <vt:lpstr>I – Telecomunicaciones y Redes (Cont.) Internet, Intranet y Extranet (Cont.)</vt:lpstr>
      <vt:lpstr>I – Telecomunicaciones y Redes (Cont.) Internet, Intranet y Extranet (Cont.)</vt:lpstr>
      <vt:lpstr>I – Telecomunicaciones y Redes (Cont.) Internet, Intranet y Extranet (Cont.)</vt:lpstr>
      <vt:lpstr>Presentación de PowerPoint</vt:lpstr>
      <vt:lpstr>Presentación de PowerPoint</vt:lpstr>
      <vt:lpstr>Presentación de PowerPoint</vt:lpstr>
      <vt:lpstr>¿Dudas? ¿Consultas?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Klus Javier Fernando</cp:lastModifiedBy>
  <cp:revision>22</cp:revision>
  <dcterms:created xsi:type="dcterms:W3CDTF">2019-08-14T13:22:34Z</dcterms:created>
  <dcterms:modified xsi:type="dcterms:W3CDTF">2021-09-22T20:23:57Z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2019-08-14T00:00:00Z</vt:filetime>
  </property>
</Properties>
</file>