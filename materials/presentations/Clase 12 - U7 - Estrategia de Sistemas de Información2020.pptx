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9144000" cy="6858000" type="screen4x3"/>
  <p:notesSz cx="9144000" cy="6858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48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6258" y="193801"/>
            <a:ext cx="429006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spc="-20" dirty="0"/>
              <a:t>Mag. </a:t>
            </a:r>
            <a:r>
              <a:rPr spc="-55" dirty="0"/>
              <a:t>Alan </a:t>
            </a:r>
            <a:r>
              <a:rPr spc="20" dirty="0"/>
              <a:t>M.</a:t>
            </a:r>
            <a:r>
              <a:rPr spc="-215" dirty="0"/>
              <a:t> </a:t>
            </a:r>
            <a:r>
              <a:rPr spc="-35" dirty="0"/>
              <a:t>Lerner </a:t>
            </a:r>
            <a:r>
              <a:rPr spc="-55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spc="-20" dirty="0"/>
              <a:t>Mag. </a:t>
            </a:r>
            <a:r>
              <a:rPr spc="-55" dirty="0"/>
              <a:t>Alan </a:t>
            </a:r>
            <a:r>
              <a:rPr spc="20" dirty="0"/>
              <a:t>M.</a:t>
            </a:r>
            <a:r>
              <a:rPr spc="-215" dirty="0"/>
              <a:t> </a:t>
            </a:r>
            <a:r>
              <a:rPr spc="-35" dirty="0"/>
              <a:t>Lerner </a:t>
            </a:r>
            <a:r>
              <a:rPr spc="-55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22161" y="1878076"/>
            <a:ext cx="2823845" cy="3866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1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spc="-20" dirty="0"/>
              <a:t>Mag. </a:t>
            </a:r>
            <a:r>
              <a:rPr spc="-55" dirty="0"/>
              <a:t>Alan </a:t>
            </a:r>
            <a:r>
              <a:rPr spc="20" dirty="0"/>
              <a:t>M.</a:t>
            </a:r>
            <a:r>
              <a:rPr spc="-215" dirty="0"/>
              <a:t> </a:t>
            </a:r>
            <a:r>
              <a:rPr spc="-35" dirty="0"/>
              <a:t>Lerner </a:t>
            </a:r>
            <a:r>
              <a:rPr spc="-55" dirty="0"/>
              <a:t>(alerner@uade.edu.ar)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spc="-20" dirty="0"/>
              <a:t>Mag. </a:t>
            </a:r>
            <a:r>
              <a:rPr spc="-55" dirty="0"/>
              <a:t>Alan </a:t>
            </a:r>
            <a:r>
              <a:rPr spc="20" dirty="0"/>
              <a:t>M.</a:t>
            </a:r>
            <a:r>
              <a:rPr spc="-215" dirty="0"/>
              <a:t> </a:t>
            </a:r>
            <a:r>
              <a:rPr spc="-35" dirty="0"/>
              <a:t>Lerner </a:t>
            </a:r>
            <a:r>
              <a:rPr spc="-55" dirty="0"/>
              <a:t>(alerner@uade.edu.ar)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spc="-20" dirty="0"/>
              <a:t>Mag. </a:t>
            </a:r>
            <a:r>
              <a:rPr spc="-55" dirty="0"/>
              <a:t>Alan </a:t>
            </a:r>
            <a:r>
              <a:rPr spc="20" dirty="0"/>
              <a:t>M.</a:t>
            </a:r>
            <a:r>
              <a:rPr spc="-215" dirty="0"/>
              <a:t> </a:t>
            </a:r>
            <a:r>
              <a:rPr spc="-35" dirty="0"/>
              <a:t>Lerner </a:t>
            </a:r>
            <a:r>
              <a:rPr spc="-55" dirty="0"/>
              <a:t>(alerner@uade.edu.ar)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6258" y="193801"/>
            <a:ext cx="678942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340" y="1513077"/>
            <a:ext cx="8571865" cy="4688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0338D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spc="-20" dirty="0"/>
              <a:t>Mag. </a:t>
            </a:r>
            <a:r>
              <a:rPr spc="-55" dirty="0"/>
              <a:t>Alan </a:t>
            </a:r>
            <a:r>
              <a:rPr spc="20" dirty="0"/>
              <a:t>M.</a:t>
            </a:r>
            <a:r>
              <a:rPr spc="-215" dirty="0"/>
              <a:t> </a:t>
            </a:r>
            <a:r>
              <a:rPr spc="-35" dirty="0"/>
              <a:t>Lerner </a:t>
            </a:r>
            <a:r>
              <a:rPr spc="-55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13469" y="6523387"/>
            <a:ext cx="17780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3.png"/><Relationship Id="rId7" Type="http://schemas.openxmlformats.org/officeDocument/2006/relationships/hyperlink" Target="mailto:jklus@uade.edu.ar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stitutes.kpmg.us/content/dam/kpmg/advisory-institute/pdf/2016/cio-survey-harvey-nash-2016-full-report.pdf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nstitutes.kpmg.us/content/dam/kpmg/advisory-institute/pdf/2016/cio-survey-harvey-nash-2016-full-report.pdf" TargetMode="External"/><Relationship Id="rId4" Type="http://schemas.openxmlformats.org/officeDocument/2006/relationships/image" Target="../media/image3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5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8.jp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5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" y="0"/>
            <a:ext cx="914018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258" y="95249"/>
            <a:ext cx="348043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latin typeface="Calibri"/>
                <a:cs typeface="Calibri"/>
              </a:rPr>
              <a:t>Sistemas </a:t>
            </a:r>
            <a:r>
              <a:rPr sz="5400" i="1" dirty="0">
                <a:latin typeface="Calibri"/>
                <a:cs typeface="Calibri"/>
              </a:rPr>
              <a:t>de  Información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395" y="1959101"/>
            <a:ext cx="1540002" cy="6766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6878" y="2349245"/>
            <a:ext cx="2792730" cy="5105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6878" y="2623566"/>
            <a:ext cx="1454658" cy="5105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6925" y="2025141"/>
            <a:ext cx="2459355" cy="196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FFFFFF"/>
                </a:solidFill>
                <a:latin typeface="Calibri"/>
                <a:cs typeface="Calibri"/>
              </a:rPr>
              <a:t>Unidad</a:t>
            </a:r>
            <a:r>
              <a:rPr sz="2400" b="1" i="1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0"/>
              </a:spcBef>
            </a:pPr>
            <a:r>
              <a:rPr sz="1800" b="1" i="1" spc="-5" dirty="0">
                <a:solidFill>
                  <a:srgbClr val="FFFFFF"/>
                </a:solidFill>
                <a:latin typeface="Calibri"/>
                <a:cs typeface="Calibri"/>
              </a:rPr>
              <a:t>Estrategia </a:t>
            </a:r>
            <a:r>
              <a:rPr sz="1800" b="1" i="1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800" b="1" i="1" spc="-5" dirty="0">
                <a:solidFill>
                  <a:srgbClr val="FFFFFF"/>
                </a:solidFill>
                <a:latin typeface="Calibri"/>
                <a:cs typeface="Calibri"/>
              </a:rPr>
              <a:t>Sistemas </a:t>
            </a:r>
            <a:r>
              <a:rPr sz="1800" b="1" i="1" dirty="0">
                <a:solidFill>
                  <a:srgbClr val="FFFFFF"/>
                </a:solidFill>
                <a:latin typeface="Calibri"/>
                <a:cs typeface="Calibri"/>
              </a:rPr>
              <a:t>de  </a:t>
            </a:r>
            <a:r>
              <a:rPr sz="1800" b="1" i="1" spc="-5" dirty="0">
                <a:solidFill>
                  <a:srgbClr val="FFFFFF"/>
                </a:solidFill>
                <a:latin typeface="Calibri"/>
                <a:cs typeface="Calibri"/>
              </a:rPr>
              <a:t>Información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Mag. </a:t>
            </a:r>
            <a:r>
              <a:rPr lang="es-AR" sz="1400" b="1" spc="-5" dirty="0">
                <a:solidFill>
                  <a:srgbClr val="FFFFFF"/>
                </a:solidFill>
                <a:latin typeface="Calibri"/>
                <a:cs typeface="Calibri"/>
              </a:rPr>
              <a:t>Javier F. Klus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s-AR" sz="1100" spc="-5" dirty="0" err="1">
                <a:solidFill>
                  <a:srgbClr val="FFFFFF"/>
                </a:solidFill>
                <a:latin typeface="Calibri"/>
                <a:cs typeface="Calibri"/>
                <a:hlinkClick r:id="rId7"/>
              </a:rPr>
              <a:t>jklus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  <a:hlinkClick r:id="rId7"/>
              </a:rPr>
              <a:t>@uade.edu.ar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r>
              <a:rPr lang="es-AR" sz="1400" b="1" spc="-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4800" y="4361688"/>
            <a:ext cx="1639824" cy="8199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473408" y="280928"/>
            <a:ext cx="2468204" cy="4790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86908" y="210819"/>
            <a:ext cx="24384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003186"/>
                </a:solidFill>
                <a:latin typeface="Calibri"/>
                <a:cs typeface="Calibri"/>
              </a:rPr>
              <a:t>Planeamiento Estratégico </a:t>
            </a:r>
            <a:r>
              <a:rPr sz="1600" b="1" dirty="0">
                <a:solidFill>
                  <a:srgbClr val="003186"/>
                </a:solidFill>
                <a:latin typeface="Calibri"/>
                <a:cs typeface="Calibri"/>
              </a:rPr>
              <a:t>de  </a:t>
            </a:r>
            <a:r>
              <a:rPr sz="1600" b="1" spc="-5" dirty="0">
                <a:solidFill>
                  <a:srgbClr val="003186"/>
                </a:solidFill>
                <a:latin typeface="Calibri"/>
                <a:cs typeface="Calibri"/>
              </a:rPr>
              <a:t>Sistemas </a:t>
            </a:r>
            <a:r>
              <a:rPr sz="1600" b="1" dirty="0">
                <a:solidFill>
                  <a:srgbClr val="003186"/>
                </a:solidFill>
                <a:latin typeface="Calibri"/>
                <a:cs typeface="Calibri"/>
              </a:rPr>
              <a:t>de Información</a:t>
            </a:r>
            <a:r>
              <a:rPr sz="1600" b="1" spc="-55" dirty="0">
                <a:solidFill>
                  <a:srgbClr val="003186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003186"/>
                </a:solidFill>
                <a:latin typeface="Calibri"/>
                <a:cs typeface="Calibri"/>
              </a:rPr>
              <a:t>(SI)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25186" y="228981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485393" y="0"/>
                </a:moveTo>
                <a:lnTo>
                  <a:pt x="121285" y="0"/>
                </a:lnTo>
                <a:lnTo>
                  <a:pt x="0" y="549402"/>
                </a:lnTo>
                <a:lnTo>
                  <a:pt x="363982" y="549402"/>
                </a:lnTo>
                <a:lnTo>
                  <a:pt x="485393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25186" y="228981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0" y="549402"/>
                </a:moveTo>
                <a:lnTo>
                  <a:pt x="121285" y="0"/>
                </a:lnTo>
                <a:lnTo>
                  <a:pt x="485393" y="0"/>
                </a:lnTo>
                <a:lnTo>
                  <a:pt x="363982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0640" y="321817"/>
            <a:ext cx="933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66157" y="778383"/>
            <a:ext cx="3481070" cy="0"/>
          </a:xfrm>
          <a:custGeom>
            <a:avLst/>
            <a:gdLst/>
            <a:ahLst/>
            <a:cxnLst/>
            <a:rect l="l" t="t" r="r" b="b"/>
            <a:pathLst>
              <a:path w="3481070">
                <a:moveTo>
                  <a:pt x="0" y="0"/>
                </a:moveTo>
                <a:lnTo>
                  <a:pt x="3481069" y="0"/>
                </a:lnTo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8208" y="2020570"/>
            <a:ext cx="25196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095" marR="5080" indent="-74803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solidFill>
                  <a:srgbClr val="FFFFFF"/>
                </a:solidFill>
                <a:latin typeface="Calibri"/>
                <a:cs typeface="Calibri"/>
              </a:rPr>
              <a:t>Contenido </a:t>
            </a: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30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la  sesión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94655" y="752551"/>
            <a:ext cx="1391920" cy="66611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241300" algn="l"/>
              </a:tabLst>
            </a:pPr>
            <a:r>
              <a:rPr sz="1400" b="1" spc="-5" dirty="0">
                <a:solidFill>
                  <a:srgbClr val="003186"/>
                </a:solidFill>
                <a:latin typeface="Calibri"/>
                <a:cs typeface="Calibri"/>
              </a:rPr>
              <a:t>Estrategia de</a:t>
            </a:r>
            <a:r>
              <a:rPr sz="1400" b="1" spc="-40" dirty="0">
                <a:solidFill>
                  <a:srgbClr val="00318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3186"/>
                </a:solidFill>
                <a:latin typeface="Calibri"/>
                <a:cs typeface="Calibri"/>
              </a:rPr>
              <a:t>TI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45"/>
              </a:spcBef>
              <a:buAutoNum type="arabicPeriod"/>
              <a:tabLst>
                <a:tab pos="241300" algn="l"/>
              </a:tabLst>
            </a:pPr>
            <a:r>
              <a:rPr sz="1400" b="1" spc="-5" dirty="0">
                <a:solidFill>
                  <a:srgbClr val="003186"/>
                </a:solidFill>
                <a:latin typeface="Calibri"/>
                <a:cs typeface="Calibri"/>
              </a:rPr>
              <a:t>El rol del</a:t>
            </a:r>
            <a:r>
              <a:rPr sz="1400" b="1" spc="-15" dirty="0">
                <a:solidFill>
                  <a:srgbClr val="003186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003186"/>
                </a:solidFill>
                <a:latin typeface="Calibri"/>
                <a:cs typeface="Calibri"/>
              </a:rPr>
              <a:t>CIO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40427" y="320040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2"/>
                </a:lnTo>
                <a:lnTo>
                  <a:pt x="365760" y="549402"/>
                </a:lnTo>
                <a:lnTo>
                  <a:pt x="4876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40427" y="320040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2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062728" y="3294254"/>
            <a:ext cx="2438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lang="es-AR" sz="2000" b="1" spc="-5" dirty="0">
                <a:solidFill>
                  <a:srgbClr val="FFFFFF"/>
                </a:solidFill>
                <a:latin typeface="Calibri"/>
                <a:cs typeface="Calibri"/>
              </a:rPr>
              <a:t>II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69204" y="3746754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46953" y="3269361"/>
            <a:ext cx="966977" cy="5090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497829" y="3322193"/>
            <a:ext cx="6667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03186"/>
                </a:solidFill>
                <a:latin typeface="Calibri"/>
                <a:cs typeface="Calibri"/>
              </a:rPr>
              <a:t>Síntesis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93640" y="3847973"/>
            <a:ext cx="26104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003186"/>
                </a:solidFill>
                <a:latin typeface="Calibri"/>
                <a:cs typeface="Calibri"/>
              </a:rPr>
              <a:t>1. Resumen y preguntas de</a:t>
            </a:r>
            <a:r>
              <a:rPr sz="1400" b="1" spc="80" dirty="0">
                <a:solidFill>
                  <a:srgbClr val="00318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3186"/>
                </a:solidFill>
                <a:latin typeface="Calibri"/>
                <a:cs typeface="Calibri"/>
              </a:rPr>
              <a:t>repaso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41189" y="167678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2"/>
                </a:lnTo>
                <a:lnTo>
                  <a:pt x="365760" y="549402"/>
                </a:lnTo>
                <a:lnTo>
                  <a:pt x="48768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41189" y="167678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2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04638" y="1770125"/>
            <a:ext cx="1612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69966" y="2222373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47715" y="1744979"/>
            <a:ext cx="2811017" cy="5090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498591" y="1798066"/>
            <a:ext cx="25107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003186"/>
                </a:solidFill>
                <a:latin typeface="Calibri"/>
                <a:cs typeface="Calibri"/>
              </a:rPr>
              <a:t>Gestión </a:t>
            </a:r>
            <a:r>
              <a:rPr sz="1600" b="1" dirty="0">
                <a:solidFill>
                  <a:srgbClr val="003186"/>
                </a:solidFill>
                <a:latin typeface="Calibri"/>
                <a:cs typeface="Calibri"/>
              </a:rPr>
              <a:t>de </a:t>
            </a:r>
            <a:r>
              <a:rPr sz="1600" b="1" spc="-5" dirty="0">
                <a:solidFill>
                  <a:srgbClr val="003186"/>
                </a:solidFill>
                <a:latin typeface="Calibri"/>
                <a:cs typeface="Calibri"/>
              </a:rPr>
              <a:t>Proyectos </a:t>
            </a:r>
            <a:r>
              <a:rPr sz="1600" b="1" dirty="0">
                <a:solidFill>
                  <a:srgbClr val="003186"/>
                </a:solidFill>
                <a:latin typeface="Calibri"/>
                <a:cs typeface="Calibri"/>
              </a:rPr>
              <a:t>de</a:t>
            </a:r>
            <a:r>
              <a:rPr sz="1600" b="1" spc="-70" dirty="0">
                <a:solidFill>
                  <a:srgbClr val="003186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3186"/>
                </a:solidFill>
                <a:latin typeface="Calibri"/>
                <a:cs typeface="Calibri"/>
              </a:rPr>
              <a:t>SI/TI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94655" y="2216353"/>
            <a:ext cx="3383915" cy="98615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241300" algn="l"/>
              </a:tabLst>
            </a:pPr>
            <a:r>
              <a:rPr sz="1400" b="1" spc="-5" dirty="0">
                <a:solidFill>
                  <a:srgbClr val="003186"/>
                </a:solidFill>
                <a:latin typeface="Calibri"/>
                <a:cs typeface="Calibri"/>
              </a:rPr>
              <a:t>Fundamentos</a:t>
            </a:r>
            <a:r>
              <a:rPr sz="1400" b="1" spc="-20" dirty="0">
                <a:solidFill>
                  <a:srgbClr val="00318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3186"/>
                </a:solidFill>
                <a:latin typeface="Calibri"/>
                <a:cs typeface="Calibri"/>
              </a:rPr>
              <a:t>conceptuales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45"/>
              </a:spcBef>
              <a:buAutoNum type="arabicPeriod"/>
              <a:tabLst>
                <a:tab pos="241300" algn="l"/>
              </a:tabLst>
            </a:pPr>
            <a:r>
              <a:rPr sz="1400" b="1" spc="-5" dirty="0">
                <a:solidFill>
                  <a:srgbClr val="003186"/>
                </a:solidFill>
                <a:latin typeface="Calibri"/>
                <a:cs typeface="Calibri"/>
              </a:rPr>
              <a:t>Herramientas para la </a:t>
            </a:r>
            <a:r>
              <a:rPr sz="1400" b="1" spc="-10" dirty="0">
                <a:solidFill>
                  <a:srgbClr val="003186"/>
                </a:solidFill>
                <a:latin typeface="Calibri"/>
                <a:cs typeface="Calibri"/>
              </a:rPr>
              <a:t>gestión </a:t>
            </a:r>
            <a:r>
              <a:rPr sz="1400" b="1" spc="-5" dirty="0">
                <a:solidFill>
                  <a:srgbClr val="003186"/>
                </a:solidFill>
                <a:latin typeface="Calibri"/>
                <a:cs typeface="Calibri"/>
              </a:rPr>
              <a:t>de</a:t>
            </a:r>
            <a:r>
              <a:rPr sz="1400" b="1" spc="40" dirty="0">
                <a:solidFill>
                  <a:srgbClr val="003186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003186"/>
                </a:solidFill>
                <a:latin typeface="Calibri"/>
                <a:cs typeface="Calibri"/>
              </a:rPr>
              <a:t>proyectos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5" dirty="0">
                <a:solidFill>
                  <a:srgbClr val="003186"/>
                </a:solidFill>
                <a:latin typeface="Calibri"/>
                <a:cs typeface="Calibri"/>
              </a:rPr>
              <a:t>Evaluación de proyectos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52821" y="3724909"/>
            <a:ext cx="2292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774191" y="0"/>
                </a:moveTo>
                <a:lnTo>
                  <a:pt x="171450" y="0"/>
                </a:lnTo>
                <a:lnTo>
                  <a:pt x="0" y="685800"/>
                </a:lnTo>
                <a:lnTo>
                  <a:pt x="602741" y="685800"/>
                </a:lnTo>
                <a:lnTo>
                  <a:pt x="774191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0" y="685800"/>
                </a:moveTo>
                <a:lnTo>
                  <a:pt x="171450" y="0"/>
                </a:lnTo>
                <a:lnTo>
                  <a:pt x="774191" y="0"/>
                </a:lnTo>
                <a:lnTo>
                  <a:pt x="602741" y="685800"/>
                </a:lnTo>
                <a:lnTo>
                  <a:pt x="0" y="685800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9347" y="4457999"/>
            <a:ext cx="3299460" cy="1707514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610"/>
              </a:spcBef>
            </a:pP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3000">
              <a:latin typeface="Calibri"/>
              <a:cs typeface="Calibri"/>
            </a:endParaRPr>
          </a:p>
          <a:p>
            <a:pPr marL="12700" marR="842010" indent="187325">
              <a:lnSpc>
                <a:spcPct val="100000"/>
              </a:lnSpc>
              <a:spcBef>
                <a:spcPts val="1410"/>
              </a:spcBef>
            </a:pPr>
            <a:r>
              <a:rPr sz="2800" b="1" spc="-5" dirty="0">
                <a:solidFill>
                  <a:srgbClr val="00338D"/>
                </a:solidFill>
                <a:latin typeface="Calibri"/>
                <a:cs typeface="Calibri"/>
              </a:rPr>
              <a:t>Planeamiento  </a:t>
            </a:r>
            <a:r>
              <a:rPr sz="2800" b="1" dirty="0">
                <a:solidFill>
                  <a:srgbClr val="00338D"/>
                </a:solidFill>
                <a:latin typeface="Calibri"/>
                <a:cs typeface="Calibri"/>
              </a:rPr>
              <a:t>Estratégico de</a:t>
            </a:r>
            <a:r>
              <a:rPr sz="2800" b="1" spc="-85" dirty="0">
                <a:solidFill>
                  <a:srgbClr val="00338D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8D"/>
                </a:solidFill>
                <a:latin typeface="Calibri"/>
                <a:cs typeface="Calibri"/>
              </a:rPr>
              <a:t>SI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4691" y="1461261"/>
            <a:ext cx="535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63750" algn="l"/>
                <a:tab pos="2421890" algn="l"/>
                <a:tab pos="2967355" algn="l"/>
                <a:tab pos="4609465" algn="l"/>
                <a:tab pos="5112385" algn="l"/>
              </a:tabLst>
            </a:pPr>
            <a:r>
              <a:rPr sz="2400" i="1" spc="-5" dirty="0">
                <a:latin typeface="Calibri"/>
                <a:cs typeface="Calibri"/>
              </a:rPr>
              <a:t>org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5" dirty="0">
                <a:latin typeface="Calibri"/>
                <a:cs typeface="Calibri"/>
              </a:rPr>
              <a:t>ni</a:t>
            </a:r>
            <a:r>
              <a:rPr sz="2400" i="1" spc="-35" dirty="0">
                <a:latin typeface="Calibri"/>
                <a:cs typeface="Calibri"/>
              </a:rPr>
              <a:t>z</a:t>
            </a:r>
            <a:r>
              <a:rPr sz="2400" i="1" spc="-5" dirty="0">
                <a:latin typeface="Calibri"/>
                <a:cs typeface="Calibri"/>
              </a:rPr>
              <a:t>acio</a:t>
            </a:r>
            <a:r>
              <a:rPr sz="2400" i="1" spc="5" dirty="0">
                <a:latin typeface="Calibri"/>
                <a:cs typeface="Calibri"/>
              </a:rPr>
              <a:t>n</a:t>
            </a:r>
            <a:r>
              <a:rPr sz="2400" i="1" dirty="0">
                <a:latin typeface="Calibri"/>
                <a:cs typeface="Calibri"/>
              </a:rPr>
              <a:t>es	a	las	</a:t>
            </a:r>
            <a:r>
              <a:rPr sz="2400" i="1" spc="-200" dirty="0">
                <a:latin typeface="Calibri"/>
                <a:cs typeface="Calibri"/>
              </a:rPr>
              <a:t>T</a:t>
            </a:r>
            <a:r>
              <a:rPr sz="2400" i="1" dirty="0">
                <a:latin typeface="Calibri"/>
                <a:cs typeface="Calibri"/>
              </a:rPr>
              <a:t>ec</a:t>
            </a:r>
            <a:r>
              <a:rPr sz="2400" i="1" spc="5" dirty="0">
                <a:latin typeface="Calibri"/>
                <a:cs typeface="Calibri"/>
              </a:rPr>
              <a:t>n</a:t>
            </a:r>
            <a:r>
              <a:rPr sz="2400" i="1" spc="-5" dirty="0">
                <a:latin typeface="Calibri"/>
                <a:cs typeface="Calibri"/>
              </a:rPr>
              <a:t>ologí</a:t>
            </a:r>
            <a:r>
              <a:rPr sz="2400" i="1" dirty="0">
                <a:latin typeface="Calibri"/>
                <a:cs typeface="Calibri"/>
              </a:rPr>
              <a:t>as	de	</a:t>
            </a:r>
            <a:r>
              <a:rPr sz="2400" i="1" spc="-5" dirty="0">
                <a:latin typeface="Calibri"/>
                <a:cs typeface="Calibri"/>
              </a:rPr>
              <a:t>la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spc="-20" dirty="0"/>
              <a:t>Mag. </a:t>
            </a:r>
            <a:r>
              <a:rPr lang="es-AR" spc="-55" dirty="0"/>
              <a:t>Javier Klus </a:t>
            </a:r>
            <a:r>
              <a:rPr spc="-55" dirty="0"/>
              <a:t>(</a:t>
            </a:r>
            <a:r>
              <a:rPr lang="es-AR" spc="-55" dirty="0" err="1"/>
              <a:t>jklus</a:t>
            </a:r>
            <a:r>
              <a:rPr spc="-55" dirty="0"/>
              <a:t>@uade.edu.ar)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1031493"/>
            <a:ext cx="3090545" cy="1186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Calibri"/>
                <a:cs typeface="Calibri"/>
              </a:rPr>
              <a:t>Visión(es) </a:t>
            </a:r>
            <a:r>
              <a:rPr sz="2800" b="1" dirty="0">
                <a:latin typeface="Calibri"/>
                <a:cs typeface="Calibri"/>
              </a:rPr>
              <a:t>de </a:t>
            </a:r>
            <a:r>
              <a:rPr sz="2800" b="1" spc="-20" dirty="0">
                <a:latin typeface="Calibri"/>
                <a:cs typeface="Calibri"/>
              </a:rPr>
              <a:t>la/s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TI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5"/>
              </a:spcBef>
              <a:tabLst>
                <a:tab pos="1068070" algn="l"/>
                <a:tab pos="2731135" algn="l"/>
              </a:tabLst>
            </a:pPr>
            <a:r>
              <a:rPr sz="2400" i="1" spc="-5" dirty="0">
                <a:latin typeface="Calibri"/>
                <a:cs typeface="Calibri"/>
              </a:rPr>
              <a:t>¿Có</a:t>
            </a:r>
            <a:r>
              <a:rPr sz="2400" i="1" spc="5" dirty="0">
                <a:latin typeface="Calibri"/>
                <a:cs typeface="Calibri"/>
              </a:rPr>
              <a:t>m</a:t>
            </a:r>
            <a:r>
              <a:rPr sz="2400" i="1" dirty="0">
                <a:latin typeface="Calibri"/>
                <a:cs typeface="Calibri"/>
              </a:rPr>
              <a:t>o	</a:t>
            </a:r>
            <a:r>
              <a:rPr sz="2400" i="1" spc="-15" dirty="0">
                <a:latin typeface="Calibri"/>
                <a:cs typeface="Calibri"/>
              </a:rPr>
              <a:t>c</a:t>
            </a:r>
            <a:r>
              <a:rPr sz="2400" i="1" spc="-5" dirty="0">
                <a:latin typeface="Calibri"/>
                <a:cs typeface="Calibri"/>
              </a:rPr>
              <a:t>o</a:t>
            </a:r>
            <a:r>
              <a:rPr sz="2400" i="1" spc="-20" dirty="0">
                <a:latin typeface="Calibri"/>
                <a:cs typeface="Calibri"/>
              </a:rPr>
              <a:t>n</a:t>
            </a:r>
            <a:r>
              <a:rPr sz="2400" i="1" spc="-25" dirty="0">
                <a:latin typeface="Calibri"/>
                <a:cs typeface="Calibri"/>
              </a:rPr>
              <a:t>t</a:t>
            </a:r>
            <a:r>
              <a:rPr sz="2400" i="1" dirty="0">
                <a:latin typeface="Calibri"/>
                <a:cs typeface="Calibri"/>
              </a:rPr>
              <a:t>emplan	las  </a:t>
            </a:r>
            <a:r>
              <a:rPr sz="2400" i="1" spc="-10" dirty="0">
                <a:latin typeface="Calibri"/>
                <a:cs typeface="Calibri"/>
              </a:rPr>
              <a:t>Información</a:t>
            </a:r>
            <a:r>
              <a:rPr sz="2400" i="1" spc="1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(TI)?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2558541"/>
            <a:ext cx="8616950" cy="3869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680" indent="-34861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61315" algn="l"/>
              </a:tabLst>
            </a:pPr>
            <a:r>
              <a:rPr sz="2400" b="1" spc="-5" dirty="0">
                <a:latin typeface="Calibri"/>
                <a:cs typeface="Calibri"/>
              </a:rPr>
              <a:t>Como </a:t>
            </a:r>
            <a:r>
              <a:rPr sz="2400" b="1" spc="-10" dirty="0">
                <a:latin typeface="Calibri"/>
                <a:cs typeface="Calibri"/>
              </a:rPr>
              <a:t>activo </a:t>
            </a:r>
            <a:r>
              <a:rPr sz="2400" b="1" spc="-20" dirty="0">
                <a:latin typeface="Calibri"/>
                <a:cs typeface="Calibri"/>
              </a:rPr>
              <a:t>estratégico, </a:t>
            </a:r>
            <a:r>
              <a:rPr sz="2400" b="1" dirty="0">
                <a:latin typeface="Calibri"/>
                <a:cs typeface="Calibri"/>
              </a:rPr>
              <a:t>de </a:t>
            </a:r>
            <a:r>
              <a:rPr sz="2400" b="1" spc="-10" dirty="0">
                <a:latin typeface="Calibri"/>
                <a:cs typeface="Calibri"/>
              </a:rPr>
              <a:t>valor crítico </a:t>
            </a:r>
            <a:r>
              <a:rPr sz="2400" b="1" spc="-15" dirty="0">
                <a:latin typeface="Calibri"/>
                <a:cs typeface="Calibri"/>
              </a:rPr>
              <a:t>para </a:t>
            </a:r>
            <a:r>
              <a:rPr sz="2400" b="1" spc="-5" dirty="0">
                <a:latin typeface="Calibri"/>
                <a:cs typeface="Calibri"/>
              </a:rPr>
              <a:t>el</a:t>
            </a:r>
            <a:r>
              <a:rPr sz="2400" b="1" spc="6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negocio</a:t>
            </a:r>
            <a:endParaRPr sz="2400">
              <a:latin typeface="Calibri"/>
              <a:cs typeface="Calibri"/>
            </a:endParaRPr>
          </a:p>
          <a:p>
            <a:pPr marL="812800" lvl="1" indent="-34353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812800" algn="l"/>
                <a:tab pos="813435" algn="l"/>
              </a:tabLst>
            </a:pPr>
            <a:r>
              <a:rPr sz="2000" spc="-10" dirty="0">
                <a:latin typeface="Calibri"/>
                <a:cs typeface="Calibri"/>
              </a:rPr>
              <a:t>Visión </a:t>
            </a:r>
            <a:r>
              <a:rPr sz="2000" spc="-5" dirty="0">
                <a:latin typeface="Calibri"/>
                <a:cs typeface="Calibri"/>
              </a:rPr>
              <a:t>impulsada por </a:t>
            </a:r>
            <a:r>
              <a:rPr sz="2000" spc="-15" dirty="0">
                <a:latin typeface="Calibri"/>
                <a:cs typeface="Calibri"/>
              </a:rPr>
              <a:t>proveedores </a:t>
            </a:r>
            <a:r>
              <a:rPr sz="2000" spc="-5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productos </a:t>
            </a:r>
            <a:r>
              <a:rPr sz="2000" spc="-5" dirty="0">
                <a:latin typeface="Calibri"/>
                <a:cs typeface="Calibri"/>
              </a:rPr>
              <a:t>y servicios de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vanguardia;</a:t>
            </a:r>
            <a:endParaRPr sz="2000">
              <a:latin typeface="Calibri"/>
              <a:cs typeface="Calibri"/>
            </a:endParaRPr>
          </a:p>
          <a:p>
            <a:pPr marL="812800" marR="6985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  <a:tab pos="813435" algn="l"/>
                <a:tab pos="1217930" algn="l"/>
                <a:tab pos="1837689" algn="l"/>
                <a:tab pos="3367404" algn="l"/>
                <a:tab pos="3863975" algn="l"/>
                <a:tab pos="4321175" algn="l"/>
                <a:tab pos="5601970" algn="l"/>
                <a:tab pos="6092825" algn="l"/>
                <a:tab pos="6503670" algn="l"/>
                <a:tab pos="7938134" algn="l"/>
              </a:tabLst>
            </a:pPr>
            <a:r>
              <a:rPr sz="2000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o</a:t>
            </a:r>
            <a:r>
              <a:rPr sz="2000" spc="-35" dirty="0">
                <a:latin typeface="Calibri"/>
                <a:cs typeface="Calibri"/>
              </a:rPr>
              <a:t>r</a:t>
            </a:r>
            <a:r>
              <a:rPr sz="2000" spc="-45" dirty="0">
                <a:latin typeface="Calibri"/>
                <a:cs typeface="Calibri"/>
              </a:rPr>
              <a:t>g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spc="-40" dirty="0">
                <a:latin typeface="Calibri"/>
                <a:cs typeface="Calibri"/>
              </a:rPr>
              <a:t>z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ión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5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enc</a:t>
            </a:r>
            <a:r>
              <a:rPr sz="2000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-15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t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	e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l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40" dirty="0">
                <a:latin typeface="Calibri"/>
                <a:cs typeface="Calibri"/>
              </a:rPr>
              <a:t>v</a:t>
            </a:r>
            <a:r>
              <a:rPr sz="2000" spc="-5" dirty="0">
                <a:latin typeface="Calibri"/>
                <a:cs typeface="Calibri"/>
              </a:rPr>
              <a:t>angua</a:t>
            </a:r>
            <a:r>
              <a:rPr sz="2000" spc="-35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" dirty="0">
                <a:latin typeface="Calibri"/>
                <a:cs typeface="Calibri"/>
              </a:rPr>
              <a:t>ia,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pi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" dirty="0">
                <a:latin typeface="Calibri"/>
                <a:cs typeface="Calibri"/>
              </a:rPr>
              <a:t>e  competitividad;</a:t>
            </a:r>
            <a:endParaRPr sz="2000">
              <a:latin typeface="Calibri"/>
              <a:cs typeface="Calibri"/>
            </a:endParaRPr>
          </a:p>
          <a:p>
            <a:pPr marL="812800" marR="5715" lvl="1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812800" algn="l"/>
                <a:tab pos="813435" algn="l"/>
              </a:tabLst>
            </a:pPr>
            <a:r>
              <a:rPr sz="2000" spc="-5" dirty="0">
                <a:latin typeface="Calibri"/>
                <a:cs typeface="Calibri"/>
              </a:rPr>
              <a:t>Las </a:t>
            </a:r>
            <a:r>
              <a:rPr sz="2000" spc="-10" dirty="0">
                <a:latin typeface="Calibri"/>
                <a:cs typeface="Calibri"/>
              </a:rPr>
              <a:t>organizaciones </a:t>
            </a:r>
            <a:r>
              <a:rPr sz="2000" dirty="0">
                <a:latin typeface="Calibri"/>
                <a:cs typeface="Calibri"/>
              </a:rPr>
              <a:t>deberían </a:t>
            </a:r>
            <a:r>
              <a:rPr sz="2000" spc="-10" dirty="0">
                <a:latin typeface="Calibri"/>
                <a:cs typeface="Calibri"/>
              </a:rPr>
              <a:t>estar continuamente incorporando </a:t>
            </a:r>
            <a:r>
              <a:rPr sz="2000" spc="-5" dirty="0">
                <a:latin typeface="Calibri"/>
                <a:cs typeface="Calibri"/>
              </a:rPr>
              <a:t>la </a:t>
            </a:r>
            <a:r>
              <a:rPr sz="2000" dirty="0">
                <a:latin typeface="Calibri"/>
                <a:cs typeface="Calibri"/>
              </a:rPr>
              <a:t>última  </a:t>
            </a:r>
            <a:r>
              <a:rPr sz="2000" spc="-5" dirty="0">
                <a:latin typeface="Calibri"/>
                <a:cs typeface="Calibri"/>
              </a:rPr>
              <a:t>tecnología </a:t>
            </a:r>
            <a:r>
              <a:rPr sz="2000" spc="-10" dirty="0">
                <a:latin typeface="Calibri"/>
                <a:cs typeface="Calibri"/>
              </a:rPr>
              <a:t>disponible </a:t>
            </a:r>
            <a:r>
              <a:rPr sz="2000" spc="-15" dirty="0">
                <a:latin typeface="Calibri"/>
                <a:cs typeface="Calibri"/>
              </a:rPr>
              <a:t>para </a:t>
            </a:r>
            <a:r>
              <a:rPr sz="2000" spc="-10" dirty="0">
                <a:latin typeface="Calibri"/>
                <a:cs typeface="Calibri"/>
              </a:rPr>
              <a:t>obtener </a:t>
            </a:r>
            <a:r>
              <a:rPr sz="2000" spc="-5" dirty="0">
                <a:latin typeface="Calibri"/>
                <a:cs typeface="Calibri"/>
              </a:rPr>
              <a:t>una </a:t>
            </a:r>
            <a:r>
              <a:rPr sz="2000" spc="-15" dirty="0">
                <a:latin typeface="Calibri"/>
                <a:cs typeface="Calibri"/>
              </a:rPr>
              <a:t>ventaja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competitiva.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450">
              <a:latin typeface="Times New Roman"/>
              <a:cs typeface="Times New Roman"/>
            </a:endParaRPr>
          </a:p>
          <a:p>
            <a:pPr marL="360680" indent="-34861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61315" algn="l"/>
              </a:tabLst>
            </a:pPr>
            <a:r>
              <a:rPr sz="2400" b="1" spc="-5" dirty="0">
                <a:latin typeface="Calibri"/>
                <a:cs typeface="Calibri"/>
              </a:rPr>
              <a:t>Como </a:t>
            </a:r>
            <a:r>
              <a:rPr sz="2400" b="1" dirty="0">
                <a:latin typeface="Calibri"/>
                <a:cs typeface="Calibri"/>
              </a:rPr>
              <a:t>un insumo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adicional.</a:t>
            </a:r>
            <a:endParaRPr sz="2400">
              <a:latin typeface="Calibri"/>
              <a:cs typeface="Calibri"/>
            </a:endParaRPr>
          </a:p>
          <a:p>
            <a:pPr marL="812800" lvl="1" indent="-34353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812800" algn="l"/>
                <a:tab pos="813435" algn="l"/>
              </a:tabLst>
            </a:pPr>
            <a:r>
              <a:rPr sz="2000" spc="-5" dirty="0">
                <a:latin typeface="Calibri"/>
                <a:cs typeface="Calibri"/>
              </a:rPr>
              <a:t>Las TI se </a:t>
            </a:r>
            <a:r>
              <a:rPr sz="2000" spc="-15" dirty="0">
                <a:latin typeface="Calibri"/>
                <a:cs typeface="Calibri"/>
              </a:rPr>
              <a:t>transforman </a:t>
            </a:r>
            <a:r>
              <a:rPr sz="2000" spc="-5" dirty="0">
                <a:latin typeface="Calibri"/>
                <a:cs typeface="Calibri"/>
              </a:rPr>
              <a:t>en un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commodity</a:t>
            </a:r>
            <a:r>
              <a:rPr sz="2000" spc="-5" dirty="0">
                <a:latin typeface="Calibri"/>
                <a:cs typeface="Calibri"/>
              </a:rPr>
              <a:t>;</a:t>
            </a:r>
            <a:endParaRPr sz="2000">
              <a:latin typeface="Calibri"/>
              <a:cs typeface="Calibri"/>
            </a:endParaRPr>
          </a:p>
          <a:p>
            <a:pPr marL="812800" lvl="1" indent="-343535">
              <a:lnSpc>
                <a:spcPct val="100000"/>
              </a:lnSpc>
              <a:buFont typeface="Arial"/>
              <a:buChar char="•"/>
              <a:tabLst>
                <a:tab pos="812800" algn="l"/>
                <a:tab pos="813435" algn="l"/>
              </a:tabLst>
            </a:pPr>
            <a:r>
              <a:rPr sz="2000" spc="-5" dirty="0">
                <a:latin typeface="Calibri"/>
                <a:cs typeface="Calibri"/>
              </a:rPr>
              <a:t>Cada </a:t>
            </a:r>
            <a:r>
              <a:rPr sz="2000" spc="-20" dirty="0">
                <a:latin typeface="Calibri"/>
                <a:cs typeface="Calibri"/>
              </a:rPr>
              <a:t>vez </a:t>
            </a:r>
            <a:r>
              <a:rPr sz="2000" spc="-5" dirty="0">
                <a:latin typeface="Calibri"/>
                <a:cs typeface="Calibri"/>
              </a:rPr>
              <a:t>más </a:t>
            </a:r>
            <a:r>
              <a:rPr sz="2000" spc="-20" dirty="0">
                <a:latin typeface="Calibri"/>
                <a:cs typeface="Calibri"/>
              </a:rPr>
              <a:t>gastos </a:t>
            </a:r>
            <a:r>
              <a:rPr sz="2000" spc="-5" dirty="0">
                <a:latin typeface="Calibri"/>
                <a:cs typeface="Calibri"/>
              </a:rPr>
              <a:t>en TI y es más </a:t>
            </a:r>
            <a:r>
              <a:rPr sz="2000" spc="-10" dirty="0">
                <a:latin typeface="Calibri"/>
                <a:cs typeface="Calibri"/>
              </a:rPr>
              <a:t>difícil tener </a:t>
            </a:r>
            <a:r>
              <a:rPr sz="2000" spc="-5" dirty="0">
                <a:latin typeface="Calibri"/>
                <a:cs typeface="Calibri"/>
              </a:rPr>
              <a:t>una </a:t>
            </a:r>
            <a:r>
              <a:rPr sz="2000" spc="-15" dirty="0">
                <a:latin typeface="Calibri"/>
                <a:cs typeface="Calibri"/>
              </a:rPr>
              <a:t>ventaja</a:t>
            </a:r>
            <a:r>
              <a:rPr sz="2000" spc="25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competitiva;</a:t>
            </a:r>
            <a:endParaRPr sz="2000">
              <a:latin typeface="Calibri"/>
              <a:cs typeface="Calibri"/>
            </a:endParaRPr>
          </a:p>
          <a:p>
            <a:pPr marL="812800" marR="508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  <a:tab pos="813435" algn="l"/>
              </a:tabLst>
            </a:pPr>
            <a:r>
              <a:rPr sz="2000" spc="-5" dirty="0">
                <a:latin typeface="Calibri"/>
                <a:cs typeface="Calibri"/>
              </a:rPr>
              <a:t>La </a:t>
            </a:r>
            <a:r>
              <a:rPr sz="2000" spc="-10" dirty="0">
                <a:latin typeface="Calibri"/>
                <a:cs typeface="Calibri"/>
              </a:rPr>
              <a:t>gestión </a:t>
            </a:r>
            <a:r>
              <a:rPr sz="2000" spc="-5" dirty="0">
                <a:latin typeface="Calibri"/>
                <a:cs typeface="Calibri"/>
              </a:rPr>
              <a:t>de TI </a:t>
            </a:r>
            <a:r>
              <a:rPr sz="2000" spc="-10" dirty="0">
                <a:latin typeface="Calibri"/>
                <a:cs typeface="Calibri"/>
              </a:rPr>
              <a:t>como </a:t>
            </a:r>
            <a:r>
              <a:rPr sz="2000" spc="-5" dirty="0">
                <a:latin typeface="Calibri"/>
                <a:cs typeface="Calibri"/>
              </a:rPr>
              <a:t>una </a:t>
            </a:r>
            <a:r>
              <a:rPr sz="2000" dirty="0">
                <a:latin typeface="Calibri"/>
                <a:cs typeface="Calibri"/>
              </a:rPr>
              <a:t>actividad </a:t>
            </a:r>
            <a:r>
              <a:rPr sz="2000" spc="-5" dirty="0">
                <a:latin typeface="Calibri"/>
                <a:cs typeface="Calibri"/>
              </a:rPr>
              <a:t>que no </a:t>
            </a:r>
            <a:r>
              <a:rPr sz="2000" spc="-15" dirty="0">
                <a:latin typeface="Calibri"/>
                <a:cs typeface="Calibri"/>
              </a:rPr>
              <a:t>agrega </a:t>
            </a:r>
            <a:r>
              <a:rPr sz="2000" spc="-10" dirty="0">
                <a:latin typeface="Calibri"/>
                <a:cs typeface="Calibri"/>
              </a:rPr>
              <a:t>valor: </a:t>
            </a:r>
            <a:r>
              <a:rPr sz="2000" spc="-5" dirty="0">
                <a:latin typeface="Calibri"/>
                <a:cs typeface="Calibri"/>
              </a:rPr>
              <a:t>Manejar </a:t>
            </a:r>
            <a:r>
              <a:rPr sz="2000" spc="-15" dirty="0">
                <a:latin typeface="Calibri"/>
                <a:cs typeface="Calibri"/>
              </a:rPr>
              <a:t>costos </a:t>
            </a:r>
            <a:r>
              <a:rPr sz="2000" spc="-5" dirty="0">
                <a:latin typeface="Calibri"/>
                <a:cs typeface="Calibri"/>
              </a:rPr>
              <a:t>y  riesgos en </a:t>
            </a:r>
            <a:r>
              <a:rPr sz="2000" spc="-20" dirty="0">
                <a:latin typeface="Calibri"/>
                <a:cs typeface="Calibri"/>
              </a:rPr>
              <a:t>vez </a:t>
            </a:r>
            <a:r>
              <a:rPr sz="2000" spc="-5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buscar ventajas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competitivas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6258" y="193801"/>
            <a:ext cx="600964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Planeamiento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Estratégico de Sistemas de</a:t>
            </a:r>
            <a:r>
              <a:rPr sz="2000" b="1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Información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Estrategia de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6836409" cy="5990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Planeamiento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Estratégico de Sistemas de Información</a:t>
            </a:r>
            <a:r>
              <a:rPr sz="2000" b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Estrategia de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 marR="1054735">
              <a:lnSpc>
                <a:spcPct val="100000"/>
              </a:lnSpc>
            </a:pPr>
            <a:r>
              <a:rPr sz="2800" b="1" spc="-5" dirty="0">
                <a:latin typeface="Calibri"/>
                <a:cs typeface="Calibri"/>
              </a:rPr>
              <a:t>¿Qué contribución pueden aportar </a:t>
            </a:r>
            <a:r>
              <a:rPr sz="2800" b="1" dirty="0">
                <a:latin typeface="Calibri"/>
                <a:cs typeface="Calibri"/>
              </a:rPr>
              <a:t>las  </a:t>
            </a:r>
            <a:r>
              <a:rPr sz="2800" b="1" spc="-5" dirty="0">
                <a:latin typeface="Calibri"/>
                <a:cs typeface="Calibri"/>
              </a:rPr>
              <a:t>TI?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50"/>
              </a:spcBef>
            </a:pPr>
            <a:r>
              <a:rPr sz="2000" spc="-5" dirty="0">
                <a:latin typeface="Calibri"/>
                <a:cs typeface="Calibri"/>
              </a:rPr>
              <a:t>La contribución de las TI a las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organizaciones: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355600" marR="10541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No </a:t>
            </a:r>
            <a:r>
              <a:rPr sz="2000" spc="-10" dirty="0">
                <a:latin typeface="Calibri"/>
                <a:cs typeface="Calibri"/>
              </a:rPr>
              <a:t>resulta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tener </a:t>
            </a:r>
            <a:r>
              <a:rPr sz="2000" dirty="0">
                <a:latin typeface="Calibri"/>
                <a:cs typeface="Calibri"/>
              </a:rPr>
              <a:t>el </a:t>
            </a:r>
            <a:r>
              <a:rPr sz="2000" spc="-5" dirty="0">
                <a:latin typeface="Calibri"/>
                <a:cs typeface="Calibri"/>
              </a:rPr>
              <a:t>nivel </a:t>
            </a:r>
            <a:r>
              <a:rPr sz="2000" dirty="0">
                <a:latin typeface="Calibri"/>
                <a:cs typeface="Calibri"/>
              </a:rPr>
              <a:t>(más </a:t>
            </a:r>
            <a:r>
              <a:rPr sz="2000" spc="-5" dirty="0">
                <a:latin typeface="Calibri"/>
                <a:cs typeface="Calibri"/>
              </a:rPr>
              <a:t>bajo) de </a:t>
            </a:r>
            <a:r>
              <a:rPr sz="2000" spc="-20" dirty="0">
                <a:latin typeface="Calibri"/>
                <a:cs typeface="Calibri"/>
              </a:rPr>
              <a:t>gasto </a:t>
            </a:r>
            <a:r>
              <a:rPr sz="2000" spc="-5" dirty="0">
                <a:latin typeface="Calibri"/>
                <a:cs typeface="Calibri"/>
              </a:rPr>
              <a:t>en  tecnología;</a:t>
            </a:r>
            <a:endParaRPr sz="2000">
              <a:latin typeface="Calibri"/>
              <a:cs typeface="Calibri"/>
            </a:endParaRPr>
          </a:p>
          <a:p>
            <a:pPr marL="355600" marR="1054735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  <a:tab pos="862965" algn="l"/>
                <a:tab pos="1781175" algn="l"/>
                <a:tab pos="2251075" algn="l"/>
                <a:tab pos="3020060" algn="l"/>
                <a:tab pos="3415665" algn="l"/>
                <a:tab pos="4115435" algn="l"/>
                <a:tab pos="4828540" algn="l"/>
                <a:tab pos="5513705" algn="l"/>
              </a:tabLst>
            </a:pPr>
            <a:r>
              <a:rPr sz="2000" spc="-5" dirty="0">
                <a:latin typeface="Calibri"/>
                <a:cs typeface="Calibri"/>
              </a:rPr>
              <a:t>No	</a:t>
            </a:r>
            <a:r>
              <a:rPr sz="2000" spc="-35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esul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ne</a:t>
            </a:r>
            <a:r>
              <a:rPr sz="2000" spc="-5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	e</a:t>
            </a:r>
            <a:r>
              <a:rPr sz="2000" spc="-5" dirty="0">
                <a:latin typeface="Calibri"/>
                <a:cs typeface="Calibri"/>
              </a:rPr>
              <a:t>l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ni</a:t>
            </a:r>
            <a:r>
              <a:rPr sz="2000" spc="-25" dirty="0">
                <a:latin typeface="Calibri"/>
                <a:cs typeface="Calibri"/>
              </a:rPr>
              <a:t>v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l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(m</a:t>
            </a:r>
            <a:r>
              <a:rPr sz="2000" dirty="0">
                <a:latin typeface="Calibri"/>
                <a:cs typeface="Calibri"/>
              </a:rPr>
              <a:t>á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	a</a:t>
            </a:r>
            <a:r>
              <a:rPr sz="2000" spc="-5" dirty="0">
                <a:latin typeface="Calibri"/>
                <a:cs typeface="Calibri"/>
              </a:rPr>
              <a:t>l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-10" dirty="0">
                <a:latin typeface="Calibri"/>
                <a:cs typeface="Calibri"/>
              </a:rPr>
              <a:t>o</a:t>
            </a:r>
            <a:r>
              <a:rPr sz="2000" spc="-5" dirty="0">
                <a:latin typeface="Calibri"/>
                <a:cs typeface="Calibri"/>
              </a:rPr>
              <a:t>)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de  </a:t>
            </a:r>
            <a:r>
              <a:rPr sz="2000" spc="-10" dirty="0">
                <a:latin typeface="Calibri"/>
                <a:cs typeface="Calibri"/>
              </a:rPr>
              <a:t>informatización;</a:t>
            </a:r>
            <a:endParaRPr sz="2000">
              <a:latin typeface="Calibri"/>
              <a:cs typeface="Calibri"/>
            </a:endParaRPr>
          </a:p>
          <a:p>
            <a:pPr marL="355600" marR="1055370" indent="-3435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  <a:tab pos="356235" algn="l"/>
                <a:tab pos="1246505" algn="l"/>
                <a:tab pos="1639570" algn="l"/>
                <a:tab pos="2348865" algn="l"/>
                <a:tab pos="2708275" algn="l"/>
                <a:tab pos="3588385" algn="l"/>
                <a:tab pos="4002404" algn="l"/>
                <a:tab pos="5311775" algn="l"/>
              </a:tabLst>
            </a:pP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su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-3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c</a:t>
            </a:r>
            <a:r>
              <a:rPr sz="2000" spc="-10" dirty="0">
                <a:latin typeface="Calibri"/>
                <a:cs typeface="Calibri"/>
              </a:rPr>
              <a:t>óm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ut</a:t>
            </a:r>
            <a:r>
              <a:rPr sz="2000" spc="-5" dirty="0">
                <a:latin typeface="Calibri"/>
                <a:cs typeface="Calibri"/>
              </a:rPr>
              <a:t>ili</a:t>
            </a:r>
            <a:r>
              <a:rPr sz="2000" spc="-35" dirty="0">
                <a:latin typeface="Calibri"/>
                <a:cs typeface="Calibri"/>
              </a:rPr>
              <a:t>z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las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ecnologías</a:t>
            </a:r>
            <a:r>
              <a:rPr sz="2000" dirty="0">
                <a:latin typeface="Calibri"/>
                <a:cs typeface="Calibri"/>
              </a:rPr>
              <a:t>	p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a  </a:t>
            </a:r>
            <a:r>
              <a:rPr sz="2000" spc="-10" dirty="0">
                <a:latin typeface="Calibri"/>
                <a:cs typeface="Calibri"/>
              </a:rPr>
              <a:t>generar valor </a:t>
            </a:r>
            <a:r>
              <a:rPr sz="2000" spc="-5" dirty="0">
                <a:latin typeface="Calibri"/>
                <a:cs typeface="Calibri"/>
              </a:rPr>
              <a:t>y que </a:t>
            </a:r>
            <a:r>
              <a:rPr sz="2000" spc="-15" dirty="0">
                <a:latin typeface="Calibri"/>
                <a:cs typeface="Calibri"/>
              </a:rPr>
              <a:t>este </a:t>
            </a:r>
            <a:r>
              <a:rPr sz="2000" spc="-5" dirty="0">
                <a:latin typeface="Calibri"/>
                <a:cs typeface="Calibri"/>
              </a:rPr>
              <a:t>sea </a:t>
            </a:r>
            <a:r>
              <a:rPr sz="2000" spc="-10" dirty="0">
                <a:latin typeface="Calibri"/>
                <a:cs typeface="Calibri"/>
              </a:rPr>
              <a:t>percibido </a:t>
            </a:r>
            <a:r>
              <a:rPr sz="2000" spc="-5" dirty="0">
                <a:latin typeface="Calibri"/>
                <a:cs typeface="Calibri"/>
              </a:rPr>
              <a:t>por el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cliente.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 marR="1054100" algn="just">
              <a:lnSpc>
                <a:spcPct val="100000"/>
              </a:lnSpc>
            </a:pPr>
            <a:r>
              <a:rPr sz="2000" b="1" i="1" spc="-15" dirty="0">
                <a:latin typeface="Calibri"/>
                <a:cs typeface="Calibri"/>
              </a:rPr>
              <a:t>Para ello, resulta </a:t>
            </a:r>
            <a:r>
              <a:rPr sz="2000" b="1" i="1" spc="-10" dirty="0">
                <a:latin typeface="Calibri"/>
                <a:cs typeface="Calibri"/>
              </a:rPr>
              <a:t>fundamental alinear </a:t>
            </a:r>
            <a:r>
              <a:rPr sz="2000" b="1" i="1" spc="-5" dirty="0">
                <a:latin typeface="Calibri"/>
                <a:cs typeface="Calibri"/>
              </a:rPr>
              <a:t>la </a:t>
            </a:r>
            <a:r>
              <a:rPr sz="2000" b="1" i="1" spc="-10" dirty="0">
                <a:latin typeface="Calibri"/>
                <a:cs typeface="Calibri"/>
              </a:rPr>
              <a:t>estrategia </a:t>
            </a:r>
            <a:r>
              <a:rPr sz="2000" b="1" i="1" spc="-5" dirty="0">
                <a:latin typeface="Calibri"/>
                <a:cs typeface="Calibri"/>
              </a:rPr>
              <a:t>de  TI </a:t>
            </a:r>
            <a:r>
              <a:rPr sz="2000" b="1" i="1" spc="-10" dirty="0">
                <a:latin typeface="Calibri"/>
                <a:cs typeface="Calibri"/>
              </a:rPr>
              <a:t>con </a:t>
            </a:r>
            <a:r>
              <a:rPr sz="2000" b="1" i="1" spc="-5" dirty="0">
                <a:latin typeface="Calibri"/>
                <a:cs typeface="Calibri"/>
              </a:rPr>
              <a:t>la </a:t>
            </a:r>
            <a:r>
              <a:rPr sz="2000" b="1" i="1" spc="-10" dirty="0">
                <a:latin typeface="Calibri"/>
                <a:cs typeface="Calibri"/>
              </a:rPr>
              <a:t>estrategia </a:t>
            </a:r>
            <a:r>
              <a:rPr sz="2000" b="1" i="1" spc="-5" dirty="0">
                <a:latin typeface="Calibri"/>
                <a:cs typeface="Calibri"/>
              </a:rPr>
              <a:t>de </a:t>
            </a:r>
            <a:r>
              <a:rPr sz="2000" b="1" i="1" spc="-10" dirty="0">
                <a:latin typeface="Calibri"/>
                <a:cs typeface="Calibri"/>
              </a:rPr>
              <a:t>negocio, entendiendo </a:t>
            </a:r>
            <a:r>
              <a:rPr sz="2000" b="1" i="1" spc="-5" dirty="0">
                <a:latin typeface="Calibri"/>
                <a:cs typeface="Calibri"/>
              </a:rPr>
              <a:t>que </a:t>
            </a:r>
            <a:r>
              <a:rPr sz="2000" b="1" i="1" spc="-10" dirty="0">
                <a:latin typeface="Calibri"/>
                <a:cs typeface="Calibri"/>
              </a:rPr>
              <a:t>la  </a:t>
            </a:r>
            <a:r>
              <a:rPr sz="2000" b="1" i="1" spc="-5" dirty="0">
                <a:latin typeface="Calibri"/>
                <a:cs typeface="Calibri"/>
              </a:rPr>
              <a:t>primera debe </a:t>
            </a:r>
            <a:r>
              <a:rPr sz="2000" b="1" i="1" spc="-10" dirty="0">
                <a:latin typeface="Calibri"/>
                <a:cs typeface="Calibri"/>
              </a:rPr>
              <a:t>ajustarse </a:t>
            </a:r>
            <a:r>
              <a:rPr sz="2000" b="1" i="1" spc="-5" dirty="0">
                <a:latin typeface="Calibri"/>
                <a:cs typeface="Calibri"/>
              </a:rPr>
              <a:t>a la </a:t>
            </a:r>
            <a:r>
              <a:rPr sz="2000" b="1" i="1" spc="-10" dirty="0">
                <a:latin typeface="Calibri"/>
                <a:cs typeface="Calibri"/>
              </a:rPr>
              <a:t>segunda </a:t>
            </a:r>
            <a:r>
              <a:rPr sz="2000" b="1" i="1" spc="-5" dirty="0">
                <a:latin typeface="Calibri"/>
                <a:cs typeface="Calibri"/>
              </a:rPr>
              <a:t>y no que </a:t>
            </a:r>
            <a:r>
              <a:rPr sz="2000" b="1" i="1" spc="-10" dirty="0">
                <a:latin typeface="Calibri"/>
                <a:cs typeface="Calibri"/>
              </a:rPr>
              <a:t>una  resulta </a:t>
            </a:r>
            <a:r>
              <a:rPr sz="2000" b="1" i="1" spc="-5" dirty="0">
                <a:latin typeface="Calibri"/>
                <a:cs typeface="Calibri"/>
              </a:rPr>
              <a:t>más </a:t>
            </a:r>
            <a:r>
              <a:rPr sz="2000" b="1" i="1" spc="-10" dirty="0">
                <a:latin typeface="Calibri"/>
                <a:cs typeface="Calibri"/>
              </a:rPr>
              <a:t>relevante </a:t>
            </a:r>
            <a:r>
              <a:rPr sz="2000" b="1" i="1" spc="-5" dirty="0">
                <a:latin typeface="Calibri"/>
                <a:cs typeface="Calibri"/>
              </a:rPr>
              <a:t>que la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otra.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65926" y="2286000"/>
            <a:ext cx="2590037" cy="182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65926" y="4362450"/>
            <a:ext cx="2590037" cy="17967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268" y="1031493"/>
            <a:ext cx="3540760" cy="1373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0" dirty="0">
                <a:latin typeface="Calibri"/>
                <a:cs typeface="Calibri"/>
              </a:rPr>
              <a:t>Estrategia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TI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450"/>
              </a:spcBef>
              <a:tabLst>
                <a:tab pos="659765" algn="l"/>
                <a:tab pos="1511935" algn="l"/>
                <a:tab pos="1923414" algn="l"/>
                <a:tab pos="2461895" algn="l"/>
                <a:tab pos="2505710" algn="l"/>
              </a:tabLst>
            </a:pPr>
            <a:r>
              <a:rPr sz="2000" spc="-50" dirty="0">
                <a:latin typeface="Calibri"/>
                <a:cs typeface="Calibri"/>
              </a:rPr>
              <a:t>P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	e</a:t>
            </a:r>
            <a:r>
              <a:rPr sz="2000" spc="-30" dirty="0">
                <a:latin typeface="Calibri"/>
                <a:cs typeface="Calibri"/>
              </a:rPr>
              <a:t>st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5" dirty="0">
                <a:latin typeface="Calibri"/>
                <a:cs typeface="Calibri"/>
              </a:rPr>
              <a:t>l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cer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		e</a:t>
            </a:r>
            <a:r>
              <a:rPr sz="2000" spc="-30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45" dirty="0">
                <a:latin typeface="Calibri"/>
                <a:cs typeface="Calibri"/>
              </a:rPr>
              <a:t>r</a:t>
            </a:r>
            <a:r>
              <a:rPr sz="2000" spc="-25" dirty="0">
                <a:latin typeface="Calibri"/>
                <a:cs typeface="Calibri"/>
              </a:rPr>
              <a:t>at</a:t>
            </a:r>
            <a:r>
              <a:rPr sz="2000" spc="-5" dirty="0">
                <a:latin typeface="Calibri"/>
                <a:cs typeface="Calibri"/>
              </a:rPr>
              <a:t>egia  </a:t>
            </a:r>
            <a:r>
              <a:rPr sz="2000" spc="-10" dirty="0">
                <a:latin typeface="Calibri"/>
                <a:cs typeface="Calibri"/>
              </a:rPr>
              <a:t>sustentable,	resulta	</a:t>
            </a:r>
            <a:r>
              <a:rPr sz="2000" spc="-5" dirty="0">
                <a:latin typeface="Calibri"/>
                <a:cs typeface="Calibri"/>
              </a:rPr>
              <a:t>necesario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27602" y="1769872"/>
            <a:ext cx="24110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590">
              <a:lnSpc>
                <a:spcPct val="100000"/>
              </a:lnSpc>
              <a:spcBef>
                <a:spcPts val="95"/>
              </a:spcBef>
              <a:tabLst>
                <a:tab pos="487045" algn="l"/>
                <a:tab pos="868044" algn="l"/>
                <a:tab pos="1300480" algn="l"/>
                <a:tab pos="2117090" algn="l"/>
                <a:tab pos="2282825" algn="l"/>
              </a:tabLst>
            </a:pPr>
            <a:r>
              <a:rPr sz="2000" spc="-5" dirty="0">
                <a:latin typeface="Calibri"/>
                <a:cs typeface="Calibri"/>
              </a:rPr>
              <a:t>de	TI	</a:t>
            </a:r>
            <a:r>
              <a:rPr sz="2000" spc="-25" dirty="0">
                <a:latin typeface="Calibri"/>
                <a:cs typeface="Calibri"/>
              </a:rPr>
              <a:t>c</a:t>
            </a:r>
            <a:r>
              <a:rPr sz="2000" spc="-10" dirty="0">
                <a:latin typeface="Calibri"/>
                <a:cs typeface="Calibri"/>
              </a:rPr>
              <a:t>omp</a:t>
            </a:r>
            <a:r>
              <a:rPr sz="2000" spc="-1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spc="5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spc="-35" dirty="0">
                <a:latin typeface="Calibri"/>
                <a:cs typeface="Calibri"/>
              </a:rPr>
              <a:t>v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		</a:t>
            </a:r>
            <a:r>
              <a:rPr sz="2000" spc="-5" dirty="0">
                <a:latin typeface="Calibri"/>
                <a:cs typeface="Calibri"/>
              </a:rPr>
              <a:t>y  ide</a:t>
            </a:r>
            <a:r>
              <a:rPr sz="2000" spc="-20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if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25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c</a:t>
            </a:r>
            <a:r>
              <a:rPr sz="2000" spc="-10" dirty="0">
                <a:latin typeface="Calibri"/>
                <a:cs typeface="Calibri"/>
              </a:rPr>
              <a:t>óm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las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2379472"/>
            <a:ext cx="6099175" cy="398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339850" algn="l"/>
                <a:tab pos="1732280" algn="l"/>
                <a:tab pos="2045335" algn="l"/>
                <a:tab pos="3427729" algn="l"/>
                <a:tab pos="4347210" algn="l"/>
                <a:tab pos="5257800" algn="l"/>
                <a:tab pos="5903595" algn="l"/>
              </a:tabLst>
            </a:pPr>
            <a:r>
              <a:rPr sz="2000" spc="-185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ecno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-10" dirty="0">
                <a:latin typeface="Calibri"/>
                <a:cs typeface="Calibri"/>
              </a:rPr>
              <a:t>ogía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spc="-15" dirty="0">
                <a:latin typeface="Calibri"/>
                <a:cs typeface="Calibri"/>
              </a:rPr>
              <a:t>n</a:t>
            </a:r>
            <a:r>
              <a:rPr sz="2000" spc="-50" dirty="0">
                <a:latin typeface="Calibri"/>
                <a:cs typeface="Calibri"/>
              </a:rPr>
              <a:t>f</a:t>
            </a:r>
            <a:r>
              <a:rPr sz="2000" spc="-10" dirty="0">
                <a:latin typeface="Calibri"/>
                <a:cs typeface="Calibri"/>
              </a:rPr>
              <a:t>orm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ción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puede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ag</a:t>
            </a:r>
            <a:r>
              <a:rPr sz="2000" spc="-3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-45" dirty="0">
                <a:latin typeface="Calibri"/>
                <a:cs typeface="Calibri"/>
              </a:rPr>
              <a:t>g</a:t>
            </a:r>
            <a:r>
              <a:rPr sz="2000" spc="-5" dirty="0">
                <a:latin typeface="Calibri"/>
                <a:cs typeface="Calibri"/>
              </a:rPr>
              <a:t>ar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40" dirty="0">
                <a:latin typeface="Calibri"/>
                <a:cs typeface="Calibri"/>
              </a:rPr>
              <a:t>v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lor</a:t>
            </a:r>
            <a:r>
              <a:rPr sz="2000" dirty="0">
                <a:latin typeface="Calibri"/>
                <a:cs typeface="Calibri"/>
              </a:rPr>
              <a:t>	al  </a:t>
            </a:r>
            <a:r>
              <a:rPr sz="2000" spc="-5" dirty="0">
                <a:latin typeface="Calibri"/>
                <a:cs typeface="Calibri"/>
              </a:rPr>
              <a:t>negocio: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i="1" spc="-15" dirty="0">
                <a:latin typeface="Calibri"/>
                <a:cs typeface="Calibri"/>
              </a:rPr>
              <a:t>¿Apuntar </a:t>
            </a:r>
            <a:r>
              <a:rPr sz="2000" i="1" spc="-5" dirty="0">
                <a:latin typeface="Calibri"/>
                <a:cs typeface="Calibri"/>
              </a:rPr>
              <a:t>sólo a la reducción de</a:t>
            </a:r>
            <a:r>
              <a:rPr sz="2000" i="1" spc="20" dirty="0">
                <a:latin typeface="Calibri"/>
                <a:cs typeface="Calibri"/>
              </a:rPr>
              <a:t> </a:t>
            </a:r>
            <a:r>
              <a:rPr sz="2000" i="1" spc="-15" dirty="0">
                <a:latin typeface="Calibri"/>
                <a:cs typeface="Calibri"/>
              </a:rPr>
              <a:t>costos?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i="1" spc="-15" dirty="0">
                <a:latin typeface="Calibri"/>
                <a:cs typeface="Calibri"/>
              </a:rPr>
              <a:t>¿Apuntar </a:t>
            </a:r>
            <a:r>
              <a:rPr sz="2000" i="1" spc="-5" dirty="0">
                <a:latin typeface="Calibri"/>
                <a:cs typeface="Calibri"/>
              </a:rPr>
              <a:t>sólo a la</a:t>
            </a:r>
            <a:r>
              <a:rPr sz="2000" i="1" spc="1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Diferenciación?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i="1" spc="-15" dirty="0">
                <a:latin typeface="Calibri"/>
                <a:cs typeface="Calibri"/>
              </a:rPr>
              <a:t>¿Apuntar </a:t>
            </a:r>
            <a:r>
              <a:rPr sz="2000" i="1" spc="-5" dirty="0">
                <a:latin typeface="Calibri"/>
                <a:cs typeface="Calibri"/>
              </a:rPr>
              <a:t>a la </a:t>
            </a:r>
            <a:r>
              <a:rPr sz="2000" i="1" spc="-10" dirty="0">
                <a:latin typeface="Calibri"/>
                <a:cs typeface="Calibri"/>
              </a:rPr>
              <a:t>complementación</a:t>
            </a:r>
            <a:r>
              <a:rPr sz="2000" i="1" spc="4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estratégica?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i="1" spc="-10" dirty="0">
                <a:latin typeface="Calibri"/>
                <a:cs typeface="Calibri"/>
              </a:rPr>
              <a:t>¿Hacer </a:t>
            </a:r>
            <a:r>
              <a:rPr sz="2000" i="1" spc="-15" dirty="0">
                <a:latin typeface="Calibri"/>
                <a:cs typeface="Calibri"/>
              </a:rPr>
              <a:t>foco </a:t>
            </a:r>
            <a:r>
              <a:rPr sz="2000" i="1" spc="-5" dirty="0">
                <a:latin typeface="Calibri"/>
                <a:cs typeface="Calibri"/>
              </a:rPr>
              <a:t>según </a:t>
            </a:r>
            <a:r>
              <a:rPr sz="2000" i="1" spc="-10" dirty="0">
                <a:latin typeface="Calibri"/>
                <a:cs typeface="Calibri"/>
              </a:rPr>
              <a:t>unidades </a:t>
            </a:r>
            <a:r>
              <a:rPr sz="2000" i="1" spc="-5" dirty="0">
                <a:latin typeface="Calibri"/>
                <a:cs typeface="Calibri"/>
              </a:rPr>
              <a:t>de </a:t>
            </a:r>
            <a:r>
              <a:rPr sz="2000" i="1" spc="-10" dirty="0">
                <a:latin typeface="Calibri"/>
                <a:cs typeface="Calibri"/>
              </a:rPr>
              <a:t>negocio</a:t>
            </a:r>
            <a:r>
              <a:rPr sz="2000" i="1" spc="2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segmentación?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12700" marR="6350">
              <a:lnSpc>
                <a:spcPct val="100000"/>
              </a:lnSpc>
              <a:tabLst>
                <a:tab pos="767080" algn="l"/>
                <a:tab pos="1282065" algn="l"/>
                <a:tab pos="2064385" algn="l"/>
                <a:tab pos="3339465" algn="l"/>
                <a:tab pos="4542790" algn="l"/>
                <a:tab pos="5624195" algn="l"/>
              </a:tabLst>
            </a:pPr>
            <a:r>
              <a:rPr sz="20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</a:t>
            </a:r>
            <a:r>
              <a:rPr sz="2000" b="1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000" b="1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20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</a:t>
            </a:r>
            <a:r>
              <a:rPr sz="20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2000" b="1" u="heavy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é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xi</a:t>
            </a:r>
            <a:r>
              <a:rPr sz="2000" b="1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c</a:t>
            </a:r>
            <a:r>
              <a:rPr sz="2000" spc="-10" dirty="0">
                <a:latin typeface="Calibri"/>
                <a:cs typeface="Calibri"/>
              </a:rPr>
              <a:t>on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id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mome</a:t>
            </a:r>
            <a:r>
              <a:rPr sz="2000" spc="-15" dirty="0">
                <a:latin typeface="Calibri"/>
                <a:cs typeface="Calibri"/>
              </a:rPr>
              <a:t>n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hi</a:t>
            </a:r>
            <a:r>
              <a:rPr sz="2000" spc="-25" dirty="0">
                <a:latin typeface="Calibri"/>
                <a:cs typeface="Calibri"/>
              </a:rPr>
              <a:t>st</a:t>
            </a:r>
            <a:r>
              <a:rPr sz="2000" spc="-10" dirty="0">
                <a:latin typeface="Calibri"/>
                <a:cs typeface="Calibri"/>
              </a:rPr>
              <a:t>ó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spc="-20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pa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a  </a:t>
            </a:r>
            <a:r>
              <a:rPr sz="2000" spc="-10" dirty="0">
                <a:latin typeface="Calibri"/>
                <a:cs typeface="Calibri"/>
              </a:rPr>
              <a:t>entender: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Cuándo </a:t>
            </a:r>
            <a:r>
              <a:rPr sz="2000" spc="-10" dirty="0">
                <a:latin typeface="Calibri"/>
                <a:cs typeface="Calibri"/>
              </a:rPr>
              <a:t>resulta </a:t>
            </a:r>
            <a:r>
              <a:rPr sz="2000" spc="-15" dirty="0">
                <a:latin typeface="Calibri"/>
                <a:cs typeface="Calibri"/>
              </a:rPr>
              <a:t>conveniente </a:t>
            </a:r>
            <a:r>
              <a:rPr sz="2000" spc="-10" dirty="0">
                <a:latin typeface="Calibri"/>
                <a:cs typeface="Calibri"/>
              </a:rPr>
              <a:t>apuntar </a:t>
            </a:r>
            <a:r>
              <a:rPr sz="2000" spc="-5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reducir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costos;</a:t>
            </a:r>
            <a:endParaRPr sz="2000">
              <a:latin typeface="Calibri"/>
              <a:cs typeface="Calibri"/>
            </a:endParaRPr>
          </a:p>
          <a:p>
            <a:pPr marL="355600" marR="635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  <a:tab pos="1427480" algn="l"/>
                <a:tab pos="2416810" algn="l"/>
                <a:tab pos="3696335" algn="l"/>
                <a:tab pos="4659630" algn="l"/>
                <a:tab pos="5328285" algn="l"/>
              </a:tabLst>
            </a:pPr>
            <a:r>
              <a:rPr sz="2000" spc="-10" dirty="0">
                <a:latin typeface="Calibri"/>
                <a:cs typeface="Calibri"/>
              </a:rPr>
              <a:t>Cu</a:t>
            </a:r>
            <a:r>
              <a:rPr sz="2000" dirty="0">
                <a:latin typeface="Calibri"/>
                <a:cs typeface="Calibri"/>
              </a:rPr>
              <a:t>á</a:t>
            </a:r>
            <a:r>
              <a:rPr sz="2000" spc="-10" dirty="0">
                <a:latin typeface="Calibri"/>
                <a:cs typeface="Calibri"/>
              </a:rPr>
              <a:t>nd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35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esul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ne</a:t>
            </a:r>
            <a:r>
              <a:rPr sz="2000" dirty="0">
                <a:latin typeface="Calibri"/>
                <a:cs typeface="Calibri"/>
              </a:rPr>
              <a:t>ce</a:t>
            </a:r>
            <a:r>
              <a:rPr sz="2000" spc="-10" dirty="0">
                <a:latin typeface="Calibri"/>
                <a:cs typeface="Calibri"/>
              </a:rPr>
              <a:t>s</a:t>
            </a:r>
            <a:r>
              <a:rPr sz="2000" spc="5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rio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bus</a:t>
            </a:r>
            <a:r>
              <a:rPr sz="2000" spc="-20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ar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una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30" dirty="0">
                <a:latin typeface="Calibri"/>
                <a:cs typeface="Calibri"/>
              </a:rPr>
              <a:t>v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n</a:t>
            </a:r>
            <a:r>
              <a:rPr sz="2000" spc="-3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aja  </a:t>
            </a:r>
            <a:r>
              <a:rPr sz="2000" spc="-10" dirty="0">
                <a:latin typeface="Calibri"/>
                <a:cs typeface="Calibri"/>
              </a:rPr>
              <a:t>competitiva;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 – </a:t>
            </a:r>
            <a:r>
              <a:rPr spc="-10" dirty="0"/>
              <a:t>Planeamiento </a:t>
            </a:r>
            <a:r>
              <a:rPr spc="-5" dirty="0"/>
              <a:t>Estratégico de Sistemas de Información</a:t>
            </a:r>
            <a:r>
              <a:rPr spc="165" dirty="0"/>
              <a:t> </a:t>
            </a:r>
            <a:r>
              <a:rPr spc="-5" dirty="0"/>
              <a:t>(Cont.)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86258" y="500126"/>
            <a:ext cx="1459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Estrategia de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42354" y="1244346"/>
            <a:ext cx="2213609" cy="9227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89392" y="2463545"/>
            <a:ext cx="2154379" cy="2057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42354" y="4800600"/>
            <a:ext cx="2213609" cy="14729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6836409" cy="5441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Planeamiento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Estratégico de Sistemas de Información</a:t>
            </a:r>
            <a:r>
              <a:rPr sz="2000" b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Estrategia de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20" dirty="0">
                <a:latin typeface="Calibri"/>
                <a:cs typeface="Calibri"/>
              </a:rPr>
              <a:t>Estrategia </a:t>
            </a:r>
            <a:r>
              <a:rPr sz="2800" b="1" dirty="0">
                <a:latin typeface="Calibri"/>
                <a:cs typeface="Calibri"/>
              </a:rPr>
              <a:t>de </a:t>
            </a:r>
            <a:r>
              <a:rPr sz="2800" b="1" spc="-5" dirty="0">
                <a:latin typeface="Calibri"/>
                <a:cs typeface="Calibri"/>
              </a:rPr>
              <a:t>TI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(Cont.)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50"/>
              </a:spcBef>
            </a:pPr>
            <a:r>
              <a:rPr sz="2000" spc="-15" dirty="0">
                <a:latin typeface="Calibri"/>
                <a:cs typeface="Calibri"/>
              </a:rPr>
              <a:t>Estrategia </a:t>
            </a:r>
            <a:r>
              <a:rPr sz="2000" spc="-5" dirty="0">
                <a:latin typeface="Calibri"/>
                <a:cs typeface="Calibri"/>
              </a:rPr>
              <a:t>en una </a:t>
            </a:r>
            <a:r>
              <a:rPr sz="2000" spc="-15" dirty="0">
                <a:latin typeface="Calibri"/>
                <a:cs typeface="Calibri"/>
              </a:rPr>
              <a:t>jerarquía </a:t>
            </a:r>
            <a:r>
              <a:rPr sz="2000" spc="-5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tres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niveles: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>
              <a:latin typeface="Times New Roman"/>
              <a:cs typeface="Times New Roman"/>
            </a:endParaRPr>
          </a:p>
          <a:p>
            <a:pPr marL="220979" marR="2726690" indent="-220979" algn="r">
              <a:lnSpc>
                <a:spcPct val="100000"/>
              </a:lnSpc>
              <a:buChar char="–"/>
              <a:tabLst>
                <a:tab pos="220979" algn="l"/>
              </a:tabLst>
            </a:pPr>
            <a:r>
              <a:rPr sz="2400" b="1" i="1" spc="-10" dirty="0">
                <a:latin typeface="Calibri"/>
                <a:cs typeface="Calibri"/>
              </a:rPr>
              <a:t>Estrategia </a:t>
            </a:r>
            <a:r>
              <a:rPr sz="2400" b="1" i="1" spc="-5" dirty="0">
                <a:latin typeface="Calibri"/>
                <a:cs typeface="Calibri"/>
              </a:rPr>
              <a:t>de nivel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corporativo</a:t>
            </a:r>
            <a:endParaRPr sz="2400">
              <a:latin typeface="Calibri"/>
              <a:cs typeface="Calibri"/>
            </a:endParaRPr>
          </a:p>
          <a:p>
            <a:pPr marL="342265" marR="2741295" lvl="1" indent="-342265" algn="r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42265" algn="l"/>
                <a:tab pos="342900" algn="l"/>
              </a:tabLst>
            </a:pPr>
            <a:r>
              <a:rPr sz="2000" spc="-5" dirty="0">
                <a:latin typeface="Calibri"/>
                <a:cs typeface="Calibri"/>
              </a:rPr>
              <a:t>Impacta en </a:t>
            </a:r>
            <a:r>
              <a:rPr sz="2000" spc="-10" dirty="0">
                <a:latin typeface="Calibri"/>
                <a:cs typeface="Calibri"/>
              </a:rPr>
              <a:t>toda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organización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233679" indent="-220979">
              <a:lnSpc>
                <a:spcPct val="100000"/>
              </a:lnSpc>
              <a:buChar char="–"/>
              <a:tabLst>
                <a:tab pos="233679" algn="l"/>
              </a:tabLst>
            </a:pPr>
            <a:r>
              <a:rPr sz="2400" b="1" i="1" spc="-10" dirty="0">
                <a:latin typeface="Calibri"/>
                <a:cs typeface="Calibri"/>
              </a:rPr>
              <a:t>Estrategia </a:t>
            </a:r>
            <a:r>
              <a:rPr sz="2400" b="1" i="1" spc="-5" dirty="0">
                <a:latin typeface="Calibri"/>
                <a:cs typeface="Calibri"/>
              </a:rPr>
              <a:t>de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negocios</a:t>
            </a:r>
            <a:endParaRPr sz="2400">
              <a:latin typeface="Calibri"/>
              <a:cs typeface="Calibri"/>
            </a:endParaRPr>
          </a:p>
          <a:p>
            <a:pPr marL="812800" lvl="1" indent="-34353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812800" algn="l"/>
                <a:tab pos="813435" algn="l"/>
              </a:tabLst>
            </a:pPr>
            <a:r>
              <a:rPr sz="2000" spc="-5" dirty="0">
                <a:latin typeface="Calibri"/>
                <a:cs typeface="Calibri"/>
              </a:rPr>
              <a:t>De una actividad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particular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220979" marR="3672840" indent="-220979" algn="r">
              <a:lnSpc>
                <a:spcPct val="100000"/>
              </a:lnSpc>
              <a:buChar char="–"/>
              <a:tabLst>
                <a:tab pos="220979" algn="l"/>
              </a:tabLst>
            </a:pPr>
            <a:r>
              <a:rPr sz="2400" b="1" i="1" spc="-10" dirty="0">
                <a:latin typeface="Calibri"/>
                <a:cs typeface="Calibri"/>
              </a:rPr>
              <a:t>Estrategias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funcionales</a:t>
            </a:r>
            <a:endParaRPr sz="2400">
              <a:latin typeface="Calibri"/>
              <a:cs typeface="Calibri"/>
            </a:endParaRPr>
          </a:p>
          <a:p>
            <a:pPr marL="342265" marR="3657600" lvl="1" indent="-342265" algn="r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342265" algn="l"/>
                <a:tab pos="342900" algn="l"/>
              </a:tabLst>
            </a:pPr>
            <a:r>
              <a:rPr sz="2000" spc="-5" dirty="0">
                <a:latin typeface="Calibri"/>
                <a:cs typeface="Calibri"/>
              </a:rPr>
              <a:t>Asignación de </a:t>
            </a:r>
            <a:r>
              <a:rPr sz="2000" spc="-15" dirty="0">
                <a:latin typeface="Calibri"/>
                <a:cs typeface="Calibri"/>
              </a:rPr>
              <a:t>recursos</a:t>
            </a:r>
            <a:endParaRPr sz="2000">
              <a:latin typeface="Calibri"/>
              <a:cs typeface="Calibri"/>
            </a:endParaRPr>
          </a:p>
          <a:p>
            <a:pPr marL="812800" marR="1123315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  <a:tab pos="813435" algn="l"/>
              </a:tabLst>
            </a:pPr>
            <a:r>
              <a:rPr sz="2000" spc="-5" dirty="0">
                <a:latin typeface="Calibri"/>
                <a:cs typeface="Calibri"/>
              </a:rPr>
              <a:t>La </a:t>
            </a:r>
            <a:r>
              <a:rPr sz="2000" spc="-15" dirty="0">
                <a:latin typeface="Calibri"/>
                <a:cs typeface="Calibri"/>
              </a:rPr>
              <a:t>estrategia </a:t>
            </a:r>
            <a:r>
              <a:rPr sz="2000" spc="-5" dirty="0">
                <a:latin typeface="Calibri"/>
                <a:cs typeface="Calibri"/>
              </a:rPr>
              <a:t>de Sistemas de </a:t>
            </a:r>
            <a:r>
              <a:rPr sz="2000" spc="-10" dirty="0">
                <a:latin typeface="Calibri"/>
                <a:cs typeface="Calibri"/>
              </a:rPr>
              <a:t>Información </a:t>
            </a:r>
            <a:r>
              <a:rPr sz="2000" spc="-5" dirty="0">
                <a:latin typeface="Calibri"/>
                <a:cs typeface="Calibri"/>
              </a:rPr>
              <a:t>es  una </a:t>
            </a:r>
            <a:r>
              <a:rPr sz="2000" spc="-15" dirty="0">
                <a:latin typeface="Calibri"/>
                <a:cs typeface="Calibri"/>
              </a:rPr>
              <a:t>estrategia </a:t>
            </a:r>
            <a:r>
              <a:rPr sz="2000" spc="-5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nivel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funcional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24600" y="1194053"/>
            <a:ext cx="2514600" cy="167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24600" y="2946654"/>
            <a:ext cx="2514600" cy="1638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24600" y="4661153"/>
            <a:ext cx="2514600" cy="1638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 – </a:t>
            </a:r>
            <a:r>
              <a:rPr spc="-10" dirty="0"/>
              <a:t>Planeamiento </a:t>
            </a:r>
            <a:r>
              <a:rPr spc="-5" dirty="0"/>
              <a:t>Estratégico de Sistemas de Información</a:t>
            </a:r>
            <a:r>
              <a:rPr spc="165" dirty="0"/>
              <a:t> </a:t>
            </a:r>
            <a:r>
              <a:rPr spc="-5" dirty="0"/>
              <a:t>(Cont.)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9268" y="500126"/>
            <a:ext cx="5939155" cy="1295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Estrategia de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20" dirty="0">
                <a:latin typeface="Calibri"/>
                <a:cs typeface="Calibri"/>
              </a:rPr>
              <a:t>Estrategia </a:t>
            </a:r>
            <a:r>
              <a:rPr sz="2800" b="1" dirty="0">
                <a:latin typeface="Calibri"/>
                <a:cs typeface="Calibri"/>
              </a:rPr>
              <a:t>de </a:t>
            </a:r>
            <a:r>
              <a:rPr sz="2800" b="1" spc="-5" dirty="0">
                <a:latin typeface="Calibri"/>
                <a:cs typeface="Calibri"/>
              </a:rPr>
              <a:t>TI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(Cont.)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000" spc="-5" dirty="0">
                <a:latin typeface="Calibri"/>
                <a:cs typeface="Calibri"/>
              </a:rPr>
              <a:t>Alineación </a:t>
            </a:r>
            <a:r>
              <a:rPr sz="2000" spc="-15" dirty="0">
                <a:latin typeface="Calibri"/>
                <a:cs typeface="Calibri"/>
              </a:rPr>
              <a:t>estratégica… </a:t>
            </a:r>
            <a:r>
              <a:rPr sz="2000" spc="-5" dirty="0">
                <a:latin typeface="Calibri"/>
                <a:cs typeface="Calibri"/>
              </a:rPr>
              <a:t>necesaria </a:t>
            </a:r>
            <a:r>
              <a:rPr sz="2000" spc="-15" dirty="0">
                <a:latin typeface="Calibri"/>
                <a:cs typeface="Calibri"/>
              </a:rPr>
              <a:t>para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competitividad.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6524" y="1946987"/>
            <a:ext cx="8176602" cy="45094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8616950" cy="6173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Planeamiento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Estratégico de Sistemas de Información</a:t>
            </a:r>
            <a:r>
              <a:rPr sz="2000" b="1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Estrategia de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20" dirty="0">
                <a:latin typeface="Calibri"/>
                <a:cs typeface="Calibri"/>
              </a:rPr>
              <a:t>Estrategia </a:t>
            </a:r>
            <a:r>
              <a:rPr sz="2800" b="1" dirty="0">
                <a:latin typeface="Calibri"/>
                <a:cs typeface="Calibri"/>
              </a:rPr>
              <a:t>de </a:t>
            </a:r>
            <a:r>
              <a:rPr sz="2800" b="1" spc="-5" dirty="0">
                <a:latin typeface="Calibri"/>
                <a:cs typeface="Calibri"/>
              </a:rPr>
              <a:t>TI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(Cont.)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000" spc="-10" dirty="0">
                <a:latin typeface="Calibri"/>
                <a:cs typeface="Calibri"/>
              </a:rPr>
              <a:t>Resulta </a:t>
            </a:r>
            <a:r>
              <a:rPr sz="2000" spc="-5" dirty="0">
                <a:latin typeface="Calibri"/>
                <a:cs typeface="Calibri"/>
              </a:rPr>
              <a:t>necesario </a:t>
            </a:r>
            <a:r>
              <a:rPr sz="2000" spc="-10" dirty="0">
                <a:latin typeface="Calibri"/>
                <a:cs typeface="Calibri"/>
              </a:rPr>
              <a:t>desarrollar </a:t>
            </a:r>
            <a:r>
              <a:rPr sz="2000" spc="-5" dirty="0">
                <a:latin typeface="Calibri"/>
                <a:cs typeface="Calibri"/>
              </a:rPr>
              <a:t>alineamiento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entre: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b="1" i="1" spc="-5" dirty="0">
                <a:latin typeface="Calibri"/>
                <a:cs typeface="Calibri"/>
              </a:rPr>
              <a:t>La </a:t>
            </a:r>
            <a:r>
              <a:rPr sz="2400" b="1" i="1" spc="-10" dirty="0">
                <a:latin typeface="Calibri"/>
                <a:cs typeface="Calibri"/>
              </a:rPr>
              <a:t>estrategia </a:t>
            </a:r>
            <a:r>
              <a:rPr sz="2400" b="1" i="1" spc="-5" dirty="0">
                <a:latin typeface="Calibri"/>
                <a:cs typeface="Calibri"/>
              </a:rPr>
              <a:t>de negocios </a:t>
            </a:r>
            <a:r>
              <a:rPr sz="2400" b="1" i="1" dirty="0">
                <a:latin typeface="Calibri"/>
                <a:cs typeface="Calibri"/>
              </a:rPr>
              <a:t>y </a:t>
            </a:r>
            <a:r>
              <a:rPr sz="2400" b="1" i="1" spc="-5" dirty="0">
                <a:latin typeface="Calibri"/>
                <a:cs typeface="Calibri"/>
              </a:rPr>
              <a:t>la de</a:t>
            </a:r>
            <a:r>
              <a:rPr sz="2400" b="1" i="1" spc="-105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TI</a:t>
            </a:r>
            <a:endParaRPr sz="2400">
              <a:latin typeface="Calibri"/>
              <a:cs typeface="Calibri"/>
            </a:endParaRPr>
          </a:p>
          <a:p>
            <a:pPr marL="1111250" lvl="1" indent="-184785">
              <a:lnSpc>
                <a:spcPct val="100000"/>
              </a:lnSpc>
              <a:spcBef>
                <a:spcPts val="25"/>
              </a:spcBef>
              <a:buChar char="–"/>
              <a:tabLst>
                <a:tab pos="1111885" algn="l"/>
              </a:tabLst>
            </a:pPr>
            <a:r>
              <a:rPr sz="2000" i="1" spc="-5" dirty="0">
                <a:latin typeface="Calibri"/>
                <a:cs typeface="Calibri"/>
              </a:rPr>
              <a:t>para aprovechar </a:t>
            </a:r>
            <a:r>
              <a:rPr sz="2000" i="1" spc="-10" dirty="0">
                <a:latin typeface="Calibri"/>
                <a:cs typeface="Calibri"/>
              </a:rPr>
              <a:t>todo </a:t>
            </a:r>
            <a:r>
              <a:rPr sz="2000" i="1" spc="-5" dirty="0">
                <a:latin typeface="Calibri"/>
                <a:cs typeface="Calibri"/>
              </a:rPr>
              <a:t>el valor de las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TI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Calibri"/>
              <a:buChar char="–"/>
            </a:pPr>
            <a:endParaRPr sz="20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b="1" i="1" spc="-5" dirty="0">
                <a:latin typeface="Calibri"/>
                <a:cs typeface="Calibri"/>
              </a:rPr>
              <a:t>Las estructuras </a:t>
            </a:r>
            <a:r>
              <a:rPr sz="2400" b="1" i="1" dirty="0">
                <a:latin typeface="Calibri"/>
                <a:cs typeface="Calibri"/>
              </a:rPr>
              <a:t>y </a:t>
            </a:r>
            <a:r>
              <a:rPr sz="2400" b="1" i="1" spc="-5" dirty="0">
                <a:latin typeface="Calibri"/>
                <a:cs typeface="Calibri"/>
              </a:rPr>
              <a:t>procesos de negocio/de</a:t>
            </a:r>
            <a:r>
              <a:rPr sz="2400" b="1" i="1" spc="-110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TI</a:t>
            </a:r>
            <a:endParaRPr sz="2400">
              <a:latin typeface="Calibri"/>
              <a:cs typeface="Calibri"/>
            </a:endParaRPr>
          </a:p>
          <a:p>
            <a:pPr marL="1111250" lvl="1" indent="-184785">
              <a:lnSpc>
                <a:spcPct val="100000"/>
              </a:lnSpc>
              <a:spcBef>
                <a:spcPts val="30"/>
              </a:spcBef>
              <a:buChar char="–"/>
              <a:tabLst>
                <a:tab pos="1111885" algn="l"/>
              </a:tabLst>
            </a:pPr>
            <a:r>
              <a:rPr sz="2000" i="1" spc="-5" dirty="0">
                <a:latin typeface="Calibri"/>
                <a:cs typeface="Calibri"/>
              </a:rPr>
              <a:t>para poder </a:t>
            </a:r>
            <a:r>
              <a:rPr sz="2000" i="1" spc="-25" dirty="0">
                <a:latin typeface="Calibri"/>
                <a:cs typeface="Calibri"/>
              </a:rPr>
              <a:t>diseñar, </a:t>
            </a:r>
            <a:r>
              <a:rPr sz="2000" i="1" spc="-10" dirty="0">
                <a:latin typeface="Calibri"/>
                <a:cs typeface="Calibri"/>
              </a:rPr>
              <a:t>implementar </a:t>
            </a:r>
            <a:r>
              <a:rPr sz="2000" i="1" spc="-5" dirty="0">
                <a:latin typeface="Calibri"/>
                <a:cs typeface="Calibri"/>
              </a:rPr>
              <a:t>y </a:t>
            </a:r>
            <a:r>
              <a:rPr sz="2000" i="1" spc="-10" dirty="0">
                <a:latin typeface="Calibri"/>
                <a:cs typeface="Calibri"/>
              </a:rPr>
              <a:t>operar </a:t>
            </a:r>
            <a:r>
              <a:rPr sz="2000" i="1" spc="-5" dirty="0">
                <a:latin typeface="Calibri"/>
                <a:cs typeface="Calibri"/>
              </a:rPr>
              <a:t>la </a:t>
            </a:r>
            <a:r>
              <a:rPr sz="2000" i="1" spc="-10" dirty="0">
                <a:latin typeface="Calibri"/>
                <a:cs typeface="Calibri"/>
              </a:rPr>
              <a:t>estrategia </a:t>
            </a:r>
            <a:r>
              <a:rPr sz="2000" i="1" spc="-5" dirty="0">
                <a:latin typeface="Calibri"/>
                <a:cs typeface="Calibri"/>
              </a:rPr>
              <a:t>de </a:t>
            </a:r>
            <a:r>
              <a:rPr sz="2000" i="1" spc="-10" dirty="0">
                <a:latin typeface="Calibri"/>
                <a:cs typeface="Calibri"/>
              </a:rPr>
              <a:t>negocio/de</a:t>
            </a:r>
            <a:r>
              <a:rPr sz="2000" i="1" spc="11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TI</a:t>
            </a:r>
            <a:endParaRPr sz="2000">
              <a:latin typeface="Calibri"/>
              <a:cs typeface="Calibri"/>
            </a:endParaRPr>
          </a:p>
          <a:p>
            <a:pPr marL="1111250" lvl="1" indent="-184785">
              <a:lnSpc>
                <a:spcPct val="100000"/>
              </a:lnSpc>
              <a:buChar char="–"/>
              <a:tabLst>
                <a:tab pos="1111885" algn="l"/>
              </a:tabLst>
            </a:pPr>
            <a:r>
              <a:rPr sz="2000" i="1" spc="-5" dirty="0">
                <a:latin typeface="Calibri"/>
                <a:cs typeface="Calibri"/>
              </a:rPr>
              <a:t>para </a:t>
            </a:r>
            <a:r>
              <a:rPr sz="2000" i="1" spc="-10" dirty="0">
                <a:latin typeface="Calibri"/>
                <a:cs typeface="Calibri"/>
              </a:rPr>
              <a:t>coordinar actividades </a:t>
            </a:r>
            <a:r>
              <a:rPr sz="2000" i="1" spc="-5" dirty="0">
                <a:latin typeface="Calibri"/>
                <a:cs typeface="Calibri"/>
              </a:rPr>
              <a:t>entre las</a:t>
            </a:r>
            <a:r>
              <a:rPr sz="2000" i="1" spc="1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dos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Calibri"/>
              <a:buChar char="–"/>
            </a:pPr>
            <a:endParaRPr sz="20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b="1" i="1" spc="-5" dirty="0">
                <a:latin typeface="Calibri"/>
                <a:cs typeface="Calibri"/>
              </a:rPr>
              <a:t>La </a:t>
            </a:r>
            <a:r>
              <a:rPr sz="2400" b="1" i="1" spc="-10" dirty="0">
                <a:latin typeface="Calibri"/>
                <a:cs typeface="Calibri"/>
              </a:rPr>
              <a:t>estrategia </a:t>
            </a:r>
            <a:r>
              <a:rPr sz="2400" b="1" i="1" spc="-5" dirty="0">
                <a:latin typeface="Calibri"/>
                <a:cs typeface="Calibri"/>
              </a:rPr>
              <a:t>de negocios </a:t>
            </a:r>
            <a:r>
              <a:rPr sz="2400" b="1" i="1" dirty="0">
                <a:latin typeface="Calibri"/>
                <a:cs typeface="Calibri"/>
              </a:rPr>
              <a:t>y las </a:t>
            </a:r>
            <a:r>
              <a:rPr sz="2400" b="1" i="1" spc="-5" dirty="0">
                <a:latin typeface="Calibri"/>
                <a:cs typeface="Calibri"/>
              </a:rPr>
              <a:t>estructuras </a:t>
            </a:r>
            <a:r>
              <a:rPr sz="2400" b="1" i="1" dirty="0">
                <a:latin typeface="Calibri"/>
                <a:cs typeface="Calibri"/>
              </a:rPr>
              <a:t>y </a:t>
            </a:r>
            <a:r>
              <a:rPr sz="2400" b="1" i="1" spc="-5" dirty="0">
                <a:latin typeface="Calibri"/>
                <a:cs typeface="Calibri"/>
              </a:rPr>
              <a:t>procesos de</a:t>
            </a:r>
            <a:r>
              <a:rPr sz="2400" b="1" i="1" spc="-80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TI</a:t>
            </a:r>
            <a:endParaRPr sz="2400">
              <a:latin typeface="Calibri"/>
              <a:cs typeface="Calibri"/>
            </a:endParaRPr>
          </a:p>
          <a:p>
            <a:pPr marL="1111250" lvl="1" indent="-184785">
              <a:lnSpc>
                <a:spcPct val="100000"/>
              </a:lnSpc>
              <a:spcBef>
                <a:spcPts val="30"/>
              </a:spcBef>
              <a:buChar char="–"/>
              <a:tabLst>
                <a:tab pos="1111885" algn="l"/>
              </a:tabLst>
            </a:pPr>
            <a:r>
              <a:rPr sz="2000" i="1" spc="-20" dirty="0">
                <a:latin typeface="Calibri"/>
                <a:cs typeface="Calibri"/>
              </a:rPr>
              <a:t>Por </a:t>
            </a:r>
            <a:r>
              <a:rPr sz="2000" i="1" spc="-5" dirty="0">
                <a:latin typeface="Calibri"/>
                <a:cs typeface="Calibri"/>
              </a:rPr>
              <a:t>el </a:t>
            </a:r>
            <a:r>
              <a:rPr sz="2000" i="1" spc="-10" dirty="0">
                <a:latin typeface="Calibri"/>
                <a:cs typeface="Calibri"/>
              </a:rPr>
              <a:t>impacto </a:t>
            </a:r>
            <a:r>
              <a:rPr sz="2000" i="1" spc="-5" dirty="0">
                <a:latin typeface="Calibri"/>
                <a:cs typeface="Calibri"/>
              </a:rPr>
              <a:t>que las TI tienen sobre </a:t>
            </a:r>
            <a:r>
              <a:rPr sz="2000" i="1" spc="-10" dirty="0">
                <a:latin typeface="Calibri"/>
                <a:cs typeface="Calibri"/>
              </a:rPr>
              <a:t>productos </a:t>
            </a:r>
            <a:r>
              <a:rPr sz="2000" i="1" spc="-5" dirty="0">
                <a:latin typeface="Calibri"/>
                <a:cs typeface="Calibri"/>
              </a:rPr>
              <a:t>y</a:t>
            </a:r>
            <a:r>
              <a:rPr sz="2000" i="1" spc="5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servicios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Calibri"/>
              <a:buChar char="–"/>
            </a:pPr>
            <a:endParaRPr sz="205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  <a:tab pos="899794" algn="l"/>
                <a:tab pos="2442845" algn="l"/>
                <a:tab pos="2886710" algn="l"/>
                <a:tab pos="4470400" algn="l"/>
                <a:tab pos="4747895" algn="l"/>
                <a:tab pos="5236210" algn="l"/>
                <a:tab pos="6791325" algn="l"/>
                <a:tab pos="7057390" algn="l"/>
                <a:tab pos="8294370" algn="l"/>
              </a:tabLst>
            </a:pPr>
            <a:r>
              <a:rPr sz="2400" b="1" i="1" spc="-5" dirty="0">
                <a:latin typeface="Calibri"/>
                <a:cs typeface="Calibri"/>
              </a:rPr>
              <a:t>La</a:t>
            </a:r>
            <a:r>
              <a:rPr sz="2400" b="1" i="1" dirty="0">
                <a:latin typeface="Calibri"/>
                <a:cs typeface="Calibri"/>
              </a:rPr>
              <a:t>s	</a:t>
            </a:r>
            <a:r>
              <a:rPr sz="2400" b="1" i="1" spc="-15" dirty="0">
                <a:latin typeface="Calibri"/>
                <a:cs typeface="Calibri"/>
              </a:rPr>
              <a:t>e</a:t>
            </a:r>
            <a:r>
              <a:rPr sz="2400" b="1" i="1" spc="-30" dirty="0">
                <a:latin typeface="Calibri"/>
                <a:cs typeface="Calibri"/>
              </a:rPr>
              <a:t>s</a:t>
            </a:r>
            <a:r>
              <a:rPr sz="2400" b="1" i="1" dirty="0">
                <a:latin typeface="Calibri"/>
                <a:cs typeface="Calibri"/>
              </a:rPr>
              <a:t>t</a:t>
            </a:r>
            <a:r>
              <a:rPr sz="2400" b="1" i="1" spc="5" dirty="0">
                <a:latin typeface="Calibri"/>
                <a:cs typeface="Calibri"/>
              </a:rPr>
              <a:t>r</a:t>
            </a:r>
            <a:r>
              <a:rPr sz="2400" b="1" i="1" dirty="0">
                <a:latin typeface="Calibri"/>
                <a:cs typeface="Calibri"/>
              </a:rPr>
              <a:t>a</a:t>
            </a:r>
            <a:r>
              <a:rPr sz="2400" b="1" i="1" spc="-25" dirty="0">
                <a:latin typeface="Calibri"/>
                <a:cs typeface="Calibri"/>
              </a:rPr>
              <a:t>t</a:t>
            </a:r>
            <a:r>
              <a:rPr sz="2400" b="1" i="1" spc="-5" dirty="0">
                <a:latin typeface="Calibri"/>
                <a:cs typeface="Calibri"/>
              </a:rPr>
              <a:t>egia</a:t>
            </a:r>
            <a:r>
              <a:rPr sz="2400" b="1" i="1" dirty="0">
                <a:latin typeface="Calibri"/>
                <a:cs typeface="Calibri"/>
              </a:rPr>
              <a:t>s	</a:t>
            </a:r>
            <a:r>
              <a:rPr sz="2400" b="1" i="1" spc="-5" dirty="0">
                <a:latin typeface="Calibri"/>
                <a:cs typeface="Calibri"/>
              </a:rPr>
              <a:t>d</a:t>
            </a:r>
            <a:r>
              <a:rPr sz="2400" b="1" i="1" dirty="0">
                <a:latin typeface="Calibri"/>
                <a:cs typeface="Calibri"/>
              </a:rPr>
              <a:t>e	</a:t>
            </a:r>
            <a:r>
              <a:rPr sz="2400" b="1" i="1" spc="-25" dirty="0">
                <a:latin typeface="Calibri"/>
                <a:cs typeface="Calibri"/>
              </a:rPr>
              <a:t>t</a:t>
            </a:r>
            <a:r>
              <a:rPr sz="2400" b="1" i="1" spc="-5" dirty="0">
                <a:latin typeface="Calibri"/>
                <a:cs typeface="Calibri"/>
              </a:rPr>
              <a:t>ecno</a:t>
            </a:r>
            <a:r>
              <a:rPr sz="2400" b="1" i="1" spc="-10" dirty="0">
                <a:latin typeface="Calibri"/>
                <a:cs typeface="Calibri"/>
              </a:rPr>
              <a:t>l</a:t>
            </a:r>
            <a:r>
              <a:rPr sz="2400" b="1" i="1" spc="-5" dirty="0">
                <a:latin typeface="Calibri"/>
                <a:cs typeface="Calibri"/>
              </a:rPr>
              <a:t>og</a:t>
            </a:r>
            <a:r>
              <a:rPr sz="2400" b="1" i="1" spc="-15" dirty="0">
                <a:latin typeface="Calibri"/>
                <a:cs typeface="Calibri"/>
              </a:rPr>
              <a:t>í</a:t>
            </a:r>
            <a:r>
              <a:rPr sz="2400" b="1" i="1" dirty="0">
                <a:latin typeface="Calibri"/>
                <a:cs typeface="Calibri"/>
              </a:rPr>
              <a:t>as	y	</a:t>
            </a:r>
            <a:r>
              <a:rPr sz="2400" b="1" i="1" spc="-10" dirty="0">
                <a:latin typeface="Calibri"/>
                <a:cs typeface="Calibri"/>
              </a:rPr>
              <a:t>l</a:t>
            </a:r>
            <a:r>
              <a:rPr sz="2400" b="1" i="1" dirty="0">
                <a:latin typeface="Calibri"/>
                <a:cs typeface="Calibri"/>
              </a:rPr>
              <a:t>as	</a:t>
            </a:r>
            <a:r>
              <a:rPr sz="2400" b="1" i="1" spc="-5" dirty="0">
                <a:latin typeface="Calibri"/>
                <a:cs typeface="Calibri"/>
              </a:rPr>
              <a:t>e</a:t>
            </a:r>
            <a:r>
              <a:rPr sz="2400" b="1" i="1" spc="-30" dirty="0">
                <a:latin typeface="Calibri"/>
                <a:cs typeface="Calibri"/>
              </a:rPr>
              <a:t>s</a:t>
            </a:r>
            <a:r>
              <a:rPr sz="2400" b="1" i="1" dirty="0">
                <a:latin typeface="Calibri"/>
                <a:cs typeface="Calibri"/>
              </a:rPr>
              <a:t>t</a:t>
            </a:r>
            <a:r>
              <a:rPr sz="2400" b="1" i="1" spc="5" dirty="0">
                <a:latin typeface="Calibri"/>
                <a:cs typeface="Calibri"/>
              </a:rPr>
              <a:t>r</a:t>
            </a:r>
            <a:r>
              <a:rPr sz="2400" b="1" i="1" spc="-5" dirty="0">
                <a:latin typeface="Calibri"/>
                <a:cs typeface="Calibri"/>
              </a:rPr>
              <a:t>uctura</a:t>
            </a:r>
            <a:r>
              <a:rPr sz="2400" b="1" i="1" dirty="0">
                <a:latin typeface="Calibri"/>
                <a:cs typeface="Calibri"/>
              </a:rPr>
              <a:t>s	/	pro</a:t>
            </a:r>
            <a:r>
              <a:rPr sz="2400" b="1" i="1" spc="-20" dirty="0">
                <a:latin typeface="Calibri"/>
                <a:cs typeface="Calibri"/>
              </a:rPr>
              <a:t>c</a:t>
            </a:r>
            <a:r>
              <a:rPr sz="2400" b="1" i="1" spc="-5" dirty="0">
                <a:latin typeface="Calibri"/>
                <a:cs typeface="Calibri"/>
              </a:rPr>
              <a:t>eso</a:t>
            </a:r>
            <a:r>
              <a:rPr sz="2400" b="1" i="1" dirty="0">
                <a:latin typeface="Calibri"/>
                <a:cs typeface="Calibri"/>
              </a:rPr>
              <a:t>s	</a:t>
            </a:r>
            <a:r>
              <a:rPr sz="2400" b="1" i="1" spc="-10" dirty="0">
                <a:latin typeface="Calibri"/>
                <a:cs typeface="Calibri"/>
              </a:rPr>
              <a:t>de  </a:t>
            </a:r>
            <a:r>
              <a:rPr sz="2400" b="1" i="1" spc="-5" dirty="0">
                <a:latin typeface="Calibri"/>
                <a:cs typeface="Calibri"/>
              </a:rPr>
              <a:t>negocio</a:t>
            </a:r>
            <a:endParaRPr sz="2400">
              <a:latin typeface="Calibri"/>
              <a:cs typeface="Calibri"/>
            </a:endParaRPr>
          </a:p>
          <a:p>
            <a:pPr marL="1111250" lvl="1" indent="-184785">
              <a:lnSpc>
                <a:spcPct val="100000"/>
              </a:lnSpc>
              <a:spcBef>
                <a:spcPts val="25"/>
              </a:spcBef>
              <a:buChar char="–"/>
              <a:tabLst>
                <a:tab pos="1111885" algn="l"/>
              </a:tabLst>
            </a:pPr>
            <a:r>
              <a:rPr sz="2000" i="1" spc="-20" dirty="0">
                <a:latin typeface="Calibri"/>
                <a:cs typeface="Calibri"/>
              </a:rPr>
              <a:t>Por </a:t>
            </a:r>
            <a:r>
              <a:rPr sz="2000" i="1" spc="-5" dirty="0">
                <a:latin typeface="Calibri"/>
                <a:cs typeface="Calibri"/>
              </a:rPr>
              <a:t>el </a:t>
            </a:r>
            <a:r>
              <a:rPr sz="2000" i="1" spc="-10" dirty="0">
                <a:latin typeface="Calibri"/>
                <a:cs typeface="Calibri"/>
              </a:rPr>
              <a:t>impacto </a:t>
            </a:r>
            <a:r>
              <a:rPr sz="2000" i="1" spc="-5" dirty="0">
                <a:latin typeface="Calibri"/>
                <a:cs typeface="Calibri"/>
              </a:rPr>
              <a:t>que las TI tienen sobre los</a:t>
            </a:r>
            <a:r>
              <a:rPr sz="2000" i="1" spc="2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procesos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7792084" cy="5380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Planeamiento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Estratégico de Sistemas de Información</a:t>
            </a:r>
            <a:r>
              <a:rPr sz="2000" b="1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Estrategia de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20" dirty="0">
                <a:latin typeface="Calibri"/>
                <a:cs typeface="Calibri"/>
              </a:rPr>
              <a:t>Estrategia </a:t>
            </a:r>
            <a:r>
              <a:rPr sz="2800" b="1" dirty="0">
                <a:latin typeface="Calibri"/>
                <a:cs typeface="Calibri"/>
              </a:rPr>
              <a:t>de </a:t>
            </a:r>
            <a:r>
              <a:rPr sz="2800" b="1" spc="-5" dirty="0">
                <a:latin typeface="Calibri"/>
                <a:cs typeface="Calibri"/>
              </a:rPr>
              <a:t>TI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(Cont.)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000" spc="-10" dirty="0">
                <a:latin typeface="Calibri"/>
                <a:cs typeface="Calibri"/>
              </a:rPr>
              <a:t>¿Cómo integramos </a:t>
            </a:r>
            <a:r>
              <a:rPr sz="2000" spc="-5" dirty="0">
                <a:latin typeface="Calibri"/>
                <a:cs typeface="Calibri"/>
              </a:rPr>
              <a:t>los </a:t>
            </a:r>
            <a:r>
              <a:rPr sz="2000" spc="-10" dirty="0">
                <a:latin typeface="Calibri"/>
                <a:cs typeface="Calibri"/>
              </a:rPr>
              <a:t>procesos </a:t>
            </a:r>
            <a:r>
              <a:rPr sz="2000" spc="-5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negocio </a:t>
            </a:r>
            <a:r>
              <a:rPr sz="2000" spc="-5" dirty="0">
                <a:latin typeface="Calibri"/>
                <a:cs typeface="Calibri"/>
              </a:rPr>
              <a:t>y las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TI?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i="1" spc="-25" dirty="0">
                <a:latin typeface="Calibri"/>
                <a:cs typeface="Calibri"/>
              </a:rPr>
              <a:t>Tres </a:t>
            </a:r>
            <a:r>
              <a:rPr sz="2400" b="1" i="1" dirty="0">
                <a:latin typeface="Calibri"/>
                <a:cs typeface="Calibri"/>
              </a:rPr>
              <a:t>grados </a:t>
            </a:r>
            <a:r>
              <a:rPr sz="2400" b="1" i="1" spc="-5" dirty="0">
                <a:latin typeface="Calibri"/>
                <a:cs typeface="Calibri"/>
              </a:rPr>
              <a:t>de </a:t>
            </a:r>
            <a:r>
              <a:rPr sz="2400" b="1" i="1" spc="-10" dirty="0">
                <a:latin typeface="Calibri"/>
                <a:cs typeface="Calibri"/>
              </a:rPr>
              <a:t>integración </a:t>
            </a:r>
            <a:r>
              <a:rPr sz="2400" b="1" i="1" spc="-5" dirty="0">
                <a:latin typeface="Calibri"/>
                <a:cs typeface="Calibri"/>
              </a:rPr>
              <a:t>de </a:t>
            </a:r>
            <a:r>
              <a:rPr sz="2400" b="1" i="1" dirty="0">
                <a:latin typeface="Calibri"/>
                <a:cs typeface="Calibri"/>
              </a:rPr>
              <a:t>los </a:t>
            </a:r>
            <a:r>
              <a:rPr sz="2400" b="1" i="1" spc="-5" dirty="0">
                <a:latin typeface="Calibri"/>
                <a:cs typeface="Calibri"/>
              </a:rPr>
              <a:t>procesos de negocio </a:t>
            </a:r>
            <a:r>
              <a:rPr sz="2400" b="1" i="1" dirty="0">
                <a:latin typeface="Calibri"/>
                <a:cs typeface="Calibri"/>
              </a:rPr>
              <a:t>y las</a:t>
            </a:r>
            <a:r>
              <a:rPr sz="2400" b="1" i="1" spc="-125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TI: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69900" algn="l"/>
              </a:tabLst>
            </a:pPr>
            <a:r>
              <a:rPr sz="2400" b="1" i="1" spc="-5" dirty="0">
                <a:latin typeface="Calibri"/>
                <a:cs typeface="Calibri"/>
              </a:rPr>
              <a:t>1.	</a:t>
            </a:r>
            <a:r>
              <a:rPr sz="2400" b="1" i="1" spc="-10" dirty="0">
                <a:latin typeface="Calibri"/>
                <a:cs typeface="Calibri"/>
              </a:rPr>
              <a:t>Conexión</a:t>
            </a:r>
            <a:endParaRPr sz="24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i="1" spc="-5" dirty="0">
                <a:latin typeface="Calibri"/>
                <a:cs typeface="Calibri"/>
              </a:rPr>
              <a:t>Las TI </a:t>
            </a:r>
            <a:r>
              <a:rPr sz="2000" i="1" spc="-15" dirty="0">
                <a:latin typeface="Calibri"/>
                <a:cs typeface="Calibri"/>
              </a:rPr>
              <a:t>asisten </a:t>
            </a:r>
            <a:r>
              <a:rPr sz="2000" i="1" spc="-5" dirty="0">
                <a:latin typeface="Calibri"/>
                <a:cs typeface="Calibri"/>
              </a:rPr>
              <a:t>en el trabajo; </a:t>
            </a:r>
            <a:r>
              <a:rPr sz="2000" i="1" spc="-10" dirty="0">
                <a:latin typeface="Calibri"/>
                <a:cs typeface="Calibri"/>
              </a:rPr>
              <a:t>brindan soporte </a:t>
            </a:r>
            <a:r>
              <a:rPr sz="2000" i="1" spc="-5" dirty="0">
                <a:latin typeface="Calibri"/>
                <a:cs typeface="Calibri"/>
              </a:rPr>
              <a:t>a las </a:t>
            </a:r>
            <a:r>
              <a:rPr sz="2000" i="1" spc="-10" dirty="0">
                <a:latin typeface="Calibri"/>
                <a:cs typeface="Calibri"/>
              </a:rPr>
              <a:t>actividades</a:t>
            </a:r>
            <a:r>
              <a:rPr sz="2000" i="1" spc="6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diarias.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69900" algn="l"/>
              </a:tabLst>
            </a:pPr>
            <a:r>
              <a:rPr sz="2400" b="1" i="1" spc="-5" dirty="0">
                <a:latin typeface="Calibri"/>
                <a:cs typeface="Calibri"/>
              </a:rPr>
              <a:t>2.	</a:t>
            </a:r>
            <a:r>
              <a:rPr sz="2400" b="1" i="1" dirty="0">
                <a:latin typeface="Calibri"/>
                <a:cs typeface="Calibri"/>
              </a:rPr>
              <a:t>Inmersión</a:t>
            </a:r>
            <a:endParaRPr sz="24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i="1" spc="-5" dirty="0">
                <a:latin typeface="Calibri"/>
                <a:cs typeface="Calibri"/>
              </a:rPr>
              <a:t>Los SI son </a:t>
            </a:r>
            <a:r>
              <a:rPr sz="2000" i="1" spc="-10" dirty="0">
                <a:latin typeface="Calibri"/>
                <a:cs typeface="Calibri"/>
              </a:rPr>
              <a:t>parte </a:t>
            </a:r>
            <a:r>
              <a:rPr sz="2000" i="1" spc="-5" dirty="0">
                <a:latin typeface="Calibri"/>
                <a:cs typeface="Calibri"/>
              </a:rPr>
              <a:t>del negocio; no se </a:t>
            </a:r>
            <a:r>
              <a:rPr sz="2000" i="1" spc="-10" dirty="0">
                <a:latin typeface="Calibri"/>
                <a:cs typeface="Calibri"/>
              </a:rPr>
              <a:t>pueden separar </a:t>
            </a:r>
            <a:r>
              <a:rPr sz="2000" i="1" spc="-5" dirty="0">
                <a:latin typeface="Calibri"/>
                <a:cs typeface="Calibri"/>
              </a:rPr>
              <a:t>de los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procesos.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69900" algn="l"/>
              </a:tabLst>
            </a:pPr>
            <a:r>
              <a:rPr sz="2400" b="1" i="1" spc="-5" dirty="0">
                <a:latin typeface="Calibri"/>
                <a:cs typeface="Calibri"/>
              </a:rPr>
              <a:t>3.	</a:t>
            </a:r>
            <a:r>
              <a:rPr sz="2400" b="1" i="1" spc="-10" dirty="0">
                <a:latin typeface="Calibri"/>
                <a:cs typeface="Calibri"/>
              </a:rPr>
              <a:t>Fusión</a:t>
            </a:r>
            <a:endParaRPr sz="24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i="1" spc="-5" dirty="0">
                <a:latin typeface="Calibri"/>
                <a:cs typeface="Calibri"/>
              </a:rPr>
              <a:t>Los SI son el </a:t>
            </a:r>
            <a:r>
              <a:rPr sz="2000" i="1" spc="-10" dirty="0">
                <a:latin typeface="Calibri"/>
                <a:cs typeface="Calibri"/>
              </a:rPr>
              <a:t>negocio, </a:t>
            </a:r>
            <a:r>
              <a:rPr sz="2000" i="1" spc="-5" dirty="0">
                <a:latin typeface="Calibri"/>
                <a:cs typeface="Calibri"/>
              </a:rPr>
              <a:t>no se </a:t>
            </a:r>
            <a:r>
              <a:rPr sz="2000" i="1" spc="-10" dirty="0">
                <a:latin typeface="Calibri"/>
                <a:cs typeface="Calibri"/>
              </a:rPr>
              <a:t>pueden </a:t>
            </a:r>
            <a:r>
              <a:rPr sz="2000" i="1" spc="-5" dirty="0">
                <a:latin typeface="Calibri"/>
                <a:cs typeface="Calibri"/>
              </a:rPr>
              <a:t>gestionar los procesos sin las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TI.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 – </a:t>
            </a:r>
            <a:r>
              <a:rPr spc="-10" dirty="0"/>
              <a:t>Planeamiento </a:t>
            </a:r>
            <a:r>
              <a:rPr spc="-5" dirty="0"/>
              <a:t>Estratégico de Sistemas de Información</a:t>
            </a:r>
            <a:r>
              <a:rPr spc="165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3374390" cy="1295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Estrategia de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20" dirty="0">
                <a:latin typeface="Calibri"/>
                <a:cs typeface="Calibri"/>
              </a:rPr>
              <a:t>Estrategia </a:t>
            </a:r>
            <a:r>
              <a:rPr sz="2800" b="1" dirty="0">
                <a:latin typeface="Calibri"/>
                <a:cs typeface="Calibri"/>
              </a:rPr>
              <a:t>de </a:t>
            </a:r>
            <a:r>
              <a:rPr sz="2800" b="1" spc="-5" dirty="0">
                <a:latin typeface="Calibri"/>
                <a:cs typeface="Calibri"/>
              </a:rPr>
              <a:t>TI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(Cont.)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0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Proceso </a:t>
            </a:r>
            <a:r>
              <a:rPr sz="2000" b="1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estratégico 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</a:t>
            </a:r>
            <a:r>
              <a:rPr sz="2000" b="1" u="heavy" spc="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SI/TI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4408" y="1905000"/>
            <a:ext cx="5750631" cy="43561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Etapas</a:t>
            </a:r>
            <a:r>
              <a:rPr b="0" i="0" u="none" spc="-15" dirty="0">
                <a:latin typeface="Calibri"/>
                <a:cs typeface="Calibri"/>
              </a:rPr>
              <a:t>: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241300" marR="31369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b="0" i="0" u="none" spc="-5" dirty="0">
                <a:latin typeface="Calibri"/>
                <a:cs typeface="Calibri"/>
              </a:rPr>
              <a:t>Formular una </a:t>
            </a:r>
            <a:r>
              <a:rPr i="0" u="none" spc="-5" dirty="0">
                <a:latin typeface="Calibri"/>
                <a:cs typeface="Calibri"/>
              </a:rPr>
              <a:t>visión  </a:t>
            </a:r>
            <a:r>
              <a:rPr i="0" u="none" spc="-15" dirty="0">
                <a:latin typeface="Calibri"/>
                <a:cs typeface="Calibri"/>
              </a:rPr>
              <a:t>estratégica </a:t>
            </a:r>
            <a:r>
              <a:rPr b="0" i="0" u="none" spc="-5" dirty="0">
                <a:latin typeface="Calibri"/>
                <a:cs typeface="Calibri"/>
              </a:rPr>
              <a:t>del </a:t>
            </a:r>
            <a:r>
              <a:rPr b="0" i="0" u="none" spc="-10" dirty="0">
                <a:latin typeface="Calibri"/>
                <a:cs typeface="Calibri"/>
              </a:rPr>
              <a:t>estado  </a:t>
            </a:r>
            <a:r>
              <a:rPr b="0" i="0" u="none" dirty="0">
                <a:latin typeface="Calibri"/>
                <a:cs typeface="Calibri"/>
              </a:rPr>
              <a:t>adonde </a:t>
            </a:r>
            <a:r>
              <a:rPr b="0" i="0" u="none" spc="-5" dirty="0">
                <a:latin typeface="Calibri"/>
                <a:cs typeface="Calibri"/>
              </a:rPr>
              <a:t>queremos</a:t>
            </a:r>
            <a:r>
              <a:rPr b="0" i="0" u="none" spc="-45" dirty="0">
                <a:latin typeface="Calibri"/>
                <a:cs typeface="Calibri"/>
              </a:rPr>
              <a:t> </a:t>
            </a:r>
            <a:r>
              <a:rPr b="0" i="0" u="none" spc="-10" dirty="0">
                <a:latin typeface="Calibri"/>
                <a:cs typeface="Calibri"/>
              </a:rPr>
              <a:t>llegar</a:t>
            </a:r>
          </a:p>
          <a:p>
            <a:pPr marL="241300" marR="62865" indent="-228600" algn="just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b="0" i="0" u="none" spc="-10" dirty="0">
                <a:latin typeface="Calibri"/>
                <a:cs typeface="Calibri"/>
              </a:rPr>
              <a:t>Elaborar </a:t>
            </a:r>
            <a:r>
              <a:rPr b="0" i="0" u="none" spc="-5" dirty="0">
                <a:latin typeface="Calibri"/>
                <a:cs typeface="Calibri"/>
              </a:rPr>
              <a:t>un </a:t>
            </a:r>
            <a:r>
              <a:rPr i="0" u="none" dirty="0">
                <a:latin typeface="Calibri"/>
                <a:cs typeface="Calibri"/>
              </a:rPr>
              <a:t>plan </a:t>
            </a:r>
            <a:r>
              <a:rPr i="0" u="none" spc="-5" dirty="0">
                <a:latin typeface="Calibri"/>
                <a:cs typeface="Calibri"/>
              </a:rPr>
              <a:t>táctico</a:t>
            </a:r>
            <a:r>
              <a:rPr i="0" u="none" spc="-75" dirty="0">
                <a:latin typeface="Calibri"/>
                <a:cs typeface="Calibri"/>
              </a:rPr>
              <a:t> </a:t>
            </a:r>
            <a:r>
              <a:rPr b="0" i="0" u="none" spc="-5" dirty="0">
                <a:latin typeface="Calibri"/>
                <a:cs typeface="Calibri"/>
              </a:rPr>
              <a:t>de  actividades </a:t>
            </a:r>
            <a:r>
              <a:rPr b="0" i="0" u="none" spc="-10" dirty="0">
                <a:latin typeface="Calibri"/>
                <a:cs typeface="Calibri"/>
              </a:rPr>
              <a:t>para llegar </a:t>
            </a:r>
            <a:r>
              <a:rPr b="0" i="0" u="none" dirty="0">
                <a:latin typeface="Calibri"/>
                <a:cs typeface="Calibri"/>
              </a:rPr>
              <a:t>a la  visión</a:t>
            </a:r>
          </a:p>
          <a:p>
            <a:pPr marL="241300" marR="439420" indent="-228600" algn="just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41300" algn="l"/>
              </a:tabLst>
            </a:pPr>
            <a:r>
              <a:rPr i="0" u="none" spc="-5" dirty="0">
                <a:latin typeface="Calibri"/>
                <a:cs typeface="Calibri"/>
              </a:rPr>
              <a:t>Implementación </a:t>
            </a:r>
            <a:r>
              <a:rPr b="0" i="0" u="none" spc="-5" dirty="0">
                <a:latin typeface="Calibri"/>
                <a:cs typeface="Calibri"/>
              </a:rPr>
              <a:t>de</a:t>
            </a:r>
            <a:r>
              <a:rPr b="0" i="0" u="none" spc="-100" dirty="0">
                <a:latin typeface="Calibri"/>
                <a:cs typeface="Calibri"/>
              </a:rPr>
              <a:t> </a:t>
            </a:r>
            <a:r>
              <a:rPr b="0" i="0" u="none" dirty="0">
                <a:latin typeface="Calibri"/>
                <a:cs typeface="Calibri"/>
              </a:rPr>
              <a:t>las  </a:t>
            </a:r>
            <a:r>
              <a:rPr b="0" i="0" u="none" spc="-5" dirty="0">
                <a:latin typeface="Calibri"/>
                <a:cs typeface="Calibri"/>
              </a:rPr>
              <a:t>actividades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b="0" u="none" spc="-10" dirty="0">
                <a:latin typeface="Calibri"/>
                <a:cs typeface="Calibri"/>
              </a:rPr>
              <a:t>Durante </a:t>
            </a:r>
            <a:r>
              <a:rPr b="0" u="none" dirty="0">
                <a:latin typeface="Calibri"/>
                <a:cs typeface="Calibri"/>
              </a:rPr>
              <a:t>la </a:t>
            </a:r>
            <a:r>
              <a:rPr b="0" u="none" spc="-10" dirty="0">
                <a:latin typeface="Calibri"/>
                <a:cs typeface="Calibri"/>
              </a:rPr>
              <a:t>implementación, </a:t>
            </a:r>
            <a:r>
              <a:rPr b="0" u="none" dirty="0">
                <a:latin typeface="Calibri"/>
                <a:cs typeface="Calibri"/>
              </a:rPr>
              <a:t>la  </a:t>
            </a:r>
            <a:r>
              <a:rPr b="0" i="1" u="none" spc="-5" dirty="0">
                <a:latin typeface="Calibri"/>
                <a:cs typeface="Calibri"/>
              </a:rPr>
              <a:t>estrategia se </a:t>
            </a:r>
            <a:r>
              <a:rPr b="0" i="1" u="none" spc="-10" dirty="0">
                <a:latin typeface="Calibri"/>
                <a:cs typeface="Calibri"/>
              </a:rPr>
              <a:t>adapta </a:t>
            </a:r>
            <a:r>
              <a:rPr b="0" i="1" u="none" spc="-5" dirty="0">
                <a:latin typeface="Calibri"/>
                <a:cs typeface="Calibri"/>
              </a:rPr>
              <a:t>(visión,  plan </a:t>
            </a:r>
            <a:r>
              <a:rPr b="0" i="1" u="none" dirty="0">
                <a:latin typeface="Calibri"/>
                <a:cs typeface="Calibri"/>
              </a:rPr>
              <a:t>o</a:t>
            </a:r>
            <a:r>
              <a:rPr b="0" i="1" u="none" spc="-10" dirty="0">
                <a:latin typeface="Calibri"/>
                <a:cs typeface="Calibri"/>
              </a:rPr>
              <a:t> </a:t>
            </a:r>
            <a:r>
              <a:rPr b="0" i="1" u="none" spc="-5" dirty="0">
                <a:latin typeface="Calibri"/>
                <a:cs typeface="Calibri"/>
              </a:rPr>
              <a:t>implementación).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 – </a:t>
            </a:r>
            <a:r>
              <a:rPr spc="-10" dirty="0"/>
              <a:t>Planeamiento </a:t>
            </a:r>
            <a:r>
              <a:rPr spc="-5" dirty="0"/>
              <a:t>Estratégico de Sistemas de Información</a:t>
            </a:r>
            <a:r>
              <a:rPr spc="165" dirty="0"/>
              <a:t> </a:t>
            </a:r>
            <a:r>
              <a:rPr spc="-5" dirty="0"/>
              <a:t>(Cont.)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9268" y="500126"/>
            <a:ext cx="6480175" cy="556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Estrategia de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20" dirty="0">
                <a:latin typeface="Calibri"/>
                <a:cs typeface="Calibri"/>
              </a:rPr>
              <a:t>Estrategia </a:t>
            </a:r>
            <a:r>
              <a:rPr sz="2800" b="1" dirty="0">
                <a:latin typeface="Calibri"/>
                <a:cs typeface="Calibri"/>
              </a:rPr>
              <a:t>de </a:t>
            </a:r>
            <a:r>
              <a:rPr sz="2800" b="1" spc="-5" dirty="0">
                <a:latin typeface="Calibri"/>
                <a:cs typeface="Calibri"/>
              </a:rPr>
              <a:t>TI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(Cont.)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0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Proceso </a:t>
            </a:r>
            <a:r>
              <a:rPr sz="2000" b="1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estratégico 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 SI/TI</a:t>
            </a:r>
            <a:r>
              <a:rPr sz="2000" b="1" u="heavy" spc="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i="1" spc="-10" dirty="0">
                <a:latin typeface="Calibri"/>
                <a:cs typeface="Calibri"/>
              </a:rPr>
              <a:t>Formulación </a:t>
            </a:r>
            <a:r>
              <a:rPr sz="2000" b="1" i="1" spc="-5" dirty="0">
                <a:latin typeface="Calibri"/>
                <a:cs typeface="Calibri"/>
              </a:rPr>
              <a:t>de una visión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estratégica:</a:t>
            </a:r>
            <a:endParaRPr sz="2000">
              <a:latin typeface="Calibri"/>
              <a:cs typeface="Calibri"/>
            </a:endParaRPr>
          </a:p>
          <a:p>
            <a:pPr marL="355600" marR="635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Determinar </a:t>
            </a:r>
            <a:r>
              <a:rPr sz="2000" dirty="0">
                <a:latin typeface="Calibri"/>
                <a:cs typeface="Calibri"/>
              </a:rPr>
              <a:t>el </a:t>
            </a:r>
            <a:r>
              <a:rPr sz="2000" spc="-5" dirty="0">
                <a:latin typeface="Calibri"/>
                <a:cs typeface="Calibri"/>
              </a:rPr>
              <a:t>alineamiento </a:t>
            </a:r>
            <a:r>
              <a:rPr sz="2000" spc="-10" dirty="0">
                <a:latin typeface="Calibri"/>
                <a:cs typeface="Calibri"/>
              </a:rPr>
              <a:t>entre estrategia </a:t>
            </a:r>
            <a:r>
              <a:rPr sz="2000" spc="-5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negocios </a:t>
            </a:r>
            <a:r>
              <a:rPr sz="2000" spc="-5" dirty="0">
                <a:latin typeface="Calibri"/>
                <a:cs typeface="Calibri"/>
              </a:rPr>
              <a:t>y  de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SI;</a:t>
            </a:r>
            <a:endParaRPr sz="20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Identificar </a:t>
            </a:r>
            <a:r>
              <a:rPr sz="2000" spc="-10" dirty="0">
                <a:latin typeface="Calibri"/>
                <a:cs typeface="Calibri"/>
              </a:rPr>
              <a:t>ventajas competitivas </a:t>
            </a:r>
            <a:r>
              <a:rPr sz="2000" spc="-5" dirty="0">
                <a:latin typeface="Calibri"/>
                <a:cs typeface="Calibri"/>
              </a:rPr>
              <a:t>que se quieren </a:t>
            </a:r>
            <a:r>
              <a:rPr sz="2000" spc="-10" dirty="0">
                <a:latin typeface="Calibri"/>
                <a:cs typeface="Calibri"/>
              </a:rPr>
              <a:t>obtener </a:t>
            </a:r>
            <a:r>
              <a:rPr sz="2000" spc="-5" dirty="0">
                <a:latin typeface="Calibri"/>
                <a:cs typeface="Calibri"/>
              </a:rPr>
              <a:t>y  los </a:t>
            </a:r>
            <a:r>
              <a:rPr sz="2000" spc="-15" dirty="0">
                <a:latin typeface="Calibri"/>
                <a:cs typeface="Calibri"/>
              </a:rPr>
              <a:t>recursos </a:t>
            </a:r>
            <a:r>
              <a:rPr sz="2000" spc="-5" dirty="0">
                <a:latin typeface="Calibri"/>
                <a:cs typeface="Calibri"/>
              </a:rPr>
              <a:t>y </a:t>
            </a:r>
            <a:r>
              <a:rPr sz="2000" spc="-10" dirty="0">
                <a:latin typeface="Calibri"/>
                <a:cs typeface="Calibri"/>
              </a:rPr>
              <a:t>competencias </a:t>
            </a:r>
            <a:r>
              <a:rPr sz="2000" spc="-5" dirty="0">
                <a:latin typeface="Calibri"/>
                <a:cs typeface="Calibri"/>
              </a:rPr>
              <a:t>necesarios </a:t>
            </a:r>
            <a:r>
              <a:rPr sz="2000" spc="-15" dirty="0">
                <a:latin typeface="Calibri"/>
                <a:cs typeface="Calibri"/>
              </a:rPr>
              <a:t>para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obtenerlas.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i="1" spc="-5" dirty="0">
                <a:latin typeface="Calibri"/>
                <a:cs typeface="Calibri"/>
              </a:rPr>
              <a:t>Elaboración de un plan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táctico:</a:t>
            </a:r>
            <a:endParaRPr sz="2000">
              <a:latin typeface="Calibri"/>
              <a:cs typeface="Calibri"/>
            </a:endParaRPr>
          </a:p>
          <a:p>
            <a:pPr marL="355600" marR="5715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  <a:tab pos="932180" algn="l"/>
                <a:tab pos="1323975" algn="l"/>
                <a:tab pos="2117090" algn="l"/>
                <a:tab pos="2711450" algn="l"/>
                <a:tab pos="3401695" algn="l"/>
                <a:tab pos="3814445" algn="l"/>
                <a:tab pos="5379720" algn="l"/>
              </a:tabLst>
            </a:pP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Plan	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RR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dirty="0">
                <a:latin typeface="Calibri"/>
                <a:cs typeface="Calibri"/>
              </a:rPr>
              <a:t>	pa</a:t>
            </a:r>
            <a:r>
              <a:rPr sz="2000" spc="-45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3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ne</a:t>
            </a:r>
            <a:r>
              <a:rPr sz="2000" spc="-5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las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c</a:t>
            </a:r>
            <a:r>
              <a:rPr sz="2000" spc="-10" dirty="0">
                <a:latin typeface="Calibri"/>
                <a:cs typeface="Calibri"/>
              </a:rPr>
              <a:t>ompe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en</a:t>
            </a:r>
            <a:r>
              <a:rPr sz="2000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spc="5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es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spc="5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s  (capacitación 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incorporación);</a:t>
            </a:r>
            <a:endParaRPr sz="2000">
              <a:latin typeface="Calibri"/>
              <a:cs typeface="Calibri"/>
            </a:endParaRPr>
          </a:p>
          <a:p>
            <a:pPr marL="355600" marR="5715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Plan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 </a:t>
            </a:r>
            <a:r>
              <a:rPr sz="2000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proyectos 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infraestructura</a:t>
            </a:r>
            <a:r>
              <a:rPr sz="2000" spc="-10" dirty="0">
                <a:latin typeface="Calibri"/>
                <a:cs typeface="Calibri"/>
              </a:rPr>
              <a:t>: Hardware, software,  </a:t>
            </a:r>
            <a:r>
              <a:rPr sz="2000" spc="-5" dirty="0">
                <a:latin typeface="Calibri"/>
                <a:cs typeface="Calibri"/>
              </a:rPr>
              <a:t>comunicaciones;</a:t>
            </a:r>
            <a:endParaRPr sz="2000">
              <a:latin typeface="Calibri"/>
              <a:cs typeface="Calibri"/>
            </a:endParaRPr>
          </a:p>
          <a:p>
            <a:pPr marL="355600" marR="635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Plan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 </a:t>
            </a:r>
            <a:r>
              <a:rPr sz="2000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proyectos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 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</a:t>
            </a:r>
            <a:r>
              <a:rPr sz="2000" spc="-5" dirty="0">
                <a:latin typeface="Calibri"/>
                <a:cs typeface="Calibri"/>
              </a:rPr>
              <a:t>: identificar y </a:t>
            </a:r>
            <a:r>
              <a:rPr sz="2000" spc="-10" dirty="0">
                <a:latin typeface="Calibri"/>
                <a:cs typeface="Calibri"/>
              </a:rPr>
              <a:t>priorizar </a:t>
            </a:r>
            <a:r>
              <a:rPr sz="2000" spc="-5" dirty="0">
                <a:latin typeface="Calibri"/>
                <a:cs typeface="Calibri"/>
              </a:rPr>
              <a:t>los </a:t>
            </a:r>
            <a:r>
              <a:rPr sz="2000" spc="-15" dirty="0">
                <a:latin typeface="Calibri"/>
                <a:cs typeface="Calibri"/>
              </a:rPr>
              <a:t>proyectos 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TI.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97623" y="1270253"/>
            <a:ext cx="1958339" cy="14668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97623" y="2870454"/>
            <a:ext cx="1959864" cy="17838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97623" y="4813553"/>
            <a:ext cx="1946148" cy="1409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 – </a:t>
            </a:r>
            <a:r>
              <a:rPr spc="-10" dirty="0"/>
              <a:t>Planeamiento </a:t>
            </a:r>
            <a:r>
              <a:rPr spc="-5" dirty="0"/>
              <a:t>Estratégico de Sistemas de Información</a:t>
            </a:r>
            <a:r>
              <a:rPr spc="165" dirty="0"/>
              <a:t> </a:t>
            </a:r>
            <a:r>
              <a:rPr spc="-5" dirty="0"/>
              <a:t>(Cont.)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9268" y="500126"/>
            <a:ext cx="8616315" cy="583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Estrategia de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20" dirty="0">
                <a:latin typeface="Calibri"/>
                <a:cs typeface="Calibri"/>
              </a:rPr>
              <a:t>Estrategia </a:t>
            </a:r>
            <a:r>
              <a:rPr sz="2800" b="1" dirty="0">
                <a:latin typeface="Calibri"/>
                <a:cs typeface="Calibri"/>
              </a:rPr>
              <a:t>de </a:t>
            </a:r>
            <a:r>
              <a:rPr sz="2800" b="1" spc="-5" dirty="0">
                <a:latin typeface="Calibri"/>
                <a:cs typeface="Calibri"/>
              </a:rPr>
              <a:t>TI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(Cont.)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0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Proceso </a:t>
            </a:r>
            <a:r>
              <a:rPr sz="2000" b="1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estratégico 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 SI/TI</a:t>
            </a:r>
            <a:r>
              <a:rPr sz="2000" b="1" u="heavy" spc="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i="1" spc="-5" dirty="0">
                <a:latin typeface="Calibri"/>
                <a:cs typeface="Calibri"/>
              </a:rPr>
              <a:t>Implementación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i="1" spc="-5" dirty="0">
                <a:latin typeface="Calibri"/>
                <a:cs typeface="Calibri"/>
              </a:rPr>
              <a:t>Identificar y </a:t>
            </a:r>
            <a:r>
              <a:rPr sz="2000" i="1" spc="-10" dirty="0">
                <a:latin typeface="Calibri"/>
                <a:cs typeface="Calibri"/>
              </a:rPr>
              <a:t>agrupar </a:t>
            </a:r>
            <a:r>
              <a:rPr sz="2000" i="1" spc="-5" dirty="0">
                <a:latin typeface="Calibri"/>
                <a:cs typeface="Calibri"/>
              </a:rPr>
              <a:t>iniciativas / </a:t>
            </a:r>
            <a:r>
              <a:rPr sz="2000" i="1" spc="-10" dirty="0">
                <a:latin typeface="Calibri"/>
                <a:cs typeface="Calibri"/>
              </a:rPr>
              <a:t>proyectos </a:t>
            </a:r>
            <a:r>
              <a:rPr sz="2000" i="1" spc="-5" dirty="0">
                <a:latin typeface="Calibri"/>
                <a:cs typeface="Calibri"/>
              </a:rPr>
              <a:t>según su</a:t>
            </a:r>
            <a:r>
              <a:rPr sz="2000" i="1" spc="5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impacto:</a:t>
            </a:r>
            <a:endParaRPr sz="2000">
              <a:latin typeface="Calibri"/>
              <a:cs typeface="Calibri"/>
            </a:endParaRPr>
          </a:p>
          <a:p>
            <a:pPr marL="812800" lvl="1" indent="-34353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812800" algn="l"/>
                <a:tab pos="813435" algn="l"/>
              </a:tabLst>
            </a:pPr>
            <a:r>
              <a:rPr sz="1800" spc="-10" dirty="0">
                <a:latin typeface="Calibri"/>
                <a:cs typeface="Calibri"/>
              </a:rPr>
              <a:t>Soporte: </a:t>
            </a:r>
            <a:r>
              <a:rPr sz="1800" dirty="0">
                <a:latin typeface="Calibri"/>
                <a:cs typeface="Calibri"/>
              </a:rPr>
              <a:t>no </a:t>
            </a:r>
            <a:r>
              <a:rPr sz="1800" spc="-5" dirty="0">
                <a:latin typeface="Calibri"/>
                <a:cs typeface="Calibri"/>
              </a:rPr>
              <a:t>determinan </a:t>
            </a:r>
            <a:r>
              <a:rPr sz="1800" dirty="0">
                <a:latin typeface="Calibri"/>
                <a:cs typeface="Calibri"/>
              </a:rPr>
              <a:t>la </a:t>
            </a:r>
            <a:r>
              <a:rPr sz="1800" spc="-10" dirty="0">
                <a:latin typeface="Calibri"/>
                <a:cs typeface="Calibri"/>
              </a:rPr>
              <a:t>operación </a:t>
            </a:r>
            <a:r>
              <a:rPr sz="1800" spc="-5" dirty="0">
                <a:latin typeface="Calibri"/>
                <a:cs typeface="Calibri"/>
              </a:rPr>
              <a:t>diaria </a:t>
            </a:r>
            <a:r>
              <a:rPr sz="1800" dirty="0">
                <a:latin typeface="Calibri"/>
                <a:cs typeface="Calibri"/>
              </a:rPr>
              <a:t>ni </a:t>
            </a:r>
            <a:r>
              <a:rPr sz="1800" spc="-5" dirty="0">
                <a:latin typeface="Calibri"/>
                <a:cs typeface="Calibri"/>
              </a:rPr>
              <a:t>son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estratégicas</a:t>
            </a:r>
            <a:endParaRPr sz="1800">
              <a:latin typeface="Calibri"/>
              <a:cs typeface="Calibri"/>
            </a:endParaRPr>
          </a:p>
          <a:p>
            <a:pPr marL="812800" lvl="1" indent="-343535">
              <a:lnSpc>
                <a:spcPct val="100000"/>
              </a:lnSpc>
              <a:buFont typeface="Arial"/>
              <a:buChar char="•"/>
              <a:tabLst>
                <a:tab pos="812800" algn="l"/>
                <a:tab pos="813435" algn="l"/>
              </a:tabLst>
            </a:pPr>
            <a:r>
              <a:rPr sz="1800" spc="-10" dirty="0">
                <a:latin typeface="Calibri"/>
                <a:cs typeface="Calibri"/>
              </a:rPr>
              <a:t>Operativas: </a:t>
            </a:r>
            <a:r>
              <a:rPr sz="1800" spc="-5" dirty="0">
                <a:latin typeface="Calibri"/>
                <a:cs typeface="Calibri"/>
              </a:rPr>
              <a:t>son críticas </a:t>
            </a:r>
            <a:r>
              <a:rPr sz="1800" spc="-10" dirty="0">
                <a:latin typeface="Calibri"/>
                <a:cs typeface="Calibri"/>
              </a:rPr>
              <a:t>para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operación</a:t>
            </a:r>
            <a:endParaRPr sz="1800">
              <a:latin typeface="Calibri"/>
              <a:cs typeface="Calibri"/>
            </a:endParaRPr>
          </a:p>
          <a:p>
            <a:pPr marL="812800" marR="508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  <a:tab pos="813435" algn="l"/>
              </a:tabLst>
            </a:pPr>
            <a:r>
              <a:rPr sz="1800" spc="-15" dirty="0">
                <a:latin typeface="Calibri"/>
                <a:cs typeface="Calibri"/>
              </a:rPr>
              <a:t>Estratégicas: </a:t>
            </a:r>
            <a:r>
              <a:rPr sz="1800" spc="-10" dirty="0">
                <a:latin typeface="Calibri"/>
                <a:cs typeface="Calibri"/>
              </a:rPr>
              <a:t>claves para </a:t>
            </a:r>
            <a:r>
              <a:rPr sz="1800" spc="-5" dirty="0">
                <a:latin typeface="Calibri"/>
                <a:cs typeface="Calibri"/>
              </a:rPr>
              <a:t>desarrollar </a:t>
            </a:r>
            <a:r>
              <a:rPr sz="1800" spc="-10" dirty="0">
                <a:latin typeface="Calibri"/>
                <a:cs typeface="Calibri"/>
              </a:rPr>
              <a:t>nuevos </a:t>
            </a:r>
            <a:r>
              <a:rPr sz="1800" spc="-5" dirty="0">
                <a:latin typeface="Calibri"/>
                <a:cs typeface="Calibri"/>
              </a:rPr>
              <a:t>negocios </a:t>
            </a:r>
            <a:r>
              <a:rPr sz="1800" dirty="0">
                <a:latin typeface="Calibri"/>
                <a:cs typeface="Calibri"/>
              </a:rPr>
              <a:t>o ampliar actuales </a:t>
            </a:r>
            <a:r>
              <a:rPr sz="1800" spc="-5" dirty="0">
                <a:latin typeface="Calibri"/>
                <a:cs typeface="Calibri"/>
              </a:rPr>
              <a:t>creando  </a:t>
            </a:r>
            <a:r>
              <a:rPr sz="1800" spc="-10" dirty="0">
                <a:latin typeface="Calibri"/>
                <a:cs typeface="Calibri"/>
              </a:rPr>
              <a:t>nuevas ventajas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competitivas</a:t>
            </a:r>
            <a:endParaRPr sz="1800">
              <a:latin typeface="Calibri"/>
              <a:cs typeface="Calibri"/>
            </a:endParaRPr>
          </a:p>
          <a:p>
            <a:pPr marL="812800" lvl="1" indent="-343535">
              <a:lnSpc>
                <a:spcPct val="100000"/>
              </a:lnSpc>
              <a:buFont typeface="Arial"/>
              <a:buChar char="•"/>
              <a:tabLst>
                <a:tab pos="812800" algn="l"/>
                <a:tab pos="813435" algn="l"/>
                <a:tab pos="2593340" algn="l"/>
                <a:tab pos="4217035" algn="l"/>
                <a:tab pos="4610735" algn="l"/>
                <a:tab pos="5125720" algn="l"/>
                <a:tab pos="5747385" algn="l"/>
                <a:tab pos="6983095" algn="l"/>
                <a:tab pos="7949565" algn="l"/>
              </a:tabLst>
            </a:pPr>
            <a:r>
              <a:rPr sz="1800" spc="-20" dirty="0">
                <a:latin typeface="Calibri"/>
                <a:cs typeface="Calibri"/>
              </a:rPr>
              <a:t>Transformadoras:	</a:t>
            </a:r>
            <a:r>
              <a:rPr sz="1800" spc="-5" dirty="0">
                <a:latin typeface="Calibri"/>
                <a:cs typeface="Calibri"/>
              </a:rPr>
              <a:t>potencialmente	</a:t>
            </a:r>
            <a:r>
              <a:rPr sz="1800" dirty="0">
                <a:latin typeface="Calibri"/>
                <a:cs typeface="Calibri"/>
              </a:rPr>
              <a:t>de	</a:t>
            </a:r>
            <a:r>
              <a:rPr sz="1800" spc="-10" dirty="0">
                <a:latin typeface="Calibri"/>
                <a:cs typeface="Calibri"/>
              </a:rPr>
              <a:t>alto	</a:t>
            </a:r>
            <a:r>
              <a:rPr sz="1800" spc="-5" dirty="0">
                <a:latin typeface="Calibri"/>
                <a:cs typeface="Calibri"/>
              </a:rPr>
              <a:t>valor	</a:t>
            </a:r>
            <a:r>
              <a:rPr sz="1800" spc="-15" dirty="0">
                <a:latin typeface="Calibri"/>
                <a:cs typeface="Calibri"/>
              </a:rPr>
              <a:t>estratégico,	exploran	</a:t>
            </a:r>
            <a:r>
              <a:rPr sz="1800" spc="-10" dirty="0">
                <a:latin typeface="Calibri"/>
                <a:cs typeface="Calibri"/>
              </a:rPr>
              <a:t>nuevas</a:t>
            </a:r>
            <a:endParaRPr sz="1800">
              <a:latin typeface="Calibri"/>
              <a:cs typeface="Calibri"/>
            </a:endParaRPr>
          </a:p>
          <a:p>
            <a:pPr marL="812800">
              <a:lnSpc>
                <a:spcPts val="2155"/>
              </a:lnSpc>
            </a:pPr>
            <a:r>
              <a:rPr sz="1800" spc="-5" dirty="0">
                <a:latin typeface="Calibri"/>
                <a:cs typeface="Calibri"/>
              </a:rPr>
              <a:t>tecnologías</a:t>
            </a:r>
            <a:endParaRPr sz="1800">
              <a:latin typeface="Calibri"/>
              <a:cs typeface="Calibri"/>
            </a:endParaRPr>
          </a:p>
          <a:p>
            <a:pPr marL="355600" indent="-343535">
              <a:lnSpc>
                <a:spcPts val="2395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i="1" spc="-10" dirty="0">
                <a:latin typeface="Calibri"/>
                <a:cs typeface="Calibri"/>
              </a:rPr>
              <a:t>Definir </a:t>
            </a:r>
            <a:r>
              <a:rPr sz="2000" i="1" spc="-5" dirty="0">
                <a:latin typeface="Calibri"/>
                <a:cs typeface="Calibri"/>
              </a:rPr>
              <a:t>la </a:t>
            </a:r>
            <a:r>
              <a:rPr sz="2000" i="1" spc="-10" dirty="0">
                <a:latin typeface="Calibri"/>
                <a:cs typeface="Calibri"/>
              </a:rPr>
              <a:t>inversión </a:t>
            </a:r>
            <a:r>
              <a:rPr sz="2000" i="1" spc="-5" dirty="0">
                <a:latin typeface="Calibri"/>
                <a:cs typeface="Calibri"/>
              </a:rPr>
              <a:t>por </a:t>
            </a:r>
            <a:r>
              <a:rPr sz="2000" i="1" spc="-10" dirty="0">
                <a:latin typeface="Calibri"/>
                <a:cs typeface="Calibri"/>
              </a:rPr>
              <a:t>proyecto </a:t>
            </a:r>
            <a:r>
              <a:rPr sz="2000" i="1" spc="-5" dirty="0">
                <a:latin typeface="Calibri"/>
                <a:cs typeface="Calibri"/>
              </a:rPr>
              <a:t>y los criterios de </a:t>
            </a:r>
            <a:r>
              <a:rPr sz="2000" i="1" spc="-10" dirty="0">
                <a:latin typeface="Calibri"/>
                <a:cs typeface="Calibri"/>
              </a:rPr>
              <a:t>evaluación </a:t>
            </a:r>
            <a:r>
              <a:rPr sz="2000" i="1" spc="-5" dirty="0">
                <a:latin typeface="Calibri"/>
                <a:cs typeface="Calibri"/>
              </a:rPr>
              <a:t>de </a:t>
            </a:r>
            <a:r>
              <a:rPr sz="2000" i="1" spc="-10" dirty="0">
                <a:latin typeface="Calibri"/>
                <a:cs typeface="Calibri"/>
              </a:rPr>
              <a:t>cada</a:t>
            </a:r>
            <a:r>
              <a:rPr sz="2000" i="1" spc="10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uno:</a:t>
            </a:r>
            <a:endParaRPr sz="20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755650" algn="l"/>
                <a:tab pos="756285" algn="l"/>
              </a:tabLst>
            </a:pPr>
            <a:r>
              <a:rPr sz="1800" spc="-15" dirty="0">
                <a:latin typeface="Calibri"/>
                <a:cs typeface="Calibri"/>
              </a:rPr>
              <a:t>¿Mayor inversión </a:t>
            </a:r>
            <a:r>
              <a:rPr sz="1800" spc="-5" dirty="0">
                <a:latin typeface="Calibri"/>
                <a:cs typeface="Calibri"/>
              </a:rPr>
              <a:t>en aplicaciones </a:t>
            </a:r>
            <a:r>
              <a:rPr sz="1800" spc="-15" dirty="0">
                <a:latin typeface="Calibri"/>
                <a:cs typeface="Calibri"/>
              </a:rPr>
              <a:t>estratégicas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transformadoras?</a:t>
            </a:r>
            <a:endParaRPr sz="1800">
              <a:latin typeface="Calibri"/>
              <a:cs typeface="Calibri"/>
            </a:endParaRPr>
          </a:p>
          <a:p>
            <a:pPr marL="755650" lvl="1" indent="-286385">
              <a:lnSpc>
                <a:spcPts val="2155"/>
              </a:lnSpc>
              <a:buFont typeface="Arial"/>
              <a:buChar char="•"/>
              <a:tabLst>
                <a:tab pos="755650" algn="l"/>
                <a:tab pos="756285" algn="l"/>
              </a:tabLst>
            </a:pPr>
            <a:r>
              <a:rPr sz="1800" spc="-5" dirty="0">
                <a:latin typeface="Calibri"/>
                <a:cs typeface="Calibri"/>
              </a:rPr>
              <a:t>La </a:t>
            </a:r>
            <a:r>
              <a:rPr sz="1800" spc="-15" dirty="0">
                <a:latin typeface="Calibri"/>
                <a:cs typeface="Calibri"/>
              </a:rPr>
              <a:t>inversión </a:t>
            </a:r>
            <a:r>
              <a:rPr sz="1800" spc="-5" dirty="0">
                <a:latin typeface="Calibri"/>
                <a:cs typeface="Calibri"/>
              </a:rPr>
              <a:t>en aplicaciones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soporte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10" dirty="0">
                <a:latin typeface="Calibri"/>
                <a:cs typeface="Calibri"/>
              </a:rPr>
              <a:t>operativas </a:t>
            </a:r>
            <a:r>
              <a:rPr sz="1800" spc="-5" dirty="0">
                <a:latin typeface="Calibri"/>
                <a:cs typeface="Calibri"/>
              </a:rPr>
              <a:t>se justifica si el </a:t>
            </a:r>
            <a:r>
              <a:rPr sz="1800" spc="-10" dirty="0">
                <a:latin typeface="Calibri"/>
                <a:cs typeface="Calibri"/>
              </a:rPr>
              <a:t>ROI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1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financia</a:t>
            </a:r>
            <a:endParaRPr sz="1800">
              <a:latin typeface="Calibri"/>
              <a:cs typeface="Calibri"/>
            </a:endParaRPr>
          </a:p>
          <a:p>
            <a:pPr marL="355600" indent="-343535">
              <a:lnSpc>
                <a:spcPts val="2395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i="1" spc="-15" dirty="0">
                <a:latin typeface="Calibri"/>
                <a:cs typeface="Calibri"/>
              </a:rPr>
              <a:t>Realizar </a:t>
            </a:r>
            <a:r>
              <a:rPr sz="2000" i="1" spc="-5" dirty="0">
                <a:latin typeface="Calibri"/>
                <a:cs typeface="Calibri"/>
              </a:rPr>
              <a:t>el Plan de </a:t>
            </a:r>
            <a:r>
              <a:rPr sz="2000" i="1" spc="-10" dirty="0">
                <a:latin typeface="Calibri"/>
                <a:cs typeface="Calibri"/>
              </a:rPr>
              <a:t>Proyectos </a:t>
            </a:r>
            <a:r>
              <a:rPr sz="2000" i="1" spc="-5" dirty="0">
                <a:latin typeface="Calibri"/>
                <a:cs typeface="Calibri"/>
              </a:rPr>
              <a:t>de</a:t>
            </a:r>
            <a:r>
              <a:rPr sz="2000" i="1" spc="2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SI:</a:t>
            </a:r>
            <a:endParaRPr sz="2000">
              <a:latin typeface="Calibri"/>
              <a:cs typeface="Calibri"/>
            </a:endParaRPr>
          </a:p>
          <a:p>
            <a:pPr marL="812800" lvl="1" indent="-34353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812800" algn="l"/>
                <a:tab pos="813435" algn="l"/>
              </a:tabLst>
            </a:pPr>
            <a:r>
              <a:rPr sz="1800" spc="-5" dirty="0">
                <a:latin typeface="Calibri"/>
                <a:cs typeface="Calibri"/>
              </a:rPr>
              <a:t>En base </a:t>
            </a:r>
            <a:r>
              <a:rPr sz="1800" dirty="0">
                <a:latin typeface="Calibri"/>
                <a:cs typeface="Calibri"/>
              </a:rPr>
              <a:t>a la </a:t>
            </a:r>
            <a:r>
              <a:rPr sz="1800" spc="-5" dirty="0">
                <a:latin typeface="Calibri"/>
                <a:cs typeface="Calibri"/>
              </a:rPr>
              <a:t>contribución esperada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cada </a:t>
            </a:r>
            <a:r>
              <a:rPr sz="1800" spc="-15" dirty="0">
                <a:latin typeface="Calibri"/>
                <a:cs typeface="Calibri"/>
              </a:rPr>
              <a:t>proyecto </a:t>
            </a:r>
            <a:r>
              <a:rPr sz="1800" spc="-5" dirty="0">
                <a:latin typeface="Calibri"/>
                <a:cs typeface="Calibri"/>
              </a:rPr>
              <a:t>en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1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organización;</a:t>
            </a:r>
            <a:endParaRPr sz="1800">
              <a:latin typeface="Calibri"/>
              <a:cs typeface="Calibri"/>
            </a:endParaRPr>
          </a:p>
          <a:p>
            <a:pPr marL="812800" marR="635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  <a:tab pos="813435" algn="l"/>
              </a:tabLst>
            </a:pPr>
            <a:r>
              <a:rPr sz="1800" spc="-5" dirty="0">
                <a:latin typeface="Calibri"/>
                <a:cs typeface="Calibri"/>
              </a:rPr>
              <a:t>Descripción </a:t>
            </a:r>
            <a:r>
              <a:rPr sz="1800" dirty="0">
                <a:latin typeface="Calibri"/>
                <a:cs typeface="Calibri"/>
              </a:rPr>
              <a:t>del </a:t>
            </a:r>
            <a:r>
              <a:rPr sz="1800" spc="-15" dirty="0">
                <a:latin typeface="Calibri"/>
                <a:cs typeface="Calibri"/>
              </a:rPr>
              <a:t>proyecto, </a:t>
            </a:r>
            <a:r>
              <a:rPr sz="1800" spc="-5" dirty="0">
                <a:latin typeface="Calibri"/>
                <a:cs typeface="Calibri"/>
              </a:rPr>
              <a:t>objetivos, responsable, </a:t>
            </a:r>
            <a:r>
              <a:rPr sz="1800" spc="-10" dirty="0">
                <a:latin typeface="Calibri"/>
                <a:cs typeface="Calibri"/>
              </a:rPr>
              <a:t>recursos </a:t>
            </a:r>
            <a:r>
              <a:rPr sz="1800" spc="-5" dirty="0">
                <a:latin typeface="Calibri"/>
                <a:cs typeface="Calibri"/>
              </a:rPr>
              <a:t>(RRHH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tecnológicos),  </a:t>
            </a:r>
            <a:r>
              <a:rPr sz="1800" spc="-10" dirty="0">
                <a:latin typeface="Calibri"/>
                <a:cs typeface="Calibri"/>
              </a:rPr>
              <a:t>plazos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268" y="1036066"/>
            <a:ext cx="8614410" cy="4815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680" marR="5715" indent="-34861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60680" algn="l"/>
                <a:tab pos="361315" algn="l"/>
              </a:tabLst>
            </a:pPr>
            <a:r>
              <a:rPr sz="2200" spc="-5" dirty="0">
                <a:latin typeface="Calibri"/>
                <a:cs typeface="Calibri"/>
              </a:rPr>
              <a:t>El </a:t>
            </a:r>
            <a:r>
              <a:rPr sz="2200" spc="-15" dirty="0">
                <a:latin typeface="Calibri"/>
                <a:cs typeface="Calibri"/>
              </a:rPr>
              <a:t>rol </a:t>
            </a:r>
            <a:r>
              <a:rPr sz="2200" spc="-5" dirty="0">
                <a:latin typeface="Calibri"/>
                <a:cs typeface="Calibri"/>
              </a:rPr>
              <a:t>del </a:t>
            </a:r>
            <a:r>
              <a:rPr sz="2200" b="1" spc="-5" dirty="0">
                <a:latin typeface="Calibri"/>
                <a:cs typeface="Calibri"/>
              </a:rPr>
              <a:t>CIO </a:t>
            </a:r>
            <a:r>
              <a:rPr sz="2200" spc="-5" dirty="0">
                <a:latin typeface="Calibri"/>
                <a:cs typeface="Calibri"/>
              </a:rPr>
              <a:t>(</a:t>
            </a:r>
            <a:r>
              <a:rPr sz="2200" i="1" spc="-5" dirty="0">
                <a:latin typeface="Calibri"/>
                <a:cs typeface="Calibri"/>
              </a:rPr>
              <a:t>Chief </a:t>
            </a:r>
            <a:r>
              <a:rPr sz="2200" i="1" spc="-10" dirty="0">
                <a:latin typeface="Calibri"/>
                <a:cs typeface="Calibri"/>
              </a:rPr>
              <a:t>Information Officer</a:t>
            </a:r>
            <a:r>
              <a:rPr sz="2200" spc="-10" dirty="0">
                <a:latin typeface="Calibri"/>
                <a:cs typeface="Calibri"/>
              </a:rPr>
              <a:t>) </a:t>
            </a:r>
            <a:r>
              <a:rPr sz="2200" spc="-5" dirty="0">
                <a:latin typeface="Calibri"/>
                <a:cs typeface="Calibri"/>
              </a:rPr>
              <a:t>ha tomado </a:t>
            </a:r>
            <a:r>
              <a:rPr sz="2200" spc="-15" dirty="0">
                <a:latin typeface="Calibri"/>
                <a:cs typeface="Calibri"/>
              </a:rPr>
              <a:t>protagonismo </a:t>
            </a:r>
            <a:r>
              <a:rPr sz="2200" spc="-5" dirty="0">
                <a:latin typeface="Calibri"/>
                <a:cs typeface="Calibri"/>
              </a:rPr>
              <a:t>en  </a:t>
            </a:r>
            <a:r>
              <a:rPr sz="2200" spc="-15" dirty="0">
                <a:latin typeface="Calibri"/>
                <a:cs typeface="Calibri"/>
              </a:rPr>
              <a:t>este </a:t>
            </a:r>
            <a:r>
              <a:rPr sz="2200" spc="-10" dirty="0">
                <a:latin typeface="Calibri"/>
                <a:cs typeface="Calibri"/>
              </a:rPr>
              <a:t>nuevo </a:t>
            </a:r>
            <a:r>
              <a:rPr sz="2200" spc="-5" dirty="0">
                <a:latin typeface="Calibri"/>
                <a:cs typeface="Calibri"/>
              </a:rPr>
              <a:t>escenario; </a:t>
            </a:r>
            <a:r>
              <a:rPr sz="2200" spc="-15" dirty="0">
                <a:latin typeface="Calibri"/>
                <a:cs typeface="Calibri"/>
              </a:rPr>
              <a:t>este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Ejecutivo:</a:t>
            </a:r>
            <a:endParaRPr sz="2200">
              <a:latin typeface="Calibri"/>
              <a:cs typeface="Calibri"/>
            </a:endParaRPr>
          </a:p>
          <a:p>
            <a:pPr marL="817880" marR="5715" lvl="1" indent="-348615" algn="just">
              <a:lnSpc>
                <a:spcPct val="100000"/>
              </a:lnSpc>
              <a:spcBef>
                <a:spcPts val="30"/>
              </a:spcBef>
              <a:buFont typeface="Wingdings"/>
              <a:buChar char=""/>
              <a:tabLst>
                <a:tab pos="818515" algn="l"/>
              </a:tabLst>
            </a:pPr>
            <a:r>
              <a:rPr sz="1800" spc="-5" dirty="0">
                <a:latin typeface="Calibri"/>
                <a:cs typeface="Calibri"/>
              </a:rPr>
              <a:t>Diseña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ejerce </a:t>
            </a:r>
            <a:r>
              <a:rPr sz="1800" dirty="0">
                <a:latin typeface="Calibri"/>
                <a:cs typeface="Calibri"/>
              </a:rPr>
              <a:t>un </a:t>
            </a:r>
            <a:r>
              <a:rPr sz="1800" spc="-10" dirty="0">
                <a:latin typeface="Calibri"/>
                <a:cs typeface="Calibri"/>
              </a:rPr>
              <a:t>control sobre </a:t>
            </a:r>
            <a:r>
              <a:rPr sz="1800" spc="-5" dirty="0">
                <a:latin typeface="Calibri"/>
                <a:cs typeface="Calibri"/>
              </a:rPr>
              <a:t>el </a:t>
            </a:r>
            <a:r>
              <a:rPr sz="1800" dirty="0">
                <a:latin typeface="Calibri"/>
                <a:cs typeface="Calibri"/>
              </a:rPr>
              <a:t>SI de la </a:t>
            </a:r>
            <a:r>
              <a:rPr sz="1800" spc="-10" dirty="0">
                <a:latin typeface="Calibri"/>
                <a:cs typeface="Calibri"/>
              </a:rPr>
              <a:t>organización. </a:t>
            </a:r>
            <a:r>
              <a:rPr sz="1800" spc="-5" dirty="0">
                <a:latin typeface="Calibri"/>
                <a:cs typeface="Calibri"/>
              </a:rPr>
              <a:t>Es quien </a:t>
            </a:r>
            <a:r>
              <a:rPr sz="1800" dirty="0">
                <a:latin typeface="Calibri"/>
                <a:cs typeface="Calibri"/>
              </a:rPr>
              <a:t>debe alinear </a:t>
            </a:r>
            <a:r>
              <a:rPr sz="1800" spc="-5" dirty="0">
                <a:latin typeface="Calibri"/>
                <a:cs typeface="Calibri"/>
              </a:rPr>
              <a:t>el </a:t>
            </a:r>
            <a:r>
              <a:rPr sz="1800" spc="-10" dirty="0">
                <a:latin typeface="Calibri"/>
                <a:cs typeface="Calibri"/>
              </a:rPr>
              <a:t>SI  </a:t>
            </a:r>
            <a:r>
              <a:rPr sz="1800" dirty="0">
                <a:latin typeface="Calibri"/>
                <a:cs typeface="Calibri"/>
              </a:rPr>
              <a:t>a la </a:t>
            </a:r>
            <a:r>
              <a:rPr sz="1800" spc="-15" dirty="0">
                <a:latin typeface="Calibri"/>
                <a:cs typeface="Calibri"/>
              </a:rPr>
              <a:t>estrategia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negocio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definir su</a:t>
            </a:r>
            <a:r>
              <a:rPr sz="1800" spc="8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funciones.</a:t>
            </a:r>
            <a:endParaRPr sz="1800">
              <a:latin typeface="Calibri"/>
              <a:cs typeface="Calibri"/>
            </a:endParaRPr>
          </a:p>
          <a:p>
            <a:pPr marL="817880" marR="5080" lvl="1" indent="-348615" algn="just">
              <a:lnSpc>
                <a:spcPct val="100000"/>
              </a:lnSpc>
              <a:buFont typeface="Wingdings"/>
              <a:buChar char=""/>
              <a:tabLst>
                <a:tab pos="818515" algn="l"/>
              </a:tabLst>
            </a:pPr>
            <a:r>
              <a:rPr sz="1800" spc="-5" dirty="0">
                <a:latin typeface="Calibri"/>
                <a:cs typeface="Calibri"/>
              </a:rPr>
              <a:t>Contribuye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forjar </a:t>
            </a:r>
            <a:r>
              <a:rPr sz="1800" dirty="0">
                <a:latin typeface="Calibri"/>
                <a:cs typeface="Calibri"/>
              </a:rPr>
              <a:t>una visión </a:t>
            </a:r>
            <a:r>
              <a:rPr sz="1800" spc="-5" dirty="0">
                <a:latin typeface="Calibri"/>
                <a:cs typeface="Calibri"/>
              </a:rPr>
              <a:t>compartida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holística del papel </a:t>
            </a:r>
            <a:r>
              <a:rPr sz="1800" dirty="0">
                <a:latin typeface="Calibri"/>
                <a:cs typeface="Calibri"/>
              </a:rPr>
              <a:t>de la </a:t>
            </a:r>
            <a:r>
              <a:rPr sz="1800" spc="-5" dirty="0">
                <a:latin typeface="Calibri"/>
                <a:cs typeface="Calibri"/>
              </a:rPr>
              <a:t>TI,  </a:t>
            </a:r>
            <a:r>
              <a:rPr sz="1800" spc="-10" dirty="0">
                <a:latin typeface="Calibri"/>
                <a:cs typeface="Calibri"/>
              </a:rPr>
              <a:t>contemplando todos </a:t>
            </a:r>
            <a:r>
              <a:rPr sz="1800" dirty="0">
                <a:latin typeface="Calibri"/>
                <a:cs typeface="Calibri"/>
              </a:rPr>
              <a:t>los </a:t>
            </a:r>
            <a:r>
              <a:rPr sz="1800" spc="-5" dirty="0">
                <a:latin typeface="Calibri"/>
                <a:cs typeface="Calibri"/>
              </a:rPr>
              <a:t>componentes </a:t>
            </a:r>
            <a:r>
              <a:rPr sz="1800" dirty="0">
                <a:latin typeface="Calibri"/>
                <a:cs typeface="Calibri"/>
              </a:rPr>
              <a:t>del </a:t>
            </a:r>
            <a:r>
              <a:rPr sz="1800" spc="-10" dirty="0">
                <a:latin typeface="Calibri"/>
                <a:cs typeface="Calibri"/>
              </a:rPr>
              <a:t>Sistema,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20" dirty="0">
                <a:latin typeface="Calibri"/>
                <a:cs typeface="Calibri"/>
              </a:rPr>
              <a:t>través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su participación </a:t>
            </a:r>
            <a:r>
              <a:rPr sz="1800" dirty="0">
                <a:latin typeface="Calibri"/>
                <a:cs typeface="Calibri"/>
              </a:rPr>
              <a:t>o  </a:t>
            </a:r>
            <a:r>
              <a:rPr sz="1800" spc="-10" dirty="0">
                <a:latin typeface="Calibri"/>
                <a:cs typeface="Calibri"/>
              </a:rPr>
              <a:t>liderazgo </a:t>
            </a:r>
            <a:r>
              <a:rPr sz="1800" dirty="0">
                <a:latin typeface="Calibri"/>
                <a:cs typeface="Calibri"/>
              </a:rPr>
              <a:t>de un equipo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interdisciplinario.</a:t>
            </a:r>
            <a:endParaRPr sz="1800">
              <a:latin typeface="Calibri"/>
              <a:cs typeface="Calibri"/>
            </a:endParaRPr>
          </a:p>
          <a:p>
            <a:pPr marL="817880" marR="5080" lvl="1" indent="-348615" algn="just">
              <a:lnSpc>
                <a:spcPct val="100000"/>
              </a:lnSpc>
              <a:buFont typeface="Wingdings"/>
              <a:buChar char=""/>
              <a:tabLst>
                <a:tab pos="818515" algn="l"/>
              </a:tabLst>
            </a:pPr>
            <a:r>
              <a:rPr sz="1800" spc="-5" dirty="0">
                <a:latin typeface="Calibri"/>
                <a:cs typeface="Calibri"/>
              </a:rPr>
              <a:t>Advierte el potencial impacto </a:t>
            </a:r>
            <a:r>
              <a:rPr sz="1800" dirty="0">
                <a:latin typeface="Calibri"/>
                <a:cs typeface="Calibri"/>
              </a:rPr>
              <a:t>de la </a:t>
            </a:r>
            <a:r>
              <a:rPr sz="1800" spc="-5" dirty="0">
                <a:latin typeface="Calibri"/>
                <a:cs typeface="Calibri"/>
              </a:rPr>
              <a:t>TI </a:t>
            </a:r>
            <a:r>
              <a:rPr sz="1800" dirty="0">
                <a:latin typeface="Calibri"/>
                <a:cs typeface="Calibri"/>
              </a:rPr>
              <a:t>en </a:t>
            </a:r>
            <a:r>
              <a:rPr sz="1800" spc="-5" dirty="0">
                <a:latin typeface="Calibri"/>
                <a:cs typeface="Calibri"/>
              </a:rPr>
              <a:t>el </a:t>
            </a:r>
            <a:r>
              <a:rPr sz="1800" spc="-10" dirty="0">
                <a:latin typeface="Calibri"/>
                <a:cs typeface="Calibri"/>
              </a:rPr>
              <a:t>negocio, </a:t>
            </a:r>
            <a:r>
              <a:rPr sz="1800" spc="-5" dirty="0">
                <a:latin typeface="Calibri"/>
                <a:cs typeface="Calibri"/>
              </a:rPr>
              <a:t>asignándole </a:t>
            </a:r>
            <a:r>
              <a:rPr sz="1800" dirty="0">
                <a:latin typeface="Calibri"/>
                <a:cs typeface="Calibri"/>
              </a:rPr>
              <a:t>un </a:t>
            </a:r>
            <a:r>
              <a:rPr sz="1800" spc="-15" dirty="0">
                <a:latin typeface="Calibri"/>
                <a:cs typeface="Calibri"/>
              </a:rPr>
              <a:t>rol  </a:t>
            </a:r>
            <a:r>
              <a:rPr sz="1800" spc="-10" dirty="0">
                <a:latin typeface="Calibri"/>
                <a:cs typeface="Calibri"/>
              </a:rPr>
              <a:t>instrumental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estratégico.</a:t>
            </a:r>
            <a:endParaRPr sz="1800">
              <a:latin typeface="Calibri"/>
              <a:cs typeface="Calibri"/>
            </a:endParaRPr>
          </a:p>
          <a:p>
            <a:pPr marL="817880" lvl="1" indent="-348615" algn="just">
              <a:lnSpc>
                <a:spcPct val="100000"/>
              </a:lnSpc>
              <a:buFont typeface="Wingdings"/>
              <a:buChar char=""/>
              <a:tabLst>
                <a:tab pos="818515" algn="l"/>
              </a:tabLst>
            </a:pPr>
            <a:r>
              <a:rPr sz="1800" spc="-25" dirty="0">
                <a:latin typeface="Calibri"/>
                <a:cs typeface="Calibri"/>
              </a:rPr>
              <a:t>Trabaja </a:t>
            </a:r>
            <a:r>
              <a:rPr sz="1800" spc="-10" dirty="0">
                <a:latin typeface="Calibri"/>
                <a:cs typeface="Calibri"/>
              </a:rPr>
              <a:t>con </a:t>
            </a:r>
            <a:r>
              <a:rPr sz="1800" dirty="0">
                <a:latin typeface="Calibri"/>
                <a:cs typeface="Calibri"/>
              </a:rPr>
              <a:t>la </a:t>
            </a:r>
            <a:r>
              <a:rPr sz="1800" spc="-5" dirty="0">
                <a:latin typeface="Calibri"/>
                <a:cs typeface="Calibri"/>
              </a:rPr>
              <a:t>TI en </a:t>
            </a:r>
            <a:r>
              <a:rPr sz="1800" spc="-10" dirty="0">
                <a:latin typeface="Calibri"/>
                <a:cs typeface="Calibri"/>
              </a:rPr>
              <a:t>lugar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evitarla, convirtiéndose en </a:t>
            </a:r>
            <a:r>
              <a:rPr sz="1800" dirty="0">
                <a:latin typeface="Calibri"/>
                <a:cs typeface="Calibri"/>
              </a:rPr>
              <a:t>un </a:t>
            </a:r>
            <a:r>
              <a:rPr sz="1800" spc="-5" dirty="0">
                <a:latin typeface="Calibri"/>
                <a:cs typeface="Calibri"/>
              </a:rPr>
              <a:t>usuario</a:t>
            </a:r>
            <a:r>
              <a:rPr sz="1800" spc="16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calificado.</a:t>
            </a:r>
            <a:endParaRPr sz="1800">
              <a:latin typeface="Calibri"/>
              <a:cs typeface="Calibri"/>
            </a:endParaRPr>
          </a:p>
          <a:p>
            <a:pPr marL="817880" marR="5715" lvl="1" indent="-348615" algn="just">
              <a:lnSpc>
                <a:spcPct val="100000"/>
              </a:lnSpc>
              <a:buFont typeface="Wingdings"/>
              <a:buChar char=""/>
              <a:tabLst>
                <a:tab pos="818515" algn="l"/>
              </a:tabLst>
            </a:pPr>
            <a:r>
              <a:rPr sz="1800" spc="-15" dirty="0">
                <a:latin typeface="Calibri"/>
                <a:cs typeface="Calibri"/>
              </a:rPr>
              <a:t>Está </a:t>
            </a:r>
            <a:r>
              <a:rPr sz="1800" spc="-10" dirty="0">
                <a:latin typeface="Calibri"/>
                <a:cs typeface="Calibri"/>
              </a:rPr>
              <a:t>dispuesto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entender </a:t>
            </a:r>
            <a:r>
              <a:rPr sz="1800" dirty="0">
                <a:latin typeface="Calibri"/>
                <a:cs typeface="Calibri"/>
              </a:rPr>
              <a:t>los </a:t>
            </a:r>
            <a:r>
              <a:rPr sz="1800" spc="-5" dirty="0">
                <a:latin typeface="Calibri"/>
                <a:cs typeface="Calibri"/>
              </a:rPr>
              <a:t>conceptos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tendencias </a:t>
            </a:r>
            <a:r>
              <a:rPr sz="1800" dirty="0">
                <a:latin typeface="Calibri"/>
                <a:cs typeface="Calibri"/>
              </a:rPr>
              <a:t>de la </a:t>
            </a:r>
            <a:r>
              <a:rPr sz="1800" spc="-5" dirty="0">
                <a:latin typeface="Calibri"/>
                <a:cs typeface="Calibri"/>
              </a:rPr>
              <a:t>TI aplicables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su  </a:t>
            </a:r>
            <a:r>
              <a:rPr sz="1800" spc="-10" dirty="0">
                <a:latin typeface="Calibri"/>
                <a:cs typeface="Calibri"/>
              </a:rPr>
              <a:t>negocio, </a:t>
            </a:r>
            <a:r>
              <a:rPr sz="1800" spc="-5" dirty="0">
                <a:latin typeface="Calibri"/>
                <a:cs typeface="Calibri"/>
              </a:rPr>
              <a:t>comprendiendo </a:t>
            </a:r>
            <a:r>
              <a:rPr sz="1800" dirty="0">
                <a:latin typeface="Calibri"/>
                <a:cs typeface="Calibri"/>
              </a:rPr>
              <a:t>la </a:t>
            </a:r>
            <a:r>
              <a:rPr sz="1800" spc="-5" dirty="0">
                <a:latin typeface="Calibri"/>
                <a:cs typeface="Calibri"/>
              </a:rPr>
              <a:t>relación </a:t>
            </a:r>
            <a:r>
              <a:rPr sz="1800" spc="-10" dirty="0">
                <a:latin typeface="Calibri"/>
                <a:cs typeface="Calibri"/>
              </a:rPr>
              <a:t>precio/rendimiento,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evaluando sus  decisiones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incorporación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5" dirty="0">
                <a:latin typeface="Calibri"/>
                <a:cs typeface="Calibri"/>
              </a:rPr>
              <a:t>través </a:t>
            </a:r>
            <a:r>
              <a:rPr sz="1800" spc="-5" dirty="0">
                <a:latin typeface="Calibri"/>
                <a:cs typeface="Calibri"/>
              </a:rPr>
              <a:t>del </a:t>
            </a:r>
            <a:r>
              <a:rPr sz="1800" dirty="0">
                <a:latin typeface="Calibri"/>
                <a:cs typeface="Calibri"/>
              </a:rPr>
              <a:t>análisis de </a:t>
            </a:r>
            <a:r>
              <a:rPr sz="1800" spc="-15" dirty="0">
                <a:latin typeface="Calibri"/>
                <a:cs typeface="Calibri"/>
              </a:rPr>
              <a:t>proyectos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inversión.</a:t>
            </a:r>
            <a:endParaRPr sz="1800">
              <a:latin typeface="Calibri"/>
              <a:cs typeface="Calibri"/>
            </a:endParaRPr>
          </a:p>
          <a:p>
            <a:pPr marL="817880" marR="6350" lvl="1" indent="-348615" algn="just">
              <a:lnSpc>
                <a:spcPct val="100000"/>
              </a:lnSpc>
              <a:buFont typeface="Wingdings"/>
              <a:buChar char=""/>
              <a:tabLst>
                <a:tab pos="818515" algn="l"/>
              </a:tabLst>
            </a:pPr>
            <a:r>
              <a:rPr sz="1800" spc="-5" dirty="0">
                <a:latin typeface="Calibri"/>
                <a:cs typeface="Calibri"/>
              </a:rPr>
              <a:t>Sabe </a:t>
            </a:r>
            <a:r>
              <a:rPr sz="1800" dirty="0">
                <a:latin typeface="Calibri"/>
                <a:cs typeface="Calibri"/>
              </a:rPr>
              <a:t>qué </a:t>
            </a:r>
            <a:r>
              <a:rPr sz="1800" spc="-25" dirty="0">
                <a:latin typeface="Calibri"/>
                <a:cs typeface="Calibri"/>
              </a:rPr>
              <a:t>preguntar, </a:t>
            </a:r>
            <a:r>
              <a:rPr sz="1800" dirty="0">
                <a:latin typeface="Calibri"/>
                <a:cs typeface="Calibri"/>
              </a:rPr>
              <a:t>cuándo y </a:t>
            </a:r>
            <a:r>
              <a:rPr sz="1800" spc="-10" dirty="0">
                <a:latin typeface="Calibri"/>
                <a:cs typeface="Calibri"/>
              </a:rPr>
              <a:t>cómo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10" dirty="0">
                <a:latin typeface="Calibri"/>
                <a:cs typeface="Calibri"/>
              </a:rPr>
              <a:t>facilita </a:t>
            </a:r>
            <a:r>
              <a:rPr sz="1800" dirty="0">
                <a:latin typeface="Calibri"/>
                <a:cs typeface="Calibri"/>
              </a:rPr>
              <a:t>un buen </a:t>
            </a:r>
            <a:r>
              <a:rPr sz="1800" spc="-5" dirty="0">
                <a:latin typeface="Calibri"/>
                <a:cs typeface="Calibri"/>
              </a:rPr>
              <a:t>diálogo </a:t>
            </a:r>
            <a:r>
              <a:rPr sz="1800" spc="-10" dirty="0">
                <a:latin typeface="Calibri"/>
                <a:cs typeface="Calibri"/>
              </a:rPr>
              <a:t>con </a:t>
            </a:r>
            <a:r>
              <a:rPr sz="1800" dirty="0">
                <a:latin typeface="Calibri"/>
                <a:cs typeface="Calibri"/>
              </a:rPr>
              <a:t>los </a:t>
            </a:r>
            <a:r>
              <a:rPr sz="1800" spc="-5" dirty="0">
                <a:latin typeface="Calibri"/>
                <a:cs typeface="Calibri"/>
              </a:rPr>
              <a:t>tecnólogos,  desafiando sus </a:t>
            </a:r>
            <a:r>
              <a:rPr sz="1800" spc="-10" dirty="0">
                <a:latin typeface="Calibri"/>
                <a:cs typeface="Calibri"/>
              </a:rPr>
              <a:t>propios </a:t>
            </a:r>
            <a:r>
              <a:rPr sz="1800" dirty="0">
                <a:latin typeface="Calibri"/>
                <a:cs typeface="Calibri"/>
              </a:rPr>
              <a:t>modelos de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pensamiento.</a:t>
            </a:r>
            <a:endParaRPr sz="1800">
              <a:latin typeface="Calibri"/>
              <a:cs typeface="Calibri"/>
            </a:endParaRPr>
          </a:p>
          <a:p>
            <a:pPr marL="817880" marR="5715" lvl="1" indent="-348615" algn="just">
              <a:lnSpc>
                <a:spcPct val="100000"/>
              </a:lnSpc>
              <a:buFont typeface="Wingdings"/>
              <a:buChar char=""/>
              <a:tabLst>
                <a:tab pos="818515" algn="l"/>
              </a:tabLst>
            </a:pPr>
            <a:r>
              <a:rPr sz="1800" spc="-5" dirty="0">
                <a:latin typeface="Calibri"/>
                <a:cs typeface="Calibri"/>
              </a:rPr>
              <a:t>Entiende </a:t>
            </a:r>
            <a:r>
              <a:rPr sz="1800" dirty="0">
                <a:latin typeface="Calibri"/>
                <a:cs typeface="Calibri"/>
              </a:rPr>
              <a:t>que es </a:t>
            </a:r>
            <a:r>
              <a:rPr sz="1800" spc="-10" dirty="0">
                <a:latin typeface="Calibri"/>
                <a:cs typeface="Calibri"/>
              </a:rPr>
              <a:t>tan </a:t>
            </a:r>
            <a:r>
              <a:rPr sz="1800" spc="-5" dirty="0">
                <a:latin typeface="Calibri"/>
                <a:cs typeface="Calibri"/>
              </a:rPr>
              <a:t>peligroso </a:t>
            </a:r>
            <a:r>
              <a:rPr sz="1800" dirty="0">
                <a:latin typeface="Calibri"/>
                <a:cs typeface="Calibri"/>
              </a:rPr>
              <a:t>no </a:t>
            </a:r>
            <a:r>
              <a:rPr sz="1800" spc="-5" dirty="0">
                <a:latin typeface="Calibri"/>
                <a:cs typeface="Calibri"/>
              </a:rPr>
              <a:t>creer en </a:t>
            </a:r>
            <a:r>
              <a:rPr sz="1800" dirty="0">
                <a:latin typeface="Calibri"/>
                <a:cs typeface="Calibri"/>
              </a:rPr>
              <a:t>los </a:t>
            </a:r>
            <a:r>
              <a:rPr sz="1800" spc="-5" dirty="0">
                <a:latin typeface="Calibri"/>
                <a:cs typeface="Calibri"/>
              </a:rPr>
              <a:t>aportes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el valor </a:t>
            </a:r>
            <a:r>
              <a:rPr sz="1800" dirty="0">
                <a:latin typeface="Calibri"/>
                <a:cs typeface="Calibri"/>
              </a:rPr>
              <a:t>de la </a:t>
            </a:r>
            <a:r>
              <a:rPr sz="1800" spc="-5" dirty="0">
                <a:latin typeface="Calibri"/>
                <a:cs typeface="Calibri"/>
              </a:rPr>
              <a:t>TI </a:t>
            </a:r>
            <a:r>
              <a:rPr sz="1800" spc="-10" dirty="0">
                <a:latin typeface="Calibri"/>
                <a:cs typeface="Calibri"/>
              </a:rPr>
              <a:t>como </a:t>
            </a:r>
            <a:r>
              <a:rPr sz="1800" spc="-5" dirty="0">
                <a:latin typeface="Calibri"/>
                <a:cs typeface="Calibri"/>
              </a:rPr>
              <a:t>ser </a:t>
            </a:r>
            <a:r>
              <a:rPr sz="1800" spc="5" dirty="0">
                <a:latin typeface="Calibri"/>
                <a:cs typeface="Calibri"/>
              </a:rPr>
              <a:t>un  </a:t>
            </a:r>
            <a:r>
              <a:rPr sz="1800" spc="-10" dirty="0">
                <a:latin typeface="Calibri"/>
                <a:cs typeface="Calibri"/>
              </a:rPr>
              <a:t>fanático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ella.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78942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 – </a:t>
            </a:r>
            <a:r>
              <a:rPr spc="-10" dirty="0"/>
              <a:t>Planeamiento </a:t>
            </a:r>
            <a:r>
              <a:rPr spc="-5" dirty="0"/>
              <a:t>Estratégico de Sistemas de Información</a:t>
            </a:r>
            <a:r>
              <a:rPr spc="165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" dirty="0">
                <a:latin typeface="Calibri"/>
                <a:cs typeface="Calibri"/>
              </a:rPr>
              <a:t>El </a:t>
            </a:r>
            <a:r>
              <a:rPr sz="1800" b="0" dirty="0">
                <a:latin typeface="Calibri"/>
                <a:cs typeface="Calibri"/>
              </a:rPr>
              <a:t>rol </a:t>
            </a:r>
            <a:r>
              <a:rPr sz="1800" b="0" spc="-5" dirty="0">
                <a:latin typeface="Calibri"/>
                <a:cs typeface="Calibri"/>
              </a:rPr>
              <a:t>del</a:t>
            </a:r>
            <a:r>
              <a:rPr sz="1800" b="0" spc="10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CIO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78942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 – </a:t>
            </a:r>
            <a:r>
              <a:rPr spc="-10" dirty="0"/>
              <a:t>Planeamiento </a:t>
            </a:r>
            <a:r>
              <a:rPr spc="-5" dirty="0"/>
              <a:t>Estratégico de Sistemas de Información</a:t>
            </a:r>
            <a:r>
              <a:rPr spc="165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" dirty="0">
                <a:latin typeface="Calibri"/>
                <a:cs typeface="Calibri"/>
              </a:rPr>
              <a:t>El </a:t>
            </a:r>
            <a:r>
              <a:rPr sz="1800" b="0" dirty="0">
                <a:latin typeface="Calibri"/>
                <a:cs typeface="Calibri"/>
              </a:rPr>
              <a:t>rol </a:t>
            </a:r>
            <a:r>
              <a:rPr sz="1800" b="0" spc="-5" dirty="0">
                <a:latin typeface="Calibri"/>
                <a:cs typeface="Calibri"/>
              </a:rPr>
              <a:t>del</a:t>
            </a:r>
            <a:r>
              <a:rPr sz="1800" b="0" spc="10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CIO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600" y="1143000"/>
            <a:ext cx="5267706" cy="39692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48200" y="3133343"/>
            <a:ext cx="4239005" cy="3276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9908" y="5205221"/>
            <a:ext cx="41802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2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Fuente</a:t>
            </a:r>
            <a:r>
              <a:rPr sz="1200" spc="-5" dirty="0">
                <a:latin typeface="Calibri"/>
                <a:cs typeface="Calibri"/>
              </a:rPr>
              <a:t>: </a:t>
            </a:r>
            <a:r>
              <a:rPr sz="1200" dirty="0">
                <a:latin typeface="Calibri"/>
                <a:cs typeface="Calibri"/>
              </a:rPr>
              <a:t>KPMG </a:t>
            </a:r>
            <a:r>
              <a:rPr sz="1200" spc="-5" dirty="0">
                <a:latin typeface="Calibri"/>
                <a:cs typeface="Calibri"/>
              </a:rPr>
              <a:t>(2016) </a:t>
            </a:r>
            <a:r>
              <a:rPr sz="1200" i="1" spc="-5" dirty="0">
                <a:latin typeface="Calibri"/>
                <a:cs typeface="Calibri"/>
              </a:rPr>
              <a:t>CIO Survey 2016: </a:t>
            </a:r>
            <a:r>
              <a:rPr sz="1200" i="1" dirty="0">
                <a:latin typeface="Calibri"/>
                <a:cs typeface="Calibri"/>
              </a:rPr>
              <a:t>the </a:t>
            </a:r>
            <a:r>
              <a:rPr sz="1200" i="1" spc="-5" dirty="0">
                <a:latin typeface="Calibri"/>
                <a:cs typeface="Calibri"/>
              </a:rPr>
              <a:t>creative </a:t>
            </a:r>
            <a:r>
              <a:rPr sz="1200" i="1" spc="-10" dirty="0">
                <a:latin typeface="Calibri"/>
                <a:cs typeface="Calibri"/>
              </a:rPr>
              <a:t>CIO. </a:t>
            </a:r>
            <a:r>
              <a:rPr sz="1200" spc="-5" dirty="0">
                <a:latin typeface="Calibri"/>
                <a:cs typeface="Calibri"/>
              </a:rPr>
              <a:t>Disponible  </a:t>
            </a:r>
            <a:r>
              <a:rPr sz="1200" dirty="0">
                <a:latin typeface="Calibri"/>
                <a:cs typeface="Calibri"/>
                <a:hlinkClick r:id="rId4"/>
              </a:rPr>
              <a:t>en: </a:t>
            </a:r>
            <a:r>
              <a:rPr sz="1200" u="sng" spc="-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Calibri"/>
                <a:cs typeface="Calibri"/>
                <a:hlinkClick r:id="rId4"/>
              </a:rPr>
              <a:t>https://institutes.kpmg.us/content/dam/kpmg/advisory- </a:t>
            </a:r>
            <a:r>
              <a:rPr sz="1200" spc="-5" dirty="0">
                <a:solidFill>
                  <a:srgbClr val="8E248D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1200" u="sng" spc="-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Calibri"/>
                <a:cs typeface="Calibri"/>
                <a:hlinkClick r:id="rId4"/>
              </a:rPr>
              <a:t>institute/pdf/2016/cio-survey-harvey-nash-2016-full-report.pdf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78942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 – </a:t>
            </a:r>
            <a:r>
              <a:rPr spc="-10" dirty="0"/>
              <a:t>Planeamiento </a:t>
            </a:r>
            <a:r>
              <a:rPr spc="-5" dirty="0"/>
              <a:t>Estratégico de Sistemas de Información</a:t>
            </a:r>
            <a:r>
              <a:rPr spc="165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" dirty="0">
                <a:latin typeface="Calibri"/>
                <a:cs typeface="Calibri"/>
              </a:rPr>
              <a:t>El </a:t>
            </a:r>
            <a:r>
              <a:rPr sz="1800" b="0" dirty="0">
                <a:latin typeface="Calibri"/>
                <a:cs typeface="Calibri"/>
              </a:rPr>
              <a:t>rol </a:t>
            </a:r>
            <a:r>
              <a:rPr sz="1800" b="0" spc="-5" dirty="0">
                <a:latin typeface="Calibri"/>
                <a:cs typeface="Calibri"/>
              </a:rPr>
              <a:t>del</a:t>
            </a:r>
            <a:r>
              <a:rPr sz="1800" b="0" spc="10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CIO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" y="1143000"/>
            <a:ext cx="4174998" cy="2404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3400" y="1981200"/>
            <a:ext cx="4476750" cy="35913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3725417"/>
            <a:ext cx="4174998" cy="25991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01641" y="5644133"/>
            <a:ext cx="41802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2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Fuente</a:t>
            </a:r>
            <a:r>
              <a:rPr sz="1200" spc="-5" dirty="0">
                <a:latin typeface="Calibri"/>
                <a:cs typeface="Calibri"/>
              </a:rPr>
              <a:t>: </a:t>
            </a:r>
            <a:r>
              <a:rPr sz="1200" dirty="0">
                <a:latin typeface="Calibri"/>
                <a:cs typeface="Calibri"/>
              </a:rPr>
              <a:t>KPMG </a:t>
            </a:r>
            <a:r>
              <a:rPr sz="1200" spc="-5" dirty="0">
                <a:latin typeface="Calibri"/>
                <a:cs typeface="Calibri"/>
              </a:rPr>
              <a:t>(2016) </a:t>
            </a:r>
            <a:r>
              <a:rPr sz="1200" i="1" spc="-5" dirty="0">
                <a:latin typeface="Calibri"/>
                <a:cs typeface="Calibri"/>
              </a:rPr>
              <a:t>CIO Survey 2016: </a:t>
            </a:r>
            <a:r>
              <a:rPr sz="1200" i="1" dirty="0">
                <a:latin typeface="Calibri"/>
                <a:cs typeface="Calibri"/>
              </a:rPr>
              <a:t>the </a:t>
            </a:r>
            <a:r>
              <a:rPr sz="1200" i="1" spc="-5" dirty="0">
                <a:latin typeface="Calibri"/>
                <a:cs typeface="Calibri"/>
              </a:rPr>
              <a:t>creative </a:t>
            </a:r>
            <a:r>
              <a:rPr sz="1200" i="1" spc="-10" dirty="0">
                <a:latin typeface="Calibri"/>
                <a:cs typeface="Calibri"/>
              </a:rPr>
              <a:t>CIO. </a:t>
            </a:r>
            <a:r>
              <a:rPr sz="1200" spc="-5" dirty="0">
                <a:latin typeface="Calibri"/>
                <a:cs typeface="Calibri"/>
              </a:rPr>
              <a:t>Disponible  </a:t>
            </a:r>
            <a:r>
              <a:rPr sz="1200" dirty="0">
                <a:latin typeface="Calibri"/>
                <a:cs typeface="Calibri"/>
                <a:hlinkClick r:id="rId5"/>
              </a:rPr>
              <a:t>en: </a:t>
            </a:r>
            <a:r>
              <a:rPr sz="1200" u="sng" spc="-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Calibri"/>
                <a:cs typeface="Calibri"/>
                <a:hlinkClick r:id="rId5"/>
              </a:rPr>
              <a:t>https://institutes.kpmg.us/content/dam/kpmg/advisory- </a:t>
            </a:r>
            <a:r>
              <a:rPr sz="1200" spc="-5" dirty="0">
                <a:solidFill>
                  <a:srgbClr val="8E248D"/>
                </a:solidFill>
                <a:latin typeface="Calibri"/>
                <a:cs typeface="Calibri"/>
                <a:hlinkClick r:id="rId5"/>
              </a:rPr>
              <a:t> </a:t>
            </a:r>
            <a:r>
              <a:rPr sz="1200" u="sng" spc="-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Calibri"/>
                <a:cs typeface="Calibri"/>
                <a:hlinkClick r:id="rId5"/>
              </a:rPr>
              <a:t>institute/pdf/2016/cio-survey-harvey-nash-2016-full-report.pdf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15130" y="4580763"/>
            <a:ext cx="773430" cy="685800"/>
          </a:xfrm>
          <a:custGeom>
            <a:avLst/>
            <a:gdLst/>
            <a:ahLst/>
            <a:cxnLst/>
            <a:rect l="l" t="t" r="r" b="b"/>
            <a:pathLst>
              <a:path w="773429" h="685800">
                <a:moveTo>
                  <a:pt x="773430" y="0"/>
                </a:moveTo>
                <a:lnTo>
                  <a:pt x="171450" y="0"/>
                </a:lnTo>
                <a:lnTo>
                  <a:pt x="0" y="685800"/>
                </a:lnTo>
                <a:lnTo>
                  <a:pt x="601980" y="685800"/>
                </a:lnTo>
                <a:lnTo>
                  <a:pt x="77343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15130" y="4580763"/>
            <a:ext cx="773430" cy="685800"/>
          </a:xfrm>
          <a:custGeom>
            <a:avLst/>
            <a:gdLst/>
            <a:ahLst/>
            <a:cxnLst/>
            <a:rect l="l" t="t" r="r" b="b"/>
            <a:pathLst>
              <a:path w="773429" h="685800">
                <a:moveTo>
                  <a:pt x="0" y="685800"/>
                </a:moveTo>
                <a:lnTo>
                  <a:pt x="171450" y="0"/>
                </a:lnTo>
                <a:lnTo>
                  <a:pt x="773430" y="0"/>
                </a:lnTo>
                <a:lnTo>
                  <a:pt x="601980" y="685800"/>
                </a:lnTo>
                <a:lnTo>
                  <a:pt x="0" y="685800"/>
                </a:lnTo>
                <a:close/>
              </a:path>
            </a:pathLst>
          </a:custGeom>
          <a:ln w="990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1113" y="4474830"/>
            <a:ext cx="3684904" cy="169037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540"/>
              </a:spcBef>
            </a:pPr>
            <a:r>
              <a:rPr sz="3000" b="1" spc="-5" dirty="0">
                <a:solidFill>
                  <a:srgbClr val="FFFFFF"/>
                </a:solidFill>
                <a:latin typeface="Calibri"/>
                <a:cs typeface="Calibri"/>
              </a:rPr>
              <a:t>II</a:t>
            </a:r>
            <a:endParaRPr sz="3000" dirty="0">
              <a:latin typeface="Calibri"/>
              <a:cs typeface="Calibri"/>
            </a:endParaRPr>
          </a:p>
          <a:p>
            <a:pPr marL="1009015" marR="533400" indent="-996950">
              <a:lnSpc>
                <a:spcPct val="100000"/>
              </a:lnSpc>
              <a:spcBef>
                <a:spcPts val="1350"/>
              </a:spcBef>
            </a:pPr>
            <a:r>
              <a:rPr sz="2800" b="1" spc="-5" dirty="0">
                <a:solidFill>
                  <a:srgbClr val="00338D"/>
                </a:solidFill>
                <a:latin typeface="Calibri"/>
                <a:cs typeface="Calibri"/>
              </a:rPr>
              <a:t>Gestión </a:t>
            </a:r>
            <a:r>
              <a:rPr sz="2800" b="1" dirty="0">
                <a:solidFill>
                  <a:srgbClr val="00338D"/>
                </a:solidFill>
                <a:latin typeface="Calibri"/>
                <a:cs typeface="Calibri"/>
              </a:rPr>
              <a:t>de</a:t>
            </a:r>
            <a:r>
              <a:rPr sz="2800" b="1" spc="-75" dirty="0">
                <a:solidFill>
                  <a:srgbClr val="00338D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338D"/>
                </a:solidFill>
                <a:latin typeface="Calibri"/>
                <a:cs typeface="Calibri"/>
              </a:rPr>
              <a:t>Proyectos  </a:t>
            </a:r>
            <a:r>
              <a:rPr sz="2800" b="1" dirty="0">
                <a:solidFill>
                  <a:srgbClr val="00338D"/>
                </a:solidFill>
                <a:latin typeface="Calibri"/>
                <a:cs typeface="Calibri"/>
              </a:rPr>
              <a:t>de</a:t>
            </a:r>
            <a:r>
              <a:rPr sz="2800" b="1" spc="-10" dirty="0">
                <a:solidFill>
                  <a:srgbClr val="00338D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8D"/>
                </a:solidFill>
                <a:latin typeface="Calibri"/>
                <a:cs typeface="Calibri"/>
              </a:rPr>
              <a:t>SI/TI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6174105" cy="58137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Gestión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Proyectos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SI/TI</a:t>
            </a:r>
            <a:r>
              <a:rPr sz="2000" b="1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 dirty="0">
              <a:latin typeface="Calibri"/>
              <a:cs typeface="Calibri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Fundamentos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conceptuales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5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Conceptualmente, resulta </a:t>
            </a:r>
            <a:r>
              <a:rPr sz="2400" b="1" dirty="0">
                <a:latin typeface="Calibri"/>
                <a:cs typeface="Calibri"/>
              </a:rPr>
              <a:t>necesario </a:t>
            </a:r>
            <a:r>
              <a:rPr sz="2400" b="1" spc="-15" dirty="0">
                <a:latin typeface="Calibri"/>
                <a:cs typeface="Calibri"/>
              </a:rPr>
              <a:t>diferenciar  </a:t>
            </a:r>
            <a:r>
              <a:rPr sz="2400" b="1" dirty="0">
                <a:latin typeface="Calibri"/>
                <a:cs typeface="Calibri"/>
              </a:rPr>
              <a:t>los </a:t>
            </a:r>
            <a:r>
              <a:rPr sz="2400" b="1" spc="-10" dirty="0">
                <a:latin typeface="Calibri"/>
                <a:cs typeface="Calibri"/>
              </a:rPr>
              <a:t>conceptos </a:t>
            </a:r>
            <a:r>
              <a:rPr sz="2400" b="1" dirty="0">
                <a:latin typeface="Calibri"/>
                <a:cs typeface="Calibri"/>
              </a:rPr>
              <a:t>de </a:t>
            </a:r>
            <a:r>
              <a:rPr sz="2400" b="1" spc="-10" dirty="0">
                <a:latin typeface="Calibri"/>
                <a:cs typeface="Calibri"/>
              </a:rPr>
              <a:t>Operaciones </a:t>
            </a:r>
            <a:r>
              <a:rPr sz="2400" b="1" dirty="0">
                <a:latin typeface="Calibri"/>
                <a:cs typeface="Calibri"/>
              </a:rPr>
              <a:t>y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Proyectos: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Operaciones</a:t>
            </a:r>
            <a:endParaRPr sz="24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Actividades que hacen al </a:t>
            </a:r>
            <a:r>
              <a:rPr sz="2000" spc="-10" dirty="0">
                <a:latin typeface="Calibri"/>
                <a:cs typeface="Calibri"/>
              </a:rPr>
              <a:t>funcionamiento </a:t>
            </a:r>
            <a:r>
              <a:rPr sz="2000" spc="-5" dirty="0">
                <a:latin typeface="Calibri"/>
                <a:cs typeface="Calibri"/>
              </a:rPr>
              <a:t>diaria de los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</a:t>
            </a:r>
            <a:endParaRPr sz="20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latin typeface="Calibri"/>
                <a:cs typeface="Calibri"/>
              </a:rPr>
              <a:t>Repetitivas </a:t>
            </a:r>
            <a:r>
              <a:rPr sz="2000" spc="-5" dirty="0">
                <a:latin typeface="Calibri"/>
                <a:cs typeface="Calibri"/>
              </a:rPr>
              <a:t>y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continuas</a:t>
            </a:r>
            <a:endParaRPr sz="20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latin typeface="Calibri"/>
                <a:cs typeface="Calibri"/>
              </a:rPr>
              <a:t>Cuentan con </a:t>
            </a:r>
            <a:r>
              <a:rPr sz="2000" spc="-15" dirty="0">
                <a:latin typeface="Calibri"/>
                <a:cs typeface="Calibri"/>
              </a:rPr>
              <a:t>recursos </a:t>
            </a:r>
            <a:r>
              <a:rPr sz="2000" spc="-5" dirty="0">
                <a:latin typeface="Calibri"/>
                <a:cs typeface="Calibri"/>
              </a:rPr>
              <a:t>humanos y materiales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regulares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0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5" dirty="0">
                <a:latin typeface="Calibri"/>
                <a:cs typeface="Calibri"/>
              </a:rPr>
              <a:t>Proyectos</a:t>
            </a:r>
            <a:endParaRPr sz="24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Actividades que tienen un </a:t>
            </a:r>
            <a:r>
              <a:rPr sz="2000" spc="-10" dirty="0">
                <a:latin typeface="Calibri"/>
                <a:cs typeface="Calibri"/>
              </a:rPr>
              <a:t>objetivo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alcanzar</a:t>
            </a:r>
            <a:endParaRPr sz="20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Son </a:t>
            </a:r>
            <a:r>
              <a:rPr sz="2000" spc="-10" dirty="0">
                <a:latin typeface="Calibri"/>
                <a:cs typeface="Calibri"/>
              </a:rPr>
              <a:t>únicos, con decisiones </a:t>
            </a:r>
            <a:r>
              <a:rPr sz="2000" spc="-5" dirty="0">
                <a:latin typeface="Calibri"/>
                <a:cs typeface="Calibri"/>
              </a:rPr>
              <a:t>específicas a </a:t>
            </a:r>
            <a:r>
              <a:rPr sz="2000" spc="-10" dirty="0">
                <a:latin typeface="Calibri"/>
                <a:cs typeface="Calibri"/>
              </a:rPr>
              <a:t>cada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uno</a:t>
            </a:r>
            <a:endParaRPr sz="20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latin typeface="Calibri"/>
                <a:cs typeface="Calibri"/>
              </a:rPr>
              <a:t>Cuentan con </a:t>
            </a:r>
            <a:r>
              <a:rPr sz="2000" spc="-15" dirty="0">
                <a:latin typeface="Calibri"/>
                <a:cs typeface="Calibri"/>
              </a:rPr>
              <a:t>recursos </a:t>
            </a:r>
            <a:r>
              <a:rPr sz="2000" spc="-5" dirty="0">
                <a:latin typeface="Calibri"/>
                <a:cs typeface="Calibri"/>
              </a:rPr>
              <a:t>humanos y </a:t>
            </a:r>
            <a:r>
              <a:rPr sz="2000" spc="-5" dirty="0" err="1">
                <a:latin typeface="Calibri"/>
                <a:cs typeface="Calibri"/>
              </a:rPr>
              <a:t>materiales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5" dirty="0" err="1">
                <a:latin typeface="Calibri"/>
                <a:cs typeface="Calibri"/>
              </a:rPr>
              <a:t>específicos</a:t>
            </a:r>
            <a:endParaRPr lang="es-ES" sz="2000" spc="-5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endParaRPr lang="es-AR" sz="2000" spc="-5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s-AR" sz="2000" b="1" spc="-5" dirty="0">
                <a:latin typeface="Calibri"/>
                <a:cs typeface="Calibri"/>
              </a:rPr>
              <a:t>¿Qué es Plan, por ejemplo el Plan espacial que llevo al hombre a la luna?</a:t>
            </a:r>
            <a:endParaRPr sz="2000" b="1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24471" y="1333500"/>
            <a:ext cx="2132076" cy="1409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05600" y="3041142"/>
            <a:ext cx="2342388" cy="1454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81800" y="4806696"/>
            <a:ext cx="2174748" cy="1441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2900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 – </a:t>
            </a:r>
            <a:r>
              <a:rPr spc="-10" dirty="0"/>
              <a:t>Gestión </a:t>
            </a:r>
            <a:r>
              <a:rPr spc="-5" dirty="0"/>
              <a:t>de </a:t>
            </a:r>
            <a:r>
              <a:rPr spc="-10" dirty="0"/>
              <a:t>Proyectos </a:t>
            </a:r>
            <a:r>
              <a:rPr spc="-5" dirty="0"/>
              <a:t>de SI/TI</a:t>
            </a:r>
            <a:r>
              <a:rPr spc="100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" dirty="0">
                <a:latin typeface="Calibri"/>
                <a:cs typeface="Calibri"/>
              </a:rPr>
              <a:t>Fundamentos</a:t>
            </a:r>
            <a:r>
              <a:rPr sz="1800" b="0" spc="5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conceptuales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34541"/>
            <a:ext cx="6173470" cy="4479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De </a:t>
            </a:r>
            <a:r>
              <a:rPr sz="2400" b="1" spc="-15" dirty="0">
                <a:latin typeface="Calibri"/>
                <a:cs typeface="Calibri"/>
              </a:rPr>
              <a:t>este modo, </a:t>
            </a:r>
            <a:r>
              <a:rPr sz="2400" b="1" dirty="0">
                <a:latin typeface="Calibri"/>
                <a:cs typeface="Calibri"/>
              </a:rPr>
              <a:t>puede </a:t>
            </a:r>
            <a:r>
              <a:rPr sz="2400" b="1" spc="-5" dirty="0">
                <a:latin typeface="Calibri"/>
                <a:cs typeface="Calibri"/>
              </a:rPr>
              <a:t>deslindarse </a:t>
            </a:r>
            <a:r>
              <a:rPr sz="2400" b="1" dirty="0">
                <a:latin typeface="Calibri"/>
                <a:cs typeface="Calibri"/>
              </a:rPr>
              <a:t>los </a:t>
            </a:r>
            <a:r>
              <a:rPr sz="2400" b="1" spc="-10" dirty="0">
                <a:latin typeface="Calibri"/>
                <a:cs typeface="Calibri"/>
              </a:rPr>
              <a:t>siguientes  fenómenos diferenciales </a:t>
            </a:r>
            <a:r>
              <a:rPr sz="2400" b="1" dirty="0">
                <a:latin typeface="Calibri"/>
                <a:cs typeface="Calibri"/>
              </a:rPr>
              <a:t>y</a:t>
            </a:r>
            <a:r>
              <a:rPr sz="2400" b="1" spc="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complementarios: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Gestión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operaciones</a:t>
            </a:r>
            <a:endParaRPr sz="24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latin typeface="Calibri"/>
                <a:cs typeface="Calibri"/>
              </a:rPr>
              <a:t>Objetivo: </a:t>
            </a:r>
            <a:r>
              <a:rPr sz="2000" spc="-5" dirty="0">
                <a:latin typeface="Calibri"/>
                <a:cs typeface="Calibri"/>
              </a:rPr>
              <a:t>que los SI funcionen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correctamente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Se tienen </a:t>
            </a:r>
            <a:r>
              <a:rPr sz="2000" spc="-10" dirty="0">
                <a:latin typeface="Calibri"/>
                <a:cs typeface="Calibri"/>
              </a:rPr>
              <a:t>indicadores </a:t>
            </a:r>
            <a:r>
              <a:rPr sz="2000" spc="-5" dirty="0">
                <a:latin typeface="Calibri"/>
                <a:cs typeface="Calibri"/>
              </a:rPr>
              <a:t>de calidad </a:t>
            </a:r>
            <a:r>
              <a:rPr sz="2000" spc="-15" dirty="0">
                <a:latin typeface="Calibri"/>
                <a:cs typeface="Calibri"/>
              </a:rPr>
              <a:t>para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controlarlas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Priorización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proyectos</a:t>
            </a:r>
            <a:endParaRPr sz="24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latin typeface="Calibri"/>
                <a:cs typeface="Calibri"/>
              </a:rPr>
              <a:t>Objetivo: eficacia </a:t>
            </a:r>
            <a:r>
              <a:rPr sz="2000" spc="-5" dirty="0">
                <a:latin typeface="Calibri"/>
                <a:cs typeface="Calibri"/>
              </a:rPr>
              <a:t>en </a:t>
            </a:r>
            <a:r>
              <a:rPr sz="2000" spc="-10" dirty="0">
                <a:latin typeface="Calibri"/>
                <a:cs typeface="Calibri"/>
              </a:rPr>
              <a:t>priorizar </a:t>
            </a:r>
            <a:r>
              <a:rPr sz="2000" spc="-15" dirty="0">
                <a:latin typeface="Calibri"/>
                <a:cs typeface="Calibri"/>
              </a:rPr>
              <a:t>proyectos </a:t>
            </a:r>
            <a:r>
              <a:rPr sz="2000" spc="-5" dirty="0">
                <a:latin typeface="Calibri"/>
                <a:cs typeface="Calibri"/>
              </a:rPr>
              <a:t>que agreguen  </a:t>
            </a:r>
            <a:r>
              <a:rPr sz="2000" spc="-15" dirty="0">
                <a:latin typeface="Calibri"/>
                <a:cs typeface="Calibri"/>
              </a:rPr>
              <a:t>mayor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valor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Administración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proyectos</a:t>
            </a:r>
            <a:endParaRPr sz="24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latin typeface="Calibri"/>
                <a:cs typeface="Calibri"/>
              </a:rPr>
              <a:t>Objetivo: eficiencia </a:t>
            </a:r>
            <a:r>
              <a:rPr sz="2000" spc="-5" dirty="0">
                <a:latin typeface="Calibri"/>
                <a:cs typeface="Calibri"/>
              </a:rPr>
              <a:t>en </a:t>
            </a:r>
            <a:r>
              <a:rPr sz="2000" spc="-10" dirty="0">
                <a:latin typeface="Calibri"/>
                <a:cs typeface="Calibri"/>
              </a:rPr>
              <a:t>alcanzar </a:t>
            </a:r>
            <a:r>
              <a:rPr sz="2000" spc="-5" dirty="0">
                <a:latin typeface="Calibri"/>
                <a:cs typeface="Calibri"/>
              </a:rPr>
              <a:t>el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objetivo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200" y="4495800"/>
            <a:ext cx="3464813" cy="1074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40652" y="2744723"/>
            <a:ext cx="2134361" cy="15986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42900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Gestión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Proyectos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SI/TI</a:t>
            </a:r>
            <a:r>
              <a:rPr sz="2000" b="1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Fundamentos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conceptuales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9268" y="1031493"/>
            <a:ext cx="33953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" dirty="0">
                <a:solidFill>
                  <a:srgbClr val="000000"/>
                </a:solidFill>
              </a:rPr>
              <a:t>Etapas </a:t>
            </a:r>
            <a:r>
              <a:rPr sz="2800" dirty="0">
                <a:solidFill>
                  <a:srgbClr val="000000"/>
                </a:solidFill>
              </a:rPr>
              <a:t>de un</a:t>
            </a:r>
            <a:r>
              <a:rPr sz="2800" spc="-60" dirty="0">
                <a:solidFill>
                  <a:srgbClr val="000000"/>
                </a:solidFill>
              </a:rPr>
              <a:t> </a:t>
            </a:r>
            <a:r>
              <a:rPr sz="2800" spc="-15" dirty="0">
                <a:solidFill>
                  <a:srgbClr val="000000"/>
                </a:solidFill>
              </a:rPr>
              <a:t>proyecto: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239268" y="1827021"/>
            <a:ext cx="4650105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400" b="1" spc="-10" dirty="0">
                <a:latin typeface="Calibri"/>
                <a:cs typeface="Calibri"/>
              </a:rPr>
              <a:t>Definición </a:t>
            </a:r>
            <a:r>
              <a:rPr sz="2400" b="1" dirty="0">
                <a:latin typeface="Calibri"/>
                <a:cs typeface="Calibri"/>
              </a:rPr>
              <a:t>de </a:t>
            </a:r>
            <a:r>
              <a:rPr sz="2400" b="1" spc="-10" dirty="0">
                <a:latin typeface="Calibri"/>
                <a:cs typeface="Calibri"/>
              </a:rPr>
              <a:t>límites </a:t>
            </a:r>
            <a:r>
              <a:rPr sz="2400" b="1" dirty="0">
                <a:latin typeface="Calibri"/>
                <a:cs typeface="Calibri"/>
              </a:rPr>
              <a:t>y </a:t>
            </a:r>
            <a:r>
              <a:rPr sz="2400" b="1" spc="-5" dirty="0">
                <a:latin typeface="Calibri"/>
                <a:cs typeface="Calibri"/>
              </a:rPr>
              <a:t>alcance </a:t>
            </a:r>
            <a:r>
              <a:rPr sz="2400" b="1" dirty="0">
                <a:latin typeface="Calibri"/>
                <a:cs typeface="Calibri"/>
              </a:rPr>
              <a:t>y  </a:t>
            </a:r>
            <a:r>
              <a:rPr sz="2400" b="1" spc="-5" dirty="0">
                <a:latin typeface="Calibri"/>
                <a:cs typeface="Calibri"/>
              </a:rPr>
              <a:t>estudio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5" dirty="0">
                <a:latin typeface="Calibri"/>
                <a:cs typeface="Calibri"/>
              </a:rPr>
              <a:t> factibilidad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alibri"/>
              <a:buAutoNum type="arabicPeriod"/>
            </a:pPr>
            <a:endParaRPr sz="250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400" b="1" spc="-10" dirty="0">
                <a:latin typeface="Calibri"/>
                <a:cs typeface="Calibri"/>
              </a:rPr>
              <a:t>Organización </a:t>
            </a:r>
            <a:r>
              <a:rPr sz="2400" b="1" dirty="0">
                <a:latin typeface="Calibri"/>
                <a:cs typeface="Calibri"/>
              </a:rPr>
              <a:t>y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planeamiento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alibri"/>
              <a:buAutoNum type="arabicPeriod"/>
            </a:pPr>
            <a:endParaRPr sz="250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400" b="1" spc="-5" dirty="0">
                <a:latin typeface="Calibri"/>
                <a:cs typeface="Calibri"/>
              </a:rPr>
              <a:t>Ejecución </a:t>
            </a:r>
            <a:r>
              <a:rPr sz="2400" b="1" dirty="0">
                <a:latin typeface="Calibri"/>
                <a:cs typeface="Calibri"/>
              </a:rPr>
              <a:t>y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control</a:t>
            </a:r>
            <a:endParaRPr sz="2400">
              <a:latin typeface="Calibri"/>
              <a:cs typeface="Calibri"/>
            </a:endParaRPr>
          </a:p>
          <a:p>
            <a:pPr marL="725805" lvl="1" indent="-269240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725805" algn="l"/>
                <a:tab pos="726440" algn="l"/>
              </a:tabLst>
            </a:pPr>
            <a:r>
              <a:rPr sz="2000" spc="-5" dirty="0">
                <a:latin typeface="Calibri"/>
                <a:cs typeface="Calibri"/>
              </a:rPr>
              <a:t>Análisis y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diseño</a:t>
            </a:r>
            <a:endParaRPr sz="2000">
              <a:latin typeface="Calibri"/>
              <a:cs typeface="Calibri"/>
            </a:endParaRPr>
          </a:p>
          <a:p>
            <a:pPr marL="725805" lvl="1" indent="-269240">
              <a:lnSpc>
                <a:spcPct val="100000"/>
              </a:lnSpc>
              <a:buFont typeface="Arial"/>
              <a:buChar char="•"/>
              <a:tabLst>
                <a:tab pos="725805" algn="l"/>
                <a:tab pos="726440" algn="l"/>
              </a:tabLst>
            </a:pPr>
            <a:r>
              <a:rPr sz="2000" spc="-5" dirty="0">
                <a:latin typeface="Calibri"/>
                <a:cs typeface="Calibri"/>
              </a:rPr>
              <a:t>Adquisición, </a:t>
            </a:r>
            <a:r>
              <a:rPr sz="2000" spc="-10" dirty="0">
                <a:latin typeface="Calibri"/>
                <a:cs typeface="Calibri"/>
              </a:rPr>
              <a:t>construcción </a:t>
            </a:r>
            <a:r>
              <a:rPr sz="2000" spc="-5" dirty="0">
                <a:latin typeface="Calibri"/>
                <a:cs typeface="Calibri"/>
              </a:rPr>
              <a:t>y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prueba</a:t>
            </a:r>
            <a:endParaRPr sz="2000">
              <a:latin typeface="Calibri"/>
              <a:cs typeface="Calibri"/>
            </a:endParaRPr>
          </a:p>
          <a:p>
            <a:pPr marL="725805" lvl="1" indent="-269240">
              <a:lnSpc>
                <a:spcPct val="100000"/>
              </a:lnSpc>
              <a:buFont typeface="Arial"/>
              <a:buChar char="•"/>
              <a:tabLst>
                <a:tab pos="725805" algn="l"/>
                <a:tab pos="726440" algn="l"/>
              </a:tabLst>
            </a:pPr>
            <a:r>
              <a:rPr sz="2000" spc="-10" dirty="0">
                <a:latin typeface="Calibri"/>
                <a:cs typeface="Calibri"/>
              </a:rPr>
              <a:t>Puesta </a:t>
            </a:r>
            <a:r>
              <a:rPr sz="2000" spc="-5" dirty="0">
                <a:latin typeface="Calibri"/>
                <a:cs typeface="Calibri"/>
              </a:rPr>
              <a:t>en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marcha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45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400" b="1" spc="-5" dirty="0">
                <a:latin typeface="Calibri"/>
                <a:cs typeface="Calibri"/>
              </a:rPr>
              <a:t>Finalización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50714" y="2971800"/>
            <a:ext cx="3768851" cy="175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2900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Gestión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Proyectos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SI/TI</a:t>
            </a:r>
            <a:r>
              <a:rPr sz="2000" b="1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Fundamentos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conceptuales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34541"/>
            <a:ext cx="7391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sz="2400" b="1" spc="-5" dirty="0">
                <a:latin typeface="Calibri"/>
                <a:cs typeface="Calibri"/>
              </a:rPr>
              <a:t>1.	</a:t>
            </a:r>
            <a:r>
              <a:rPr sz="2400" b="1" spc="-10" dirty="0">
                <a:latin typeface="Calibri"/>
                <a:cs typeface="Calibri"/>
              </a:rPr>
              <a:t>Definición </a:t>
            </a:r>
            <a:r>
              <a:rPr sz="2400" b="1" dirty="0">
                <a:latin typeface="Calibri"/>
                <a:cs typeface="Calibri"/>
              </a:rPr>
              <a:t>de </a:t>
            </a:r>
            <a:r>
              <a:rPr sz="2400" b="1" spc="-10" dirty="0">
                <a:latin typeface="Calibri"/>
                <a:cs typeface="Calibri"/>
              </a:rPr>
              <a:t>límites </a:t>
            </a:r>
            <a:r>
              <a:rPr sz="2400" b="1" dirty="0">
                <a:latin typeface="Calibri"/>
                <a:cs typeface="Calibri"/>
              </a:rPr>
              <a:t>y </a:t>
            </a:r>
            <a:r>
              <a:rPr sz="2400" b="1" spc="-5" dirty="0">
                <a:latin typeface="Calibri"/>
                <a:cs typeface="Calibri"/>
              </a:rPr>
              <a:t>alcance </a:t>
            </a:r>
            <a:r>
              <a:rPr sz="2400" b="1" dirty="0">
                <a:latin typeface="Calibri"/>
                <a:cs typeface="Calibri"/>
              </a:rPr>
              <a:t>y </a:t>
            </a:r>
            <a:r>
              <a:rPr sz="2400" b="1" spc="-5" dirty="0">
                <a:latin typeface="Calibri"/>
                <a:cs typeface="Calibri"/>
              </a:rPr>
              <a:t>estudio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factibilidad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971" y="1758967"/>
            <a:ext cx="7572285" cy="41165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2900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Gestión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Proyectos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SI/TI</a:t>
            </a:r>
            <a:r>
              <a:rPr sz="2000" b="1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Fundamentos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conceptuales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34541"/>
            <a:ext cx="41579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sz="2400" b="1" spc="-5" dirty="0">
                <a:latin typeface="Calibri"/>
                <a:cs typeface="Calibri"/>
              </a:rPr>
              <a:t>2.	</a:t>
            </a:r>
            <a:r>
              <a:rPr sz="2400" b="1" spc="-10" dirty="0">
                <a:latin typeface="Calibri"/>
                <a:cs typeface="Calibri"/>
              </a:rPr>
              <a:t>Organización </a:t>
            </a:r>
            <a:r>
              <a:rPr sz="2400" b="1" dirty="0">
                <a:latin typeface="Calibri"/>
                <a:cs typeface="Calibri"/>
              </a:rPr>
              <a:t>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planeamiento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0679" y="1734483"/>
            <a:ext cx="7620437" cy="39148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2900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 – </a:t>
            </a:r>
            <a:r>
              <a:rPr spc="-10" dirty="0"/>
              <a:t>Gestión </a:t>
            </a:r>
            <a:r>
              <a:rPr spc="-5" dirty="0"/>
              <a:t>de </a:t>
            </a:r>
            <a:r>
              <a:rPr spc="-10" dirty="0"/>
              <a:t>Proyectos </a:t>
            </a:r>
            <a:r>
              <a:rPr spc="-5" dirty="0"/>
              <a:t>de SI/TI</a:t>
            </a:r>
            <a:r>
              <a:rPr spc="100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" dirty="0">
                <a:latin typeface="Calibri"/>
                <a:cs typeface="Calibri"/>
              </a:rPr>
              <a:t>Fundamentos</a:t>
            </a:r>
            <a:r>
              <a:rPr sz="1800" b="0" spc="5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conceptuales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34541"/>
            <a:ext cx="2864485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469900" algn="l"/>
                <a:tab pos="470534" algn="l"/>
              </a:tabLst>
            </a:pPr>
            <a:r>
              <a:rPr sz="2400" b="1" spc="-5" dirty="0">
                <a:latin typeface="Calibri"/>
                <a:cs typeface="Calibri"/>
              </a:rPr>
              <a:t>Ejecución </a:t>
            </a:r>
            <a:r>
              <a:rPr sz="2400" b="1" dirty="0">
                <a:latin typeface="Calibri"/>
                <a:cs typeface="Calibri"/>
              </a:rPr>
              <a:t>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control</a:t>
            </a:r>
            <a:endParaRPr sz="2400">
              <a:latin typeface="Calibri"/>
              <a:cs typeface="Calibri"/>
            </a:endParaRPr>
          </a:p>
          <a:p>
            <a:pPr marL="725805" lvl="1" indent="-26924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725805" algn="l"/>
                <a:tab pos="726440" algn="l"/>
              </a:tabLst>
            </a:pPr>
            <a:r>
              <a:rPr sz="2000" spc="-5" dirty="0">
                <a:latin typeface="Calibri"/>
                <a:cs typeface="Calibri"/>
              </a:rPr>
              <a:t>Análisis 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diseño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1852" y="1875237"/>
            <a:ext cx="7581130" cy="39820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2900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 – </a:t>
            </a:r>
            <a:r>
              <a:rPr spc="-10" dirty="0"/>
              <a:t>Gestión </a:t>
            </a:r>
            <a:r>
              <a:rPr spc="-5" dirty="0"/>
              <a:t>de </a:t>
            </a:r>
            <a:r>
              <a:rPr spc="-10" dirty="0"/>
              <a:t>Proyectos </a:t>
            </a:r>
            <a:r>
              <a:rPr spc="-5" dirty="0"/>
              <a:t>de SI/TI</a:t>
            </a:r>
            <a:r>
              <a:rPr spc="100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" dirty="0">
                <a:latin typeface="Calibri"/>
                <a:cs typeface="Calibri"/>
              </a:rPr>
              <a:t>Fundamentos</a:t>
            </a:r>
            <a:r>
              <a:rPr sz="1800" b="0" spc="5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conceptuales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34541"/>
            <a:ext cx="4341495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469900" algn="l"/>
                <a:tab pos="470534" algn="l"/>
              </a:tabLst>
            </a:pPr>
            <a:r>
              <a:rPr sz="2400" b="1" spc="-5" dirty="0">
                <a:latin typeface="Calibri"/>
                <a:cs typeface="Calibri"/>
              </a:rPr>
              <a:t>Ejecución </a:t>
            </a:r>
            <a:r>
              <a:rPr sz="2400" b="1" dirty="0">
                <a:latin typeface="Calibri"/>
                <a:cs typeface="Calibri"/>
              </a:rPr>
              <a:t>y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control</a:t>
            </a:r>
            <a:endParaRPr sz="2400">
              <a:latin typeface="Calibri"/>
              <a:cs typeface="Calibri"/>
            </a:endParaRPr>
          </a:p>
          <a:p>
            <a:pPr marL="725805" lvl="1" indent="-26924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725805" algn="l"/>
                <a:tab pos="726440" algn="l"/>
              </a:tabLst>
            </a:pPr>
            <a:r>
              <a:rPr sz="2000" spc="-5" dirty="0">
                <a:latin typeface="Calibri"/>
                <a:cs typeface="Calibri"/>
              </a:rPr>
              <a:t>Adquisición, </a:t>
            </a:r>
            <a:r>
              <a:rPr sz="2000" spc="-10" dirty="0">
                <a:latin typeface="Calibri"/>
                <a:cs typeface="Calibri"/>
              </a:rPr>
              <a:t>construcción </a:t>
            </a:r>
            <a:r>
              <a:rPr sz="2000" spc="-5" dirty="0">
                <a:latin typeface="Calibri"/>
                <a:cs typeface="Calibri"/>
              </a:rPr>
              <a:t>y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prueba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9782" y="1890787"/>
            <a:ext cx="7254310" cy="37495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2900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 – </a:t>
            </a:r>
            <a:r>
              <a:rPr spc="-10" dirty="0"/>
              <a:t>Gestión </a:t>
            </a:r>
            <a:r>
              <a:rPr spc="-5" dirty="0"/>
              <a:t>de </a:t>
            </a:r>
            <a:r>
              <a:rPr spc="-10" dirty="0"/>
              <a:t>Proyectos </a:t>
            </a:r>
            <a:r>
              <a:rPr spc="-5" dirty="0"/>
              <a:t>de SI/TI</a:t>
            </a:r>
            <a:r>
              <a:rPr spc="100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" dirty="0">
                <a:latin typeface="Calibri"/>
                <a:cs typeface="Calibri"/>
              </a:rPr>
              <a:t>Fundamentos</a:t>
            </a:r>
            <a:r>
              <a:rPr sz="1800" b="0" spc="5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conceptuales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34541"/>
            <a:ext cx="2864485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469900" algn="l"/>
                <a:tab pos="470534" algn="l"/>
              </a:tabLst>
            </a:pPr>
            <a:r>
              <a:rPr sz="2400" b="1" spc="-5" dirty="0">
                <a:latin typeface="Calibri"/>
                <a:cs typeface="Calibri"/>
              </a:rPr>
              <a:t>Ejecución </a:t>
            </a:r>
            <a:r>
              <a:rPr sz="2400" b="1" dirty="0">
                <a:latin typeface="Calibri"/>
                <a:cs typeface="Calibri"/>
              </a:rPr>
              <a:t>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control</a:t>
            </a:r>
            <a:endParaRPr sz="2400">
              <a:latin typeface="Calibri"/>
              <a:cs typeface="Calibri"/>
            </a:endParaRPr>
          </a:p>
          <a:p>
            <a:pPr marL="725805" lvl="1" indent="-26924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725805" algn="l"/>
                <a:tab pos="726440" algn="l"/>
              </a:tabLst>
            </a:pPr>
            <a:r>
              <a:rPr sz="2000" spc="-10" dirty="0">
                <a:latin typeface="Calibri"/>
                <a:cs typeface="Calibri"/>
              </a:rPr>
              <a:t>Puesta </a:t>
            </a:r>
            <a:r>
              <a:rPr sz="2000" spc="-5" dirty="0">
                <a:latin typeface="Calibri"/>
                <a:cs typeface="Calibri"/>
              </a:rPr>
              <a:t>en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marcha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2960" y="1864459"/>
            <a:ext cx="7381654" cy="4124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2900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Gestión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Proyectos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SI/TI</a:t>
            </a:r>
            <a:r>
              <a:rPr sz="2000" b="1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Fundamentos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conceptuales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34541"/>
            <a:ext cx="1957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sz="2400" b="1" spc="-5" dirty="0">
                <a:latin typeface="Calibri"/>
                <a:cs typeface="Calibri"/>
              </a:rPr>
              <a:t>4</a:t>
            </a:r>
            <a:r>
              <a:rPr sz="2400" b="1" dirty="0">
                <a:latin typeface="Calibri"/>
                <a:cs typeface="Calibri"/>
              </a:rPr>
              <a:t>.	Final</a:t>
            </a:r>
            <a:r>
              <a:rPr sz="2400" b="1" spc="-10" dirty="0">
                <a:latin typeface="Calibri"/>
                <a:cs typeface="Calibri"/>
              </a:rPr>
              <a:t>i</a:t>
            </a:r>
            <a:r>
              <a:rPr sz="2400" b="1" spc="-30" dirty="0">
                <a:latin typeface="Calibri"/>
                <a:cs typeface="Calibri"/>
              </a:rPr>
              <a:t>z</a:t>
            </a:r>
            <a:r>
              <a:rPr sz="2400" b="1" dirty="0">
                <a:latin typeface="Calibri"/>
                <a:cs typeface="Calibri"/>
              </a:rPr>
              <a:t>aci</a:t>
            </a:r>
            <a:r>
              <a:rPr sz="2400" b="1" spc="-10" dirty="0">
                <a:latin typeface="Calibri"/>
                <a:cs typeface="Calibri"/>
              </a:rPr>
              <a:t>ó</a:t>
            </a:r>
            <a:r>
              <a:rPr sz="2400" b="1" dirty="0"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1691" y="1711569"/>
            <a:ext cx="7596381" cy="41499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2900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Gestión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Proyectos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SI/TI</a:t>
            </a:r>
            <a:r>
              <a:rPr sz="2000" b="1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Herramientas para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gestión de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34541"/>
            <a:ext cx="70650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Existen diversas herramientas </a:t>
            </a:r>
            <a:r>
              <a:rPr sz="2400" b="1" spc="-15" dirty="0">
                <a:latin typeface="Calibri"/>
                <a:cs typeface="Calibri"/>
              </a:rPr>
              <a:t>para </a:t>
            </a:r>
            <a:r>
              <a:rPr sz="2400" b="1" spc="-10" dirty="0">
                <a:latin typeface="Calibri"/>
                <a:cs typeface="Calibri"/>
              </a:rPr>
              <a:t>gestionar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proyectos: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3292" y="1771580"/>
            <a:ext cx="7675097" cy="42412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 – </a:t>
            </a:r>
            <a:r>
              <a:rPr spc="-10" dirty="0"/>
              <a:t>Gestión </a:t>
            </a:r>
            <a:r>
              <a:rPr spc="-5" dirty="0"/>
              <a:t>de </a:t>
            </a:r>
            <a:r>
              <a:rPr spc="-10" dirty="0"/>
              <a:t>Proyectos </a:t>
            </a:r>
            <a:r>
              <a:rPr spc="-5" dirty="0"/>
              <a:t>de SI/TI</a:t>
            </a:r>
            <a:r>
              <a:rPr spc="10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258" y="500126"/>
            <a:ext cx="397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Herramientas para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gestión de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31493"/>
            <a:ext cx="861631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693545" algn="l"/>
                <a:tab pos="2233930" algn="l"/>
                <a:tab pos="4769485" algn="l"/>
                <a:tab pos="5396865" algn="l"/>
                <a:tab pos="6635115" algn="l"/>
                <a:tab pos="6973570" algn="l"/>
                <a:tab pos="8232140" algn="l"/>
              </a:tabLst>
            </a:pPr>
            <a:r>
              <a:rPr sz="2800" b="1" dirty="0">
                <a:latin typeface="Calibri"/>
                <a:cs typeface="Calibri"/>
              </a:rPr>
              <a:t>E</a:t>
            </a:r>
            <a:r>
              <a:rPr sz="2800" b="1" spc="-40" dirty="0">
                <a:latin typeface="Calibri"/>
                <a:cs typeface="Calibri"/>
              </a:rPr>
              <a:t>s</a:t>
            </a:r>
            <a:r>
              <a:rPr sz="2800" b="1" dirty="0">
                <a:latin typeface="Calibri"/>
                <a:cs typeface="Calibri"/>
              </a:rPr>
              <a:t>tructu</a:t>
            </a:r>
            <a:r>
              <a:rPr sz="2800" b="1" spc="-65" dirty="0">
                <a:latin typeface="Calibri"/>
                <a:cs typeface="Calibri"/>
              </a:rPr>
              <a:t>r</a:t>
            </a:r>
            <a:r>
              <a:rPr sz="2800" b="1" dirty="0">
                <a:latin typeface="Calibri"/>
                <a:cs typeface="Calibri"/>
              </a:rPr>
              <a:t>a	de	des</a:t>
            </a:r>
            <a:r>
              <a:rPr sz="2800" b="1" spc="-20" dirty="0">
                <a:latin typeface="Calibri"/>
                <a:cs typeface="Calibri"/>
              </a:rPr>
              <a:t>c</a:t>
            </a:r>
            <a:r>
              <a:rPr sz="2800" b="1" dirty="0">
                <a:latin typeface="Calibri"/>
                <a:cs typeface="Calibri"/>
              </a:rPr>
              <a:t>o</a:t>
            </a:r>
            <a:r>
              <a:rPr sz="2800" b="1" spc="-15" dirty="0">
                <a:latin typeface="Calibri"/>
                <a:cs typeface="Calibri"/>
              </a:rPr>
              <a:t>m</a:t>
            </a:r>
            <a:r>
              <a:rPr sz="2800" b="1" dirty="0">
                <a:latin typeface="Calibri"/>
                <a:cs typeface="Calibri"/>
              </a:rPr>
              <a:t>p</a:t>
            </a:r>
            <a:r>
              <a:rPr sz="2800" b="1" spc="-15" dirty="0">
                <a:latin typeface="Calibri"/>
                <a:cs typeface="Calibri"/>
              </a:rPr>
              <a:t>o</a:t>
            </a:r>
            <a:r>
              <a:rPr sz="2800" b="1" dirty="0">
                <a:latin typeface="Calibri"/>
                <a:cs typeface="Calibri"/>
              </a:rPr>
              <a:t>sici</a:t>
            </a:r>
            <a:r>
              <a:rPr sz="2800" b="1" spc="-15" dirty="0">
                <a:latin typeface="Calibri"/>
                <a:cs typeface="Calibri"/>
              </a:rPr>
              <a:t>ó</a:t>
            </a:r>
            <a:r>
              <a:rPr sz="2800" b="1" dirty="0">
                <a:latin typeface="Calibri"/>
                <a:cs typeface="Calibri"/>
              </a:rPr>
              <a:t>n	del	t</a:t>
            </a:r>
            <a:r>
              <a:rPr sz="2800" b="1" spc="-55" dirty="0">
                <a:latin typeface="Calibri"/>
                <a:cs typeface="Calibri"/>
              </a:rPr>
              <a:t>r</a:t>
            </a:r>
            <a:r>
              <a:rPr sz="2800" b="1" dirty="0">
                <a:latin typeface="Calibri"/>
                <a:cs typeface="Calibri"/>
              </a:rPr>
              <a:t>abajo	y	análisis	de  </a:t>
            </a:r>
            <a:r>
              <a:rPr sz="2800" b="1" spc="-10" dirty="0">
                <a:latin typeface="Calibri"/>
                <a:cs typeface="Calibri"/>
              </a:rPr>
              <a:t>precedencias </a:t>
            </a:r>
            <a:r>
              <a:rPr sz="2800" i="1" spc="-5" dirty="0">
                <a:latin typeface="Calibri"/>
                <a:cs typeface="Calibri"/>
              </a:rPr>
              <a:t>(WBS </a:t>
            </a:r>
            <a:r>
              <a:rPr sz="2800" i="1" dirty="0">
                <a:latin typeface="Calibri"/>
                <a:cs typeface="Calibri"/>
              </a:rPr>
              <a:t>– </a:t>
            </a:r>
            <a:r>
              <a:rPr sz="2800" i="1" spc="-35" dirty="0">
                <a:latin typeface="Calibri"/>
                <a:cs typeface="Calibri"/>
              </a:rPr>
              <a:t>Work </a:t>
            </a:r>
            <a:r>
              <a:rPr sz="2800" i="1" dirty="0">
                <a:latin typeface="Calibri"/>
                <a:cs typeface="Calibri"/>
              </a:rPr>
              <a:t>Base</a:t>
            </a:r>
            <a:r>
              <a:rPr sz="2800" i="1" spc="6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Structure)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0035" y="2337599"/>
            <a:ext cx="7853558" cy="38505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 – </a:t>
            </a:r>
            <a:r>
              <a:rPr spc="-10" dirty="0"/>
              <a:t>Gestión </a:t>
            </a:r>
            <a:r>
              <a:rPr spc="-5" dirty="0"/>
              <a:t>de </a:t>
            </a:r>
            <a:r>
              <a:rPr spc="-10" dirty="0"/>
              <a:t>Proyectos </a:t>
            </a:r>
            <a:r>
              <a:rPr spc="-5" dirty="0"/>
              <a:t>de SI/TI</a:t>
            </a:r>
            <a:r>
              <a:rPr spc="10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258" y="500126"/>
            <a:ext cx="397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Herramientas para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gestión de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31493"/>
            <a:ext cx="54565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Calibri"/>
                <a:cs typeface="Calibri"/>
              </a:rPr>
              <a:t>Diagramas </a:t>
            </a:r>
            <a:r>
              <a:rPr sz="2800" b="1" dirty="0">
                <a:latin typeface="Calibri"/>
                <a:cs typeface="Calibri"/>
              </a:rPr>
              <a:t>de </a:t>
            </a:r>
            <a:r>
              <a:rPr sz="2800" b="1" spc="-10" dirty="0">
                <a:latin typeface="Calibri"/>
                <a:cs typeface="Calibri"/>
              </a:rPr>
              <a:t>barras (Gantt) </a:t>
            </a:r>
            <a:r>
              <a:rPr sz="2800" b="1" dirty="0">
                <a:latin typeface="Calibri"/>
                <a:cs typeface="Calibri"/>
              </a:rPr>
              <a:t>y de</a:t>
            </a:r>
            <a:r>
              <a:rPr sz="2800" b="1" spc="-15" dirty="0">
                <a:latin typeface="Calibri"/>
                <a:cs typeface="Calibri"/>
              </a:rPr>
              <a:t> red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66800" y="1905000"/>
            <a:ext cx="5702432" cy="41874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 – </a:t>
            </a:r>
            <a:r>
              <a:rPr spc="-10" dirty="0"/>
              <a:t>Gestión </a:t>
            </a:r>
            <a:r>
              <a:rPr spc="-5" dirty="0"/>
              <a:t>de </a:t>
            </a:r>
            <a:r>
              <a:rPr spc="-10" dirty="0"/>
              <a:t>Proyectos </a:t>
            </a:r>
            <a:r>
              <a:rPr spc="-5" dirty="0"/>
              <a:t>de SI/TI</a:t>
            </a:r>
            <a:r>
              <a:rPr spc="10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258" y="500126"/>
            <a:ext cx="397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Herramientas para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gestión de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31493"/>
            <a:ext cx="4903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Análisis de </a:t>
            </a:r>
            <a:r>
              <a:rPr sz="2800" b="1" spc="-10" dirty="0">
                <a:latin typeface="Calibri"/>
                <a:cs typeface="Calibri"/>
              </a:rPr>
              <a:t>duración </a:t>
            </a:r>
            <a:r>
              <a:rPr sz="2800" b="1" dirty="0">
                <a:latin typeface="Calibri"/>
                <a:cs typeface="Calibri"/>
              </a:rPr>
              <a:t>del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proyecto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4982" y="1776820"/>
            <a:ext cx="7769809" cy="4154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0119" y="1510283"/>
            <a:ext cx="7045824" cy="33552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 – </a:t>
            </a:r>
            <a:r>
              <a:rPr spc="-10" dirty="0"/>
              <a:t>Gestión </a:t>
            </a:r>
            <a:r>
              <a:rPr spc="-5" dirty="0"/>
              <a:t>de </a:t>
            </a:r>
            <a:r>
              <a:rPr spc="-10" dirty="0"/>
              <a:t>Proyectos </a:t>
            </a:r>
            <a:r>
              <a:rPr spc="-5" dirty="0"/>
              <a:t>de SI/TI</a:t>
            </a:r>
            <a:r>
              <a:rPr spc="100" dirty="0"/>
              <a:t> </a:t>
            </a:r>
            <a:r>
              <a:rPr spc="-5" dirty="0"/>
              <a:t>(Cont.)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6258" y="500126"/>
            <a:ext cx="397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Herramientas para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gestión de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1031493"/>
            <a:ext cx="49034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Análisis de </a:t>
            </a:r>
            <a:r>
              <a:rPr sz="2800" b="1" spc="-10" dirty="0">
                <a:latin typeface="Calibri"/>
                <a:cs typeface="Calibri"/>
              </a:rPr>
              <a:t>duración </a:t>
            </a:r>
            <a:r>
              <a:rPr sz="2800" b="1" dirty="0">
                <a:latin typeface="Calibri"/>
                <a:cs typeface="Calibri"/>
              </a:rPr>
              <a:t>del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proyecto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98219" y="4753355"/>
            <a:ext cx="7016496" cy="1641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58083" y="2859785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0" y="609600"/>
                </a:moveTo>
                <a:lnTo>
                  <a:pt x="761999" y="609600"/>
                </a:lnTo>
                <a:lnTo>
                  <a:pt x="761999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33116" y="4486655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0" y="609600"/>
                </a:moveTo>
                <a:lnTo>
                  <a:pt x="762000" y="609600"/>
                </a:lnTo>
                <a:lnTo>
                  <a:pt x="7620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 – </a:t>
            </a:r>
            <a:r>
              <a:rPr spc="-10" dirty="0"/>
              <a:t>Gestión </a:t>
            </a:r>
            <a:r>
              <a:rPr spc="-5" dirty="0"/>
              <a:t>de </a:t>
            </a:r>
            <a:r>
              <a:rPr spc="-10" dirty="0"/>
              <a:t>Proyectos </a:t>
            </a:r>
            <a:r>
              <a:rPr spc="-5" dirty="0"/>
              <a:t>de SI/TI</a:t>
            </a:r>
            <a:r>
              <a:rPr spc="10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258" y="500126"/>
            <a:ext cx="397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Herramientas para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gestión de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31493"/>
            <a:ext cx="7168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Calibri"/>
                <a:cs typeface="Calibri"/>
              </a:rPr>
              <a:t>Considerar </a:t>
            </a:r>
            <a:r>
              <a:rPr sz="2800" b="1" dirty="0">
                <a:latin typeface="Calibri"/>
                <a:cs typeface="Calibri"/>
              </a:rPr>
              <a:t>la </a:t>
            </a:r>
            <a:r>
              <a:rPr sz="2800" b="1" spc="-5" dirty="0">
                <a:latin typeface="Calibri"/>
                <a:cs typeface="Calibri"/>
              </a:rPr>
              <a:t>importancia </a:t>
            </a:r>
            <a:r>
              <a:rPr sz="2800" b="1" dirty="0">
                <a:latin typeface="Calibri"/>
                <a:cs typeface="Calibri"/>
              </a:rPr>
              <a:t>de </a:t>
            </a:r>
            <a:r>
              <a:rPr sz="2800" b="1" spc="-10" dirty="0">
                <a:latin typeface="Calibri"/>
                <a:cs typeface="Calibri"/>
              </a:rPr>
              <a:t>controlar </a:t>
            </a:r>
            <a:r>
              <a:rPr sz="2800" b="1" spc="-5" dirty="0">
                <a:latin typeface="Calibri"/>
                <a:cs typeface="Calibri"/>
              </a:rPr>
              <a:t>el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avance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2666" y="1793815"/>
            <a:ext cx="7443686" cy="33698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32</a:t>
            </a:fld>
            <a:endParaRPr spc="-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 – </a:t>
            </a:r>
            <a:r>
              <a:rPr spc="-10" dirty="0"/>
              <a:t>Gestión </a:t>
            </a:r>
            <a:r>
              <a:rPr spc="-5" dirty="0"/>
              <a:t>de </a:t>
            </a:r>
            <a:r>
              <a:rPr spc="-10" dirty="0"/>
              <a:t>Proyectos </a:t>
            </a:r>
            <a:r>
              <a:rPr spc="-5" dirty="0"/>
              <a:t>de SI/TI</a:t>
            </a:r>
            <a:r>
              <a:rPr spc="100" dirty="0"/>
              <a:t> </a:t>
            </a:r>
            <a:r>
              <a:rPr spc="-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258" y="500126"/>
            <a:ext cx="397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Herramientas para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gestión de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31493"/>
            <a:ext cx="57581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Calibri"/>
                <a:cs typeface="Calibri"/>
              </a:rPr>
              <a:t>Oficina </a:t>
            </a:r>
            <a:r>
              <a:rPr sz="2800" b="1" dirty="0">
                <a:latin typeface="Calibri"/>
                <a:cs typeface="Calibri"/>
              </a:rPr>
              <a:t>de </a:t>
            </a:r>
            <a:r>
              <a:rPr sz="2800" b="1" spc="-5" dirty="0">
                <a:latin typeface="Calibri"/>
                <a:cs typeface="Calibri"/>
              </a:rPr>
              <a:t>Gestión </a:t>
            </a:r>
            <a:r>
              <a:rPr sz="2800" b="1" dirty="0">
                <a:latin typeface="Calibri"/>
                <a:cs typeface="Calibri"/>
              </a:rPr>
              <a:t>de </a:t>
            </a:r>
            <a:r>
              <a:rPr sz="2800" b="1" spc="-15" dirty="0">
                <a:latin typeface="Calibri"/>
                <a:cs typeface="Calibri"/>
              </a:rPr>
              <a:t>Proyectos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(PMO)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4467" y="1852196"/>
            <a:ext cx="7992314" cy="4095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33</a:t>
            </a:fld>
            <a:endParaRPr spc="-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29196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 – </a:t>
            </a:r>
            <a:r>
              <a:rPr spc="-10" dirty="0"/>
              <a:t>Gestión </a:t>
            </a:r>
            <a:r>
              <a:rPr spc="-5" dirty="0"/>
              <a:t>de </a:t>
            </a:r>
            <a:r>
              <a:rPr spc="-10" dirty="0"/>
              <a:t>Proyectos </a:t>
            </a:r>
            <a:r>
              <a:rPr spc="-5" dirty="0"/>
              <a:t>de SI/TI</a:t>
            </a:r>
            <a:r>
              <a:rPr spc="125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" dirty="0">
                <a:latin typeface="Calibri"/>
                <a:cs typeface="Calibri"/>
              </a:rPr>
              <a:t>Evaluación de</a:t>
            </a:r>
            <a:r>
              <a:rPr sz="1800" b="0" spc="20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0697" y="1052322"/>
            <a:ext cx="8714232" cy="52928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1000" y="3275076"/>
            <a:ext cx="1584325" cy="3695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541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830"/>
              </a:spcBef>
            </a:pP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Como lo solicitó el</a:t>
            </a:r>
            <a:r>
              <a:rPr sz="1000" spc="-114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cliente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2095500" y="3270503"/>
            <a:ext cx="1584325" cy="3695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8575" rIns="0" bIns="0" rtlCol="0">
            <a:spAutoFit/>
          </a:bodyPr>
          <a:lstStyle/>
          <a:p>
            <a:pPr marL="483234" marR="31115" indent="-443865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Como el </a:t>
            </a:r>
            <a:r>
              <a:rPr sz="1000" spc="-5" dirty="0">
                <a:solidFill>
                  <a:srgbClr val="808080"/>
                </a:solidFill>
                <a:latin typeface="Arial"/>
                <a:cs typeface="Arial"/>
              </a:rPr>
              <a:t>Líder </a:t>
            </a: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de</a:t>
            </a:r>
            <a:r>
              <a:rPr sz="1000" spc="-13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Proyecto  lo</a:t>
            </a:r>
            <a:r>
              <a:rPr sz="1000" spc="-2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808080"/>
                </a:solidFill>
                <a:latin typeface="Arial"/>
                <a:cs typeface="Arial"/>
              </a:rPr>
              <a:t>entendió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22953" y="3270503"/>
            <a:ext cx="1584325" cy="3695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477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825"/>
              </a:spcBef>
            </a:pP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Como </a:t>
            </a:r>
            <a:r>
              <a:rPr sz="1000" spc="-5" dirty="0">
                <a:solidFill>
                  <a:srgbClr val="808080"/>
                </a:solidFill>
                <a:latin typeface="Arial"/>
                <a:cs typeface="Arial"/>
              </a:rPr>
              <a:t>Ingeniería </a:t>
            </a: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lo</a:t>
            </a:r>
            <a:r>
              <a:rPr sz="1000" spc="-95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diseñó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51170" y="3270503"/>
            <a:ext cx="1584960" cy="3695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8575" rIns="0" bIns="0" rtlCol="0">
            <a:spAutoFit/>
          </a:bodyPr>
          <a:lstStyle/>
          <a:p>
            <a:pPr marL="507365" marR="102870" indent="-397510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Como el </a:t>
            </a:r>
            <a:r>
              <a:rPr sz="1000" spc="-5" dirty="0">
                <a:solidFill>
                  <a:srgbClr val="808080"/>
                </a:solidFill>
                <a:latin typeface="Arial"/>
                <a:cs typeface="Arial"/>
              </a:rPr>
              <a:t>programador</a:t>
            </a:r>
            <a:r>
              <a:rPr sz="1000" spc="-105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lo  </a:t>
            </a:r>
            <a:r>
              <a:rPr sz="1000" spc="-5" dirty="0">
                <a:solidFill>
                  <a:srgbClr val="808080"/>
                </a:solidFill>
                <a:latin typeface="Arial"/>
                <a:cs typeface="Arial"/>
              </a:rPr>
              <a:t>estableció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64145" y="3270503"/>
            <a:ext cx="1584960" cy="3695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8575" rIns="0" bIns="0" rtlCol="0">
            <a:spAutoFit/>
          </a:bodyPr>
          <a:lstStyle/>
          <a:p>
            <a:pPr marL="507365" marR="274320" indent="-226060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Como Compras</a:t>
            </a:r>
            <a:r>
              <a:rPr sz="1000" spc="-13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lo  </a:t>
            </a:r>
            <a:r>
              <a:rPr sz="1000" spc="-5" dirty="0">
                <a:solidFill>
                  <a:srgbClr val="808080"/>
                </a:solidFill>
                <a:latin typeface="Arial"/>
                <a:cs typeface="Arial"/>
              </a:rPr>
              <a:t>estableció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000" y="5891021"/>
            <a:ext cx="1584325" cy="3708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9844" rIns="0" bIns="0" rtlCol="0">
            <a:spAutoFit/>
          </a:bodyPr>
          <a:lstStyle/>
          <a:p>
            <a:pPr marL="478155" marR="316865" indent="-154940">
              <a:lnSpc>
                <a:spcPct val="100000"/>
              </a:lnSpc>
              <a:spcBef>
                <a:spcPts val="234"/>
              </a:spcBef>
            </a:pP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Como Calidad</a:t>
            </a:r>
            <a:r>
              <a:rPr sz="1000" spc="-135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lo  </a:t>
            </a:r>
            <a:r>
              <a:rPr sz="1000" spc="-5" dirty="0">
                <a:solidFill>
                  <a:srgbClr val="808080"/>
                </a:solidFill>
                <a:latin typeface="Arial"/>
                <a:cs typeface="Arial"/>
              </a:rPr>
              <a:t>documentó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5500" y="5891021"/>
            <a:ext cx="1584325" cy="3708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9844" rIns="0" bIns="0" rtlCol="0">
            <a:spAutoFit/>
          </a:bodyPr>
          <a:lstStyle/>
          <a:p>
            <a:pPr marL="464184" marR="260350" indent="-196850">
              <a:lnSpc>
                <a:spcPct val="100000"/>
              </a:lnSpc>
              <a:spcBef>
                <a:spcPts val="234"/>
              </a:spcBef>
            </a:pP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Como </a:t>
            </a:r>
            <a:r>
              <a:rPr sz="1000" spc="-5" dirty="0">
                <a:solidFill>
                  <a:srgbClr val="808080"/>
                </a:solidFill>
                <a:latin typeface="Arial"/>
                <a:cs typeface="Arial"/>
              </a:rPr>
              <a:t>Mecánica</a:t>
            </a:r>
            <a:r>
              <a:rPr sz="1000" spc="-10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lo  </a:t>
            </a:r>
            <a:r>
              <a:rPr sz="1000" spc="-5" dirty="0">
                <a:solidFill>
                  <a:srgbClr val="808080"/>
                </a:solidFill>
                <a:latin typeface="Arial"/>
                <a:cs typeface="Arial"/>
              </a:rPr>
              <a:t>implementó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22953" y="5891021"/>
            <a:ext cx="1584325" cy="3708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835"/>
              </a:spcBef>
            </a:pP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Como </a:t>
            </a:r>
            <a:r>
              <a:rPr sz="1000" spc="-5" dirty="0">
                <a:solidFill>
                  <a:srgbClr val="808080"/>
                </a:solidFill>
                <a:latin typeface="Arial"/>
                <a:cs typeface="Arial"/>
              </a:rPr>
              <a:t>Facturación </a:t>
            </a: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lo</a:t>
            </a:r>
            <a:r>
              <a:rPr sz="1000" spc="-9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cobró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51170" y="5891021"/>
            <a:ext cx="1584960" cy="3708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6045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835"/>
              </a:spcBef>
            </a:pP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Como </a:t>
            </a:r>
            <a:r>
              <a:rPr sz="1000" spc="-5" dirty="0">
                <a:solidFill>
                  <a:srgbClr val="808080"/>
                </a:solidFill>
                <a:latin typeface="Arial"/>
                <a:cs typeface="Arial"/>
              </a:rPr>
              <a:t>Inventarios </a:t>
            </a: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lo</a:t>
            </a:r>
            <a:r>
              <a:rPr sz="1000" spc="-8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liberó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65669" y="5891021"/>
            <a:ext cx="1583690" cy="3708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9844" rIns="0" bIns="0" rtlCol="0">
            <a:spAutoFit/>
          </a:bodyPr>
          <a:lstStyle/>
          <a:p>
            <a:pPr marL="607695" marR="158750" indent="-441325">
              <a:lnSpc>
                <a:spcPct val="100000"/>
              </a:lnSpc>
              <a:spcBef>
                <a:spcPts val="234"/>
              </a:spcBef>
            </a:pP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Como lo </a:t>
            </a:r>
            <a:r>
              <a:rPr sz="1000" spc="-5" dirty="0">
                <a:solidFill>
                  <a:srgbClr val="808080"/>
                </a:solidFill>
                <a:latin typeface="Arial"/>
                <a:cs typeface="Arial"/>
              </a:rPr>
              <a:t>necesitaba</a:t>
            </a:r>
            <a:r>
              <a:rPr sz="1000" spc="-125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808080"/>
                </a:solidFill>
                <a:latin typeface="Arial"/>
                <a:cs typeface="Arial"/>
              </a:rPr>
              <a:t>el  cliente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42900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Gestión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Proyectos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SI/TI</a:t>
            </a:r>
            <a:r>
              <a:rPr sz="2000" b="1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Evaluación de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35</a:t>
            </a:fld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9268" y="1034541"/>
            <a:ext cx="83559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00"/>
                </a:solidFill>
              </a:rPr>
              <a:t>Un </a:t>
            </a:r>
            <a:r>
              <a:rPr sz="2400" spc="-15" dirty="0">
                <a:solidFill>
                  <a:srgbClr val="000000"/>
                </a:solidFill>
              </a:rPr>
              <a:t>proyecto </a:t>
            </a:r>
            <a:r>
              <a:rPr sz="2400" dirty="0">
                <a:solidFill>
                  <a:srgbClr val="000000"/>
                </a:solidFill>
              </a:rPr>
              <a:t>de </a:t>
            </a:r>
            <a:r>
              <a:rPr sz="2400" spc="-5" dirty="0">
                <a:solidFill>
                  <a:srgbClr val="000000"/>
                </a:solidFill>
              </a:rPr>
              <a:t>desarrollo </a:t>
            </a:r>
            <a:r>
              <a:rPr sz="2400" dirty="0">
                <a:solidFill>
                  <a:srgbClr val="000000"/>
                </a:solidFill>
              </a:rPr>
              <a:t>de </a:t>
            </a:r>
            <a:r>
              <a:rPr sz="2400" spc="-15" dirty="0">
                <a:solidFill>
                  <a:srgbClr val="000000"/>
                </a:solidFill>
              </a:rPr>
              <a:t>Sistemas exitoso </a:t>
            </a:r>
            <a:r>
              <a:rPr sz="2400" spc="-5" dirty="0">
                <a:solidFill>
                  <a:srgbClr val="000000"/>
                </a:solidFill>
              </a:rPr>
              <a:t>es </a:t>
            </a:r>
            <a:r>
              <a:rPr sz="2400" dirty="0">
                <a:solidFill>
                  <a:srgbClr val="000000"/>
                </a:solidFill>
              </a:rPr>
              <a:t>aquel que, </a:t>
            </a:r>
            <a:r>
              <a:rPr sz="2400" spc="-15" dirty="0">
                <a:solidFill>
                  <a:srgbClr val="000000"/>
                </a:solidFill>
              </a:rPr>
              <a:t>entre  otras</a:t>
            </a:r>
            <a:r>
              <a:rPr sz="2400" spc="-5" dirty="0">
                <a:solidFill>
                  <a:srgbClr val="000000"/>
                </a:solidFill>
              </a:rPr>
              <a:t> consideraciones: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696722" y="2072386"/>
            <a:ext cx="6512559" cy="2708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15" dirty="0">
                <a:latin typeface="Calibri"/>
                <a:cs typeface="Calibri"/>
              </a:rPr>
              <a:t>Está dentro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dirty="0">
                <a:latin typeface="Calibri"/>
                <a:cs typeface="Calibri"/>
              </a:rPr>
              <a:t>los </a:t>
            </a:r>
            <a:r>
              <a:rPr sz="2200" spc="-10" dirty="0">
                <a:latin typeface="Calibri"/>
                <a:cs typeface="Calibri"/>
              </a:rPr>
              <a:t>plazos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previstos;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15" dirty="0">
                <a:latin typeface="Calibri"/>
                <a:cs typeface="Calibri"/>
              </a:rPr>
              <a:t>Está dentro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dirty="0">
                <a:latin typeface="Calibri"/>
                <a:cs typeface="Calibri"/>
              </a:rPr>
              <a:t>los </a:t>
            </a:r>
            <a:r>
              <a:rPr sz="2200" spc="-15" dirty="0">
                <a:latin typeface="Calibri"/>
                <a:cs typeface="Calibri"/>
              </a:rPr>
              <a:t>costos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presupuestados;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5" dirty="0">
                <a:latin typeface="Calibri"/>
                <a:cs typeface="Calibri"/>
              </a:rPr>
              <a:t>Es</a:t>
            </a:r>
            <a:r>
              <a:rPr sz="2200" spc="-10" dirty="0">
                <a:latin typeface="Calibri"/>
                <a:cs typeface="Calibri"/>
              </a:rPr>
              <a:t> confiable;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10" dirty="0">
                <a:latin typeface="Calibri"/>
                <a:cs typeface="Calibri"/>
              </a:rPr>
              <a:t>Resuelve </a:t>
            </a:r>
            <a:r>
              <a:rPr sz="2200" spc="-5" dirty="0">
                <a:latin typeface="Calibri"/>
                <a:cs typeface="Calibri"/>
              </a:rPr>
              <a:t>los </a:t>
            </a:r>
            <a:r>
              <a:rPr sz="2200" spc="-10" dirty="0">
                <a:latin typeface="Calibri"/>
                <a:cs typeface="Calibri"/>
              </a:rPr>
              <a:t>requerimientos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dirty="0">
                <a:latin typeface="Calibri"/>
                <a:cs typeface="Calibri"/>
              </a:rPr>
              <a:t>los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clientes;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5" dirty="0">
                <a:latin typeface="Calibri"/>
                <a:cs typeface="Calibri"/>
              </a:rPr>
              <a:t>Es </a:t>
            </a:r>
            <a:r>
              <a:rPr sz="2200" spc="-10" dirty="0">
                <a:latin typeface="Calibri"/>
                <a:cs typeface="Calibri"/>
              </a:rPr>
              <a:t>fácil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aplicarlo;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5" dirty="0">
                <a:latin typeface="Calibri"/>
                <a:cs typeface="Calibri"/>
              </a:rPr>
              <a:t>Es </a:t>
            </a:r>
            <a:r>
              <a:rPr sz="2200" spc="-10" dirty="0">
                <a:latin typeface="Calibri"/>
                <a:cs typeface="Calibri"/>
              </a:rPr>
              <a:t>fácil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continuarlo;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5" dirty="0">
                <a:latin typeface="Calibri"/>
                <a:cs typeface="Calibri"/>
              </a:rPr>
              <a:t>Los </a:t>
            </a:r>
            <a:r>
              <a:rPr sz="2200" spc="-10" dirty="0">
                <a:latin typeface="Calibri"/>
                <a:cs typeface="Calibri"/>
              </a:rPr>
              <a:t>clientes (internos </a:t>
            </a:r>
            <a:r>
              <a:rPr sz="2200" spc="-15" dirty="0">
                <a:latin typeface="Calibri"/>
                <a:cs typeface="Calibri"/>
              </a:rPr>
              <a:t>y/o </a:t>
            </a:r>
            <a:r>
              <a:rPr sz="2200" spc="-10" dirty="0">
                <a:latin typeface="Calibri"/>
                <a:cs typeface="Calibri"/>
              </a:rPr>
              <a:t>externos) están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satisfechos;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10" dirty="0">
                <a:latin typeface="Calibri"/>
                <a:cs typeface="Calibri"/>
              </a:rPr>
              <a:t>¿Otras?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42900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Gestión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Proyectos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SI/TI</a:t>
            </a:r>
            <a:r>
              <a:rPr sz="2000" b="1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Evaluación de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9268" y="1034541"/>
            <a:ext cx="86137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00"/>
                </a:solidFill>
              </a:rPr>
              <a:t>¿Cómo </a:t>
            </a:r>
            <a:r>
              <a:rPr sz="2400" spc="-10" dirty="0">
                <a:solidFill>
                  <a:srgbClr val="000000"/>
                </a:solidFill>
              </a:rPr>
              <a:t>evaluar </a:t>
            </a:r>
            <a:r>
              <a:rPr sz="2400" spc="-15" dirty="0">
                <a:solidFill>
                  <a:srgbClr val="000000"/>
                </a:solidFill>
              </a:rPr>
              <a:t>proyectos </a:t>
            </a:r>
            <a:r>
              <a:rPr sz="2400" dirty="0">
                <a:solidFill>
                  <a:srgbClr val="000000"/>
                </a:solidFill>
              </a:rPr>
              <a:t>de SI/TI? </a:t>
            </a:r>
            <a:r>
              <a:rPr sz="2400" spc="-5" dirty="0">
                <a:solidFill>
                  <a:srgbClr val="000000"/>
                </a:solidFill>
              </a:rPr>
              <a:t>Al igual </a:t>
            </a:r>
            <a:r>
              <a:rPr sz="2400" dirty="0">
                <a:solidFill>
                  <a:srgbClr val="000000"/>
                </a:solidFill>
              </a:rPr>
              <a:t>que </a:t>
            </a:r>
            <a:r>
              <a:rPr sz="2400" spc="-5" dirty="0">
                <a:solidFill>
                  <a:srgbClr val="000000"/>
                </a:solidFill>
              </a:rPr>
              <a:t>cualquier </a:t>
            </a:r>
            <a:r>
              <a:rPr sz="2400" spc="-15" dirty="0">
                <a:solidFill>
                  <a:srgbClr val="000000"/>
                </a:solidFill>
              </a:rPr>
              <a:t>proyecto  </a:t>
            </a:r>
            <a:r>
              <a:rPr sz="2400" spc="-20" dirty="0">
                <a:solidFill>
                  <a:srgbClr val="000000"/>
                </a:solidFill>
              </a:rPr>
              <a:t>estratégico </a:t>
            </a:r>
            <a:r>
              <a:rPr sz="2400" dirty="0">
                <a:solidFill>
                  <a:srgbClr val="000000"/>
                </a:solidFill>
              </a:rPr>
              <a:t>de </a:t>
            </a:r>
            <a:r>
              <a:rPr sz="2400" spc="-15" dirty="0">
                <a:solidFill>
                  <a:srgbClr val="000000"/>
                </a:solidFill>
              </a:rPr>
              <a:t>inversión. </a:t>
            </a:r>
            <a:r>
              <a:rPr sz="2400" spc="-10" dirty="0">
                <a:solidFill>
                  <a:srgbClr val="000000"/>
                </a:solidFill>
              </a:rPr>
              <a:t>Considerar </a:t>
            </a:r>
            <a:r>
              <a:rPr sz="2400" dirty="0">
                <a:solidFill>
                  <a:srgbClr val="000000"/>
                </a:solidFill>
              </a:rPr>
              <a:t>los </a:t>
            </a:r>
            <a:r>
              <a:rPr sz="2400" spc="-10" dirty="0">
                <a:solidFill>
                  <a:srgbClr val="000000"/>
                </a:solidFill>
              </a:rPr>
              <a:t>siguientes</a:t>
            </a:r>
            <a:r>
              <a:rPr sz="2400" spc="80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criterios: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239268" y="2072386"/>
            <a:ext cx="8615045" cy="3716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200" b="1" dirty="0">
                <a:latin typeface="Calibri"/>
                <a:cs typeface="Calibri"/>
              </a:rPr>
              <a:t>CTP </a:t>
            </a:r>
            <a:r>
              <a:rPr sz="2200" b="1" spc="-10" dirty="0">
                <a:latin typeface="Calibri"/>
                <a:cs typeface="Calibri"/>
              </a:rPr>
              <a:t>(</a:t>
            </a:r>
            <a:r>
              <a:rPr sz="2200" b="1" i="1" spc="-10" dirty="0">
                <a:latin typeface="Calibri"/>
                <a:cs typeface="Calibri"/>
              </a:rPr>
              <a:t>Costo </a:t>
            </a:r>
            <a:r>
              <a:rPr sz="2200" b="1" i="1" spc="-40" dirty="0">
                <a:latin typeface="Calibri"/>
                <a:cs typeface="Calibri"/>
              </a:rPr>
              <a:t>Total </a:t>
            </a:r>
            <a:r>
              <a:rPr sz="2200" b="1" i="1" dirty="0">
                <a:latin typeface="Calibri"/>
                <a:cs typeface="Calibri"/>
              </a:rPr>
              <a:t>de </a:t>
            </a:r>
            <a:r>
              <a:rPr sz="2200" b="1" i="1" spc="-5" dirty="0">
                <a:latin typeface="Calibri"/>
                <a:cs typeface="Calibri"/>
              </a:rPr>
              <a:t>Propiedad</a:t>
            </a:r>
            <a:r>
              <a:rPr sz="2200" b="1" spc="-5" dirty="0">
                <a:latin typeface="Calibri"/>
                <a:cs typeface="Calibri"/>
              </a:rPr>
              <a:t>) </a:t>
            </a:r>
            <a:r>
              <a:rPr sz="2200" b="1" dirty="0">
                <a:latin typeface="Calibri"/>
                <a:cs typeface="Calibri"/>
              </a:rPr>
              <a:t>o </a:t>
            </a:r>
            <a:r>
              <a:rPr sz="2200" b="1" spc="-25" dirty="0">
                <a:latin typeface="Calibri"/>
                <a:cs typeface="Calibri"/>
              </a:rPr>
              <a:t>TCO </a:t>
            </a:r>
            <a:r>
              <a:rPr sz="2200" b="1" spc="-35" dirty="0">
                <a:latin typeface="Calibri"/>
                <a:cs typeface="Calibri"/>
              </a:rPr>
              <a:t>(</a:t>
            </a:r>
            <a:r>
              <a:rPr sz="2200" b="1" i="1" spc="-35" dirty="0">
                <a:latin typeface="Calibri"/>
                <a:cs typeface="Calibri"/>
              </a:rPr>
              <a:t>Total </a:t>
            </a:r>
            <a:r>
              <a:rPr sz="2200" b="1" i="1" spc="-5" dirty="0">
                <a:latin typeface="Calibri"/>
                <a:cs typeface="Calibri"/>
              </a:rPr>
              <a:t>Cost </a:t>
            </a:r>
            <a:r>
              <a:rPr sz="2200" b="1" i="1" dirty="0">
                <a:latin typeface="Calibri"/>
                <a:cs typeface="Calibri"/>
              </a:rPr>
              <a:t>of</a:t>
            </a:r>
            <a:r>
              <a:rPr sz="2200" b="1" i="1" spc="60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Ownership</a:t>
            </a:r>
            <a:r>
              <a:rPr sz="2200" b="1" spc="-5" dirty="0">
                <a:latin typeface="Calibri"/>
                <a:cs typeface="Calibri"/>
              </a:rPr>
              <a:t>)</a:t>
            </a:r>
            <a:endParaRPr sz="2200">
              <a:latin typeface="Calibri"/>
              <a:cs typeface="Calibri"/>
            </a:endParaRPr>
          </a:p>
          <a:p>
            <a:pPr marL="927100" lvl="1" indent="-457834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927100" algn="l"/>
                <a:tab pos="927735" algn="l"/>
              </a:tabLst>
            </a:pPr>
            <a:r>
              <a:rPr sz="2000" spc="-5" dirty="0">
                <a:latin typeface="Calibri"/>
                <a:cs typeface="Calibri"/>
              </a:rPr>
              <a:t>Incluye </a:t>
            </a:r>
            <a:r>
              <a:rPr sz="2000" spc="-10" dirty="0">
                <a:latin typeface="Calibri"/>
                <a:cs typeface="Calibri"/>
              </a:rPr>
              <a:t>todos </a:t>
            </a:r>
            <a:r>
              <a:rPr sz="2000" spc="-5" dirty="0">
                <a:latin typeface="Calibri"/>
                <a:cs typeface="Calibri"/>
              </a:rPr>
              <a:t>los </a:t>
            </a:r>
            <a:r>
              <a:rPr sz="2000" spc="-15" dirty="0">
                <a:latin typeface="Calibri"/>
                <a:cs typeface="Calibri"/>
              </a:rPr>
              <a:t>costos, </a:t>
            </a:r>
            <a:r>
              <a:rPr sz="2000" spc="-10" dirty="0">
                <a:latin typeface="Calibri"/>
                <a:cs typeface="Calibri"/>
              </a:rPr>
              <a:t>directos 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indirectos</a:t>
            </a:r>
            <a:endParaRPr sz="2000">
              <a:latin typeface="Calibri"/>
              <a:cs typeface="Calibri"/>
            </a:endParaRPr>
          </a:p>
          <a:p>
            <a:pPr marL="927100" marR="6985" lvl="1" indent="-457200">
              <a:lnSpc>
                <a:spcPct val="100000"/>
              </a:lnSpc>
              <a:buFont typeface="Arial"/>
              <a:buChar char="•"/>
              <a:tabLst>
                <a:tab pos="927100" algn="l"/>
                <a:tab pos="927735" algn="l"/>
              </a:tabLst>
            </a:pPr>
            <a:r>
              <a:rPr sz="2000" spc="-25" dirty="0">
                <a:latin typeface="Calibri"/>
                <a:cs typeface="Calibri"/>
              </a:rPr>
              <a:t>Para </a:t>
            </a:r>
            <a:r>
              <a:rPr sz="2000" spc="-10" dirty="0">
                <a:latin typeface="Calibri"/>
                <a:cs typeface="Calibri"/>
              </a:rPr>
              <a:t>todo </a:t>
            </a:r>
            <a:r>
              <a:rPr sz="2000" spc="-5" dirty="0">
                <a:latin typeface="Calibri"/>
                <a:cs typeface="Calibri"/>
              </a:rPr>
              <a:t>el </a:t>
            </a:r>
            <a:r>
              <a:rPr sz="2000" dirty="0">
                <a:latin typeface="Calibri"/>
                <a:cs typeface="Calibri"/>
              </a:rPr>
              <a:t>ciclo </a:t>
            </a:r>
            <a:r>
              <a:rPr sz="2000" spc="-5" dirty="0">
                <a:latin typeface="Calibri"/>
                <a:cs typeface="Calibri"/>
              </a:rPr>
              <a:t>de vida, desde la </a:t>
            </a:r>
            <a:r>
              <a:rPr sz="2000" spc="-10" dirty="0">
                <a:latin typeface="Calibri"/>
                <a:cs typeface="Calibri"/>
              </a:rPr>
              <a:t>incorporación </a:t>
            </a:r>
            <a:r>
              <a:rPr sz="2000" spc="-5" dirty="0">
                <a:latin typeface="Calibri"/>
                <a:cs typeface="Calibri"/>
              </a:rPr>
              <a:t>(nacimiento) </a:t>
            </a:r>
            <a:r>
              <a:rPr sz="2000" spc="-10" dirty="0">
                <a:latin typeface="Calibri"/>
                <a:cs typeface="Calibri"/>
              </a:rPr>
              <a:t>hasta su  </a:t>
            </a:r>
            <a:r>
              <a:rPr sz="2000" spc="-15" dirty="0">
                <a:latin typeface="Calibri"/>
                <a:cs typeface="Calibri"/>
              </a:rPr>
              <a:t>retiro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(muerte)</a:t>
            </a:r>
            <a:endParaRPr sz="2000">
              <a:latin typeface="Calibri"/>
              <a:cs typeface="Calibri"/>
            </a:endParaRPr>
          </a:p>
          <a:p>
            <a:pPr marL="927100" marR="7620" lvl="1" indent="-457200">
              <a:lnSpc>
                <a:spcPct val="100000"/>
              </a:lnSpc>
              <a:buFont typeface="Arial"/>
              <a:buChar char="•"/>
              <a:tabLst>
                <a:tab pos="927100" algn="l"/>
                <a:tab pos="927735" algn="l"/>
              </a:tabLst>
            </a:pPr>
            <a:r>
              <a:rPr sz="2000" spc="-15" dirty="0">
                <a:latin typeface="Calibri"/>
                <a:cs typeface="Calibri"/>
              </a:rPr>
              <a:t>Inversión </a:t>
            </a:r>
            <a:r>
              <a:rPr sz="2000" dirty="0">
                <a:latin typeface="Calibri"/>
                <a:cs typeface="Calibri"/>
              </a:rPr>
              <a:t>inicial </a:t>
            </a:r>
            <a:r>
              <a:rPr sz="2000" spc="-5" dirty="0">
                <a:latin typeface="Calibri"/>
                <a:cs typeface="Calibri"/>
              </a:rPr>
              <a:t>+ </a:t>
            </a:r>
            <a:r>
              <a:rPr sz="2000" spc="-10" dirty="0">
                <a:latin typeface="Calibri"/>
                <a:cs typeface="Calibri"/>
              </a:rPr>
              <a:t>erogaciones </a:t>
            </a:r>
            <a:r>
              <a:rPr sz="2000" spc="-5" dirty="0">
                <a:latin typeface="Calibri"/>
                <a:cs typeface="Calibri"/>
              </a:rPr>
              <a:t>por su </a:t>
            </a:r>
            <a:r>
              <a:rPr sz="2000" spc="-10" dirty="0">
                <a:latin typeface="Calibri"/>
                <a:cs typeface="Calibri"/>
              </a:rPr>
              <a:t>operación </a:t>
            </a:r>
            <a:r>
              <a:rPr sz="2000" spc="-5" dirty="0">
                <a:latin typeface="Calibri"/>
                <a:cs typeface="Calibri"/>
              </a:rPr>
              <a:t>y </a:t>
            </a:r>
            <a:r>
              <a:rPr sz="2000" spc="-10" dirty="0">
                <a:latin typeface="Calibri"/>
                <a:cs typeface="Calibri"/>
              </a:rPr>
              <a:t>mantenimiento </a:t>
            </a:r>
            <a:r>
              <a:rPr sz="2000" spc="-15" dirty="0">
                <a:latin typeface="Calibri"/>
                <a:cs typeface="Calibri"/>
              </a:rPr>
              <a:t>durante  </a:t>
            </a:r>
            <a:r>
              <a:rPr sz="2000" spc="-5" dirty="0">
                <a:latin typeface="Calibri"/>
                <a:cs typeface="Calibri"/>
              </a:rPr>
              <a:t>su vida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útil</a:t>
            </a:r>
            <a:endParaRPr sz="2000">
              <a:latin typeface="Calibri"/>
              <a:cs typeface="Calibri"/>
            </a:endParaRPr>
          </a:p>
          <a:p>
            <a:pPr marL="927100" lvl="1" indent="-457834">
              <a:lnSpc>
                <a:spcPct val="100000"/>
              </a:lnSpc>
              <a:buFont typeface="Arial"/>
              <a:buChar char="•"/>
              <a:tabLst>
                <a:tab pos="927100" algn="l"/>
                <a:tab pos="927735" algn="l"/>
              </a:tabLst>
            </a:pPr>
            <a:r>
              <a:rPr sz="2000" spc="-5" dirty="0">
                <a:latin typeface="Calibri"/>
                <a:cs typeface="Calibri"/>
              </a:rPr>
              <a:t>Limitaciones:</a:t>
            </a:r>
            <a:endParaRPr sz="2000">
              <a:latin typeface="Calibri"/>
              <a:cs typeface="Calibri"/>
            </a:endParaRPr>
          </a:p>
          <a:p>
            <a:pPr marL="1183005" lvl="2" indent="-256540">
              <a:lnSpc>
                <a:spcPct val="100000"/>
              </a:lnSpc>
              <a:buFont typeface="Arial"/>
              <a:buChar char="•"/>
              <a:tabLst>
                <a:tab pos="1183005" algn="l"/>
                <a:tab pos="1183640" algn="l"/>
              </a:tabLst>
            </a:pPr>
            <a:r>
              <a:rPr sz="2000" spc="-5" dirty="0">
                <a:latin typeface="Calibri"/>
                <a:cs typeface="Calibri"/>
              </a:rPr>
              <a:t>No calcula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beneficios</a:t>
            </a:r>
            <a:endParaRPr sz="2000">
              <a:latin typeface="Calibri"/>
              <a:cs typeface="Calibri"/>
            </a:endParaRPr>
          </a:p>
          <a:p>
            <a:pPr marL="1183005" lvl="2" indent="-256540">
              <a:lnSpc>
                <a:spcPct val="100000"/>
              </a:lnSpc>
              <a:buFont typeface="Arial"/>
              <a:buChar char="•"/>
              <a:tabLst>
                <a:tab pos="1183005" algn="l"/>
                <a:tab pos="1183640" algn="l"/>
              </a:tabLst>
            </a:pPr>
            <a:r>
              <a:rPr sz="2000" spc="-5" dirty="0">
                <a:latin typeface="Calibri"/>
                <a:cs typeface="Calibri"/>
              </a:rPr>
              <a:t>No tiene en </a:t>
            </a:r>
            <a:r>
              <a:rPr sz="2000" spc="-10" dirty="0">
                <a:latin typeface="Calibri"/>
                <a:cs typeface="Calibri"/>
              </a:rPr>
              <a:t>cuenta </a:t>
            </a:r>
            <a:r>
              <a:rPr sz="2000" spc="-5" dirty="0">
                <a:latin typeface="Calibri"/>
                <a:cs typeface="Calibri"/>
              </a:rPr>
              <a:t>aspectos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estratégicos</a:t>
            </a:r>
            <a:endParaRPr sz="2000">
              <a:latin typeface="Calibri"/>
              <a:cs typeface="Calibri"/>
            </a:endParaRPr>
          </a:p>
          <a:p>
            <a:pPr marL="1183005" lvl="2" indent="-256540">
              <a:lnSpc>
                <a:spcPct val="100000"/>
              </a:lnSpc>
              <a:buFont typeface="Arial"/>
              <a:buChar char="•"/>
              <a:tabLst>
                <a:tab pos="1183005" algn="l"/>
                <a:tab pos="1183640" algn="l"/>
              </a:tabLst>
            </a:pPr>
            <a:r>
              <a:rPr sz="2000" spc="-5" dirty="0">
                <a:latin typeface="Calibri"/>
                <a:cs typeface="Calibri"/>
              </a:rPr>
              <a:t>No tiene en </a:t>
            </a:r>
            <a:r>
              <a:rPr sz="2000" spc="-10" dirty="0">
                <a:latin typeface="Calibri"/>
                <a:cs typeface="Calibri"/>
              </a:rPr>
              <a:t>cuenta </a:t>
            </a:r>
            <a:r>
              <a:rPr sz="2000" spc="-5" dirty="0">
                <a:latin typeface="Calibri"/>
                <a:cs typeface="Calibri"/>
              </a:rPr>
              <a:t>el </a:t>
            </a:r>
            <a:r>
              <a:rPr sz="2000" spc="-10" dirty="0">
                <a:latin typeface="Calibri"/>
                <a:cs typeface="Calibri"/>
              </a:rPr>
              <a:t>valor </a:t>
            </a:r>
            <a:r>
              <a:rPr sz="2000" spc="-5" dirty="0">
                <a:latin typeface="Calibri"/>
                <a:cs typeface="Calibri"/>
              </a:rPr>
              <a:t>que se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agrega</a:t>
            </a:r>
            <a:endParaRPr sz="2000">
              <a:latin typeface="Calibri"/>
              <a:cs typeface="Calibri"/>
            </a:endParaRPr>
          </a:p>
          <a:p>
            <a:pPr marL="1183005" marR="5080" lvl="2" indent="-256540">
              <a:lnSpc>
                <a:spcPct val="100000"/>
              </a:lnSpc>
              <a:buFont typeface="Arial"/>
              <a:buChar char="•"/>
              <a:tabLst>
                <a:tab pos="1183005" algn="l"/>
                <a:tab pos="1183640" algn="l"/>
              </a:tabLst>
            </a:pPr>
            <a:r>
              <a:rPr sz="2000" spc="-5" dirty="0">
                <a:latin typeface="Calibri"/>
                <a:cs typeface="Calibri"/>
              </a:rPr>
              <a:t>Es </a:t>
            </a:r>
            <a:r>
              <a:rPr sz="2000" dirty="0">
                <a:latin typeface="Calibri"/>
                <a:cs typeface="Calibri"/>
              </a:rPr>
              <a:t>difícil usarlo </a:t>
            </a:r>
            <a:r>
              <a:rPr sz="2000" spc="-15" dirty="0">
                <a:latin typeface="Calibri"/>
                <a:cs typeface="Calibri"/>
              </a:rPr>
              <a:t>para </a:t>
            </a:r>
            <a:r>
              <a:rPr sz="2000" spc="-10" dirty="0">
                <a:latin typeface="Calibri"/>
                <a:cs typeface="Calibri"/>
              </a:rPr>
              <a:t>comparar </a:t>
            </a:r>
            <a:r>
              <a:rPr sz="2000" spc="-5" dirty="0">
                <a:latin typeface="Calibri"/>
                <a:cs typeface="Calibri"/>
              </a:rPr>
              <a:t>alternativas </a:t>
            </a:r>
            <a:r>
              <a:rPr sz="2000" spc="-10" dirty="0">
                <a:latin typeface="Calibri"/>
                <a:cs typeface="Calibri"/>
              </a:rPr>
              <a:t>porque </a:t>
            </a:r>
            <a:r>
              <a:rPr sz="2000" spc="-5" dirty="0">
                <a:latin typeface="Calibri"/>
                <a:cs typeface="Calibri"/>
              </a:rPr>
              <a:t>solamente </a:t>
            </a:r>
            <a:r>
              <a:rPr sz="2000" dirty="0">
                <a:latin typeface="Calibri"/>
                <a:cs typeface="Calibri"/>
              </a:rPr>
              <a:t>tiene en  </a:t>
            </a:r>
            <a:r>
              <a:rPr sz="2000" spc="-10" dirty="0">
                <a:latin typeface="Calibri"/>
                <a:cs typeface="Calibri"/>
              </a:rPr>
              <a:t>cuenta </a:t>
            </a:r>
            <a:r>
              <a:rPr sz="2000" spc="-5" dirty="0">
                <a:latin typeface="Calibri"/>
                <a:cs typeface="Calibri"/>
              </a:rPr>
              <a:t>los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costos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2900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Gestión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Proyectos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SI/TI</a:t>
            </a:r>
            <a:r>
              <a:rPr sz="2000" b="1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Evaluación de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36066"/>
            <a:ext cx="776922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sz="2200" b="1" spc="-5" dirty="0">
                <a:latin typeface="Calibri"/>
                <a:cs typeface="Calibri"/>
              </a:rPr>
              <a:t>1.	</a:t>
            </a:r>
            <a:r>
              <a:rPr sz="2200" b="1" dirty="0">
                <a:latin typeface="Calibri"/>
                <a:cs typeface="Calibri"/>
              </a:rPr>
              <a:t>CTP </a:t>
            </a:r>
            <a:r>
              <a:rPr sz="2200" b="1" spc="-10" dirty="0">
                <a:latin typeface="Calibri"/>
                <a:cs typeface="Calibri"/>
              </a:rPr>
              <a:t>(</a:t>
            </a:r>
            <a:r>
              <a:rPr sz="2200" b="1" i="1" spc="-10" dirty="0">
                <a:latin typeface="Calibri"/>
                <a:cs typeface="Calibri"/>
              </a:rPr>
              <a:t>Costo </a:t>
            </a:r>
            <a:r>
              <a:rPr sz="2200" b="1" i="1" spc="-40" dirty="0">
                <a:latin typeface="Calibri"/>
                <a:cs typeface="Calibri"/>
              </a:rPr>
              <a:t>Total </a:t>
            </a:r>
            <a:r>
              <a:rPr sz="2200" b="1" i="1" dirty="0">
                <a:latin typeface="Calibri"/>
                <a:cs typeface="Calibri"/>
              </a:rPr>
              <a:t>de </a:t>
            </a:r>
            <a:r>
              <a:rPr sz="2200" b="1" i="1" spc="-5" dirty="0">
                <a:latin typeface="Calibri"/>
                <a:cs typeface="Calibri"/>
              </a:rPr>
              <a:t>Propiedad</a:t>
            </a:r>
            <a:r>
              <a:rPr sz="2200" b="1" spc="-5" dirty="0">
                <a:latin typeface="Calibri"/>
                <a:cs typeface="Calibri"/>
              </a:rPr>
              <a:t>) </a:t>
            </a:r>
            <a:r>
              <a:rPr sz="2200" b="1" dirty="0">
                <a:latin typeface="Calibri"/>
                <a:cs typeface="Calibri"/>
              </a:rPr>
              <a:t>o </a:t>
            </a:r>
            <a:r>
              <a:rPr sz="2200" b="1" spc="-25" dirty="0">
                <a:latin typeface="Calibri"/>
                <a:cs typeface="Calibri"/>
              </a:rPr>
              <a:t>TCO </a:t>
            </a:r>
            <a:r>
              <a:rPr sz="2200" b="1" spc="-35" dirty="0">
                <a:latin typeface="Calibri"/>
                <a:cs typeface="Calibri"/>
              </a:rPr>
              <a:t>(</a:t>
            </a:r>
            <a:r>
              <a:rPr sz="2200" b="1" i="1" spc="-35" dirty="0">
                <a:latin typeface="Calibri"/>
                <a:cs typeface="Calibri"/>
              </a:rPr>
              <a:t>Total </a:t>
            </a:r>
            <a:r>
              <a:rPr sz="2200" b="1" i="1" spc="-5" dirty="0">
                <a:latin typeface="Calibri"/>
                <a:cs typeface="Calibri"/>
              </a:rPr>
              <a:t>Cost </a:t>
            </a:r>
            <a:r>
              <a:rPr sz="2200" b="1" i="1" dirty="0">
                <a:latin typeface="Calibri"/>
                <a:cs typeface="Calibri"/>
              </a:rPr>
              <a:t>of</a:t>
            </a:r>
            <a:r>
              <a:rPr sz="2200" b="1" i="1" spc="65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Ownership</a:t>
            </a:r>
            <a:r>
              <a:rPr sz="2200" b="1" spc="-5" dirty="0">
                <a:latin typeface="Calibri"/>
                <a:cs typeface="Calibri"/>
              </a:rPr>
              <a:t>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4335" y="1657101"/>
            <a:ext cx="7783054" cy="44232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37</a:t>
            </a:fld>
            <a:endParaRPr spc="-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2900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Gestión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Proyectos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SI/TI</a:t>
            </a:r>
            <a:r>
              <a:rPr sz="2000" b="1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Evaluación de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36066"/>
            <a:ext cx="77692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marR="5080" indent="-444500">
              <a:lnSpc>
                <a:spcPct val="10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sz="2200" b="1" spc="-5" dirty="0">
                <a:latin typeface="Calibri"/>
                <a:cs typeface="Calibri"/>
              </a:rPr>
              <a:t>1.		</a:t>
            </a:r>
            <a:r>
              <a:rPr sz="2200" b="1" dirty="0">
                <a:latin typeface="Calibri"/>
                <a:cs typeface="Calibri"/>
              </a:rPr>
              <a:t>CTP </a:t>
            </a:r>
            <a:r>
              <a:rPr sz="2200" b="1" spc="-10" dirty="0">
                <a:latin typeface="Calibri"/>
                <a:cs typeface="Calibri"/>
              </a:rPr>
              <a:t>(</a:t>
            </a:r>
            <a:r>
              <a:rPr sz="2200" b="1" i="1" spc="-10" dirty="0">
                <a:latin typeface="Calibri"/>
                <a:cs typeface="Calibri"/>
              </a:rPr>
              <a:t>Costo </a:t>
            </a:r>
            <a:r>
              <a:rPr sz="2200" b="1" i="1" spc="-40" dirty="0">
                <a:latin typeface="Calibri"/>
                <a:cs typeface="Calibri"/>
              </a:rPr>
              <a:t>Total </a:t>
            </a:r>
            <a:r>
              <a:rPr sz="2200" b="1" i="1" dirty="0">
                <a:latin typeface="Calibri"/>
                <a:cs typeface="Calibri"/>
              </a:rPr>
              <a:t>de </a:t>
            </a:r>
            <a:r>
              <a:rPr sz="2200" b="1" i="1" spc="-5" dirty="0">
                <a:latin typeface="Calibri"/>
                <a:cs typeface="Calibri"/>
              </a:rPr>
              <a:t>Propiedad</a:t>
            </a:r>
            <a:r>
              <a:rPr sz="2200" b="1" spc="-5" dirty="0">
                <a:latin typeface="Calibri"/>
                <a:cs typeface="Calibri"/>
              </a:rPr>
              <a:t>) </a:t>
            </a:r>
            <a:r>
              <a:rPr sz="2200" b="1" dirty="0">
                <a:latin typeface="Calibri"/>
                <a:cs typeface="Calibri"/>
              </a:rPr>
              <a:t>o </a:t>
            </a:r>
            <a:r>
              <a:rPr sz="2200" b="1" spc="-25" dirty="0">
                <a:latin typeface="Calibri"/>
                <a:cs typeface="Calibri"/>
              </a:rPr>
              <a:t>TCO </a:t>
            </a:r>
            <a:r>
              <a:rPr sz="2200" b="1" spc="-35" dirty="0">
                <a:latin typeface="Calibri"/>
                <a:cs typeface="Calibri"/>
              </a:rPr>
              <a:t>(</a:t>
            </a:r>
            <a:r>
              <a:rPr sz="2200" b="1" i="1" spc="-35" dirty="0">
                <a:latin typeface="Calibri"/>
                <a:cs typeface="Calibri"/>
              </a:rPr>
              <a:t>Total </a:t>
            </a:r>
            <a:r>
              <a:rPr sz="2200" b="1" i="1" spc="-5" dirty="0">
                <a:latin typeface="Calibri"/>
                <a:cs typeface="Calibri"/>
              </a:rPr>
              <a:t>Cost </a:t>
            </a:r>
            <a:r>
              <a:rPr sz="2200" b="1" i="1" dirty="0">
                <a:latin typeface="Calibri"/>
                <a:cs typeface="Calibri"/>
              </a:rPr>
              <a:t>of </a:t>
            </a:r>
            <a:r>
              <a:rPr sz="2200" b="1" i="1" spc="-5" dirty="0">
                <a:latin typeface="Calibri"/>
                <a:cs typeface="Calibri"/>
              </a:rPr>
              <a:t>Ownership</a:t>
            </a:r>
            <a:r>
              <a:rPr sz="2200" b="1" spc="-5" dirty="0">
                <a:latin typeface="Calibri"/>
                <a:cs typeface="Calibri"/>
              </a:rPr>
              <a:t>)  </a:t>
            </a:r>
            <a:r>
              <a:rPr sz="2200" b="1" spc="-10" dirty="0">
                <a:latin typeface="Calibri"/>
                <a:cs typeface="Calibri"/>
              </a:rPr>
              <a:t>Considerar </a:t>
            </a:r>
            <a:r>
              <a:rPr sz="2200" b="1" spc="-5" dirty="0">
                <a:latin typeface="Calibri"/>
                <a:cs typeface="Calibri"/>
              </a:rPr>
              <a:t>las </a:t>
            </a:r>
            <a:r>
              <a:rPr sz="2200" b="1" spc="-10" dirty="0">
                <a:latin typeface="Calibri"/>
                <a:cs typeface="Calibri"/>
              </a:rPr>
              <a:t>siguientes </a:t>
            </a:r>
            <a:r>
              <a:rPr sz="2200" b="1" spc="-5" dirty="0">
                <a:latin typeface="Calibri"/>
                <a:cs typeface="Calibri"/>
              </a:rPr>
              <a:t>medidas </a:t>
            </a:r>
            <a:r>
              <a:rPr sz="2200" b="1" spc="-15" dirty="0">
                <a:latin typeface="Calibri"/>
                <a:cs typeface="Calibri"/>
              </a:rPr>
              <a:t>para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reducirlo: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0541" y="2014719"/>
            <a:ext cx="6763078" cy="40648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38</a:t>
            </a:fld>
            <a:endParaRPr spc="-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2900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 – </a:t>
            </a:r>
            <a:r>
              <a:rPr spc="-10" dirty="0"/>
              <a:t>Gestión </a:t>
            </a:r>
            <a:r>
              <a:rPr spc="-5" dirty="0"/>
              <a:t>de </a:t>
            </a:r>
            <a:r>
              <a:rPr spc="-10" dirty="0"/>
              <a:t>Proyectos </a:t>
            </a:r>
            <a:r>
              <a:rPr spc="-5" dirty="0"/>
              <a:t>de SI/TI</a:t>
            </a:r>
            <a:r>
              <a:rPr spc="100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" dirty="0">
                <a:latin typeface="Calibri"/>
                <a:cs typeface="Calibri"/>
              </a:rPr>
              <a:t>Evaluación de</a:t>
            </a:r>
            <a:r>
              <a:rPr sz="1800" b="0" spc="20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39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9268" y="1036066"/>
            <a:ext cx="8613775" cy="5300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sz="2200" b="1" spc="-5" dirty="0">
                <a:latin typeface="Calibri"/>
                <a:cs typeface="Calibri"/>
              </a:rPr>
              <a:t>2.	</a:t>
            </a:r>
            <a:r>
              <a:rPr sz="2200" b="1" spc="-10" dirty="0">
                <a:latin typeface="Calibri"/>
                <a:cs typeface="Calibri"/>
              </a:rPr>
              <a:t>Otros indicadores </a:t>
            </a:r>
            <a:r>
              <a:rPr sz="2200" b="1" spc="-5" dirty="0">
                <a:latin typeface="Calibri"/>
                <a:cs typeface="Calibri"/>
              </a:rPr>
              <a:t>financieros basados </a:t>
            </a:r>
            <a:r>
              <a:rPr sz="2200" b="1" dirty="0">
                <a:latin typeface="Calibri"/>
                <a:cs typeface="Calibri"/>
              </a:rPr>
              <a:t>en </a:t>
            </a:r>
            <a:r>
              <a:rPr sz="2200" b="1" spc="-5" dirty="0">
                <a:latin typeface="Calibri"/>
                <a:cs typeface="Calibri"/>
              </a:rPr>
              <a:t>la estimación </a:t>
            </a:r>
            <a:r>
              <a:rPr sz="2200" b="1" dirty="0">
                <a:latin typeface="Calibri"/>
                <a:cs typeface="Calibri"/>
              </a:rPr>
              <a:t>de </a:t>
            </a:r>
            <a:r>
              <a:rPr sz="2200" b="1" spc="-5" dirty="0">
                <a:latin typeface="Calibri"/>
                <a:cs typeface="Calibri"/>
              </a:rPr>
              <a:t>flujos </a:t>
            </a:r>
            <a:r>
              <a:rPr sz="2200" b="1" dirty="0">
                <a:latin typeface="Calibri"/>
                <a:cs typeface="Calibri"/>
              </a:rPr>
              <a:t>de  </a:t>
            </a:r>
            <a:r>
              <a:rPr sz="2200" b="1" spc="-10" dirty="0">
                <a:latin typeface="Calibri"/>
                <a:cs typeface="Calibri"/>
              </a:rPr>
              <a:t>fondos: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i="1" dirty="0">
                <a:latin typeface="Calibri"/>
                <a:cs typeface="Calibri"/>
              </a:rPr>
              <a:t>Flujos </a:t>
            </a:r>
            <a:r>
              <a:rPr sz="2000" b="1" i="1" spc="-5" dirty="0">
                <a:latin typeface="Calibri"/>
                <a:cs typeface="Calibri"/>
              </a:rPr>
              <a:t>positivos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indican:</a:t>
            </a:r>
            <a:endParaRPr sz="20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Beneficios </a:t>
            </a:r>
            <a:r>
              <a:rPr sz="2000" spc="-10" dirty="0">
                <a:latin typeface="Calibri"/>
                <a:cs typeface="Calibri"/>
              </a:rPr>
              <a:t>económicos </a:t>
            </a:r>
            <a:r>
              <a:rPr sz="2000" spc="-5" dirty="0">
                <a:latin typeface="Calibri"/>
                <a:cs typeface="Calibri"/>
              </a:rPr>
              <a:t>que se </a:t>
            </a:r>
            <a:r>
              <a:rPr sz="2000" spc="-10" dirty="0">
                <a:latin typeface="Calibri"/>
                <a:cs typeface="Calibri"/>
              </a:rPr>
              <a:t>derivan </a:t>
            </a:r>
            <a:r>
              <a:rPr sz="2000" spc="-5" dirty="0">
                <a:latin typeface="Calibri"/>
                <a:cs typeface="Calibri"/>
              </a:rPr>
              <a:t>del </a:t>
            </a:r>
            <a:r>
              <a:rPr sz="2000" spc="-15" dirty="0">
                <a:latin typeface="Calibri"/>
                <a:cs typeface="Calibri"/>
              </a:rPr>
              <a:t>proyecto, </a:t>
            </a:r>
            <a:r>
              <a:rPr sz="2000" spc="-10" dirty="0">
                <a:latin typeface="Calibri"/>
                <a:cs typeface="Calibri"/>
              </a:rPr>
              <a:t>como </a:t>
            </a:r>
            <a:r>
              <a:rPr sz="2000" spc="-5" dirty="0">
                <a:latin typeface="Calibri"/>
                <a:cs typeface="Calibri"/>
              </a:rPr>
              <a:t>una baja en mano de  </a:t>
            </a:r>
            <a:r>
              <a:rPr sz="2000" spc="-15" dirty="0">
                <a:latin typeface="Calibri"/>
                <a:cs typeface="Calibri"/>
              </a:rPr>
              <a:t>obra, </a:t>
            </a:r>
            <a:r>
              <a:rPr sz="2000" spc="-10" dirty="0">
                <a:latin typeface="Calibri"/>
                <a:cs typeface="Calibri"/>
              </a:rPr>
              <a:t>ahorro </a:t>
            </a:r>
            <a:r>
              <a:rPr sz="2000" spc="-5" dirty="0">
                <a:latin typeface="Calibri"/>
                <a:cs typeface="Calibri"/>
              </a:rPr>
              <a:t>en </a:t>
            </a:r>
            <a:r>
              <a:rPr sz="2000" spc="-10" dirty="0">
                <a:latin typeface="Calibri"/>
                <a:cs typeface="Calibri"/>
              </a:rPr>
              <a:t>inventarios, </a:t>
            </a:r>
            <a:r>
              <a:rPr sz="2000" spc="-5" dirty="0">
                <a:latin typeface="Calibri"/>
                <a:cs typeface="Calibri"/>
              </a:rPr>
              <a:t>disminución de la </a:t>
            </a:r>
            <a:r>
              <a:rPr sz="2000" spc="-15" dirty="0">
                <a:latin typeface="Calibri"/>
                <a:cs typeface="Calibri"/>
              </a:rPr>
              <a:t>cartera,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25" dirty="0">
                <a:latin typeface="Calibri"/>
                <a:cs typeface="Calibri"/>
              </a:rPr>
              <a:t>Valor </a:t>
            </a:r>
            <a:r>
              <a:rPr sz="2000" spc="-5" dirty="0">
                <a:latin typeface="Calibri"/>
                <a:cs typeface="Calibri"/>
              </a:rPr>
              <a:t>de </a:t>
            </a:r>
            <a:r>
              <a:rPr sz="2000" spc="-15" dirty="0">
                <a:latin typeface="Calibri"/>
                <a:cs typeface="Calibri"/>
              </a:rPr>
              <a:t>rescate </a:t>
            </a:r>
            <a:r>
              <a:rPr sz="2000" spc="-5" dirty="0">
                <a:latin typeface="Calibri"/>
                <a:cs typeface="Calibri"/>
              </a:rPr>
              <a:t>del equipo al final del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periodo.</a:t>
            </a:r>
            <a:endParaRPr sz="2000">
              <a:latin typeface="Calibri"/>
              <a:cs typeface="Calibri"/>
            </a:endParaRPr>
          </a:p>
          <a:p>
            <a:pPr marL="355600" marR="6985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Beneficios fiscales, </a:t>
            </a:r>
            <a:r>
              <a:rPr sz="2000" spc="-10" dirty="0">
                <a:latin typeface="Calibri"/>
                <a:cs typeface="Calibri"/>
              </a:rPr>
              <a:t>como </a:t>
            </a:r>
            <a:r>
              <a:rPr sz="2000" spc="-5" dirty="0">
                <a:latin typeface="Calibri"/>
                <a:cs typeface="Calibri"/>
              </a:rPr>
              <a:t>depreciación, deductibilidad </a:t>
            </a:r>
            <a:r>
              <a:rPr sz="2000" spc="-10" dirty="0">
                <a:latin typeface="Calibri"/>
                <a:cs typeface="Calibri"/>
              </a:rPr>
              <a:t>directa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los </a:t>
            </a:r>
            <a:r>
              <a:rPr sz="2000" spc="-10" dirty="0">
                <a:latin typeface="Calibri"/>
                <a:cs typeface="Calibri"/>
              </a:rPr>
              <a:t>resultados,  </a:t>
            </a:r>
            <a:r>
              <a:rPr sz="2000" spc="-15" dirty="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i="1" dirty="0">
                <a:latin typeface="Calibri"/>
                <a:cs typeface="Calibri"/>
              </a:rPr>
              <a:t>Flujos </a:t>
            </a:r>
            <a:r>
              <a:rPr sz="2000" b="1" i="1" spc="-5" dirty="0">
                <a:latin typeface="Calibri"/>
                <a:cs typeface="Calibri"/>
              </a:rPr>
              <a:t>negativos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indican: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15" dirty="0">
                <a:latin typeface="Calibri"/>
                <a:cs typeface="Calibri"/>
              </a:rPr>
              <a:t>Pagos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renta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latin typeface="Calibri"/>
                <a:cs typeface="Calibri"/>
              </a:rPr>
              <a:t>Gastos </a:t>
            </a:r>
            <a:r>
              <a:rPr sz="2000" spc="-5" dirty="0">
                <a:latin typeface="Calibri"/>
                <a:cs typeface="Calibri"/>
              </a:rPr>
              <a:t>de </a:t>
            </a:r>
            <a:r>
              <a:rPr sz="2000" spc="-15" dirty="0">
                <a:latin typeface="Calibri"/>
                <a:cs typeface="Calibri"/>
              </a:rPr>
              <a:t>conversión </a:t>
            </a:r>
            <a:r>
              <a:rPr sz="2000" spc="-5" dirty="0">
                <a:latin typeface="Calibri"/>
                <a:cs typeface="Calibri"/>
              </a:rPr>
              <a:t>de las aplicaciones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actuales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latin typeface="Calibri"/>
                <a:cs typeface="Calibri"/>
              </a:rPr>
              <a:t>Mantenimiento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equipo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latin typeface="Calibri"/>
                <a:cs typeface="Calibri"/>
              </a:rPr>
              <a:t>Seguros </a:t>
            </a:r>
            <a:r>
              <a:rPr sz="2000" spc="-5" dirty="0">
                <a:latin typeface="Calibri"/>
                <a:cs typeface="Calibri"/>
              </a:rPr>
              <a:t>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fianzas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latin typeface="Calibri"/>
                <a:cs typeface="Calibri"/>
              </a:rPr>
              <a:t>Gastos </a:t>
            </a:r>
            <a:r>
              <a:rPr sz="2000" spc="-5" dirty="0">
                <a:latin typeface="Calibri"/>
                <a:cs typeface="Calibri"/>
              </a:rPr>
              <a:t>en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capacitación</a:t>
            </a:r>
            <a:endParaRPr sz="2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latin typeface="Calibri"/>
                <a:cs typeface="Calibri"/>
              </a:rPr>
              <a:t>Acondicionamiento </a:t>
            </a:r>
            <a:r>
              <a:rPr sz="2000" spc="-5" dirty="0">
                <a:latin typeface="Calibri"/>
                <a:cs typeface="Calibri"/>
              </a:rPr>
              <a:t>del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local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2900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Gestión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Proyectos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SI/TI</a:t>
            </a:r>
            <a:r>
              <a:rPr sz="2000" b="1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Evaluación de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40</a:t>
            </a:fld>
            <a:endParaRPr spc="-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0218" y="1123441"/>
          <a:ext cx="8653143" cy="1036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3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2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2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8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31750">
                        <a:lnSpc>
                          <a:spcPts val="2280"/>
                        </a:lnSpc>
                        <a:tabLst>
                          <a:tab pos="710565" algn="l"/>
                        </a:tabLst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En	</a:t>
                      </a:r>
                      <a:r>
                        <a:rPr sz="2400" b="1" spc="-15" dirty="0">
                          <a:latin typeface="Calibri"/>
                          <a:cs typeface="Calibri"/>
                        </a:rPr>
                        <a:t>proyectos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ts val="228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de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2575">
                        <a:lnSpc>
                          <a:spcPts val="2280"/>
                        </a:lnSpc>
                        <a:tabLst>
                          <a:tab pos="2708275" algn="l"/>
                        </a:tabLst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implementación	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de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28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si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st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ema</a:t>
                      </a:r>
                      <a:r>
                        <a:rPr sz="2400" b="1" spc="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,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8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algunas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31750">
                        <a:lnSpc>
                          <a:spcPts val="2520"/>
                        </a:lnSpc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problemáticas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252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que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520"/>
                        </a:lnSpc>
                        <a:tabLst>
                          <a:tab pos="1290955" algn="l"/>
                        </a:tabLst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pueden	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identificarse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935" algn="r">
                        <a:lnSpc>
                          <a:spcPts val="252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típ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2400" b="1" spc="-1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ame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nt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2520"/>
                        </a:lnSpc>
                        <a:tabLst>
                          <a:tab pos="695325" algn="l"/>
                        </a:tabLst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son	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1750">
                        <a:lnSpc>
                          <a:spcPts val="2520"/>
                        </a:lnSpc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siguientes: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96722" y="2438145"/>
            <a:ext cx="6163945" cy="2708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15" dirty="0">
                <a:latin typeface="Calibri"/>
                <a:cs typeface="Calibri"/>
              </a:rPr>
              <a:t>Errores </a:t>
            </a:r>
            <a:r>
              <a:rPr sz="2200" dirty="0">
                <a:latin typeface="Calibri"/>
                <a:cs typeface="Calibri"/>
              </a:rPr>
              <a:t>en </a:t>
            </a:r>
            <a:r>
              <a:rPr sz="2200" spc="-5" dirty="0">
                <a:latin typeface="Calibri"/>
                <a:cs typeface="Calibri"/>
              </a:rPr>
              <a:t>la determinación </a:t>
            </a:r>
            <a:r>
              <a:rPr sz="2200" dirty="0">
                <a:latin typeface="Calibri"/>
                <a:cs typeface="Calibri"/>
              </a:rPr>
              <a:t>de los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objetivos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10" dirty="0">
                <a:latin typeface="Calibri"/>
                <a:cs typeface="Calibri"/>
              </a:rPr>
              <a:t>Problemas con </a:t>
            </a:r>
            <a:r>
              <a:rPr sz="2200" dirty="0">
                <a:latin typeface="Calibri"/>
                <a:cs typeface="Calibri"/>
              </a:rPr>
              <a:t>los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recursos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5" dirty="0">
                <a:latin typeface="Calibri"/>
                <a:cs typeface="Calibri"/>
              </a:rPr>
              <a:t>Deficiencias </a:t>
            </a:r>
            <a:r>
              <a:rPr sz="2200" dirty="0">
                <a:latin typeface="Calibri"/>
                <a:cs typeface="Calibri"/>
              </a:rPr>
              <a:t>en </a:t>
            </a:r>
            <a:r>
              <a:rPr sz="2200" spc="-5" dirty="0">
                <a:latin typeface="Calibri"/>
                <a:cs typeface="Calibri"/>
              </a:rPr>
              <a:t>la </a:t>
            </a:r>
            <a:r>
              <a:rPr sz="2200" spc="-10" dirty="0">
                <a:latin typeface="Calibri"/>
                <a:cs typeface="Calibri"/>
              </a:rPr>
              <a:t>definición </a:t>
            </a:r>
            <a:r>
              <a:rPr sz="2200" dirty="0">
                <a:latin typeface="Calibri"/>
                <a:cs typeface="Calibri"/>
              </a:rPr>
              <a:t>de los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requerimientos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10" dirty="0">
                <a:latin typeface="Calibri"/>
                <a:cs typeface="Calibri"/>
              </a:rPr>
              <a:t>Problemas con </a:t>
            </a:r>
            <a:r>
              <a:rPr sz="2200" spc="-5" dirty="0">
                <a:latin typeface="Calibri"/>
                <a:cs typeface="Calibri"/>
              </a:rPr>
              <a:t>la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tecnología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10" dirty="0">
                <a:latin typeface="Calibri"/>
                <a:cs typeface="Calibri"/>
              </a:rPr>
              <a:t>Problemas </a:t>
            </a:r>
            <a:r>
              <a:rPr sz="2200" dirty="0">
                <a:latin typeface="Calibri"/>
                <a:cs typeface="Calibri"/>
              </a:rPr>
              <a:t>en </a:t>
            </a:r>
            <a:r>
              <a:rPr sz="2200" spc="-5" dirty="0">
                <a:latin typeface="Calibri"/>
                <a:cs typeface="Calibri"/>
              </a:rPr>
              <a:t>la relación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usuarios/sistemas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10" dirty="0">
                <a:latin typeface="Calibri"/>
                <a:cs typeface="Calibri"/>
              </a:rPr>
              <a:t>Problemas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organizacionales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5" dirty="0">
                <a:latin typeface="Calibri"/>
                <a:cs typeface="Calibri"/>
              </a:rPr>
              <a:t>Inadecuada ingeniería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sistemas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10" dirty="0">
                <a:latin typeface="Calibri"/>
                <a:cs typeface="Calibri"/>
              </a:rPr>
              <a:t>Problemas </a:t>
            </a:r>
            <a:r>
              <a:rPr sz="2200" dirty="0">
                <a:latin typeface="Calibri"/>
                <a:cs typeface="Calibri"/>
              </a:rPr>
              <a:t>en </a:t>
            </a:r>
            <a:r>
              <a:rPr sz="2200" spc="-5" dirty="0">
                <a:latin typeface="Calibri"/>
                <a:cs typeface="Calibri"/>
              </a:rPr>
              <a:t>la gestión </a:t>
            </a:r>
            <a:r>
              <a:rPr sz="2200" dirty="0">
                <a:latin typeface="Calibri"/>
                <a:cs typeface="Calibri"/>
              </a:rPr>
              <a:t>del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proyecto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2900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 – </a:t>
            </a:r>
            <a:r>
              <a:rPr spc="-10" dirty="0"/>
              <a:t>Gestión </a:t>
            </a:r>
            <a:r>
              <a:rPr spc="-5" dirty="0"/>
              <a:t>de </a:t>
            </a:r>
            <a:r>
              <a:rPr spc="-10" dirty="0"/>
              <a:t>Proyectos </a:t>
            </a:r>
            <a:r>
              <a:rPr spc="-5" dirty="0"/>
              <a:t>de SI/TI</a:t>
            </a:r>
            <a:r>
              <a:rPr spc="100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" dirty="0">
                <a:latin typeface="Calibri"/>
                <a:cs typeface="Calibri"/>
              </a:rPr>
              <a:t>Evaluación de</a:t>
            </a:r>
            <a:r>
              <a:rPr sz="1800" b="0" spc="20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6744" y="6147561"/>
            <a:ext cx="4427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Fuente</a:t>
            </a:r>
            <a:r>
              <a:rPr sz="1200" spc="-5" dirty="0">
                <a:latin typeface="Calibri"/>
                <a:cs typeface="Calibri"/>
              </a:rPr>
              <a:t>: </a:t>
            </a:r>
            <a:r>
              <a:rPr sz="1200" dirty="0">
                <a:latin typeface="Calibri"/>
                <a:cs typeface="Calibri"/>
              </a:rPr>
              <a:t>KPMG </a:t>
            </a:r>
            <a:r>
              <a:rPr sz="1200" spc="-5" dirty="0">
                <a:latin typeface="Calibri"/>
                <a:cs typeface="Calibri"/>
              </a:rPr>
              <a:t>New Zeland (2013). </a:t>
            </a:r>
            <a:r>
              <a:rPr sz="1200" i="1" dirty="0">
                <a:latin typeface="Calibri"/>
                <a:cs typeface="Calibri"/>
              </a:rPr>
              <a:t>Project </a:t>
            </a:r>
            <a:r>
              <a:rPr sz="1200" i="1" spc="-5" dirty="0">
                <a:latin typeface="Calibri"/>
                <a:cs typeface="Calibri"/>
              </a:rPr>
              <a:t>Management Survey</a:t>
            </a:r>
            <a:r>
              <a:rPr sz="1200" i="1" spc="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Report</a:t>
            </a:r>
            <a:r>
              <a:rPr sz="1200" spc="-5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8200" y="1295400"/>
            <a:ext cx="3926586" cy="46558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44326" y="2403776"/>
            <a:ext cx="2957192" cy="23865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41</a:t>
            </a:fld>
            <a:endParaRPr spc="-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291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 – </a:t>
            </a:r>
            <a:r>
              <a:rPr spc="-10" dirty="0"/>
              <a:t>Gestión </a:t>
            </a:r>
            <a:r>
              <a:rPr spc="-5" dirty="0"/>
              <a:t>de </a:t>
            </a:r>
            <a:r>
              <a:rPr spc="-10" dirty="0"/>
              <a:t>Proyectos </a:t>
            </a:r>
            <a:r>
              <a:rPr spc="-5" dirty="0"/>
              <a:t>de SI/TI</a:t>
            </a:r>
            <a:r>
              <a:rPr spc="125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" dirty="0">
                <a:latin typeface="Calibri"/>
                <a:cs typeface="Calibri"/>
              </a:rPr>
              <a:t>Evaluación de</a:t>
            </a:r>
            <a:r>
              <a:rPr sz="1800" b="0" spc="20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01874" y="1359702"/>
            <a:ext cx="7828352" cy="4501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3411" y="6119621"/>
            <a:ext cx="7454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Fuente</a:t>
            </a:r>
            <a:r>
              <a:rPr sz="1200" spc="-5" dirty="0">
                <a:latin typeface="Calibri"/>
                <a:cs typeface="Calibri"/>
              </a:rPr>
              <a:t>: </a:t>
            </a:r>
            <a:r>
              <a:rPr sz="1200" dirty="0">
                <a:latin typeface="Calibri"/>
                <a:cs typeface="Calibri"/>
              </a:rPr>
              <a:t>Bloch, M. </a:t>
            </a:r>
            <a:r>
              <a:rPr sz="1200" spc="-5" dirty="0">
                <a:latin typeface="Calibri"/>
                <a:cs typeface="Calibri"/>
              </a:rPr>
              <a:t>et alter (2012). </a:t>
            </a:r>
            <a:r>
              <a:rPr sz="1200" i="1" spc="-5" dirty="0">
                <a:latin typeface="Calibri"/>
                <a:cs typeface="Calibri"/>
              </a:rPr>
              <a:t>Delivering large-scale IT projects </a:t>
            </a:r>
            <a:r>
              <a:rPr sz="1200" i="1" dirty="0">
                <a:latin typeface="Calibri"/>
                <a:cs typeface="Calibri"/>
              </a:rPr>
              <a:t>on time, on </a:t>
            </a:r>
            <a:r>
              <a:rPr sz="1200" i="1" spc="-5" dirty="0">
                <a:latin typeface="Calibri"/>
                <a:cs typeface="Calibri"/>
              </a:rPr>
              <a:t>budget </a:t>
            </a:r>
            <a:r>
              <a:rPr sz="1200" i="1" dirty="0">
                <a:latin typeface="Calibri"/>
                <a:cs typeface="Calibri"/>
              </a:rPr>
              <a:t>and on value</a:t>
            </a:r>
            <a:r>
              <a:rPr sz="1200" dirty="0">
                <a:latin typeface="Calibri"/>
                <a:cs typeface="Calibri"/>
              </a:rPr>
              <a:t>. McKinsey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Quarterly.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42</a:t>
            </a:fld>
            <a:endParaRPr spc="-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291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 – </a:t>
            </a:r>
            <a:r>
              <a:rPr spc="-10" dirty="0"/>
              <a:t>Gestión </a:t>
            </a:r>
            <a:r>
              <a:rPr spc="-5" dirty="0"/>
              <a:t>de </a:t>
            </a:r>
            <a:r>
              <a:rPr spc="-10" dirty="0"/>
              <a:t>Proyectos </a:t>
            </a:r>
            <a:r>
              <a:rPr spc="-5" dirty="0"/>
              <a:t>de SI/TI</a:t>
            </a:r>
            <a:r>
              <a:rPr spc="125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" dirty="0">
                <a:latin typeface="Calibri"/>
                <a:cs typeface="Calibri"/>
              </a:rPr>
              <a:t>Evaluación de</a:t>
            </a:r>
            <a:r>
              <a:rPr sz="1800" b="0" spc="20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6119621"/>
            <a:ext cx="7454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Fuente</a:t>
            </a:r>
            <a:r>
              <a:rPr sz="1200" spc="-5" dirty="0">
                <a:latin typeface="Calibri"/>
                <a:cs typeface="Calibri"/>
              </a:rPr>
              <a:t>: </a:t>
            </a:r>
            <a:r>
              <a:rPr sz="1200" dirty="0">
                <a:latin typeface="Calibri"/>
                <a:cs typeface="Calibri"/>
              </a:rPr>
              <a:t>Bloch, M. </a:t>
            </a:r>
            <a:r>
              <a:rPr sz="1200" spc="-5" dirty="0">
                <a:latin typeface="Calibri"/>
                <a:cs typeface="Calibri"/>
              </a:rPr>
              <a:t>et alter (2012). </a:t>
            </a:r>
            <a:r>
              <a:rPr sz="1200" i="1" spc="-5" dirty="0">
                <a:latin typeface="Calibri"/>
                <a:cs typeface="Calibri"/>
              </a:rPr>
              <a:t>Delivering large-scale IT projects </a:t>
            </a:r>
            <a:r>
              <a:rPr sz="1200" i="1" dirty="0">
                <a:latin typeface="Calibri"/>
                <a:cs typeface="Calibri"/>
              </a:rPr>
              <a:t>on time, on </a:t>
            </a:r>
            <a:r>
              <a:rPr sz="1200" i="1" spc="-5" dirty="0">
                <a:latin typeface="Calibri"/>
                <a:cs typeface="Calibri"/>
              </a:rPr>
              <a:t>budget </a:t>
            </a:r>
            <a:r>
              <a:rPr sz="1200" i="1" dirty="0">
                <a:latin typeface="Calibri"/>
                <a:cs typeface="Calibri"/>
              </a:rPr>
              <a:t>and on value</a:t>
            </a:r>
            <a:r>
              <a:rPr sz="1200" dirty="0">
                <a:latin typeface="Calibri"/>
                <a:cs typeface="Calibri"/>
              </a:rPr>
              <a:t>. McKinsey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Quarterly.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7569" y="1173328"/>
            <a:ext cx="7382198" cy="4389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43</a:t>
            </a:fld>
            <a:endParaRPr spc="-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42900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Gestión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Proyectos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SI/TI</a:t>
            </a:r>
            <a:r>
              <a:rPr sz="2000" b="1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Evaluación de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44</a:t>
            </a:fld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9268" y="1034541"/>
            <a:ext cx="2126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 dirty="0">
                <a:solidFill>
                  <a:srgbClr val="000000"/>
                </a:solidFill>
              </a:rPr>
              <a:t>Tener </a:t>
            </a:r>
            <a:r>
              <a:rPr sz="2400" spc="-5" dirty="0">
                <a:solidFill>
                  <a:srgbClr val="000000"/>
                </a:solidFill>
              </a:rPr>
              <a:t>en</a:t>
            </a:r>
            <a:r>
              <a:rPr sz="2400" spc="-35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cuenta: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696722" y="1706625"/>
            <a:ext cx="815657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69265" algn="l"/>
                <a:tab pos="469900" algn="l"/>
                <a:tab pos="1261110" algn="l"/>
                <a:tab pos="2527935" algn="l"/>
                <a:tab pos="3132455" algn="l"/>
                <a:tab pos="5260975" algn="l"/>
                <a:tab pos="6536690" algn="l"/>
                <a:tab pos="7139940" algn="l"/>
              </a:tabLst>
            </a:pPr>
            <a:r>
              <a:rPr sz="2200" spc="-5" dirty="0">
                <a:latin typeface="Calibri"/>
                <a:cs typeface="Calibri"/>
              </a:rPr>
              <a:t>Má</a:t>
            </a:r>
            <a:r>
              <a:rPr sz="2200" dirty="0">
                <a:latin typeface="Calibri"/>
                <a:cs typeface="Calibri"/>
              </a:rPr>
              <a:t>s	</a:t>
            </a:r>
            <a:r>
              <a:rPr sz="2200" spc="-30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ec</a:t>
            </a:r>
            <a:r>
              <a:rPr sz="2200" spc="-10" dirty="0">
                <a:latin typeface="Calibri"/>
                <a:cs typeface="Calibri"/>
              </a:rPr>
              <a:t>u</a:t>
            </a:r>
            <a:r>
              <a:rPr sz="2200" spc="-45" dirty="0">
                <a:latin typeface="Calibri"/>
                <a:cs typeface="Calibri"/>
              </a:rPr>
              <a:t>r</a:t>
            </a:r>
            <a:r>
              <a:rPr sz="2200" spc="-5" dirty="0">
                <a:latin typeface="Calibri"/>
                <a:cs typeface="Calibri"/>
              </a:rPr>
              <a:t>so</a:t>
            </a:r>
            <a:r>
              <a:rPr sz="2200" dirty="0">
                <a:latin typeface="Calibri"/>
                <a:cs typeface="Calibri"/>
              </a:rPr>
              <a:t>s	no	</a:t>
            </a:r>
            <a:r>
              <a:rPr sz="2200" spc="-5" dirty="0">
                <a:latin typeface="Calibri"/>
                <a:cs typeface="Calibri"/>
              </a:rPr>
              <a:t>ne</a:t>
            </a:r>
            <a:r>
              <a:rPr sz="2200" spc="-15" dirty="0">
                <a:latin typeface="Calibri"/>
                <a:cs typeface="Calibri"/>
              </a:rPr>
              <a:t>c</a:t>
            </a:r>
            <a:r>
              <a:rPr sz="2200" dirty="0">
                <a:latin typeface="Calibri"/>
                <a:cs typeface="Calibri"/>
              </a:rPr>
              <a:t>esar</a:t>
            </a:r>
            <a:r>
              <a:rPr sz="2200" spc="-10" dirty="0">
                <a:latin typeface="Calibri"/>
                <a:cs typeface="Calibri"/>
              </a:rPr>
              <a:t>i</a:t>
            </a:r>
            <a:r>
              <a:rPr sz="2200" dirty="0">
                <a:latin typeface="Calibri"/>
                <a:cs typeface="Calibri"/>
              </a:rPr>
              <a:t>ame</a:t>
            </a:r>
            <a:r>
              <a:rPr sz="2200" spc="-20" dirty="0">
                <a:latin typeface="Calibri"/>
                <a:cs typeface="Calibri"/>
              </a:rPr>
              <a:t>n</a:t>
            </a:r>
            <a:r>
              <a:rPr sz="2200" spc="-25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e	ace</a:t>
            </a:r>
            <a:r>
              <a:rPr sz="2200" spc="-15" dirty="0">
                <a:latin typeface="Calibri"/>
                <a:cs typeface="Calibri"/>
              </a:rPr>
              <a:t>l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50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an	</a:t>
            </a:r>
            <a:r>
              <a:rPr sz="2200" spc="-5" dirty="0">
                <a:latin typeface="Calibri"/>
                <a:cs typeface="Calibri"/>
              </a:rPr>
              <a:t>u</a:t>
            </a:r>
            <a:r>
              <a:rPr sz="2200" dirty="0">
                <a:latin typeface="Calibri"/>
                <a:cs typeface="Calibri"/>
              </a:rPr>
              <a:t>n	</a:t>
            </a:r>
            <a:r>
              <a:rPr sz="2200" spc="-5" dirty="0">
                <a:latin typeface="Calibri"/>
                <a:cs typeface="Calibri"/>
              </a:rPr>
              <a:t>p</a:t>
            </a:r>
            <a:r>
              <a:rPr sz="2200" spc="-45" dirty="0">
                <a:latin typeface="Calibri"/>
                <a:cs typeface="Calibri"/>
              </a:rPr>
              <a:t>r</a:t>
            </a:r>
            <a:r>
              <a:rPr sz="2200" spc="-20" dirty="0">
                <a:latin typeface="Calibri"/>
                <a:cs typeface="Calibri"/>
              </a:rPr>
              <a:t>o</a:t>
            </a:r>
            <a:r>
              <a:rPr sz="2200" spc="-30" dirty="0">
                <a:latin typeface="Calibri"/>
                <a:cs typeface="Calibri"/>
              </a:rPr>
              <a:t>y</a:t>
            </a:r>
            <a:r>
              <a:rPr sz="2200" dirty="0">
                <a:latin typeface="Calibri"/>
                <a:cs typeface="Calibri"/>
              </a:rPr>
              <a:t>ec</a:t>
            </a:r>
            <a:r>
              <a:rPr sz="2200" spc="-3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o  </a:t>
            </a:r>
            <a:r>
              <a:rPr sz="2200" spc="-10" dirty="0">
                <a:latin typeface="Calibri"/>
                <a:cs typeface="Calibri"/>
              </a:rPr>
              <a:t>(aprendizaje,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coordinación).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10" dirty="0">
                <a:latin typeface="Calibri"/>
                <a:cs typeface="Calibri"/>
              </a:rPr>
              <a:t>Nueve </a:t>
            </a:r>
            <a:r>
              <a:rPr sz="2200" spc="-5" dirty="0">
                <a:latin typeface="Calibri"/>
                <a:cs typeface="Calibri"/>
              </a:rPr>
              <a:t>mujeres </a:t>
            </a:r>
            <a:r>
              <a:rPr sz="2200" dirty="0">
                <a:latin typeface="Calibri"/>
                <a:cs typeface="Calibri"/>
              </a:rPr>
              <a:t>no </a:t>
            </a:r>
            <a:r>
              <a:rPr sz="2200" spc="-5" dirty="0">
                <a:latin typeface="Calibri"/>
                <a:cs typeface="Calibri"/>
              </a:rPr>
              <a:t>hacen </a:t>
            </a:r>
            <a:r>
              <a:rPr sz="2200" dirty="0">
                <a:latin typeface="Calibri"/>
                <a:cs typeface="Calibri"/>
              </a:rPr>
              <a:t>un </a:t>
            </a:r>
            <a:r>
              <a:rPr sz="2200" spc="-5" dirty="0">
                <a:latin typeface="Calibri"/>
                <a:cs typeface="Calibri"/>
              </a:rPr>
              <a:t>hijo </a:t>
            </a:r>
            <a:r>
              <a:rPr sz="2200" dirty="0">
                <a:latin typeface="Calibri"/>
                <a:cs typeface="Calibri"/>
              </a:rPr>
              <a:t>en un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mes.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5" dirty="0">
                <a:latin typeface="Calibri"/>
                <a:cs typeface="Calibri"/>
              </a:rPr>
              <a:t>Los </a:t>
            </a:r>
            <a:r>
              <a:rPr sz="2200" spc="-15" dirty="0">
                <a:latin typeface="Calibri"/>
                <a:cs typeface="Calibri"/>
              </a:rPr>
              <a:t>proyectos </a:t>
            </a:r>
            <a:r>
              <a:rPr sz="2200" dirty="0">
                <a:latin typeface="Calibri"/>
                <a:cs typeface="Calibri"/>
              </a:rPr>
              <a:t>no </a:t>
            </a:r>
            <a:r>
              <a:rPr sz="2200" spc="-5" dirty="0">
                <a:latin typeface="Calibri"/>
                <a:cs typeface="Calibri"/>
              </a:rPr>
              <a:t>“terminan” </a:t>
            </a:r>
            <a:r>
              <a:rPr sz="2200" spc="-10" dirty="0">
                <a:latin typeface="Calibri"/>
                <a:cs typeface="Calibri"/>
              </a:rPr>
              <a:t>con </a:t>
            </a:r>
            <a:r>
              <a:rPr sz="2200" spc="-5" dirty="0">
                <a:latin typeface="Calibri"/>
                <a:cs typeface="Calibri"/>
              </a:rPr>
              <a:t>la </a:t>
            </a:r>
            <a:r>
              <a:rPr sz="2200" spc="-10" dirty="0">
                <a:latin typeface="Calibri"/>
                <a:cs typeface="Calibri"/>
              </a:rPr>
              <a:t>puesta </a:t>
            </a:r>
            <a:r>
              <a:rPr sz="2200" dirty="0">
                <a:latin typeface="Calibri"/>
                <a:cs typeface="Calibri"/>
              </a:rPr>
              <a:t>en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marcha.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10" dirty="0">
                <a:latin typeface="Calibri"/>
                <a:cs typeface="Calibri"/>
              </a:rPr>
              <a:t>Resistencia </a:t>
            </a:r>
            <a:r>
              <a:rPr sz="2200" dirty="0">
                <a:latin typeface="Calibri"/>
                <a:cs typeface="Calibri"/>
              </a:rPr>
              <a:t>al </a:t>
            </a:r>
            <a:r>
              <a:rPr sz="2200" spc="-5" dirty="0">
                <a:latin typeface="Calibri"/>
                <a:cs typeface="Calibri"/>
              </a:rPr>
              <a:t>cambio </a:t>
            </a:r>
            <a:r>
              <a:rPr sz="2200" spc="-15" dirty="0">
                <a:latin typeface="Calibri"/>
                <a:cs typeface="Calibri"/>
              </a:rPr>
              <a:t>(nativa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creada).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dirty="0">
                <a:latin typeface="Calibri"/>
                <a:cs typeface="Calibri"/>
              </a:rPr>
              <a:t>No </a:t>
            </a:r>
            <a:r>
              <a:rPr sz="2200" spc="-10" dirty="0">
                <a:latin typeface="Calibri"/>
                <a:cs typeface="Calibri"/>
              </a:rPr>
              <a:t>ignorar </a:t>
            </a:r>
            <a:r>
              <a:rPr sz="2200" spc="-5" dirty="0">
                <a:latin typeface="Calibri"/>
                <a:cs typeface="Calibri"/>
              </a:rPr>
              <a:t>la </a:t>
            </a:r>
            <a:r>
              <a:rPr sz="2200" spc="-10" dirty="0">
                <a:latin typeface="Calibri"/>
                <a:cs typeface="Calibri"/>
              </a:rPr>
              <a:t>cultura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dirty="0">
                <a:latin typeface="Calibri"/>
                <a:cs typeface="Calibri"/>
              </a:rPr>
              <a:t>una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organización.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10" dirty="0">
                <a:latin typeface="Calibri"/>
                <a:cs typeface="Calibri"/>
              </a:rPr>
              <a:t>Pensar </a:t>
            </a:r>
            <a:r>
              <a:rPr sz="2200" dirty="0">
                <a:latin typeface="Calibri"/>
                <a:cs typeface="Calibri"/>
              </a:rPr>
              <a:t>en </a:t>
            </a:r>
            <a:r>
              <a:rPr sz="2200" spc="-10" dirty="0">
                <a:latin typeface="Calibri"/>
                <a:cs typeface="Calibri"/>
              </a:rPr>
              <a:t>grande </a:t>
            </a:r>
            <a:r>
              <a:rPr sz="2200" dirty="0">
                <a:latin typeface="Calibri"/>
                <a:cs typeface="Calibri"/>
              </a:rPr>
              <a:t>y </a:t>
            </a:r>
            <a:r>
              <a:rPr sz="2200" spc="-5" dirty="0">
                <a:latin typeface="Calibri"/>
                <a:cs typeface="Calibri"/>
              </a:rPr>
              <a:t>hacer </a:t>
            </a:r>
            <a:r>
              <a:rPr sz="2200" dirty="0">
                <a:latin typeface="Calibri"/>
                <a:cs typeface="Calibri"/>
              </a:rPr>
              <a:t>en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chico.</a:t>
            </a:r>
            <a:endParaRPr sz="22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200" spc="-5" dirty="0">
                <a:latin typeface="Calibri"/>
                <a:cs typeface="Calibri"/>
              </a:rPr>
              <a:t>En la </a:t>
            </a:r>
            <a:r>
              <a:rPr sz="2200" spc="-15" dirty="0">
                <a:latin typeface="Calibri"/>
                <a:cs typeface="Calibri"/>
              </a:rPr>
              <a:t>introducción </a:t>
            </a:r>
            <a:r>
              <a:rPr sz="2200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sistemas </a:t>
            </a:r>
            <a:r>
              <a:rPr sz="2200" dirty="0">
                <a:latin typeface="Calibri"/>
                <a:cs typeface="Calibri"/>
              </a:rPr>
              <a:t>es </a:t>
            </a:r>
            <a:r>
              <a:rPr sz="2200" spc="-10" dirty="0">
                <a:latin typeface="Calibri"/>
                <a:cs typeface="Calibri"/>
              </a:rPr>
              <a:t>como </a:t>
            </a:r>
            <a:r>
              <a:rPr sz="2200" spc="-5" dirty="0">
                <a:latin typeface="Calibri"/>
                <a:cs typeface="Calibri"/>
              </a:rPr>
              <a:t>cambiar la ruedas </a:t>
            </a:r>
            <a:r>
              <a:rPr sz="2200" dirty="0">
                <a:latin typeface="Calibri"/>
                <a:cs typeface="Calibri"/>
              </a:rPr>
              <a:t>de </a:t>
            </a:r>
            <a:r>
              <a:rPr sz="2200" spc="-5" dirty="0">
                <a:latin typeface="Calibri"/>
                <a:cs typeface="Calibri"/>
              </a:rPr>
              <a:t>una  auto </a:t>
            </a:r>
            <a:r>
              <a:rPr sz="2200" spc="-10" dirty="0">
                <a:latin typeface="Calibri"/>
                <a:cs typeface="Calibri"/>
              </a:rPr>
              <a:t>mientras </a:t>
            </a:r>
            <a:r>
              <a:rPr sz="2200" spc="-15" dirty="0">
                <a:latin typeface="Calibri"/>
                <a:cs typeface="Calibri"/>
              </a:rPr>
              <a:t>éste </a:t>
            </a:r>
            <a:r>
              <a:rPr sz="2200" spc="-5" dirty="0">
                <a:latin typeface="Calibri"/>
                <a:cs typeface="Calibri"/>
              </a:rPr>
              <a:t>sigue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andando.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291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Gestión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Proyectos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SI/TI</a:t>
            </a:r>
            <a:r>
              <a:rPr sz="2000" b="1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Evaluación de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proyectos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34541"/>
            <a:ext cx="1384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Entonces…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71244" y="1473708"/>
            <a:ext cx="6048756" cy="4876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45</a:t>
            </a:fld>
            <a:endParaRPr spc="-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774191" y="0"/>
                </a:moveTo>
                <a:lnTo>
                  <a:pt x="171450" y="0"/>
                </a:lnTo>
                <a:lnTo>
                  <a:pt x="0" y="685800"/>
                </a:lnTo>
                <a:lnTo>
                  <a:pt x="602741" y="685800"/>
                </a:lnTo>
                <a:lnTo>
                  <a:pt x="774191" y="0"/>
                </a:lnTo>
                <a:close/>
              </a:path>
            </a:pathLst>
          </a:custGeom>
          <a:solidFill>
            <a:srgbClr val="C5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0" y="685800"/>
                </a:moveTo>
                <a:lnTo>
                  <a:pt x="171450" y="0"/>
                </a:lnTo>
                <a:lnTo>
                  <a:pt x="774191" y="0"/>
                </a:lnTo>
                <a:lnTo>
                  <a:pt x="602741" y="685800"/>
                </a:lnTo>
                <a:lnTo>
                  <a:pt x="0" y="685800"/>
                </a:lnTo>
                <a:close/>
              </a:path>
            </a:pathLst>
          </a:custGeom>
          <a:ln w="9906">
            <a:solidFill>
              <a:srgbClr val="C5E7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6091" y="4457999"/>
            <a:ext cx="3543300" cy="1707514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610"/>
              </a:spcBef>
            </a:pPr>
            <a:r>
              <a:rPr sz="3000" b="1" spc="-5" dirty="0">
                <a:solidFill>
                  <a:srgbClr val="FFFFFF"/>
                </a:solidFill>
                <a:latin typeface="Calibri"/>
                <a:cs typeface="Calibri"/>
              </a:rPr>
              <a:t>III</a:t>
            </a:r>
            <a:endParaRPr sz="3000">
              <a:latin typeface="Calibri"/>
              <a:cs typeface="Calibri"/>
            </a:endParaRPr>
          </a:p>
          <a:p>
            <a:pPr marL="124460" marR="802005" indent="-112395">
              <a:lnSpc>
                <a:spcPct val="100000"/>
              </a:lnSpc>
              <a:spcBef>
                <a:spcPts val="1410"/>
              </a:spcBef>
            </a:pPr>
            <a:r>
              <a:rPr sz="2800" b="1" spc="-5" dirty="0">
                <a:solidFill>
                  <a:srgbClr val="00338D"/>
                </a:solidFill>
                <a:latin typeface="Calibri"/>
                <a:cs typeface="Calibri"/>
              </a:rPr>
              <a:t>Organización en</a:t>
            </a:r>
            <a:r>
              <a:rPr sz="2800" b="1" spc="-70" dirty="0">
                <a:solidFill>
                  <a:srgbClr val="00338D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338D"/>
                </a:solidFill>
                <a:latin typeface="Calibri"/>
                <a:cs typeface="Calibri"/>
              </a:rPr>
              <a:t>el  </a:t>
            </a:r>
            <a:r>
              <a:rPr sz="2800" b="1" dirty="0">
                <a:solidFill>
                  <a:srgbClr val="00338D"/>
                </a:solidFill>
                <a:latin typeface="Calibri"/>
                <a:cs typeface="Calibri"/>
              </a:rPr>
              <a:t>área de</a:t>
            </a:r>
            <a:r>
              <a:rPr sz="2800" b="1" spc="-40" dirty="0">
                <a:solidFill>
                  <a:srgbClr val="00338D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8D"/>
                </a:solidFill>
                <a:latin typeface="Calibri"/>
                <a:cs typeface="Calibri"/>
              </a:rPr>
              <a:t>Sistemas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64452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Organización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en el área de</a:t>
            </a:r>
            <a:r>
              <a:rPr sz="2000" b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Sistemas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Posicionamiento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del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área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 Sistemas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 la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estructura</a:t>
            </a:r>
            <a:r>
              <a:rPr sz="180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organizacional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221708"/>
            <a:ext cx="5026660" cy="465328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15" dirty="0">
                <a:latin typeface="Calibri"/>
                <a:cs typeface="Calibri"/>
              </a:rPr>
              <a:t>Estructura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informática</a:t>
            </a:r>
            <a:endParaRPr sz="2700">
              <a:latin typeface="Calibri"/>
              <a:cs typeface="Calibri"/>
            </a:endParaRPr>
          </a:p>
          <a:p>
            <a:pPr marL="755650" marR="5080" lvl="1" indent="-285750">
              <a:lnSpc>
                <a:spcPts val="2590"/>
              </a:lnSpc>
              <a:spcBef>
                <a:spcPts val="630"/>
              </a:spcBef>
              <a:buFont typeface="Arial"/>
              <a:buChar char="–"/>
              <a:tabLst>
                <a:tab pos="755650" algn="l"/>
              </a:tabLst>
            </a:pPr>
            <a:r>
              <a:rPr sz="2400" spc="-10" dirty="0">
                <a:latin typeface="Calibri"/>
                <a:cs typeface="Calibri"/>
              </a:rPr>
              <a:t>Conjunto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spc="-15" dirty="0">
                <a:latin typeface="Calibri"/>
                <a:cs typeface="Calibri"/>
              </a:rPr>
              <a:t>recursos </a:t>
            </a:r>
            <a:r>
              <a:rPr sz="2400" spc="-5" dirty="0">
                <a:latin typeface="Calibri"/>
                <a:cs typeface="Calibri"/>
              </a:rPr>
              <a:t>disponibles  </a:t>
            </a:r>
            <a:r>
              <a:rPr sz="2400" spc="-15" dirty="0">
                <a:latin typeface="Calibri"/>
                <a:cs typeface="Calibri"/>
              </a:rPr>
              <a:t>(hardware, </a:t>
            </a:r>
            <a:r>
              <a:rPr sz="2400" spc="-10" dirty="0">
                <a:latin typeface="Calibri"/>
                <a:cs typeface="Calibri"/>
              </a:rPr>
              <a:t>software,  telecomunicaciones </a:t>
            </a:r>
            <a:r>
              <a:rPr sz="2400" dirty="0">
                <a:latin typeface="Calibri"/>
                <a:cs typeface="Calibri"/>
              </a:rPr>
              <a:t>y </a:t>
            </a:r>
            <a:r>
              <a:rPr sz="2400" spc="-10" dirty="0">
                <a:latin typeface="Calibri"/>
                <a:cs typeface="Calibri"/>
              </a:rPr>
              <a:t>redes) </a:t>
            </a:r>
            <a:r>
              <a:rPr sz="2400" spc="-15" dirty="0">
                <a:latin typeface="Calibri"/>
                <a:cs typeface="Calibri"/>
              </a:rPr>
              <a:t>para  </a:t>
            </a:r>
            <a:r>
              <a:rPr sz="2400" dirty="0">
                <a:latin typeface="Calibri"/>
                <a:cs typeface="Calibri"/>
              </a:rPr>
              <a:t>la </a:t>
            </a:r>
            <a:r>
              <a:rPr sz="2400" spc="-5" dirty="0">
                <a:latin typeface="Calibri"/>
                <a:cs typeface="Calibri"/>
              </a:rPr>
              <a:t>planificación </a:t>
            </a:r>
            <a:r>
              <a:rPr sz="2400" dirty="0">
                <a:latin typeface="Calibri"/>
                <a:cs typeface="Calibri"/>
              </a:rPr>
              <a:t>y la ejecución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  </a:t>
            </a:r>
            <a:r>
              <a:rPr sz="2400" spc="-15" dirty="0">
                <a:latin typeface="Calibri"/>
                <a:cs typeface="Calibri"/>
              </a:rPr>
              <a:t>estrategia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SI/TI</a:t>
            </a:r>
            <a:endParaRPr sz="2400">
              <a:latin typeface="Calibri"/>
              <a:cs typeface="Calibri"/>
            </a:endParaRPr>
          </a:p>
          <a:p>
            <a:pPr marL="355600" marR="319405" indent="-342900">
              <a:lnSpc>
                <a:spcPts val="2920"/>
              </a:lnSpc>
              <a:spcBef>
                <a:spcPts val="6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15" dirty="0">
                <a:latin typeface="Calibri"/>
                <a:cs typeface="Calibri"/>
              </a:rPr>
              <a:t>Permite </a:t>
            </a:r>
            <a:r>
              <a:rPr sz="2700" spc="-5" dirty="0">
                <a:latin typeface="Calibri"/>
                <a:cs typeface="Calibri"/>
              </a:rPr>
              <a:t>diseñar </a:t>
            </a:r>
            <a:r>
              <a:rPr sz="2700" dirty="0">
                <a:latin typeface="Calibri"/>
                <a:cs typeface="Calibri"/>
              </a:rPr>
              <a:t>la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Arquitectura  </a:t>
            </a:r>
            <a:r>
              <a:rPr sz="2700" spc="-5" dirty="0">
                <a:latin typeface="Calibri"/>
                <a:cs typeface="Calibri"/>
              </a:rPr>
              <a:t>de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TI</a:t>
            </a:r>
            <a:endParaRPr sz="2700">
              <a:latin typeface="Calibri"/>
              <a:cs typeface="Calibri"/>
            </a:endParaRPr>
          </a:p>
          <a:p>
            <a:pPr marL="355600" marR="191770" indent="-342900">
              <a:lnSpc>
                <a:spcPts val="2920"/>
              </a:lnSpc>
              <a:spcBef>
                <a:spcPts val="6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Cambia </a:t>
            </a:r>
            <a:r>
              <a:rPr sz="2700" dirty="0">
                <a:latin typeface="Calibri"/>
                <a:cs typeface="Calibri"/>
              </a:rPr>
              <a:t>en el </a:t>
            </a:r>
            <a:r>
              <a:rPr sz="2700" spc="-5" dirty="0">
                <a:latin typeface="Calibri"/>
                <a:cs typeface="Calibri"/>
              </a:rPr>
              <a:t>tiempo </a:t>
            </a:r>
            <a:r>
              <a:rPr sz="2700" spc="-10" dirty="0">
                <a:latin typeface="Calibri"/>
                <a:cs typeface="Calibri"/>
              </a:rPr>
              <a:t>(alta </a:t>
            </a:r>
            <a:r>
              <a:rPr sz="2700" dirty="0">
                <a:latin typeface="Calibri"/>
                <a:cs typeface="Calibri"/>
              </a:rPr>
              <a:t>y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baja  de </a:t>
            </a:r>
            <a:r>
              <a:rPr sz="2700" spc="-15" dirty="0">
                <a:latin typeface="Calibri"/>
                <a:cs typeface="Calibri"/>
              </a:rPr>
              <a:t>recursos) </a:t>
            </a:r>
            <a:r>
              <a:rPr sz="2700" spc="-5" dirty="0">
                <a:latin typeface="Calibri"/>
                <a:cs typeface="Calibri"/>
              </a:rPr>
              <a:t>de </a:t>
            </a:r>
            <a:r>
              <a:rPr sz="2700" spc="-10" dirty="0">
                <a:latin typeface="Calibri"/>
                <a:cs typeface="Calibri"/>
              </a:rPr>
              <a:t>acuerdo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a:</a:t>
            </a:r>
            <a:endParaRPr sz="27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Función 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Planeamiento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5650" algn="l"/>
              </a:tabLst>
            </a:pPr>
            <a:r>
              <a:rPr sz="2400" spc="-15" dirty="0">
                <a:latin typeface="Calibri"/>
                <a:cs typeface="Calibri"/>
              </a:rPr>
              <a:t>Posicionamiento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98235" y="1347977"/>
            <a:ext cx="3140964" cy="24620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62744" y="3972305"/>
            <a:ext cx="2574316" cy="22760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47</a:t>
            </a:fld>
            <a:endParaRPr spc="-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71335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Organización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en el área de Sistemas</a:t>
            </a:r>
            <a:r>
              <a:rPr sz="2000" b="1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Posicionamiento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del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área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 Sistemas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 la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estructura organizacional</a:t>
            </a:r>
            <a:r>
              <a:rPr sz="180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43765"/>
            <a:ext cx="4975860" cy="45040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800" b="1" spc="-15" dirty="0">
                <a:latin typeface="Calibri"/>
                <a:cs typeface="Calibri"/>
              </a:rPr>
              <a:t>Arquitectura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SI</a:t>
            </a:r>
            <a:endParaRPr sz="2800">
              <a:latin typeface="Calibri"/>
              <a:cs typeface="Calibri"/>
            </a:endParaRPr>
          </a:p>
          <a:p>
            <a:pPr marL="355600" marR="280035" indent="-342900">
              <a:lnSpc>
                <a:spcPts val="2920"/>
              </a:lnSpc>
              <a:spcBef>
                <a:spcPts val="6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10" dirty="0">
                <a:latin typeface="Calibri"/>
                <a:cs typeface="Calibri"/>
              </a:rPr>
              <a:t>Responde </a:t>
            </a:r>
            <a:r>
              <a:rPr sz="2700" dirty="0">
                <a:latin typeface="Calibri"/>
                <a:cs typeface="Calibri"/>
              </a:rPr>
              <a:t>a </a:t>
            </a:r>
            <a:r>
              <a:rPr sz="2700" spc="-10" dirty="0">
                <a:latin typeface="Calibri"/>
                <a:cs typeface="Calibri"/>
              </a:rPr>
              <a:t>cómo </a:t>
            </a:r>
            <a:r>
              <a:rPr sz="2700" dirty="0">
                <a:latin typeface="Calibri"/>
                <a:cs typeface="Calibri"/>
              </a:rPr>
              <a:t>los </a:t>
            </a:r>
            <a:r>
              <a:rPr sz="2700" spc="-15" dirty="0">
                <a:latin typeface="Calibri"/>
                <a:cs typeface="Calibri"/>
              </a:rPr>
              <a:t>recursos  informáticos </a:t>
            </a:r>
            <a:r>
              <a:rPr sz="2700" spc="-5" dirty="0">
                <a:latin typeface="Calibri"/>
                <a:cs typeface="Calibri"/>
              </a:rPr>
              <a:t>se </a:t>
            </a:r>
            <a:r>
              <a:rPr sz="2700" spc="-15" dirty="0">
                <a:latin typeface="Calibri"/>
                <a:cs typeface="Calibri"/>
              </a:rPr>
              <a:t>encuentran  dispuestos </a:t>
            </a:r>
            <a:r>
              <a:rPr sz="2700" dirty="0">
                <a:latin typeface="Calibri"/>
                <a:cs typeface="Calibri"/>
              </a:rPr>
              <a:t>en </a:t>
            </a:r>
            <a:r>
              <a:rPr sz="2700" spc="-5" dirty="0">
                <a:latin typeface="Calibri"/>
                <a:cs typeface="Calibri"/>
              </a:rPr>
              <a:t>una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organización</a:t>
            </a:r>
            <a:endParaRPr sz="2700">
              <a:latin typeface="Calibri"/>
              <a:cs typeface="Calibri"/>
            </a:endParaRPr>
          </a:p>
          <a:p>
            <a:pPr marL="355600" marR="499109" indent="-342900">
              <a:lnSpc>
                <a:spcPts val="2920"/>
              </a:lnSpc>
              <a:spcBef>
                <a:spcPts val="6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La </a:t>
            </a:r>
            <a:r>
              <a:rPr sz="2700" spc="-15" dirty="0">
                <a:latin typeface="Calibri"/>
                <a:cs typeface="Calibri"/>
              </a:rPr>
              <a:t>infraestructura</a:t>
            </a:r>
            <a:r>
              <a:rPr sz="2700" spc="-1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informática  </a:t>
            </a:r>
            <a:r>
              <a:rPr sz="2700" spc="-10" dirty="0">
                <a:latin typeface="Calibri"/>
                <a:cs typeface="Calibri"/>
              </a:rPr>
              <a:t>permite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diseñarla</a:t>
            </a:r>
            <a:endParaRPr sz="27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Dos </a:t>
            </a:r>
            <a:r>
              <a:rPr sz="2700" spc="-15" dirty="0">
                <a:latin typeface="Calibri"/>
                <a:cs typeface="Calibri"/>
              </a:rPr>
              <a:t>formas </a:t>
            </a:r>
            <a:r>
              <a:rPr sz="2700" spc="-5" dirty="0">
                <a:latin typeface="Calibri"/>
                <a:cs typeface="Calibri"/>
              </a:rPr>
              <a:t>de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arquitectura:</a:t>
            </a:r>
            <a:endParaRPr sz="2700">
              <a:latin typeface="Calibri"/>
              <a:cs typeface="Calibri"/>
            </a:endParaRPr>
          </a:p>
          <a:p>
            <a:pPr marL="755650" marR="896619" lvl="1" indent="-285750">
              <a:lnSpc>
                <a:spcPts val="2590"/>
              </a:lnSpc>
              <a:spcBef>
                <a:spcPts val="635"/>
              </a:spcBef>
              <a:buFont typeface="Arial"/>
              <a:buChar char="–"/>
              <a:tabLst>
                <a:tab pos="755650" algn="l"/>
              </a:tabLst>
            </a:pPr>
            <a:r>
              <a:rPr sz="2400" b="1" spc="-15" dirty="0">
                <a:latin typeface="Calibri"/>
                <a:cs typeface="Calibri"/>
              </a:rPr>
              <a:t>Centralizada </a:t>
            </a:r>
            <a:r>
              <a:rPr sz="2400" spc="-5" dirty="0">
                <a:latin typeface="Calibri"/>
                <a:cs typeface="Calibri"/>
              </a:rPr>
              <a:t>(</a:t>
            </a:r>
            <a:r>
              <a:rPr sz="2400" i="1" spc="-5" dirty="0">
                <a:latin typeface="Calibri"/>
                <a:cs typeface="Calibri"/>
              </a:rPr>
              <a:t>mainframe </a:t>
            </a:r>
            <a:r>
              <a:rPr sz="2400" dirty="0">
                <a:latin typeface="Calibri"/>
                <a:cs typeface="Calibri"/>
              </a:rPr>
              <a:t>+  </a:t>
            </a:r>
            <a:r>
              <a:rPr sz="2400" spc="-5" dirty="0">
                <a:latin typeface="Calibri"/>
                <a:cs typeface="Calibri"/>
              </a:rPr>
              <a:t>terminales)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50"/>
              </a:spcBef>
              <a:buFont typeface="Arial"/>
              <a:buChar char="–"/>
              <a:tabLst>
                <a:tab pos="755650" algn="l"/>
              </a:tabLst>
            </a:pPr>
            <a:r>
              <a:rPr sz="2400" b="1" spc="-10" dirty="0">
                <a:latin typeface="Calibri"/>
                <a:cs typeface="Calibri"/>
              </a:rPr>
              <a:t>Descentralizada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(cliente/servidor)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5650" algn="l"/>
              </a:tabLst>
            </a:pPr>
            <a:r>
              <a:rPr sz="2400" b="1" spc="-5" dirty="0">
                <a:latin typeface="Calibri"/>
                <a:cs typeface="Calibri"/>
              </a:rPr>
              <a:t>Híbridas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72200" y="1163247"/>
            <a:ext cx="2362200" cy="23419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91655" y="3733800"/>
            <a:ext cx="1990344" cy="2590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48</a:t>
            </a:fld>
            <a:endParaRPr spc="-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1335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III – </a:t>
            </a:r>
            <a:r>
              <a:rPr spc="-10" dirty="0"/>
              <a:t>Organización </a:t>
            </a:r>
            <a:r>
              <a:rPr spc="-5" dirty="0"/>
              <a:t>en el área de Sistemas</a:t>
            </a:r>
            <a:r>
              <a:rPr spc="90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dirty="0">
                <a:latin typeface="Calibri"/>
                <a:cs typeface="Calibri"/>
              </a:rPr>
              <a:t>Posicionamiento </a:t>
            </a:r>
            <a:r>
              <a:rPr sz="1800" b="0" spc="-5" dirty="0">
                <a:latin typeface="Calibri"/>
                <a:cs typeface="Calibri"/>
              </a:rPr>
              <a:t>del </a:t>
            </a:r>
            <a:r>
              <a:rPr sz="1800" b="0" dirty="0">
                <a:latin typeface="Calibri"/>
                <a:cs typeface="Calibri"/>
              </a:rPr>
              <a:t>área </a:t>
            </a:r>
            <a:r>
              <a:rPr sz="1800" b="0" spc="-5" dirty="0">
                <a:latin typeface="Calibri"/>
                <a:cs typeface="Calibri"/>
              </a:rPr>
              <a:t>de Sistemas </a:t>
            </a:r>
            <a:r>
              <a:rPr sz="1800" b="0" dirty="0">
                <a:latin typeface="Calibri"/>
                <a:cs typeface="Calibri"/>
              </a:rPr>
              <a:t>en la </a:t>
            </a:r>
            <a:r>
              <a:rPr sz="1800" b="0" spc="-5" dirty="0">
                <a:latin typeface="Calibri"/>
                <a:cs typeface="Calibri"/>
              </a:rPr>
              <a:t>estructura organizacional</a:t>
            </a:r>
            <a:r>
              <a:rPr sz="1800" b="0" spc="80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076452"/>
            <a:ext cx="4885690" cy="487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5" dirty="0">
                <a:latin typeface="Calibri"/>
                <a:cs typeface="Calibri"/>
              </a:rPr>
              <a:t>Arquitectura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Centralizada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No </a:t>
            </a:r>
            <a:r>
              <a:rPr sz="2000" spc="-15" dirty="0">
                <a:latin typeface="Calibri"/>
                <a:cs typeface="Calibri"/>
              </a:rPr>
              <a:t>interactúan </a:t>
            </a:r>
            <a:r>
              <a:rPr sz="2000" spc="-10" dirty="0">
                <a:latin typeface="Calibri"/>
                <a:cs typeface="Calibri"/>
              </a:rPr>
              <a:t>con otros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sistemas.</a:t>
            </a:r>
            <a:endParaRPr sz="2000">
              <a:latin typeface="Calibri"/>
              <a:cs typeface="Calibri"/>
            </a:endParaRPr>
          </a:p>
          <a:p>
            <a:pPr marL="355600" marR="71120" indent="-342900">
              <a:lnSpc>
                <a:spcPct val="8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10" dirty="0">
                <a:latin typeface="Calibri"/>
                <a:cs typeface="Calibri"/>
              </a:rPr>
              <a:t>Abarcan </a:t>
            </a:r>
            <a:r>
              <a:rPr sz="2000" spc="-5" dirty="0">
                <a:latin typeface="Calibri"/>
                <a:cs typeface="Calibri"/>
              </a:rPr>
              <a:t>desde </a:t>
            </a:r>
            <a:r>
              <a:rPr sz="2000" spc="-10" dirty="0">
                <a:latin typeface="Calibri"/>
                <a:cs typeface="Calibri"/>
              </a:rPr>
              <a:t>sistemas </a:t>
            </a:r>
            <a:r>
              <a:rPr sz="2000" spc="-15" dirty="0">
                <a:latin typeface="Calibri"/>
                <a:cs typeface="Calibri"/>
              </a:rPr>
              <a:t>para </a:t>
            </a:r>
            <a:r>
              <a:rPr sz="2000" spc="-5" dirty="0">
                <a:latin typeface="Calibri"/>
                <a:cs typeface="Calibri"/>
              </a:rPr>
              <a:t>un </a:t>
            </a:r>
            <a:r>
              <a:rPr sz="2000" spc="-10" dirty="0">
                <a:latin typeface="Calibri"/>
                <a:cs typeface="Calibri"/>
              </a:rPr>
              <a:t>único  usuario </a:t>
            </a:r>
            <a:r>
              <a:rPr sz="2000" spc="-5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mainframes </a:t>
            </a:r>
            <a:r>
              <a:rPr sz="2000" spc="-5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alta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performance.</a:t>
            </a:r>
            <a:endParaRPr sz="2000">
              <a:latin typeface="Calibri"/>
              <a:cs typeface="Calibri"/>
            </a:endParaRPr>
          </a:p>
          <a:p>
            <a:pPr marL="355600" marR="295275" indent="-342900">
              <a:lnSpc>
                <a:spcPts val="1920"/>
              </a:lnSpc>
              <a:spcBef>
                <a:spcPts val="45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Contienen una o (en algunos casos </a:t>
            </a:r>
            <a:r>
              <a:rPr sz="2000" spc="-10" dirty="0">
                <a:latin typeface="Calibri"/>
                <a:cs typeface="Calibri"/>
              </a:rPr>
              <a:t>unas  </a:t>
            </a:r>
            <a:r>
              <a:rPr sz="2000" spc="-5" dirty="0">
                <a:latin typeface="Calibri"/>
                <a:cs typeface="Calibri"/>
              </a:rPr>
              <a:t>pocas) </a:t>
            </a:r>
            <a:r>
              <a:rPr sz="2000" spc="-10" dirty="0">
                <a:latin typeface="Calibri"/>
                <a:cs typeface="Calibri"/>
              </a:rPr>
              <a:t>CPU, </a:t>
            </a:r>
            <a:r>
              <a:rPr sz="2000" spc="-5" dirty="0">
                <a:latin typeface="Calibri"/>
                <a:cs typeface="Calibri"/>
              </a:rPr>
              <a:t>una memoria </a:t>
            </a:r>
            <a:r>
              <a:rPr sz="2000" spc="-10" dirty="0">
                <a:latin typeface="Calibri"/>
                <a:cs typeface="Calibri"/>
              </a:rPr>
              <a:t>principal </a:t>
            </a:r>
            <a:r>
              <a:rPr sz="2000" spc="-5" dirty="0">
                <a:latin typeface="Calibri"/>
                <a:cs typeface="Calibri"/>
              </a:rPr>
              <a:t>y </a:t>
            </a:r>
            <a:r>
              <a:rPr sz="2000" spc="-10" dirty="0">
                <a:latin typeface="Calibri"/>
                <a:cs typeface="Calibri"/>
              </a:rPr>
              <a:t>una  </a:t>
            </a:r>
            <a:r>
              <a:rPr sz="2000" spc="-5" dirty="0">
                <a:latin typeface="Calibri"/>
                <a:cs typeface="Calibri"/>
              </a:rPr>
              <a:t>serie de </a:t>
            </a:r>
            <a:r>
              <a:rPr sz="2000" spc="-15" dirty="0">
                <a:latin typeface="Calibri"/>
                <a:cs typeface="Calibri"/>
              </a:rPr>
              <a:t>controladores </a:t>
            </a:r>
            <a:r>
              <a:rPr sz="2000" spc="-10" dirty="0">
                <a:latin typeface="Calibri"/>
                <a:cs typeface="Calibri"/>
              </a:rPr>
              <a:t>encargados de  </a:t>
            </a:r>
            <a:r>
              <a:rPr sz="2000" spc="-5" dirty="0">
                <a:latin typeface="Calibri"/>
                <a:cs typeface="Calibri"/>
              </a:rPr>
              <a:t>funciones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específicas.</a:t>
            </a:r>
            <a:endParaRPr sz="2000">
              <a:latin typeface="Calibri"/>
              <a:cs typeface="Calibri"/>
            </a:endParaRPr>
          </a:p>
          <a:p>
            <a:pPr marL="355600" marR="46355" indent="-342900">
              <a:lnSpc>
                <a:spcPct val="80000"/>
              </a:lnSpc>
              <a:spcBef>
                <a:spcPts val="5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La CPU y los </a:t>
            </a:r>
            <a:r>
              <a:rPr sz="2000" spc="-10" dirty="0">
                <a:latin typeface="Calibri"/>
                <a:cs typeface="Calibri"/>
              </a:rPr>
              <a:t>controladores pueden </a:t>
            </a:r>
            <a:r>
              <a:rPr sz="2000" spc="-5" dirty="0">
                <a:latin typeface="Calibri"/>
                <a:cs typeface="Calibri"/>
              </a:rPr>
              <a:t>ejecutar  acciones de </a:t>
            </a:r>
            <a:r>
              <a:rPr sz="2000" spc="-10" dirty="0">
                <a:latin typeface="Calibri"/>
                <a:cs typeface="Calibri"/>
              </a:rPr>
              <a:t>manera concurrente,  compitiendo </a:t>
            </a:r>
            <a:r>
              <a:rPr sz="2000" spc="-5" dirty="0">
                <a:latin typeface="Calibri"/>
                <a:cs typeface="Calibri"/>
              </a:rPr>
              <a:t>por el acceso a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memoria.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Bajo </a:t>
            </a:r>
            <a:r>
              <a:rPr sz="2000" spc="-15" dirty="0">
                <a:latin typeface="Calibri"/>
                <a:cs typeface="Calibri"/>
              </a:rPr>
              <a:t>esta </a:t>
            </a:r>
            <a:r>
              <a:rPr sz="2000" spc="-10" dirty="0">
                <a:latin typeface="Calibri"/>
                <a:cs typeface="Calibri"/>
              </a:rPr>
              <a:t>arquitectura,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existen:</a:t>
            </a:r>
            <a:endParaRPr sz="2000">
              <a:latin typeface="Calibri"/>
              <a:cs typeface="Calibri"/>
            </a:endParaRPr>
          </a:p>
          <a:p>
            <a:pPr marL="755650" marR="5080" lvl="1" indent="-285750">
              <a:lnSpc>
                <a:spcPct val="80000"/>
              </a:lnSpc>
              <a:spcBef>
                <a:spcPts val="439"/>
              </a:spcBef>
              <a:buFont typeface="Arial"/>
              <a:buChar char="–"/>
              <a:tabLst>
                <a:tab pos="755015" algn="l"/>
                <a:tab pos="755650" algn="l"/>
              </a:tabLst>
            </a:pP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Sistemas 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Mono-Usuario</a:t>
            </a:r>
            <a:r>
              <a:rPr sz="1800" spc="-5" dirty="0">
                <a:latin typeface="Calibri"/>
                <a:cs typeface="Calibri"/>
              </a:rPr>
              <a:t>: estaciones de  </a:t>
            </a:r>
            <a:r>
              <a:rPr sz="1800" spc="-10" dirty="0">
                <a:latin typeface="Calibri"/>
                <a:cs typeface="Calibri"/>
              </a:rPr>
              <a:t>trabajo controladas </a:t>
            </a:r>
            <a:r>
              <a:rPr sz="1800" spc="-5" dirty="0">
                <a:latin typeface="Calibri"/>
                <a:cs typeface="Calibri"/>
              </a:rPr>
              <a:t>por una sóla </a:t>
            </a:r>
            <a:r>
              <a:rPr sz="1800" spc="-10" dirty="0">
                <a:latin typeface="Calibri"/>
                <a:cs typeface="Calibri"/>
              </a:rPr>
              <a:t>persona </a:t>
            </a:r>
            <a:r>
              <a:rPr sz="1800" dirty="0">
                <a:latin typeface="Calibri"/>
                <a:cs typeface="Calibri"/>
              </a:rPr>
              <a:t>/ 1  </a:t>
            </a:r>
            <a:r>
              <a:rPr sz="1800" spc="-5" dirty="0">
                <a:latin typeface="Calibri"/>
                <a:cs typeface="Calibri"/>
              </a:rPr>
              <a:t>CPU </a:t>
            </a:r>
            <a:r>
              <a:rPr sz="1800" dirty="0">
                <a:latin typeface="Calibri"/>
                <a:cs typeface="Calibri"/>
              </a:rPr>
              <a:t>+ 1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Disco</a:t>
            </a:r>
            <a:endParaRPr sz="1800">
              <a:latin typeface="Calibri"/>
              <a:cs typeface="Calibri"/>
            </a:endParaRPr>
          </a:p>
          <a:p>
            <a:pPr marL="755650" marR="473075" lvl="1" indent="-285750">
              <a:lnSpc>
                <a:spcPct val="80000"/>
              </a:lnSpc>
              <a:spcBef>
                <a:spcPts val="430"/>
              </a:spcBef>
              <a:buFont typeface="Arial"/>
              <a:buChar char="–"/>
              <a:tabLst>
                <a:tab pos="755015" algn="l"/>
                <a:tab pos="755650" algn="l"/>
              </a:tabLst>
            </a:pP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Sistemas 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Multi-Usuario</a:t>
            </a:r>
            <a:r>
              <a:rPr sz="1800" spc="-5" dirty="0">
                <a:latin typeface="Calibri"/>
                <a:cs typeface="Calibri"/>
              </a:rPr>
              <a:t>: varios usuarios  </a:t>
            </a:r>
            <a:r>
              <a:rPr sz="1800" spc="-10" dirty="0">
                <a:latin typeface="Calibri"/>
                <a:cs typeface="Calibri"/>
              </a:rPr>
              <a:t>operando simultáneamente </a:t>
            </a:r>
            <a:r>
              <a:rPr sz="1800" dirty="0">
                <a:latin typeface="Calibri"/>
                <a:cs typeface="Calibri"/>
              </a:rPr>
              <a:t>/ 2+CPU y  </a:t>
            </a:r>
            <a:r>
              <a:rPr sz="1800" spc="-10" dirty="0">
                <a:latin typeface="Calibri"/>
                <a:cs typeface="Calibri"/>
              </a:rPr>
              <a:t>Discos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Multi-Tasking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73790" y="1282446"/>
            <a:ext cx="2930543" cy="21431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05800" y="1232153"/>
            <a:ext cx="657860" cy="374650"/>
          </a:xfrm>
          <a:custGeom>
            <a:avLst/>
            <a:gdLst/>
            <a:ahLst/>
            <a:cxnLst/>
            <a:rect l="l" t="t" r="r" b="b"/>
            <a:pathLst>
              <a:path w="657859" h="374650">
                <a:moveTo>
                  <a:pt x="0" y="374141"/>
                </a:moveTo>
                <a:lnTo>
                  <a:pt x="657605" y="374141"/>
                </a:lnTo>
                <a:lnTo>
                  <a:pt x="657605" y="0"/>
                </a:lnTo>
                <a:lnTo>
                  <a:pt x="0" y="0"/>
                </a:lnTo>
                <a:lnTo>
                  <a:pt x="0" y="3741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05800" y="1606296"/>
            <a:ext cx="657860" cy="775335"/>
          </a:xfrm>
          <a:custGeom>
            <a:avLst/>
            <a:gdLst/>
            <a:ahLst/>
            <a:cxnLst/>
            <a:rect l="l" t="t" r="r" b="b"/>
            <a:pathLst>
              <a:path w="657859" h="775335">
                <a:moveTo>
                  <a:pt x="0" y="774953"/>
                </a:moveTo>
                <a:lnTo>
                  <a:pt x="657605" y="774953"/>
                </a:lnTo>
                <a:lnTo>
                  <a:pt x="657605" y="0"/>
                </a:lnTo>
                <a:lnTo>
                  <a:pt x="0" y="0"/>
                </a:lnTo>
                <a:lnTo>
                  <a:pt x="0" y="7749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74086" y="3762979"/>
            <a:ext cx="2918108" cy="23223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49</a:t>
            </a:fld>
            <a:endParaRPr spc="-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1335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III – </a:t>
            </a:r>
            <a:r>
              <a:rPr spc="-10" dirty="0"/>
              <a:t>Organización </a:t>
            </a:r>
            <a:r>
              <a:rPr spc="-5" dirty="0"/>
              <a:t>en el área de Sistemas</a:t>
            </a:r>
            <a:r>
              <a:rPr spc="90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dirty="0">
                <a:latin typeface="Calibri"/>
                <a:cs typeface="Calibri"/>
              </a:rPr>
              <a:t>Posicionamiento </a:t>
            </a:r>
            <a:r>
              <a:rPr sz="1800" b="0" spc="-5" dirty="0">
                <a:latin typeface="Calibri"/>
                <a:cs typeface="Calibri"/>
              </a:rPr>
              <a:t>del </a:t>
            </a:r>
            <a:r>
              <a:rPr sz="1800" b="0" dirty="0">
                <a:latin typeface="Calibri"/>
                <a:cs typeface="Calibri"/>
              </a:rPr>
              <a:t>área </a:t>
            </a:r>
            <a:r>
              <a:rPr sz="1800" b="0" spc="-5" dirty="0">
                <a:latin typeface="Calibri"/>
                <a:cs typeface="Calibri"/>
              </a:rPr>
              <a:t>de Sistemas </a:t>
            </a:r>
            <a:r>
              <a:rPr sz="1800" b="0" dirty="0">
                <a:latin typeface="Calibri"/>
                <a:cs typeface="Calibri"/>
              </a:rPr>
              <a:t>en la </a:t>
            </a:r>
            <a:r>
              <a:rPr sz="1800" b="0" spc="-5" dirty="0">
                <a:latin typeface="Calibri"/>
                <a:cs typeface="Calibri"/>
              </a:rPr>
              <a:t>estructura organizacional</a:t>
            </a:r>
            <a:r>
              <a:rPr sz="1800" b="0" spc="80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2581655"/>
            <a:ext cx="7620000" cy="2371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50</a:t>
            </a:fld>
            <a:endParaRPr spc="-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1335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III – </a:t>
            </a:r>
            <a:r>
              <a:rPr spc="-10" dirty="0"/>
              <a:t>Organización </a:t>
            </a:r>
            <a:r>
              <a:rPr spc="-5" dirty="0"/>
              <a:t>en el área de Sistemas</a:t>
            </a:r>
            <a:r>
              <a:rPr spc="90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dirty="0">
                <a:latin typeface="Calibri"/>
                <a:cs typeface="Calibri"/>
              </a:rPr>
              <a:t>Posicionamiento </a:t>
            </a:r>
            <a:r>
              <a:rPr sz="1800" b="0" spc="-5" dirty="0">
                <a:latin typeface="Calibri"/>
                <a:cs typeface="Calibri"/>
              </a:rPr>
              <a:t>del </a:t>
            </a:r>
            <a:r>
              <a:rPr sz="1800" b="0" dirty="0">
                <a:latin typeface="Calibri"/>
                <a:cs typeface="Calibri"/>
              </a:rPr>
              <a:t>área </a:t>
            </a:r>
            <a:r>
              <a:rPr sz="1800" b="0" spc="-5" dirty="0">
                <a:latin typeface="Calibri"/>
                <a:cs typeface="Calibri"/>
              </a:rPr>
              <a:t>de Sistemas </a:t>
            </a:r>
            <a:r>
              <a:rPr sz="1800" b="0" dirty="0">
                <a:latin typeface="Calibri"/>
                <a:cs typeface="Calibri"/>
              </a:rPr>
              <a:t>en la </a:t>
            </a:r>
            <a:r>
              <a:rPr sz="1800" b="0" spc="-5" dirty="0">
                <a:latin typeface="Calibri"/>
                <a:cs typeface="Calibri"/>
              </a:rPr>
              <a:t>estructura organizacional</a:t>
            </a:r>
            <a:r>
              <a:rPr sz="1800" b="0" spc="80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076452"/>
            <a:ext cx="4305300" cy="79438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 marR="5080">
              <a:lnSpc>
                <a:spcPts val="2690"/>
              </a:lnSpc>
              <a:spcBef>
                <a:spcPts val="750"/>
              </a:spcBef>
            </a:pPr>
            <a:r>
              <a:rPr sz="2800" b="1" spc="-15" dirty="0">
                <a:latin typeface="Calibri"/>
                <a:cs typeface="Calibri"/>
              </a:rPr>
              <a:t>Arquitectura </a:t>
            </a:r>
            <a:r>
              <a:rPr sz="2800" b="1" spc="-10" dirty="0">
                <a:latin typeface="Calibri"/>
                <a:cs typeface="Calibri"/>
              </a:rPr>
              <a:t>Descentralizada  (Cliente </a:t>
            </a:r>
            <a:r>
              <a:rPr sz="2800" b="1" dirty="0">
                <a:latin typeface="Calibri"/>
                <a:cs typeface="Calibri"/>
              </a:rPr>
              <a:t>/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Servidor)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849882"/>
            <a:ext cx="5111750" cy="36296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marR="569595" indent="-342900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Calibri"/>
                <a:cs typeface="Calibri"/>
              </a:rPr>
              <a:t>Con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5" dirty="0">
                <a:latin typeface="Calibri"/>
                <a:cs typeface="Calibri"/>
              </a:rPr>
              <a:t>desarrollo de </a:t>
            </a:r>
            <a:r>
              <a:rPr sz="1800" dirty="0">
                <a:latin typeface="Calibri"/>
                <a:cs typeface="Calibri"/>
              </a:rPr>
              <a:t>la </a:t>
            </a:r>
            <a:r>
              <a:rPr sz="1800" spc="-5" dirty="0">
                <a:latin typeface="Calibri"/>
                <a:cs typeface="Calibri"/>
              </a:rPr>
              <a:t>tecnología </a:t>
            </a:r>
            <a:r>
              <a:rPr sz="1800" spc="-10" dirty="0">
                <a:latin typeface="Calibri"/>
                <a:cs typeface="Calibri"/>
              </a:rPr>
              <a:t>para  computadoras personales, </a:t>
            </a:r>
            <a:r>
              <a:rPr sz="1800" spc="-5" dirty="0">
                <a:latin typeface="Calibri"/>
                <a:cs typeface="Calibri"/>
              </a:rPr>
              <a:t>actualmente, </a:t>
            </a:r>
            <a:r>
              <a:rPr sz="1800" dirty="0">
                <a:latin typeface="Calibri"/>
                <a:cs typeface="Calibri"/>
              </a:rPr>
              <a:t>los  </a:t>
            </a:r>
            <a:r>
              <a:rPr sz="1800" spc="-10" dirty="0">
                <a:latin typeface="Calibri"/>
                <a:cs typeface="Calibri"/>
              </a:rPr>
              <a:t>sistemas centralizados </a:t>
            </a:r>
            <a:r>
              <a:rPr sz="1800" dirty="0">
                <a:latin typeface="Calibri"/>
                <a:cs typeface="Calibri"/>
              </a:rPr>
              <a:t>actúan </a:t>
            </a:r>
            <a:r>
              <a:rPr sz="1800" spc="-10" dirty="0">
                <a:latin typeface="Calibri"/>
                <a:cs typeface="Calibri"/>
              </a:rPr>
              <a:t>como sistemas  </a:t>
            </a:r>
            <a:r>
              <a:rPr sz="1800" spc="-5" dirty="0">
                <a:latin typeface="Calibri"/>
                <a:cs typeface="Calibri"/>
              </a:rPr>
              <a:t>servidores que </a:t>
            </a:r>
            <a:r>
              <a:rPr sz="1800" spc="-10" dirty="0">
                <a:latin typeface="Calibri"/>
                <a:cs typeface="Calibri"/>
              </a:rPr>
              <a:t>satisfacen </a:t>
            </a:r>
            <a:r>
              <a:rPr sz="1800" dirty="0">
                <a:latin typeface="Calibri"/>
                <a:cs typeface="Calibri"/>
              </a:rPr>
              <a:t>los </a:t>
            </a:r>
            <a:r>
              <a:rPr sz="1800" spc="-10" dirty="0">
                <a:latin typeface="Calibri"/>
                <a:cs typeface="Calibri"/>
              </a:rPr>
              <a:t>requerimientos  generados </a:t>
            </a:r>
            <a:r>
              <a:rPr sz="1800" spc="-5" dirty="0">
                <a:latin typeface="Calibri"/>
                <a:cs typeface="Calibri"/>
              </a:rPr>
              <a:t>por </a:t>
            </a:r>
            <a:r>
              <a:rPr sz="1800" spc="-10" dirty="0">
                <a:latin typeface="Calibri"/>
                <a:cs typeface="Calibri"/>
              </a:rPr>
              <a:t>sistemas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clientes.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spc="-5" dirty="0">
                <a:latin typeface="Calibri"/>
                <a:cs typeface="Calibri"/>
              </a:rPr>
              <a:t>Las funciones de </a:t>
            </a:r>
            <a:r>
              <a:rPr sz="1800" spc="-15" dirty="0">
                <a:latin typeface="Calibri"/>
                <a:cs typeface="Calibri"/>
              </a:rPr>
              <a:t>estos </a:t>
            </a:r>
            <a:r>
              <a:rPr sz="1800" spc="-10" dirty="0">
                <a:latin typeface="Calibri"/>
                <a:cs typeface="Calibri"/>
              </a:rPr>
              <a:t>sistemas </a:t>
            </a:r>
            <a:r>
              <a:rPr sz="1800" spc="-5" dirty="0">
                <a:latin typeface="Calibri"/>
                <a:cs typeface="Calibri"/>
              </a:rPr>
              <a:t>se dividen</a:t>
            </a:r>
            <a:r>
              <a:rPr sz="1800" spc="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en:</a:t>
            </a:r>
            <a:endParaRPr sz="1800">
              <a:latin typeface="Calibri"/>
              <a:cs typeface="Calibri"/>
            </a:endParaRPr>
          </a:p>
          <a:p>
            <a:pPr marL="869950" marR="5080" lvl="1" indent="-457200">
              <a:lnSpc>
                <a:spcPts val="1540"/>
              </a:lnSpc>
              <a:spcBef>
                <a:spcPts val="375"/>
              </a:spcBef>
              <a:buFont typeface="Arial"/>
              <a:buChar char="–"/>
              <a:tabLst>
                <a:tab pos="869315" algn="l"/>
                <a:tab pos="869950" algn="l"/>
              </a:tabLst>
            </a:pPr>
            <a:r>
              <a:rPr sz="16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Aplicaciones Back-End: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manejan </a:t>
            </a:r>
            <a:r>
              <a:rPr sz="1600" spc="-10" dirty="0">
                <a:latin typeface="Calibri"/>
                <a:cs typeface="Calibri"/>
              </a:rPr>
              <a:t>estructuras </a:t>
            </a:r>
            <a:r>
              <a:rPr sz="1600" spc="-5" dirty="0">
                <a:latin typeface="Calibri"/>
                <a:cs typeface="Calibri"/>
              </a:rPr>
              <a:t>de  acceso, evaluación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5" dirty="0">
                <a:latin typeface="Calibri"/>
                <a:cs typeface="Calibri"/>
              </a:rPr>
              <a:t>optimización de </a:t>
            </a:r>
            <a:r>
              <a:rPr sz="1600" spc="-10" dirty="0">
                <a:latin typeface="Calibri"/>
                <a:cs typeface="Calibri"/>
              </a:rPr>
              <a:t>consultas,  control </a:t>
            </a:r>
            <a:r>
              <a:rPr sz="1600" spc="-5" dirty="0">
                <a:latin typeface="Calibri"/>
                <a:cs typeface="Calibri"/>
              </a:rPr>
              <a:t>de concurrencia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5" dirty="0">
                <a:latin typeface="Calibri"/>
                <a:cs typeface="Calibri"/>
              </a:rPr>
              <a:t>recuperación </a:t>
            </a:r>
            <a:r>
              <a:rPr sz="1600" spc="-15" dirty="0">
                <a:latin typeface="Calibri"/>
                <a:cs typeface="Calibri"/>
              </a:rPr>
              <a:t>ante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fallos).</a:t>
            </a:r>
            <a:endParaRPr sz="1600">
              <a:latin typeface="Calibri"/>
              <a:cs typeface="Calibri"/>
            </a:endParaRPr>
          </a:p>
          <a:p>
            <a:pPr marL="869950" marR="164465" lvl="1" indent="-457200">
              <a:lnSpc>
                <a:spcPts val="1540"/>
              </a:lnSpc>
              <a:spcBef>
                <a:spcPts val="375"/>
              </a:spcBef>
              <a:buFont typeface="Arial"/>
              <a:buChar char="–"/>
              <a:tabLst>
                <a:tab pos="869315" algn="l"/>
                <a:tab pos="869950" algn="l"/>
              </a:tabLst>
            </a:pPr>
            <a:r>
              <a:rPr sz="16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Aplicaciones </a:t>
            </a:r>
            <a:r>
              <a:rPr sz="16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Front-End</a:t>
            </a:r>
            <a:r>
              <a:rPr sz="1600" spc="-10" dirty="0">
                <a:latin typeface="Calibri"/>
                <a:cs typeface="Calibri"/>
              </a:rPr>
              <a:t>: abarcan generadores </a:t>
            </a:r>
            <a:r>
              <a:rPr sz="1600" spc="-5" dirty="0">
                <a:latin typeface="Calibri"/>
                <a:cs typeface="Calibri"/>
              </a:rPr>
              <a:t>de  </a:t>
            </a:r>
            <a:r>
              <a:rPr sz="1600" spc="-10" dirty="0">
                <a:latin typeface="Calibri"/>
                <a:cs typeface="Calibri"/>
              </a:rPr>
              <a:t>reportes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10" dirty="0">
                <a:latin typeface="Calibri"/>
                <a:cs typeface="Calibri"/>
              </a:rPr>
              <a:t>facilidades </a:t>
            </a:r>
            <a:r>
              <a:rPr sz="1600" spc="-15" dirty="0">
                <a:latin typeface="Calibri"/>
                <a:cs typeface="Calibri"/>
              </a:rPr>
              <a:t>para </a:t>
            </a:r>
            <a:r>
              <a:rPr sz="1600" dirty="0">
                <a:latin typeface="Calibri"/>
                <a:cs typeface="Calibri"/>
              </a:rPr>
              <a:t>el </a:t>
            </a:r>
            <a:r>
              <a:rPr sz="1600" spc="-5" dirty="0">
                <a:latin typeface="Calibri"/>
                <a:cs typeface="Calibri"/>
              </a:rPr>
              <a:t>diseño de </a:t>
            </a:r>
            <a:r>
              <a:rPr sz="1600" spc="-10" dirty="0">
                <a:latin typeface="Calibri"/>
                <a:cs typeface="Calibri"/>
              </a:rPr>
              <a:t>interfaces  gráficas </a:t>
            </a:r>
            <a:r>
              <a:rPr sz="1600" spc="-15" dirty="0">
                <a:latin typeface="Calibri"/>
                <a:cs typeface="Calibri"/>
              </a:rPr>
              <a:t>para </a:t>
            </a:r>
            <a:r>
              <a:rPr sz="1600" dirty="0">
                <a:latin typeface="Calibri"/>
                <a:cs typeface="Calibri"/>
              </a:rPr>
              <a:t>el </a:t>
            </a:r>
            <a:r>
              <a:rPr sz="1600" spc="-5" dirty="0">
                <a:latin typeface="Calibri"/>
                <a:cs typeface="Calibri"/>
              </a:rPr>
              <a:t>usuario).</a:t>
            </a:r>
            <a:endParaRPr sz="1600">
              <a:latin typeface="Calibri"/>
              <a:cs typeface="Calibri"/>
            </a:endParaRPr>
          </a:p>
          <a:p>
            <a:pPr marL="469900" indent="-457200">
              <a:lnSpc>
                <a:spcPts val="2155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1800" spc="-5" dirty="0">
                <a:latin typeface="Calibri"/>
                <a:cs typeface="Calibri"/>
              </a:rPr>
              <a:t>Servidores de </a:t>
            </a:r>
            <a:r>
              <a:rPr sz="1800" spc="-15" dirty="0">
                <a:latin typeface="Calibri"/>
                <a:cs typeface="Calibri"/>
              </a:rPr>
              <a:t>Transacciones </a:t>
            </a:r>
            <a:r>
              <a:rPr sz="1800" spc="-5" dirty="0">
                <a:latin typeface="Calibri"/>
                <a:cs typeface="Calibri"/>
              </a:rPr>
              <a:t>(de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Consultas):</a:t>
            </a:r>
            <a:endParaRPr sz="1800">
              <a:latin typeface="Calibri"/>
              <a:cs typeface="Calibri"/>
            </a:endParaRPr>
          </a:p>
          <a:p>
            <a:pPr marL="869950" marR="62230" lvl="1" indent="-457200">
              <a:lnSpc>
                <a:spcPct val="80000"/>
              </a:lnSpc>
              <a:spcBef>
                <a:spcPts val="395"/>
              </a:spcBef>
              <a:buFont typeface="Arial"/>
              <a:buChar char="–"/>
              <a:tabLst>
                <a:tab pos="869315" algn="l"/>
                <a:tab pos="869950" algn="l"/>
              </a:tabLst>
            </a:pPr>
            <a:r>
              <a:rPr sz="1600" spc="-10" dirty="0">
                <a:latin typeface="Calibri"/>
                <a:cs typeface="Calibri"/>
              </a:rPr>
              <a:t>Proveen </a:t>
            </a:r>
            <a:r>
              <a:rPr sz="1600" spc="-5" dirty="0">
                <a:latin typeface="Calibri"/>
                <a:cs typeface="Calibri"/>
              </a:rPr>
              <a:t>una </a:t>
            </a:r>
            <a:r>
              <a:rPr sz="1600" spc="-10" dirty="0">
                <a:latin typeface="Calibri"/>
                <a:cs typeface="Calibri"/>
              </a:rPr>
              <a:t>interface mediante </a:t>
            </a:r>
            <a:r>
              <a:rPr sz="1600" dirty="0">
                <a:latin typeface="Calibri"/>
                <a:cs typeface="Calibri"/>
              </a:rPr>
              <a:t>la cual los </a:t>
            </a:r>
            <a:r>
              <a:rPr sz="1600" spc="-10" dirty="0">
                <a:latin typeface="Calibri"/>
                <a:cs typeface="Calibri"/>
              </a:rPr>
              <a:t>clientes  </a:t>
            </a:r>
            <a:r>
              <a:rPr sz="1600" spc="-5" dirty="0">
                <a:latin typeface="Calibri"/>
                <a:cs typeface="Calibri"/>
              </a:rPr>
              <a:t>pueden enviar </a:t>
            </a:r>
            <a:r>
              <a:rPr sz="1600" spc="-10" dirty="0">
                <a:latin typeface="Calibri"/>
                <a:cs typeface="Calibri"/>
              </a:rPr>
              <a:t>requerimientos </a:t>
            </a:r>
            <a:r>
              <a:rPr sz="1600" spc="-15" dirty="0">
                <a:latin typeface="Calibri"/>
                <a:cs typeface="Calibri"/>
              </a:rPr>
              <a:t>para </a:t>
            </a:r>
            <a:r>
              <a:rPr sz="1600" spc="-5" dirty="0">
                <a:latin typeface="Calibri"/>
                <a:cs typeface="Calibri"/>
              </a:rPr>
              <a:t>ejecutar una  </a:t>
            </a:r>
            <a:r>
              <a:rPr sz="1600" dirty="0">
                <a:latin typeface="Calibri"/>
                <a:cs typeface="Calibri"/>
              </a:rPr>
              <a:t>acción.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452871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39" y="5452871"/>
            <a:ext cx="1873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Servidores 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5989" y="5727953"/>
            <a:ext cx="4755515" cy="6597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469900" marR="5080" indent="-457200">
              <a:lnSpc>
                <a:spcPct val="80000"/>
              </a:lnSpc>
              <a:spcBef>
                <a:spcPts val="484"/>
              </a:spcBef>
              <a:tabLst>
                <a:tab pos="469265" algn="l"/>
              </a:tabLst>
            </a:pPr>
            <a:r>
              <a:rPr sz="1600" dirty="0">
                <a:latin typeface="Arial"/>
                <a:cs typeface="Arial"/>
              </a:rPr>
              <a:t>–	</a:t>
            </a:r>
            <a:r>
              <a:rPr sz="1600" spc="-5" dirty="0">
                <a:latin typeface="Calibri"/>
                <a:cs typeface="Calibri"/>
              </a:rPr>
              <a:t>Los </a:t>
            </a:r>
            <a:r>
              <a:rPr sz="1600" spc="-10" dirty="0">
                <a:latin typeface="Calibri"/>
                <a:cs typeface="Calibri"/>
              </a:rPr>
              <a:t>clientes interactúan con </a:t>
            </a:r>
            <a:r>
              <a:rPr sz="1600" dirty="0">
                <a:latin typeface="Calibri"/>
                <a:cs typeface="Calibri"/>
              </a:rPr>
              <a:t>los </a:t>
            </a:r>
            <a:r>
              <a:rPr sz="1600" spc="-5" dirty="0">
                <a:latin typeface="Calibri"/>
                <a:cs typeface="Calibri"/>
              </a:rPr>
              <a:t>servidores haciendo  </a:t>
            </a:r>
            <a:r>
              <a:rPr sz="1600" spc="-10" dirty="0">
                <a:latin typeface="Calibri"/>
                <a:cs typeface="Calibri"/>
              </a:rPr>
              <a:t>requerimientos </a:t>
            </a:r>
            <a:r>
              <a:rPr sz="1600" spc="-15" dirty="0">
                <a:latin typeface="Calibri"/>
                <a:cs typeface="Calibri"/>
              </a:rPr>
              <a:t>para </a:t>
            </a:r>
            <a:r>
              <a:rPr sz="1600" spc="-10" dirty="0">
                <a:latin typeface="Calibri"/>
                <a:cs typeface="Calibri"/>
              </a:rPr>
              <a:t>lectura </a:t>
            </a:r>
            <a:r>
              <a:rPr sz="1600" dirty="0">
                <a:latin typeface="Calibri"/>
                <a:cs typeface="Calibri"/>
              </a:rPr>
              <a:t>o </a:t>
            </a:r>
            <a:r>
              <a:rPr sz="1600" spc="-5" dirty="0">
                <a:latin typeface="Calibri"/>
                <a:cs typeface="Calibri"/>
              </a:rPr>
              <a:t>actualización de  </a:t>
            </a:r>
            <a:r>
              <a:rPr sz="1600" spc="-10" dirty="0">
                <a:latin typeface="Calibri"/>
                <a:cs typeface="Calibri"/>
              </a:rPr>
              <a:t>datos.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63055" y="1272539"/>
            <a:ext cx="2392169" cy="22593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43421" y="3794759"/>
            <a:ext cx="2686050" cy="2171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51</a:t>
            </a:fld>
            <a:endParaRPr spc="-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0355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III – </a:t>
            </a:r>
            <a:r>
              <a:rPr spc="-10" dirty="0"/>
              <a:t>Organización </a:t>
            </a:r>
            <a:r>
              <a:rPr spc="-5" dirty="0"/>
              <a:t>en el área de Sistemas</a:t>
            </a:r>
            <a:r>
              <a:rPr spc="135" dirty="0"/>
              <a:t> </a:t>
            </a:r>
            <a:r>
              <a:rPr spc="-5" dirty="0"/>
              <a:t>(Cont.)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52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86258" y="500126"/>
            <a:ext cx="7133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Posicionamiento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del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área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 Sistemas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 la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estructura organizacional</a:t>
            </a:r>
            <a:r>
              <a:rPr sz="180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999490"/>
            <a:ext cx="69278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0" dirty="0">
                <a:latin typeface="Calibri"/>
                <a:cs typeface="Calibri"/>
              </a:rPr>
              <a:t>Posicionamiento </a:t>
            </a:r>
            <a:r>
              <a:rPr sz="3000" b="1" spc="-5" dirty="0">
                <a:latin typeface="Calibri"/>
                <a:cs typeface="Calibri"/>
              </a:rPr>
              <a:t>de SI </a:t>
            </a:r>
            <a:r>
              <a:rPr sz="3000" b="1" dirty="0">
                <a:latin typeface="Calibri"/>
                <a:cs typeface="Calibri"/>
              </a:rPr>
              <a:t>– </a:t>
            </a:r>
            <a:r>
              <a:rPr sz="3000" b="1" spc="-10" dirty="0">
                <a:latin typeface="Calibri"/>
                <a:cs typeface="Calibri"/>
              </a:rPr>
              <a:t>Matriz </a:t>
            </a:r>
            <a:r>
              <a:rPr sz="3000" b="1" spc="-5" dirty="0">
                <a:latin typeface="Calibri"/>
                <a:cs typeface="Calibri"/>
              </a:rPr>
              <a:t>de</a:t>
            </a:r>
            <a:r>
              <a:rPr sz="3000" b="1" spc="-15" dirty="0">
                <a:latin typeface="Calibri"/>
                <a:cs typeface="Calibri"/>
              </a:rPr>
              <a:t> McFarlan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1465071"/>
            <a:ext cx="8458200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En 1992 </a:t>
            </a:r>
            <a:r>
              <a:rPr sz="2000" spc="-20" dirty="0">
                <a:latin typeface="Calibri"/>
                <a:cs typeface="Calibri"/>
              </a:rPr>
              <a:t>Warren </a:t>
            </a:r>
            <a:r>
              <a:rPr sz="2000" spc="-10" dirty="0">
                <a:latin typeface="Calibri"/>
                <a:cs typeface="Calibri"/>
              </a:rPr>
              <a:t>McFarlan </a:t>
            </a:r>
            <a:r>
              <a:rPr sz="2000" spc="-5" dirty="0">
                <a:latin typeface="Calibri"/>
                <a:cs typeface="Calibri"/>
              </a:rPr>
              <a:t>y </a:t>
            </a:r>
            <a:r>
              <a:rPr sz="2000" spc="-10" dirty="0">
                <a:latin typeface="Calibri"/>
                <a:cs typeface="Calibri"/>
              </a:rPr>
              <a:t>J.L. McKenney desarrollaron </a:t>
            </a:r>
            <a:r>
              <a:rPr sz="2000" spc="-5" dirty="0">
                <a:latin typeface="Calibri"/>
                <a:cs typeface="Calibri"/>
              </a:rPr>
              <a:t>una sencilla </a:t>
            </a:r>
            <a:r>
              <a:rPr sz="2000" spc="-10" dirty="0">
                <a:latin typeface="Calibri"/>
                <a:cs typeface="Calibri"/>
              </a:rPr>
              <a:t>pero  poderosa herramienta </a:t>
            </a:r>
            <a:r>
              <a:rPr sz="2000" spc="-15" dirty="0">
                <a:latin typeface="Calibri"/>
                <a:cs typeface="Calibri"/>
              </a:rPr>
              <a:t>para </a:t>
            </a:r>
            <a:r>
              <a:rPr sz="2000" spc="-5" dirty="0">
                <a:latin typeface="Calibri"/>
                <a:cs typeface="Calibri"/>
              </a:rPr>
              <a:t>analizar </a:t>
            </a:r>
            <a:r>
              <a:rPr sz="2000" dirty="0">
                <a:latin typeface="Calibri"/>
                <a:cs typeface="Calibri"/>
              </a:rPr>
              <a:t>el </a:t>
            </a:r>
            <a:r>
              <a:rPr sz="2000" spc="-15" dirty="0">
                <a:latin typeface="Calibri"/>
                <a:cs typeface="Calibri"/>
              </a:rPr>
              <a:t>portafolio </a:t>
            </a:r>
            <a:r>
              <a:rPr sz="2000" spc="-5" dirty="0">
                <a:latin typeface="Calibri"/>
                <a:cs typeface="Calibri"/>
              </a:rPr>
              <a:t>de </a:t>
            </a:r>
            <a:r>
              <a:rPr sz="2000" spc="-15" dirty="0">
                <a:latin typeface="Calibri"/>
                <a:cs typeface="Calibri"/>
              </a:rPr>
              <a:t>proyectos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tecnología  de la </a:t>
            </a:r>
            <a:r>
              <a:rPr sz="2000" spc="-10" dirty="0">
                <a:latin typeface="Calibri"/>
                <a:cs typeface="Calibri"/>
              </a:rPr>
              <a:t>información </a:t>
            </a:r>
            <a:r>
              <a:rPr sz="2000" spc="-5" dirty="0">
                <a:latin typeface="Calibri"/>
                <a:cs typeface="Calibri"/>
              </a:rPr>
              <a:t>(IT) en cualquier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organización.</a:t>
            </a:r>
            <a:endParaRPr sz="20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La </a:t>
            </a:r>
            <a:r>
              <a:rPr sz="2000" spc="-10" dirty="0">
                <a:latin typeface="Calibri"/>
                <a:cs typeface="Calibri"/>
              </a:rPr>
              <a:t>herramienta </a:t>
            </a:r>
            <a:r>
              <a:rPr sz="2000" spc="-5" dirty="0">
                <a:latin typeface="Calibri"/>
                <a:cs typeface="Calibri"/>
              </a:rPr>
              <a:t>se </a:t>
            </a:r>
            <a:r>
              <a:rPr sz="2000" spc="-10" dirty="0">
                <a:latin typeface="Calibri"/>
                <a:cs typeface="Calibri"/>
              </a:rPr>
              <a:t>conoce como </a:t>
            </a:r>
            <a:r>
              <a:rPr sz="2000" spc="-5" dirty="0">
                <a:latin typeface="Calibri"/>
                <a:cs typeface="Calibri"/>
              </a:rPr>
              <a:t>la </a:t>
            </a:r>
            <a:r>
              <a:rPr sz="2000" i="1" spc="-5" dirty="0">
                <a:latin typeface="Calibri"/>
                <a:cs typeface="Calibri"/>
              </a:rPr>
              <a:t>Matriz de </a:t>
            </a:r>
            <a:r>
              <a:rPr sz="2000" i="1" spc="-10" dirty="0">
                <a:latin typeface="Calibri"/>
                <a:cs typeface="Calibri"/>
              </a:rPr>
              <a:t>McFarlan</a:t>
            </a:r>
            <a:r>
              <a:rPr sz="2000" spc="-10" dirty="0">
                <a:latin typeface="Calibri"/>
                <a:cs typeface="Calibri"/>
              </a:rPr>
              <a:t>, </a:t>
            </a:r>
            <a:r>
              <a:rPr sz="2000" spc="-5" dirty="0">
                <a:latin typeface="Calibri"/>
                <a:cs typeface="Calibri"/>
              </a:rPr>
              <a:t>se </a:t>
            </a:r>
            <a:r>
              <a:rPr sz="2000" dirty="0">
                <a:latin typeface="Calibri"/>
                <a:cs typeface="Calibri"/>
              </a:rPr>
              <a:t>basa </a:t>
            </a:r>
            <a:r>
              <a:rPr sz="2000" spc="-5" dirty="0">
                <a:latin typeface="Calibri"/>
                <a:cs typeface="Calibri"/>
              </a:rPr>
              <a:t>en la  evaluación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todas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iniciativas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desarrollo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TI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considerando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dos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0240" y="2989072"/>
            <a:ext cx="2349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134745" algn="l"/>
                <a:tab pos="148907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sp</a:t>
            </a:r>
            <a:r>
              <a:rPr sz="2000" spc="-5" dirty="0">
                <a:latin typeface="Calibri"/>
                <a:cs typeface="Calibri"/>
              </a:rPr>
              <a:t>ec</a:t>
            </a:r>
            <a:r>
              <a:rPr sz="2000" spc="-15" dirty="0">
                <a:latin typeface="Calibri"/>
                <a:cs typeface="Calibri"/>
              </a:rPr>
              <a:t>t</a:t>
            </a:r>
            <a:r>
              <a:rPr sz="2000" spc="-10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: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1)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Impa</a:t>
            </a:r>
            <a:r>
              <a:rPr sz="2000" dirty="0">
                <a:latin typeface="Calibri"/>
                <a:cs typeface="Calibri"/>
              </a:rPr>
              <a:t>c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o  </a:t>
            </a:r>
            <a:r>
              <a:rPr sz="2000" spc="-15" dirty="0">
                <a:latin typeface="Calibri"/>
                <a:cs typeface="Calibri"/>
              </a:rPr>
              <a:t>estrategias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futuras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996632" y="4087991"/>
          <a:ext cx="4837429" cy="22850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0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7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25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979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50" dirty="0">
                          <a:latin typeface="Calibri"/>
                          <a:cs typeface="Calibri"/>
                        </a:rPr>
                        <a:t>Soporte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i="1" spc="45" dirty="0">
                          <a:latin typeface="Calibri"/>
                          <a:cs typeface="Calibri"/>
                        </a:rPr>
                        <a:t>Turnaround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2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0083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40" dirty="0">
                          <a:latin typeface="Calibri"/>
                          <a:cs typeface="Calibri"/>
                        </a:rPr>
                        <a:t>Fábrica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40" dirty="0">
                          <a:latin typeface="Calibri"/>
                          <a:cs typeface="Calibri"/>
                        </a:rPr>
                        <a:t>Estratégico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122422" y="2989072"/>
            <a:ext cx="5641975" cy="1057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9100" algn="l"/>
                <a:tab pos="847725" algn="l"/>
                <a:tab pos="2256155" algn="l"/>
                <a:tab pos="3329304" algn="l"/>
                <a:tab pos="3592195" algn="l"/>
                <a:tab pos="3945890" algn="l"/>
                <a:tab pos="4940935" algn="l"/>
                <a:tab pos="5348605" algn="l"/>
              </a:tabLst>
            </a:pPr>
            <a:r>
              <a:rPr sz="2000" spc="-5" dirty="0">
                <a:latin typeface="Calibri"/>
                <a:cs typeface="Calibri"/>
              </a:rPr>
              <a:t>en	l</a:t>
            </a:r>
            <a:r>
              <a:rPr sz="2000" spc="5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op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cion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	a</a:t>
            </a:r>
            <a:r>
              <a:rPr sz="2000" spc="-5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10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5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;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y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2)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Impacto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en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las</a:t>
            </a:r>
            <a:endParaRPr sz="2000">
              <a:latin typeface="Calibri"/>
              <a:cs typeface="Calibri"/>
            </a:endParaRPr>
          </a:p>
          <a:p>
            <a:pPr marL="1577340">
              <a:lnSpc>
                <a:spcPct val="100000"/>
              </a:lnSpc>
              <a:spcBef>
                <a:spcPts val="1130"/>
              </a:spcBef>
            </a:pPr>
            <a:r>
              <a:rPr sz="1400" u="sng" spc="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Impacto </a:t>
            </a:r>
            <a:r>
              <a:rPr sz="1400" u="sng" spc="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(de </a:t>
            </a:r>
            <a:r>
              <a:rPr sz="1400" u="sng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las</a:t>
            </a:r>
            <a:r>
              <a:rPr sz="1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SI)</a:t>
            </a:r>
            <a:endParaRPr sz="1400">
              <a:latin typeface="Calibri"/>
              <a:cs typeface="Calibri"/>
            </a:endParaRPr>
          </a:p>
          <a:p>
            <a:pPr marL="996315">
              <a:lnSpc>
                <a:spcPct val="100000"/>
              </a:lnSpc>
              <a:spcBef>
                <a:spcPts val="1235"/>
              </a:spcBef>
              <a:tabLst>
                <a:tab pos="3428365" algn="l"/>
              </a:tabLst>
            </a:pPr>
            <a:r>
              <a:rPr sz="1400" spc="55" dirty="0">
                <a:latin typeface="Calibri"/>
                <a:cs typeface="Calibri"/>
              </a:rPr>
              <a:t>Bajo	</a:t>
            </a:r>
            <a:r>
              <a:rPr sz="1400" spc="45" dirty="0">
                <a:latin typeface="Calibri"/>
                <a:cs typeface="Calibri"/>
              </a:rPr>
              <a:t>Alto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1043" y="4533181"/>
            <a:ext cx="1678305" cy="1382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785">
              <a:lnSpc>
                <a:spcPct val="100000"/>
              </a:lnSpc>
              <a:spcBef>
                <a:spcPts val="100"/>
              </a:spcBef>
            </a:pPr>
            <a:r>
              <a:rPr sz="1400" spc="50" dirty="0">
                <a:latin typeface="Calibri"/>
                <a:cs typeface="Calibri"/>
              </a:rPr>
              <a:t>Baja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Times New Roman"/>
              <a:cs typeface="Times New Roman"/>
            </a:endParaRPr>
          </a:p>
          <a:p>
            <a:pPr marR="610870" algn="ctr">
              <a:lnSpc>
                <a:spcPct val="100000"/>
              </a:lnSpc>
            </a:pPr>
            <a:r>
              <a:rPr sz="1400" u="sng" spc="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Dependencia</a:t>
            </a:r>
            <a:endParaRPr sz="1400">
              <a:latin typeface="Calibri"/>
              <a:cs typeface="Calibri"/>
            </a:endParaRPr>
          </a:p>
          <a:p>
            <a:pPr marR="611505" algn="ctr">
              <a:lnSpc>
                <a:spcPct val="100000"/>
              </a:lnSpc>
              <a:spcBef>
                <a:spcPts val="5"/>
              </a:spcBef>
            </a:pPr>
            <a:r>
              <a:rPr sz="1400" u="sng" spc="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(de </a:t>
            </a:r>
            <a:r>
              <a:rPr sz="1400" u="sng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las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Times New Roman"/>
              <a:cs typeface="Times New Roman"/>
            </a:endParaRPr>
          </a:p>
          <a:p>
            <a:pPr marL="1341755">
              <a:lnSpc>
                <a:spcPct val="100000"/>
              </a:lnSpc>
              <a:spcBef>
                <a:spcPts val="5"/>
              </a:spcBef>
            </a:pPr>
            <a:r>
              <a:rPr sz="1400" spc="40" dirty="0">
                <a:latin typeface="Calibri"/>
                <a:cs typeface="Calibri"/>
              </a:rPr>
              <a:t>Alta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1335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III – </a:t>
            </a:r>
            <a:r>
              <a:rPr spc="-10" dirty="0"/>
              <a:t>Organización </a:t>
            </a:r>
            <a:r>
              <a:rPr spc="-5" dirty="0"/>
              <a:t>en el área de Sistemas</a:t>
            </a:r>
            <a:r>
              <a:rPr spc="90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dirty="0">
                <a:latin typeface="Calibri"/>
                <a:cs typeface="Calibri"/>
              </a:rPr>
              <a:t>Posicionamiento </a:t>
            </a:r>
            <a:r>
              <a:rPr sz="1800" b="0" spc="-5" dirty="0">
                <a:latin typeface="Calibri"/>
                <a:cs typeface="Calibri"/>
              </a:rPr>
              <a:t>del </a:t>
            </a:r>
            <a:r>
              <a:rPr sz="1800" b="0" dirty="0">
                <a:latin typeface="Calibri"/>
                <a:cs typeface="Calibri"/>
              </a:rPr>
              <a:t>área </a:t>
            </a:r>
            <a:r>
              <a:rPr sz="1800" b="0" spc="-5" dirty="0">
                <a:latin typeface="Calibri"/>
                <a:cs typeface="Calibri"/>
              </a:rPr>
              <a:t>de Sistemas </a:t>
            </a:r>
            <a:r>
              <a:rPr sz="1800" b="0" dirty="0">
                <a:latin typeface="Calibri"/>
                <a:cs typeface="Calibri"/>
              </a:rPr>
              <a:t>en la </a:t>
            </a:r>
            <a:r>
              <a:rPr sz="1800" b="0" spc="-5" dirty="0">
                <a:latin typeface="Calibri"/>
                <a:cs typeface="Calibri"/>
              </a:rPr>
              <a:t>estructura organizacional</a:t>
            </a:r>
            <a:r>
              <a:rPr sz="1800" b="0" spc="80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53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07340" y="1077213"/>
            <a:ext cx="75666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Calibri"/>
                <a:cs typeface="Calibri"/>
              </a:rPr>
              <a:t>Posicionamiento </a:t>
            </a:r>
            <a:r>
              <a:rPr sz="2800" b="1" dirty="0">
                <a:latin typeface="Calibri"/>
                <a:cs typeface="Calibri"/>
              </a:rPr>
              <a:t>de SI – </a:t>
            </a:r>
            <a:r>
              <a:rPr sz="2800" b="1" spc="-5" dirty="0">
                <a:latin typeface="Calibri"/>
                <a:cs typeface="Calibri"/>
              </a:rPr>
              <a:t>Matriz </a:t>
            </a:r>
            <a:r>
              <a:rPr sz="2800" b="1" dirty="0">
                <a:latin typeface="Calibri"/>
                <a:cs typeface="Calibri"/>
              </a:rPr>
              <a:t>de </a:t>
            </a:r>
            <a:r>
              <a:rPr sz="2800" b="1" spc="-15" dirty="0">
                <a:latin typeface="Calibri"/>
                <a:cs typeface="Calibri"/>
              </a:rPr>
              <a:t>McFarlan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(Cont.)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b="1" spc="-10" dirty="0">
                <a:latin typeface="Calibri"/>
                <a:cs typeface="Calibri"/>
              </a:rPr>
              <a:t>Soporte</a:t>
            </a:r>
            <a:r>
              <a:rPr spc="-10" dirty="0"/>
              <a:t>: </a:t>
            </a:r>
            <a:r>
              <a:rPr spc="-5" dirty="0"/>
              <a:t>bajo </a:t>
            </a:r>
            <a:r>
              <a:rPr spc="-10" dirty="0"/>
              <a:t>impacto </a:t>
            </a:r>
            <a:r>
              <a:rPr spc="-5" dirty="0"/>
              <a:t>en las </a:t>
            </a:r>
            <a:r>
              <a:rPr spc="-10" dirty="0"/>
              <a:t>operaciones, </a:t>
            </a:r>
            <a:r>
              <a:rPr spc="-5" dirty="0"/>
              <a:t>bajo impacto en las </a:t>
            </a:r>
            <a:r>
              <a:rPr spc="-10" dirty="0"/>
              <a:t>estrategias futuras. </a:t>
            </a:r>
            <a:r>
              <a:rPr spc="-5" dirty="0"/>
              <a:t>Se </a:t>
            </a:r>
            <a:r>
              <a:rPr spc="-20" dirty="0"/>
              <a:t>trata </a:t>
            </a:r>
            <a:r>
              <a:rPr spc="-5" dirty="0"/>
              <a:t>de  aplicaciones que son útiles </a:t>
            </a:r>
            <a:r>
              <a:rPr spc="-15" dirty="0"/>
              <a:t>para </a:t>
            </a:r>
            <a:r>
              <a:rPr spc="-10" dirty="0"/>
              <a:t>realizar procesos </a:t>
            </a:r>
            <a:r>
              <a:rPr spc="-5" dirty="0"/>
              <a:t>no críticos. </a:t>
            </a:r>
            <a:r>
              <a:rPr spc="-10" dirty="0"/>
              <a:t>En la práctica </a:t>
            </a:r>
            <a:r>
              <a:rPr spc="-5" dirty="0"/>
              <a:t>se podría </a:t>
            </a:r>
            <a:r>
              <a:rPr spc="-10" dirty="0"/>
              <a:t>prescindir  </a:t>
            </a:r>
            <a:r>
              <a:rPr spc="-5" dirty="0"/>
              <a:t>de ellas sin </a:t>
            </a:r>
            <a:r>
              <a:rPr spc="-15" dirty="0"/>
              <a:t>afectar severamente </a:t>
            </a:r>
            <a:r>
              <a:rPr spc="-5" dirty="0"/>
              <a:t>la </a:t>
            </a:r>
            <a:r>
              <a:rPr spc="-10" dirty="0"/>
              <a:t>operación. </a:t>
            </a:r>
            <a:r>
              <a:rPr spc="-15" dirty="0"/>
              <a:t>Por </a:t>
            </a:r>
            <a:r>
              <a:rPr spc="-5" dirty="0"/>
              <a:t>ejemplo, el </a:t>
            </a:r>
            <a:r>
              <a:rPr spc="-10" dirty="0"/>
              <a:t>correo electrónico, </a:t>
            </a:r>
            <a:r>
              <a:rPr spc="-5" dirty="0"/>
              <a:t>los  </a:t>
            </a:r>
            <a:r>
              <a:rPr spc="-10" dirty="0"/>
              <a:t>procesadores </a:t>
            </a:r>
            <a:r>
              <a:rPr spc="-5" dirty="0"/>
              <a:t>de </a:t>
            </a:r>
            <a:r>
              <a:rPr spc="-15" dirty="0"/>
              <a:t>texto, </a:t>
            </a:r>
            <a:r>
              <a:rPr spc="-5" dirty="0"/>
              <a:t>la aplicación de nómina, hojas electrónicas. </a:t>
            </a:r>
            <a:r>
              <a:rPr spc="-10" dirty="0"/>
              <a:t>Sin embargo, </a:t>
            </a:r>
            <a:r>
              <a:rPr spc="-5" dirty="0"/>
              <a:t>si se  </a:t>
            </a:r>
            <a:r>
              <a:rPr spc="-10" dirty="0"/>
              <a:t>desecharan completamente, </a:t>
            </a:r>
            <a:r>
              <a:rPr spc="-5" dirty="0"/>
              <a:t>la </a:t>
            </a:r>
            <a:r>
              <a:rPr spc="-10" dirty="0"/>
              <a:t>operación </a:t>
            </a:r>
            <a:r>
              <a:rPr spc="-5" dirty="0"/>
              <a:t>podría </a:t>
            </a:r>
            <a:r>
              <a:rPr spc="-15" dirty="0"/>
              <a:t>verse </a:t>
            </a:r>
            <a:r>
              <a:rPr spc="-10" dirty="0"/>
              <a:t>seriamente</a:t>
            </a:r>
            <a:r>
              <a:rPr spc="85" dirty="0"/>
              <a:t> </a:t>
            </a:r>
            <a:r>
              <a:rPr spc="-10" dirty="0"/>
              <a:t>afectada.</a:t>
            </a:r>
          </a:p>
          <a:p>
            <a:pPr marL="241300" marR="5715" indent="-228600" algn="just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b="1" spc="-15" dirty="0">
                <a:latin typeface="Calibri"/>
                <a:cs typeface="Calibri"/>
              </a:rPr>
              <a:t>Fábrica</a:t>
            </a:r>
            <a:r>
              <a:rPr spc="-15" dirty="0"/>
              <a:t>: </a:t>
            </a:r>
            <a:r>
              <a:rPr spc="-5" dirty="0"/>
              <a:t>se </a:t>
            </a:r>
            <a:r>
              <a:rPr spc="-20" dirty="0"/>
              <a:t>trata </a:t>
            </a:r>
            <a:r>
              <a:rPr spc="-5" dirty="0"/>
              <a:t>de las aplicaciones que tienen </a:t>
            </a:r>
            <a:r>
              <a:rPr spc="-10" dirty="0"/>
              <a:t>alto </a:t>
            </a:r>
            <a:r>
              <a:rPr spc="-5" dirty="0"/>
              <a:t>impacto en las </a:t>
            </a:r>
            <a:r>
              <a:rPr spc="-10" dirty="0"/>
              <a:t>operaciones </a:t>
            </a:r>
            <a:r>
              <a:rPr spc="-5" dirty="0"/>
              <a:t>actuales, hacen  que </a:t>
            </a:r>
            <a:r>
              <a:rPr spc="-10" dirty="0"/>
              <a:t>todo </a:t>
            </a:r>
            <a:r>
              <a:rPr spc="-5" dirty="0"/>
              <a:t>el </a:t>
            </a:r>
            <a:r>
              <a:rPr spc="-10" dirty="0"/>
              <a:t>proceso productivo </a:t>
            </a:r>
            <a:r>
              <a:rPr spc="-5" dirty="0"/>
              <a:t>sea más </a:t>
            </a:r>
            <a:r>
              <a:rPr spc="-10" dirty="0"/>
              <a:t>eficiente. </a:t>
            </a:r>
            <a:r>
              <a:rPr dirty="0"/>
              <a:t>No </a:t>
            </a:r>
            <a:r>
              <a:rPr spc="-5" dirty="0"/>
              <a:t>se </a:t>
            </a:r>
            <a:r>
              <a:rPr spc="-10" dirty="0"/>
              <a:t>puede </a:t>
            </a:r>
            <a:r>
              <a:rPr spc="-5" dirty="0"/>
              <a:t>prescindir de ellas </a:t>
            </a:r>
            <a:r>
              <a:rPr spc="-10" dirty="0"/>
              <a:t>porque son  </a:t>
            </a:r>
            <a:r>
              <a:rPr spc="-5" dirty="0"/>
              <a:t>críticas </a:t>
            </a:r>
            <a:r>
              <a:rPr spc="-15" dirty="0"/>
              <a:t>para </a:t>
            </a:r>
            <a:r>
              <a:rPr spc="-10" dirty="0"/>
              <a:t>la operación. </a:t>
            </a:r>
            <a:r>
              <a:rPr spc="-20" dirty="0"/>
              <a:t>Por</a:t>
            </a:r>
            <a:r>
              <a:rPr spc="340" dirty="0"/>
              <a:t> </a:t>
            </a:r>
            <a:r>
              <a:rPr spc="-5" dirty="0"/>
              <a:t>ejemplo, el </a:t>
            </a:r>
            <a:r>
              <a:rPr spc="-10" dirty="0"/>
              <a:t>software </a:t>
            </a:r>
            <a:r>
              <a:rPr spc="-5" dirty="0"/>
              <a:t>de automatización de insumos y  </a:t>
            </a:r>
            <a:r>
              <a:rPr spc="-10" dirty="0"/>
              <a:t>suministros, </a:t>
            </a:r>
            <a:r>
              <a:rPr spc="-5" dirty="0"/>
              <a:t>los </a:t>
            </a:r>
            <a:r>
              <a:rPr spc="-10" dirty="0"/>
              <a:t>controles </a:t>
            </a:r>
            <a:r>
              <a:rPr spc="-5" dirty="0"/>
              <a:t>de tiempos de almacenamiento de </a:t>
            </a:r>
            <a:r>
              <a:rPr spc="-10" dirty="0"/>
              <a:t>productos perecederos. </a:t>
            </a:r>
            <a:r>
              <a:rPr spc="-15" dirty="0"/>
              <a:t>Su  </a:t>
            </a:r>
            <a:r>
              <a:rPr spc="-5" dirty="0"/>
              <a:t>impacto </a:t>
            </a:r>
            <a:r>
              <a:rPr dirty="0"/>
              <a:t>en </a:t>
            </a:r>
            <a:r>
              <a:rPr spc="-5" dirty="0"/>
              <a:t>la </a:t>
            </a:r>
            <a:r>
              <a:rPr spc="-10" dirty="0"/>
              <a:t>estrategia </a:t>
            </a:r>
            <a:r>
              <a:rPr spc="-15" dirty="0"/>
              <a:t>futura </a:t>
            </a:r>
            <a:r>
              <a:rPr dirty="0"/>
              <a:t>de </a:t>
            </a:r>
            <a:r>
              <a:rPr spc="-5" dirty="0"/>
              <a:t>la empresa </a:t>
            </a:r>
            <a:r>
              <a:rPr dirty="0"/>
              <a:t>es </a:t>
            </a:r>
            <a:r>
              <a:rPr spc="-10" dirty="0"/>
              <a:t>bajo, </a:t>
            </a:r>
            <a:r>
              <a:rPr dirty="0"/>
              <a:t>en </a:t>
            </a:r>
            <a:r>
              <a:rPr spc="-10" dirty="0"/>
              <a:t>todo </a:t>
            </a:r>
            <a:r>
              <a:rPr spc="-5" dirty="0"/>
              <a:t>caso son </a:t>
            </a:r>
            <a:r>
              <a:rPr dirty="0"/>
              <a:t>el </a:t>
            </a:r>
            <a:r>
              <a:rPr spc="-10" dirty="0"/>
              <a:t>resultado </a:t>
            </a:r>
            <a:r>
              <a:rPr dirty="0"/>
              <a:t>de </a:t>
            </a:r>
            <a:r>
              <a:rPr spc="-5" dirty="0"/>
              <a:t>la  implementación de una </a:t>
            </a:r>
            <a:r>
              <a:rPr spc="-10" dirty="0"/>
              <a:t>estrategia pasada </a:t>
            </a:r>
            <a:r>
              <a:rPr spc="-5" dirty="0"/>
              <a:t>o </a:t>
            </a:r>
            <a:r>
              <a:rPr dirty="0"/>
              <a:t>actual </a:t>
            </a:r>
            <a:r>
              <a:rPr spc="-5" dirty="0"/>
              <a:t>o bien </a:t>
            </a:r>
            <a:r>
              <a:rPr spc="-10" dirty="0"/>
              <a:t>simplemente disposiciones </a:t>
            </a:r>
            <a:r>
              <a:rPr spc="-5" dirty="0"/>
              <a:t>de </a:t>
            </a:r>
            <a:r>
              <a:rPr spc="-10" dirty="0"/>
              <a:t>buena  </a:t>
            </a:r>
            <a:r>
              <a:rPr spc="-5" dirty="0"/>
              <a:t>administración </a:t>
            </a:r>
            <a:r>
              <a:rPr spc="-15" dirty="0"/>
              <a:t>para </a:t>
            </a:r>
            <a:r>
              <a:rPr spc="-5" dirty="0"/>
              <a:t>la </a:t>
            </a:r>
            <a:r>
              <a:rPr spc="-10" dirty="0"/>
              <a:t>mejora </a:t>
            </a:r>
            <a:r>
              <a:rPr spc="-5" dirty="0"/>
              <a:t>de las</a:t>
            </a:r>
            <a:r>
              <a:rPr spc="20" dirty="0"/>
              <a:t> </a:t>
            </a:r>
            <a:r>
              <a:rPr spc="-5" dirty="0"/>
              <a:t>operaciones.</a:t>
            </a:r>
          </a:p>
          <a:p>
            <a:pPr marL="241300" marR="5715" indent="-228600" algn="just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b="1" spc="-15" dirty="0">
                <a:latin typeface="Calibri"/>
                <a:cs typeface="Calibri"/>
              </a:rPr>
              <a:t>Estratégicos</a:t>
            </a:r>
            <a:r>
              <a:rPr spc="-15" dirty="0"/>
              <a:t>: </a:t>
            </a:r>
            <a:r>
              <a:rPr spc="-10" dirty="0"/>
              <a:t>alto </a:t>
            </a:r>
            <a:r>
              <a:rPr spc="-5" dirty="0"/>
              <a:t>impacto en </a:t>
            </a:r>
            <a:r>
              <a:rPr spc="-10" dirty="0"/>
              <a:t>operaciones </a:t>
            </a:r>
            <a:r>
              <a:rPr spc="-5" dirty="0"/>
              <a:t>y en </a:t>
            </a:r>
            <a:r>
              <a:rPr spc="-10" dirty="0"/>
              <a:t>estrategia futura. </a:t>
            </a:r>
            <a:r>
              <a:rPr spc="-5" dirty="0"/>
              <a:t>Aplicaciones en </a:t>
            </a:r>
            <a:r>
              <a:rPr spc="-10" dirty="0"/>
              <a:t>desarrollo  </a:t>
            </a:r>
            <a:r>
              <a:rPr spc="-5" dirty="0"/>
              <a:t>que </a:t>
            </a:r>
            <a:r>
              <a:rPr spc="-10" dirty="0"/>
              <a:t>responden </a:t>
            </a:r>
            <a:r>
              <a:rPr spc="-5" dirty="0"/>
              <a:t>a una </a:t>
            </a:r>
            <a:r>
              <a:rPr spc="-10" dirty="0"/>
              <a:t>estrategia </a:t>
            </a:r>
            <a:r>
              <a:rPr spc="-15" dirty="0"/>
              <a:t>concreta </a:t>
            </a:r>
            <a:r>
              <a:rPr spc="-5" dirty="0"/>
              <a:t>de </a:t>
            </a:r>
            <a:r>
              <a:rPr dirty="0"/>
              <a:t>la </a:t>
            </a:r>
            <a:r>
              <a:rPr spc="-10" dirty="0"/>
              <a:t>organización. </a:t>
            </a:r>
            <a:r>
              <a:rPr spc="-5" dirty="0"/>
              <a:t>Al </a:t>
            </a:r>
            <a:r>
              <a:rPr spc="-10" dirty="0"/>
              <a:t>ponerse </a:t>
            </a:r>
            <a:r>
              <a:rPr spc="-5" dirty="0"/>
              <a:t>en </a:t>
            </a:r>
            <a:r>
              <a:rPr spc="-10" dirty="0"/>
              <a:t>producción  deberán </a:t>
            </a:r>
            <a:r>
              <a:rPr spc="-5" dirty="0"/>
              <a:t>sustituir a ciertas aplicaciones de </a:t>
            </a:r>
            <a:r>
              <a:rPr spc="-10" dirty="0"/>
              <a:t>fábrica </a:t>
            </a:r>
            <a:r>
              <a:rPr spc="-5" dirty="0"/>
              <a:t>y </a:t>
            </a:r>
            <a:r>
              <a:rPr spc="-10" dirty="0"/>
              <a:t>producción </a:t>
            </a:r>
            <a:r>
              <a:rPr spc="-5" dirty="0"/>
              <a:t>con lo que </a:t>
            </a:r>
            <a:r>
              <a:rPr spc="-15" dirty="0"/>
              <a:t>renovarán </a:t>
            </a:r>
            <a:r>
              <a:rPr spc="-10" dirty="0"/>
              <a:t>la </a:t>
            </a:r>
            <a:r>
              <a:rPr spc="-15" dirty="0"/>
              <a:t>forma  </a:t>
            </a:r>
            <a:r>
              <a:rPr spc="-5" dirty="0"/>
              <a:t>de </a:t>
            </a:r>
            <a:r>
              <a:rPr spc="-10" dirty="0"/>
              <a:t>operar </a:t>
            </a:r>
            <a:r>
              <a:rPr spc="-5" dirty="0"/>
              <a:t>de la empresa, </a:t>
            </a:r>
            <a:r>
              <a:rPr spc="-10" dirty="0"/>
              <a:t>mejorarán </a:t>
            </a:r>
            <a:r>
              <a:rPr spc="-5" dirty="0"/>
              <a:t>su posición competitiva </a:t>
            </a:r>
            <a:r>
              <a:rPr spc="-15" dirty="0"/>
              <a:t>reforzándola </a:t>
            </a:r>
            <a:r>
              <a:rPr spc="-5" dirty="0"/>
              <a:t>o adicionando  </a:t>
            </a:r>
            <a:r>
              <a:rPr spc="-15" dirty="0"/>
              <a:t>nuevas </a:t>
            </a:r>
            <a:r>
              <a:rPr spc="-10" dirty="0"/>
              <a:t>ventajas. Pertenecen </a:t>
            </a:r>
            <a:r>
              <a:rPr spc="-5" dirty="0"/>
              <a:t>a </a:t>
            </a:r>
            <a:r>
              <a:rPr spc="-10" dirty="0"/>
              <a:t>este cuadrante </a:t>
            </a:r>
            <a:r>
              <a:rPr spc="-5" dirty="0"/>
              <a:t>los </a:t>
            </a:r>
            <a:r>
              <a:rPr spc="-10" dirty="0"/>
              <a:t>proyectos </a:t>
            </a:r>
            <a:r>
              <a:rPr spc="-5" dirty="0"/>
              <a:t>de </a:t>
            </a:r>
            <a:r>
              <a:rPr spc="-10" dirty="0"/>
              <a:t>automatización </a:t>
            </a:r>
            <a:r>
              <a:rPr spc="-5" dirty="0"/>
              <a:t>de  operaciones, la implementación de </a:t>
            </a:r>
            <a:r>
              <a:rPr spc="-10" dirty="0"/>
              <a:t>nueva </a:t>
            </a:r>
            <a:r>
              <a:rPr spc="-5" dirty="0"/>
              <a:t>tecnología de fabricación,</a:t>
            </a:r>
            <a:r>
              <a:rPr spc="55" dirty="0"/>
              <a:t> </a:t>
            </a:r>
            <a:r>
              <a:rPr spc="-15" dirty="0"/>
              <a:t>etc.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1335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III – </a:t>
            </a:r>
            <a:r>
              <a:rPr spc="-10" dirty="0"/>
              <a:t>Organización </a:t>
            </a:r>
            <a:r>
              <a:rPr spc="-5" dirty="0"/>
              <a:t>en el área de Sistemas</a:t>
            </a:r>
            <a:r>
              <a:rPr spc="90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dirty="0">
                <a:latin typeface="Calibri"/>
                <a:cs typeface="Calibri"/>
              </a:rPr>
              <a:t>Posicionamiento </a:t>
            </a:r>
            <a:r>
              <a:rPr sz="1800" b="0" spc="-5" dirty="0">
                <a:latin typeface="Calibri"/>
                <a:cs typeface="Calibri"/>
              </a:rPr>
              <a:t>del </a:t>
            </a:r>
            <a:r>
              <a:rPr sz="1800" b="0" dirty="0">
                <a:latin typeface="Calibri"/>
                <a:cs typeface="Calibri"/>
              </a:rPr>
              <a:t>área </a:t>
            </a:r>
            <a:r>
              <a:rPr sz="1800" b="0" spc="-5" dirty="0">
                <a:latin typeface="Calibri"/>
                <a:cs typeface="Calibri"/>
              </a:rPr>
              <a:t>de Sistemas </a:t>
            </a:r>
            <a:r>
              <a:rPr sz="1800" b="0" dirty="0">
                <a:latin typeface="Calibri"/>
                <a:cs typeface="Calibri"/>
              </a:rPr>
              <a:t>en la </a:t>
            </a:r>
            <a:r>
              <a:rPr sz="1800" b="0" spc="-5" dirty="0">
                <a:latin typeface="Calibri"/>
                <a:cs typeface="Calibri"/>
              </a:rPr>
              <a:t>estructura organizacional</a:t>
            </a:r>
            <a:r>
              <a:rPr sz="1800" b="0" spc="80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54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07340" y="1077213"/>
            <a:ext cx="8571865" cy="34785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Calibri"/>
                <a:cs typeface="Calibri"/>
              </a:rPr>
              <a:t>Posicionamiento </a:t>
            </a:r>
            <a:r>
              <a:rPr sz="2800" b="1" dirty="0">
                <a:latin typeface="Calibri"/>
                <a:cs typeface="Calibri"/>
              </a:rPr>
              <a:t>de SI – </a:t>
            </a:r>
            <a:r>
              <a:rPr sz="2800" b="1" spc="-5" dirty="0">
                <a:latin typeface="Calibri"/>
                <a:cs typeface="Calibri"/>
              </a:rPr>
              <a:t>Matriz </a:t>
            </a:r>
            <a:r>
              <a:rPr sz="2800" b="1" dirty="0">
                <a:latin typeface="Calibri"/>
                <a:cs typeface="Calibri"/>
              </a:rPr>
              <a:t>de </a:t>
            </a:r>
            <a:r>
              <a:rPr sz="2800" b="1" spc="-15" dirty="0">
                <a:latin typeface="Calibri"/>
                <a:cs typeface="Calibri"/>
              </a:rPr>
              <a:t>McFarlan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(Cont.)</a:t>
            </a:r>
            <a:endParaRPr sz="28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355600" algn="l"/>
              </a:tabLst>
            </a:pPr>
            <a:r>
              <a:rPr sz="1800" b="1" spc="-10" dirty="0">
                <a:latin typeface="Calibri"/>
                <a:cs typeface="Calibri"/>
              </a:rPr>
              <a:t>Alto </a:t>
            </a:r>
            <a:r>
              <a:rPr sz="1800" b="1" spc="-15" dirty="0">
                <a:latin typeface="Calibri"/>
                <a:cs typeface="Calibri"/>
              </a:rPr>
              <a:t>Potencial (Turnaround)</a:t>
            </a:r>
            <a:r>
              <a:rPr sz="1800" spc="-15" dirty="0">
                <a:latin typeface="Calibri"/>
                <a:cs typeface="Calibri"/>
              </a:rPr>
              <a:t>: </a:t>
            </a:r>
            <a:r>
              <a:rPr sz="1800" spc="-5" dirty="0">
                <a:latin typeface="Calibri"/>
                <a:cs typeface="Calibri"/>
              </a:rPr>
              <a:t>provienen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esfuerzos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investigación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desarrollo. </a:t>
            </a:r>
            <a:r>
              <a:rPr sz="1800" dirty="0">
                <a:latin typeface="Calibri"/>
                <a:cs typeface="Calibri"/>
              </a:rPr>
              <a:t>Al  iniciar </a:t>
            </a:r>
            <a:r>
              <a:rPr sz="1800" spc="-5" dirty="0">
                <a:latin typeface="Calibri"/>
                <a:cs typeface="Calibri"/>
              </a:rPr>
              <a:t>la experimentación </a:t>
            </a:r>
            <a:r>
              <a:rPr sz="1800" spc="-10" dirty="0">
                <a:latin typeface="Calibri"/>
                <a:cs typeface="Calibri"/>
              </a:rPr>
              <a:t>con </a:t>
            </a:r>
            <a:r>
              <a:rPr sz="1800" spc="-15" dirty="0">
                <a:latin typeface="Calibri"/>
                <a:cs typeface="Calibri"/>
              </a:rPr>
              <a:t>este </a:t>
            </a:r>
            <a:r>
              <a:rPr sz="1800" dirty="0">
                <a:latin typeface="Calibri"/>
                <a:cs typeface="Calibri"/>
              </a:rPr>
              <a:t>tipo de </a:t>
            </a:r>
            <a:r>
              <a:rPr sz="1800" spc="-5" dirty="0">
                <a:latin typeface="Calibri"/>
                <a:cs typeface="Calibri"/>
              </a:rPr>
              <a:t>aplicaciones </a:t>
            </a:r>
            <a:r>
              <a:rPr sz="1800" dirty="0">
                <a:latin typeface="Calibri"/>
                <a:cs typeface="Calibri"/>
              </a:rPr>
              <a:t>no se </a:t>
            </a:r>
            <a:r>
              <a:rPr sz="1800" spc="-5" dirty="0">
                <a:latin typeface="Calibri"/>
                <a:cs typeface="Calibri"/>
              </a:rPr>
              <a:t>conoce </a:t>
            </a:r>
            <a:r>
              <a:rPr sz="1800" spc="-10" dirty="0">
                <a:latin typeface="Calibri"/>
                <a:cs typeface="Calibri"/>
              </a:rPr>
              <a:t>con certeza </a:t>
            </a:r>
            <a:r>
              <a:rPr sz="1800" dirty="0">
                <a:latin typeface="Calibri"/>
                <a:cs typeface="Calibri"/>
              </a:rPr>
              <a:t>el  </a:t>
            </a:r>
            <a:r>
              <a:rPr sz="1800" spc="-5" dirty="0">
                <a:latin typeface="Calibri"/>
                <a:cs typeface="Calibri"/>
              </a:rPr>
              <a:t>impacto </a:t>
            </a:r>
            <a:r>
              <a:rPr sz="1800" dirty="0">
                <a:latin typeface="Calibri"/>
                <a:cs typeface="Calibri"/>
              </a:rPr>
              <a:t>que puedan </a:t>
            </a:r>
            <a:r>
              <a:rPr sz="1800" spc="-30" dirty="0">
                <a:latin typeface="Calibri"/>
                <a:cs typeface="Calibri"/>
              </a:rPr>
              <a:t>tener, </a:t>
            </a:r>
            <a:r>
              <a:rPr sz="1800" spc="-15" dirty="0">
                <a:latin typeface="Calibri"/>
                <a:cs typeface="Calibri"/>
              </a:rPr>
              <a:t>pero, </a:t>
            </a:r>
            <a:r>
              <a:rPr sz="1800" spc="-10" dirty="0">
                <a:latin typeface="Calibri"/>
                <a:cs typeface="Calibri"/>
              </a:rPr>
              <a:t>conforme </a:t>
            </a:r>
            <a:r>
              <a:rPr sz="1800" spc="-15" dirty="0">
                <a:latin typeface="Calibri"/>
                <a:cs typeface="Calibri"/>
              </a:rPr>
              <a:t>avanza </a:t>
            </a:r>
            <a:r>
              <a:rPr sz="1800" spc="-5" dirty="0">
                <a:latin typeface="Calibri"/>
                <a:cs typeface="Calibri"/>
              </a:rPr>
              <a:t>su construcción </a:t>
            </a:r>
            <a:r>
              <a:rPr sz="1800" dirty="0">
                <a:latin typeface="Calibri"/>
                <a:cs typeface="Calibri"/>
              </a:rPr>
              <a:t>se puede </a:t>
            </a:r>
            <a:r>
              <a:rPr sz="1800" spc="-10" dirty="0">
                <a:latin typeface="Calibri"/>
                <a:cs typeface="Calibri"/>
              </a:rPr>
              <a:t>detectar </a:t>
            </a:r>
            <a:r>
              <a:rPr sz="1800" spc="-5" dirty="0">
                <a:latin typeface="Calibri"/>
                <a:cs typeface="Calibri"/>
              </a:rPr>
              <a:t>si  </a:t>
            </a:r>
            <a:r>
              <a:rPr sz="1800" dirty="0">
                <a:latin typeface="Calibri"/>
                <a:cs typeface="Calibri"/>
              </a:rPr>
              <a:t>tienen </a:t>
            </a:r>
            <a:r>
              <a:rPr sz="1800" spc="-5" dirty="0">
                <a:latin typeface="Calibri"/>
                <a:cs typeface="Calibri"/>
              </a:rPr>
              <a:t>el potencial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convertirse </a:t>
            </a:r>
            <a:r>
              <a:rPr sz="1800" spc="-5" dirty="0">
                <a:latin typeface="Calibri"/>
                <a:cs typeface="Calibri"/>
              </a:rPr>
              <a:t>en </a:t>
            </a:r>
            <a:r>
              <a:rPr sz="1800" spc="-10" dirty="0">
                <a:latin typeface="Calibri"/>
                <a:cs typeface="Calibri"/>
              </a:rPr>
              <a:t>pieza clave </a:t>
            </a:r>
            <a:r>
              <a:rPr sz="1800" dirty="0">
                <a:latin typeface="Calibri"/>
                <a:cs typeface="Calibri"/>
              </a:rPr>
              <a:t>de una </a:t>
            </a:r>
            <a:r>
              <a:rPr sz="1800" spc="-5" dirty="0">
                <a:latin typeface="Calibri"/>
                <a:cs typeface="Calibri"/>
              </a:rPr>
              <a:t>operación </a:t>
            </a:r>
            <a:r>
              <a:rPr sz="1800" spc="-10" dirty="0">
                <a:latin typeface="Calibri"/>
                <a:cs typeface="Calibri"/>
              </a:rPr>
              <a:t>completamente  </a:t>
            </a:r>
            <a:r>
              <a:rPr sz="1800" spc="-5" dirty="0">
                <a:latin typeface="Calibri"/>
                <a:cs typeface="Calibri"/>
              </a:rPr>
              <a:t>rediseñada. </a:t>
            </a:r>
            <a:r>
              <a:rPr sz="1800" dirty="0">
                <a:latin typeface="Calibri"/>
                <a:cs typeface="Calibri"/>
              </a:rPr>
              <a:t>No </a:t>
            </a:r>
            <a:r>
              <a:rPr sz="1800" spc="-5" dirty="0">
                <a:latin typeface="Calibri"/>
                <a:cs typeface="Calibri"/>
              </a:rPr>
              <a:t>implican necesariamente el desarrollo desde </a:t>
            </a:r>
            <a:r>
              <a:rPr sz="1800" spc="-10" dirty="0">
                <a:latin typeface="Calibri"/>
                <a:cs typeface="Calibri"/>
              </a:rPr>
              <a:t>cero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toda </a:t>
            </a:r>
            <a:r>
              <a:rPr sz="1800" dirty="0">
                <a:latin typeface="Calibri"/>
                <a:cs typeface="Calibri"/>
              </a:rPr>
              <a:t>la </a:t>
            </a:r>
            <a:r>
              <a:rPr sz="1800" spc="-5" dirty="0">
                <a:latin typeface="Calibri"/>
                <a:cs typeface="Calibri"/>
              </a:rPr>
              <a:t>tecnología,  se </a:t>
            </a:r>
            <a:r>
              <a:rPr sz="1800" dirty="0">
                <a:latin typeface="Calibri"/>
                <a:cs typeface="Calibri"/>
              </a:rPr>
              <a:t>puede </a:t>
            </a:r>
            <a:r>
              <a:rPr sz="1800" spc="-5" dirty="0">
                <a:latin typeface="Calibri"/>
                <a:cs typeface="Calibri"/>
              </a:rPr>
              <a:t>partir </a:t>
            </a:r>
            <a:r>
              <a:rPr sz="1800" dirty="0">
                <a:latin typeface="Calibri"/>
                <a:cs typeface="Calibri"/>
              </a:rPr>
              <a:t>de una </a:t>
            </a:r>
            <a:r>
              <a:rPr sz="1800" spc="-5" dirty="0">
                <a:latin typeface="Calibri"/>
                <a:cs typeface="Calibri"/>
              </a:rPr>
              <a:t>tecnología </a:t>
            </a:r>
            <a:r>
              <a:rPr sz="1800" spc="-15" dirty="0">
                <a:latin typeface="Calibri"/>
                <a:cs typeface="Calibri"/>
              </a:rPr>
              <a:t>existente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trabajar en complementarla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acuerdo </a:t>
            </a:r>
            <a:r>
              <a:rPr sz="1800" dirty="0">
                <a:latin typeface="Calibri"/>
                <a:cs typeface="Calibri"/>
              </a:rPr>
              <a:t>a  las necesidades. </a:t>
            </a:r>
            <a:r>
              <a:rPr sz="1800" spc="-20" dirty="0">
                <a:latin typeface="Calibri"/>
                <a:cs typeface="Calibri"/>
              </a:rPr>
              <a:t>Por</a:t>
            </a:r>
            <a:r>
              <a:rPr sz="1800" spc="3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ejemplo: </a:t>
            </a:r>
            <a:r>
              <a:rPr sz="1800" spc="-10" dirty="0">
                <a:latin typeface="Calibri"/>
                <a:cs typeface="Calibri"/>
              </a:rPr>
              <a:t>sustitución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código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barras con </a:t>
            </a:r>
            <a:r>
              <a:rPr sz="1800" dirty="0">
                <a:latin typeface="Calibri"/>
                <a:cs typeface="Calibri"/>
              </a:rPr>
              <a:t>RFID (</a:t>
            </a:r>
            <a:r>
              <a:rPr sz="1800" i="1" dirty="0">
                <a:latin typeface="Calibri"/>
                <a:cs typeface="Calibri"/>
              </a:rPr>
              <a:t>Radio  </a:t>
            </a:r>
            <a:r>
              <a:rPr sz="1800" i="1" spc="-5" dirty="0">
                <a:latin typeface="Calibri"/>
                <a:cs typeface="Calibri"/>
              </a:rPr>
              <a:t>Frequency Identification</a:t>
            </a:r>
            <a:r>
              <a:rPr sz="1800" spc="-5" dirty="0">
                <a:latin typeface="Calibri"/>
                <a:cs typeface="Calibri"/>
              </a:rPr>
              <a:t>)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desarrollo </a:t>
            </a:r>
            <a:r>
              <a:rPr sz="1800" dirty="0">
                <a:latin typeface="Calibri"/>
                <a:cs typeface="Calibri"/>
              </a:rPr>
              <a:t>de la </a:t>
            </a:r>
            <a:r>
              <a:rPr sz="1800" spc="-5" dirty="0">
                <a:latin typeface="Calibri"/>
                <a:cs typeface="Calibri"/>
              </a:rPr>
              <a:t>tecnología </a:t>
            </a:r>
            <a:r>
              <a:rPr sz="1800" spc="-10" dirty="0">
                <a:latin typeface="Calibri"/>
                <a:cs typeface="Calibri"/>
              </a:rPr>
              <a:t>para seguimiento automatizado  </a:t>
            </a:r>
            <a:r>
              <a:rPr sz="1800" dirty="0">
                <a:latin typeface="Calibri"/>
                <a:cs typeface="Calibri"/>
              </a:rPr>
              <a:t>de insumos, </a:t>
            </a:r>
            <a:r>
              <a:rPr sz="1800" spc="-10" dirty="0">
                <a:latin typeface="Calibri"/>
                <a:cs typeface="Calibri"/>
              </a:rPr>
              <a:t>subproductos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10" dirty="0">
                <a:latin typeface="Calibri"/>
                <a:cs typeface="Calibri"/>
              </a:rPr>
              <a:t>productos. </a:t>
            </a:r>
            <a:r>
              <a:rPr sz="1800" spc="-5" dirty="0">
                <a:latin typeface="Calibri"/>
                <a:cs typeface="Calibri"/>
              </a:rPr>
              <a:t>Como </a:t>
            </a:r>
            <a:r>
              <a:rPr sz="1800" dirty="0">
                <a:latin typeface="Calibri"/>
                <a:cs typeface="Calibri"/>
              </a:rPr>
              <a:t>la </a:t>
            </a:r>
            <a:r>
              <a:rPr sz="1800" spc="-5" dirty="0">
                <a:latin typeface="Calibri"/>
                <a:cs typeface="Calibri"/>
              </a:rPr>
              <a:t>tecnología </a:t>
            </a:r>
            <a:r>
              <a:rPr sz="1800" spc="-15" dirty="0">
                <a:latin typeface="Calibri"/>
                <a:cs typeface="Calibri"/>
              </a:rPr>
              <a:t>está </a:t>
            </a:r>
            <a:r>
              <a:rPr sz="1800" dirty="0">
                <a:latin typeface="Calibri"/>
                <a:cs typeface="Calibri"/>
              </a:rPr>
              <a:t>en </a:t>
            </a:r>
            <a:r>
              <a:rPr sz="1800" spc="-5" dirty="0">
                <a:latin typeface="Calibri"/>
                <a:cs typeface="Calibri"/>
              </a:rPr>
              <a:t>desarrollo </a:t>
            </a:r>
            <a:r>
              <a:rPr sz="1800" dirty="0">
                <a:latin typeface="Calibri"/>
                <a:cs typeface="Calibri"/>
              </a:rPr>
              <a:t>y no </a:t>
            </a:r>
            <a:r>
              <a:rPr sz="1800" spc="-15" dirty="0">
                <a:latin typeface="Calibri"/>
                <a:cs typeface="Calibri"/>
              </a:rPr>
              <a:t>hay  </a:t>
            </a:r>
            <a:r>
              <a:rPr sz="1800" spc="-5" dirty="0">
                <a:latin typeface="Calibri"/>
                <a:cs typeface="Calibri"/>
              </a:rPr>
              <a:t>seguridad </a:t>
            </a:r>
            <a:r>
              <a:rPr sz="1800" dirty="0">
                <a:latin typeface="Calibri"/>
                <a:cs typeface="Calibri"/>
              </a:rPr>
              <a:t>de que </a:t>
            </a:r>
            <a:r>
              <a:rPr sz="1800" spc="-5" dirty="0">
                <a:latin typeface="Calibri"/>
                <a:cs typeface="Calibri"/>
              </a:rPr>
              <a:t>funcione </a:t>
            </a:r>
            <a:r>
              <a:rPr sz="1800" spc="-10" dirty="0">
                <a:latin typeface="Calibri"/>
                <a:cs typeface="Calibri"/>
              </a:rPr>
              <a:t>como </a:t>
            </a:r>
            <a:r>
              <a:rPr sz="1800" spc="-5" dirty="0">
                <a:latin typeface="Calibri"/>
                <a:cs typeface="Calibri"/>
              </a:rPr>
              <a:t>se espera,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5" dirty="0">
                <a:latin typeface="Calibri"/>
                <a:cs typeface="Calibri"/>
              </a:rPr>
              <a:t>impacto en </a:t>
            </a:r>
            <a:r>
              <a:rPr sz="1800" dirty="0">
                <a:latin typeface="Calibri"/>
                <a:cs typeface="Calibri"/>
              </a:rPr>
              <a:t>las </a:t>
            </a:r>
            <a:r>
              <a:rPr sz="1800" spc="-5" dirty="0">
                <a:latin typeface="Calibri"/>
                <a:cs typeface="Calibri"/>
              </a:rPr>
              <a:t>operaciones </a:t>
            </a:r>
            <a:r>
              <a:rPr sz="1800" dirty="0">
                <a:latin typeface="Calibri"/>
                <a:cs typeface="Calibri"/>
              </a:rPr>
              <a:t>actuales es  </a:t>
            </a:r>
            <a:r>
              <a:rPr sz="1800" spc="-5" dirty="0">
                <a:latin typeface="Calibri"/>
                <a:cs typeface="Calibri"/>
              </a:rPr>
              <a:t>bajo </a:t>
            </a:r>
            <a:r>
              <a:rPr sz="1800" spc="-15" dirty="0">
                <a:latin typeface="Calibri"/>
                <a:cs typeface="Calibri"/>
              </a:rPr>
              <a:t>hasta </a:t>
            </a:r>
            <a:r>
              <a:rPr sz="1800" dirty="0">
                <a:latin typeface="Calibri"/>
                <a:cs typeface="Calibri"/>
              </a:rPr>
              <a:t>que </a:t>
            </a:r>
            <a:r>
              <a:rPr sz="1800" spc="-5" dirty="0">
                <a:latin typeface="Calibri"/>
                <a:cs typeface="Calibri"/>
              </a:rPr>
              <a:t>se pruebe </a:t>
            </a:r>
            <a:r>
              <a:rPr sz="1800" dirty="0">
                <a:latin typeface="Calibri"/>
                <a:cs typeface="Calibri"/>
              </a:rPr>
              <a:t>lo </a:t>
            </a:r>
            <a:r>
              <a:rPr sz="1800" spc="-10" dirty="0">
                <a:latin typeface="Calibri"/>
                <a:cs typeface="Calibri"/>
              </a:rPr>
              <a:t>contrario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el </a:t>
            </a:r>
            <a:r>
              <a:rPr sz="1800" spc="-15" dirty="0">
                <a:latin typeface="Calibri"/>
                <a:cs typeface="Calibri"/>
              </a:rPr>
              <a:t>proyecto </a:t>
            </a:r>
            <a:r>
              <a:rPr sz="1800" spc="-5" dirty="0">
                <a:latin typeface="Calibri"/>
                <a:cs typeface="Calibri"/>
              </a:rPr>
              <a:t>se </a:t>
            </a:r>
            <a:r>
              <a:rPr sz="1800" spc="-10" dirty="0">
                <a:latin typeface="Calibri"/>
                <a:cs typeface="Calibri"/>
              </a:rPr>
              <a:t>convierta </a:t>
            </a:r>
            <a:r>
              <a:rPr sz="1800" spc="-5" dirty="0">
                <a:latin typeface="Calibri"/>
                <a:cs typeface="Calibri"/>
              </a:rPr>
              <a:t>en</a:t>
            </a:r>
            <a:r>
              <a:rPr sz="1800" spc="19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estratégico.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50355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Organización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en el área de Sistemas</a:t>
            </a:r>
            <a:r>
              <a:rPr sz="2000" b="1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Diseño estructural del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área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Sistemas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378965"/>
            <a:ext cx="5325110" cy="4223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18465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Usualmente </a:t>
            </a:r>
            <a:r>
              <a:rPr sz="3200" spc="-5" dirty="0">
                <a:latin typeface="Calibri"/>
                <a:cs typeface="Calibri"/>
              </a:rPr>
              <a:t>la </a:t>
            </a:r>
            <a:r>
              <a:rPr sz="3200" spc="-15" dirty="0">
                <a:latin typeface="Calibri"/>
                <a:cs typeface="Calibri"/>
              </a:rPr>
              <a:t>organización  </a:t>
            </a:r>
            <a:r>
              <a:rPr sz="3200" spc="-5" dirty="0">
                <a:latin typeface="Calibri"/>
                <a:cs typeface="Calibri"/>
              </a:rPr>
              <a:t>del </a:t>
            </a:r>
            <a:r>
              <a:rPr sz="3200" spc="-15" dirty="0">
                <a:latin typeface="Calibri"/>
                <a:cs typeface="Calibri"/>
              </a:rPr>
              <a:t>área </a:t>
            </a:r>
            <a:r>
              <a:rPr sz="3200" spc="-5" dirty="0">
                <a:latin typeface="Calibri"/>
                <a:cs typeface="Calibri"/>
              </a:rPr>
              <a:t>de SI sigue a la  </a:t>
            </a:r>
            <a:r>
              <a:rPr sz="3200" spc="-15" dirty="0">
                <a:latin typeface="Calibri"/>
                <a:cs typeface="Calibri"/>
              </a:rPr>
              <a:t>arquitectura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definida:</a:t>
            </a:r>
            <a:endParaRPr sz="3200">
              <a:latin typeface="Calibri"/>
              <a:cs typeface="Calibri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700"/>
              </a:spcBef>
              <a:buFont typeface="Arial"/>
              <a:buChar char="–"/>
              <a:tabLst>
                <a:tab pos="755650" algn="l"/>
              </a:tabLst>
            </a:pPr>
            <a:r>
              <a:rPr sz="2800" b="1" i="1" spc="-10" dirty="0">
                <a:latin typeface="Calibri"/>
                <a:cs typeface="Calibri"/>
              </a:rPr>
              <a:t>Organización centralizada</a:t>
            </a:r>
            <a:r>
              <a:rPr sz="2800" spc="-10" dirty="0">
                <a:latin typeface="Calibri"/>
                <a:cs typeface="Calibri"/>
              </a:rPr>
              <a:t>: </a:t>
            </a:r>
            <a:r>
              <a:rPr sz="2800" spc="-5" dirty="0">
                <a:latin typeface="Calibri"/>
                <a:cs typeface="Calibri"/>
              </a:rPr>
              <a:t>una  </a:t>
            </a:r>
            <a:r>
              <a:rPr sz="2800" spc="-10" dirty="0">
                <a:latin typeface="Calibri"/>
                <a:cs typeface="Calibri"/>
              </a:rPr>
              <a:t>única área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Sistemas </a:t>
            </a:r>
            <a:r>
              <a:rPr sz="2800" spc="-5" dirty="0">
                <a:latin typeface="Calibri"/>
                <a:cs typeface="Calibri"/>
              </a:rPr>
              <a:t>de  </a:t>
            </a:r>
            <a:r>
              <a:rPr sz="2800" spc="-10" dirty="0">
                <a:latin typeface="Calibri"/>
                <a:cs typeface="Calibri"/>
              </a:rPr>
              <a:t>Información </a:t>
            </a:r>
            <a:r>
              <a:rPr sz="2800" spc="-5" dirty="0">
                <a:latin typeface="Calibri"/>
                <a:cs typeface="Calibri"/>
              </a:rPr>
              <a:t>brinda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servicios</a:t>
            </a:r>
            <a:endParaRPr sz="2800">
              <a:latin typeface="Calibri"/>
              <a:cs typeface="Calibri"/>
            </a:endParaRPr>
          </a:p>
          <a:p>
            <a:pPr marL="755650" marR="19050" lvl="1" indent="-285750" algn="just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5650" algn="l"/>
              </a:tabLst>
            </a:pPr>
            <a:r>
              <a:rPr sz="2800" b="1" i="1" spc="-10" dirty="0">
                <a:latin typeface="Calibri"/>
                <a:cs typeface="Calibri"/>
              </a:rPr>
              <a:t>Organización descentralizada</a:t>
            </a:r>
            <a:r>
              <a:rPr sz="2800" spc="-10" dirty="0">
                <a:latin typeface="Calibri"/>
                <a:cs typeface="Calibri"/>
              </a:rPr>
              <a:t>:  cada </a:t>
            </a:r>
            <a:r>
              <a:rPr sz="2800" dirty="0">
                <a:latin typeface="Calibri"/>
                <a:cs typeface="Calibri"/>
              </a:rPr>
              <a:t>Unidad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Negocios </a:t>
            </a:r>
            <a:r>
              <a:rPr sz="2800" spc="-5" dirty="0">
                <a:latin typeface="Calibri"/>
                <a:cs typeface="Calibri"/>
              </a:rPr>
              <a:t>tiene  su </a:t>
            </a:r>
            <a:r>
              <a:rPr sz="2800" spc="-15" dirty="0">
                <a:latin typeface="Calibri"/>
                <a:cs typeface="Calibri"/>
              </a:rPr>
              <a:t>propia </a:t>
            </a:r>
            <a:r>
              <a:rPr sz="2800" spc="-10" dirty="0">
                <a:latin typeface="Calibri"/>
                <a:cs typeface="Calibri"/>
              </a:rPr>
              <a:t>área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SI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96000" y="1447800"/>
            <a:ext cx="2557272" cy="2238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79175" y="4104566"/>
            <a:ext cx="2729042" cy="19130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55</a:t>
            </a:fld>
            <a:endParaRPr spc="-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3216" y="1829180"/>
            <a:ext cx="1295400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30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sz="1800" spc="-5" dirty="0">
                <a:latin typeface="Calibri"/>
                <a:cs typeface="Calibri"/>
              </a:rPr>
              <a:t>CEO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77998" y="3200780"/>
            <a:ext cx="1287145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3035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1205"/>
              </a:spcBef>
            </a:pPr>
            <a:r>
              <a:rPr sz="1800" spc="-5" dirty="0">
                <a:latin typeface="Calibri"/>
                <a:cs typeface="Calibri"/>
              </a:rPr>
              <a:t>CIO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16935" y="2438400"/>
            <a:ext cx="2133600" cy="762000"/>
          </a:xfrm>
          <a:custGeom>
            <a:avLst/>
            <a:gdLst/>
            <a:ahLst/>
            <a:cxnLst/>
            <a:rect l="l" t="t" r="r" b="b"/>
            <a:pathLst>
              <a:path w="2133600" h="762000">
                <a:moveTo>
                  <a:pt x="0" y="762000"/>
                </a:moveTo>
                <a:lnTo>
                  <a:pt x="0" y="381000"/>
                </a:lnTo>
                <a:lnTo>
                  <a:pt x="2133600" y="381000"/>
                </a:lnTo>
                <a:lnTo>
                  <a:pt x="21336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03216" y="3200780"/>
            <a:ext cx="1295400" cy="609600"/>
          </a:xfrm>
          <a:custGeom>
            <a:avLst/>
            <a:gdLst/>
            <a:ahLst/>
            <a:cxnLst/>
            <a:rect l="l" t="t" r="r" b="b"/>
            <a:pathLst>
              <a:path w="1295400" h="609600">
                <a:moveTo>
                  <a:pt x="0" y="609600"/>
                </a:moveTo>
                <a:lnTo>
                  <a:pt x="1295400" y="609600"/>
                </a:lnTo>
                <a:lnTo>
                  <a:pt x="12954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403216" y="3200780"/>
            <a:ext cx="1295400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30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sz="1800" spc="-5" dirty="0">
                <a:latin typeface="Calibri"/>
                <a:cs typeface="Calibri"/>
              </a:rPr>
              <a:t>CFO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44440" y="2444495"/>
            <a:ext cx="12700" cy="762000"/>
          </a:xfrm>
          <a:custGeom>
            <a:avLst/>
            <a:gdLst/>
            <a:ahLst/>
            <a:cxnLst/>
            <a:rect l="l" t="t" r="r" b="b"/>
            <a:pathLst>
              <a:path w="12700" h="762000">
                <a:moveTo>
                  <a:pt x="0" y="762000"/>
                </a:moveTo>
                <a:lnTo>
                  <a:pt x="0" y="381000"/>
                </a:lnTo>
                <a:lnTo>
                  <a:pt x="12700" y="381000"/>
                </a:lnTo>
                <a:lnTo>
                  <a:pt x="127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84416" y="3200780"/>
            <a:ext cx="1295400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30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sz="1800" spc="-5" dirty="0">
                <a:latin typeface="Calibri"/>
                <a:cs typeface="Calibri"/>
              </a:rPr>
              <a:t>COO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50535" y="2438400"/>
            <a:ext cx="1981200" cy="762000"/>
          </a:xfrm>
          <a:custGeom>
            <a:avLst/>
            <a:gdLst/>
            <a:ahLst/>
            <a:cxnLst/>
            <a:rect l="l" t="t" r="r" b="b"/>
            <a:pathLst>
              <a:path w="1981200" h="762000">
                <a:moveTo>
                  <a:pt x="1981199" y="762000"/>
                </a:moveTo>
                <a:lnTo>
                  <a:pt x="1981199" y="381000"/>
                </a:lnTo>
                <a:lnTo>
                  <a:pt x="0" y="381000"/>
                </a:lnTo>
                <a:lnTo>
                  <a:pt x="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308847" y="3290061"/>
            <a:ext cx="23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9980" y="4724780"/>
            <a:ext cx="1668145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16839" marR="100965" indent="162560">
              <a:lnSpc>
                <a:spcPct val="100000"/>
              </a:lnSpc>
              <a:spcBef>
                <a:spcPts val="125"/>
              </a:spcBef>
            </a:pPr>
            <a:r>
              <a:rPr sz="1800" spc="-5" dirty="0">
                <a:latin typeface="Calibri"/>
                <a:cs typeface="Calibri"/>
              </a:rPr>
              <a:t>Desarrollo </a:t>
            </a:r>
            <a:r>
              <a:rPr sz="1800" dirty="0">
                <a:latin typeface="Calibri"/>
                <a:cs typeface="Calibri"/>
              </a:rPr>
              <a:t>y  ma</a:t>
            </a:r>
            <a:r>
              <a:rPr sz="1800" spc="5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tenimiento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47800" y="3810000"/>
            <a:ext cx="1469390" cy="914400"/>
          </a:xfrm>
          <a:custGeom>
            <a:avLst/>
            <a:gdLst/>
            <a:ahLst/>
            <a:cxnLst/>
            <a:rect l="l" t="t" r="r" b="b"/>
            <a:pathLst>
              <a:path w="1469389" h="914400">
                <a:moveTo>
                  <a:pt x="0" y="914400"/>
                </a:moveTo>
                <a:lnTo>
                  <a:pt x="0" y="457200"/>
                </a:lnTo>
                <a:lnTo>
                  <a:pt x="1469008" y="457200"/>
                </a:lnTo>
                <a:lnTo>
                  <a:pt x="1469008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91180" y="4724780"/>
            <a:ext cx="1676400" cy="609600"/>
          </a:xfrm>
          <a:custGeom>
            <a:avLst/>
            <a:gdLst/>
            <a:ahLst/>
            <a:cxnLst/>
            <a:rect l="l" t="t" r="r" b="b"/>
            <a:pathLst>
              <a:path w="1676400" h="609600">
                <a:moveTo>
                  <a:pt x="0" y="609600"/>
                </a:moveTo>
                <a:lnTo>
                  <a:pt x="1676399" y="609600"/>
                </a:lnTo>
                <a:lnTo>
                  <a:pt x="1676399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591180" y="4724780"/>
            <a:ext cx="1676400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3035" rIns="0" bIns="0" rtlCol="0">
            <a:spAutoFit/>
          </a:bodyPr>
          <a:lstStyle/>
          <a:p>
            <a:pPr marL="252729">
              <a:lnSpc>
                <a:spcPct val="100000"/>
              </a:lnSpc>
              <a:spcBef>
                <a:spcPts val="1205"/>
              </a:spcBef>
            </a:pPr>
            <a:r>
              <a:rPr sz="1800" spc="-5" dirty="0">
                <a:latin typeface="Calibri"/>
                <a:cs typeface="Calibri"/>
              </a:rPr>
              <a:t>Operaciones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16935" y="3810000"/>
            <a:ext cx="512445" cy="914400"/>
          </a:xfrm>
          <a:custGeom>
            <a:avLst/>
            <a:gdLst/>
            <a:ahLst/>
            <a:cxnLst/>
            <a:rect l="l" t="t" r="r" b="b"/>
            <a:pathLst>
              <a:path w="512445" h="914400">
                <a:moveTo>
                  <a:pt x="512190" y="914400"/>
                </a:moveTo>
                <a:lnTo>
                  <a:pt x="512190" y="457200"/>
                </a:lnTo>
                <a:lnTo>
                  <a:pt x="0" y="457200"/>
                </a:lnTo>
                <a:lnTo>
                  <a:pt x="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648580" y="4724780"/>
            <a:ext cx="1676400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800" dirty="0">
                <a:latin typeface="Calibri"/>
                <a:cs typeface="Calibri"/>
              </a:rPr>
              <a:t>Mesa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ayuda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/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soporte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916935" y="3810000"/>
            <a:ext cx="2569845" cy="914400"/>
          </a:xfrm>
          <a:custGeom>
            <a:avLst/>
            <a:gdLst/>
            <a:ahLst/>
            <a:cxnLst/>
            <a:rect l="l" t="t" r="r" b="b"/>
            <a:pathLst>
              <a:path w="2569845" h="914400">
                <a:moveTo>
                  <a:pt x="2569591" y="914400"/>
                </a:moveTo>
                <a:lnTo>
                  <a:pt x="2569591" y="457200"/>
                </a:lnTo>
                <a:lnTo>
                  <a:pt x="0" y="457200"/>
                </a:lnTo>
                <a:lnTo>
                  <a:pt x="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844283" y="4814316"/>
            <a:ext cx="23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56</a:t>
            </a:fld>
            <a:endParaRPr spc="-5" dirty="0"/>
          </a:p>
        </p:txBody>
      </p:sp>
      <p:sp>
        <p:nvSpPr>
          <p:cNvPr id="19" name="object 19"/>
          <p:cNvSpPr txBox="1"/>
          <p:nvPr/>
        </p:nvSpPr>
        <p:spPr>
          <a:xfrm>
            <a:off x="250190" y="193801"/>
            <a:ext cx="5071110" cy="1336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Organización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en el área de Sistemas</a:t>
            </a:r>
            <a:r>
              <a:rPr sz="2000" b="1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4826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Diseño estructural del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área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 Sistemas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10" dirty="0">
                <a:latin typeface="Calibri"/>
                <a:cs typeface="Calibri"/>
              </a:rPr>
              <a:t>Estructura</a:t>
            </a:r>
            <a:r>
              <a:rPr sz="2800" b="1" spc="-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Centralizada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190" y="193801"/>
            <a:ext cx="5071110" cy="1336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Organización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en el área de Sistemas</a:t>
            </a:r>
            <a:r>
              <a:rPr sz="2000" b="1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4826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Diseño estructural del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área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 Sistemas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10" dirty="0">
                <a:latin typeface="Calibri"/>
                <a:cs typeface="Calibri"/>
              </a:rPr>
              <a:t>Estructura Descentralizada</a:t>
            </a:r>
            <a:r>
              <a:rPr sz="2800" b="1" spc="-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(1)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3216" y="1829180"/>
            <a:ext cx="1295400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30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sz="1800" spc="-5" dirty="0">
                <a:latin typeface="Calibri"/>
                <a:cs typeface="Calibri"/>
              </a:rPr>
              <a:t>CEO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7998" y="3200780"/>
            <a:ext cx="1287145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433705" marR="260985" indent="-175260">
              <a:lnSpc>
                <a:spcPct val="100000"/>
              </a:lnSpc>
              <a:spcBef>
                <a:spcPts val="125"/>
              </a:spcBef>
            </a:pPr>
            <a:r>
              <a:rPr sz="1800" spc="-5" dirty="0">
                <a:latin typeface="Calibri"/>
                <a:cs typeface="Calibri"/>
              </a:rPr>
              <a:t>Director  </a:t>
            </a:r>
            <a:r>
              <a:rPr sz="1800" dirty="0">
                <a:latin typeface="Calibri"/>
                <a:cs typeface="Calibri"/>
              </a:rPr>
              <a:t>UN1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16935" y="2438400"/>
            <a:ext cx="2133600" cy="762000"/>
          </a:xfrm>
          <a:custGeom>
            <a:avLst/>
            <a:gdLst/>
            <a:ahLst/>
            <a:cxnLst/>
            <a:rect l="l" t="t" r="r" b="b"/>
            <a:pathLst>
              <a:path w="2133600" h="762000">
                <a:moveTo>
                  <a:pt x="0" y="762000"/>
                </a:moveTo>
                <a:lnTo>
                  <a:pt x="0" y="381000"/>
                </a:lnTo>
                <a:lnTo>
                  <a:pt x="2133600" y="381000"/>
                </a:lnTo>
                <a:lnTo>
                  <a:pt x="21336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03216" y="3200780"/>
            <a:ext cx="1295400" cy="609600"/>
          </a:xfrm>
          <a:custGeom>
            <a:avLst/>
            <a:gdLst/>
            <a:ahLst/>
            <a:cxnLst/>
            <a:rect l="l" t="t" r="r" b="b"/>
            <a:pathLst>
              <a:path w="1295400" h="609600">
                <a:moveTo>
                  <a:pt x="0" y="609600"/>
                </a:moveTo>
                <a:lnTo>
                  <a:pt x="1295400" y="609600"/>
                </a:lnTo>
                <a:lnTo>
                  <a:pt x="12954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403216" y="3200780"/>
            <a:ext cx="1295400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442595" marR="260985" indent="-175260">
              <a:lnSpc>
                <a:spcPct val="100000"/>
              </a:lnSpc>
              <a:spcBef>
                <a:spcPts val="125"/>
              </a:spcBef>
            </a:pPr>
            <a:r>
              <a:rPr sz="1800" spc="-5" dirty="0">
                <a:latin typeface="Calibri"/>
                <a:cs typeface="Calibri"/>
              </a:rPr>
              <a:t>Director  </a:t>
            </a:r>
            <a:r>
              <a:rPr sz="1800" dirty="0">
                <a:latin typeface="Calibri"/>
                <a:cs typeface="Calibri"/>
              </a:rPr>
              <a:t>UN2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44440" y="2444495"/>
            <a:ext cx="12700" cy="762000"/>
          </a:xfrm>
          <a:custGeom>
            <a:avLst/>
            <a:gdLst/>
            <a:ahLst/>
            <a:cxnLst/>
            <a:rect l="l" t="t" r="r" b="b"/>
            <a:pathLst>
              <a:path w="12700" h="762000">
                <a:moveTo>
                  <a:pt x="0" y="762000"/>
                </a:moveTo>
                <a:lnTo>
                  <a:pt x="0" y="381000"/>
                </a:lnTo>
                <a:lnTo>
                  <a:pt x="12700" y="381000"/>
                </a:lnTo>
                <a:lnTo>
                  <a:pt x="127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84416" y="3200780"/>
            <a:ext cx="1295400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441959" marR="260985" indent="-175260">
              <a:lnSpc>
                <a:spcPct val="100000"/>
              </a:lnSpc>
              <a:spcBef>
                <a:spcPts val="125"/>
              </a:spcBef>
            </a:pPr>
            <a:r>
              <a:rPr sz="1800" spc="-5" dirty="0">
                <a:latin typeface="Calibri"/>
                <a:cs typeface="Calibri"/>
              </a:rPr>
              <a:t>Director  </a:t>
            </a:r>
            <a:r>
              <a:rPr sz="1800" dirty="0">
                <a:latin typeface="Calibri"/>
                <a:cs typeface="Calibri"/>
              </a:rPr>
              <a:t>UN3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50535" y="2438400"/>
            <a:ext cx="1981200" cy="762000"/>
          </a:xfrm>
          <a:custGeom>
            <a:avLst/>
            <a:gdLst/>
            <a:ahLst/>
            <a:cxnLst/>
            <a:rect l="l" t="t" r="r" b="b"/>
            <a:pathLst>
              <a:path w="1981200" h="762000">
                <a:moveTo>
                  <a:pt x="1981199" y="762000"/>
                </a:moveTo>
                <a:lnTo>
                  <a:pt x="1981199" y="381000"/>
                </a:lnTo>
                <a:lnTo>
                  <a:pt x="0" y="381000"/>
                </a:lnTo>
                <a:lnTo>
                  <a:pt x="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308847" y="3290061"/>
            <a:ext cx="23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980" y="4724780"/>
            <a:ext cx="1668145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3035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205"/>
              </a:spcBef>
            </a:pPr>
            <a:r>
              <a:rPr sz="1800" spc="-5" dirty="0">
                <a:latin typeface="Calibri"/>
                <a:cs typeface="Calibri"/>
              </a:rPr>
              <a:t>CIO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47800" y="3810000"/>
            <a:ext cx="1469390" cy="914400"/>
          </a:xfrm>
          <a:custGeom>
            <a:avLst/>
            <a:gdLst/>
            <a:ahLst/>
            <a:cxnLst/>
            <a:rect l="l" t="t" r="r" b="b"/>
            <a:pathLst>
              <a:path w="1469389" h="914400">
                <a:moveTo>
                  <a:pt x="0" y="914400"/>
                </a:moveTo>
                <a:lnTo>
                  <a:pt x="0" y="457200"/>
                </a:lnTo>
                <a:lnTo>
                  <a:pt x="1469008" y="457200"/>
                </a:lnTo>
                <a:lnTo>
                  <a:pt x="1469008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91180" y="4724780"/>
            <a:ext cx="1676400" cy="609600"/>
          </a:xfrm>
          <a:custGeom>
            <a:avLst/>
            <a:gdLst/>
            <a:ahLst/>
            <a:cxnLst/>
            <a:rect l="l" t="t" r="r" b="b"/>
            <a:pathLst>
              <a:path w="1676400" h="609600">
                <a:moveTo>
                  <a:pt x="0" y="609600"/>
                </a:moveTo>
                <a:lnTo>
                  <a:pt x="1676399" y="609600"/>
                </a:lnTo>
                <a:lnTo>
                  <a:pt x="1676399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91180" y="4724780"/>
            <a:ext cx="1676400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30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sz="1800" spc="-5" dirty="0">
                <a:latin typeface="Calibri"/>
                <a:cs typeface="Calibri"/>
              </a:rPr>
              <a:t>CFO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16935" y="3810000"/>
            <a:ext cx="512445" cy="914400"/>
          </a:xfrm>
          <a:custGeom>
            <a:avLst/>
            <a:gdLst/>
            <a:ahLst/>
            <a:cxnLst/>
            <a:rect l="l" t="t" r="r" b="b"/>
            <a:pathLst>
              <a:path w="512445" h="914400">
                <a:moveTo>
                  <a:pt x="512190" y="914400"/>
                </a:moveTo>
                <a:lnTo>
                  <a:pt x="512190" y="457200"/>
                </a:lnTo>
                <a:lnTo>
                  <a:pt x="0" y="457200"/>
                </a:lnTo>
                <a:lnTo>
                  <a:pt x="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648580" y="4724780"/>
            <a:ext cx="1676400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30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sz="1800" spc="-5" dirty="0">
                <a:latin typeface="Calibri"/>
                <a:cs typeface="Calibri"/>
              </a:rPr>
              <a:t>CMO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16935" y="3810000"/>
            <a:ext cx="2569845" cy="914400"/>
          </a:xfrm>
          <a:custGeom>
            <a:avLst/>
            <a:gdLst/>
            <a:ahLst/>
            <a:cxnLst/>
            <a:rect l="l" t="t" r="r" b="b"/>
            <a:pathLst>
              <a:path w="2569845" h="914400">
                <a:moveTo>
                  <a:pt x="2569591" y="914400"/>
                </a:moveTo>
                <a:lnTo>
                  <a:pt x="2569591" y="457200"/>
                </a:lnTo>
                <a:lnTo>
                  <a:pt x="0" y="457200"/>
                </a:lnTo>
                <a:lnTo>
                  <a:pt x="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844283" y="4814316"/>
            <a:ext cx="23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57</a:t>
            </a:fld>
            <a:endParaRPr spc="-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190" y="193801"/>
            <a:ext cx="5071110" cy="1336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Organización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en el área de Sistemas</a:t>
            </a:r>
            <a:r>
              <a:rPr sz="2000" b="1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4826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Diseño estructural del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área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 Sistemas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10" dirty="0">
                <a:latin typeface="Calibri"/>
                <a:cs typeface="Calibri"/>
              </a:rPr>
              <a:t>Estructura Descentralizada</a:t>
            </a:r>
            <a:r>
              <a:rPr sz="2800" b="1" spc="-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(2)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3216" y="1829180"/>
            <a:ext cx="1295400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30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sz="1800" spc="-5" dirty="0">
                <a:latin typeface="Calibri"/>
                <a:cs typeface="Calibri"/>
              </a:rPr>
              <a:t>CEO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7998" y="3200780"/>
            <a:ext cx="1287145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433705" marR="260985" indent="-175260">
              <a:lnSpc>
                <a:spcPct val="100000"/>
              </a:lnSpc>
              <a:spcBef>
                <a:spcPts val="125"/>
              </a:spcBef>
            </a:pPr>
            <a:r>
              <a:rPr sz="1800" spc="-5" dirty="0">
                <a:latin typeface="Calibri"/>
                <a:cs typeface="Calibri"/>
              </a:rPr>
              <a:t>Director  </a:t>
            </a:r>
            <a:r>
              <a:rPr sz="1800" dirty="0">
                <a:latin typeface="Calibri"/>
                <a:cs typeface="Calibri"/>
              </a:rPr>
              <a:t>UN1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16935" y="2438400"/>
            <a:ext cx="2133600" cy="762000"/>
          </a:xfrm>
          <a:custGeom>
            <a:avLst/>
            <a:gdLst/>
            <a:ahLst/>
            <a:cxnLst/>
            <a:rect l="l" t="t" r="r" b="b"/>
            <a:pathLst>
              <a:path w="2133600" h="762000">
                <a:moveTo>
                  <a:pt x="0" y="762000"/>
                </a:moveTo>
                <a:lnTo>
                  <a:pt x="0" y="381000"/>
                </a:lnTo>
                <a:lnTo>
                  <a:pt x="2133600" y="381000"/>
                </a:lnTo>
                <a:lnTo>
                  <a:pt x="21336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03216" y="3200780"/>
            <a:ext cx="1295400" cy="609600"/>
          </a:xfrm>
          <a:custGeom>
            <a:avLst/>
            <a:gdLst/>
            <a:ahLst/>
            <a:cxnLst/>
            <a:rect l="l" t="t" r="r" b="b"/>
            <a:pathLst>
              <a:path w="1295400" h="609600">
                <a:moveTo>
                  <a:pt x="0" y="609600"/>
                </a:moveTo>
                <a:lnTo>
                  <a:pt x="1295400" y="609600"/>
                </a:lnTo>
                <a:lnTo>
                  <a:pt x="12954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403216" y="3200780"/>
            <a:ext cx="1295400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442595" marR="260985" indent="-175260">
              <a:lnSpc>
                <a:spcPct val="100000"/>
              </a:lnSpc>
              <a:spcBef>
                <a:spcPts val="125"/>
              </a:spcBef>
            </a:pPr>
            <a:r>
              <a:rPr sz="1800" spc="-5" dirty="0">
                <a:latin typeface="Calibri"/>
                <a:cs typeface="Calibri"/>
              </a:rPr>
              <a:t>Director  </a:t>
            </a:r>
            <a:r>
              <a:rPr sz="1800" dirty="0">
                <a:latin typeface="Calibri"/>
                <a:cs typeface="Calibri"/>
              </a:rPr>
              <a:t>UN2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44440" y="2444495"/>
            <a:ext cx="12700" cy="762000"/>
          </a:xfrm>
          <a:custGeom>
            <a:avLst/>
            <a:gdLst/>
            <a:ahLst/>
            <a:cxnLst/>
            <a:rect l="l" t="t" r="r" b="b"/>
            <a:pathLst>
              <a:path w="12700" h="762000">
                <a:moveTo>
                  <a:pt x="0" y="762000"/>
                </a:moveTo>
                <a:lnTo>
                  <a:pt x="0" y="381000"/>
                </a:lnTo>
                <a:lnTo>
                  <a:pt x="12700" y="381000"/>
                </a:lnTo>
                <a:lnTo>
                  <a:pt x="127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48780" y="3200780"/>
            <a:ext cx="1828800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09855" marR="104139" indent="423545">
              <a:lnSpc>
                <a:spcPct val="100000"/>
              </a:lnSpc>
              <a:spcBef>
                <a:spcPts val="125"/>
              </a:spcBef>
            </a:pPr>
            <a:r>
              <a:rPr sz="1800" spc="-5" dirty="0">
                <a:latin typeface="Calibri"/>
                <a:cs typeface="Calibri"/>
              </a:rPr>
              <a:t>Director  Corporativo de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50535" y="2438400"/>
            <a:ext cx="2112645" cy="762000"/>
          </a:xfrm>
          <a:custGeom>
            <a:avLst/>
            <a:gdLst/>
            <a:ahLst/>
            <a:cxnLst/>
            <a:rect l="l" t="t" r="r" b="b"/>
            <a:pathLst>
              <a:path w="2112645" h="762000">
                <a:moveTo>
                  <a:pt x="2112391" y="762000"/>
                </a:moveTo>
                <a:lnTo>
                  <a:pt x="2112391" y="381000"/>
                </a:lnTo>
                <a:lnTo>
                  <a:pt x="0" y="381000"/>
                </a:lnTo>
                <a:lnTo>
                  <a:pt x="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308847" y="3290061"/>
            <a:ext cx="23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980" y="4724780"/>
            <a:ext cx="1668145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3035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205"/>
              </a:spcBef>
            </a:pPr>
            <a:r>
              <a:rPr sz="1800" spc="-5" dirty="0">
                <a:latin typeface="Calibri"/>
                <a:cs typeface="Calibri"/>
              </a:rPr>
              <a:t>CIO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47800" y="3810000"/>
            <a:ext cx="1469390" cy="914400"/>
          </a:xfrm>
          <a:custGeom>
            <a:avLst/>
            <a:gdLst/>
            <a:ahLst/>
            <a:cxnLst/>
            <a:rect l="l" t="t" r="r" b="b"/>
            <a:pathLst>
              <a:path w="1469389" h="914400">
                <a:moveTo>
                  <a:pt x="0" y="914400"/>
                </a:moveTo>
                <a:lnTo>
                  <a:pt x="0" y="457200"/>
                </a:lnTo>
                <a:lnTo>
                  <a:pt x="1469008" y="457200"/>
                </a:lnTo>
                <a:lnTo>
                  <a:pt x="1469008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91180" y="4724780"/>
            <a:ext cx="1676400" cy="609600"/>
          </a:xfrm>
          <a:custGeom>
            <a:avLst/>
            <a:gdLst/>
            <a:ahLst/>
            <a:cxnLst/>
            <a:rect l="l" t="t" r="r" b="b"/>
            <a:pathLst>
              <a:path w="1676400" h="609600">
                <a:moveTo>
                  <a:pt x="0" y="609600"/>
                </a:moveTo>
                <a:lnTo>
                  <a:pt x="1676399" y="609600"/>
                </a:lnTo>
                <a:lnTo>
                  <a:pt x="1676399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91180" y="4724780"/>
            <a:ext cx="1676400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30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sz="1800" spc="-5" dirty="0">
                <a:latin typeface="Calibri"/>
                <a:cs typeface="Calibri"/>
              </a:rPr>
              <a:t>CFO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16935" y="3810000"/>
            <a:ext cx="512445" cy="914400"/>
          </a:xfrm>
          <a:custGeom>
            <a:avLst/>
            <a:gdLst/>
            <a:ahLst/>
            <a:cxnLst/>
            <a:rect l="l" t="t" r="r" b="b"/>
            <a:pathLst>
              <a:path w="512445" h="914400">
                <a:moveTo>
                  <a:pt x="512190" y="914400"/>
                </a:moveTo>
                <a:lnTo>
                  <a:pt x="512190" y="457200"/>
                </a:lnTo>
                <a:lnTo>
                  <a:pt x="0" y="457200"/>
                </a:lnTo>
                <a:lnTo>
                  <a:pt x="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648580" y="4724780"/>
            <a:ext cx="1676400" cy="6096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1530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sz="1800" spc="-5" dirty="0">
                <a:latin typeface="Calibri"/>
                <a:cs typeface="Calibri"/>
              </a:rPr>
              <a:t>CMO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16935" y="3810000"/>
            <a:ext cx="2569845" cy="914400"/>
          </a:xfrm>
          <a:custGeom>
            <a:avLst/>
            <a:gdLst/>
            <a:ahLst/>
            <a:cxnLst/>
            <a:rect l="l" t="t" r="r" b="b"/>
            <a:pathLst>
              <a:path w="2569845" h="914400">
                <a:moveTo>
                  <a:pt x="2569591" y="914400"/>
                </a:moveTo>
                <a:lnTo>
                  <a:pt x="2569591" y="457200"/>
                </a:lnTo>
                <a:lnTo>
                  <a:pt x="0" y="457200"/>
                </a:lnTo>
                <a:lnTo>
                  <a:pt x="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844283" y="4814316"/>
            <a:ext cx="23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58</a:t>
            </a:fld>
            <a:endParaRPr spc="-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50355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Organización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en el área de Sistemas</a:t>
            </a:r>
            <a:r>
              <a:rPr sz="2000" b="1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Misiones y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funciones del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área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Sistemas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277668"/>
            <a:ext cx="5486400" cy="434911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509"/>
              </a:spcBef>
              <a:buAutoNum type="arabicPeriod"/>
              <a:tabLst>
                <a:tab pos="526415" algn="l"/>
                <a:tab pos="527050" algn="l"/>
              </a:tabLst>
            </a:pPr>
            <a:r>
              <a:rPr sz="3200" spc="-10" dirty="0">
                <a:latin typeface="Calibri"/>
                <a:cs typeface="Calibri"/>
              </a:rPr>
              <a:t>CIO</a:t>
            </a:r>
            <a:endParaRPr sz="3200">
              <a:latin typeface="Calibri"/>
              <a:cs typeface="Calibri"/>
            </a:endParaRPr>
          </a:p>
          <a:p>
            <a:pPr marL="755650" marR="5080" lvl="1" indent="-285750">
              <a:lnSpc>
                <a:spcPts val="3020"/>
              </a:lnSpc>
              <a:spcBef>
                <a:spcPts val="750"/>
              </a:spcBef>
              <a:buFont typeface="Arial"/>
              <a:buChar char="–"/>
              <a:tabLst>
                <a:tab pos="755650" algn="l"/>
              </a:tabLst>
            </a:pPr>
            <a:r>
              <a:rPr sz="2800" spc="-15" dirty="0">
                <a:latin typeface="Calibri"/>
                <a:cs typeface="Calibri"/>
              </a:rPr>
              <a:t>Integración, </a:t>
            </a:r>
            <a:r>
              <a:rPr sz="2800" spc="-10" dirty="0">
                <a:latin typeface="Calibri"/>
                <a:cs typeface="Calibri"/>
              </a:rPr>
              <a:t>coordinación </a:t>
            </a:r>
            <a:r>
              <a:rPr sz="2800" dirty="0">
                <a:latin typeface="Calibri"/>
                <a:cs typeface="Calibri"/>
              </a:rPr>
              <a:t>y  </a:t>
            </a:r>
            <a:r>
              <a:rPr sz="2800" spc="-15" dirty="0">
                <a:latin typeface="Calibri"/>
                <a:cs typeface="Calibri"/>
              </a:rPr>
              <a:t>eficiente </a:t>
            </a:r>
            <a:r>
              <a:rPr sz="2800" spc="-10" dirty="0">
                <a:latin typeface="Calibri"/>
                <a:cs typeface="Calibri"/>
              </a:rPr>
              <a:t>utilización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los  </a:t>
            </a:r>
            <a:r>
              <a:rPr sz="2800" spc="-15" dirty="0">
                <a:latin typeface="Calibri"/>
                <a:cs typeface="Calibri"/>
              </a:rPr>
              <a:t>recursos informáticos </a:t>
            </a:r>
            <a:r>
              <a:rPr sz="2800" spc="-5" dirty="0">
                <a:latin typeface="Calibri"/>
                <a:cs typeface="Calibri"/>
              </a:rPr>
              <a:t>necesarios  </a:t>
            </a:r>
            <a:r>
              <a:rPr sz="2800" spc="-20" dirty="0">
                <a:latin typeface="Calibri"/>
                <a:cs typeface="Calibri"/>
              </a:rPr>
              <a:t>y/o </a:t>
            </a:r>
            <a:r>
              <a:rPr sz="2800" spc="-5" dirty="0">
                <a:latin typeface="Calibri"/>
                <a:cs typeface="Calibri"/>
              </a:rPr>
              <a:t>disponibles </a:t>
            </a:r>
            <a:r>
              <a:rPr sz="2800" dirty="0">
                <a:latin typeface="Calibri"/>
                <a:cs typeface="Calibri"/>
              </a:rPr>
              <a:t>en la  </a:t>
            </a:r>
            <a:r>
              <a:rPr sz="2800" spc="-15" dirty="0">
                <a:latin typeface="Calibri"/>
                <a:cs typeface="Calibri"/>
              </a:rPr>
              <a:t>organización</a:t>
            </a:r>
            <a:endParaRPr sz="2800">
              <a:latin typeface="Calibri"/>
              <a:cs typeface="Calibri"/>
            </a:endParaRPr>
          </a:p>
          <a:p>
            <a:pPr marL="527050" indent="-514350">
              <a:lnSpc>
                <a:spcPct val="100000"/>
              </a:lnSpc>
              <a:spcBef>
                <a:spcPts val="330"/>
              </a:spcBef>
              <a:buAutoNum type="arabicPeriod"/>
              <a:tabLst>
                <a:tab pos="526415" algn="l"/>
                <a:tab pos="527050" algn="l"/>
              </a:tabLst>
            </a:pPr>
            <a:r>
              <a:rPr sz="3200" spc="-10" dirty="0">
                <a:latin typeface="Calibri"/>
                <a:cs typeface="Calibri"/>
              </a:rPr>
              <a:t>Administración </a:t>
            </a:r>
            <a:r>
              <a:rPr sz="3200" spc="-5" dirty="0">
                <a:latin typeface="Calibri"/>
                <a:cs typeface="Calibri"/>
              </a:rPr>
              <a:t>de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seguridad</a:t>
            </a:r>
            <a:endParaRPr sz="3200">
              <a:latin typeface="Calibri"/>
              <a:cs typeface="Calibri"/>
            </a:endParaRPr>
          </a:p>
          <a:p>
            <a:pPr marL="755650" marR="113030" lvl="1" indent="-285750">
              <a:lnSpc>
                <a:spcPts val="3020"/>
              </a:lnSpc>
              <a:spcBef>
                <a:spcPts val="745"/>
              </a:spcBef>
              <a:buFont typeface="Arial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Prevenir </a:t>
            </a:r>
            <a:r>
              <a:rPr sz="2800" spc="-20" dirty="0">
                <a:latin typeface="Calibri"/>
                <a:cs typeface="Calibri"/>
              </a:rPr>
              <a:t>eventos contra </a:t>
            </a:r>
            <a:r>
              <a:rPr sz="2800" dirty="0">
                <a:latin typeface="Calibri"/>
                <a:cs typeface="Calibri"/>
              </a:rPr>
              <a:t>la  </a:t>
            </a:r>
            <a:r>
              <a:rPr sz="2800" spc="-10" dirty="0">
                <a:latin typeface="Calibri"/>
                <a:cs typeface="Calibri"/>
              </a:rPr>
              <a:t>integridad </a:t>
            </a:r>
            <a:r>
              <a:rPr sz="2800" dirty="0">
                <a:latin typeface="Calibri"/>
                <a:cs typeface="Calibri"/>
              </a:rPr>
              <a:t>y </a:t>
            </a:r>
            <a:r>
              <a:rPr sz="2800" spc="-10" dirty="0">
                <a:latin typeface="Calibri"/>
                <a:cs typeface="Calibri"/>
              </a:rPr>
              <a:t>confidencialidad </a:t>
            </a:r>
            <a:r>
              <a:rPr sz="2800" spc="-5" dirty="0">
                <a:latin typeface="Calibri"/>
                <a:cs typeface="Calibri"/>
              </a:rPr>
              <a:t>de  </a:t>
            </a:r>
            <a:r>
              <a:rPr sz="2800" spc="-15" dirty="0"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68746" y="1219200"/>
            <a:ext cx="2819400" cy="2819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56197" y="4354067"/>
            <a:ext cx="2514600" cy="1799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59</a:t>
            </a:fld>
            <a:endParaRPr spc="-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0355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III – </a:t>
            </a:r>
            <a:r>
              <a:rPr spc="-10" dirty="0"/>
              <a:t>Organización </a:t>
            </a:r>
            <a:r>
              <a:rPr spc="-5" dirty="0"/>
              <a:t>en el área de Sistemas</a:t>
            </a:r>
            <a:r>
              <a:rPr spc="135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dirty="0">
                <a:latin typeface="Calibri"/>
                <a:cs typeface="Calibri"/>
              </a:rPr>
              <a:t>Misiones y </a:t>
            </a:r>
            <a:r>
              <a:rPr sz="1800" b="0" spc="-5" dirty="0">
                <a:latin typeface="Calibri"/>
                <a:cs typeface="Calibri"/>
              </a:rPr>
              <a:t>funciones del </a:t>
            </a:r>
            <a:r>
              <a:rPr sz="1800" b="0" dirty="0">
                <a:latin typeface="Calibri"/>
                <a:cs typeface="Calibri"/>
              </a:rPr>
              <a:t>área </a:t>
            </a:r>
            <a:r>
              <a:rPr sz="1800" b="0" spc="-5" dirty="0">
                <a:latin typeface="Calibri"/>
                <a:cs typeface="Calibri"/>
              </a:rPr>
              <a:t>de Sistemas</a:t>
            </a:r>
            <a:r>
              <a:rPr sz="1800" b="0" spc="45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1228406"/>
            <a:ext cx="7356252" cy="5049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60</a:t>
            </a:fld>
            <a:endParaRPr spc="-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50355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Organización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en el área de Sistemas</a:t>
            </a:r>
            <a:r>
              <a:rPr sz="2000" b="1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Misiones y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funciones del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área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 Sistemas</a:t>
            </a:r>
            <a:r>
              <a:rPr sz="18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277668"/>
            <a:ext cx="5973445" cy="443420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527050" indent="-514350" algn="just">
              <a:lnSpc>
                <a:spcPct val="100000"/>
              </a:lnSpc>
              <a:spcBef>
                <a:spcPts val="509"/>
              </a:spcBef>
              <a:buAutoNum type="arabicPeriod" startAt="3"/>
              <a:tabLst>
                <a:tab pos="527050" algn="l"/>
              </a:tabLst>
            </a:pPr>
            <a:r>
              <a:rPr sz="3200" spc="-15" dirty="0">
                <a:latin typeface="Calibri"/>
                <a:cs typeface="Calibri"/>
              </a:rPr>
              <a:t>Desarrollo </a:t>
            </a:r>
            <a:r>
              <a:rPr sz="3200" spc="-5" dirty="0">
                <a:latin typeface="Calibri"/>
                <a:cs typeface="Calibri"/>
              </a:rPr>
              <a:t>y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mantenimiento</a:t>
            </a:r>
            <a:endParaRPr sz="3200">
              <a:latin typeface="Calibri"/>
              <a:cs typeface="Calibri"/>
            </a:endParaRPr>
          </a:p>
          <a:p>
            <a:pPr marL="755650" marR="1253490" lvl="1" indent="-285750" algn="just">
              <a:lnSpc>
                <a:spcPts val="3020"/>
              </a:lnSpc>
              <a:spcBef>
                <a:spcPts val="750"/>
              </a:spcBef>
              <a:buFont typeface="Arial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Desarrollo: </a:t>
            </a:r>
            <a:r>
              <a:rPr sz="2800" dirty="0">
                <a:latin typeface="Calibri"/>
                <a:cs typeface="Calibri"/>
              </a:rPr>
              <a:t>Análisis, </a:t>
            </a:r>
            <a:r>
              <a:rPr sz="2800" spc="-15" dirty="0">
                <a:latin typeface="Calibri"/>
                <a:cs typeface="Calibri"/>
              </a:rPr>
              <a:t>diseño,  desarrollo, </a:t>
            </a:r>
            <a:r>
              <a:rPr sz="2800" spc="-10" dirty="0">
                <a:latin typeface="Calibri"/>
                <a:cs typeface="Calibri"/>
              </a:rPr>
              <a:t>implantación </a:t>
            </a:r>
            <a:r>
              <a:rPr sz="2800" spc="-5" dirty="0">
                <a:latin typeface="Calibri"/>
                <a:cs typeface="Calibri"/>
              </a:rPr>
              <a:t>de  aplicaciones</a:t>
            </a:r>
            <a:endParaRPr sz="2800">
              <a:latin typeface="Calibri"/>
              <a:cs typeface="Calibri"/>
            </a:endParaRPr>
          </a:p>
          <a:p>
            <a:pPr marL="755650" marR="766445" lvl="1" indent="-285750" algn="just">
              <a:lnSpc>
                <a:spcPts val="3020"/>
              </a:lnSpc>
              <a:spcBef>
                <a:spcPts val="680"/>
              </a:spcBef>
              <a:buFont typeface="Arial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Mantenimiento: seguimiento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  </a:t>
            </a:r>
            <a:r>
              <a:rPr sz="2800" spc="-20" dirty="0">
                <a:latin typeface="Calibri"/>
                <a:cs typeface="Calibri"/>
              </a:rPr>
              <a:t>control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aplicaciones</a:t>
            </a:r>
            <a:endParaRPr sz="2800">
              <a:latin typeface="Calibri"/>
              <a:cs typeface="Calibri"/>
            </a:endParaRPr>
          </a:p>
          <a:p>
            <a:pPr marL="527050" indent="-514350" algn="just">
              <a:lnSpc>
                <a:spcPct val="100000"/>
              </a:lnSpc>
              <a:spcBef>
                <a:spcPts val="320"/>
              </a:spcBef>
              <a:buAutoNum type="arabicPeriod" startAt="3"/>
              <a:tabLst>
                <a:tab pos="527050" algn="l"/>
              </a:tabLst>
            </a:pPr>
            <a:r>
              <a:rPr sz="3200" spc="-10" dirty="0">
                <a:latin typeface="Calibri"/>
                <a:cs typeface="Calibri"/>
              </a:rPr>
              <a:t>Operaciones </a:t>
            </a:r>
            <a:r>
              <a:rPr sz="3200" spc="-5" dirty="0">
                <a:latin typeface="Calibri"/>
                <a:cs typeface="Calibri"/>
              </a:rPr>
              <a:t>y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producción</a:t>
            </a:r>
            <a:endParaRPr sz="3200">
              <a:latin typeface="Calibri"/>
              <a:cs typeface="Calibri"/>
            </a:endParaRPr>
          </a:p>
          <a:p>
            <a:pPr marL="755650" marR="5080" lvl="1" indent="-285750" algn="just">
              <a:lnSpc>
                <a:spcPts val="3020"/>
              </a:lnSpc>
              <a:spcBef>
                <a:spcPts val="750"/>
              </a:spcBef>
              <a:buFont typeface="Arial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Planeamiento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15" dirty="0">
                <a:latin typeface="Calibri"/>
                <a:cs typeface="Calibri"/>
              </a:rPr>
              <a:t>tareas, </a:t>
            </a:r>
            <a:r>
              <a:rPr sz="2800" spc="-10" dirty="0">
                <a:latin typeface="Calibri"/>
                <a:cs typeface="Calibri"/>
              </a:rPr>
              <a:t>producción 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información, operaciones </a:t>
            </a:r>
            <a:r>
              <a:rPr sz="2800" spc="-5" dirty="0">
                <a:latin typeface="Calibri"/>
                <a:cs typeface="Calibri"/>
              </a:rPr>
              <a:t>diarias  </a:t>
            </a:r>
            <a:r>
              <a:rPr sz="2800" dirty="0">
                <a:latin typeface="Calibri"/>
                <a:cs typeface="Calibri"/>
              </a:rPr>
              <a:t>en </a:t>
            </a:r>
            <a:r>
              <a:rPr sz="2800" spc="-15" dirty="0">
                <a:latin typeface="Calibri"/>
                <a:cs typeface="Calibri"/>
              </a:rPr>
              <a:t>centro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cómputos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29981" y="1137666"/>
            <a:ext cx="2480618" cy="25709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77000" y="3768090"/>
            <a:ext cx="2401824" cy="8801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62571" y="4745735"/>
            <a:ext cx="1595627" cy="15948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61</a:t>
            </a:fld>
            <a:endParaRPr spc="-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50355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Organización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en el área de Sistemas</a:t>
            </a:r>
            <a:r>
              <a:rPr sz="2000" b="1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Misiones y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funciones del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área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 Sistemas</a:t>
            </a:r>
            <a:r>
              <a:rPr sz="18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138936"/>
            <a:ext cx="6017895" cy="4502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95"/>
              </a:spcBef>
              <a:buAutoNum type="arabicPeriod" startAt="5"/>
              <a:tabLst>
                <a:tab pos="526415" algn="l"/>
                <a:tab pos="527050" algn="l"/>
              </a:tabLst>
            </a:pPr>
            <a:r>
              <a:rPr sz="3200" spc="-15" dirty="0">
                <a:latin typeface="Calibri"/>
                <a:cs typeface="Calibri"/>
              </a:rPr>
              <a:t>Infraestructura </a:t>
            </a:r>
            <a:r>
              <a:rPr sz="3200" spc="-5" dirty="0">
                <a:latin typeface="Calibri"/>
                <a:cs typeface="Calibri"/>
              </a:rPr>
              <a:t>y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comunicaciones</a:t>
            </a:r>
            <a:endParaRPr sz="3200">
              <a:latin typeface="Calibri"/>
              <a:cs typeface="Calibri"/>
            </a:endParaRPr>
          </a:p>
          <a:p>
            <a:pPr marL="755650" marR="1553845" lvl="1" indent="-285750">
              <a:lnSpc>
                <a:spcPts val="2690"/>
              </a:lnSpc>
              <a:spcBef>
                <a:spcPts val="665"/>
              </a:spcBef>
              <a:buFont typeface="Arial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Planificar </a:t>
            </a:r>
            <a:r>
              <a:rPr sz="2800" spc="-20" dirty="0">
                <a:latin typeface="Calibri"/>
                <a:cs typeface="Calibri"/>
              </a:rPr>
              <a:t>estrategia </a:t>
            </a:r>
            <a:r>
              <a:rPr sz="2800" spc="-5" dirty="0">
                <a:latin typeface="Calibri"/>
                <a:cs typeface="Calibri"/>
              </a:rPr>
              <a:t>de  </a:t>
            </a:r>
            <a:r>
              <a:rPr sz="2800" spc="-10" dirty="0">
                <a:latin typeface="Calibri"/>
                <a:cs typeface="Calibri"/>
              </a:rPr>
              <a:t>comunicaciones </a:t>
            </a:r>
            <a:r>
              <a:rPr sz="2800" dirty="0">
                <a:latin typeface="Calibri"/>
                <a:cs typeface="Calibri"/>
              </a:rPr>
              <a:t>y </a:t>
            </a:r>
            <a:r>
              <a:rPr sz="2800" spc="-10" dirty="0">
                <a:latin typeface="Calibri"/>
                <a:cs typeface="Calibri"/>
              </a:rPr>
              <a:t>evaluar  </a:t>
            </a:r>
            <a:r>
              <a:rPr sz="2800" spc="-5" dirty="0">
                <a:latin typeface="Calibri"/>
                <a:cs typeface="Calibri"/>
              </a:rPr>
              <a:t>necesidades de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negocio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ts val="3350"/>
              </a:lnSpc>
              <a:spcBef>
                <a:spcPts val="20"/>
              </a:spcBef>
              <a:buFont typeface="Arial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Administrar redes </a:t>
            </a:r>
            <a:r>
              <a:rPr sz="2800" spc="-5" dirty="0">
                <a:latin typeface="Calibri"/>
                <a:cs typeface="Calibri"/>
              </a:rPr>
              <a:t>(LAN,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WAN)</a:t>
            </a:r>
            <a:endParaRPr sz="2800">
              <a:latin typeface="Calibri"/>
              <a:cs typeface="Calibri"/>
            </a:endParaRPr>
          </a:p>
          <a:p>
            <a:pPr marL="527050" indent="-514350">
              <a:lnSpc>
                <a:spcPts val="3829"/>
              </a:lnSpc>
              <a:buAutoNum type="arabicPeriod" startAt="5"/>
              <a:tabLst>
                <a:tab pos="526415" algn="l"/>
                <a:tab pos="527050" algn="l"/>
              </a:tabLst>
            </a:pPr>
            <a:r>
              <a:rPr sz="3200" spc="-10" dirty="0">
                <a:latin typeface="Calibri"/>
                <a:cs typeface="Calibri"/>
              </a:rPr>
              <a:t>Administración </a:t>
            </a:r>
            <a:r>
              <a:rPr sz="3000" spc="-5" dirty="0">
                <a:latin typeface="Calibri"/>
                <a:cs typeface="Calibri"/>
              </a:rPr>
              <a:t>de bases de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datos</a:t>
            </a:r>
            <a:endParaRPr sz="3000">
              <a:latin typeface="Calibri"/>
              <a:cs typeface="Calibri"/>
            </a:endParaRPr>
          </a:p>
          <a:p>
            <a:pPr marL="755650" marR="1110615" lvl="1" indent="-285750">
              <a:lnSpc>
                <a:spcPts val="2690"/>
              </a:lnSpc>
              <a:spcBef>
                <a:spcPts val="660"/>
              </a:spcBef>
              <a:buFont typeface="Arial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Participar </a:t>
            </a:r>
            <a:r>
              <a:rPr sz="2800" dirty="0">
                <a:latin typeface="Calibri"/>
                <a:cs typeface="Calibri"/>
              </a:rPr>
              <a:t>en el </a:t>
            </a:r>
            <a:r>
              <a:rPr sz="2800" spc="-10" dirty="0">
                <a:latin typeface="Calibri"/>
                <a:cs typeface="Calibri"/>
              </a:rPr>
              <a:t>desarrollo </a:t>
            </a:r>
            <a:r>
              <a:rPr sz="2800" spc="-5" dirty="0">
                <a:latin typeface="Calibri"/>
                <a:cs typeface="Calibri"/>
              </a:rPr>
              <a:t>de  aplicaciones</a:t>
            </a:r>
            <a:endParaRPr sz="2800">
              <a:latin typeface="Calibri"/>
              <a:cs typeface="Calibri"/>
            </a:endParaRPr>
          </a:p>
          <a:p>
            <a:pPr marL="755650" marR="319405" lvl="1" indent="-285750">
              <a:lnSpc>
                <a:spcPts val="2690"/>
              </a:lnSpc>
              <a:spcBef>
                <a:spcPts val="670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Planear y </a:t>
            </a:r>
            <a:r>
              <a:rPr sz="2800" spc="-5" dirty="0">
                <a:latin typeface="Calibri"/>
                <a:cs typeface="Calibri"/>
              </a:rPr>
              <a:t>diseñar bases de </a:t>
            </a:r>
            <a:r>
              <a:rPr sz="2800" spc="-15" dirty="0">
                <a:latin typeface="Calibri"/>
                <a:cs typeface="Calibri"/>
              </a:rPr>
              <a:t>datos </a:t>
            </a:r>
            <a:r>
              <a:rPr sz="2800" dirty="0">
                <a:latin typeface="Calibri"/>
                <a:cs typeface="Calibri"/>
              </a:rPr>
              <a:t>y  </a:t>
            </a:r>
            <a:r>
              <a:rPr sz="2800" spc="-5" dirty="0">
                <a:latin typeface="Calibri"/>
                <a:cs typeface="Calibri"/>
              </a:rPr>
              <a:t>almacenes de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0"/>
              </a:spcBef>
              <a:buFont typeface="Arial"/>
              <a:buChar char="–"/>
              <a:tabLst>
                <a:tab pos="755650" algn="l"/>
              </a:tabLst>
            </a:pPr>
            <a:r>
              <a:rPr sz="2800" spc="-15" dirty="0">
                <a:latin typeface="Calibri"/>
                <a:cs typeface="Calibri"/>
              </a:rPr>
              <a:t>Organización </a:t>
            </a:r>
            <a:r>
              <a:rPr sz="2800" spc="-5" dirty="0">
                <a:latin typeface="Calibri"/>
                <a:cs typeface="Calibri"/>
              </a:rPr>
              <a:t>de base de</a:t>
            </a:r>
            <a:r>
              <a:rPr sz="2800" spc="-20" dirty="0">
                <a:latin typeface="Calibri"/>
                <a:cs typeface="Calibri"/>
              </a:rPr>
              <a:t> datos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53200" y="1371600"/>
            <a:ext cx="2290572" cy="1409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50152" y="2895600"/>
            <a:ext cx="2293620" cy="15346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58000" y="4609338"/>
            <a:ext cx="1694688" cy="16946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62</a:t>
            </a:fld>
            <a:endParaRPr spc="-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50355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Organización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en el área de Sistemas</a:t>
            </a:r>
            <a:r>
              <a:rPr sz="2000" b="1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Misiones y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funciones del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área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 Sistemas</a:t>
            </a:r>
            <a:r>
              <a:rPr sz="18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277668"/>
            <a:ext cx="5527040" cy="434911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509"/>
              </a:spcBef>
              <a:buAutoNum type="arabicPeriod" startAt="7"/>
              <a:tabLst>
                <a:tab pos="526415" algn="l"/>
                <a:tab pos="527050" algn="l"/>
              </a:tabLst>
            </a:pPr>
            <a:r>
              <a:rPr sz="3200" spc="-5" dirty="0">
                <a:latin typeface="Calibri"/>
                <a:cs typeface="Calibri"/>
              </a:rPr>
              <a:t>Mesa de </a:t>
            </a:r>
            <a:r>
              <a:rPr sz="3200" spc="-15" dirty="0">
                <a:latin typeface="Calibri"/>
                <a:cs typeface="Calibri"/>
              </a:rPr>
              <a:t>ayuda </a:t>
            </a:r>
            <a:r>
              <a:rPr sz="3200" spc="-5" dirty="0">
                <a:latin typeface="Calibri"/>
                <a:cs typeface="Calibri"/>
              </a:rPr>
              <a:t>/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soporte</a:t>
            </a:r>
            <a:endParaRPr sz="3200">
              <a:latin typeface="Calibri"/>
              <a:cs typeface="Calibri"/>
            </a:endParaRPr>
          </a:p>
          <a:p>
            <a:pPr marL="755650" marR="837565" lvl="1" indent="-285750">
              <a:lnSpc>
                <a:spcPts val="3020"/>
              </a:lnSpc>
              <a:spcBef>
                <a:spcPts val="750"/>
              </a:spcBef>
              <a:buFont typeface="Arial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Solucionan </a:t>
            </a:r>
            <a:r>
              <a:rPr sz="2800" spc="-10" dirty="0">
                <a:latin typeface="Calibri"/>
                <a:cs typeface="Calibri"/>
              </a:rPr>
              <a:t>dificultades </a:t>
            </a:r>
            <a:r>
              <a:rPr sz="2800" spc="-15" dirty="0">
                <a:latin typeface="Calibri"/>
                <a:cs typeface="Calibri"/>
              </a:rPr>
              <a:t>con  hardware, </a:t>
            </a:r>
            <a:r>
              <a:rPr sz="2800" spc="-10" dirty="0">
                <a:latin typeface="Calibri"/>
                <a:cs typeface="Calibri"/>
              </a:rPr>
              <a:t>software,  telecomunicaciones</a:t>
            </a:r>
            <a:endParaRPr sz="2800">
              <a:latin typeface="Calibri"/>
              <a:cs typeface="Calibri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 startAt="7"/>
              <a:tabLst>
                <a:tab pos="526415" algn="l"/>
                <a:tab pos="527050" algn="l"/>
              </a:tabLst>
            </a:pPr>
            <a:r>
              <a:rPr sz="3200" spc="-15" dirty="0">
                <a:latin typeface="Calibri"/>
                <a:cs typeface="Calibri"/>
              </a:rPr>
              <a:t>Organización </a:t>
            </a:r>
            <a:r>
              <a:rPr sz="3200" spc="-5" dirty="0">
                <a:latin typeface="Calibri"/>
                <a:cs typeface="Calibri"/>
              </a:rPr>
              <a:t>y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métodos</a:t>
            </a:r>
            <a:endParaRPr sz="3200">
              <a:latin typeface="Calibri"/>
              <a:cs typeface="Calibri"/>
            </a:endParaRPr>
          </a:p>
          <a:p>
            <a:pPr marL="755650" marR="5080" lvl="1" indent="-285750">
              <a:lnSpc>
                <a:spcPct val="90000"/>
              </a:lnSpc>
              <a:spcBef>
                <a:spcPts val="700"/>
              </a:spcBef>
              <a:buFont typeface="Arial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Análisis de </a:t>
            </a:r>
            <a:r>
              <a:rPr sz="2800" spc="-10" dirty="0">
                <a:latin typeface="Calibri"/>
                <a:cs typeface="Calibri"/>
              </a:rPr>
              <a:t>estructura, </a:t>
            </a:r>
            <a:r>
              <a:rPr sz="2800" spc="-5" dirty="0">
                <a:latin typeface="Calibri"/>
                <a:cs typeface="Calibri"/>
              </a:rPr>
              <a:t>funciones,  </a:t>
            </a:r>
            <a:r>
              <a:rPr sz="2800" spc="-10" dirty="0">
                <a:latin typeface="Calibri"/>
                <a:cs typeface="Calibri"/>
              </a:rPr>
              <a:t>circuitos </a:t>
            </a:r>
            <a:r>
              <a:rPr sz="2800" spc="-15" dirty="0">
                <a:latin typeface="Calibri"/>
                <a:cs typeface="Calibri"/>
              </a:rPr>
              <a:t>administrativos,  </a:t>
            </a:r>
            <a:r>
              <a:rPr sz="2800" spc="-10" dirty="0">
                <a:latin typeface="Calibri"/>
                <a:cs typeface="Calibri"/>
              </a:rPr>
              <a:t>formularios, </a:t>
            </a:r>
            <a:r>
              <a:rPr sz="2800" spc="-15" dirty="0">
                <a:latin typeface="Calibri"/>
                <a:cs typeface="Calibri"/>
              </a:rPr>
              <a:t>registros, </a:t>
            </a:r>
            <a:r>
              <a:rPr sz="2800" spc="-5" dirty="0">
                <a:latin typeface="Calibri"/>
                <a:cs typeface="Calibri"/>
              </a:rPr>
              <a:t>redacción  de </a:t>
            </a:r>
            <a:r>
              <a:rPr sz="2800" dirty="0">
                <a:latin typeface="Calibri"/>
                <a:cs typeface="Calibri"/>
              </a:rPr>
              <a:t>manuales y </a:t>
            </a:r>
            <a:r>
              <a:rPr sz="2800" spc="-15" dirty="0">
                <a:latin typeface="Calibri"/>
                <a:cs typeface="Calibri"/>
              </a:rPr>
              <a:t>procedimientos  administrativos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96000" y="1423415"/>
            <a:ext cx="2747772" cy="18204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0685" y="3627882"/>
            <a:ext cx="2359914" cy="2391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63</a:t>
            </a:fld>
            <a:endParaRPr spc="-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50355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Organización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en el área de Sistemas</a:t>
            </a:r>
            <a:r>
              <a:rPr sz="2000" b="1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Misiones y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funciones del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área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 Sistemas</a:t>
            </a:r>
            <a:r>
              <a:rPr sz="18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277668"/>
            <a:ext cx="5748655" cy="451993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509"/>
              </a:spcBef>
              <a:buAutoNum type="arabicPeriod" startAt="9"/>
              <a:tabLst>
                <a:tab pos="526415" algn="l"/>
                <a:tab pos="527050" algn="l"/>
              </a:tabLst>
            </a:pPr>
            <a:r>
              <a:rPr sz="3200" spc="-5" dirty="0">
                <a:latin typeface="Calibri"/>
                <a:cs typeface="Calibri"/>
              </a:rPr>
              <a:t>Análisis de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datos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65"/>
              </a:spcBef>
              <a:buFont typeface="Arial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Generación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15" dirty="0">
                <a:latin typeface="Calibri"/>
                <a:cs typeface="Calibri"/>
              </a:rPr>
              <a:t>informes </a:t>
            </a:r>
            <a:r>
              <a:rPr sz="2800" i="1" spc="-5" dirty="0">
                <a:latin typeface="Calibri"/>
                <a:cs typeface="Calibri"/>
              </a:rPr>
              <a:t>ad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hoc</a:t>
            </a:r>
            <a:endParaRPr sz="2800">
              <a:latin typeface="Calibri"/>
              <a:cs typeface="Calibri"/>
            </a:endParaRPr>
          </a:p>
          <a:p>
            <a:pPr marL="755650" marR="203835" lvl="1" indent="-285750">
              <a:lnSpc>
                <a:spcPts val="3020"/>
              </a:lnSpc>
              <a:spcBef>
                <a:spcPts val="720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Uso </a:t>
            </a:r>
            <a:r>
              <a:rPr sz="2800" spc="-15" dirty="0">
                <a:latin typeface="Calibri"/>
                <a:cs typeface="Calibri"/>
              </a:rPr>
              <a:t>integral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15" dirty="0">
                <a:latin typeface="Calibri"/>
                <a:cs typeface="Calibri"/>
              </a:rPr>
              <a:t>información  proveniente </a:t>
            </a:r>
            <a:r>
              <a:rPr sz="2800" spc="-10" dirty="0">
                <a:latin typeface="Calibri"/>
                <a:cs typeface="Calibri"/>
              </a:rPr>
              <a:t>del </a:t>
            </a:r>
            <a:r>
              <a:rPr sz="2800" dirty="0">
                <a:latin typeface="Calibri"/>
                <a:cs typeface="Calibri"/>
              </a:rPr>
              <a:t>cruce </a:t>
            </a:r>
            <a:r>
              <a:rPr sz="2800" spc="-5" dirty="0">
                <a:latin typeface="Calibri"/>
                <a:cs typeface="Calibri"/>
              </a:rPr>
              <a:t>de base de  </a:t>
            </a:r>
            <a:r>
              <a:rPr sz="2800" spc="-15" dirty="0"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marL="755650" marR="5080" lvl="1" indent="-285750">
              <a:lnSpc>
                <a:spcPts val="3030"/>
              </a:lnSpc>
              <a:spcBef>
                <a:spcPts val="675"/>
              </a:spcBef>
              <a:buFont typeface="Arial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Diseño </a:t>
            </a:r>
            <a:r>
              <a:rPr sz="2800" dirty="0">
                <a:latin typeface="Calibri"/>
                <a:cs typeface="Calibri"/>
              </a:rPr>
              <a:t>y </a:t>
            </a:r>
            <a:r>
              <a:rPr sz="2800" spc="-5" dirty="0">
                <a:latin typeface="Calibri"/>
                <a:cs typeface="Calibri"/>
              </a:rPr>
              <a:t>ejecución de aplicaciones  de minería de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marL="620395" indent="-608330">
              <a:lnSpc>
                <a:spcPct val="100000"/>
              </a:lnSpc>
              <a:spcBef>
                <a:spcPts val="305"/>
              </a:spcBef>
              <a:buAutoNum type="arabicPeriod" startAt="9"/>
              <a:tabLst>
                <a:tab pos="621030" algn="l"/>
              </a:tabLst>
            </a:pPr>
            <a:r>
              <a:rPr sz="3200" spc="-20" dirty="0">
                <a:latin typeface="Calibri"/>
                <a:cs typeface="Calibri"/>
              </a:rPr>
              <a:t>Proyectos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especiales</a:t>
            </a:r>
            <a:endParaRPr sz="3200">
              <a:latin typeface="Calibri"/>
              <a:cs typeface="Calibri"/>
            </a:endParaRPr>
          </a:p>
          <a:p>
            <a:pPr marL="755650" marR="1204595" lvl="1" indent="-285750">
              <a:lnSpc>
                <a:spcPts val="3020"/>
              </a:lnSpc>
              <a:spcBef>
                <a:spcPts val="750"/>
              </a:spcBef>
              <a:buFont typeface="Arial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Ejemplos: </a:t>
            </a:r>
            <a:r>
              <a:rPr sz="2800" spc="-10" dirty="0">
                <a:latin typeface="Calibri"/>
                <a:cs typeface="Calibri"/>
              </a:rPr>
              <a:t>creación </a:t>
            </a:r>
            <a:r>
              <a:rPr sz="2800" spc="-5" dirty="0">
                <a:latin typeface="Calibri"/>
                <a:cs typeface="Calibri"/>
              </a:rPr>
              <a:t>de una  aplicación </a:t>
            </a:r>
            <a:r>
              <a:rPr sz="2800" spc="-10" dirty="0">
                <a:latin typeface="Calibri"/>
                <a:cs typeface="Calibri"/>
              </a:rPr>
              <a:t>web, </a:t>
            </a:r>
            <a:r>
              <a:rPr sz="2800" dirty="0">
                <a:latin typeface="Calibri"/>
                <a:cs typeface="Calibri"/>
              </a:rPr>
              <a:t>ISO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9001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48400" y="1384553"/>
            <a:ext cx="2595372" cy="19187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66865" y="4130802"/>
            <a:ext cx="2676906" cy="21175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64</a:t>
            </a:fld>
            <a:endParaRPr spc="-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0355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III – </a:t>
            </a:r>
            <a:r>
              <a:rPr spc="-10" dirty="0"/>
              <a:t>Organización </a:t>
            </a:r>
            <a:r>
              <a:rPr spc="-5" dirty="0"/>
              <a:t>en el área de Sistemas</a:t>
            </a:r>
            <a:r>
              <a:rPr spc="135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dirty="0">
                <a:latin typeface="Calibri"/>
                <a:cs typeface="Calibri"/>
              </a:rPr>
              <a:t>Misiones y </a:t>
            </a:r>
            <a:r>
              <a:rPr sz="1800" b="0" spc="-5" dirty="0">
                <a:latin typeface="Calibri"/>
                <a:cs typeface="Calibri"/>
              </a:rPr>
              <a:t>funciones del </a:t>
            </a:r>
            <a:r>
              <a:rPr sz="1800" b="0" dirty="0">
                <a:latin typeface="Calibri"/>
                <a:cs typeface="Calibri"/>
              </a:rPr>
              <a:t>área </a:t>
            </a:r>
            <a:r>
              <a:rPr sz="1800" b="0" spc="-5" dirty="0">
                <a:latin typeface="Calibri"/>
                <a:cs typeface="Calibri"/>
              </a:rPr>
              <a:t>de Sistemas</a:t>
            </a:r>
            <a:r>
              <a:rPr sz="1800" b="0" spc="45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5969" y="1449442"/>
            <a:ext cx="5545767" cy="48083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400" y="1143000"/>
            <a:ext cx="982980" cy="1295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0" y="1409700"/>
            <a:ext cx="3972305" cy="19431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65</a:t>
            </a:fld>
            <a:endParaRPr spc="-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0355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III – </a:t>
            </a:r>
            <a:r>
              <a:rPr spc="-10" dirty="0"/>
              <a:t>Organización </a:t>
            </a:r>
            <a:r>
              <a:rPr spc="-5" dirty="0"/>
              <a:t>en el área de Sistemas</a:t>
            </a:r>
            <a:r>
              <a:rPr spc="135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dirty="0">
                <a:latin typeface="Calibri"/>
                <a:cs typeface="Calibri"/>
              </a:rPr>
              <a:t>Misiones y </a:t>
            </a:r>
            <a:r>
              <a:rPr sz="1800" b="0" spc="-5" dirty="0">
                <a:latin typeface="Calibri"/>
                <a:cs typeface="Calibri"/>
              </a:rPr>
              <a:t>funciones del </a:t>
            </a:r>
            <a:r>
              <a:rPr sz="1800" b="0" dirty="0">
                <a:latin typeface="Calibri"/>
                <a:cs typeface="Calibri"/>
              </a:rPr>
              <a:t>área </a:t>
            </a:r>
            <a:r>
              <a:rPr sz="1800" b="0" spc="-5" dirty="0">
                <a:latin typeface="Calibri"/>
                <a:cs typeface="Calibri"/>
              </a:rPr>
              <a:t>de Sistemas</a:t>
            </a:r>
            <a:r>
              <a:rPr sz="1800" b="0" spc="45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66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1140" y="1085596"/>
            <a:ext cx="8534400" cy="4935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95"/>
              </a:spcBef>
            </a:pPr>
            <a:r>
              <a:rPr sz="1800" b="1" spc="-5" dirty="0">
                <a:latin typeface="Calibri"/>
                <a:cs typeface="Calibri"/>
              </a:rPr>
              <a:t>Servicio </a:t>
            </a:r>
            <a:r>
              <a:rPr sz="1800" b="1" dirty="0">
                <a:latin typeface="Calibri"/>
                <a:cs typeface="Calibri"/>
              </a:rPr>
              <a:t>de </a:t>
            </a:r>
            <a:r>
              <a:rPr sz="1800" b="1" spc="-10" dirty="0">
                <a:latin typeface="Calibri"/>
                <a:cs typeface="Calibri"/>
              </a:rPr>
              <a:t>Aplicaciones Informáticas (SAI)</a:t>
            </a:r>
            <a:r>
              <a:rPr sz="1800" spc="-10" dirty="0">
                <a:latin typeface="Calibri"/>
                <a:cs typeface="Calibri"/>
              </a:rPr>
              <a:t>: </a:t>
            </a:r>
            <a:r>
              <a:rPr sz="1800" spc="-5" dirty="0">
                <a:latin typeface="Calibri"/>
                <a:cs typeface="Calibri"/>
              </a:rPr>
              <a:t>c</a:t>
            </a:r>
            <a:r>
              <a:rPr sz="1600" spc="-5" dirty="0">
                <a:latin typeface="Calibri"/>
                <a:cs typeface="Calibri"/>
              </a:rPr>
              <a:t>ontribuir </a:t>
            </a:r>
            <a:r>
              <a:rPr sz="1600" dirty="0">
                <a:latin typeface="Calibri"/>
                <a:cs typeface="Calibri"/>
              </a:rPr>
              <a:t>a </a:t>
            </a:r>
            <a:r>
              <a:rPr sz="1600" spc="-5" dirty="0">
                <a:latin typeface="Calibri"/>
                <a:cs typeface="Calibri"/>
              </a:rPr>
              <a:t>la misión del AI </a:t>
            </a:r>
            <a:r>
              <a:rPr sz="1600" spc="-10" dirty="0">
                <a:latin typeface="Calibri"/>
                <a:cs typeface="Calibri"/>
              </a:rPr>
              <a:t>mediante </a:t>
            </a:r>
            <a:r>
              <a:rPr sz="1600" dirty="0">
                <a:latin typeface="Calibri"/>
                <a:cs typeface="Calibri"/>
              </a:rPr>
              <a:t>el </a:t>
            </a:r>
            <a:r>
              <a:rPr sz="1600" spc="-5" dirty="0">
                <a:latin typeface="Calibri"/>
                <a:cs typeface="Calibri"/>
              </a:rPr>
              <a:t>apoyo </a:t>
            </a:r>
            <a:r>
              <a:rPr sz="1600" dirty="0">
                <a:latin typeface="Calibri"/>
                <a:cs typeface="Calibri"/>
              </a:rPr>
              <a:t>a </a:t>
            </a:r>
            <a:r>
              <a:rPr sz="1600" spc="-10" dirty="0">
                <a:latin typeface="Calibri"/>
                <a:cs typeface="Calibri"/>
              </a:rPr>
              <a:t>la  </a:t>
            </a:r>
            <a:r>
              <a:rPr sz="1600" spc="-5" dirty="0">
                <a:latin typeface="Calibri"/>
                <a:cs typeface="Calibri"/>
              </a:rPr>
              <a:t>selección, </a:t>
            </a:r>
            <a:r>
              <a:rPr sz="1600" spc="-10" dirty="0">
                <a:latin typeface="Calibri"/>
                <a:cs typeface="Calibri"/>
              </a:rPr>
              <a:t>implantación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5" dirty="0">
                <a:latin typeface="Calibri"/>
                <a:cs typeface="Calibri"/>
              </a:rPr>
              <a:t>uso de tecnologías de la </a:t>
            </a:r>
            <a:r>
              <a:rPr sz="1600" spc="-10" dirty="0">
                <a:latin typeface="Calibri"/>
                <a:cs typeface="Calibri"/>
              </a:rPr>
              <a:t>información </a:t>
            </a:r>
            <a:r>
              <a:rPr sz="1600" dirty="0">
                <a:latin typeface="Calibri"/>
                <a:cs typeface="Calibri"/>
              </a:rPr>
              <a:t>en las </a:t>
            </a:r>
            <a:r>
              <a:rPr sz="1600" spc="-5" dirty="0">
                <a:latin typeface="Calibri"/>
                <a:cs typeface="Calibri"/>
              </a:rPr>
              <a:t>áreas de docencia, </a:t>
            </a:r>
            <a:r>
              <a:rPr sz="1600" spc="-10" dirty="0">
                <a:latin typeface="Calibri"/>
                <a:cs typeface="Calibri"/>
              </a:rPr>
              <a:t>investigación,  gestión, </a:t>
            </a:r>
            <a:r>
              <a:rPr sz="1600" spc="-5" dirty="0">
                <a:latin typeface="Calibri"/>
                <a:cs typeface="Calibri"/>
              </a:rPr>
              <a:t>información institucional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5" dirty="0">
                <a:latin typeface="Calibri"/>
                <a:cs typeface="Calibri"/>
              </a:rPr>
              <a:t>actividades </a:t>
            </a:r>
            <a:r>
              <a:rPr sz="1600" spc="-10" dirty="0">
                <a:latin typeface="Calibri"/>
                <a:cs typeface="Calibri"/>
              </a:rPr>
              <a:t>formativas </a:t>
            </a:r>
            <a:r>
              <a:rPr sz="1600" spc="-5" dirty="0">
                <a:latin typeface="Calibri"/>
                <a:cs typeface="Calibri"/>
              </a:rPr>
              <a:t>institucionales. En </a:t>
            </a:r>
            <a:r>
              <a:rPr sz="1600" spc="-10" dirty="0">
                <a:latin typeface="Calibri"/>
                <a:cs typeface="Calibri"/>
              </a:rPr>
              <a:t>concreto </a:t>
            </a:r>
            <a:r>
              <a:rPr sz="1600" spc="-5" dirty="0">
                <a:latin typeface="Calibri"/>
                <a:cs typeface="Calibri"/>
              </a:rPr>
              <a:t>serian  responsabilidad de </a:t>
            </a:r>
            <a:r>
              <a:rPr sz="1600" spc="-15" dirty="0">
                <a:latin typeface="Calibri"/>
                <a:cs typeface="Calibri"/>
              </a:rPr>
              <a:t>este </a:t>
            </a:r>
            <a:r>
              <a:rPr sz="1600" dirty="0">
                <a:latin typeface="Calibri"/>
                <a:cs typeface="Calibri"/>
              </a:rPr>
              <a:t>servicio los </a:t>
            </a:r>
            <a:r>
              <a:rPr sz="1600" spc="-10" dirty="0">
                <a:latin typeface="Calibri"/>
                <a:cs typeface="Calibri"/>
              </a:rPr>
              <a:t>siguientes objetivos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generales: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600" spc="-5" dirty="0">
                <a:latin typeface="Calibri"/>
                <a:cs typeface="Calibri"/>
              </a:rPr>
              <a:t>Aplicaciones de apoyo </a:t>
            </a:r>
            <a:r>
              <a:rPr sz="1600" dirty="0">
                <a:latin typeface="Calibri"/>
                <a:cs typeface="Calibri"/>
              </a:rPr>
              <a:t>al </a:t>
            </a:r>
            <a:r>
              <a:rPr sz="1600" spc="-5" dirty="0">
                <a:latin typeface="Calibri"/>
                <a:cs typeface="Calibri"/>
              </a:rPr>
              <a:t>cálculo </a:t>
            </a:r>
            <a:r>
              <a:rPr sz="1600" spc="-10" dirty="0">
                <a:latin typeface="Calibri"/>
                <a:cs typeface="Calibri"/>
              </a:rPr>
              <a:t>científico </a:t>
            </a:r>
            <a:r>
              <a:rPr sz="1600" dirty="0">
                <a:latin typeface="Calibri"/>
                <a:cs typeface="Calibri"/>
              </a:rPr>
              <a:t>y a </a:t>
            </a:r>
            <a:r>
              <a:rPr sz="1600" spc="-5" dirty="0">
                <a:latin typeface="Calibri"/>
                <a:cs typeface="Calibri"/>
              </a:rPr>
              <a:t>la actividad </a:t>
            </a:r>
            <a:r>
              <a:rPr sz="1600" spc="-10" dirty="0">
                <a:latin typeface="Calibri"/>
                <a:cs typeface="Calibri"/>
              </a:rPr>
              <a:t>docente </a:t>
            </a:r>
            <a:r>
              <a:rPr sz="1600" dirty="0">
                <a:latin typeface="Calibri"/>
                <a:cs typeface="Calibri"/>
              </a:rPr>
              <a:t>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investigadora.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600" spc="-5" dirty="0">
                <a:latin typeface="Calibri"/>
                <a:cs typeface="Calibri"/>
              </a:rPr>
              <a:t>Aplicaciones de apoyo </a:t>
            </a:r>
            <a:r>
              <a:rPr sz="1600" dirty="0">
                <a:latin typeface="Calibri"/>
                <a:cs typeface="Calibri"/>
              </a:rPr>
              <a:t>al </a:t>
            </a:r>
            <a:r>
              <a:rPr sz="1600" spc="-10" dirty="0">
                <a:latin typeface="Calibri"/>
                <a:cs typeface="Calibri"/>
              </a:rPr>
              <a:t>sistema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bibliotecario.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600" spc="-5" dirty="0">
                <a:latin typeface="Calibri"/>
                <a:cs typeface="Calibri"/>
              </a:rPr>
              <a:t>Diseño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5" dirty="0">
                <a:latin typeface="Calibri"/>
                <a:cs typeface="Calibri"/>
              </a:rPr>
              <a:t>generación de aplicaciones multimedia </a:t>
            </a:r>
            <a:r>
              <a:rPr sz="1600" spc="-15" dirty="0">
                <a:latin typeface="Calibri"/>
                <a:cs typeface="Calibri"/>
              </a:rPr>
              <a:t>para </a:t>
            </a:r>
            <a:r>
              <a:rPr sz="1600" spc="-5" dirty="0">
                <a:latin typeface="Calibri"/>
                <a:cs typeface="Calibri"/>
              </a:rPr>
              <a:t>la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UCA.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600" spc="-5" dirty="0">
                <a:latin typeface="Calibri"/>
                <a:cs typeface="Calibri"/>
              </a:rPr>
              <a:t>Apoyo </a:t>
            </a:r>
            <a:r>
              <a:rPr sz="1600" spc="-10" dirty="0">
                <a:latin typeface="Calibri"/>
                <a:cs typeface="Calibri"/>
              </a:rPr>
              <a:t>informático </a:t>
            </a:r>
            <a:r>
              <a:rPr sz="1600" spc="-15" dirty="0">
                <a:latin typeface="Calibri"/>
                <a:cs typeface="Calibri"/>
              </a:rPr>
              <a:t>para </a:t>
            </a:r>
            <a:r>
              <a:rPr sz="1600" dirty="0">
                <a:latin typeface="Calibri"/>
                <a:cs typeface="Calibri"/>
              </a:rPr>
              <a:t>el </a:t>
            </a:r>
            <a:r>
              <a:rPr sz="1600" spc="-10" dirty="0">
                <a:latin typeface="Calibri"/>
                <a:cs typeface="Calibri"/>
              </a:rPr>
              <a:t>desarrollo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10" dirty="0">
                <a:latin typeface="Calibri"/>
                <a:cs typeface="Calibri"/>
              </a:rPr>
              <a:t>gestión </a:t>
            </a:r>
            <a:r>
              <a:rPr sz="1600" spc="-5" dirty="0">
                <a:latin typeface="Calibri"/>
                <a:cs typeface="Calibri"/>
              </a:rPr>
              <a:t>del </a:t>
            </a:r>
            <a:r>
              <a:rPr sz="1600" dirty="0">
                <a:latin typeface="Calibri"/>
                <a:cs typeface="Calibri"/>
              </a:rPr>
              <a:t>equipo </a:t>
            </a:r>
            <a:r>
              <a:rPr sz="1600" spc="-5" dirty="0">
                <a:latin typeface="Calibri"/>
                <a:cs typeface="Calibri"/>
              </a:rPr>
              <a:t>de medios audiovisuales de la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UCA.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600" spc="-5" dirty="0">
                <a:latin typeface="Calibri"/>
                <a:cs typeface="Calibri"/>
              </a:rPr>
              <a:t>Aplicaciones de apoyo </a:t>
            </a:r>
            <a:r>
              <a:rPr sz="1600" dirty="0">
                <a:latin typeface="Calibri"/>
                <a:cs typeface="Calibri"/>
              </a:rPr>
              <a:t>a </a:t>
            </a:r>
            <a:r>
              <a:rPr sz="1600" spc="-5" dirty="0">
                <a:latin typeface="Calibri"/>
                <a:cs typeface="Calibri"/>
              </a:rPr>
              <a:t>la </a:t>
            </a:r>
            <a:r>
              <a:rPr sz="1600" spc="-10" dirty="0">
                <a:latin typeface="Calibri"/>
                <a:cs typeface="Calibri"/>
              </a:rPr>
              <a:t>gestión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universitaria.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600" spc="-5" dirty="0">
                <a:latin typeface="Calibri"/>
                <a:cs typeface="Calibri"/>
              </a:rPr>
              <a:t>Gestión </a:t>
            </a:r>
            <a:r>
              <a:rPr sz="1600" dirty="0">
                <a:latin typeface="Calibri"/>
                <a:cs typeface="Calibri"/>
              </a:rPr>
              <a:t>e </a:t>
            </a:r>
            <a:r>
              <a:rPr sz="1600" spc="-5" dirty="0">
                <a:latin typeface="Calibri"/>
                <a:cs typeface="Calibri"/>
              </a:rPr>
              <a:t>implantación de aplicaciones 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red.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165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Servicio </a:t>
            </a:r>
            <a:r>
              <a:rPr sz="1600" b="1" spc="-5" dirty="0">
                <a:latin typeface="Calibri"/>
                <a:cs typeface="Calibri"/>
              </a:rPr>
              <a:t>de </a:t>
            </a:r>
            <a:r>
              <a:rPr sz="1600" b="1" spc="-10" dirty="0">
                <a:latin typeface="Calibri"/>
                <a:cs typeface="Calibri"/>
              </a:rPr>
              <a:t>Infraestructura </a:t>
            </a:r>
            <a:r>
              <a:rPr sz="1600" b="1" spc="-5" dirty="0">
                <a:latin typeface="Calibri"/>
                <a:cs typeface="Calibri"/>
              </a:rPr>
              <a:t>de Comunicaciones (SIC)</a:t>
            </a:r>
            <a:r>
              <a:rPr sz="1600" spc="-5" dirty="0">
                <a:latin typeface="Calibri"/>
                <a:cs typeface="Calibri"/>
              </a:rPr>
              <a:t>: contribuir </a:t>
            </a:r>
            <a:r>
              <a:rPr sz="1600" dirty="0">
                <a:latin typeface="Calibri"/>
                <a:cs typeface="Calibri"/>
              </a:rPr>
              <a:t>a </a:t>
            </a:r>
            <a:r>
              <a:rPr sz="1600" spc="-5" dirty="0">
                <a:latin typeface="Calibri"/>
                <a:cs typeface="Calibri"/>
              </a:rPr>
              <a:t>la misión del AI </a:t>
            </a:r>
            <a:r>
              <a:rPr sz="1600" spc="-10" dirty="0">
                <a:latin typeface="Calibri"/>
                <a:cs typeface="Calibri"/>
              </a:rPr>
              <a:t>mediante </a:t>
            </a:r>
            <a:r>
              <a:rPr sz="1600" spc="-5" dirty="0">
                <a:latin typeface="Calibri"/>
                <a:cs typeface="Calibri"/>
              </a:rPr>
              <a:t>la  selección, </a:t>
            </a:r>
            <a:r>
              <a:rPr sz="1600" spc="-10" dirty="0">
                <a:latin typeface="Calibri"/>
                <a:cs typeface="Calibri"/>
              </a:rPr>
              <a:t>implantación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10" dirty="0">
                <a:latin typeface="Calibri"/>
                <a:cs typeface="Calibri"/>
              </a:rPr>
              <a:t>mantenimiento </a:t>
            </a:r>
            <a:r>
              <a:rPr sz="1600" spc="-5" dirty="0">
                <a:latin typeface="Calibri"/>
                <a:cs typeface="Calibri"/>
              </a:rPr>
              <a:t>de la </a:t>
            </a:r>
            <a:r>
              <a:rPr sz="1600" spc="-10" dirty="0">
                <a:latin typeface="Calibri"/>
                <a:cs typeface="Calibri"/>
              </a:rPr>
              <a:t>infraestructura </a:t>
            </a:r>
            <a:r>
              <a:rPr sz="1600" spc="-5" dirty="0">
                <a:latin typeface="Calibri"/>
                <a:cs typeface="Calibri"/>
              </a:rPr>
              <a:t>de </a:t>
            </a:r>
            <a:r>
              <a:rPr sz="1600" spc="-10" dirty="0">
                <a:latin typeface="Calibri"/>
                <a:cs typeface="Calibri"/>
              </a:rPr>
              <a:t>red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5" dirty="0">
                <a:latin typeface="Calibri"/>
                <a:cs typeface="Calibri"/>
              </a:rPr>
              <a:t>de seguridad </a:t>
            </a:r>
            <a:r>
              <a:rPr sz="1600" spc="-10" dirty="0">
                <a:latin typeface="Calibri"/>
                <a:cs typeface="Calibri"/>
              </a:rPr>
              <a:t>informática básica  </a:t>
            </a:r>
            <a:r>
              <a:rPr sz="1600" spc="-5" dirty="0">
                <a:latin typeface="Calibri"/>
                <a:cs typeface="Calibri"/>
              </a:rPr>
              <a:t>que se determinen. En </a:t>
            </a:r>
            <a:r>
              <a:rPr sz="1600" spc="-10" dirty="0">
                <a:latin typeface="Calibri"/>
                <a:cs typeface="Calibri"/>
              </a:rPr>
              <a:t>concreto </a:t>
            </a:r>
            <a:r>
              <a:rPr sz="1600" spc="-5" dirty="0">
                <a:latin typeface="Calibri"/>
                <a:cs typeface="Calibri"/>
              </a:rPr>
              <a:t>serian responsabilidad de </a:t>
            </a:r>
            <a:r>
              <a:rPr sz="1600" spc="-15" dirty="0">
                <a:latin typeface="Calibri"/>
                <a:cs typeface="Calibri"/>
              </a:rPr>
              <a:t>esta </a:t>
            </a:r>
            <a:r>
              <a:rPr sz="1600" spc="-5" dirty="0">
                <a:latin typeface="Calibri"/>
                <a:cs typeface="Calibri"/>
              </a:rPr>
              <a:t>unidad </a:t>
            </a:r>
            <a:r>
              <a:rPr sz="1600" dirty="0">
                <a:latin typeface="Calibri"/>
                <a:cs typeface="Calibri"/>
              </a:rPr>
              <a:t>los </a:t>
            </a:r>
            <a:r>
              <a:rPr sz="1600" spc="-10" dirty="0">
                <a:latin typeface="Calibri"/>
                <a:cs typeface="Calibri"/>
              </a:rPr>
              <a:t>siguientes objetivos  generales:</a:t>
            </a:r>
            <a:endParaRPr sz="1600">
              <a:latin typeface="Calibri"/>
              <a:cs typeface="Calibri"/>
            </a:endParaRPr>
          </a:p>
          <a:p>
            <a:pPr marL="298450" marR="5080" indent="-28575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600" spc="-5" dirty="0">
                <a:latin typeface="Calibri"/>
                <a:cs typeface="Calibri"/>
              </a:rPr>
              <a:t>Definición, selección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5" dirty="0">
                <a:latin typeface="Calibri"/>
                <a:cs typeface="Calibri"/>
              </a:rPr>
              <a:t>supervisión de cableado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5" dirty="0">
                <a:latin typeface="Calibri"/>
                <a:cs typeface="Calibri"/>
              </a:rPr>
              <a:t>equipos que </a:t>
            </a:r>
            <a:r>
              <a:rPr sz="1600" spc="-10" dirty="0">
                <a:latin typeface="Calibri"/>
                <a:cs typeface="Calibri"/>
              </a:rPr>
              <a:t>constituyen </a:t>
            </a:r>
            <a:r>
              <a:rPr sz="1600" spc="-5" dirty="0">
                <a:latin typeface="Calibri"/>
                <a:cs typeface="Calibri"/>
              </a:rPr>
              <a:t>la </a:t>
            </a:r>
            <a:r>
              <a:rPr sz="1600" spc="-10" dirty="0">
                <a:latin typeface="Calibri"/>
                <a:cs typeface="Calibri"/>
              </a:rPr>
              <a:t>infraestructura básica  </a:t>
            </a:r>
            <a:r>
              <a:rPr sz="1600" spc="-5" dirty="0">
                <a:latin typeface="Calibri"/>
                <a:cs typeface="Calibri"/>
              </a:rPr>
              <a:t>de la </a:t>
            </a:r>
            <a:r>
              <a:rPr sz="1600" spc="-10" dirty="0">
                <a:latin typeface="Calibri"/>
                <a:cs typeface="Calibri"/>
              </a:rPr>
              <a:t>red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informática.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600" spc="-10" dirty="0">
                <a:latin typeface="Calibri"/>
                <a:cs typeface="Calibri"/>
              </a:rPr>
              <a:t>Mantenimiento </a:t>
            </a:r>
            <a:r>
              <a:rPr sz="1600" spc="-5" dirty="0">
                <a:latin typeface="Calibri"/>
                <a:cs typeface="Calibri"/>
              </a:rPr>
              <a:t>de equipos del </a:t>
            </a:r>
            <a:r>
              <a:rPr sz="1600" spc="-10" dirty="0">
                <a:latin typeface="Calibri"/>
                <a:cs typeface="Calibri"/>
              </a:rPr>
              <a:t>troncal </a:t>
            </a:r>
            <a:r>
              <a:rPr sz="1600" spc="-5" dirty="0">
                <a:latin typeface="Calibri"/>
                <a:cs typeface="Calibri"/>
              </a:rPr>
              <a:t>de la</a:t>
            </a:r>
            <a:r>
              <a:rPr sz="1600" spc="-10" dirty="0">
                <a:latin typeface="Calibri"/>
                <a:cs typeface="Calibri"/>
              </a:rPr>
              <a:t> red.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600" spc="-10" dirty="0">
                <a:latin typeface="Calibri"/>
                <a:cs typeface="Calibri"/>
              </a:rPr>
              <a:t>Definición, </a:t>
            </a:r>
            <a:r>
              <a:rPr sz="1600" spc="-5" dirty="0">
                <a:latin typeface="Calibri"/>
                <a:cs typeface="Calibri"/>
              </a:rPr>
              <a:t>selección, implantación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10" dirty="0">
                <a:latin typeface="Calibri"/>
                <a:cs typeface="Calibri"/>
              </a:rPr>
              <a:t>gestión </a:t>
            </a:r>
            <a:r>
              <a:rPr sz="1600" spc="-5" dirty="0">
                <a:latin typeface="Calibri"/>
                <a:cs typeface="Calibri"/>
              </a:rPr>
              <a:t>de medidas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10" dirty="0">
                <a:latin typeface="Calibri"/>
                <a:cs typeface="Calibri"/>
              </a:rPr>
              <a:t>sistemas </a:t>
            </a:r>
            <a:r>
              <a:rPr sz="1600" spc="-5" dirty="0">
                <a:latin typeface="Calibri"/>
                <a:cs typeface="Calibri"/>
              </a:rPr>
              <a:t>de seguridad de la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red.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600" spc="-5" dirty="0">
                <a:latin typeface="Calibri"/>
                <a:cs typeface="Calibri"/>
              </a:rPr>
              <a:t>Análisis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10" dirty="0">
                <a:latin typeface="Calibri"/>
                <a:cs typeface="Calibri"/>
              </a:rPr>
              <a:t>gestión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red.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0355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III – </a:t>
            </a:r>
            <a:r>
              <a:rPr spc="-10" dirty="0"/>
              <a:t>Organización </a:t>
            </a:r>
            <a:r>
              <a:rPr spc="-5" dirty="0"/>
              <a:t>en el área de Sistemas</a:t>
            </a:r>
            <a:r>
              <a:rPr spc="135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dirty="0">
                <a:latin typeface="Calibri"/>
                <a:cs typeface="Calibri"/>
              </a:rPr>
              <a:t>Misiones y </a:t>
            </a:r>
            <a:r>
              <a:rPr sz="1800" b="0" spc="-5" dirty="0">
                <a:latin typeface="Calibri"/>
                <a:cs typeface="Calibri"/>
              </a:rPr>
              <a:t>funciones del </a:t>
            </a:r>
            <a:r>
              <a:rPr sz="1800" b="0" dirty="0">
                <a:latin typeface="Calibri"/>
                <a:cs typeface="Calibri"/>
              </a:rPr>
              <a:t>área </a:t>
            </a:r>
            <a:r>
              <a:rPr sz="1800" b="0" spc="-5" dirty="0">
                <a:latin typeface="Calibri"/>
                <a:cs typeface="Calibri"/>
              </a:rPr>
              <a:t>de Sistemas</a:t>
            </a:r>
            <a:r>
              <a:rPr sz="1800" b="0" spc="45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67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1140" y="1086612"/>
            <a:ext cx="8535670" cy="3196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Calibri"/>
                <a:cs typeface="Calibri"/>
              </a:rPr>
              <a:t>Servicio </a:t>
            </a:r>
            <a:r>
              <a:rPr sz="1600" b="1" spc="-5" dirty="0">
                <a:latin typeface="Calibri"/>
                <a:cs typeface="Calibri"/>
              </a:rPr>
              <a:t>de </a:t>
            </a:r>
            <a:r>
              <a:rPr sz="1600" b="1" spc="-10" dirty="0">
                <a:latin typeface="Calibri"/>
                <a:cs typeface="Calibri"/>
              </a:rPr>
              <a:t>Equipamiento </a:t>
            </a:r>
            <a:r>
              <a:rPr sz="1600" b="1" dirty="0">
                <a:latin typeface="Calibri"/>
                <a:cs typeface="Calibri"/>
              </a:rPr>
              <a:t>y </a:t>
            </a:r>
            <a:r>
              <a:rPr sz="1600" b="1" spc="-5" dirty="0">
                <a:latin typeface="Calibri"/>
                <a:cs typeface="Calibri"/>
              </a:rPr>
              <a:t>Operación </a:t>
            </a:r>
            <a:r>
              <a:rPr sz="1600" b="1" spc="-10" dirty="0">
                <a:latin typeface="Calibri"/>
                <a:cs typeface="Calibri"/>
              </a:rPr>
              <a:t>(SEO)</a:t>
            </a:r>
            <a:r>
              <a:rPr sz="1600" spc="-10" dirty="0">
                <a:latin typeface="Calibri"/>
                <a:cs typeface="Calibri"/>
              </a:rPr>
              <a:t>: </a:t>
            </a:r>
            <a:r>
              <a:rPr sz="1600" spc="-5" dirty="0">
                <a:latin typeface="Calibri"/>
                <a:cs typeface="Calibri"/>
              </a:rPr>
              <a:t>contribuir </a:t>
            </a:r>
            <a:r>
              <a:rPr sz="1600" dirty="0">
                <a:latin typeface="Calibri"/>
                <a:cs typeface="Calibri"/>
              </a:rPr>
              <a:t>a </a:t>
            </a:r>
            <a:r>
              <a:rPr sz="1600" spc="-5" dirty="0">
                <a:latin typeface="Calibri"/>
                <a:cs typeface="Calibri"/>
              </a:rPr>
              <a:t>la misión del AI </a:t>
            </a:r>
            <a:r>
              <a:rPr sz="1600" spc="-10" dirty="0">
                <a:latin typeface="Calibri"/>
                <a:cs typeface="Calibri"/>
              </a:rPr>
              <a:t>mediante </a:t>
            </a:r>
            <a:r>
              <a:rPr sz="1600" spc="-5" dirty="0">
                <a:latin typeface="Calibri"/>
                <a:cs typeface="Calibri"/>
              </a:rPr>
              <a:t>el apoyo </a:t>
            </a:r>
            <a:r>
              <a:rPr sz="1600" dirty="0">
                <a:latin typeface="Calibri"/>
                <a:cs typeface="Calibri"/>
              </a:rPr>
              <a:t>a </a:t>
            </a:r>
            <a:r>
              <a:rPr sz="1600" spc="-5" dirty="0">
                <a:latin typeface="Calibri"/>
                <a:cs typeface="Calibri"/>
              </a:rPr>
              <a:t>la  selección, </a:t>
            </a:r>
            <a:r>
              <a:rPr sz="1600" spc="-10" dirty="0">
                <a:latin typeface="Calibri"/>
                <a:cs typeface="Calibri"/>
              </a:rPr>
              <a:t>implantación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5" dirty="0">
                <a:latin typeface="Calibri"/>
                <a:cs typeface="Calibri"/>
              </a:rPr>
              <a:t>uso de equipos </a:t>
            </a:r>
            <a:r>
              <a:rPr sz="1600" spc="-10" dirty="0">
                <a:latin typeface="Calibri"/>
                <a:cs typeface="Calibri"/>
              </a:rPr>
              <a:t>informáticos, sistemas operativos, sistemas </a:t>
            </a:r>
            <a:r>
              <a:rPr sz="1600" spc="-5" dirty="0">
                <a:latin typeface="Calibri"/>
                <a:cs typeface="Calibri"/>
              </a:rPr>
              <a:t>de seguridad, </a:t>
            </a:r>
            <a:r>
              <a:rPr sz="1600" spc="-10" dirty="0">
                <a:latin typeface="Calibri"/>
                <a:cs typeface="Calibri"/>
              </a:rPr>
              <a:t>etc.  </a:t>
            </a:r>
            <a:r>
              <a:rPr sz="1600" spc="-5" dirty="0">
                <a:latin typeface="Calibri"/>
                <a:cs typeface="Calibri"/>
              </a:rPr>
              <a:t>de soporte de bases de </a:t>
            </a:r>
            <a:r>
              <a:rPr sz="1600" spc="-10" dirty="0">
                <a:latin typeface="Calibri"/>
                <a:cs typeface="Calibri"/>
              </a:rPr>
              <a:t>datos, </a:t>
            </a:r>
            <a:r>
              <a:rPr sz="1600" spc="-5" dirty="0">
                <a:latin typeface="Calibri"/>
                <a:cs typeface="Calibri"/>
              </a:rPr>
              <a:t>aplicaciones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5" dirty="0">
                <a:latin typeface="Calibri"/>
                <a:cs typeface="Calibri"/>
              </a:rPr>
              <a:t>entornos de usuarios. En </a:t>
            </a:r>
            <a:r>
              <a:rPr sz="1600" spc="-10" dirty="0">
                <a:latin typeface="Calibri"/>
                <a:cs typeface="Calibri"/>
              </a:rPr>
              <a:t>concreto </a:t>
            </a:r>
            <a:r>
              <a:rPr sz="1600" spc="-5" dirty="0">
                <a:latin typeface="Calibri"/>
                <a:cs typeface="Calibri"/>
              </a:rPr>
              <a:t>serian responsabilidad  de </a:t>
            </a:r>
            <a:r>
              <a:rPr sz="1600" spc="-15" dirty="0">
                <a:latin typeface="Calibri"/>
                <a:cs typeface="Calibri"/>
              </a:rPr>
              <a:t>esta </a:t>
            </a:r>
            <a:r>
              <a:rPr sz="1600" spc="-5" dirty="0">
                <a:latin typeface="Calibri"/>
                <a:cs typeface="Calibri"/>
              </a:rPr>
              <a:t>unidad </a:t>
            </a:r>
            <a:r>
              <a:rPr sz="1600" dirty="0">
                <a:latin typeface="Calibri"/>
                <a:cs typeface="Calibri"/>
              </a:rPr>
              <a:t>los </a:t>
            </a:r>
            <a:r>
              <a:rPr sz="1600" spc="-10" dirty="0">
                <a:latin typeface="Calibri"/>
                <a:cs typeface="Calibri"/>
              </a:rPr>
              <a:t>siguientes objetivos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generales:</a:t>
            </a:r>
            <a:endParaRPr sz="1600">
              <a:latin typeface="Calibri"/>
              <a:cs typeface="Calibri"/>
            </a:endParaRPr>
          </a:p>
          <a:p>
            <a:pPr marL="298450" marR="5715" indent="-285750" algn="just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sz="1600" spc="-5" dirty="0">
                <a:latin typeface="Calibri"/>
                <a:cs typeface="Calibri"/>
              </a:rPr>
              <a:t>Definición, selección, </a:t>
            </a:r>
            <a:r>
              <a:rPr sz="1600" spc="-10" dirty="0">
                <a:latin typeface="Calibri"/>
                <a:cs typeface="Calibri"/>
              </a:rPr>
              <a:t>instalación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10" dirty="0">
                <a:latin typeface="Calibri"/>
                <a:cs typeface="Calibri"/>
              </a:rPr>
              <a:t>mantenimiento </a:t>
            </a:r>
            <a:r>
              <a:rPr sz="1600" spc="-5" dirty="0">
                <a:latin typeface="Calibri"/>
                <a:cs typeface="Calibri"/>
              </a:rPr>
              <a:t>del </a:t>
            </a:r>
            <a:r>
              <a:rPr sz="1600" spc="-10" dirty="0">
                <a:latin typeface="Calibri"/>
                <a:cs typeface="Calibri"/>
              </a:rPr>
              <a:t>equipamiento central </a:t>
            </a:r>
            <a:r>
              <a:rPr sz="1600" spc="-5" dirty="0">
                <a:latin typeface="Calibri"/>
                <a:cs typeface="Calibri"/>
              </a:rPr>
              <a:t>demandado por </a:t>
            </a:r>
            <a:r>
              <a:rPr sz="1600" dirty="0">
                <a:latin typeface="Calibri"/>
                <a:cs typeface="Calibri"/>
              </a:rPr>
              <a:t>el  </a:t>
            </a:r>
            <a:r>
              <a:rPr sz="1600" spc="-10" dirty="0">
                <a:latin typeface="Calibri"/>
                <a:cs typeface="Calibri"/>
              </a:rPr>
              <a:t>Area </a:t>
            </a:r>
            <a:r>
              <a:rPr sz="1600" spc="-5" dirty="0">
                <a:latin typeface="Calibri"/>
                <a:cs typeface="Calibri"/>
              </a:rPr>
              <a:t>de </a:t>
            </a:r>
            <a:r>
              <a:rPr sz="1600" spc="-10" dirty="0">
                <a:latin typeface="Calibri"/>
                <a:cs typeface="Calibri"/>
              </a:rPr>
              <a:t>Informática: </a:t>
            </a:r>
            <a:r>
              <a:rPr sz="1600" spc="-5" dirty="0">
                <a:latin typeface="Calibri"/>
                <a:cs typeface="Calibri"/>
              </a:rPr>
              <a:t>servidores centrales, </a:t>
            </a:r>
            <a:r>
              <a:rPr sz="1600" spc="-10" dirty="0">
                <a:latin typeface="Calibri"/>
                <a:cs typeface="Calibri"/>
              </a:rPr>
              <a:t>sistemas operativos, </a:t>
            </a:r>
            <a:r>
              <a:rPr sz="1600" spc="-5" dirty="0">
                <a:latin typeface="Calibri"/>
                <a:cs typeface="Calibri"/>
              </a:rPr>
              <a:t>sistemas de seguridad </a:t>
            </a:r>
            <a:r>
              <a:rPr sz="1600" spc="-10" dirty="0">
                <a:latin typeface="Calibri"/>
                <a:cs typeface="Calibri"/>
              </a:rPr>
              <a:t>informáticos,  </a:t>
            </a:r>
            <a:r>
              <a:rPr sz="1600" spc="-5" dirty="0">
                <a:latin typeface="Calibri"/>
                <a:cs typeface="Calibri"/>
              </a:rPr>
              <a:t>instalaciones de </a:t>
            </a:r>
            <a:r>
              <a:rPr sz="1600" spc="-10" dirty="0">
                <a:latin typeface="Calibri"/>
                <a:cs typeface="Calibri"/>
              </a:rPr>
              <a:t>acondicionamiento, </a:t>
            </a:r>
            <a:r>
              <a:rPr sz="1600" spc="-5" dirty="0">
                <a:latin typeface="Calibri"/>
                <a:cs typeface="Calibri"/>
              </a:rPr>
              <a:t>acceso,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etc.</a:t>
            </a:r>
            <a:endParaRPr sz="1600">
              <a:latin typeface="Calibri"/>
              <a:cs typeface="Calibri"/>
            </a:endParaRPr>
          </a:p>
          <a:p>
            <a:pPr marL="298450" marR="6350" indent="-285750" algn="just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sz="1600" spc="-5" dirty="0">
                <a:latin typeface="Calibri"/>
                <a:cs typeface="Calibri"/>
              </a:rPr>
              <a:t>Definición, selección, </a:t>
            </a:r>
            <a:r>
              <a:rPr sz="1600" spc="-10" dirty="0">
                <a:latin typeface="Calibri"/>
                <a:cs typeface="Calibri"/>
              </a:rPr>
              <a:t>instalación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10" dirty="0">
                <a:latin typeface="Calibri"/>
                <a:cs typeface="Calibri"/>
              </a:rPr>
              <a:t>mantenimiento </a:t>
            </a:r>
            <a:r>
              <a:rPr sz="1600" spc="-5" dirty="0">
                <a:latin typeface="Calibri"/>
                <a:cs typeface="Calibri"/>
              </a:rPr>
              <a:t>del equipamiento local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5" dirty="0">
                <a:latin typeface="Calibri"/>
                <a:cs typeface="Calibri"/>
              </a:rPr>
              <a:t>atención </a:t>
            </a:r>
            <a:r>
              <a:rPr sz="1600" dirty="0">
                <a:latin typeface="Calibri"/>
                <a:cs typeface="Calibri"/>
              </a:rPr>
              <a:t>a los </a:t>
            </a:r>
            <a:r>
              <a:rPr sz="1600" spc="-5" dirty="0">
                <a:latin typeface="Calibri"/>
                <a:cs typeface="Calibri"/>
              </a:rPr>
              <a:t>usuarios  (PDI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30" dirty="0">
                <a:latin typeface="Calibri"/>
                <a:cs typeface="Calibri"/>
              </a:rPr>
              <a:t>PAS) </a:t>
            </a:r>
            <a:r>
              <a:rPr sz="1600" spc="-5" dirty="0">
                <a:latin typeface="Calibri"/>
                <a:cs typeface="Calibri"/>
              </a:rPr>
              <a:t>que se determine según </a:t>
            </a:r>
            <a:r>
              <a:rPr sz="1600" spc="-10" dirty="0">
                <a:latin typeface="Calibri"/>
                <a:cs typeface="Calibri"/>
              </a:rPr>
              <a:t>catálogo </a:t>
            </a:r>
            <a:r>
              <a:rPr sz="1600" spc="-5" dirty="0">
                <a:latin typeface="Calibri"/>
                <a:cs typeface="Calibri"/>
              </a:rPr>
              <a:t>de </a:t>
            </a:r>
            <a:r>
              <a:rPr sz="1600" dirty="0">
                <a:latin typeface="Calibri"/>
                <a:cs typeface="Calibri"/>
              </a:rPr>
              <a:t>servicios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ofertados.</a:t>
            </a:r>
            <a:endParaRPr sz="1600">
              <a:latin typeface="Calibri"/>
              <a:cs typeface="Calibri"/>
            </a:endParaRPr>
          </a:p>
          <a:p>
            <a:pPr marL="298450" indent="-285750" algn="just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sz="1600" spc="-10" dirty="0">
                <a:latin typeface="Calibri"/>
                <a:cs typeface="Calibri"/>
              </a:rPr>
              <a:t>Mantenimiento </a:t>
            </a:r>
            <a:r>
              <a:rPr sz="1600" spc="-5" dirty="0">
                <a:latin typeface="Calibri"/>
                <a:cs typeface="Calibri"/>
              </a:rPr>
              <a:t>de </a:t>
            </a:r>
            <a:r>
              <a:rPr sz="1600" dirty="0">
                <a:latin typeface="Calibri"/>
                <a:cs typeface="Calibri"/>
              </a:rPr>
              <a:t>los </a:t>
            </a:r>
            <a:r>
              <a:rPr sz="1600" spc="-10" dirty="0">
                <a:latin typeface="Calibri"/>
                <a:cs typeface="Calibri"/>
              </a:rPr>
              <a:t>elementos </a:t>
            </a:r>
            <a:r>
              <a:rPr sz="1600" spc="-5" dirty="0">
                <a:latin typeface="Calibri"/>
                <a:cs typeface="Calibri"/>
              </a:rPr>
              <a:t>finales de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red.</a:t>
            </a:r>
            <a:endParaRPr sz="1600">
              <a:latin typeface="Calibri"/>
              <a:cs typeface="Calibri"/>
            </a:endParaRPr>
          </a:p>
          <a:p>
            <a:pPr marL="298450" indent="-285750" algn="just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sz="1600" spc="-5" dirty="0">
                <a:latin typeface="Calibri"/>
                <a:cs typeface="Calibri"/>
              </a:rPr>
              <a:t>Selección, implantación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10" dirty="0">
                <a:latin typeface="Calibri"/>
                <a:cs typeface="Calibri"/>
              </a:rPr>
              <a:t>mantenimiento </a:t>
            </a:r>
            <a:r>
              <a:rPr sz="1600" spc="-5" dirty="0">
                <a:latin typeface="Calibri"/>
                <a:cs typeface="Calibri"/>
              </a:rPr>
              <a:t>de </a:t>
            </a:r>
            <a:r>
              <a:rPr sz="1600" dirty="0">
                <a:latin typeface="Calibri"/>
                <a:cs typeface="Calibri"/>
              </a:rPr>
              <a:t>los </a:t>
            </a:r>
            <a:r>
              <a:rPr sz="1600" spc="-10" dirty="0">
                <a:latin typeface="Calibri"/>
                <a:cs typeface="Calibri"/>
              </a:rPr>
              <a:t>programas ofimáticos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oficiales.</a:t>
            </a:r>
            <a:endParaRPr sz="1600">
              <a:latin typeface="Calibri"/>
              <a:cs typeface="Calibri"/>
            </a:endParaRPr>
          </a:p>
          <a:p>
            <a:pPr marL="298450" indent="-285750" algn="just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sz="1600" spc="-10" dirty="0">
                <a:latin typeface="Calibri"/>
                <a:cs typeface="Calibri"/>
              </a:rPr>
              <a:t>Mantenimiento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5" dirty="0">
                <a:latin typeface="Calibri"/>
                <a:cs typeface="Calibri"/>
              </a:rPr>
              <a:t>realización de copias de seguridad de </a:t>
            </a:r>
            <a:r>
              <a:rPr sz="1600" dirty="0">
                <a:latin typeface="Calibri"/>
                <a:cs typeface="Calibri"/>
              </a:rPr>
              <a:t>los </a:t>
            </a:r>
            <a:r>
              <a:rPr sz="1600" spc="-10" dirty="0">
                <a:latin typeface="Calibri"/>
                <a:cs typeface="Calibri"/>
              </a:rPr>
              <a:t>sistemas </a:t>
            </a:r>
            <a:r>
              <a:rPr sz="1600" spc="-5" dirty="0">
                <a:latin typeface="Calibri"/>
                <a:cs typeface="Calibri"/>
              </a:rPr>
              <a:t>que 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establezcan.</a:t>
            </a:r>
            <a:endParaRPr sz="1600">
              <a:latin typeface="Calibri"/>
              <a:cs typeface="Calibri"/>
            </a:endParaRPr>
          </a:p>
          <a:p>
            <a:pPr marL="298450" indent="-285750" algn="just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sz="1600" spc="-5" dirty="0">
                <a:latin typeface="Calibri"/>
                <a:cs typeface="Calibri"/>
              </a:rPr>
              <a:t>Planificación, </a:t>
            </a:r>
            <a:r>
              <a:rPr sz="1600" spc="-10" dirty="0">
                <a:latin typeface="Calibri"/>
                <a:cs typeface="Calibri"/>
              </a:rPr>
              <a:t>gestión </a:t>
            </a:r>
            <a:r>
              <a:rPr sz="1600" dirty="0">
                <a:latin typeface="Calibri"/>
                <a:cs typeface="Calibri"/>
              </a:rPr>
              <a:t>y </a:t>
            </a:r>
            <a:r>
              <a:rPr sz="1600" spc="-10" dirty="0">
                <a:latin typeface="Calibri"/>
                <a:cs typeface="Calibri"/>
              </a:rPr>
              <a:t>soporte </a:t>
            </a:r>
            <a:r>
              <a:rPr sz="1600" dirty="0">
                <a:latin typeface="Calibri"/>
                <a:cs typeface="Calibri"/>
              </a:rPr>
              <a:t>a las </a:t>
            </a:r>
            <a:r>
              <a:rPr sz="1600" spc="-5" dirty="0">
                <a:latin typeface="Calibri"/>
                <a:cs typeface="Calibri"/>
              </a:rPr>
              <a:t>instalaciones de equipos de usuarios </a:t>
            </a:r>
            <a:r>
              <a:rPr sz="1600" dirty="0">
                <a:latin typeface="Calibri"/>
                <a:cs typeface="Calibri"/>
              </a:rPr>
              <a:t>en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red.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0355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III – </a:t>
            </a:r>
            <a:r>
              <a:rPr spc="-10" dirty="0"/>
              <a:t>Organización </a:t>
            </a:r>
            <a:r>
              <a:rPr spc="-5" dirty="0"/>
              <a:t>en el área de Sistemas</a:t>
            </a:r>
            <a:r>
              <a:rPr spc="135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dirty="0">
                <a:latin typeface="Calibri"/>
                <a:cs typeface="Calibri"/>
              </a:rPr>
              <a:t>Misiones y </a:t>
            </a:r>
            <a:r>
              <a:rPr sz="1800" b="0" spc="-5" dirty="0">
                <a:latin typeface="Calibri"/>
                <a:cs typeface="Calibri"/>
              </a:rPr>
              <a:t>funciones del </a:t>
            </a:r>
            <a:r>
              <a:rPr sz="1800" b="0" dirty="0">
                <a:latin typeface="Calibri"/>
                <a:cs typeface="Calibri"/>
              </a:rPr>
              <a:t>área </a:t>
            </a:r>
            <a:r>
              <a:rPr sz="1800" b="0" spc="-5" dirty="0">
                <a:latin typeface="Calibri"/>
                <a:cs typeface="Calibri"/>
              </a:rPr>
              <a:t>de Sistemas</a:t>
            </a:r>
            <a:r>
              <a:rPr sz="1800" b="0" spc="45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9650" y="1324355"/>
            <a:ext cx="7124700" cy="48478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400" y="1143000"/>
            <a:ext cx="1575943" cy="14532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68</a:t>
            </a:fld>
            <a:endParaRPr spc="-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0355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III – </a:t>
            </a:r>
            <a:r>
              <a:rPr spc="-10" dirty="0"/>
              <a:t>Organización </a:t>
            </a:r>
            <a:r>
              <a:rPr spc="-5" dirty="0"/>
              <a:t>en el área de Sistemas</a:t>
            </a:r>
            <a:r>
              <a:rPr spc="135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dirty="0">
                <a:latin typeface="Calibri"/>
                <a:cs typeface="Calibri"/>
              </a:rPr>
              <a:t>Misiones y </a:t>
            </a:r>
            <a:r>
              <a:rPr sz="1800" b="0" spc="-5" dirty="0">
                <a:latin typeface="Calibri"/>
                <a:cs typeface="Calibri"/>
              </a:rPr>
              <a:t>funciones del </a:t>
            </a:r>
            <a:r>
              <a:rPr sz="1800" b="0" dirty="0">
                <a:latin typeface="Calibri"/>
                <a:cs typeface="Calibri"/>
              </a:rPr>
              <a:t>área </a:t>
            </a:r>
            <a:r>
              <a:rPr sz="1800" b="0" spc="-5" dirty="0">
                <a:latin typeface="Calibri"/>
                <a:cs typeface="Calibri"/>
              </a:rPr>
              <a:t>de Sistemas</a:t>
            </a:r>
            <a:r>
              <a:rPr sz="1800" b="0" spc="45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67027" y="1066800"/>
            <a:ext cx="6252972" cy="52722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400" y="1143000"/>
            <a:ext cx="1575943" cy="14532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69</a:t>
            </a:fld>
            <a:endParaRPr spc="-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0355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III – </a:t>
            </a:r>
            <a:r>
              <a:rPr spc="-10" dirty="0"/>
              <a:t>Organización </a:t>
            </a:r>
            <a:r>
              <a:rPr spc="-5" dirty="0"/>
              <a:t>en el área de Sistemas</a:t>
            </a:r>
            <a:r>
              <a:rPr spc="135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dirty="0">
                <a:latin typeface="Calibri"/>
                <a:cs typeface="Calibri"/>
              </a:rPr>
              <a:t>Misiones y </a:t>
            </a:r>
            <a:r>
              <a:rPr sz="1800" b="0" spc="-5" dirty="0">
                <a:latin typeface="Calibri"/>
                <a:cs typeface="Calibri"/>
              </a:rPr>
              <a:t>funciones del </a:t>
            </a:r>
            <a:r>
              <a:rPr sz="1800" b="0" dirty="0">
                <a:latin typeface="Calibri"/>
                <a:cs typeface="Calibri"/>
              </a:rPr>
              <a:t>área </a:t>
            </a:r>
            <a:r>
              <a:rPr sz="1800" b="0" spc="-5" dirty="0">
                <a:latin typeface="Calibri"/>
                <a:cs typeface="Calibri"/>
              </a:rPr>
              <a:t>de Sistemas</a:t>
            </a:r>
            <a:r>
              <a:rPr sz="1800" b="0" spc="45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30224" y="1524000"/>
            <a:ext cx="7123176" cy="33820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400" y="1143000"/>
            <a:ext cx="1575943" cy="14532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70</a:t>
            </a:fld>
            <a:endParaRPr spc="-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541520" cy="22783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2125" y="827532"/>
            <a:ext cx="10655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00338D"/>
                </a:solidFill>
                <a:latin typeface="Calibri"/>
                <a:cs typeface="Calibri"/>
              </a:rPr>
              <a:t>Síntesis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19271" y="1247647"/>
            <a:ext cx="5041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10" dirty="0">
                <a:solidFill>
                  <a:srgbClr val="FFFFFF"/>
                </a:solidFill>
                <a:latin typeface="Calibri"/>
                <a:cs typeface="Calibri"/>
              </a:rPr>
              <a:t>IV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342" y="193801"/>
            <a:ext cx="8641080" cy="5667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IV –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Síntesis</a:t>
            </a:r>
            <a:endParaRPr sz="2000">
              <a:latin typeface="Calibri"/>
              <a:cs typeface="Calibri"/>
            </a:endParaRPr>
          </a:p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Resumen y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preguntas de</a:t>
            </a: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repaso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Times New Roman"/>
              <a:cs typeface="Times New Roman"/>
            </a:endParaRPr>
          </a:p>
          <a:p>
            <a:pPr marL="279400" marR="5715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2106930" algn="l"/>
                <a:tab pos="2734945" algn="l"/>
                <a:tab pos="4285615" algn="l"/>
                <a:tab pos="6430010" algn="l"/>
                <a:tab pos="7182484" algn="l"/>
                <a:tab pos="8410575" algn="l"/>
              </a:tabLst>
            </a:pPr>
            <a:r>
              <a:rPr sz="2400" spc="-5" dirty="0">
                <a:latin typeface="Calibri"/>
                <a:cs typeface="Calibri"/>
              </a:rPr>
              <a:t>Explicit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mos	los	conceptos	</a:t>
            </a:r>
            <a:r>
              <a:rPr sz="2400" spc="-5" dirty="0">
                <a:latin typeface="Calibri"/>
                <a:cs typeface="Calibri"/>
              </a:rPr>
              <a:t>f</a:t>
            </a:r>
            <a:r>
              <a:rPr sz="2400" spc="5" dirty="0">
                <a:latin typeface="Calibri"/>
                <a:cs typeface="Calibri"/>
              </a:rPr>
              <a:t>u</a:t>
            </a:r>
            <a:r>
              <a:rPr sz="2400" spc="-5" dirty="0">
                <a:latin typeface="Calibri"/>
                <a:cs typeface="Calibri"/>
              </a:rPr>
              <a:t>ndamentale</a:t>
            </a:r>
            <a:r>
              <a:rPr sz="2400" dirty="0">
                <a:latin typeface="Calibri"/>
                <a:cs typeface="Calibri"/>
              </a:rPr>
              <a:t>s	</a:t>
            </a:r>
            <a:r>
              <a:rPr sz="2400" spc="-5" dirty="0">
                <a:latin typeface="Calibri"/>
                <a:cs typeface="Calibri"/>
              </a:rPr>
              <a:t>qu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fin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n	la  </a:t>
            </a:r>
            <a:r>
              <a:rPr sz="2400" spc="-5" dirty="0">
                <a:latin typeface="Calibri"/>
                <a:cs typeface="Calibri"/>
              </a:rPr>
              <a:t>estrategia 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TI.</a:t>
            </a:r>
            <a:endParaRPr sz="2400">
              <a:latin typeface="Calibri"/>
              <a:cs typeface="Calibri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5" dirty="0">
                <a:latin typeface="Calibri"/>
                <a:cs typeface="Calibri"/>
              </a:rPr>
              <a:t>Describimos el proceso de formulación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estratégica.</a:t>
            </a:r>
            <a:endParaRPr sz="2400">
              <a:latin typeface="Calibri"/>
              <a:cs typeface="Calibri"/>
            </a:endParaRPr>
          </a:p>
          <a:p>
            <a:pPr marL="279400" marR="5715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1702435" algn="l"/>
                <a:tab pos="2957195" algn="l"/>
                <a:tab pos="4989830" algn="l"/>
                <a:tab pos="5629910" algn="l"/>
                <a:tab pos="6544945" algn="l"/>
                <a:tab pos="6858634" algn="l"/>
                <a:tab pos="7242175" algn="l"/>
                <a:tab pos="8315325" algn="l"/>
              </a:tabLst>
            </a:pPr>
            <a:r>
              <a:rPr sz="2400" spc="-5" dirty="0">
                <a:latin typeface="Calibri"/>
                <a:cs typeface="Calibri"/>
              </a:rPr>
              <a:t>Defin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mos	aspectos	</a:t>
            </a:r>
            <a:r>
              <a:rPr sz="2400" spc="-5" dirty="0">
                <a:latin typeface="Calibri"/>
                <a:cs typeface="Calibri"/>
              </a:rPr>
              <a:t>fund</a:t>
            </a:r>
            <a:r>
              <a:rPr sz="2400" dirty="0">
                <a:latin typeface="Calibri"/>
                <a:cs typeface="Calibri"/>
              </a:rPr>
              <a:t>amentales	</a:t>
            </a:r>
            <a:r>
              <a:rPr sz="2400" spc="-5" dirty="0">
                <a:latin typeface="Calibri"/>
                <a:cs typeface="Calibri"/>
              </a:rPr>
              <a:t>qu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5" dirty="0">
                <a:latin typeface="Calibri"/>
                <a:cs typeface="Calibri"/>
              </a:rPr>
              <a:t>hace</a:t>
            </a:r>
            <a:r>
              <a:rPr sz="2400" dirty="0">
                <a:latin typeface="Calibri"/>
                <a:cs typeface="Calibri"/>
              </a:rPr>
              <a:t>n	a	la	gest</a:t>
            </a:r>
            <a:r>
              <a:rPr sz="2400" spc="-1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ó</a:t>
            </a:r>
            <a:r>
              <a:rPr sz="2400" dirty="0">
                <a:latin typeface="Calibri"/>
                <a:cs typeface="Calibri"/>
              </a:rPr>
              <a:t>n	</a:t>
            </a:r>
            <a:r>
              <a:rPr sz="2400" spc="-5" dirty="0">
                <a:latin typeface="Calibri"/>
                <a:cs typeface="Calibri"/>
              </a:rPr>
              <a:t>de  proyectos (conceptos básicos, herramientas </a:t>
            </a:r>
            <a:r>
              <a:rPr sz="2400" dirty="0">
                <a:latin typeface="Calibri"/>
                <a:cs typeface="Calibri"/>
              </a:rPr>
              <a:t>y </a:t>
            </a:r>
            <a:r>
              <a:rPr sz="2400" spc="-5" dirty="0">
                <a:latin typeface="Calibri"/>
                <a:cs typeface="Calibri"/>
              </a:rPr>
              <a:t>evaluación).</a:t>
            </a:r>
            <a:endParaRPr sz="2400">
              <a:latin typeface="Calibri"/>
              <a:cs typeface="Calibri"/>
            </a:endParaRPr>
          </a:p>
          <a:p>
            <a:pPr marL="279400" marR="635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5" dirty="0">
                <a:latin typeface="Calibri"/>
                <a:cs typeface="Calibri"/>
              </a:rPr>
              <a:t>Describimos el concepto de Arquitectura de SI en términos de sus  </a:t>
            </a:r>
            <a:r>
              <a:rPr sz="2400" dirty="0">
                <a:latin typeface="Calibri"/>
                <a:cs typeface="Calibri"/>
              </a:rPr>
              <a:t>variantes 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implicancias.</a:t>
            </a:r>
            <a:endParaRPr sz="2400">
              <a:latin typeface="Calibri"/>
              <a:cs typeface="Calibri"/>
            </a:endParaRPr>
          </a:p>
          <a:p>
            <a:pPr marL="279400" marR="508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5" dirty="0">
                <a:latin typeface="Calibri"/>
                <a:cs typeface="Calibri"/>
              </a:rPr>
              <a:t>Analizamos el concepto de posicionamiento de SI en función de </a:t>
            </a:r>
            <a:r>
              <a:rPr sz="2400" dirty="0">
                <a:latin typeface="Calibri"/>
                <a:cs typeface="Calibri"/>
              </a:rPr>
              <a:t>los  conceptos </a:t>
            </a:r>
            <a:r>
              <a:rPr sz="2400" spc="-5" dirty="0">
                <a:latin typeface="Calibri"/>
                <a:cs typeface="Calibri"/>
              </a:rPr>
              <a:t>detrás de </a:t>
            </a:r>
            <a:r>
              <a:rPr sz="2400" dirty="0">
                <a:latin typeface="Calibri"/>
                <a:cs typeface="Calibri"/>
              </a:rPr>
              <a:t>la Matriz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McFarlan.</a:t>
            </a:r>
            <a:endParaRPr sz="2400">
              <a:latin typeface="Calibri"/>
              <a:cs typeface="Calibri"/>
            </a:endParaRPr>
          </a:p>
          <a:p>
            <a:pPr marL="279400" marR="5715" indent="-2667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5" dirty="0">
                <a:latin typeface="Calibri"/>
                <a:cs typeface="Calibri"/>
              </a:rPr>
              <a:t>Definimos </a:t>
            </a:r>
            <a:r>
              <a:rPr sz="2400" dirty="0">
                <a:latin typeface="Calibri"/>
                <a:cs typeface="Calibri"/>
              </a:rPr>
              <a:t>y </a:t>
            </a:r>
            <a:r>
              <a:rPr sz="2400" spc="-5" dirty="0">
                <a:latin typeface="Calibri"/>
                <a:cs typeface="Calibri"/>
              </a:rPr>
              <a:t>discutimos diversos </a:t>
            </a:r>
            <a:r>
              <a:rPr sz="2400" dirty="0">
                <a:latin typeface="Calibri"/>
                <a:cs typeface="Calibri"/>
              </a:rPr>
              <a:t>tipos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estructura </a:t>
            </a:r>
            <a:r>
              <a:rPr sz="2400" spc="-5" dirty="0">
                <a:latin typeface="Calibri"/>
                <a:cs typeface="Calibri"/>
              </a:rPr>
              <a:t>organizacional  para el </a:t>
            </a:r>
            <a:r>
              <a:rPr sz="2400" dirty="0">
                <a:latin typeface="Calibri"/>
                <a:cs typeface="Calibri"/>
              </a:rPr>
              <a:t>área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SI.</a:t>
            </a:r>
            <a:endParaRPr sz="2400">
              <a:latin typeface="Calibri"/>
              <a:cs typeface="Calibri"/>
            </a:endParaRPr>
          </a:p>
          <a:p>
            <a:pPr marL="279400" marR="6985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5" dirty="0">
                <a:latin typeface="Calibri"/>
                <a:cs typeface="Calibri"/>
              </a:rPr>
              <a:t>Explicamos </a:t>
            </a:r>
            <a:r>
              <a:rPr sz="2400" dirty="0">
                <a:latin typeface="Calibri"/>
                <a:cs typeface="Calibri"/>
              </a:rPr>
              <a:t>los </a:t>
            </a:r>
            <a:r>
              <a:rPr sz="2400" spc="-5" dirty="0">
                <a:latin typeface="Calibri"/>
                <a:cs typeface="Calibri"/>
              </a:rPr>
              <a:t>distintos </a:t>
            </a:r>
            <a:r>
              <a:rPr sz="2400" dirty="0">
                <a:latin typeface="Calibri"/>
                <a:cs typeface="Calibri"/>
              </a:rPr>
              <a:t>roles y actividades </a:t>
            </a:r>
            <a:r>
              <a:rPr sz="2400" spc="-5" dirty="0">
                <a:latin typeface="Calibri"/>
                <a:cs typeface="Calibri"/>
              </a:rPr>
              <a:t>que </a:t>
            </a:r>
            <a:r>
              <a:rPr sz="2400" dirty="0">
                <a:latin typeface="Calibri"/>
                <a:cs typeface="Calibri"/>
              </a:rPr>
              <a:t>se ejecutan </a:t>
            </a:r>
            <a:r>
              <a:rPr sz="2400" spc="-5" dirty="0">
                <a:latin typeface="Calibri"/>
                <a:cs typeface="Calibri"/>
              </a:rPr>
              <a:t>en el  </a:t>
            </a:r>
            <a:r>
              <a:rPr sz="2400" dirty="0">
                <a:latin typeface="Calibri"/>
                <a:cs typeface="Calibri"/>
              </a:rPr>
              <a:t>área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dirty="0">
                <a:latin typeface="Calibri"/>
                <a:cs typeface="Calibri"/>
              </a:rPr>
              <a:t> SI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72</a:t>
            </a:fld>
            <a:endParaRPr spc="-5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20650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IV – Síntesis</a:t>
            </a:r>
            <a:r>
              <a:rPr spc="-15" dirty="0"/>
              <a:t> </a:t>
            </a:r>
            <a:r>
              <a:rPr spc="-5" dirty="0"/>
              <a:t>(Cont.)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96342" y="500126"/>
            <a:ext cx="8688070" cy="601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Resumen y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preguntas de</a:t>
            </a: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repaso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Times New Roman"/>
              <a:cs typeface="Times New Roman"/>
            </a:endParaRPr>
          </a:p>
          <a:p>
            <a:pPr marL="279400" marR="52705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5" dirty="0">
                <a:latin typeface="Calibri"/>
                <a:cs typeface="Calibri"/>
              </a:rPr>
              <a:t>Explique el proceso </a:t>
            </a:r>
            <a:r>
              <a:rPr sz="2400" dirty="0">
                <a:latin typeface="Calibri"/>
                <a:cs typeface="Calibri"/>
              </a:rPr>
              <a:t>de </a:t>
            </a:r>
            <a:r>
              <a:rPr sz="2400" spc="-5" dirty="0">
                <a:latin typeface="Calibri"/>
                <a:cs typeface="Calibri"/>
              </a:rPr>
              <a:t>formulación de </a:t>
            </a:r>
            <a:r>
              <a:rPr sz="2400" dirty="0">
                <a:latin typeface="Calibri"/>
                <a:cs typeface="Calibri"/>
              </a:rPr>
              <a:t>la estrategia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TI. </a:t>
            </a:r>
            <a:r>
              <a:rPr sz="2400" spc="-5" dirty="0">
                <a:latin typeface="Calibri"/>
                <a:cs typeface="Calibri"/>
              </a:rPr>
              <a:t>¿Qué  </a:t>
            </a:r>
            <a:r>
              <a:rPr sz="2400" dirty="0">
                <a:latin typeface="Calibri"/>
                <a:cs typeface="Calibri"/>
              </a:rPr>
              <a:t>alineación </a:t>
            </a:r>
            <a:r>
              <a:rPr sz="2400" spc="-5" dirty="0">
                <a:latin typeface="Calibri"/>
                <a:cs typeface="Calibri"/>
              </a:rPr>
              <a:t>debe darse para que </a:t>
            </a:r>
            <a:r>
              <a:rPr sz="2400" dirty="0">
                <a:latin typeface="Calibri"/>
                <a:cs typeface="Calibri"/>
              </a:rPr>
              <a:t>la </a:t>
            </a:r>
            <a:r>
              <a:rPr sz="2400" spc="-5" dirty="0">
                <a:latin typeface="Calibri"/>
                <a:cs typeface="Calibri"/>
              </a:rPr>
              <a:t>estrategia se plantee  correctamente?</a:t>
            </a:r>
            <a:endParaRPr sz="2400">
              <a:latin typeface="Calibri"/>
              <a:cs typeface="Calibri"/>
            </a:endParaRPr>
          </a:p>
          <a:p>
            <a:pPr marL="27940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5" dirty="0">
                <a:latin typeface="Calibri"/>
                <a:cs typeface="Calibri"/>
              </a:rPr>
              <a:t>Describa </a:t>
            </a:r>
            <a:r>
              <a:rPr sz="2400" dirty="0">
                <a:latin typeface="Calibri"/>
                <a:cs typeface="Calibri"/>
              </a:rPr>
              <a:t>las 4 etapas </a:t>
            </a:r>
            <a:r>
              <a:rPr sz="2400" spc="-5" dirty="0">
                <a:latin typeface="Calibri"/>
                <a:cs typeface="Calibri"/>
              </a:rPr>
              <a:t>fundamentales que </a:t>
            </a:r>
            <a:r>
              <a:rPr sz="2400" dirty="0">
                <a:latin typeface="Calibri"/>
                <a:cs typeface="Calibri"/>
              </a:rPr>
              <a:t>conforman </a:t>
            </a:r>
            <a:r>
              <a:rPr sz="2400" spc="-5" dirty="0">
                <a:latin typeface="Calibri"/>
                <a:cs typeface="Calibri"/>
              </a:rPr>
              <a:t>un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proyecto.</a:t>
            </a:r>
            <a:endParaRPr sz="2400">
              <a:latin typeface="Calibri"/>
              <a:cs typeface="Calibri"/>
            </a:endParaRPr>
          </a:p>
          <a:p>
            <a:pPr marL="27940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5" dirty="0">
                <a:latin typeface="Calibri"/>
                <a:cs typeface="Calibri"/>
              </a:rPr>
              <a:t>Explique </a:t>
            </a:r>
            <a:r>
              <a:rPr sz="2400" dirty="0">
                <a:latin typeface="Calibri"/>
                <a:cs typeface="Calibri"/>
              </a:rPr>
              <a:t>3 </a:t>
            </a:r>
            <a:r>
              <a:rPr sz="2400" spc="-5" dirty="0">
                <a:latin typeface="Calibri"/>
                <a:cs typeface="Calibri"/>
              </a:rPr>
              <a:t>herramientas utilizadas en </a:t>
            </a:r>
            <a:r>
              <a:rPr sz="2400" dirty="0">
                <a:latin typeface="Calibri"/>
                <a:cs typeface="Calibri"/>
              </a:rPr>
              <a:t>la gestión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proyectos</a:t>
            </a:r>
            <a:endParaRPr sz="2400">
              <a:latin typeface="Calibri"/>
              <a:cs typeface="Calibri"/>
            </a:endParaRPr>
          </a:p>
          <a:p>
            <a:pPr marL="27940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5" dirty="0">
                <a:latin typeface="Calibri"/>
                <a:cs typeface="Calibri"/>
              </a:rPr>
              <a:t>¿Qué errores pueden </a:t>
            </a:r>
            <a:r>
              <a:rPr sz="2400" dirty="0">
                <a:latin typeface="Calibri"/>
                <a:cs typeface="Calibri"/>
              </a:rPr>
              <a:t>vislumbrarse </a:t>
            </a:r>
            <a:r>
              <a:rPr sz="2400" spc="-5" dirty="0">
                <a:latin typeface="Calibri"/>
                <a:cs typeface="Calibri"/>
              </a:rPr>
              <a:t>en </a:t>
            </a:r>
            <a:r>
              <a:rPr sz="2400" dirty="0">
                <a:latin typeface="Calibri"/>
                <a:cs typeface="Calibri"/>
              </a:rPr>
              <a:t>la gestión </a:t>
            </a:r>
            <a:r>
              <a:rPr sz="2400" spc="-5" dirty="0">
                <a:latin typeface="Calibri"/>
                <a:cs typeface="Calibri"/>
              </a:rPr>
              <a:t>de un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proyecto?</a:t>
            </a:r>
            <a:endParaRPr sz="2400">
              <a:latin typeface="Calibri"/>
              <a:cs typeface="Calibri"/>
            </a:endParaRPr>
          </a:p>
          <a:p>
            <a:pPr marL="27940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5" dirty="0">
                <a:latin typeface="Calibri"/>
                <a:cs typeface="Calibri"/>
              </a:rPr>
              <a:t>Explique TCO </a:t>
            </a:r>
            <a:r>
              <a:rPr sz="2400" dirty="0">
                <a:latin typeface="Calibri"/>
                <a:cs typeface="Calibri"/>
              </a:rPr>
              <a:t>y enumere </a:t>
            </a:r>
            <a:r>
              <a:rPr sz="2400" spc="-5" dirty="0">
                <a:latin typeface="Calibri"/>
                <a:cs typeface="Calibri"/>
              </a:rPr>
              <a:t>sus </a:t>
            </a:r>
            <a:r>
              <a:rPr sz="2400" dirty="0">
                <a:latin typeface="Calibri"/>
                <a:cs typeface="Calibri"/>
              </a:rPr>
              <a:t>componentes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clave.</a:t>
            </a:r>
            <a:endParaRPr sz="2400">
              <a:latin typeface="Calibri"/>
              <a:cs typeface="Calibri"/>
            </a:endParaRPr>
          </a:p>
          <a:p>
            <a:pPr marL="279400" marR="52705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1108075" algn="l"/>
                <a:tab pos="2277745" algn="l"/>
                <a:tab pos="3987165" algn="l"/>
                <a:tab pos="4468495" algn="l"/>
                <a:tab pos="4996180" algn="l"/>
                <a:tab pos="5824220" algn="l"/>
                <a:tab pos="6605270" algn="l"/>
                <a:tab pos="7087234" algn="l"/>
              </a:tabLst>
            </a:pPr>
            <a:r>
              <a:rPr sz="2400" spc="-5" dirty="0">
                <a:latin typeface="Calibri"/>
                <a:cs typeface="Calibri"/>
              </a:rPr>
              <a:t>¿Qu</a:t>
            </a:r>
            <a:r>
              <a:rPr sz="2400" dirty="0">
                <a:latin typeface="Calibri"/>
                <a:cs typeface="Calibri"/>
              </a:rPr>
              <a:t>é	</a:t>
            </a:r>
            <a:r>
              <a:rPr sz="2400" spc="-5" dirty="0">
                <a:latin typeface="Calibri"/>
                <a:cs typeface="Calibri"/>
              </a:rPr>
              <a:t>sign</a:t>
            </a:r>
            <a:r>
              <a:rPr sz="2400" spc="-1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fic</a:t>
            </a:r>
            <a:r>
              <a:rPr sz="2400" dirty="0">
                <a:latin typeface="Calibri"/>
                <a:cs typeface="Calibri"/>
              </a:rPr>
              <a:t>a	a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quitectur</a:t>
            </a:r>
            <a:r>
              <a:rPr sz="2400" dirty="0">
                <a:latin typeface="Calibri"/>
                <a:cs typeface="Calibri"/>
              </a:rPr>
              <a:t>a	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5" dirty="0">
                <a:latin typeface="Calibri"/>
                <a:cs typeface="Calibri"/>
              </a:rPr>
              <a:t>SI</a:t>
            </a:r>
            <a:r>
              <a:rPr sz="2400" dirty="0">
                <a:latin typeface="Calibri"/>
                <a:cs typeface="Calibri"/>
              </a:rPr>
              <a:t>?	</a:t>
            </a:r>
            <a:r>
              <a:rPr sz="2400" spc="-5" dirty="0">
                <a:latin typeface="Calibri"/>
                <a:cs typeface="Calibri"/>
              </a:rPr>
              <a:t>¿Qu</a:t>
            </a:r>
            <a:r>
              <a:rPr sz="2400" dirty="0">
                <a:latin typeface="Calibri"/>
                <a:cs typeface="Calibri"/>
              </a:rPr>
              <a:t>é	tipos	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e	arquitectura  existen? </a:t>
            </a:r>
            <a:r>
              <a:rPr sz="2400" spc="-5" dirty="0">
                <a:latin typeface="Calibri"/>
                <a:cs typeface="Calibri"/>
              </a:rPr>
              <a:t>¿Cuáles son sus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características?</a:t>
            </a:r>
            <a:endParaRPr sz="2400">
              <a:latin typeface="Calibri"/>
              <a:cs typeface="Calibri"/>
            </a:endParaRPr>
          </a:p>
          <a:p>
            <a:pPr marL="279400" marR="52069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1555115" algn="l"/>
                <a:tab pos="2251710" algn="l"/>
                <a:tab pos="2746375" algn="l"/>
                <a:tab pos="3107055" algn="l"/>
                <a:tab pos="3888740" algn="l"/>
                <a:tab pos="4584700" algn="l"/>
                <a:tab pos="5392420" algn="l"/>
                <a:tab pos="5831205" algn="l"/>
                <a:tab pos="6858634" algn="l"/>
                <a:tab pos="7393305" algn="l"/>
              </a:tabLst>
            </a:pPr>
            <a:r>
              <a:rPr sz="2400" spc="-5" dirty="0">
                <a:latin typeface="Calibri"/>
                <a:cs typeface="Calibri"/>
              </a:rPr>
              <a:t>Expliqu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5" dirty="0">
                <a:latin typeface="Calibri"/>
                <a:cs typeface="Calibri"/>
              </a:rPr>
              <a:t>qu</a:t>
            </a:r>
            <a:r>
              <a:rPr sz="2400" dirty="0">
                <a:latin typeface="Calibri"/>
                <a:cs typeface="Calibri"/>
              </a:rPr>
              <a:t>é	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s	y	</a:t>
            </a:r>
            <a:r>
              <a:rPr sz="2400" spc="-5" dirty="0">
                <a:latin typeface="Calibri"/>
                <a:cs typeface="Calibri"/>
              </a:rPr>
              <a:t>par</a:t>
            </a:r>
            <a:r>
              <a:rPr sz="2400" dirty="0">
                <a:latin typeface="Calibri"/>
                <a:cs typeface="Calibri"/>
              </a:rPr>
              <a:t>a	</a:t>
            </a:r>
            <a:r>
              <a:rPr sz="2400" spc="-5" dirty="0">
                <a:latin typeface="Calibri"/>
                <a:cs typeface="Calibri"/>
              </a:rPr>
              <a:t>qu</a:t>
            </a:r>
            <a:r>
              <a:rPr sz="2400" dirty="0">
                <a:latin typeface="Calibri"/>
                <a:cs typeface="Calibri"/>
              </a:rPr>
              <a:t>é	</a:t>
            </a:r>
            <a:r>
              <a:rPr sz="2400" spc="-5" dirty="0">
                <a:latin typeface="Calibri"/>
                <a:cs typeface="Calibri"/>
              </a:rPr>
              <a:t>sirv</a:t>
            </a:r>
            <a:r>
              <a:rPr sz="2400" dirty="0">
                <a:latin typeface="Calibri"/>
                <a:cs typeface="Calibri"/>
              </a:rPr>
              <a:t>e	la	Ma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riz	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e	McFarla</a:t>
            </a:r>
            <a:r>
              <a:rPr sz="2400" spc="-10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.  </a:t>
            </a:r>
            <a:r>
              <a:rPr sz="2400" spc="-5" dirty="0">
                <a:latin typeface="Calibri"/>
                <a:cs typeface="Calibri"/>
              </a:rPr>
              <a:t>Ejemplifique.</a:t>
            </a:r>
            <a:endParaRPr sz="2400">
              <a:latin typeface="Calibri"/>
              <a:cs typeface="Calibri"/>
            </a:endParaRPr>
          </a:p>
          <a:p>
            <a:pPr marL="279400" marR="52705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5" dirty="0">
                <a:latin typeface="Calibri"/>
                <a:cs typeface="Calibri"/>
              </a:rPr>
              <a:t>Diferencie una </a:t>
            </a:r>
            <a:r>
              <a:rPr sz="2400" dirty="0">
                <a:latin typeface="Calibri"/>
                <a:cs typeface="Calibri"/>
              </a:rPr>
              <a:t>estructura </a:t>
            </a:r>
            <a:r>
              <a:rPr sz="2400" spc="-5" dirty="0">
                <a:latin typeface="Calibri"/>
                <a:cs typeface="Calibri"/>
              </a:rPr>
              <a:t>organizacional de </a:t>
            </a:r>
            <a:r>
              <a:rPr sz="2400" dirty="0">
                <a:latin typeface="Calibri"/>
                <a:cs typeface="Calibri"/>
              </a:rPr>
              <a:t>SI centralizada y </a:t>
            </a:r>
            <a:r>
              <a:rPr sz="2400" spc="-5" dirty="0">
                <a:latin typeface="Calibri"/>
                <a:cs typeface="Calibri"/>
              </a:rPr>
              <a:t>otra  descentralizada.</a:t>
            </a:r>
            <a:endParaRPr sz="2400">
              <a:latin typeface="Calibri"/>
              <a:cs typeface="Calibri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1461770" algn="l"/>
                <a:tab pos="1941195" algn="l"/>
                <a:tab pos="3095625" algn="l"/>
                <a:tab pos="3833495" algn="l"/>
                <a:tab pos="5316220" algn="l"/>
                <a:tab pos="5872480" algn="l"/>
                <a:tab pos="6336665" algn="l"/>
                <a:tab pos="7513320" algn="l"/>
                <a:tab pos="8313420" algn="l"/>
              </a:tabLst>
            </a:pPr>
            <a:r>
              <a:rPr sz="2400" spc="-5" dirty="0">
                <a:latin typeface="Calibri"/>
                <a:cs typeface="Calibri"/>
              </a:rPr>
              <a:t>Explique	</a:t>
            </a:r>
            <a:r>
              <a:rPr sz="2400" dirty="0">
                <a:latin typeface="Calibri"/>
                <a:cs typeface="Calibri"/>
              </a:rPr>
              <a:t>los	</a:t>
            </a:r>
            <a:r>
              <a:rPr sz="2400" spc="-5" dirty="0">
                <a:latin typeface="Calibri"/>
                <a:cs typeface="Calibri"/>
              </a:rPr>
              <a:t>diversos	</a:t>
            </a:r>
            <a:r>
              <a:rPr sz="2400" dirty="0">
                <a:latin typeface="Calibri"/>
                <a:cs typeface="Calibri"/>
              </a:rPr>
              <a:t>roles	ejecutados	</a:t>
            </a:r>
            <a:r>
              <a:rPr sz="2400" spc="-5" dirty="0">
                <a:latin typeface="Calibri"/>
                <a:cs typeface="Calibri"/>
              </a:rPr>
              <a:t>por	</a:t>
            </a:r>
            <a:r>
              <a:rPr sz="2400" dirty="0">
                <a:latin typeface="Calibri"/>
                <a:cs typeface="Calibri"/>
              </a:rPr>
              <a:t>las	</a:t>
            </a:r>
            <a:r>
              <a:rPr sz="2400" spc="-10" dirty="0">
                <a:latin typeface="Calibri"/>
                <a:cs typeface="Calibri"/>
              </a:rPr>
              <a:t>distintas	</a:t>
            </a:r>
            <a:r>
              <a:rPr sz="2400" dirty="0">
                <a:latin typeface="Calibri"/>
                <a:cs typeface="Calibri"/>
              </a:rPr>
              <a:t>áreas	</a:t>
            </a:r>
            <a:r>
              <a:rPr sz="2400" spc="5" dirty="0">
                <a:latin typeface="Calibri"/>
                <a:cs typeface="Calibri"/>
              </a:rPr>
              <a:t>de</a:t>
            </a:r>
            <a:endParaRPr sz="2400">
              <a:latin typeface="Calibri"/>
              <a:cs typeface="Calibri"/>
            </a:endParaRPr>
          </a:p>
          <a:p>
            <a:pPr marL="103505">
              <a:lnSpc>
                <a:spcPct val="100000"/>
              </a:lnSpc>
              <a:tabLst>
                <a:tab pos="867473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 </a:t>
            </a:r>
            <a:r>
              <a:rPr sz="2400" u="sng" spc="-2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Sistemas.	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" y="0"/>
            <a:ext cx="9139427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5750" y="2084070"/>
            <a:ext cx="19119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¿Dudas?</a:t>
            </a:r>
            <a:endParaRPr sz="3000"/>
          </a:p>
          <a:p>
            <a:pPr marL="12700">
              <a:lnSpc>
                <a:spcPct val="100000"/>
              </a:lnSpc>
            </a:pPr>
            <a:r>
              <a:rPr sz="3000" spc="-5" dirty="0"/>
              <a:t>¿Consultas?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1276</TotalTime>
  <Words>6508</Words>
  <Application>Microsoft Office PowerPoint</Application>
  <PresentationFormat>Presentación en pantalla (4:3)</PresentationFormat>
  <Paragraphs>721</Paragraphs>
  <Slides>74</Slides>
  <Notes>0</Notes>
  <HiddenSlides>25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74</vt:i4>
      </vt:variant>
    </vt:vector>
  </HeadingPairs>
  <TitlesOfParts>
    <vt:vector size="81" baseType="lpstr">
      <vt:lpstr>Arial</vt:lpstr>
      <vt:lpstr>Calibri</vt:lpstr>
      <vt:lpstr>Gill Sans MT</vt:lpstr>
      <vt:lpstr>Lucida Sans</vt:lpstr>
      <vt:lpstr>Times New Roman</vt:lpstr>
      <vt:lpstr>Wingdings</vt:lpstr>
      <vt:lpstr>Office Theme</vt:lpstr>
      <vt:lpstr>Sistemas de  Información</vt:lpstr>
      <vt:lpstr>Presentación de PowerPoint</vt:lpstr>
      <vt:lpstr>Presentación de PowerPoint</vt:lpstr>
      <vt:lpstr>Presentación de PowerPoint</vt:lpstr>
      <vt:lpstr>Presentación de PowerPoint</vt:lpstr>
      <vt:lpstr>I – Planeamiento Estratégico de Sistemas de Información (Cont.)</vt:lpstr>
      <vt:lpstr>Presentación de PowerPoint</vt:lpstr>
      <vt:lpstr>I – Planeamiento Estratégico de Sistemas de Información (Cont.)</vt:lpstr>
      <vt:lpstr>Presentación de PowerPoint</vt:lpstr>
      <vt:lpstr>Presentación de PowerPoint</vt:lpstr>
      <vt:lpstr>I – Planeamiento Estratégico de Sistemas de Información (Cont.)</vt:lpstr>
      <vt:lpstr>I – Planeamiento Estratégico de Sistemas de Información (Cont.)</vt:lpstr>
      <vt:lpstr>I – Planeamiento Estratégico de Sistemas de Información (Cont.)</vt:lpstr>
      <vt:lpstr>I – Planeamiento Estratégico de Sistemas de Información (Cont.) El rol del CIO</vt:lpstr>
      <vt:lpstr>I – Planeamiento Estratégico de Sistemas de Información (Cont.) El rol del CIO</vt:lpstr>
      <vt:lpstr>I – Planeamiento Estratégico de Sistemas de Información (Cont.) El rol del CIO</vt:lpstr>
      <vt:lpstr>Presentación de PowerPoint</vt:lpstr>
      <vt:lpstr>Presentación de PowerPoint</vt:lpstr>
      <vt:lpstr>II – Gestión de Proyectos de SI/TI (Cont.) Fundamentos conceptuales</vt:lpstr>
      <vt:lpstr>Etapas de un proyecto:</vt:lpstr>
      <vt:lpstr>Presentación de PowerPoint</vt:lpstr>
      <vt:lpstr>Presentación de PowerPoint</vt:lpstr>
      <vt:lpstr>II – Gestión de Proyectos de SI/TI (Cont.) Fundamentos conceptuales</vt:lpstr>
      <vt:lpstr>II – Gestión de Proyectos de SI/TI (Cont.) Fundamentos conceptuales</vt:lpstr>
      <vt:lpstr>II – Gestión de Proyectos de SI/TI (Cont.) Fundamentos conceptuales</vt:lpstr>
      <vt:lpstr>Presentación de PowerPoint</vt:lpstr>
      <vt:lpstr>Presentación de PowerPoint</vt:lpstr>
      <vt:lpstr>II – Gestión de Proyectos de SI/TI (Cont.)</vt:lpstr>
      <vt:lpstr>II – Gestión de Proyectos de SI/TI (Cont.)</vt:lpstr>
      <vt:lpstr>II – Gestión de Proyectos de SI/TI (Cont.)</vt:lpstr>
      <vt:lpstr>II – Gestión de Proyectos de SI/TI (Cont.)</vt:lpstr>
      <vt:lpstr>II – Gestión de Proyectos de SI/TI (Cont.)</vt:lpstr>
      <vt:lpstr>II – Gestión de Proyectos de SI/TI (Cont.)</vt:lpstr>
      <vt:lpstr>II – Gestión de Proyectos de SI/TI (Cont.) Evaluación de proyectos</vt:lpstr>
      <vt:lpstr>Un proyecto de desarrollo de Sistemas exitoso es aquel que, entre  otras consideraciones:</vt:lpstr>
      <vt:lpstr>¿Cómo evaluar proyectos de SI/TI? Al igual que cualquier proyecto  estratégico de inversión. Considerar los siguientes criterios:</vt:lpstr>
      <vt:lpstr>Presentación de PowerPoint</vt:lpstr>
      <vt:lpstr>Presentación de PowerPoint</vt:lpstr>
      <vt:lpstr>II – Gestión de Proyectos de SI/TI (Cont.) Evaluación de proyectos</vt:lpstr>
      <vt:lpstr>Presentación de PowerPoint</vt:lpstr>
      <vt:lpstr>II – Gestión de Proyectos de SI/TI (Cont.) Evaluación de proyectos</vt:lpstr>
      <vt:lpstr>II – Gestión de Proyectos de SI/TI (Cont.) Evaluación de proyectos</vt:lpstr>
      <vt:lpstr>II – Gestión de Proyectos de SI/TI (Cont.) Evaluación de proyectos</vt:lpstr>
      <vt:lpstr>Tener en cuenta:</vt:lpstr>
      <vt:lpstr>Presentación de PowerPoint</vt:lpstr>
      <vt:lpstr>Presentación de PowerPoint</vt:lpstr>
      <vt:lpstr>Presentación de PowerPoint</vt:lpstr>
      <vt:lpstr>Presentación de PowerPoint</vt:lpstr>
      <vt:lpstr>III – Organización en el área de Sistemas (Cont.) Posicionamiento del área de Sistemas en la estructura organizacional (Cont.)</vt:lpstr>
      <vt:lpstr>III – Organización en el área de Sistemas (Cont.) Posicionamiento del área de Sistemas en la estructura organizacional (Cont.)</vt:lpstr>
      <vt:lpstr>III – Organización en el área de Sistemas (Cont.) Posicionamiento del área de Sistemas en la estructura organizacional (Cont.)</vt:lpstr>
      <vt:lpstr>III – Organización en el área de Sistemas (Cont.)</vt:lpstr>
      <vt:lpstr>III – Organización en el área de Sistemas (Cont.) Posicionamiento del área de Sistemas en la estructura organizacional (Cont.)</vt:lpstr>
      <vt:lpstr>III – Organización en el área de Sistemas (Cont.) Posicionamiento del área de Sistemas en la estructura organizacional (Cont.)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III – Organización en el área de Sistemas (Cont.) Misiones y funciones del área de Sistemas (Cont.)</vt:lpstr>
      <vt:lpstr>Presentación de PowerPoint</vt:lpstr>
      <vt:lpstr>Presentación de PowerPoint</vt:lpstr>
      <vt:lpstr>Presentación de PowerPoint</vt:lpstr>
      <vt:lpstr>Presentación de PowerPoint</vt:lpstr>
      <vt:lpstr>III – Organización en el área de Sistemas (Cont.) Misiones y funciones del área de Sistemas (Cont.)</vt:lpstr>
      <vt:lpstr>III – Organización en el área de Sistemas (Cont.) Misiones y funciones del área de Sistemas (Cont.)</vt:lpstr>
      <vt:lpstr>III – Organización en el área de Sistemas (Cont.) Misiones y funciones del área de Sistemas (Cont.)</vt:lpstr>
      <vt:lpstr>III – Organización en el área de Sistemas (Cont.) Misiones y funciones del área de Sistemas (Cont.)</vt:lpstr>
      <vt:lpstr>III – Organización en el área de Sistemas (Cont.) Misiones y funciones del área de Sistemas (Cont.)</vt:lpstr>
      <vt:lpstr>III – Organización en el área de Sistemas (Cont.) Misiones y funciones del área de Sistemas (Cont.)</vt:lpstr>
      <vt:lpstr>Presentación de PowerPoint</vt:lpstr>
      <vt:lpstr>Presentación de PowerPoint</vt:lpstr>
      <vt:lpstr>IV – Síntesis (Cont.)</vt:lpstr>
      <vt:lpstr>¿Dudas? ¿Consultas?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Datawarehousing</dc:title>
  <dc:creator>Roberto Abalde</dc:creator>
  <cp:lastModifiedBy>Klus Javier Fernando</cp:lastModifiedBy>
  <cp:revision>11</cp:revision>
  <dcterms:created xsi:type="dcterms:W3CDTF">2019-11-07T17:44:22Z</dcterms:created>
  <dcterms:modified xsi:type="dcterms:W3CDTF">2021-06-14T20:01:34Z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2019-11-07T00:00:00Z</vt:filetime>
  </property>
</Properties>
</file>