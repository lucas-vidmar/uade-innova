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1" r:id="rId35"/>
    <p:sldId id="292" r:id="rId36"/>
    <p:sldId id="293" r:id="rId37"/>
    <p:sldId id="295" r:id="rId38"/>
    <p:sldId id="296" r:id="rId39"/>
    <p:sldId id="297" r:id="rId40"/>
    <p:sldId id="298" r:id="rId41"/>
    <p:sldId id="300" r:id="rId42"/>
    <p:sldId id="301" r:id="rId43"/>
    <p:sldId id="302" r:id="rId44"/>
    <p:sldId id="303" r:id="rId45"/>
    <p:sldId id="304" r:id="rId46"/>
    <p:sldId id="305" r:id="rId47"/>
    <p:sldId id="307" r:id="rId48"/>
    <p:sldId id="322" r:id="rId49"/>
    <p:sldId id="327" r:id="rId50"/>
    <p:sldId id="323" r:id="rId51"/>
    <p:sldId id="325" r:id="rId52"/>
    <p:sldId id="326" r:id="rId53"/>
  </p:sldIdLst>
  <p:sldSz cx="9144000" cy="6858000" type="screen4x3"/>
  <p:notesSz cx="9144000" cy="6858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40" d="100"/>
          <a:sy n="40" d="100"/>
        </p:scale>
        <p:origin x="-726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62125" y="827532"/>
            <a:ext cx="6619748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20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8/27/2019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20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8/27/2019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20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8/27/2019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20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8/27/2019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20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8/27/2019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39428" cy="102717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6258" y="193801"/>
            <a:ext cx="2228215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7340" y="3409441"/>
            <a:ext cx="4946015" cy="2393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7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20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8/27/2019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13469" y="6523387"/>
            <a:ext cx="177800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‹Nº›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3.png"/><Relationship Id="rId7" Type="http://schemas.openxmlformats.org/officeDocument/2006/relationships/hyperlink" Target="mailto:alerner@uade.edu.ar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eg"/><Relationship Id="rId3" Type="http://schemas.openxmlformats.org/officeDocument/2006/relationships/image" Target="../media/image33.jpeg"/><Relationship Id="rId7" Type="http://schemas.openxmlformats.org/officeDocument/2006/relationships/image" Target="../media/image37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jpeg"/><Relationship Id="rId3" Type="http://schemas.openxmlformats.org/officeDocument/2006/relationships/image" Target="../media/image50.jpeg"/><Relationship Id="rId7" Type="http://schemas.openxmlformats.org/officeDocument/2006/relationships/image" Target="../media/image54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jpeg"/><Relationship Id="rId5" Type="http://schemas.openxmlformats.org/officeDocument/2006/relationships/image" Target="../media/image52.jpeg"/><Relationship Id="rId4" Type="http://schemas.openxmlformats.org/officeDocument/2006/relationships/image" Target="../media/image5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9.jpeg"/><Relationship Id="rId4" Type="http://schemas.openxmlformats.org/officeDocument/2006/relationships/image" Target="../media/image5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youtube.com/watch?v=hOxUSR1VBcg" TargetMode="External"/><Relationship Id="rId4" Type="http://schemas.openxmlformats.org/officeDocument/2006/relationships/image" Target="../media/image6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jpeg"/><Relationship Id="rId3" Type="http://schemas.openxmlformats.org/officeDocument/2006/relationships/image" Target="../media/image67.jpeg"/><Relationship Id="rId7" Type="http://schemas.openxmlformats.org/officeDocument/2006/relationships/image" Target="../media/image71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jpeg"/><Relationship Id="rId11" Type="http://schemas.openxmlformats.org/officeDocument/2006/relationships/image" Target="../media/image75.jpeg"/><Relationship Id="rId5" Type="http://schemas.openxmlformats.org/officeDocument/2006/relationships/image" Target="../media/image69.jpeg"/><Relationship Id="rId10" Type="http://schemas.openxmlformats.org/officeDocument/2006/relationships/image" Target="../media/image74.jpeg"/><Relationship Id="rId4" Type="http://schemas.openxmlformats.org/officeDocument/2006/relationships/image" Target="../media/image68.jpeg"/><Relationship Id="rId9" Type="http://schemas.openxmlformats.org/officeDocument/2006/relationships/image" Target="../media/image73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7" Type="http://schemas.openxmlformats.org/officeDocument/2006/relationships/image" Target="../media/image81.jpeg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jpeg"/><Relationship Id="rId5" Type="http://schemas.openxmlformats.org/officeDocument/2006/relationships/image" Target="../media/image79.jpeg"/><Relationship Id="rId4" Type="http://schemas.openxmlformats.org/officeDocument/2006/relationships/image" Target="../media/image78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1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image" Target="../media/image97.jpeg"/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jpe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amFe8WZP8DY&amp;amp;t=85s" TargetMode="Externa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6.png"/><Relationship Id="rId5" Type="http://schemas.openxmlformats.org/officeDocument/2006/relationships/image" Target="../media/image105.jpeg"/><Relationship Id="rId4" Type="http://schemas.openxmlformats.org/officeDocument/2006/relationships/image" Target="../media/image104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7" Type="http://schemas.openxmlformats.org/officeDocument/2006/relationships/hyperlink" Target="https://www.youtube.com/watch?v=xW95yb6J1eU" TargetMode="Externa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jpe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sBJADdyByG4" TargetMode="External"/><Relationship Id="rId2" Type="http://schemas.openxmlformats.org/officeDocument/2006/relationships/hyperlink" Target="https://youtu.be/v_Xk6161Pwk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jpeg"/><Relationship Id="rId5" Type="http://schemas.openxmlformats.org/officeDocument/2006/relationships/hyperlink" Target="https://youtu.be/UtuKnnw849Y" TargetMode="External"/><Relationship Id="rId4" Type="http://schemas.openxmlformats.org/officeDocument/2006/relationships/hyperlink" Target="https://youtu.be/u9M-7-Qq1lo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xZm2Iv4vUE&amp;feature=youtu.be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e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" y="0"/>
            <a:ext cx="914018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6258" y="95249"/>
            <a:ext cx="348043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i="1" spc="-495" dirty="0">
                <a:latin typeface="Arial"/>
                <a:cs typeface="Arial"/>
              </a:rPr>
              <a:t>Sistemas </a:t>
            </a:r>
            <a:r>
              <a:rPr sz="5400" i="1" spc="-400" dirty="0">
                <a:latin typeface="Arial"/>
                <a:cs typeface="Arial"/>
              </a:rPr>
              <a:t>de  </a:t>
            </a:r>
            <a:r>
              <a:rPr sz="5400" i="1" spc="-340" dirty="0">
                <a:latin typeface="Arial"/>
                <a:cs typeface="Arial"/>
              </a:rPr>
              <a:t>Información</a:t>
            </a:r>
            <a:endParaRPr sz="5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395" y="1959101"/>
            <a:ext cx="1540002" cy="6766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6878" y="2349245"/>
            <a:ext cx="3678174" cy="5105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6878" y="2623566"/>
            <a:ext cx="1454658" cy="5105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6925" y="2025141"/>
            <a:ext cx="3348990" cy="1969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155" dirty="0">
                <a:solidFill>
                  <a:srgbClr val="FFFFFF"/>
                </a:solidFill>
                <a:latin typeface="Arial"/>
                <a:cs typeface="Arial"/>
              </a:rPr>
              <a:t>Unidad</a:t>
            </a:r>
            <a:r>
              <a:rPr sz="2400" b="1" i="1" spc="-22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i="1" spc="-12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4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40"/>
              </a:spcBef>
            </a:pPr>
            <a:r>
              <a:rPr sz="1800" b="1" i="1" spc="-100" dirty="0">
                <a:solidFill>
                  <a:srgbClr val="FFFFFF"/>
                </a:solidFill>
                <a:latin typeface="Arial"/>
                <a:cs typeface="Arial"/>
              </a:rPr>
              <a:t>Infraestructura </a:t>
            </a:r>
            <a:r>
              <a:rPr sz="1800" b="1" i="1" spc="-13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b="1" i="1" spc="-140" dirty="0">
                <a:solidFill>
                  <a:srgbClr val="FFFFFF"/>
                </a:solidFill>
                <a:latin typeface="Arial"/>
                <a:cs typeface="Arial"/>
              </a:rPr>
              <a:t>Tecnología </a:t>
            </a:r>
            <a:r>
              <a:rPr sz="1800" b="1" i="1" spc="-13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b="1" i="1" spc="-55" dirty="0">
                <a:solidFill>
                  <a:srgbClr val="FFFFFF"/>
                </a:solidFill>
                <a:latin typeface="Arial"/>
                <a:cs typeface="Arial"/>
              </a:rPr>
              <a:t>la  </a:t>
            </a:r>
            <a:r>
              <a:rPr sz="1800" b="1" i="1" spc="-114" dirty="0">
                <a:solidFill>
                  <a:srgbClr val="FFFFFF"/>
                </a:solidFill>
                <a:latin typeface="Arial"/>
                <a:cs typeface="Arial"/>
              </a:rPr>
              <a:t>Información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65" dirty="0">
                <a:solidFill>
                  <a:srgbClr val="FFFFFF"/>
                </a:solidFill>
                <a:latin typeface="Arial"/>
                <a:cs typeface="Arial"/>
              </a:rPr>
              <a:t>Mag. </a:t>
            </a:r>
            <a:r>
              <a:rPr lang="es-AR" sz="1400" b="1" spc="-105" dirty="0" smtClean="0">
                <a:solidFill>
                  <a:srgbClr val="FFFFFF"/>
                </a:solidFill>
                <a:latin typeface="Arial"/>
                <a:cs typeface="Arial"/>
              </a:rPr>
              <a:t>Javier F. Klus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s-AR" sz="1100" spc="-50" dirty="0" err="1" smtClean="0">
                <a:solidFill>
                  <a:srgbClr val="FFFFFF"/>
                </a:solidFill>
                <a:latin typeface="Arial"/>
                <a:cs typeface="Arial"/>
                <a:hlinkClick r:id="rId7"/>
              </a:rPr>
              <a:t>jklus</a:t>
            </a:r>
            <a:r>
              <a:rPr sz="1100" spc="-50" dirty="0" smtClean="0">
                <a:solidFill>
                  <a:srgbClr val="FFFFFF"/>
                </a:solidFill>
                <a:latin typeface="Arial"/>
                <a:cs typeface="Arial"/>
                <a:hlinkClick r:id="rId7"/>
              </a:rPr>
              <a:t>@</a:t>
            </a:r>
            <a:r>
              <a:rPr sz="1100" spc="-50" dirty="0" err="1" smtClean="0">
                <a:solidFill>
                  <a:srgbClr val="FFFFFF"/>
                </a:solidFill>
                <a:latin typeface="Arial"/>
                <a:cs typeface="Arial"/>
                <a:hlinkClick r:id="rId7"/>
              </a:rPr>
              <a:t>uade.edu.ar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75" dirty="0">
                <a:solidFill>
                  <a:srgbClr val="FFFFFF"/>
                </a:solidFill>
                <a:latin typeface="Arial"/>
                <a:cs typeface="Arial"/>
              </a:rPr>
              <a:t>2019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4800" y="4361688"/>
            <a:ext cx="1639824" cy="8199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36285" y="614933"/>
            <a:ext cx="2834640" cy="7528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86908" y="668019"/>
            <a:ext cx="24885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1" spc="-100" dirty="0">
                <a:solidFill>
                  <a:srgbClr val="003186"/>
                </a:solidFill>
                <a:latin typeface="Arial"/>
                <a:cs typeface="Arial"/>
              </a:rPr>
              <a:t>Planeamiento corporativo </a:t>
            </a:r>
            <a:r>
              <a:rPr sz="1600" b="1" spc="-105" dirty="0">
                <a:solidFill>
                  <a:srgbClr val="003186"/>
                </a:solidFill>
                <a:latin typeface="Arial"/>
                <a:cs typeface="Arial"/>
              </a:rPr>
              <a:t>de  </a:t>
            </a:r>
            <a:r>
              <a:rPr sz="1600" b="1" spc="-150" dirty="0">
                <a:solidFill>
                  <a:srgbClr val="003186"/>
                </a:solidFill>
                <a:latin typeface="Arial"/>
                <a:cs typeface="Arial"/>
              </a:rPr>
              <a:t>Sistemas </a:t>
            </a:r>
            <a:r>
              <a:rPr sz="1600" b="1" spc="-105" dirty="0">
                <a:solidFill>
                  <a:srgbClr val="003186"/>
                </a:solidFill>
                <a:latin typeface="Arial"/>
                <a:cs typeface="Arial"/>
              </a:rPr>
              <a:t>de</a:t>
            </a:r>
            <a:r>
              <a:rPr sz="1600" b="1" spc="-45" dirty="0">
                <a:solidFill>
                  <a:srgbClr val="003186"/>
                </a:solidFill>
                <a:latin typeface="Arial"/>
                <a:cs typeface="Arial"/>
              </a:rPr>
              <a:t> </a:t>
            </a:r>
            <a:r>
              <a:rPr sz="1600" b="1" spc="-100" dirty="0">
                <a:solidFill>
                  <a:srgbClr val="003186"/>
                </a:solidFill>
                <a:latin typeface="Arial"/>
                <a:cs typeface="Arial"/>
              </a:rPr>
              <a:t>Información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25186" y="686180"/>
            <a:ext cx="485775" cy="549910"/>
          </a:xfrm>
          <a:custGeom>
            <a:avLst/>
            <a:gdLst/>
            <a:ahLst/>
            <a:cxnLst/>
            <a:rect l="l" t="t" r="r" b="b"/>
            <a:pathLst>
              <a:path w="485775" h="549910">
                <a:moveTo>
                  <a:pt x="485393" y="0"/>
                </a:moveTo>
                <a:lnTo>
                  <a:pt x="121285" y="0"/>
                </a:lnTo>
                <a:lnTo>
                  <a:pt x="0" y="549402"/>
                </a:lnTo>
                <a:lnTo>
                  <a:pt x="363982" y="549402"/>
                </a:lnTo>
                <a:lnTo>
                  <a:pt x="485393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25186" y="686180"/>
            <a:ext cx="485775" cy="549910"/>
          </a:xfrm>
          <a:custGeom>
            <a:avLst/>
            <a:gdLst/>
            <a:ahLst/>
            <a:cxnLst/>
            <a:rect l="l" t="t" r="r" b="b"/>
            <a:pathLst>
              <a:path w="485775" h="549910">
                <a:moveTo>
                  <a:pt x="0" y="549402"/>
                </a:moveTo>
                <a:lnTo>
                  <a:pt x="121285" y="0"/>
                </a:lnTo>
                <a:lnTo>
                  <a:pt x="485393" y="0"/>
                </a:lnTo>
                <a:lnTo>
                  <a:pt x="363982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20640" y="779525"/>
            <a:ext cx="933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66157" y="1235583"/>
            <a:ext cx="3481070" cy="0"/>
          </a:xfrm>
          <a:custGeom>
            <a:avLst/>
            <a:gdLst/>
            <a:ahLst/>
            <a:cxnLst/>
            <a:rect l="l" t="t" r="r" b="b"/>
            <a:pathLst>
              <a:path w="3481070">
                <a:moveTo>
                  <a:pt x="0" y="0"/>
                </a:moveTo>
                <a:lnTo>
                  <a:pt x="3481069" y="0"/>
                </a:lnTo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03546" y="1216609"/>
            <a:ext cx="3027045" cy="6654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241300" algn="l"/>
              </a:tabLst>
            </a:pPr>
            <a:r>
              <a:rPr sz="1400" b="1" spc="-100" dirty="0">
                <a:solidFill>
                  <a:srgbClr val="003186"/>
                </a:solidFill>
                <a:latin typeface="Arial"/>
                <a:cs typeface="Arial"/>
              </a:rPr>
              <a:t>Contexto </a:t>
            </a:r>
            <a:r>
              <a:rPr sz="1400" b="1" spc="-120" dirty="0">
                <a:solidFill>
                  <a:srgbClr val="003186"/>
                </a:solidFill>
                <a:latin typeface="Arial"/>
                <a:cs typeface="Arial"/>
              </a:rPr>
              <a:t>y consideraciones</a:t>
            </a:r>
            <a:r>
              <a:rPr sz="1400" b="1" spc="-45" dirty="0">
                <a:solidFill>
                  <a:srgbClr val="003186"/>
                </a:solidFill>
                <a:latin typeface="Arial"/>
                <a:cs typeface="Arial"/>
              </a:rPr>
              <a:t> </a:t>
            </a:r>
            <a:r>
              <a:rPr sz="1400" b="1" spc="-110" dirty="0">
                <a:solidFill>
                  <a:srgbClr val="003186"/>
                </a:solidFill>
                <a:latin typeface="Arial"/>
                <a:cs typeface="Arial"/>
              </a:rPr>
              <a:t>generales</a:t>
            </a:r>
            <a:endParaRPr sz="1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300" algn="l"/>
              </a:tabLst>
            </a:pPr>
            <a:r>
              <a:rPr sz="1400" b="1" spc="-110" dirty="0">
                <a:solidFill>
                  <a:srgbClr val="003186"/>
                </a:solidFill>
                <a:latin typeface="Arial"/>
                <a:cs typeface="Arial"/>
              </a:rPr>
              <a:t>Tecnología, </a:t>
            </a:r>
            <a:r>
              <a:rPr sz="1400" b="1" spc="-135" dirty="0">
                <a:solidFill>
                  <a:srgbClr val="003186"/>
                </a:solidFill>
                <a:latin typeface="Arial"/>
                <a:cs typeface="Arial"/>
              </a:rPr>
              <a:t>negocios </a:t>
            </a:r>
            <a:r>
              <a:rPr sz="1400" b="1" spc="-120" dirty="0">
                <a:solidFill>
                  <a:srgbClr val="003186"/>
                </a:solidFill>
                <a:latin typeface="Arial"/>
                <a:cs typeface="Arial"/>
              </a:rPr>
              <a:t>y</a:t>
            </a:r>
            <a:r>
              <a:rPr sz="1400" b="1" spc="20" dirty="0">
                <a:solidFill>
                  <a:srgbClr val="003186"/>
                </a:solidFill>
                <a:latin typeface="Arial"/>
                <a:cs typeface="Arial"/>
              </a:rPr>
              <a:t> </a:t>
            </a:r>
            <a:r>
              <a:rPr sz="1400" b="1" spc="-85" dirty="0">
                <a:solidFill>
                  <a:srgbClr val="003186"/>
                </a:solidFill>
                <a:latin typeface="Arial"/>
                <a:cs typeface="Arial"/>
              </a:rPr>
              <a:t>estrategia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8208" y="2020570"/>
            <a:ext cx="25196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095" marR="5080" indent="-748030">
              <a:lnSpc>
                <a:spcPct val="100000"/>
              </a:lnSpc>
              <a:spcBef>
                <a:spcPts val="100"/>
              </a:spcBef>
            </a:pPr>
            <a:r>
              <a:rPr sz="3000" b="1" spc="-220" dirty="0">
                <a:solidFill>
                  <a:srgbClr val="FFFFFF"/>
                </a:solidFill>
                <a:latin typeface="Arial"/>
                <a:cs typeface="Arial"/>
              </a:rPr>
              <a:t>Contenido </a:t>
            </a:r>
            <a:r>
              <a:rPr sz="3000" b="1" spc="-19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3000" b="1" spc="-145" dirty="0">
                <a:solidFill>
                  <a:srgbClr val="FFFFFF"/>
                </a:solidFill>
                <a:latin typeface="Arial"/>
                <a:cs typeface="Arial"/>
              </a:rPr>
              <a:t>la  </a:t>
            </a:r>
            <a:r>
              <a:rPr sz="3000" b="1" spc="-275" dirty="0">
                <a:solidFill>
                  <a:srgbClr val="FFFFFF"/>
                </a:solidFill>
                <a:latin typeface="Arial"/>
                <a:cs typeface="Arial"/>
              </a:rPr>
              <a:t>sesión</a:t>
            </a:r>
            <a:endParaRPr sz="3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41189" y="2486025"/>
            <a:ext cx="487680" cy="548640"/>
          </a:xfrm>
          <a:custGeom>
            <a:avLst/>
            <a:gdLst/>
            <a:ahLst/>
            <a:cxnLst/>
            <a:rect l="l" t="t" r="r" b="b"/>
            <a:pathLst>
              <a:path w="487679" h="548639">
                <a:moveTo>
                  <a:pt x="487680" y="0"/>
                </a:moveTo>
                <a:lnTo>
                  <a:pt x="121920" y="0"/>
                </a:lnTo>
                <a:lnTo>
                  <a:pt x="0" y="548639"/>
                </a:lnTo>
                <a:lnTo>
                  <a:pt x="365760" y="548639"/>
                </a:lnTo>
                <a:lnTo>
                  <a:pt x="48768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41189" y="2486025"/>
            <a:ext cx="487680" cy="548640"/>
          </a:xfrm>
          <a:custGeom>
            <a:avLst/>
            <a:gdLst/>
            <a:ahLst/>
            <a:cxnLst/>
            <a:rect l="l" t="t" r="r" b="b"/>
            <a:pathLst>
              <a:path w="487679" h="548639">
                <a:moveTo>
                  <a:pt x="0" y="548639"/>
                </a:moveTo>
                <a:lnTo>
                  <a:pt x="121920" y="0"/>
                </a:lnTo>
                <a:lnTo>
                  <a:pt x="487680" y="0"/>
                </a:lnTo>
                <a:lnTo>
                  <a:pt x="365760" y="548639"/>
                </a:lnTo>
                <a:lnTo>
                  <a:pt x="0" y="548639"/>
                </a:lnTo>
                <a:close/>
              </a:path>
            </a:pathLst>
          </a:custGeom>
          <a:ln w="9906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104638" y="2579116"/>
            <a:ext cx="1612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II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69966" y="3031617"/>
            <a:ext cx="3493770" cy="0"/>
          </a:xfrm>
          <a:custGeom>
            <a:avLst/>
            <a:gdLst/>
            <a:ahLst/>
            <a:cxnLst/>
            <a:rect l="l" t="t" r="r" b="b"/>
            <a:pathLst>
              <a:path w="3493770">
                <a:moveTo>
                  <a:pt x="0" y="0"/>
                </a:moveTo>
                <a:lnTo>
                  <a:pt x="3493389" y="0"/>
                </a:lnTo>
              </a:path>
            </a:pathLst>
          </a:custGeom>
          <a:ln w="9906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47715" y="2554223"/>
            <a:ext cx="1162812" cy="5090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498591" y="2607055"/>
            <a:ext cx="8629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90" dirty="0">
                <a:solidFill>
                  <a:srgbClr val="003186"/>
                </a:solidFill>
                <a:latin typeface="Arial"/>
                <a:cs typeface="Arial"/>
              </a:rPr>
              <a:t>Hardware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94655" y="3024987"/>
            <a:ext cx="3457575" cy="141351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44"/>
              </a:spcBef>
              <a:buAutoNum type="arabicPeriod"/>
              <a:tabLst>
                <a:tab pos="241300" algn="l"/>
              </a:tabLst>
            </a:pPr>
            <a:r>
              <a:rPr sz="1400" b="1" spc="-135" dirty="0">
                <a:solidFill>
                  <a:srgbClr val="003186"/>
                </a:solidFill>
                <a:latin typeface="Arial"/>
                <a:cs typeface="Arial"/>
              </a:rPr>
              <a:t>Conceptos </a:t>
            </a:r>
            <a:r>
              <a:rPr sz="1400" b="1" spc="-145" dirty="0">
                <a:solidFill>
                  <a:srgbClr val="003186"/>
                </a:solidFill>
                <a:latin typeface="Arial"/>
                <a:cs typeface="Arial"/>
              </a:rPr>
              <a:t>básicos </a:t>
            </a:r>
            <a:r>
              <a:rPr sz="1400" b="1" spc="-90" dirty="0">
                <a:solidFill>
                  <a:srgbClr val="003186"/>
                </a:solidFill>
                <a:latin typeface="Arial"/>
                <a:cs typeface="Arial"/>
              </a:rPr>
              <a:t>de</a:t>
            </a:r>
            <a:r>
              <a:rPr sz="1400" b="1" spc="-195" dirty="0">
                <a:solidFill>
                  <a:srgbClr val="003186"/>
                </a:solidFill>
                <a:latin typeface="Arial"/>
                <a:cs typeface="Arial"/>
              </a:rPr>
              <a:t> </a:t>
            </a:r>
            <a:r>
              <a:rPr sz="1400" b="1" spc="-80" dirty="0">
                <a:solidFill>
                  <a:srgbClr val="003186"/>
                </a:solidFill>
                <a:latin typeface="Arial"/>
                <a:cs typeface="Arial"/>
              </a:rPr>
              <a:t>Hardware</a:t>
            </a:r>
            <a:endParaRPr sz="1400">
              <a:latin typeface="Arial"/>
              <a:cs typeface="Arial"/>
            </a:endParaRPr>
          </a:p>
          <a:p>
            <a:pPr marL="241300" marR="909319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300" algn="l"/>
              </a:tabLst>
            </a:pPr>
            <a:r>
              <a:rPr sz="1400" b="1" spc="-130" dirty="0">
                <a:solidFill>
                  <a:srgbClr val="003186"/>
                </a:solidFill>
                <a:latin typeface="Arial"/>
                <a:cs typeface="Arial"/>
              </a:rPr>
              <a:t>Sistemas </a:t>
            </a:r>
            <a:r>
              <a:rPr sz="1400" b="1" spc="-110" dirty="0">
                <a:solidFill>
                  <a:srgbClr val="003186"/>
                </a:solidFill>
                <a:latin typeface="Arial"/>
                <a:cs typeface="Arial"/>
              </a:rPr>
              <a:t>computacionales </a:t>
            </a:r>
            <a:r>
              <a:rPr sz="1400" b="1" spc="-120" dirty="0">
                <a:solidFill>
                  <a:srgbClr val="003186"/>
                </a:solidFill>
                <a:latin typeface="Arial"/>
                <a:cs typeface="Arial"/>
              </a:rPr>
              <a:t>y </a:t>
            </a:r>
            <a:r>
              <a:rPr sz="1400" b="1" spc="-90" dirty="0">
                <a:solidFill>
                  <a:srgbClr val="003186"/>
                </a:solidFill>
                <a:latin typeface="Arial"/>
                <a:cs typeface="Arial"/>
              </a:rPr>
              <a:t>de  </a:t>
            </a:r>
            <a:r>
              <a:rPr sz="1400" b="1" spc="-100" dirty="0">
                <a:solidFill>
                  <a:srgbClr val="003186"/>
                </a:solidFill>
                <a:latin typeface="Arial"/>
                <a:cs typeface="Arial"/>
              </a:rPr>
              <a:t>procesamiento</a:t>
            </a:r>
            <a:endParaRPr sz="1400">
              <a:latin typeface="Arial"/>
              <a:cs typeface="Arial"/>
            </a:endParaRPr>
          </a:p>
          <a:p>
            <a:pPr marL="241300" marR="508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300" algn="l"/>
              </a:tabLst>
            </a:pPr>
            <a:r>
              <a:rPr sz="1400" b="1" spc="-200" dirty="0">
                <a:solidFill>
                  <a:srgbClr val="003186"/>
                </a:solidFill>
                <a:latin typeface="Arial"/>
                <a:cs typeface="Arial"/>
              </a:rPr>
              <a:t>Los </a:t>
            </a:r>
            <a:r>
              <a:rPr sz="1400" b="1" spc="-125" dirty="0">
                <a:solidFill>
                  <a:srgbClr val="003186"/>
                </a:solidFill>
                <a:latin typeface="Arial"/>
                <a:cs typeface="Arial"/>
              </a:rPr>
              <a:t>nuevos </a:t>
            </a:r>
            <a:r>
              <a:rPr sz="1400" b="1" spc="-114" dirty="0">
                <a:solidFill>
                  <a:srgbClr val="003186"/>
                </a:solidFill>
                <a:latin typeface="Arial"/>
                <a:cs typeface="Arial"/>
              </a:rPr>
              <a:t>desafíos </a:t>
            </a:r>
            <a:r>
              <a:rPr sz="1400" b="1" spc="-120" dirty="0">
                <a:solidFill>
                  <a:srgbClr val="003186"/>
                </a:solidFill>
                <a:latin typeface="Arial"/>
                <a:cs typeface="Arial"/>
              </a:rPr>
              <a:t>y </a:t>
            </a:r>
            <a:r>
              <a:rPr sz="1400" b="1" spc="-114" dirty="0">
                <a:solidFill>
                  <a:srgbClr val="003186"/>
                </a:solidFill>
                <a:latin typeface="Arial"/>
                <a:cs typeface="Arial"/>
              </a:rPr>
              <a:t>aplicaciones </a:t>
            </a:r>
            <a:r>
              <a:rPr sz="1400" b="1" spc="-90" dirty="0">
                <a:solidFill>
                  <a:srgbClr val="003186"/>
                </a:solidFill>
                <a:latin typeface="Arial"/>
                <a:cs typeface="Arial"/>
              </a:rPr>
              <a:t>de </a:t>
            </a:r>
            <a:r>
              <a:rPr sz="1400" b="1" spc="-70" dirty="0">
                <a:solidFill>
                  <a:srgbClr val="003186"/>
                </a:solidFill>
                <a:latin typeface="Arial"/>
                <a:cs typeface="Arial"/>
              </a:rPr>
              <a:t>la </a:t>
            </a:r>
            <a:r>
              <a:rPr sz="1400" b="1" spc="-80" dirty="0">
                <a:solidFill>
                  <a:srgbClr val="003186"/>
                </a:solidFill>
                <a:latin typeface="Arial"/>
                <a:cs typeface="Arial"/>
              </a:rPr>
              <a:t>era  </a:t>
            </a:r>
            <a:r>
              <a:rPr sz="1400" b="1" spc="-70" dirty="0">
                <a:solidFill>
                  <a:srgbClr val="003186"/>
                </a:solidFill>
                <a:latin typeface="Arial"/>
                <a:cs typeface="Arial"/>
              </a:rPr>
              <a:t>digital.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40427" y="508673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487680" y="0"/>
                </a:moveTo>
                <a:lnTo>
                  <a:pt x="121920" y="0"/>
                </a:lnTo>
                <a:lnTo>
                  <a:pt x="0" y="549402"/>
                </a:lnTo>
                <a:lnTo>
                  <a:pt x="365760" y="549402"/>
                </a:lnTo>
                <a:lnTo>
                  <a:pt x="48768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940427" y="508673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0" y="549402"/>
                </a:moveTo>
                <a:lnTo>
                  <a:pt x="121920" y="0"/>
                </a:lnTo>
                <a:lnTo>
                  <a:pt x="487680" y="0"/>
                </a:lnTo>
                <a:lnTo>
                  <a:pt x="365760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069585" y="5180584"/>
            <a:ext cx="2292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III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069204" y="5633084"/>
            <a:ext cx="3493770" cy="0"/>
          </a:xfrm>
          <a:custGeom>
            <a:avLst/>
            <a:gdLst/>
            <a:ahLst/>
            <a:cxnLst/>
            <a:rect l="l" t="t" r="r" b="b"/>
            <a:pathLst>
              <a:path w="3493770">
                <a:moveTo>
                  <a:pt x="0" y="0"/>
                </a:moveTo>
                <a:lnTo>
                  <a:pt x="3493389" y="0"/>
                </a:lnTo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346953" y="5155691"/>
            <a:ext cx="966977" cy="5090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497829" y="5208523"/>
            <a:ext cx="6667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40" dirty="0">
                <a:solidFill>
                  <a:srgbClr val="003186"/>
                </a:solidFill>
                <a:latin typeface="Arial"/>
                <a:cs typeface="Arial"/>
              </a:rPr>
              <a:t>Síntesis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93640" y="5734050"/>
            <a:ext cx="26104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0" dirty="0">
                <a:solidFill>
                  <a:srgbClr val="003186"/>
                </a:solidFill>
                <a:latin typeface="Arial"/>
                <a:cs typeface="Arial"/>
              </a:rPr>
              <a:t>1. </a:t>
            </a:r>
            <a:r>
              <a:rPr sz="1400" b="1" spc="-135" dirty="0">
                <a:solidFill>
                  <a:srgbClr val="003186"/>
                </a:solidFill>
                <a:latin typeface="Arial"/>
                <a:cs typeface="Arial"/>
              </a:rPr>
              <a:t>Resumen </a:t>
            </a:r>
            <a:r>
              <a:rPr sz="1400" b="1" spc="-120" dirty="0">
                <a:solidFill>
                  <a:srgbClr val="003186"/>
                </a:solidFill>
                <a:latin typeface="Arial"/>
                <a:cs typeface="Arial"/>
              </a:rPr>
              <a:t>y </a:t>
            </a:r>
            <a:r>
              <a:rPr sz="1400" b="1" spc="-105" dirty="0">
                <a:solidFill>
                  <a:srgbClr val="003186"/>
                </a:solidFill>
                <a:latin typeface="Arial"/>
                <a:cs typeface="Arial"/>
              </a:rPr>
              <a:t>preguntas </a:t>
            </a:r>
            <a:r>
              <a:rPr sz="1400" b="1" spc="-90" dirty="0">
                <a:solidFill>
                  <a:srgbClr val="003186"/>
                </a:solidFill>
                <a:latin typeface="Arial"/>
                <a:cs typeface="Arial"/>
              </a:rPr>
              <a:t>de</a:t>
            </a:r>
            <a:r>
              <a:rPr sz="1400" b="1" spc="65" dirty="0">
                <a:solidFill>
                  <a:srgbClr val="003186"/>
                </a:solidFill>
                <a:latin typeface="Arial"/>
                <a:cs typeface="Arial"/>
              </a:rPr>
              <a:t> </a:t>
            </a:r>
            <a:r>
              <a:rPr sz="1400" b="1" spc="-114" dirty="0">
                <a:solidFill>
                  <a:srgbClr val="003186"/>
                </a:solidFill>
                <a:latin typeface="Arial"/>
                <a:cs typeface="Arial"/>
              </a:rPr>
              <a:t>repaso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81905"/>
            <a:ext cx="4538472" cy="2276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11174" y="4858765"/>
            <a:ext cx="2194560" cy="173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 algn="ctr">
              <a:lnSpc>
                <a:spcPct val="100000"/>
              </a:lnSpc>
              <a:spcBef>
                <a:spcPts val="100"/>
              </a:spcBef>
            </a:pPr>
            <a:r>
              <a:rPr sz="2800" b="1" spc="-170" dirty="0">
                <a:solidFill>
                  <a:srgbClr val="00338D"/>
                </a:solidFill>
                <a:latin typeface="Arial"/>
                <a:cs typeface="Arial"/>
              </a:rPr>
              <a:t>Planeamiento  </a:t>
            </a:r>
            <a:r>
              <a:rPr sz="2800" b="1" spc="-175" dirty="0">
                <a:solidFill>
                  <a:srgbClr val="00338D"/>
                </a:solidFill>
                <a:latin typeface="Arial"/>
                <a:cs typeface="Arial"/>
              </a:rPr>
              <a:t>corporativo</a:t>
            </a:r>
            <a:r>
              <a:rPr sz="2800" b="1" spc="-21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2800" b="1" spc="-180" dirty="0">
                <a:solidFill>
                  <a:srgbClr val="00338D"/>
                </a:solidFill>
                <a:latin typeface="Arial"/>
                <a:cs typeface="Arial"/>
              </a:rPr>
              <a:t>de  </a:t>
            </a:r>
            <a:r>
              <a:rPr sz="2800" b="1" spc="-254" dirty="0">
                <a:solidFill>
                  <a:srgbClr val="00338D"/>
                </a:solidFill>
                <a:latin typeface="Arial"/>
                <a:cs typeface="Arial"/>
              </a:rPr>
              <a:t>Sistemas </a:t>
            </a:r>
            <a:r>
              <a:rPr sz="2800" b="1" spc="-180" dirty="0">
                <a:solidFill>
                  <a:srgbClr val="00338D"/>
                </a:solidFill>
                <a:latin typeface="Arial"/>
                <a:cs typeface="Arial"/>
              </a:rPr>
              <a:t>de  </a:t>
            </a:r>
            <a:r>
              <a:rPr sz="2800" b="1" spc="-170" dirty="0">
                <a:solidFill>
                  <a:srgbClr val="00338D"/>
                </a:solidFill>
                <a:latin typeface="Arial"/>
                <a:cs typeface="Arial"/>
              </a:rPr>
              <a:t>Información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774191" y="0"/>
                </a:moveTo>
                <a:lnTo>
                  <a:pt x="171450" y="0"/>
                </a:lnTo>
                <a:lnTo>
                  <a:pt x="0" y="685800"/>
                </a:lnTo>
                <a:lnTo>
                  <a:pt x="602741" y="685800"/>
                </a:lnTo>
                <a:lnTo>
                  <a:pt x="774191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0" y="685800"/>
                </a:moveTo>
                <a:lnTo>
                  <a:pt x="171450" y="0"/>
                </a:lnTo>
                <a:lnTo>
                  <a:pt x="774191" y="0"/>
                </a:lnTo>
                <a:lnTo>
                  <a:pt x="602741" y="685800"/>
                </a:lnTo>
                <a:lnTo>
                  <a:pt x="0" y="685800"/>
                </a:lnTo>
                <a:close/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51300" y="4649723"/>
            <a:ext cx="1270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3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256" y="4051553"/>
            <a:ext cx="5386705" cy="0"/>
          </a:xfrm>
          <a:custGeom>
            <a:avLst/>
            <a:gdLst/>
            <a:ahLst/>
            <a:cxnLst/>
            <a:rect l="l" t="t" r="r" b="b"/>
            <a:pathLst>
              <a:path w="5386705">
                <a:moveTo>
                  <a:pt x="0" y="0"/>
                </a:moveTo>
                <a:lnTo>
                  <a:pt x="5386616" y="0"/>
                </a:lnTo>
              </a:path>
            </a:pathLst>
          </a:custGeom>
          <a:ln w="18287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84682" y="4664964"/>
            <a:ext cx="1398270" cy="6217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9268" y="193801"/>
            <a:ext cx="6115685" cy="6233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25" dirty="0">
                <a:solidFill>
                  <a:srgbClr val="FFFFFF"/>
                </a:solidFill>
                <a:latin typeface="Arial"/>
                <a:cs typeface="Arial"/>
              </a:rPr>
              <a:t>Planeamiento </a:t>
            </a:r>
            <a:r>
              <a:rPr sz="2000" b="1" spc="-130" dirty="0">
                <a:solidFill>
                  <a:srgbClr val="FFFFFF"/>
                </a:solidFill>
                <a:latin typeface="Arial"/>
                <a:cs typeface="Arial"/>
              </a:rPr>
              <a:t>corporativo de </a:t>
            </a:r>
            <a:r>
              <a:rPr sz="2000" b="1" spc="-185" dirty="0">
                <a:solidFill>
                  <a:srgbClr val="FFFFFF"/>
                </a:solidFill>
                <a:latin typeface="Arial"/>
                <a:cs typeface="Arial"/>
              </a:rPr>
              <a:t>Sistemas </a:t>
            </a:r>
            <a:r>
              <a:rPr sz="2000" b="1" spc="-1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0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Arial"/>
                <a:cs typeface="Arial"/>
              </a:rPr>
              <a:t>Información</a:t>
            </a:r>
            <a:endParaRPr sz="2000" dirty="0">
              <a:latin typeface="Arial"/>
              <a:cs typeface="Arial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Contexto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consideraciones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generales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 dirty="0">
              <a:latin typeface="Times New Roman"/>
              <a:cs typeface="Times New Roman"/>
            </a:endParaRPr>
          </a:p>
          <a:p>
            <a:pPr marL="469900" marR="249554" indent="-457200" algn="just">
              <a:lnSpc>
                <a:spcPct val="100000"/>
              </a:lnSpc>
              <a:buFont typeface="Wingdings"/>
              <a:buChar char=""/>
              <a:tabLst>
                <a:tab pos="470534" algn="l"/>
              </a:tabLst>
            </a:pPr>
            <a:r>
              <a:rPr sz="2200" spc="-235" dirty="0">
                <a:latin typeface="Arial"/>
                <a:cs typeface="Arial"/>
              </a:rPr>
              <a:t>En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70" dirty="0">
                <a:latin typeface="Arial"/>
                <a:cs typeface="Arial"/>
              </a:rPr>
              <a:t>contexto </a:t>
            </a:r>
            <a:r>
              <a:rPr sz="2200" spc="-75" dirty="0">
                <a:latin typeface="Arial"/>
                <a:cs typeface="Arial"/>
              </a:rPr>
              <a:t>actual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b="1" i="1" spc="-50" dirty="0">
                <a:solidFill>
                  <a:srgbClr val="00338D"/>
                </a:solidFill>
                <a:latin typeface="Arial"/>
                <a:cs typeface="Arial"/>
              </a:rPr>
              <a:t>alta </a:t>
            </a:r>
            <a:r>
              <a:rPr sz="2200" b="1" i="1" spc="-165" dirty="0">
                <a:solidFill>
                  <a:srgbClr val="00338D"/>
                </a:solidFill>
                <a:latin typeface="Arial"/>
                <a:cs typeface="Arial"/>
              </a:rPr>
              <a:t>competencia</a:t>
            </a:r>
            <a:r>
              <a:rPr sz="2200" spc="-165" dirty="0">
                <a:latin typeface="Arial"/>
                <a:cs typeface="Arial"/>
              </a:rPr>
              <a:t>, </a:t>
            </a:r>
            <a:r>
              <a:rPr sz="2200" spc="-135" dirty="0">
                <a:latin typeface="Arial"/>
                <a:cs typeface="Arial"/>
              </a:rPr>
              <a:t>las  </a:t>
            </a:r>
            <a:r>
              <a:rPr sz="2200" spc="-120" dirty="0">
                <a:latin typeface="Arial"/>
                <a:cs typeface="Arial"/>
              </a:rPr>
              <a:t>organizaciones </a:t>
            </a:r>
            <a:r>
              <a:rPr sz="2200" spc="-65" dirty="0">
                <a:latin typeface="Arial"/>
                <a:cs typeface="Arial"/>
              </a:rPr>
              <a:t>requieren </a:t>
            </a:r>
            <a:r>
              <a:rPr sz="2200" spc="-95" dirty="0">
                <a:latin typeface="Arial"/>
                <a:cs typeface="Arial"/>
              </a:rPr>
              <a:t>colocar mayor  </a:t>
            </a:r>
            <a:r>
              <a:rPr sz="2200" spc="-75" dirty="0">
                <a:latin typeface="Arial"/>
                <a:cs typeface="Arial"/>
              </a:rPr>
              <a:t>atención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160" dirty="0">
                <a:latin typeface="Arial"/>
                <a:cs typeface="Arial"/>
              </a:rPr>
              <a:t>su </a:t>
            </a:r>
            <a:r>
              <a:rPr sz="2200" b="1" i="1" spc="-145" dirty="0">
                <a:solidFill>
                  <a:srgbClr val="00338D"/>
                </a:solidFill>
                <a:latin typeface="Arial"/>
                <a:cs typeface="Arial"/>
              </a:rPr>
              <a:t>productividad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b="1" i="1" spc="-135" dirty="0">
                <a:solidFill>
                  <a:srgbClr val="00338D"/>
                </a:solidFill>
                <a:latin typeface="Arial"/>
                <a:cs typeface="Arial"/>
              </a:rPr>
              <a:t>competitividad </a:t>
            </a:r>
            <a:r>
              <a:rPr sz="2200" b="1" i="1" spc="-135" dirty="0">
                <a:latin typeface="Arial"/>
                <a:cs typeface="Arial"/>
              </a:rPr>
              <a:t> </a:t>
            </a:r>
            <a:r>
              <a:rPr sz="2200" spc="-110" dirty="0">
                <a:latin typeface="Arial"/>
                <a:cs typeface="Arial"/>
              </a:rPr>
              <a:t>para </a:t>
            </a:r>
            <a:r>
              <a:rPr sz="2200" spc="-114" dirty="0">
                <a:latin typeface="Arial"/>
                <a:cs typeface="Arial"/>
              </a:rPr>
              <a:t>ser </a:t>
            </a:r>
            <a:r>
              <a:rPr sz="2200" b="1" i="1" spc="-170" dirty="0">
                <a:solidFill>
                  <a:srgbClr val="00338D"/>
                </a:solidFill>
                <a:latin typeface="Arial"/>
                <a:cs typeface="Arial"/>
              </a:rPr>
              <a:t>sustentables, </a:t>
            </a:r>
            <a:r>
              <a:rPr sz="2200" b="1" i="1" spc="-145" dirty="0">
                <a:solidFill>
                  <a:srgbClr val="00338D"/>
                </a:solidFill>
                <a:latin typeface="Arial"/>
                <a:cs typeface="Arial"/>
              </a:rPr>
              <a:t>desarrollarse </a:t>
            </a:r>
            <a:r>
              <a:rPr sz="2200" b="1" i="1" spc="-190" dirty="0">
                <a:solidFill>
                  <a:srgbClr val="00338D"/>
                </a:solidFill>
                <a:latin typeface="Arial"/>
                <a:cs typeface="Arial"/>
              </a:rPr>
              <a:t>y</a:t>
            </a:r>
            <a:r>
              <a:rPr sz="2200" b="1" i="1" spc="-10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2200" b="1" i="1" spc="-170" dirty="0">
                <a:solidFill>
                  <a:srgbClr val="00338D"/>
                </a:solidFill>
                <a:latin typeface="Arial"/>
                <a:cs typeface="Arial"/>
              </a:rPr>
              <a:t>crecer</a:t>
            </a:r>
            <a:r>
              <a:rPr sz="2200" spc="-170" dirty="0">
                <a:latin typeface="Arial"/>
                <a:cs typeface="Arial"/>
              </a:rPr>
              <a:t>.</a:t>
            </a:r>
            <a:endParaRPr sz="2200" dirty="0">
              <a:latin typeface="Arial"/>
              <a:cs typeface="Arial"/>
            </a:endParaRPr>
          </a:p>
          <a:p>
            <a:pPr marL="469900" marR="250825" indent="-457200" algn="just">
              <a:lnSpc>
                <a:spcPct val="100000"/>
              </a:lnSpc>
              <a:buFont typeface="Wingdings"/>
              <a:buChar char=""/>
              <a:tabLst>
                <a:tab pos="470534" algn="l"/>
              </a:tabLst>
            </a:pPr>
            <a:r>
              <a:rPr sz="2200" spc="-204" dirty="0">
                <a:latin typeface="Arial"/>
                <a:cs typeface="Arial"/>
              </a:rPr>
              <a:t>Los </a:t>
            </a:r>
            <a:r>
              <a:rPr sz="2200" b="1" i="1" spc="-210" dirty="0">
                <a:solidFill>
                  <a:srgbClr val="00338D"/>
                </a:solidFill>
                <a:latin typeface="Arial"/>
                <a:cs typeface="Arial"/>
              </a:rPr>
              <a:t>Sistemas </a:t>
            </a:r>
            <a:r>
              <a:rPr sz="2200" b="1" i="1" spc="-165" dirty="0">
                <a:solidFill>
                  <a:srgbClr val="00338D"/>
                </a:solidFill>
                <a:latin typeface="Arial"/>
                <a:cs typeface="Arial"/>
              </a:rPr>
              <a:t>de </a:t>
            </a:r>
            <a:r>
              <a:rPr sz="2200" b="1" i="1" spc="-145" dirty="0">
                <a:solidFill>
                  <a:srgbClr val="00338D"/>
                </a:solidFill>
                <a:latin typeface="Arial"/>
                <a:cs typeface="Arial"/>
              </a:rPr>
              <a:t>Información </a:t>
            </a:r>
            <a:r>
              <a:rPr sz="2200" b="1" i="1" spc="-140" dirty="0">
                <a:solidFill>
                  <a:srgbClr val="00338D"/>
                </a:solidFill>
                <a:latin typeface="Arial"/>
                <a:cs typeface="Arial"/>
              </a:rPr>
              <a:t>(SI) </a:t>
            </a:r>
            <a:r>
              <a:rPr sz="2200" spc="-90" dirty="0">
                <a:latin typeface="Arial"/>
                <a:cs typeface="Arial"/>
              </a:rPr>
              <a:t>actúan </a:t>
            </a:r>
            <a:r>
              <a:rPr sz="2200" spc="-105" dirty="0">
                <a:latin typeface="Arial"/>
                <a:cs typeface="Arial"/>
              </a:rPr>
              <a:t>como  una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35" dirty="0">
                <a:latin typeface="Arial"/>
                <a:cs typeface="Arial"/>
              </a:rPr>
              <a:t>las </a:t>
            </a:r>
            <a:r>
              <a:rPr sz="2200" spc="-150" dirty="0">
                <a:latin typeface="Arial"/>
                <a:cs typeface="Arial"/>
              </a:rPr>
              <a:t>claves </a:t>
            </a:r>
            <a:r>
              <a:rPr sz="2200" spc="-110" dirty="0">
                <a:latin typeface="Arial"/>
                <a:cs typeface="Arial"/>
              </a:rPr>
              <a:t>para </a:t>
            </a:r>
            <a:r>
              <a:rPr sz="2200" u="heavy" spc="-10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hacer </a:t>
            </a:r>
            <a:r>
              <a:rPr sz="2200" u="heavy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sustentable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spc="-170" dirty="0">
                <a:latin typeface="Arial"/>
                <a:cs typeface="Arial"/>
              </a:rPr>
              <a:t>a </a:t>
            </a:r>
            <a:r>
              <a:rPr sz="2200" spc="-110" dirty="0">
                <a:latin typeface="Arial"/>
                <a:cs typeface="Arial"/>
              </a:rPr>
              <a:t>una  organización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70" dirty="0">
                <a:latin typeface="Arial"/>
                <a:cs typeface="Arial"/>
              </a:rPr>
              <a:t>mundo </a:t>
            </a:r>
            <a:r>
              <a:rPr sz="2200" spc="-45" dirty="0">
                <a:latin typeface="Arial"/>
                <a:cs typeface="Arial"/>
              </a:rPr>
              <a:t>competitivo</a:t>
            </a:r>
            <a:r>
              <a:rPr sz="2200" spc="-260" dirty="0">
                <a:latin typeface="Arial"/>
                <a:cs typeface="Arial"/>
              </a:rPr>
              <a:t> </a:t>
            </a:r>
            <a:r>
              <a:rPr sz="2200" spc="-75" dirty="0">
                <a:latin typeface="Arial"/>
                <a:cs typeface="Arial"/>
              </a:rPr>
              <a:t>actual.</a:t>
            </a:r>
            <a:endParaRPr sz="2200" dirty="0">
              <a:latin typeface="Arial"/>
              <a:cs typeface="Arial"/>
            </a:endParaRPr>
          </a:p>
          <a:p>
            <a:pPr marL="469900" marR="248920" indent="-457200" algn="just">
              <a:lnSpc>
                <a:spcPct val="100000"/>
              </a:lnSpc>
              <a:buFont typeface="Wingdings"/>
              <a:buChar char=""/>
              <a:tabLst>
                <a:tab pos="470534" algn="l"/>
              </a:tabLst>
            </a:pPr>
            <a:r>
              <a:rPr sz="2200" spc="-140" dirty="0">
                <a:latin typeface="Arial"/>
                <a:cs typeface="Arial"/>
              </a:rPr>
              <a:t>Pero </a:t>
            </a:r>
            <a:r>
              <a:rPr sz="2200" spc="-65" dirty="0">
                <a:latin typeface="Arial"/>
                <a:cs typeface="Arial"/>
              </a:rPr>
              <a:t>también, </a:t>
            </a:r>
            <a:r>
              <a:rPr sz="2200" spc="-185" dirty="0">
                <a:latin typeface="Arial"/>
                <a:cs typeface="Arial"/>
              </a:rPr>
              <a:t>se </a:t>
            </a:r>
            <a:r>
              <a:rPr sz="2200" spc="-70" dirty="0">
                <a:latin typeface="Arial"/>
                <a:cs typeface="Arial"/>
              </a:rPr>
              <a:t>requiere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05" dirty="0">
                <a:latin typeface="Arial"/>
                <a:cs typeface="Arial"/>
              </a:rPr>
              <a:t>una </a:t>
            </a:r>
            <a:r>
              <a:rPr sz="2200" spc="-135" dirty="0">
                <a:latin typeface="Arial"/>
                <a:cs typeface="Arial"/>
              </a:rPr>
              <a:t>adecuada </a:t>
            </a:r>
            <a:r>
              <a:rPr sz="2200" spc="-13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2200" b="1" i="1" spc="-165" dirty="0">
                <a:solidFill>
                  <a:srgbClr val="00338D"/>
                </a:solidFill>
                <a:latin typeface="Arial"/>
                <a:cs typeface="Arial"/>
              </a:rPr>
              <a:t>capacidad de gestión </a:t>
            </a:r>
            <a:r>
              <a:rPr sz="2200" b="1" i="1" spc="-100" dirty="0">
                <a:solidFill>
                  <a:srgbClr val="00338D"/>
                </a:solidFill>
                <a:latin typeface="Arial"/>
                <a:cs typeface="Arial"/>
              </a:rPr>
              <a:t>para </a:t>
            </a:r>
            <a:r>
              <a:rPr sz="2200" b="1" i="1" spc="-165" dirty="0">
                <a:solidFill>
                  <a:srgbClr val="00338D"/>
                </a:solidFill>
                <a:latin typeface="Arial"/>
                <a:cs typeface="Arial"/>
              </a:rPr>
              <a:t>diseñar, </a:t>
            </a:r>
            <a:r>
              <a:rPr sz="2200" b="1" i="1" u="heavy" spc="-165" dirty="0">
                <a:solidFill>
                  <a:srgbClr val="00338D"/>
                </a:solidFill>
                <a:uFill>
                  <a:solidFill>
                    <a:srgbClr val="00338D"/>
                  </a:solidFill>
                </a:uFill>
                <a:latin typeface="Arial"/>
                <a:cs typeface="Arial"/>
              </a:rPr>
              <a:t> </a:t>
            </a:r>
            <a:r>
              <a:rPr sz="2200" b="1" i="1" u="heavy" spc="-125" dirty="0">
                <a:solidFill>
                  <a:srgbClr val="00338D"/>
                </a:solidFill>
                <a:uFill>
                  <a:solidFill>
                    <a:srgbClr val="00338D"/>
                  </a:solidFill>
                </a:uFill>
                <a:latin typeface="Arial"/>
                <a:cs typeface="Arial"/>
              </a:rPr>
              <a:t>implementar </a:t>
            </a:r>
            <a:r>
              <a:rPr sz="2200" b="1" i="1" u="heavy" spc="-190" dirty="0">
                <a:solidFill>
                  <a:srgbClr val="00338D"/>
                </a:solidFill>
                <a:uFill>
                  <a:solidFill>
                    <a:srgbClr val="00338D"/>
                  </a:solidFill>
                </a:uFill>
                <a:latin typeface="Arial"/>
                <a:cs typeface="Arial"/>
              </a:rPr>
              <a:t>y </a:t>
            </a:r>
            <a:r>
              <a:rPr sz="2200" b="1" i="1" u="heavy" spc="-145" dirty="0">
                <a:solidFill>
                  <a:srgbClr val="00338D"/>
                </a:solidFill>
                <a:uFill>
                  <a:solidFill>
                    <a:srgbClr val="00338D"/>
                  </a:solidFill>
                </a:uFill>
                <a:latin typeface="Arial"/>
                <a:cs typeface="Arial"/>
              </a:rPr>
              <a:t>gestionar </a:t>
            </a:r>
            <a:r>
              <a:rPr sz="2200" b="1" i="1" u="heavy" spc="-185" dirty="0">
                <a:solidFill>
                  <a:srgbClr val="00338D"/>
                </a:solidFill>
                <a:uFill>
                  <a:solidFill>
                    <a:srgbClr val="00338D"/>
                  </a:solidFill>
                </a:uFill>
                <a:latin typeface="Arial"/>
                <a:cs typeface="Arial"/>
              </a:rPr>
              <a:t>un </a:t>
            </a:r>
            <a:r>
              <a:rPr sz="2200" b="1" i="1" u="heavy" spc="-190" dirty="0">
                <a:solidFill>
                  <a:srgbClr val="00338D"/>
                </a:solidFill>
                <a:uFill>
                  <a:solidFill>
                    <a:srgbClr val="00338D"/>
                  </a:solidFill>
                </a:uFill>
                <a:latin typeface="Arial"/>
                <a:cs typeface="Arial"/>
              </a:rPr>
              <a:t>Sistema </a:t>
            </a:r>
            <a:r>
              <a:rPr sz="2200" b="1" i="1" u="heavy" spc="-170" dirty="0">
                <a:solidFill>
                  <a:srgbClr val="00338D"/>
                </a:solidFill>
                <a:uFill>
                  <a:solidFill>
                    <a:srgbClr val="00338D"/>
                  </a:solidFill>
                </a:uFill>
                <a:latin typeface="Arial"/>
                <a:cs typeface="Arial"/>
              </a:rPr>
              <a:t>de  </a:t>
            </a:r>
            <a:r>
              <a:rPr sz="2200" b="1" i="1" u="heavy" spc="-135" dirty="0">
                <a:solidFill>
                  <a:srgbClr val="00338D"/>
                </a:solidFill>
                <a:uFill>
                  <a:solidFill>
                    <a:srgbClr val="00338D"/>
                  </a:solidFill>
                </a:uFill>
                <a:latin typeface="Arial"/>
                <a:cs typeface="Arial"/>
              </a:rPr>
              <a:t>Información</a:t>
            </a:r>
            <a:r>
              <a:rPr sz="2200" spc="-135" dirty="0">
                <a:latin typeface="Arial"/>
                <a:cs typeface="Arial"/>
              </a:rPr>
              <a:t>;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80" dirty="0">
                <a:latin typeface="Arial"/>
                <a:cs typeface="Arial"/>
              </a:rPr>
              <a:t>la </a:t>
            </a:r>
            <a:r>
              <a:rPr sz="2200" spc="-70" dirty="0">
                <a:latin typeface="Arial"/>
                <a:cs typeface="Arial"/>
              </a:rPr>
              <a:t>formación </a:t>
            </a:r>
            <a:r>
              <a:rPr sz="2200" spc="-110" dirty="0">
                <a:latin typeface="Arial"/>
                <a:cs typeface="Arial"/>
              </a:rPr>
              <a:t>para </a:t>
            </a:r>
            <a:r>
              <a:rPr sz="2200" spc="-45" dirty="0">
                <a:latin typeface="Arial"/>
                <a:cs typeface="Arial"/>
              </a:rPr>
              <a:t>ello </a:t>
            </a:r>
            <a:r>
              <a:rPr sz="2200" spc="-185" dirty="0">
                <a:latin typeface="Arial"/>
                <a:cs typeface="Arial"/>
              </a:rPr>
              <a:t>se </a:t>
            </a:r>
            <a:r>
              <a:rPr sz="2200" spc="-80" dirty="0">
                <a:latin typeface="Arial"/>
                <a:cs typeface="Arial"/>
              </a:rPr>
              <a:t>centra  </a:t>
            </a:r>
            <a:r>
              <a:rPr sz="2200" spc="-100" dirty="0">
                <a:latin typeface="Arial"/>
                <a:cs typeface="Arial"/>
              </a:rPr>
              <a:t>en</a:t>
            </a:r>
            <a:r>
              <a:rPr sz="2200" spc="-125" dirty="0">
                <a:latin typeface="Arial"/>
                <a:cs typeface="Arial"/>
              </a:rPr>
              <a:t> </a:t>
            </a:r>
            <a:r>
              <a:rPr sz="2200" b="1" spc="-300" dirty="0">
                <a:latin typeface="Arial"/>
                <a:cs typeface="Arial"/>
              </a:rPr>
              <a:t>USTEDES</a:t>
            </a:r>
            <a:r>
              <a:rPr sz="2200" spc="-300" dirty="0">
                <a:latin typeface="Arial"/>
                <a:cs typeface="Arial"/>
              </a:rPr>
              <a:t>.</a:t>
            </a:r>
            <a:endParaRPr sz="2200" dirty="0">
              <a:latin typeface="Arial"/>
              <a:cs typeface="Arial"/>
            </a:endParaRPr>
          </a:p>
          <a:p>
            <a:pPr marL="469900" marR="248920" indent="-457200" algn="just">
              <a:lnSpc>
                <a:spcPct val="100000"/>
              </a:lnSpc>
              <a:buFont typeface="Wingdings"/>
              <a:buChar char=""/>
              <a:tabLst>
                <a:tab pos="470534" algn="l"/>
              </a:tabLst>
            </a:pPr>
            <a:r>
              <a:rPr sz="2200" spc="-204" dirty="0">
                <a:latin typeface="Arial"/>
                <a:cs typeface="Arial"/>
              </a:rPr>
              <a:t>Los </a:t>
            </a:r>
            <a:r>
              <a:rPr sz="2200" spc="-260" dirty="0">
                <a:latin typeface="Arial"/>
                <a:cs typeface="Arial"/>
              </a:rPr>
              <a:t>SI </a:t>
            </a:r>
            <a:r>
              <a:rPr sz="2200" spc="-90" dirty="0">
                <a:latin typeface="Arial"/>
                <a:cs typeface="Arial"/>
              </a:rPr>
              <a:t>integrados </a:t>
            </a:r>
            <a:r>
              <a:rPr sz="2200" spc="-130" dirty="0">
                <a:latin typeface="Arial"/>
                <a:cs typeface="Arial"/>
              </a:rPr>
              <a:t>son </a:t>
            </a:r>
            <a:r>
              <a:rPr sz="2200" spc="-70" dirty="0">
                <a:latin typeface="Arial"/>
                <a:cs typeface="Arial"/>
              </a:rPr>
              <a:t>un</a:t>
            </a:r>
            <a:r>
              <a:rPr sz="2200" spc="-7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2200" b="1" i="1" u="heavy" spc="-195" dirty="0">
                <a:solidFill>
                  <a:srgbClr val="00338D"/>
                </a:solidFill>
                <a:uFill>
                  <a:solidFill>
                    <a:srgbClr val="00338D"/>
                  </a:solidFill>
                </a:uFill>
                <a:latin typeface="Arial"/>
                <a:cs typeface="Arial"/>
              </a:rPr>
              <a:t>recurso </a:t>
            </a:r>
            <a:r>
              <a:rPr sz="2200" b="1" i="1" u="heavy" spc="-145" dirty="0">
                <a:solidFill>
                  <a:srgbClr val="00338D"/>
                </a:solidFill>
                <a:uFill>
                  <a:solidFill>
                    <a:srgbClr val="00338D"/>
                  </a:solidFill>
                </a:uFill>
                <a:latin typeface="Arial"/>
                <a:cs typeface="Arial"/>
              </a:rPr>
              <a:t>estratégico </a:t>
            </a:r>
            <a:r>
              <a:rPr sz="2200" b="1" i="1" spc="-145" dirty="0">
                <a:latin typeface="Arial"/>
                <a:cs typeface="Arial"/>
              </a:rPr>
              <a:t>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45" dirty="0">
                <a:latin typeface="Arial"/>
                <a:cs typeface="Arial"/>
              </a:rPr>
              <a:t>permiten </a:t>
            </a:r>
            <a:r>
              <a:rPr sz="2200" b="1" i="1" spc="-130" dirty="0">
                <a:solidFill>
                  <a:srgbClr val="00338D"/>
                </a:solidFill>
                <a:latin typeface="Arial"/>
                <a:cs typeface="Arial"/>
              </a:rPr>
              <a:t>generar </a:t>
            </a:r>
            <a:r>
              <a:rPr sz="2200" b="1" i="1" spc="-135" dirty="0">
                <a:solidFill>
                  <a:srgbClr val="00338D"/>
                </a:solidFill>
                <a:latin typeface="Arial"/>
                <a:cs typeface="Arial"/>
              </a:rPr>
              <a:t>ventajas </a:t>
            </a:r>
            <a:r>
              <a:rPr sz="2200" b="1" i="1" spc="-155" dirty="0">
                <a:solidFill>
                  <a:srgbClr val="00338D"/>
                </a:solidFill>
                <a:latin typeface="Arial"/>
                <a:cs typeface="Arial"/>
              </a:rPr>
              <a:t>estratégicas </a:t>
            </a:r>
            <a:r>
              <a:rPr sz="2200" b="1" i="1" spc="-155" dirty="0">
                <a:latin typeface="Arial"/>
                <a:cs typeface="Arial"/>
              </a:rPr>
              <a:t> </a:t>
            </a:r>
            <a:r>
              <a:rPr sz="2200" spc="-110" dirty="0">
                <a:latin typeface="Arial"/>
                <a:cs typeface="Arial"/>
              </a:rPr>
              <a:t>para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110" dirty="0">
                <a:latin typeface="Arial"/>
                <a:cs typeface="Arial"/>
              </a:rPr>
              <a:t>empresa, </a:t>
            </a:r>
            <a:r>
              <a:rPr sz="2200" spc="-90" dirty="0">
                <a:latin typeface="Arial"/>
                <a:cs typeface="Arial"/>
              </a:rPr>
              <a:t>actuando </a:t>
            </a:r>
            <a:r>
              <a:rPr sz="2200" spc="-100" dirty="0">
                <a:latin typeface="Arial"/>
                <a:cs typeface="Arial"/>
              </a:rPr>
              <a:t>como </a:t>
            </a:r>
            <a:r>
              <a:rPr sz="2200" spc="10" dirty="0">
                <a:latin typeface="Arial"/>
                <a:cs typeface="Arial"/>
              </a:rPr>
              <a:t>“pivote” </a:t>
            </a:r>
            <a:r>
              <a:rPr sz="2200" spc="-100" dirty="0">
                <a:latin typeface="Arial"/>
                <a:cs typeface="Arial"/>
              </a:rPr>
              <a:t>de  </a:t>
            </a:r>
            <a:r>
              <a:rPr sz="2200" spc="-95" dirty="0">
                <a:latin typeface="Arial"/>
                <a:cs typeface="Arial"/>
              </a:rPr>
              <a:t>los </a:t>
            </a:r>
            <a:r>
              <a:rPr sz="2200" spc="-114" dirty="0">
                <a:latin typeface="Arial"/>
                <a:cs typeface="Arial"/>
              </a:rPr>
              <a:t>cambios</a:t>
            </a:r>
            <a:r>
              <a:rPr sz="2200" spc="-160" dirty="0">
                <a:latin typeface="Arial"/>
                <a:cs typeface="Arial"/>
              </a:rPr>
              <a:t> </a:t>
            </a:r>
            <a:r>
              <a:rPr sz="2200" spc="-75" dirty="0">
                <a:latin typeface="Arial"/>
                <a:cs typeface="Arial"/>
              </a:rPr>
              <a:t>culturales.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248400" y="1353635"/>
            <a:ext cx="2676905" cy="23678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24600" y="3657600"/>
            <a:ext cx="2514600" cy="260527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77000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4</a:t>
            </a:fld>
            <a:endParaRPr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8960" y="4053840"/>
            <a:ext cx="174180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210" algn="l"/>
              </a:tabLst>
            </a:pPr>
            <a:r>
              <a:rPr sz="2200" b="1" i="1" spc="-70" dirty="0">
                <a:solidFill>
                  <a:srgbClr val="00338D"/>
                </a:solidFill>
                <a:latin typeface="Arial"/>
                <a:cs typeface="Arial"/>
              </a:rPr>
              <a:t>la	</a:t>
            </a:r>
            <a:r>
              <a:rPr sz="2200" b="1" i="1" spc="-145" dirty="0">
                <a:solidFill>
                  <a:srgbClr val="00338D"/>
                </a:solidFill>
                <a:latin typeface="Arial"/>
                <a:cs typeface="Arial"/>
              </a:rPr>
              <a:t>estructura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89429" y="4389120"/>
            <a:ext cx="32105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87145" algn="l"/>
                <a:tab pos="3065780" algn="l"/>
              </a:tabLst>
            </a:pPr>
            <a:r>
              <a:rPr sz="2200" b="1" i="1" spc="-175" dirty="0">
                <a:solidFill>
                  <a:srgbClr val="00338D"/>
                </a:solidFill>
                <a:latin typeface="Arial"/>
                <a:cs typeface="Arial"/>
              </a:rPr>
              <a:t>ve</a:t>
            </a:r>
            <a:r>
              <a:rPr sz="2200" b="1" i="1" spc="-210" dirty="0">
                <a:solidFill>
                  <a:srgbClr val="00338D"/>
                </a:solidFill>
                <a:latin typeface="Arial"/>
                <a:cs typeface="Arial"/>
              </a:rPr>
              <a:t>n</a:t>
            </a:r>
            <a:r>
              <a:rPr sz="2200" b="1" i="1" dirty="0">
                <a:solidFill>
                  <a:srgbClr val="00338D"/>
                </a:solidFill>
                <a:latin typeface="Arial"/>
                <a:cs typeface="Arial"/>
              </a:rPr>
              <a:t>t</a:t>
            </a:r>
            <a:r>
              <a:rPr sz="2200" b="1" i="1" spc="-135" dirty="0">
                <a:solidFill>
                  <a:srgbClr val="00338D"/>
                </a:solidFill>
                <a:latin typeface="Arial"/>
                <a:cs typeface="Arial"/>
              </a:rPr>
              <a:t>ajas</a:t>
            </a:r>
            <a:r>
              <a:rPr sz="2200" b="1" i="1" dirty="0">
                <a:solidFill>
                  <a:srgbClr val="00338D"/>
                </a:solidFill>
                <a:latin typeface="Arial"/>
                <a:cs typeface="Arial"/>
              </a:rPr>
              <a:t>	</a:t>
            </a:r>
            <a:r>
              <a:rPr sz="2200" b="1" i="1" spc="-340" dirty="0">
                <a:solidFill>
                  <a:srgbClr val="00338D"/>
                </a:solidFill>
                <a:latin typeface="Arial"/>
                <a:cs typeface="Arial"/>
              </a:rPr>
              <a:t>c</a:t>
            </a:r>
            <a:r>
              <a:rPr sz="2200" b="1" i="1" spc="-160" dirty="0">
                <a:solidFill>
                  <a:srgbClr val="00338D"/>
                </a:solidFill>
                <a:latin typeface="Arial"/>
                <a:cs typeface="Arial"/>
              </a:rPr>
              <a:t>o</a:t>
            </a:r>
            <a:r>
              <a:rPr sz="2200" b="1" i="1" spc="-229" dirty="0">
                <a:solidFill>
                  <a:srgbClr val="00338D"/>
                </a:solidFill>
                <a:latin typeface="Arial"/>
                <a:cs typeface="Arial"/>
              </a:rPr>
              <a:t>m</a:t>
            </a:r>
            <a:r>
              <a:rPr sz="2200" b="1" i="1" spc="-170" dirty="0">
                <a:solidFill>
                  <a:srgbClr val="00338D"/>
                </a:solidFill>
                <a:latin typeface="Arial"/>
                <a:cs typeface="Arial"/>
              </a:rPr>
              <a:t>p</a:t>
            </a:r>
            <a:r>
              <a:rPr sz="2200" b="1" i="1" spc="-175" dirty="0">
                <a:solidFill>
                  <a:srgbClr val="00338D"/>
                </a:solidFill>
                <a:latin typeface="Arial"/>
                <a:cs typeface="Arial"/>
              </a:rPr>
              <a:t>e</a:t>
            </a:r>
            <a:r>
              <a:rPr sz="2200" b="1" i="1" spc="-25" dirty="0">
                <a:solidFill>
                  <a:srgbClr val="00338D"/>
                </a:solidFill>
                <a:latin typeface="Arial"/>
                <a:cs typeface="Arial"/>
              </a:rPr>
              <a:t>tit</a:t>
            </a:r>
            <a:r>
              <a:rPr sz="2200" b="1" i="1" spc="-30" dirty="0">
                <a:solidFill>
                  <a:srgbClr val="00338D"/>
                </a:solidFill>
                <a:latin typeface="Arial"/>
                <a:cs typeface="Arial"/>
              </a:rPr>
              <a:t>i</a:t>
            </a:r>
            <a:r>
              <a:rPr sz="2200" b="1" i="1" spc="-210" dirty="0">
                <a:solidFill>
                  <a:srgbClr val="00338D"/>
                </a:solidFill>
                <a:latin typeface="Arial"/>
                <a:cs typeface="Arial"/>
              </a:rPr>
              <a:t>va</a:t>
            </a:r>
            <a:r>
              <a:rPr sz="2200" b="1" i="1" spc="-204" dirty="0">
                <a:solidFill>
                  <a:srgbClr val="00338D"/>
                </a:solidFill>
                <a:latin typeface="Arial"/>
                <a:cs typeface="Arial"/>
              </a:rPr>
              <a:t>s</a:t>
            </a:r>
            <a:r>
              <a:rPr sz="2200" b="1" i="1" dirty="0">
                <a:solidFill>
                  <a:srgbClr val="00338D"/>
                </a:solidFill>
                <a:latin typeface="Arial"/>
                <a:cs typeface="Arial"/>
              </a:rPr>
              <a:t>	</a:t>
            </a:r>
            <a:r>
              <a:rPr sz="2200" b="1" i="1" spc="-190" dirty="0">
                <a:solidFill>
                  <a:srgbClr val="00338D"/>
                </a:solidFill>
                <a:latin typeface="Arial"/>
                <a:cs typeface="Arial"/>
              </a:rPr>
              <a:t>y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64355" y="4053840"/>
            <a:ext cx="22459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6425" algn="l"/>
                <a:tab pos="1130935" algn="l"/>
              </a:tabLst>
            </a:pPr>
            <a:r>
              <a:rPr sz="2200" b="1" i="1" spc="-165" dirty="0">
                <a:solidFill>
                  <a:srgbClr val="00338D"/>
                </a:solidFill>
                <a:latin typeface="Arial"/>
                <a:cs typeface="Arial"/>
              </a:rPr>
              <a:t>de	</a:t>
            </a:r>
            <a:r>
              <a:rPr sz="2200" b="1" i="1" spc="-50" dirty="0">
                <a:solidFill>
                  <a:srgbClr val="00338D"/>
                </a:solidFill>
                <a:latin typeface="Arial"/>
                <a:cs typeface="Arial"/>
              </a:rPr>
              <a:t>l</a:t>
            </a:r>
            <a:r>
              <a:rPr sz="2200" b="1" i="1" spc="-90" dirty="0">
                <a:solidFill>
                  <a:srgbClr val="00338D"/>
                </a:solidFill>
                <a:latin typeface="Arial"/>
                <a:cs typeface="Arial"/>
              </a:rPr>
              <a:t>a</a:t>
            </a:r>
            <a:r>
              <a:rPr sz="2200" b="1" i="1" dirty="0">
                <a:solidFill>
                  <a:srgbClr val="00338D"/>
                </a:solidFill>
                <a:latin typeface="Arial"/>
                <a:cs typeface="Arial"/>
              </a:rPr>
              <a:t>	</a:t>
            </a:r>
            <a:r>
              <a:rPr sz="2200" b="1" i="1" spc="-195" dirty="0">
                <a:solidFill>
                  <a:srgbClr val="00338D"/>
                </a:solidFill>
                <a:latin typeface="Arial"/>
                <a:cs typeface="Arial"/>
              </a:rPr>
              <a:t>indu</a:t>
            </a:r>
            <a:r>
              <a:rPr sz="2200" b="1" i="1" spc="-235" dirty="0">
                <a:solidFill>
                  <a:srgbClr val="00338D"/>
                </a:solidFill>
                <a:latin typeface="Arial"/>
                <a:cs typeface="Arial"/>
              </a:rPr>
              <a:t>s</a:t>
            </a:r>
            <a:r>
              <a:rPr sz="2200" b="1" i="1" spc="-40" dirty="0">
                <a:solidFill>
                  <a:srgbClr val="00338D"/>
                </a:solidFill>
                <a:latin typeface="Arial"/>
                <a:cs typeface="Arial"/>
              </a:rPr>
              <a:t>tri</a:t>
            </a:r>
            <a:r>
              <a:rPr sz="2200" b="1" i="1" spc="-75" dirty="0">
                <a:solidFill>
                  <a:srgbClr val="00338D"/>
                </a:solidFill>
                <a:latin typeface="Arial"/>
                <a:cs typeface="Arial"/>
              </a:rPr>
              <a:t>a</a:t>
            </a:r>
            <a:r>
              <a:rPr sz="2200" b="1" i="1" spc="-45" dirty="0">
                <a:solidFill>
                  <a:srgbClr val="00338D"/>
                </a:solidFill>
                <a:latin typeface="Arial"/>
                <a:cs typeface="Arial"/>
              </a:rPr>
              <a:t>,</a:t>
            </a:r>
            <a:endParaRPr sz="2200">
              <a:latin typeface="Arial"/>
              <a:cs typeface="Arial"/>
            </a:endParaRPr>
          </a:p>
          <a:p>
            <a:pPr marL="1414145">
              <a:lnSpc>
                <a:spcPct val="100000"/>
              </a:lnSpc>
            </a:pPr>
            <a:r>
              <a:rPr sz="2200" b="1" i="1" spc="-190" dirty="0">
                <a:solidFill>
                  <a:srgbClr val="00338D"/>
                </a:solidFill>
                <a:latin typeface="Arial"/>
                <a:cs typeface="Arial"/>
              </a:rPr>
              <a:t>n</a:t>
            </a:r>
            <a:r>
              <a:rPr sz="2200" b="1" i="1" spc="-185" dirty="0">
                <a:solidFill>
                  <a:srgbClr val="00338D"/>
                </a:solidFill>
                <a:latin typeface="Arial"/>
                <a:cs typeface="Arial"/>
              </a:rPr>
              <a:t>u</a:t>
            </a:r>
            <a:r>
              <a:rPr sz="2200" b="1" i="1" spc="-170" dirty="0">
                <a:solidFill>
                  <a:srgbClr val="00338D"/>
                </a:solidFill>
                <a:latin typeface="Arial"/>
                <a:cs typeface="Arial"/>
              </a:rPr>
              <a:t>e</a:t>
            </a:r>
            <a:r>
              <a:rPr sz="2200" b="1" i="1" spc="-204" dirty="0">
                <a:solidFill>
                  <a:srgbClr val="00338D"/>
                </a:solidFill>
                <a:latin typeface="Arial"/>
                <a:cs typeface="Arial"/>
              </a:rPr>
              <a:t>v</a:t>
            </a:r>
            <a:r>
              <a:rPr sz="2200" b="1" i="1" spc="-275" dirty="0">
                <a:solidFill>
                  <a:srgbClr val="00338D"/>
                </a:solidFill>
                <a:latin typeface="Arial"/>
                <a:cs typeface="Arial"/>
              </a:rPr>
              <a:t>os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68" y="4053840"/>
            <a:ext cx="131635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200" b="1" i="1" spc="-340" dirty="0">
                <a:solidFill>
                  <a:srgbClr val="00338D"/>
                </a:solidFill>
                <a:latin typeface="Arial"/>
                <a:cs typeface="Arial"/>
              </a:rPr>
              <a:t>c</a:t>
            </a:r>
            <a:r>
              <a:rPr sz="2200" b="1" i="1" spc="-100" dirty="0">
                <a:solidFill>
                  <a:srgbClr val="00338D"/>
                </a:solidFill>
                <a:latin typeface="Arial"/>
                <a:cs typeface="Arial"/>
              </a:rPr>
              <a:t>a</a:t>
            </a:r>
            <a:r>
              <a:rPr sz="2200" b="1" i="1" spc="-170" dirty="0">
                <a:solidFill>
                  <a:srgbClr val="00338D"/>
                </a:solidFill>
                <a:latin typeface="Arial"/>
                <a:cs typeface="Arial"/>
              </a:rPr>
              <a:t>m</a:t>
            </a:r>
            <a:r>
              <a:rPr sz="2200" b="1" i="1" spc="-135" dirty="0">
                <a:solidFill>
                  <a:srgbClr val="00338D"/>
                </a:solidFill>
                <a:latin typeface="Arial"/>
                <a:cs typeface="Arial"/>
              </a:rPr>
              <a:t>biando </a:t>
            </a:r>
            <a:r>
              <a:rPr sz="2200" b="1" i="1" spc="-7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2200" b="1" i="1" spc="-155" dirty="0">
                <a:solidFill>
                  <a:srgbClr val="00338D"/>
                </a:solidFill>
                <a:latin typeface="Arial"/>
                <a:cs typeface="Arial"/>
              </a:rPr>
              <a:t>generando  </a:t>
            </a:r>
            <a:r>
              <a:rPr sz="2200" b="1" i="1" spc="-185" dirty="0">
                <a:solidFill>
                  <a:srgbClr val="00338D"/>
                </a:solidFill>
                <a:latin typeface="Arial"/>
                <a:cs typeface="Arial"/>
              </a:rPr>
              <a:t>negocios.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268" y="193801"/>
            <a:ext cx="6895465" cy="3885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25" dirty="0">
                <a:solidFill>
                  <a:srgbClr val="FFFFFF"/>
                </a:solidFill>
                <a:latin typeface="Arial"/>
                <a:cs typeface="Arial"/>
              </a:rPr>
              <a:t>Planeamiento </a:t>
            </a:r>
            <a:r>
              <a:rPr sz="2000" b="1" spc="-130" dirty="0">
                <a:solidFill>
                  <a:srgbClr val="FFFFFF"/>
                </a:solidFill>
                <a:latin typeface="Arial"/>
                <a:cs typeface="Arial"/>
              </a:rPr>
              <a:t>corporativo de </a:t>
            </a:r>
            <a:r>
              <a:rPr sz="2000" b="1" spc="-185" dirty="0">
                <a:solidFill>
                  <a:srgbClr val="FFFFFF"/>
                </a:solidFill>
                <a:latin typeface="Arial"/>
                <a:cs typeface="Arial"/>
              </a:rPr>
              <a:t>Sistemas </a:t>
            </a:r>
            <a:r>
              <a:rPr sz="2000" b="1" spc="-130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2000" b="1" spc="-125" dirty="0">
                <a:solidFill>
                  <a:srgbClr val="FFFFFF"/>
                </a:solidFill>
                <a:latin typeface="Arial"/>
                <a:cs typeface="Arial"/>
              </a:rPr>
              <a:t>Información</a:t>
            </a:r>
            <a:r>
              <a:rPr sz="2000" b="1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2000">
              <a:latin typeface="Arial"/>
              <a:cs typeface="Arial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Contexto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consideraciones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generales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 marR="1028700" algn="just">
              <a:lnSpc>
                <a:spcPct val="100000"/>
              </a:lnSpc>
            </a:pPr>
            <a:r>
              <a:rPr sz="2200" spc="-204" dirty="0">
                <a:latin typeface="Arial"/>
                <a:cs typeface="Arial"/>
              </a:rPr>
              <a:t>Los </a:t>
            </a:r>
            <a:r>
              <a:rPr sz="2200" spc="-195" dirty="0">
                <a:latin typeface="Arial"/>
                <a:cs typeface="Arial"/>
              </a:rPr>
              <a:t>SI,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85" dirty="0">
                <a:latin typeface="Arial"/>
                <a:cs typeface="Arial"/>
              </a:rPr>
              <a:t>la medida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100" dirty="0">
                <a:latin typeface="Arial"/>
                <a:cs typeface="Arial"/>
              </a:rPr>
              <a:t>estén </a:t>
            </a:r>
            <a:r>
              <a:rPr sz="2200" b="1" i="1" spc="-150" dirty="0">
                <a:solidFill>
                  <a:srgbClr val="00338D"/>
                </a:solidFill>
                <a:latin typeface="Arial"/>
                <a:cs typeface="Arial"/>
              </a:rPr>
              <a:t>adecuadamente  </a:t>
            </a:r>
            <a:r>
              <a:rPr sz="2200" b="1" i="1" spc="-204" dirty="0">
                <a:solidFill>
                  <a:srgbClr val="00338D"/>
                </a:solidFill>
                <a:latin typeface="Arial"/>
                <a:cs typeface="Arial"/>
              </a:rPr>
              <a:t>concebidos, </a:t>
            </a:r>
            <a:r>
              <a:rPr sz="2200" b="1" i="1" spc="-195" dirty="0">
                <a:solidFill>
                  <a:srgbClr val="00338D"/>
                </a:solidFill>
                <a:latin typeface="Arial"/>
                <a:cs typeface="Arial"/>
              </a:rPr>
              <a:t>diseñados </a:t>
            </a:r>
            <a:r>
              <a:rPr sz="2200" b="1" i="1" spc="-145" dirty="0">
                <a:solidFill>
                  <a:srgbClr val="00338D"/>
                </a:solidFill>
                <a:latin typeface="Arial"/>
                <a:cs typeface="Arial"/>
              </a:rPr>
              <a:t>e </a:t>
            </a:r>
            <a:r>
              <a:rPr sz="2200" b="1" i="1" spc="-150" dirty="0">
                <a:solidFill>
                  <a:srgbClr val="00338D"/>
                </a:solidFill>
                <a:latin typeface="Arial"/>
                <a:cs typeface="Arial"/>
              </a:rPr>
              <a:t>implementados</a:t>
            </a:r>
            <a:r>
              <a:rPr sz="2200" spc="-150" dirty="0">
                <a:latin typeface="Arial"/>
                <a:cs typeface="Arial"/>
              </a:rPr>
              <a:t>, </a:t>
            </a:r>
            <a:r>
              <a:rPr sz="2200" spc="-95" dirty="0">
                <a:latin typeface="Arial"/>
                <a:cs typeface="Arial"/>
              </a:rPr>
              <a:t>pueden  </a:t>
            </a:r>
            <a:r>
              <a:rPr sz="2200" spc="-100" dirty="0">
                <a:latin typeface="Arial"/>
                <a:cs typeface="Arial"/>
              </a:rPr>
              <a:t>ayudar </a:t>
            </a:r>
            <a:r>
              <a:rPr sz="2200" spc="-170" dirty="0">
                <a:latin typeface="Arial"/>
                <a:cs typeface="Arial"/>
              </a:rPr>
              <a:t>a </a:t>
            </a:r>
            <a:r>
              <a:rPr sz="2200" i="1" u="heavy" spc="-75" dirty="0">
                <a:solidFill>
                  <a:srgbClr val="00338D"/>
                </a:solidFill>
                <a:uFill>
                  <a:solidFill>
                    <a:srgbClr val="00338D"/>
                  </a:solidFill>
                </a:uFill>
                <a:latin typeface="Arial"/>
                <a:cs typeface="Arial"/>
              </a:rPr>
              <a:t>reducir </a:t>
            </a:r>
            <a:r>
              <a:rPr sz="2200" i="1" u="heavy" spc="-110" dirty="0">
                <a:solidFill>
                  <a:srgbClr val="00338D"/>
                </a:solidFill>
                <a:uFill>
                  <a:solidFill>
                    <a:srgbClr val="00338D"/>
                  </a:solidFill>
                </a:uFill>
                <a:latin typeface="Arial"/>
                <a:cs typeface="Arial"/>
              </a:rPr>
              <a:t>los </a:t>
            </a:r>
            <a:r>
              <a:rPr sz="2200" i="1" u="heavy" spc="-125" dirty="0">
                <a:solidFill>
                  <a:srgbClr val="00338D"/>
                </a:solidFill>
                <a:uFill>
                  <a:solidFill>
                    <a:srgbClr val="00338D"/>
                  </a:solidFill>
                </a:uFill>
                <a:latin typeface="Arial"/>
                <a:cs typeface="Arial"/>
              </a:rPr>
              <a:t>riesgos </a:t>
            </a:r>
            <a:r>
              <a:rPr sz="2200" i="1" u="heavy" spc="-120" dirty="0">
                <a:solidFill>
                  <a:srgbClr val="00338D"/>
                </a:solidFill>
                <a:uFill>
                  <a:solidFill>
                    <a:srgbClr val="00338D"/>
                  </a:solidFill>
                </a:uFill>
                <a:latin typeface="Arial"/>
                <a:cs typeface="Arial"/>
              </a:rPr>
              <a:t>y </a:t>
            </a:r>
            <a:r>
              <a:rPr sz="2200" i="1" u="heavy" spc="-45" dirty="0">
                <a:solidFill>
                  <a:srgbClr val="00338D"/>
                </a:solidFill>
                <a:uFill>
                  <a:solidFill>
                    <a:srgbClr val="00338D"/>
                  </a:solidFill>
                </a:uFill>
                <a:latin typeface="Arial"/>
                <a:cs typeface="Arial"/>
              </a:rPr>
              <a:t>la </a:t>
            </a:r>
            <a:r>
              <a:rPr sz="2200" i="1" u="heavy" spc="-70" dirty="0">
                <a:solidFill>
                  <a:srgbClr val="00338D"/>
                </a:solidFill>
                <a:uFill>
                  <a:solidFill>
                    <a:srgbClr val="00338D"/>
                  </a:solidFill>
                </a:uFill>
                <a:latin typeface="Arial"/>
                <a:cs typeface="Arial"/>
              </a:rPr>
              <a:t>incertidumbre</a:t>
            </a:r>
            <a:r>
              <a:rPr sz="2200" i="1" spc="-7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60" dirty="0">
                <a:latin typeface="Arial"/>
                <a:cs typeface="Arial"/>
              </a:rPr>
              <a:t>el  </a:t>
            </a:r>
            <a:r>
              <a:rPr sz="2200" spc="-110" dirty="0">
                <a:latin typeface="Arial"/>
                <a:cs typeface="Arial"/>
              </a:rPr>
              <a:t>proceso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55" dirty="0">
                <a:latin typeface="Arial"/>
                <a:cs typeface="Arial"/>
              </a:rPr>
              <a:t>toma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14" dirty="0">
                <a:latin typeface="Arial"/>
                <a:cs typeface="Arial"/>
              </a:rPr>
              <a:t>decisiones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80" dirty="0">
                <a:latin typeface="Arial"/>
                <a:cs typeface="Arial"/>
              </a:rPr>
              <a:t>la </a:t>
            </a:r>
            <a:r>
              <a:rPr sz="2200" spc="-85" dirty="0">
                <a:latin typeface="Arial"/>
                <a:cs typeface="Arial"/>
              </a:rPr>
              <a:t>ejecución </a:t>
            </a:r>
            <a:r>
              <a:rPr sz="2200" spc="-105" dirty="0">
                <a:latin typeface="Arial"/>
                <a:cs typeface="Arial"/>
              </a:rPr>
              <a:t>de  </a:t>
            </a:r>
            <a:r>
              <a:rPr sz="2200" spc="-120" dirty="0">
                <a:latin typeface="Arial"/>
                <a:cs typeface="Arial"/>
              </a:rPr>
              <a:t>procesos,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85" dirty="0">
                <a:latin typeface="Arial"/>
                <a:cs typeface="Arial"/>
              </a:rPr>
              <a:t>la medida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100" dirty="0">
                <a:latin typeface="Arial"/>
                <a:cs typeface="Arial"/>
              </a:rPr>
              <a:t>provean  </a:t>
            </a:r>
            <a:r>
              <a:rPr sz="2200" i="1" spc="-70" dirty="0">
                <a:latin typeface="Arial"/>
                <a:cs typeface="Arial"/>
              </a:rPr>
              <a:t>información </a:t>
            </a:r>
            <a:r>
              <a:rPr sz="2200" b="1" i="1" spc="-145" dirty="0">
                <a:solidFill>
                  <a:srgbClr val="00338D"/>
                </a:solidFill>
                <a:latin typeface="Arial"/>
                <a:cs typeface="Arial"/>
              </a:rPr>
              <a:t>confiable </a:t>
            </a:r>
            <a:r>
              <a:rPr sz="2200" i="1" spc="-120" dirty="0">
                <a:latin typeface="Arial"/>
                <a:cs typeface="Arial"/>
              </a:rPr>
              <a:t>y </a:t>
            </a:r>
            <a:r>
              <a:rPr sz="2200" b="1" i="1" spc="-125" dirty="0">
                <a:solidFill>
                  <a:srgbClr val="00338D"/>
                </a:solidFill>
                <a:latin typeface="Arial"/>
                <a:cs typeface="Arial"/>
              </a:rPr>
              <a:t>oportuna</a:t>
            </a:r>
            <a:r>
              <a:rPr sz="2200" i="1" spc="-125" dirty="0">
                <a:latin typeface="Arial"/>
                <a:cs typeface="Arial"/>
              </a:rPr>
              <a:t>, </a:t>
            </a:r>
            <a:r>
              <a:rPr sz="2200" i="1" u="heavy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optimizando </a:t>
            </a:r>
            <a:r>
              <a:rPr sz="2200" i="1" u="heavy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la </a:t>
            </a:r>
            <a:r>
              <a:rPr sz="2200" i="1" spc="-50" dirty="0">
                <a:latin typeface="Arial"/>
                <a:cs typeface="Arial"/>
              </a:rPr>
              <a:t> </a:t>
            </a:r>
            <a:r>
              <a:rPr sz="2200" i="1" u="heavy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administración, </a:t>
            </a:r>
            <a:r>
              <a:rPr sz="2200" i="1" u="heavy" spc="-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gestión </a:t>
            </a:r>
            <a:r>
              <a:rPr sz="2200" i="1" u="heavy" spc="-1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 </a:t>
            </a:r>
            <a:r>
              <a:rPr sz="2200" i="1" u="heavy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control </a:t>
            </a:r>
            <a:r>
              <a:rPr sz="2200" i="1" u="heavy" spc="-1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 </a:t>
            </a:r>
            <a:r>
              <a:rPr sz="2200" i="1" u="heavy" spc="-1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los</a:t>
            </a:r>
            <a:r>
              <a:rPr sz="2200" i="1" u="heavy" spc="-30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i="1" u="heavy" spc="-1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negocios</a:t>
            </a:r>
            <a:r>
              <a:rPr sz="2200" spc="-120" dirty="0"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200" b="1" i="1" spc="-320" dirty="0">
                <a:solidFill>
                  <a:srgbClr val="00338D"/>
                </a:solidFill>
                <a:latin typeface="Arial"/>
                <a:cs typeface="Arial"/>
              </a:rPr>
              <a:t>Los</a:t>
            </a:r>
            <a:r>
              <a:rPr sz="2200" b="1" i="1" spc="-3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2200" b="1" i="1" spc="-240" dirty="0">
                <a:solidFill>
                  <a:srgbClr val="00338D"/>
                </a:solidFill>
                <a:latin typeface="Arial"/>
                <a:cs typeface="Arial"/>
              </a:rPr>
              <a:t>SI </a:t>
            </a:r>
            <a:r>
              <a:rPr sz="2200" b="1" i="1" spc="-160" dirty="0">
                <a:solidFill>
                  <a:srgbClr val="00338D"/>
                </a:solidFill>
                <a:latin typeface="Arial"/>
                <a:cs typeface="Arial"/>
              </a:rPr>
              <a:t>cambian </a:t>
            </a:r>
            <a:r>
              <a:rPr sz="2200" b="1" i="1" spc="-75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2200" b="1" i="1" spc="-114" dirty="0">
                <a:solidFill>
                  <a:srgbClr val="00338D"/>
                </a:solidFill>
                <a:latin typeface="Arial"/>
                <a:cs typeface="Arial"/>
              </a:rPr>
              <a:t>naturaleza </a:t>
            </a:r>
            <a:r>
              <a:rPr sz="2200" b="1" i="1" spc="-165" dirty="0">
                <a:solidFill>
                  <a:srgbClr val="00338D"/>
                </a:solidFill>
                <a:latin typeface="Arial"/>
                <a:cs typeface="Arial"/>
              </a:rPr>
              <a:t>de </a:t>
            </a:r>
            <a:r>
              <a:rPr sz="2200" b="1" i="1" spc="-75" dirty="0">
                <a:solidFill>
                  <a:srgbClr val="00338D"/>
                </a:solidFill>
                <a:latin typeface="Arial"/>
                <a:cs typeface="Arial"/>
              </a:rPr>
              <a:t>la</a:t>
            </a:r>
            <a:r>
              <a:rPr sz="2200" b="1" i="1" spc="9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2200" b="1" i="1" spc="-170" dirty="0">
                <a:solidFill>
                  <a:srgbClr val="00338D"/>
                </a:solidFill>
                <a:latin typeface="Arial"/>
                <a:cs typeface="Arial"/>
              </a:rPr>
              <a:t>competencia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24600" y="1143000"/>
            <a:ext cx="2514600" cy="21998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15455" y="4038600"/>
            <a:ext cx="2523744" cy="1981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5</a:t>
            </a:fld>
            <a:endParaRPr spc="-5" dirty="0"/>
          </a:p>
        </p:txBody>
      </p:sp>
      <p:sp>
        <p:nvSpPr>
          <p:cNvPr id="11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77000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8620125" cy="6233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25" dirty="0">
                <a:solidFill>
                  <a:srgbClr val="FFFFFF"/>
                </a:solidFill>
                <a:latin typeface="Arial"/>
                <a:cs typeface="Arial"/>
              </a:rPr>
              <a:t>Planeamiento </a:t>
            </a:r>
            <a:r>
              <a:rPr sz="2000" b="1" spc="-130" dirty="0">
                <a:solidFill>
                  <a:srgbClr val="FFFFFF"/>
                </a:solidFill>
                <a:latin typeface="Arial"/>
                <a:cs typeface="Arial"/>
              </a:rPr>
              <a:t>corporativo de </a:t>
            </a:r>
            <a:r>
              <a:rPr sz="2000" b="1" spc="-185" dirty="0">
                <a:solidFill>
                  <a:srgbClr val="FFFFFF"/>
                </a:solidFill>
                <a:latin typeface="Arial"/>
                <a:cs typeface="Arial"/>
              </a:rPr>
              <a:t>Sistemas </a:t>
            </a:r>
            <a:r>
              <a:rPr sz="2000" b="1" spc="-130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2000" b="1" spc="-125" dirty="0">
                <a:solidFill>
                  <a:srgbClr val="FFFFFF"/>
                </a:solidFill>
                <a:latin typeface="Arial"/>
                <a:cs typeface="Arial"/>
              </a:rPr>
              <a:t>Información</a:t>
            </a:r>
            <a:r>
              <a:rPr sz="20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70" dirty="0">
                <a:solidFill>
                  <a:srgbClr val="FFFFFF"/>
                </a:solidFill>
                <a:latin typeface="Arial"/>
                <a:cs typeface="Arial"/>
              </a:rPr>
              <a:t>Los </a:t>
            </a:r>
            <a:r>
              <a:rPr sz="1800" spc="-125" dirty="0">
                <a:solidFill>
                  <a:srgbClr val="FFFFFF"/>
                </a:solidFill>
                <a:latin typeface="Arial"/>
                <a:cs typeface="Arial"/>
              </a:rPr>
              <a:t>Sistemas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Información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como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ventaja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competitiva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Times New Roman"/>
              <a:cs typeface="Times New Roman"/>
            </a:endParaRPr>
          </a:p>
          <a:p>
            <a:pPr marL="4438015" marR="5715" algn="just">
              <a:lnSpc>
                <a:spcPct val="100000"/>
              </a:lnSpc>
            </a:pPr>
            <a:r>
              <a:rPr sz="2200" b="1" i="1" spc="-320" dirty="0">
                <a:solidFill>
                  <a:srgbClr val="00338D"/>
                </a:solidFill>
                <a:latin typeface="Arial"/>
                <a:cs typeface="Arial"/>
              </a:rPr>
              <a:t>Los </a:t>
            </a:r>
            <a:r>
              <a:rPr sz="2200" b="1" i="1" spc="-235" dirty="0">
                <a:solidFill>
                  <a:srgbClr val="00338D"/>
                </a:solidFill>
                <a:latin typeface="Arial"/>
                <a:cs typeface="Arial"/>
              </a:rPr>
              <a:t>SI </a:t>
            </a:r>
            <a:r>
              <a:rPr sz="2200" b="1" i="1" spc="-160" dirty="0">
                <a:solidFill>
                  <a:srgbClr val="00338D"/>
                </a:solidFill>
                <a:latin typeface="Arial"/>
                <a:cs typeface="Arial"/>
              </a:rPr>
              <a:t>funcionan </a:t>
            </a:r>
            <a:r>
              <a:rPr sz="2200" b="1" i="1" spc="-170" dirty="0">
                <a:solidFill>
                  <a:srgbClr val="00338D"/>
                </a:solidFill>
                <a:latin typeface="Arial"/>
                <a:cs typeface="Arial"/>
              </a:rPr>
              <a:t>en </a:t>
            </a:r>
            <a:r>
              <a:rPr sz="2200" b="1" i="1" spc="-185" dirty="0">
                <a:solidFill>
                  <a:srgbClr val="00338D"/>
                </a:solidFill>
                <a:latin typeface="Arial"/>
                <a:cs typeface="Arial"/>
              </a:rPr>
              <a:t>un </a:t>
            </a:r>
            <a:r>
              <a:rPr sz="2200" b="1" i="1" spc="-145" dirty="0">
                <a:solidFill>
                  <a:srgbClr val="00338D"/>
                </a:solidFill>
                <a:latin typeface="Arial"/>
                <a:cs typeface="Arial"/>
              </a:rPr>
              <a:t>entorno </a:t>
            </a:r>
            <a:r>
              <a:rPr sz="2200" b="1" i="1" spc="-170" dirty="0">
                <a:solidFill>
                  <a:srgbClr val="00338D"/>
                </a:solidFill>
                <a:latin typeface="Arial"/>
                <a:cs typeface="Arial"/>
              </a:rPr>
              <a:t>que  </a:t>
            </a:r>
            <a:r>
              <a:rPr sz="2200" b="1" i="1" spc="-160" dirty="0">
                <a:solidFill>
                  <a:srgbClr val="00338D"/>
                </a:solidFill>
                <a:latin typeface="Arial"/>
                <a:cs typeface="Arial"/>
              </a:rPr>
              <a:t>contiene otros </a:t>
            </a:r>
            <a:r>
              <a:rPr sz="2200" b="1" i="1" spc="-185" dirty="0">
                <a:solidFill>
                  <a:srgbClr val="00338D"/>
                </a:solidFill>
                <a:latin typeface="Arial"/>
                <a:cs typeface="Arial"/>
              </a:rPr>
              <a:t>sistemas, </a:t>
            </a:r>
            <a:r>
              <a:rPr sz="2200" b="1" i="1" spc="-170" dirty="0">
                <a:solidFill>
                  <a:srgbClr val="00338D"/>
                </a:solidFill>
                <a:latin typeface="Arial"/>
                <a:cs typeface="Arial"/>
              </a:rPr>
              <a:t>que  pueden </a:t>
            </a:r>
            <a:r>
              <a:rPr sz="2200" b="1" i="1" spc="-135" dirty="0">
                <a:solidFill>
                  <a:srgbClr val="00338D"/>
                </a:solidFill>
                <a:latin typeface="Arial"/>
                <a:cs typeface="Arial"/>
              </a:rPr>
              <a:t>estar </a:t>
            </a:r>
            <a:r>
              <a:rPr sz="2200" b="1" i="1" spc="-200" dirty="0">
                <a:solidFill>
                  <a:srgbClr val="00338D"/>
                </a:solidFill>
                <a:latin typeface="Arial"/>
                <a:cs typeface="Arial"/>
              </a:rPr>
              <a:t>conectados </a:t>
            </a:r>
            <a:r>
              <a:rPr sz="2200" b="1" i="1" spc="-110" dirty="0">
                <a:solidFill>
                  <a:srgbClr val="00338D"/>
                </a:solidFill>
                <a:latin typeface="Arial"/>
                <a:cs typeface="Arial"/>
              </a:rPr>
              <a:t>entre</a:t>
            </a:r>
            <a:r>
              <a:rPr sz="2200" b="1" i="1" spc="-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2200" b="1" i="1" spc="-165" dirty="0">
                <a:solidFill>
                  <a:srgbClr val="00338D"/>
                </a:solidFill>
                <a:latin typeface="Arial"/>
                <a:cs typeface="Arial"/>
              </a:rPr>
              <a:t>sí</a:t>
            </a:r>
            <a:r>
              <a:rPr sz="2200" spc="-165" dirty="0"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4438015" marR="5080" algn="just">
              <a:lnSpc>
                <a:spcPct val="100000"/>
              </a:lnSpc>
              <a:spcBef>
                <a:spcPts val="5"/>
              </a:spcBef>
            </a:pPr>
            <a:r>
              <a:rPr sz="2200" spc="-125" dirty="0">
                <a:latin typeface="Arial"/>
                <a:cs typeface="Arial"/>
              </a:rPr>
              <a:t>Un </a:t>
            </a:r>
            <a:r>
              <a:rPr sz="2200" spc="-260" dirty="0">
                <a:latin typeface="Arial"/>
                <a:cs typeface="Arial"/>
              </a:rPr>
              <a:t>SI </a:t>
            </a:r>
            <a:r>
              <a:rPr sz="2200" spc="-105" dirty="0">
                <a:latin typeface="Arial"/>
                <a:cs typeface="Arial"/>
              </a:rPr>
              <a:t>debe </a:t>
            </a:r>
            <a:r>
              <a:rPr sz="2200" spc="-114" dirty="0">
                <a:latin typeface="Arial"/>
                <a:cs typeface="Arial"/>
              </a:rPr>
              <a:t>ser </a:t>
            </a:r>
            <a:r>
              <a:rPr sz="2200" b="1" i="1" spc="-110" dirty="0">
                <a:solidFill>
                  <a:srgbClr val="00338D"/>
                </a:solidFill>
                <a:latin typeface="Arial"/>
                <a:cs typeface="Arial"/>
              </a:rPr>
              <a:t>adaptable </a:t>
            </a:r>
            <a:r>
              <a:rPr sz="2200" b="1" i="1" spc="-190" dirty="0">
                <a:solidFill>
                  <a:srgbClr val="00338D"/>
                </a:solidFill>
                <a:latin typeface="Arial"/>
                <a:cs typeface="Arial"/>
              </a:rPr>
              <a:t>y </a:t>
            </a:r>
            <a:r>
              <a:rPr sz="2200" b="1" i="1" spc="-130" dirty="0">
                <a:solidFill>
                  <a:srgbClr val="00338D"/>
                </a:solidFill>
                <a:latin typeface="Arial"/>
                <a:cs typeface="Arial"/>
              </a:rPr>
              <a:t>flexible  </a:t>
            </a:r>
            <a:r>
              <a:rPr sz="2200" spc="-110" dirty="0">
                <a:latin typeface="Arial"/>
                <a:cs typeface="Arial"/>
              </a:rPr>
              <a:t>para </a:t>
            </a:r>
            <a:r>
              <a:rPr sz="2200" spc="-65" dirty="0">
                <a:latin typeface="Arial"/>
                <a:cs typeface="Arial"/>
              </a:rPr>
              <a:t>poder </a:t>
            </a:r>
            <a:r>
              <a:rPr sz="2200" spc="-105" dirty="0">
                <a:latin typeface="Arial"/>
                <a:cs typeface="Arial"/>
              </a:rPr>
              <a:t>atravesar </a:t>
            </a:r>
            <a:r>
              <a:rPr sz="2200" spc="-100" dirty="0">
                <a:latin typeface="Arial"/>
                <a:cs typeface="Arial"/>
              </a:rPr>
              <a:t>los </a:t>
            </a:r>
            <a:r>
              <a:rPr sz="2200" b="1" i="1" spc="-204" dirty="0">
                <a:solidFill>
                  <a:srgbClr val="00338D"/>
                </a:solidFill>
                <a:latin typeface="Arial"/>
                <a:cs typeface="Arial"/>
              </a:rPr>
              <a:t>cambios  </a:t>
            </a:r>
            <a:r>
              <a:rPr sz="2200" b="1" i="1" spc="-135" dirty="0">
                <a:solidFill>
                  <a:srgbClr val="00338D"/>
                </a:solidFill>
                <a:latin typeface="Arial"/>
                <a:cs typeface="Arial"/>
              </a:rPr>
              <a:t>del entorno</a:t>
            </a:r>
            <a:r>
              <a:rPr sz="2200" spc="-135" dirty="0">
                <a:latin typeface="Arial"/>
                <a:cs typeface="Arial"/>
              </a:rPr>
              <a:t>, </a:t>
            </a:r>
            <a:r>
              <a:rPr sz="2200" spc="-65" dirty="0">
                <a:latin typeface="Arial"/>
                <a:cs typeface="Arial"/>
              </a:rPr>
              <a:t>o</a:t>
            </a:r>
            <a:r>
              <a:rPr sz="2200" spc="480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bien, </a:t>
            </a:r>
            <a:r>
              <a:rPr sz="2200" i="1" u="heavy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ajustar  </a:t>
            </a:r>
            <a:r>
              <a:rPr sz="2200" i="1" u="heavy" spc="-1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su </a:t>
            </a:r>
            <a:r>
              <a:rPr sz="2200" i="1" spc="-175" dirty="0">
                <a:latin typeface="Arial"/>
                <a:cs typeface="Arial"/>
              </a:rPr>
              <a:t> </a:t>
            </a:r>
            <a:r>
              <a:rPr sz="2200" i="1" u="heavy" spc="-1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diseño </a:t>
            </a:r>
            <a:r>
              <a:rPr sz="2200" i="1" u="heavy" spc="-9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 </a:t>
            </a:r>
            <a:r>
              <a:rPr sz="2200" i="1" u="heavy" spc="-11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las </a:t>
            </a:r>
            <a:r>
              <a:rPr sz="2200" i="1" u="heavy" spc="-1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necesidades </a:t>
            </a:r>
            <a:r>
              <a:rPr sz="2200" i="1" u="heavy" spc="-1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 </a:t>
            </a:r>
            <a:r>
              <a:rPr sz="2200" i="1" u="heavy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la </a:t>
            </a:r>
            <a:r>
              <a:rPr sz="2200" i="1" spc="-50" dirty="0">
                <a:latin typeface="Arial"/>
                <a:cs typeface="Arial"/>
              </a:rPr>
              <a:t> </a:t>
            </a:r>
            <a:r>
              <a:rPr sz="2200" i="1" u="heavy" spc="-9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organización</a:t>
            </a:r>
            <a:r>
              <a:rPr sz="2200" spc="-95" dirty="0">
                <a:latin typeface="Arial"/>
                <a:cs typeface="Arial"/>
              </a:rPr>
              <a:t>. </a:t>
            </a:r>
            <a:r>
              <a:rPr sz="2200" spc="-135" dirty="0">
                <a:latin typeface="Arial"/>
                <a:cs typeface="Arial"/>
              </a:rPr>
              <a:t>Por </a:t>
            </a:r>
            <a:r>
              <a:rPr sz="2200" spc="-55" dirty="0">
                <a:latin typeface="Arial"/>
                <a:cs typeface="Arial"/>
              </a:rPr>
              <a:t>ello, </a:t>
            </a:r>
            <a:r>
              <a:rPr sz="2200" spc="-65" dirty="0">
                <a:latin typeface="Arial"/>
                <a:cs typeface="Arial"/>
              </a:rPr>
              <a:t>requieren </a:t>
            </a:r>
            <a:r>
              <a:rPr sz="2200" spc="-100" dirty="0">
                <a:latin typeface="Arial"/>
                <a:cs typeface="Arial"/>
              </a:rPr>
              <a:t>de  </a:t>
            </a:r>
            <a:r>
              <a:rPr sz="2200" spc="-105" dirty="0">
                <a:latin typeface="Arial"/>
                <a:cs typeface="Arial"/>
              </a:rPr>
              <a:t>inversiones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95" dirty="0">
                <a:latin typeface="Arial"/>
                <a:cs typeface="Arial"/>
              </a:rPr>
              <a:t>carácter </a:t>
            </a:r>
            <a:r>
              <a:rPr sz="2200" spc="-55" dirty="0">
                <a:latin typeface="Arial"/>
                <a:cs typeface="Arial"/>
              </a:rPr>
              <a:t>continuo.  </a:t>
            </a:r>
            <a:r>
              <a:rPr sz="2200" spc="-204" dirty="0">
                <a:latin typeface="Arial"/>
                <a:cs typeface="Arial"/>
              </a:rPr>
              <a:t>Los </a:t>
            </a:r>
            <a:r>
              <a:rPr sz="2200" spc="-125" dirty="0">
                <a:latin typeface="Arial"/>
                <a:cs typeface="Arial"/>
              </a:rPr>
              <a:t>SI/TI </a:t>
            </a:r>
            <a:r>
              <a:rPr sz="2200" i="1" u="heavy" spc="-1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deben </a:t>
            </a:r>
            <a:r>
              <a:rPr sz="2200" i="1" u="heavy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respaldar </a:t>
            </a:r>
            <a:r>
              <a:rPr sz="2200" i="1" u="heavy" spc="-11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las </a:t>
            </a:r>
            <a:r>
              <a:rPr sz="2200" i="1" spc="-114" dirty="0">
                <a:latin typeface="Arial"/>
                <a:cs typeface="Arial"/>
              </a:rPr>
              <a:t> </a:t>
            </a:r>
            <a:r>
              <a:rPr sz="2200" i="1" u="heavy" spc="-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estrategias, </a:t>
            </a:r>
            <a:r>
              <a:rPr sz="2200" i="1" u="heavy" spc="-1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procesos, </a:t>
            </a:r>
            <a:r>
              <a:rPr sz="2200" i="1" u="heavy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estructura </a:t>
            </a:r>
            <a:r>
              <a:rPr sz="2200" i="1" u="heavy" spc="-1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 </a:t>
            </a:r>
            <a:r>
              <a:rPr sz="2200" i="1" spc="-120" dirty="0">
                <a:latin typeface="Arial"/>
                <a:cs typeface="Arial"/>
              </a:rPr>
              <a:t> </a:t>
            </a:r>
            <a:r>
              <a:rPr sz="2200" i="1" u="heavy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cultura </a:t>
            </a:r>
            <a:r>
              <a:rPr sz="2200" i="1" u="heavy" spc="-1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 </a:t>
            </a:r>
            <a:r>
              <a:rPr sz="2200" i="1" u="heavy" spc="-9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una organización</a:t>
            </a:r>
            <a:r>
              <a:rPr sz="2200" i="1" spc="-95" dirty="0">
                <a:latin typeface="Arial"/>
                <a:cs typeface="Arial"/>
              </a:rPr>
              <a:t> </a:t>
            </a:r>
            <a:r>
              <a:rPr sz="2200" spc="-110" dirty="0">
                <a:latin typeface="Arial"/>
                <a:cs typeface="Arial"/>
              </a:rPr>
              <a:t>con </a:t>
            </a:r>
            <a:r>
              <a:rPr sz="2200" spc="-60" dirty="0">
                <a:latin typeface="Arial"/>
                <a:cs typeface="Arial"/>
              </a:rPr>
              <a:t>el  </a:t>
            </a:r>
            <a:r>
              <a:rPr sz="2200" dirty="0">
                <a:latin typeface="Arial"/>
                <a:cs typeface="Arial"/>
              </a:rPr>
              <a:t>fin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b="1" i="1" spc="-140" dirty="0">
                <a:solidFill>
                  <a:srgbClr val="00338D"/>
                </a:solidFill>
                <a:latin typeface="Arial"/>
                <a:cs typeface="Arial"/>
              </a:rPr>
              <a:t>incrementar </a:t>
            </a:r>
            <a:r>
              <a:rPr sz="2200" b="1" i="1" spc="-110" dirty="0">
                <a:solidFill>
                  <a:srgbClr val="00338D"/>
                </a:solidFill>
                <a:latin typeface="Arial"/>
                <a:cs typeface="Arial"/>
              </a:rPr>
              <a:t>el </a:t>
            </a:r>
            <a:r>
              <a:rPr sz="2200" b="1" i="1" spc="-125" dirty="0">
                <a:solidFill>
                  <a:srgbClr val="00338D"/>
                </a:solidFill>
                <a:latin typeface="Arial"/>
                <a:cs typeface="Arial"/>
              </a:rPr>
              <a:t>valor  </a:t>
            </a:r>
            <a:r>
              <a:rPr sz="2200" b="1" i="1" spc="-170" dirty="0">
                <a:solidFill>
                  <a:srgbClr val="00338D"/>
                </a:solidFill>
                <a:latin typeface="Arial"/>
                <a:cs typeface="Arial"/>
              </a:rPr>
              <a:t>comercial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0" dirty="0">
                <a:latin typeface="Arial"/>
                <a:cs typeface="Arial"/>
              </a:rPr>
              <a:t>la </a:t>
            </a:r>
            <a:r>
              <a:rPr sz="2200" spc="-114" dirty="0">
                <a:latin typeface="Arial"/>
                <a:cs typeface="Arial"/>
              </a:rPr>
              <a:t>empresa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75" dirty="0">
                <a:latin typeface="Arial"/>
                <a:cs typeface="Arial"/>
              </a:rPr>
              <a:t>un  </a:t>
            </a:r>
            <a:r>
              <a:rPr sz="2200" spc="-40" dirty="0">
                <a:latin typeface="Arial"/>
                <a:cs typeface="Arial"/>
              </a:rPr>
              <a:t>entorno </a:t>
            </a:r>
            <a:r>
              <a:rPr sz="2200" spc="-85" dirty="0">
                <a:latin typeface="Arial"/>
                <a:cs typeface="Arial"/>
              </a:rPr>
              <a:t>empresarial</a:t>
            </a:r>
            <a:r>
              <a:rPr sz="2200" spc="-225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dinámico.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2338" y="1675932"/>
            <a:ext cx="4281236" cy="41615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6</a:t>
            </a:fld>
            <a:endParaRPr spc="-5" dirty="0"/>
          </a:p>
        </p:txBody>
      </p:sp>
      <p:sp>
        <p:nvSpPr>
          <p:cNvPr id="6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900" y="4008120"/>
            <a:ext cx="8712835" cy="2283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200" b="1" i="1" spc="-210" dirty="0">
                <a:solidFill>
                  <a:srgbClr val="00338D"/>
                </a:solidFill>
                <a:latin typeface="Arial"/>
                <a:cs typeface="Arial"/>
              </a:rPr>
              <a:t>“El </a:t>
            </a:r>
            <a:r>
              <a:rPr sz="2200" b="1" i="1" spc="-235" dirty="0">
                <a:solidFill>
                  <a:srgbClr val="00338D"/>
                </a:solidFill>
                <a:latin typeface="Arial"/>
                <a:cs typeface="Arial"/>
              </a:rPr>
              <a:t>SI </a:t>
            </a:r>
            <a:r>
              <a:rPr sz="2200" b="1" i="1" spc="-165" dirty="0">
                <a:solidFill>
                  <a:srgbClr val="00338D"/>
                </a:solidFill>
                <a:latin typeface="Arial"/>
                <a:cs typeface="Arial"/>
              </a:rPr>
              <a:t>debe </a:t>
            </a:r>
            <a:r>
              <a:rPr sz="2200" b="1" i="1" spc="-140" dirty="0">
                <a:solidFill>
                  <a:srgbClr val="00338D"/>
                </a:solidFill>
                <a:latin typeface="Arial"/>
                <a:cs typeface="Arial"/>
              </a:rPr>
              <a:t>estar </a:t>
            </a:r>
            <a:r>
              <a:rPr sz="2200" b="1" i="1" spc="-70" dirty="0">
                <a:solidFill>
                  <a:srgbClr val="00338D"/>
                </a:solidFill>
                <a:latin typeface="Arial"/>
                <a:cs typeface="Arial"/>
              </a:rPr>
              <a:t>al </a:t>
            </a:r>
            <a:r>
              <a:rPr sz="2200" b="1" i="1" spc="-180" dirty="0">
                <a:solidFill>
                  <a:srgbClr val="00338D"/>
                </a:solidFill>
                <a:latin typeface="Arial"/>
                <a:cs typeface="Arial"/>
              </a:rPr>
              <a:t>servicio </a:t>
            </a:r>
            <a:r>
              <a:rPr sz="2200" b="1" i="1" spc="-165" dirty="0">
                <a:solidFill>
                  <a:srgbClr val="00338D"/>
                </a:solidFill>
                <a:latin typeface="Arial"/>
                <a:cs typeface="Arial"/>
              </a:rPr>
              <a:t>de </a:t>
            </a:r>
            <a:r>
              <a:rPr sz="2200" b="1" i="1" spc="-70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2200" b="1" i="1" spc="-170" dirty="0">
                <a:solidFill>
                  <a:srgbClr val="00338D"/>
                </a:solidFill>
                <a:latin typeface="Arial"/>
                <a:cs typeface="Arial"/>
              </a:rPr>
              <a:t>empresa </a:t>
            </a:r>
            <a:r>
              <a:rPr sz="2200" b="1" i="1" spc="-190" dirty="0">
                <a:solidFill>
                  <a:srgbClr val="00338D"/>
                </a:solidFill>
                <a:latin typeface="Arial"/>
                <a:cs typeface="Arial"/>
              </a:rPr>
              <a:t>y </a:t>
            </a:r>
            <a:r>
              <a:rPr sz="2200" b="1" i="1" spc="-165" dirty="0">
                <a:solidFill>
                  <a:srgbClr val="00338D"/>
                </a:solidFill>
                <a:latin typeface="Arial"/>
                <a:cs typeface="Arial"/>
              </a:rPr>
              <a:t>de </a:t>
            </a:r>
            <a:r>
              <a:rPr sz="2200" b="1" i="1" spc="-305" dirty="0">
                <a:solidFill>
                  <a:srgbClr val="00338D"/>
                </a:solidFill>
                <a:latin typeface="Arial"/>
                <a:cs typeface="Arial"/>
              </a:rPr>
              <a:t>sus </a:t>
            </a:r>
            <a:r>
              <a:rPr sz="2200" b="1" i="1" spc="-145" dirty="0">
                <a:solidFill>
                  <a:srgbClr val="00338D"/>
                </a:solidFill>
                <a:latin typeface="Arial"/>
                <a:cs typeface="Arial"/>
              </a:rPr>
              <a:t>objetivos. </a:t>
            </a:r>
            <a:r>
              <a:rPr sz="2200" b="1" i="1" spc="-235" dirty="0">
                <a:solidFill>
                  <a:srgbClr val="00338D"/>
                </a:solidFill>
                <a:latin typeface="Arial"/>
                <a:cs typeface="Arial"/>
              </a:rPr>
              <a:t>El SI </a:t>
            </a:r>
            <a:r>
              <a:rPr sz="2200" b="1" i="1" spc="-185" dirty="0">
                <a:solidFill>
                  <a:srgbClr val="00338D"/>
                </a:solidFill>
                <a:latin typeface="Arial"/>
                <a:cs typeface="Arial"/>
              </a:rPr>
              <a:t>no </a:t>
            </a:r>
            <a:r>
              <a:rPr sz="2200" b="1" i="1" spc="-260" dirty="0">
                <a:solidFill>
                  <a:srgbClr val="00338D"/>
                </a:solidFill>
                <a:latin typeface="Arial"/>
                <a:cs typeface="Arial"/>
              </a:rPr>
              <a:t>es  </a:t>
            </a:r>
            <a:r>
              <a:rPr sz="2200" b="1" i="1" spc="-145" dirty="0">
                <a:solidFill>
                  <a:srgbClr val="00338D"/>
                </a:solidFill>
                <a:latin typeface="Arial"/>
                <a:cs typeface="Arial"/>
              </a:rPr>
              <a:t>independiente </a:t>
            </a:r>
            <a:r>
              <a:rPr sz="2200" b="1" i="1" spc="-165" dirty="0">
                <a:solidFill>
                  <a:srgbClr val="00338D"/>
                </a:solidFill>
                <a:latin typeface="Arial"/>
                <a:cs typeface="Arial"/>
              </a:rPr>
              <a:t>de </a:t>
            </a:r>
            <a:r>
              <a:rPr sz="2200" b="1" i="1" spc="-70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2200" b="1" i="1" spc="-114" dirty="0">
                <a:solidFill>
                  <a:srgbClr val="00338D"/>
                </a:solidFill>
                <a:latin typeface="Arial"/>
                <a:cs typeface="Arial"/>
              </a:rPr>
              <a:t>estrategia </a:t>
            </a:r>
            <a:r>
              <a:rPr sz="2200" b="1" i="1" spc="-165" dirty="0">
                <a:solidFill>
                  <a:srgbClr val="00338D"/>
                </a:solidFill>
                <a:latin typeface="Arial"/>
                <a:cs typeface="Arial"/>
              </a:rPr>
              <a:t>de </a:t>
            </a:r>
            <a:r>
              <a:rPr sz="2200" b="1" i="1" spc="-70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2200" b="1" i="1" spc="-170" dirty="0">
                <a:solidFill>
                  <a:srgbClr val="00338D"/>
                </a:solidFill>
                <a:latin typeface="Arial"/>
                <a:cs typeface="Arial"/>
              </a:rPr>
              <a:t>empresa </a:t>
            </a:r>
            <a:r>
              <a:rPr sz="2200" b="1" i="1" spc="-125" dirty="0">
                <a:solidFill>
                  <a:srgbClr val="00338D"/>
                </a:solidFill>
                <a:latin typeface="Arial"/>
                <a:cs typeface="Arial"/>
              </a:rPr>
              <a:t>ya </a:t>
            </a:r>
            <a:r>
              <a:rPr sz="2200" b="1" i="1" spc="-170" dirty="0">
                <a:solidFill>
                  <a:srgbClr val="00338D"/>
                </a:solidFill>
                <a:latin typeface="Arial"/>
                <a:cs typeface="Arial"/>
              </a:rPr>
              <a:t>que debe </a:t>
            </a:r>
            <a:r>
              <a:rPr sz="2200" b="1" i="1" spc="-140" dirty="0">
                <a:solidFill>
                  <a:srgbClr val="00338D"/>
                </a:solidFill>
                <a:latin typeface="Arial"/>
                <a:cs typeface="Arial"/>
              </a:rPr>
              <a:t>contribuir </a:t>
            </a:r>
            <a:r>
              <a:rPr sz="2200" b="1" i="1" spc="-65" dirty="0">
                <a:solidFill>
                  <a:srgbClr val="00338D"/>
                </a:solidFill>
                <a:latin typeface="Arial"/>
                <a:cs typeface="Arial"/>
              </a:rPr>
              <a:t>a  </a:t>
            </a:r>
            <a:r>
              <a:rPr sz="2200" b="1" i="1" spc="-135" dirty="0">
                <a:solidFill>
                  <a:srgbClr val="00338D"/>
                </a:solidFill>
                <a:latin typeface="Arial"/>
                <a:cs typeface="Arial"/>
              </a:rPr>
              <a:t>ponerla </a:t>
            </a:r>
            <a:r>
              <a:rPr sz="2200" b="1" i="1" spc="-165" dirty="0">
                <a:solidFill>
                  <a:srgbClr val="00338D"/>
                </a:solidFill>
                <a:latin typeface="Arial"/>
                <a:cs typeface="Arial"/>
              </a:rPr>
              <a:t>en </a:t>
            </a:r>
            <a:r>
              <a:rPr sz="2200" b="1" i="1" spc="-145" dirty="0">
                <a:solidFill>
                  <a:srgbClr val="00338D"/>
                </a:solidFill>
                <a:latin typeface="Arial"/>
                <a:cs typeface="Arial"/>
              </a:rPr>
              <a:t>práctica.” </a:t>
            </a:r>
            <a:r>
              <a:rPr sz="2200" spc="-85" dirty="0">
                <a:solidFill>
                  <a:srgbClr val="00338D"/>
                </a:solidFill>
                <a:latin typeface="Arial"/>
                <a:cs typeface="Arial"/>
              </a:rPr>
              <a:t>(Andreu, </a:t>
            </a:r>
            <a:r>
              <a:rPr sz="2200" spc="-100" dirty="0">
                <a:solidFill>
                  <a:srgbClr val="00338D"/>
                </a:solidFill>
                <a:latin typeface="Arial"/>
                <a:cs typeface="Arial"/>
              </a:rPr>
              <a:t>Ricart </a:t>
            </a:r>
            <a:r>
              <a:rPr sz="2200" spc="-105" dirty="0">
                <a:solidFill>
                  <a:srgbClr val="00338D"/>
                </a:solidFill>
                <a:latin typeface="Arial"/>
                <a:cs typeface="Arial"/>
              </a:rPr>
              <a:t>y </a:t>
            </a:r>
            <a:r>
              <a:rPr sz="2200" spc="-130" dirty="0">
                <a:solidFill>
                  <a:srgbClr val="00338D"/>
                </a:solidFill>
                <a:latin typeface="Arial"/>
                <a:cs typeface="Arial"/>
              </a:rPr>
              <a:t>Valor,</a:t>
            </a:r>
            <a:r>
              <a:rPr sz="2200" spc="-13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2200" spc="-95" dirty="0">
                <a:solidFill>
                  <a:srgbClr val="00338D"/>
                </a:solidFill>
                <a:latin typeface="Arial"/>
                <a:cs typeface="Arial"/>
              </a:rPr>
              <a:t>1991).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imes New Roman"/>
              <a:cs typeface="Times New Roman"/>
            </a:endParaRPr>
          </a:p>
          <a:p>
            <a:pPr marL="1346200" marR="5080" indent="746760" algn="r">
              <a:lnSpc>
                <a:spcPct val="100000"/>
              </a:lnSpc>
            </a:pPr>
            <a:r>
              <a:rPr sz="2000" b="1" i="1" spc="-190" dirty="0">
                <a:latin typeface="Arial"/>
                <a:cs typeface="Arial"/>
              </a:rPr>
              <a:t>“El </a:t>
            </a:r>
            <a:r>
              <a:rPr sz="2000" b="1" i="1" spc="-140" dirty="0">
                <a:latin typeface="Arial"/>
                <a:cs typeface="Arial"/>
              </a:rPr>
              <a:t>desafío </a:t>
            </a:r>
            <a:r>
              <a:rPr sz="2000" b="1" i="1" spc="-150" dirty="0">
                <a:latin typeface="Arial"/>
                <a:cs typeface="Arial"/>
              </a:rPr>
              <a:t>de las </a:t>
            </a:r>
            <a:r>
              <a:rPr sz="2000" b="1" i="1" spc="-160" dirty="0">
                <a:latin typeface="Arial"/>
                <a:cs typeface="Arial"/>
              </a:rPr>
              <a:t>organizaciones </a:t>
            </a:r>
            <a:r>
              <a:rPr sz="2000" b="1" i="1" spc="-235" dirty="0">
                <a:latin typeface="Arial"/>
                <a:cs typeface="Arial"/>
              </a:rPr>
              <a:t>es </a:t>
            </a:r>
            <a:r>
              <a:rPr sz="2000" b="1" i="1" spc="-120" dirty="0">
                <a:latin typeface="Arial"/>
                <a:cs typeface="Arial"/>
              </a:rPr>
              <a:t>desarrollar </a:t>
            </a:r>
            <a:r>
              <a:rPr sz="2000" b="1" i="1" spc="-65" dirty="0">
                <a:latin typeface="Arial"/>
                <a:cs typeface="Arial"/>
              </a:rPr>
              <a:t>la</a:t>
            </a:r>
            <a:r>
              <a:rPr sz="2000" b="1" i="1" spc="-45" dirty="0">
                <a:latin typeface="Arial"/>
                <a:cs typeface="Arial"/>
              </a:rPr>
              <a:t> </a:t>
            </a:r>
            <a:r>
              <a:rPr sz="2000" b="1" i="1" spc="-150" dirty="0">
                <a:latin typeface="Arial"/>
                <a:cs typeface="Arial"/>
              </a:rPr>
              <a:t>capacidad</a:t>
            </a:r>
            <a:r>
              <a:rPr sz="2000" b="1" i="1" spc="-125" dirty="0">
                <a:latin typeface="Arial"/>
                <a:cs typeface="Arial"/>
              </a:rPr>
              <a:t> </a:t>
            </a:r>
            <a:r>
              <a:rPr sz="2000" b="1" i="1" spc="-150" dirty="0">
                <a:latin typeface="Arial"/>
                <a:cs typeface="Arial"/>
              </a:rPr>
              <a:t>de </a:t>
            </a:r>
            <a:r>
              <a:rPr sz="2000" b="1" i="1" spc="-75" dirty="0">
                <a:latin typeface="Arial"/>
                <a:cs typeface="Arial"/>
              </a:rPr>
              <a:t> </a:t>
            </a:r>
            <a:r>
              <a:rPr sz="2000" b="1" i="1" spc="-120" dirty="0">
                <a:latin typeface="Arial"/>
                <a:cs typeface="Arial"/>
              </a:rPr>
              <a:t>relacionar </a:t>
            </a:r>
            <a:r>
              <a:rPr sz="2000" b="1" i="1" spc="-65" dirty="0">
                <a:latin typeface="Arial"/>
                <a:cs typeface="Arial"/>
              </a:rPr>
              <a:t>la </a:t>
            </a:r>
            <a:r>
              <a:rPr sz="2000" b="1" i="1" spc="-130" dirty="0">
                <a:latin typeface="Arial"/>
                <a:cs typeface="Arial"/>
              </a:rPr>
              <a:t>tecnología </a:t>
            </a:r>
            <a:r>
              <a:rPr sz="2000" b="1" i="1" spc="-220" dirty="0">
                <a:latin typeface="Arial"/>
                <a:cs typeface="Arial"/>
              </a:rPr>
              <a:t>con </a:t>
            </a:r>
            <a:r>
              <a:rPr sz="2000" b="1" i="1" spc="-65" dirty="0">
                <a:latin typeface="Arial"/>
                <a:cs typeface="Arial"/>
              </a:rPr>
              <a:t>la </a:t>
            </a:r>
            <a:r>
              <a:rPr sz="2000" b="1" i="1" spc="-105" dirty="0">
                <a:latin typeface="Arial"/>
                <a:cs typeface="Arial"/>
              </a:rPr>
              <a:t>estrategia </a:t>
            </a:r>
            <a:r>
              <a:rPr sz="2000" b="1" i="1" spc="-150" dirty="0">
                <a:latin typeface="Arial"/>
                <a:cs typeface="Arial"/>
              </a:rPr>
              <a:t>de </a:t>
            </a:r>
            <a:r>
              <a:rPr sz="2000" b="1" i="1" spc="-65" dirty="0">
                <a:latin typeface="Arial"/>
                <a:cs typeface="Arial"/>
              </a:rPr>
              <a:t>la </a:t>
            </a:r>
            <a:r>
              <a:rPr sz="2000" b="1" i="1" spc="-155" dirty="0">
                <a:latin typeface="Arial"/>
                <a:cs typeface="Arial"/>
              </a:rPr>
              <a:t>empresa en</a:t>
            </a:r>
            <a:r>
              <a:rPr sz="2000" b="1" i="1" spc="-415" dirty="0">
                <a:latin typeface="Arial"/>
                <a:cs typeface="Arial"/>
              </a:rPr>
              <a:t> </a:t>
            </a:r>
            <a:r>
              <a:rPr sz="2000" b="1" i="1" spc="-175" dirty="0">
                <a:latin typeface="Arial"/>
                <a:cs typeface="Arial"/>
              </a:rPr>
              <a:t>un</a:t>
            </a:r>
            <a:r>
              <a:rPr sz="2000" b="1" i="1" spc="-114" dirty="0">
                <a:latin typeface="Arial"/>
                <a:cs typeface="Arial"/>
              </a:rPr>
              <a:t> </a:t>
            </a:r>
            <a:r>
              <a:rPr sz="2000" b="1" i="1" spc="-135" dirty="0">
                <a:latin typeface="Arial"/>
                <a:cs typeface="Arial"/>
              </a:rPr>
              <a:t>entorno </a:t>
            </a:r>
            <a:r>
              <a:rPr sz="2000" b="1" i="1" spc="-80" dirty="0">
                <a:latin typeface="Arial"/>
                <a:cs typeface="Arial"/>
              </a:rPr>
              <a:t> </a:t>
            </a:r>
            <a:r>
              <a:rPr sz="2000" b="1" i="1" spc="-150" dirty="0">
                <a:latin typeface="Arial"/>
                <a:cs typeface="Arial"/>
              </a:rPr>
              <a:t>de </a:t>
            </a:r>
            <a:r>
              <a:rPr sz="2000" b="1" i="1" spc="-120" dirty="0">
                <a:latin typeface="Arial"/>
                <a:cs typeface="Arial"/>
              </a:rPr>
              <a:t>lenguaje </a:t>
            </a:r>
            <a:r>
              <a:rPr sz="2000" b="1" i="1" spc="-150" dirty="0">
                <a:latin typeface="Arial"/>
                <a:cs typeface="Arial"/>
              </a:rPr>
              <a:t>de </a:t>
            </a:r>
            <a:r>
              <a:rPr sz="2000" b="1" i="1" spc="-190" dirty="0">
                <a:latin typeface="Arial"/>
                <a:cs typeface="Arial"/>
              </a:rPr>
              <a:t>negocios </a:t>
            </a:r>
            <a:r>
              <a:rPr sz="2000" b="1" i="1" spc="-175" dirty="0">
                <a:latin typeface="Arial"/>
                <a:cs typeface="Arial"/>
              </a:rPr>
              <a:t>y</a:t>
            </a:r>
            <a:r>
              <a:rPr sz="2000" b="1" i="1" spc="-25" dirty="0">
                <a:latin typeface="Arial"/>
                <a:cs typeface="Arial"/>
              </a:rPr>
              <a:t> </a:t>
            </a:r>
            <a:r>
              <a:rPr sz="2000" b="1" i="1" spc="-175" dirty="0">
                <a:latin typeface="Arial"/>
                <a:cs typeface="Arial"/>
              </a:rPr>
              <a:t>no </a:t>
            </a:r>
            <a:r>
              <a:rPr sz="2000" b="1" i="1" spc="-155" dirty="0">
                <a:latin typeface="Arial"/>
                <a:cs typeface="Arial"/>
              </a:rPr>
              <a:t>en </a:t>
            </a:r>
            <a:r>
              <a:rPr sz="2000" b="1" i="1" spc="-175" dirty="0">
                <a:latin typeface="Arial"/>
                <a:cs typeface="Arial"/>
              </a:rPr>
              <a:t>un </a:t>
            </a:r>
            <a:r>
              <a:rPr sz="2000" b="1" i="1" spc="-135" dirty="0">
                <a:latin typeface="Arial"/>
                <a:cs typeface="Arial"/>
              </a:rPr>
              <a:t>entorno </a:t>
            </a:r>
            <a:r>
              <a:rPr sz="2000" b="1" i="1" spc="-150" dirty="0">
                <a:latin typeface="Arial"/>
                <a:cs typeface="Arial"/>
              </a:rPr>
              <a:t>de </a:t>
            </a:r>
            <a:r>
              <a:rPr sz="2000" b="1" i="1" spc="-120" dirty="0">
                <a:latin typeface="Arial"/>
                <a:cs typeface="Arial"/>
              </a:rPr>
              <a:t>lenguaje </a:t>
            </a:r>
            <a:r>
              <a:rPr sz="2000" b="1" i="1" spc="-165" dirty="0">
                <a:latin typeface="Arial"/>
                <a:cs typeface="Arial"/>
              </a:rPr>
              <a:t>técnico.”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84847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/>
              <a:t>– </a:t>
            </a:r>
            <a:r>
              <a:rPr spc="-125" dirty="0"/>
              <a:t>Planeamiento </a:t>
            </a:r>
            <a:r>
              <a:rPr spc="-130" dirty="0"/>
              <a:t>corporativo de </a:t>
            </a:r>
            <a:r>
              <a:rPr spc="-185" dirty="0"/>
              <a:t>Sistemas </a:t>
            </a:r>
            <a:r>
              <a:rPr spc="-130" dirty="0"/>
              <a:t>de </a:t>
            </a:r>
            <a:r>
              <a:rPr spc="-125" dirty="0"/>
              <a:t>Información</a:t>
            </a:r>
            <a:r>
              <a:rPr spc="105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70" dirty="0">
                <a:latin typeface="Arial"/>
                <a:cs typeface="Arial"/>
              </a:rPr>
              <a:t>Los </a:t>
            </a:r>
            <a:r>
              <a:rPr sz="1800" b="0" spc="-125" dirty="0">
                <a:latin typeface="Arial"/>
                <a:cs typeface="Arial"/>
              </a:rPr>
              <a:t>Sistemas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50" dirty="0">
                <a:latin typeface="Arial"/>
                <a:cs typeface="Arial"/>
              </a:rPr>
              <a:t>Información </a:t>
            </a:r>
            <a:r>
              <a:rPr sz="1800" b="0" spc="-80" dirty="0">
                <a:latin typeface="Arial"/>
                <a:cs typeface="Arial"/>
              </a:rPr>
              <a:t>como </a:t>
            </a:r>
            <a:r>
              <a:rPr sz="1800" b="0" spc="-60" dirty="0">
                <a:latin typeface="Arial"/>
                <a:cs typeface="Arial"/>
              </a:rPr>
              <a:t>ventaja</a:t>
            </a:r>
            <a:r>
              <a:rPr sz="1800" b="0" spc="-20" dirty="0">
                <a:latin typeface="Arial"/>
                <a:cs typeface="Arial"/>
              </a:rPr>
              <a:t> </a:t>
            </a:r>
            <a:r>
              <a:rPr sz="1800" b="0" spc="-40" dirty="0">
                <a:latin typeface="Arial"/>
                <a:cs typeface="Arial"/>
              </a:rPr>
              <a:t>competitiva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6067" y="1171960"/>
            <a:ext cx="7501828" cy="26644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2983" y="5257800"/>
            <a:ext cx="826633" cy="1143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7</a:t>
            </a:fld>
            <a:endParaRPr spc="-5" dirty="0"/>
          </a:p>
        </p:txBody>
      </p:sp>
      <p:sp>
        <p:nvSpPr>
          <p:cNvPr id="8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036066"/>
            <a:ext cx="8614410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200" spc="-185" dirty="0">
                <a:latin typeface="Arial"/>
                <a:cs typeface="Arial"/>
              </a:rPr>
              <a:t>Con </a:t>
            </a:r>
            <a:r>
              <a:rPr sz="2200" spc="-85" dirty="0">
                <a:latin typeface="Arial"/>
                <a:cs typeface="Arial"/>
              </a:rPr>
              <a:t>frecuencia,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130" dirty="0">
                <a:latin typeface="Arial"/>
                <a:cs typeface="Arial"/>
              </a:rPr>
              <a:t>uso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0" dirty="0">
                <a:latin typeface="Arial"/>
                <a:cs typeface="Arial"/>
              </a:rPr>
              <a:t>la </a:t>
            </a:r>
            <a:r>
              <a:rPr sz="2200" spc="-170" dirty="0">
                <a:latin typeface="Arial"/>
                <a:cs typeface="Arial"/>
              </a:rPr>
              <a:t>TI </a:t>
            </a:r>
            <a:r>
              <a:rPr sz="2200" spc="-125" dirty="0">
                <a:latin typeface="Arial"/>
                <a:cs typeface="Arial"/>
              </a:rPr>
              <a:t>da </a:t>
            </a:r>
            <a:r>
              <a:rPr sz="2200" spc="-105" dirty="0">
                <a:latin typeface="Arial"/>
                <a:cs typeface="Arial"/>
              </a:rPr>
              <a:t>como </a:t>
            </a:r>
            <a:r>
              <a:rPr sz="2200" spc="-75" dirty="0">
                <a:latin typeface="Arial"/>
                <a:cs typeface="Arial"/>
              </a:rPr>
              <a:t>resultado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75" dirty="0">
                <a:latin typeface="Arial"/>
                <a:cs typeface="Arial"/>
              </a:rPr>
              <a:t>desarrollo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260" dirty="0">
                <a:latin typeface="Arial"/>
                <a:cs typeface="Arial"/>
              </a:rPr>
              <a:t>SI </a:t>
            </a:r>
            <a:r>
              <a:rPr sz="2200" spc="-95" dirty="0">
                <a:latin typeface="Arial"/>
                <a:cs typeface="Arial"/>
              </a:rPr>
              <a:t>que  </a:t>
            </a:r>
            <a:r>
              <a:rPr sz="2200" spc="-120" dirty="0">
                <a:latin typeface="Arial"/>
                <a:cs typeface="Arial"/>
              </a:rPr>
              <a:t>ayudan </a:t>
            </a:r>
            <a:r>
              <a:rPr sz="2200" spc="-170" dirty="0">
                <a:latin typeface="Arial"/>
                <a:cs typeface="Arial"/>
              </a:rPr>
              <a:t>a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114" dirty="0">
                <a:latin typeface="Arial"/>
                <a:cs typeface="Arial"/>
              </a:rPr>
              <a:t>empresa </a:t>
            </a:r>
            <a:r>
              <a:rPr sz="2200" spc="-170" dirty="0">
                <a:latin typeface="Arial"/>
                <a:cs typeface="Arial"/>
              </a:rPr>
              <a:t>a </a:t>
            </a:r>
            <a:r>
              <a:rPr sz="2200" spc="-70" dirty="0">
                <a:latin typeface="Arial"/>
                <a:cs typeface="Arial"/>
              </a:rPr>
              <a:t>darle </a:t>
            </a:r>
            <a:r>
              <a:rPr sz="2200" spc="-80" dirty="0">
                <a:latin typeface="Arial"/>
                <a:cs typeface="Arial"/>
              </a:rPr>
              <a:t>ventaja </a:t>
            </a:r>
            <a:r>
              <a:rPr sz="2200" spc="-55" dirty="0">
                <a:latin typeface="Arial"/>
                <a:cs typeface="Arial"/>
              </a:rPr>
              <a:t>competitiva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100" dirty="0">
                <a:latin typeface="Arial"/>
                <a:cs typeface="Arial"/>
              </a:rPr>
              <a:t>mercado. </a:t>
            </a:r>
            <a:r>
              <a:rPr sz="2200" spc="-175" dirty="0">
                <a:latin typeface="Arial"/>
                <a:cs typeface="Arial"/>
              </a:rPr>
              <a:t>Estos  </a:t>
            </a:r>
            <a:r>
              <a:rPr sz="2200" spc="-155" dirty="0">
                <a:latin typeface="Arial"/>
                <a:cs typeface="Arial"/>
              </a:rPr>
              <a:t>Sistemas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65" dirty="0">
                <a:latin typeface="Arial"/>
                <a:cs typeface="Arial"/>
              </a:rPr>
              <a:t>Información  </a:t>
            </a:r>
            <a:r>
              <a:rPr sz="2200" spc="-100" dirty="0">
                <a:latin typeface="Arial"/>
                <a:cs typeface="Arial"/>
              </a:rPr>
              <a:t>estratégicos </a:t>
            </a:r>
            <a:r>
              <a:rPr sz="2200" spc="-55" dirty="0">
                <a:latin typeface="Arial"/>
                <a:cs typeface="Arial"/>
              </a:rPr>
              <a:t>utilizan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165" dirty="0">
                <a:latin typeface="Arial"/>
                <a:cs typeface="Arial"/>
              </a:rPr>
              <a:t>TI </a:t>
            </a:r>
            <a:r>
              <a:rPr sz="2200" spc="-110" dirty="0">
                <a:latin typeface="Arial"/>
                <a:cs typeface="Arial"/>
              </a:rPr>
              <a:t>para </a:t>
            </a:r>
            <a:r>
              <a:rPr sz="2200" spc="-75" dirty="0">
                <a:latin typeface="Arial"/>
                <a:cs typeface="Arial"/>
              </a:rPr>
              <a:t>desarrollar  productos, </a:t>
            </a:r>
            <a:r>
              <a:rPr sz="2200" spc="-100" dirty="0">
                <a:latin typeface="Arial"/>
                <a:cs typeface="Arial"/>
              </a:rPr>
              <a:t>servicios, </a:t>
            </a:r>
            <a:r>
              <a:rPr sz="2200" spc="-130" dirty="0">
                <a:latin typeface="Arial"/>
                <a:cs typeface="Arial"/>
              </a:rPr>
              <a:t>procesos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35" dirty="0">
                <a:latin typeface="Arial"/>
                <a:cs typeface="Arial"/>
              </a:rPr>
              <a:t>capacidades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105" dirty="0">
                <a:latin typeface="Arial"/>
                <a:cs typeface="Arial"/>
              </a:rPr>
              <a:t>dan </a:t>
            </a:r>
            <a:r>
              <a:rPr sz="2200" spc="-170" dirty="0">
                <a:latin typeface="Arial"/>
                <a:cs typeface="Arial"/>
              </a:rPr>
              <a:t>a </a:t>
            </a:r>
            <a:r>
              <a:rPr sz="2200" spc="-110" dirty="0">
                <a:latin typeface="Arial"/>
                <a:cs typeface="Arial"/>
              </a:rPr>
              <a:t>una </a:t>
            </a:r>
            <a:r>
              <a:rPr sz="2200" spc="-120" dirty="0">
                <a:latin typeface="Arial"/>
                <a:cs typeface="Arial"/>
              </a:rPr>
              <a:t>empresa  </a:t>
            </a:r>
            <a:r>
              <a:rPr sz="2200" spc="-80" dirty="0">
                <a:latin typeface="Arial"/>
                <a:cs typeface="Arial"/>
              </a:rPr>
              <a:t>ventaja </a:t>
            </a:r>
            <a:r>
              <a:rPr sz="2200" spc="-100" dirty="0">
                <a:latin typeface="Arial"/>
                <a:cs typeface="Arial"/>
              </a:rPr>
              <a:t>estratégica </a:t>
            </a:r>
            <a:r>
              <a:rPr sz="2200" spc="-105" dirty="0">
                <a:latin typeface="Arial"/>
                <a:cs typeface="Arial"/>
              </a:rPr>
              <a:t>sobre </a:t>
            </a:r>
            <a:r>
              <a:rPr sz="2200" spc="-135" dirty="0">
                <a:latin typeface="Arial"/>
                <a:cs typeface="Arial"/>
              </a:rPr>
              <a:t>las </a:t>
            </a:r>
            <a:r>
              <a:rPr sz="2200" spc="-114" dirty="0">
                <a:latin typeface="Arial"/>
                <a:cs typeface="Arial"/>
              </a:rPr>
              <a:t>fuerzas </a:t>
            </a:r>
            <a:r>
              <a:rPr sz="2200" spc="-75" dirty="0">
                <a:latin typeface="Arial"/>
                <a:cs typeface="Arial"/>
              </a:rPr>
              <a:t>competitivas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60" dirty="0">
                <a:latin typeface="Arial"/>
                <a:cs typeface="Arial"/>
              </a:rPr>
              <a:t>enfrenta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160" dirty="0">
                <a:latin typeface="Arial"/>
                <a:cs typeface="Arial"/>
              </a:rPr>
              <a:t>su  </a:t>
            </a:r>
            <a:r>
              <a:rPr sz="2200" spc="-55" dirty="0">
                <a:latin typeface="Arial"/>
                <a:cs typeface="Arial"/>
              </a:rPr>
              <a:t>industria.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84847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/>
              <a:t>– </a:t>
            </a:r>
            <a:r>
              <a:rPr spc="-125" dirty="0"/>
              <a:t>Planeamiento </a:t>
            </a:r>
            <a:r>
              <a:rPr spc="-130" dirty="0"/>
              <a:t>corporativo de </a:t>
            </a:r>
            <a:r>
              <a:rPr spc="-185" dirty="0"/>
              <a:t>Sistemas </a:t>
            </a:r>
            <a:r>
              <a:rPr spc="-130" dirty="0"/>
              <a:t>de </a:t>
            </a:r>
            <a:r>
              <a:rPr spc="-125" dirty="0"/>
              <a:t>Información</a:t>
            </a:r>
            <a:r>
              <a:rPr spc="105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00" dirty="0">
                <a:latin typeface="Arial"/>
                <a:cs typeface="Arial"/>
              </a:rPr>
              <a:t>Tecnología, negocios </a:t>
            </a:r>
            <a:r>
              <a:rPr sz="1800" b="0" spc="-90" dirty="0">
                <a:latin typeface="Arial"/>
                <a:cs typeface="Arial"/>
              </a:rPr>
              <a:t>y</a:t>
            </a:r>
            <a:r>
              <a:rPr sz="1800" b="0" spc="-50" dirty="0">
                <a:latin typeface="Arial"/>
                <a:cs typeface="Arial"/>
              </a:rPr>
              <a:t> </a:t>
            </a:r>
            <a:r>
              <a:rPr sz="1800" b="0" spc="-65" dirty="0">
                <a:latin typeface="Arial"/>
                <a:cs typeface="Arial"/>
              </a:rPr>
              <a:t>estrategia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20411" y="3278999"/>
            <a:ext cx="6781058" cy="30013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8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036066"/>
            <a:ext cx="5489575" cy="5180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680" marR="5080" indent="-347980" algn="just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61315" algn="l"/>
              </a:tabLst>
            </a:pPr>
            <a:r>
              <a:rPr sz="2200" spc="-240" dirty="0">
                <a:latin typeface="Arial"/>
                <a:cs typeface="Arial"/>
              </a:rPr>
              <a:t>La </a:t>
            </a:r>
            <a:r>
              <a:rPr sz="2200" spc="-114" dirty="0">
                <a:latin typeface="Arial"/>
                <a:cs typeface="Arial"/>
              </a:rPr>
              <a:t>demanda </a:t>
            </a:r>
            <a:r>
              <a:rPr sz="2200" spc="-80" dirty="0">
                <a:latin typeface="Arial"/>
                <a:cs typeface="Arial"/>
              </a:rPr>
              <a:t>creciente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65" dirty="0">
                <a:latin typeface="Arial"/>
                <a:cs typeface="Arial"/>
              </a:rPr>
              <a:t>TI </a:t>
            </a:r>
            <a:r>
              <a:rPr sz="2200" spc="-125" dirty="0">
                <a:latin typeface="Arial"/>
                <a:cs typeface="Arial"/>
              </a:rPr>
              <a:t>ha </a:t>
            </a:r>
            <a:r>
              <a:rPr sz="2200" spc="-100" dirty="0">
                <a:latin typeface="Arial"/>
                <a:cs typeface="Arial"/>
              </a:rPr>
              <a:t>provocado  </a:t>
            </a:r>
            <a:r>
              <a:rPr sz="2200" spc="-105" dirty="0">
                <a:latin typeface="Arial"/>
                <a:cs typeface="Arial"/>
              </a:rPr>
              <a:t>una </a:t>
            </a:r>
            <a:r>
              <a:rPr sz="2200" spc="-150" dirty="0">
                <a:latin typeface="Arial"/>
                <a:cs typeface="Arial"/>
              </a:rPr>
              <a:t>caída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95" dirty="0">
                <a:latin typeface="Arial"/>
                <a:cs typeface="Arial"/>
              </a:rPr>
              <a:t>los </a:t>
            </a:r>
            <a:r>
              <a:rPr sz="2200" spc="-125" dirty="0">
                <a:latin typeface="Arial"/>
                <a:cs typeface="Arial"/>
              </a:rPr>
              <a:t>costos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90" dirty="0">
                <a:latin typeface="Arial"/>
                <a:cs typeface="Arial"/>
              </a:rPr>
              <a:t>almacenamiento,  </a:t>
            </a:r>
            <a:r>
              <a:rPr sz="2200" spc="-80" dirty="0">
                <a:latin typeface="Arial"/>
                <a:cs typeface="Arial"/>
              </a:rPr>
              <a:t>manipulación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80" dirty="0">
                <a:latin typeface="Arial"/>
                <a:cs typeface="Arial"/>
              </a:rPr>
              <a:t>transferencia 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spc="-260" dirty="0">
                <a:latin typeface="Arial"/>
                <a:cs typeface="Arial"/>
              </a:rPr>
              <a:t> </a:t>
            </a:r>
            <a:r>
              <a:rPr sz="2200" spc="-60" dirty="0">
                <a:latin typeface="Arial"/>
                <a:cs typeface="Arial"/>
              </a:rPr>
              <a:t>información.</a:t>
            </a:r>
            <a:endParaRPr sz="2200">
              <a:latin typeface="Arial"/>
              <a:cs typeface="Arial"/>
            </a:endParaRPr>
          </a:p>
          <a:p>
            <a:pPr marL="360680" marR="5080" indent="-347980" algn="just">
              <a:lnSpc>
                <a:spcPct val="100000"/>
              </a:lnSpc>
              <a:buFont typeface="Wingdings"/>
              <a:buChar char=""/>
              <a:tabLst>
                <a:tab pos="361315" algn="l"/>
              </a:tabLst>
            </a:pPr>
            <a:r>
              <a:rPr sz="2200" spc="-240" dirty="0">
                <a:latin typeface="Arial"/>
                <a:cs typeface="Arial"/>
              </a:rPr>
              <a:t>La </a:t>
            </a:r>
            <a:r>
              <a:rPr sz="2200" spc="-165" dirty="0">
                <a:latin typeface="Arial"/>
                <a:cs typeface="Arial"/>
              </a:rPr>
              <a:t>TI </a:t>
            </a:r>
            <a:r>
              <a:rPr sz="2200" spc="-70" dirty="0">
                <a:latin typeface="Arial"/>
                <a:cs typeface="Arial"/>
              </a:rPr>
              <a:t>optimiza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60" dirty="0">
                <a:latin typeface="Arial"/>
                <a:cs typeface="Arial"/>
              </a:rPr>
              <a:t>controla el </a:t>
            </a:r>
            <a:r>
              <a:rPr sz="2200" spc="-114" dirty="0">
                <a:latin typeface="Arial"/>
                <a:cs typeface="Arial"/>
              </a:rPr>
              <a:t>desempeño </a:t>
            </a:r>
            <a:r>
              <a:rPr sz="2200" spc="-105" dirty="0">
                <a:latin typeface="Arial"/>
                <a:cs typeface="Arial"/>
              </a:rPr>
              <a:t>de  </a:t>
            </a:r>
            <a:r>
              <a:rPr sz="2200" spc="-70" dirty="0">
                <a:latin typeface="Arial"/>
                <a:cs typeface="Arial"/>
              </a:rPr>
              <a:t>distintas </a:t>
            </a:r>
            <a:r>
              <a:rPr sz="2200" spc="-95" dirty="0">
                <a:latin typeface="Arial"/>
                <a:cs typeface="Arial"/>
              </a:rPr>
              <a:t>actividades </a:t>
            </a:r>
            <a:r>
              <a:rPr sz="2200" spc="-65" dirty="0">
                <a:latin typeface="Arial"/>
                <a:cs typeface="Arial"/>
              </a:rPr>
              <a:t>o</a:t>
            </a:r>
            <a:r>
              <a:rPr sz="2200" spc="480" dirty="0">
                <a:latin typeface="Arial"/>
                <a:cs typeface="Arial"/>
              </a:rPr>
              <a:t> </a:t>
            </a:r>
            <a:r>
              <a:rPr sz="2200" spc="-85" dirty="0">
                <a:latin typeface="Arial"/>
                <a:cs typeface="Arial"/>
              </a:rPr>
              <a:t>funciones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90" dirty="0">
                <a:latin typeface="Arial"/>
                <a:cs typeface="Arial"/>
              </a:rPr>
              <a:t>la  </a:t>
            </a:r>
            <a:r>
              <a:rPr sz="2200" spc="-140" dirty="0">
                <a:latin typeface="Arial"/>
                <a:cs typeface="Arial"/>
              </a:rPr>
              <a:t>cadena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70" dirty="0">
                <a:latin typeface="Arial"/>
                <a:cs typeface="Arial"/>
              </a:rPr>
              <a:t>valor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95" dirty="0">
                <a:latin typeface="Arial"/>
                <a:cs typeface="Arial"/>
              </a:rPr>
              <a:t>pueden </a:t>
            </a:r>
            <a:r>
              <a:rPr sz="2200" spc="-5" dirty="0">
                <a:latin typeface="Arial"/>
                <a:cs typeface="Arial"/>
              </a:rPr>
              <a:t>emitir </a:t>
            </a:r>
            <a:r>
              <a:rPr sz="2200" spc="-135" dirty="0">
                <a:latin typeface="Arial"/>
                <a:cs typeface="Arial"/>
              </a:rPr>
              <a:t>algunas  </a:t>
            </a:r>
            <a:r>
              <a:rPr sz="2200" spc="-85" dirty="0">
                <a:latin typeface="Arial"/>
                <a:cs typeface="Arial"/>
              </a:rPr>
              <a:t>funciones </a:t>
            </a:r>
            <a:r>
              <a:rPr sz="2200" spc="-45" dirty="0">
                <a:latin typeface="Arial"/>
                <a:cs typeface="Arial"/>
              </a:rPr>
              <a:t>juicio (por </a:t>
            </a:r>
            <a:r>
              <a:rPr sz="2200" spc="-95" dirty="0">
                <a:latin typeface="Arial"/>
                <a:cs typeface="Arial"/>
              </a:rPr>
              <a:t>acumulación </a:t>
            </a:r>
            <a:r>
              <a:rPr sz="2200" spc="-105" dirty="0">
                <a:latin typeface="Arial"/>
                <a:cs typeface="Arial"/>
              </a:rPr>
              <a:t>de  </a:t>
            </a:r>
            <a:r>
              <a:rPr sz="2200" spc="-90" dirty="0">
                <a:latin typeface="Arial"/>
                <a:cs typeface="Arial"/>
              </a:rPr>
              <a:t>experiencia).</a:t>
            </a:r>
            <a:r>
              <a:rPr sz="2200" spc="-145" dirty="0">
                <a:latin typeface="Arial"/>
                <a:cs typeface="Arial"/>
              </a:rPr>
              <a:t> </a:t>
            </a:r>
            <a:r>
              <a:rPr sz="2200" spc="-100" dirty="0">
                <a:latin typeface="Arial"/>
                <a:cs typeface="Arial"/>
              </a:rPr>
              <a:t>Asimismo:</a:t>
            </a:r>
            <a:endParaRPr sz="2200">
              <a:latin typeface="Arial"/>
              <a:cs typeface="Arial"/>
            </a:endParaRPr>
          </a:p>
          <a:p>
            <a:pPr marL="817880" marR="5715" lvl="1" indent="-347980" algn="just">
              <a:lnSpc>
                <a:spcPct val="100000"/>
              </a:lnSpc>
              <a:spcBef>
                <a:spcPts val="30"/>
              </a:spcBef>
              <a:buFont typeface="Wingdings"/>
              <a:buChar char=""/>
              <a:tabLst>
                <a:tab pos="818515" algn="l"/>
              </a:tabLst>
            </a:pPr>
            <a:r>
              <a:rPr sz="1800" spc="-70" dirty="0">
                <a:latin typeface="Arial"/>
                <a:cs typeface="Arial"/>
              </a:rPr>
              <a:t>Permite acumular </a:t>
            </a:r>
            <a:r>
              <a:rPr sz="1800" spc="-85" dirty="0">
                <a:latin typeface="Arial"/>
                <a:cs typeface="Arial"/>
              </a:rPr>
              <a:t>y </a:t>
            </a:r>
            <a:r>
              <a:rPr sz="1800" spc="-80" dirty="0">
                <a:latin typeface="Arial"/>
                <a:cs typeface="Arial"/>
              </a:rPr>
              <a:t>generar </a:t>
            </a:r>
            <a:r>
              <a:rPr sz="1800" spc="-125" dirty="0">
                <a:latin typeface="Arial"/>
                <a:cs typeface="Arial"/>
              </a:rPr>
              <a:t>cada </a:t>
            </a:r>
            <a:r>
              <a:rPr sz="1800" spc="-145" dirty="0">
                <a:latin typeface="Arial"/>
                <a:cs typeface="Arial"/>
              </a:rPr>
              <a:t>vez </a:t>
            </a:r>
            <a:r>
              <a:rPr sz="1800" spc="-135" dirty="0">
                <a:latin typeface="Arial"/>
                <a:cs typeface="Arial"/>
              </a:rPr>
              <a:t>más </a:t>
            </a:r>
            <a:r>
              <a:rPr sz="1800" spc="-75" dirty="0">
                <a:latin typeface="Arial"/>
                <a:cs typeface="Arial"/>
              </a:rPr>
              <a:t>datos,  </a:t>
            </a:r>
            <a:r>
              <a:rPr sz="1800" spc="-30" dirty="0">
                <a:latin typeface="Arial"/>
                <a:cs typeface="Arial"/>
              </a:rPr>
              <a:t>por </a:t>
            </a:r>
            <a:r>
              <a:rPr sz="1800" spc="-20" dirty="0">
                <a:latin typeface="Arial"/>
                <a:cs typeface="Arial"/>
              </a:rPr>
              <a:t>lo </a:t>
            </a:r>
            <a:r>
              <a:rPr sz="1800" spc="-85" dirty="0">
                <a:latin typeface="Arial"/>
                <a:cs typeface="Arial"/>
              </a:rPr>
              <a:t>cual </a:t>
            </a:r>
            <a:r>
              <a:rPr sz="1800" spc="-50" dirty="0">
                <a:latin typeface="Arial"/>
                <a:cs typeface="Arial"/>
              </a:rPr>
              <a:t>el </a:t>
            </a:r>
            <a:r>
              <a:rPr sz="1800" spc="-60" dirty="0">
                <a:latin typeface="Arial"/>
                <a:cs typeface="Arial"/>
              </a:rPr>
              <a:t>número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80" dirty="0">
                <a:latin typeface="Arial"/>
                <a:cs typeface="Arial"/>
              </a:rPr>
              <a:t>variables </a:t>
            </a:r>
            <a:r>
              <a:rPr sz="1800" spc="-75" dirty="0">
                <a:latin typeface="Arial"/>
                <a:cs typeface="Arial"/>
              </a:rPr>
              <a:t>que pueden  </a:t>
            </a:r>
            <a:r>
              <a:rPr sz="1800" spc="-80" dirty="0">
                <a:latin typeface="Arial"/>
                <a:cs typeface="Arial"/>
              </a:rPr>
              <a:t>analizar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40" dirty="0">
                <a:latin typeface="Arial"/>
                <a:cs typeface="Arial"/>
              </a:rPr>
              <a:t>controlar </a:t>
            </a:r>
            <a:r>
              <a:rPr sz="1800" spc="-110" dirty="0">
                <a:latin typeface="Arial"/>
                <a:cs typeface="Arial"/>
              </a:rPr>
              <a:t>las compañías </a:t>
            </a:r>
            <a:r>
              <a:rPr sz="1800" spc="-85" dirty="0">
                <a:latin typeface="Arial"/>
                <a:cs typeface="Arial"/>
              </a:rPr>
              <a:t>han </a:t>
            </a:r>
            <a:r>
              <a:rPr sz="1800" spc="-70" dirty="0">
                <a:latin typeface="Arial"/>
                <a:cs typeface="Arial"/>
              </a:rPr>
              <a:t>crecido </a:t>
            </a:r>
            <a:r>
              <a:rPr sz="1800" spc="-140" dirty="0">
                <a:latin typeface="Arial"/>
                <a:cs typeface="Arial"/>
              </a:rPr>
              <a:t>a  </a:t>
            </a:r>
            <a:r>
              <a:rPr sz="1800" spc="-90" dirty="0">
                <a:latin typeface="Arial"/>
                <a:cs typeface="Arial"/>
              </a:rPr>
              <a:t>gran </a:t>
            </a:r>
            <a:r>
              <a:rPr sz="1800" spc="-114" dirty="0">
                <a:latin typeface="Arial"/>
                <a:cs typeface="Arial"/>
              </a:rPr>
              <a:t>escala.</a:t>
            </a:r>
            <a:endParaRPr sz="1800">
              <a:latin typeface="Arial"/>
              <a:cs typeface="Arial"/>
            </a:endParaRPr>
          </a:p>
          <a:p>
            <a:pPr marL="817880" marR="5080" lvl="1" indent="-347980" algn="just">
              <a:lnSpc>
                <a:spcPct val="100000"/>
              </a:lnSpc>
              <a:buFont typeface="Wingdings"/>
              <a:buChar char=""/>
              <a:tabLst>
                <a:tab pos="818515" algn="l"/>
              </a:tabLst>
            </a:pPr>
            <a:r>
              <a:rPr sz="1800" spc="-110" dirty="0">
                <a:latin typeface="Arial"/>
                <a:cs typeface="Arial"/>
              </a:rPr>
              <a:t>Ayuda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60" dirty="0">
                <a:latin typeface="Arial"/>
                <a:cs typeface="Arial"/>
              </a:rPr>
              <a:t>integración </a:t>
            </a:r>
            <a:r>
              <a:rPr sz="1800" spc="-50" dirty="0">
                <a:latin typeface="Arial"/>
                <a:cs typeface="Arial"/>
              </a:rPr>
              <a:t>del </a:t>
            </a:r>
            <a:r>
              <a:rPr sz="1800" spc="-95" dirty="0">
                <a:latin typeface="Arial"/>
                <a:cs typeface="Arial"/>
              </a:rPr>
              <a:t>sistema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80" dirty="0">
                <a:latin typeface="Arial"/>
                <a:cs typeface="Arial"/>
              </a:rPr>
              <a:t>valor, </a:t>
            </a:r>
            <a:r>
              <a:rPr sz="1800" spc="-145" dirty="0">
                <a:latin typeface="Arial"/>
                <a:cs typeface="Arial"/>
              </a:rPr>
              <a:t>ya </a:t>
            </a:r>
            <a:r>
              <a:rPr sz="1800" spc="210" dirty="0">
                <a:latin typeface="Arial"/>
                <a:cs typeface="Arial"/>
              </a:rPr>
              <a:t> </a:t>
            </a:r>
            <a:r>
              <a:rPr sz="1800" spc="-75" dirty="0">
                <a:latin typeface="Arial"/>
                <a:cs typeface="Arial"/>
              </a:rPr>
              <a:t>que </a:t>
            </a:r>
            <a:r>
              <a:rPr sz="1800" spc="-155" dirty="0">
                <a:latin typeface="Arial"/>
                <a:cs typeface="Arial"/>
              </a:rPr>
              <a:t>se </a:t>
            </a:r>
            <a:r>
              <a:rPr sz="1800" spc="-75" dirty="0">
                <a:latin typeface="Arial"/>
                <a:cs typeface="Arial"/>
              </a:rPr>
              <a:t>pueden </a:t>
            </a:r>
            <a:r>
              <a:rPr sz="1800" spc="-55" dirty="0">
                <a:latin typeface="Arial"/>
                <a:cs typeface="Arial"/>
              </a:rPr>
              <a:t>coordinar </a:t>
            </a:r>
            <a:r>
              <a:rPr sz="1800" spc="-105" dirty="0">
                <a:latin typeface="Arial"/>
                <a:cs typeface="Arial"/>
              </a:rPr>
              <a:t>acciones </a:t>
            </a:r>
            <a:r>
              <a:rPr sz="1800" spc="-40" dirty="0">
                <a:latin typeface="Arial"/>
                <a:cs typeface="Arial"/>
              </a:rPr>
              <a:t>entre </a:t>
            </a:r>
            <a:r>
              <a:rPr sz="1800" spc="-45" dirty="0">
                <a:latin typeface="Arial"/>
                <a:cs typeface="Arial"/>
              </a:rPr>
              <a:t>distintos  </a:t>
            </a:r>
            <a:r>
              <a:rPr sz="1800" spc="-105" dirty="0">
                <a:latin typeface="Arial"/>
                <a:cs typeface="Arial"/>
              </a:rPr>
              <a:t>agentes </a:t>
            </a:r>
            <a:r>
              <a:rPr sz="1800" spc="-60" dirty="0">
                <a:latin typeface="Arial"/>
                <a:cs typeface="Arial"/>
              </a:rPr>
              <a:t>(proveedor </a:t>
            </a:r>
            <a:r>
              <a:rPr sz="1800" spc="-90" dirty="0">
                <a:latin typeface="Arial"/>
                <a:cs typeface="Arial"/>
              </a:rPr>
              <a:t>y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productor).</a:t>
            </a:r>
            <a:endParaRPr sz="1800">
              <a:latin typeface="Arial"/>
              <a:cs typeface="Arial"/>
            </a:endParaRPr>
          </a:p>
          <a:p>
            <a:pPr marL="817880" marR="5080" lvl="1" indent="-347980" algn="just">
              <a:lnSpc>
                <a:spcPct val="100000"/>
              </a:lnSpc>
              <a:buFont typeface="Wingdings"/>
              <a:buChar char=""/>
              <a:tabLst>
                <a:tab pos="818515" algn="l"/>
              </a:tabLst>
            </a:pPr>
            <a:r>
              <a:rPr sz="1800" spc="-70" dirty="0">
                <a:latin typeface="Arial"/>
                <a:cs typeface="Arial"/>
              </a:rPr>
              <a:t>Permite </a:t>
            </a:r>
            <a:r>
              <a:rPr sz="1800" spc="-55" dirty="0">
                <a:latin typeface="Arial"/>
                <a:cs typeface="Arial"/>
              </a:rPr>
              <a:t>coordinar </a:t>
            </a:r>
            <a:r>
              <a:rPr sz="1800" spc="-75" dirty="0">
                <a:latin typeface="Arial"/>
                <a:cs typeface="Arial"/>
              </a:rPr>
              <a:t>actividades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55" dirty="0">
                <a:latin typeface="Arial"/>
                <a:cs typeface="Arial"/>
              </a:rPr>
              <a:t>valor </a:t>
            </a:r>
            <a:r>
              <a:rPr sz="1800" spc="-35" dirty="0">
                <a:latin typeface="Arial"/>
                <a:cs typeface="Arial"/>
              </a:rPr>
              <a:t>entre  </a:t>
            </a:r>
            <a:r>
              <a:rPr sz="1800" spc="-55" dirty="0">
                <a:latin typeface="Arial"/>
                <a:cs typeface="Arial"/>
              </a:rPr>
              <a:t>distintas </a:t>
            </a:r>
            <a:r>
              <a:rPr sz="1800" spc="-114" dirty="0">
                <a:latin typeface="Arial"/>
                <a:cs typeface="Arial"/>
              </a:rPr>
              <a:t>áreas</a:t>
            </a:r>
            <a:r>
              <a:rPr sz="1800" spc="-145" dirty="0">
                <a:latin typeface="Arial"/>
                <a:cs typeface="Arial"/>
              </a:rPr>
              <a:t> </a:t>
            </a:r>
            <a:r>
              <a:rPr sz="1800" spc="-95" dirty="0">
                <a:latin typeface="Arial"/>
                <a:cs typeface="Arial"/>
              </a:rPr>
              <a:t>geográficas.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84847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/>
              <a:t>– </a:t>
            </a:r>
            <a:r>
              <a:rPr spc="-125" dirty="0"/>
              <a:t>Planeamiento </a:t>
            </a:r>
            <a:r>
              <a:rPr spc="-130" dirty="0"/>
              <a:t>corporativo de </a:t>
            </a:r>
            <a:r>
              <a:rPr spc="-185" dirty="0"/>
              <a:t>Sistemas </a:t>
            </a:r>
            <a:r>
              <a:rPr spc="-130" dirty="0"/>
              <a:t>de </a:t>
            </a:r>
            <a:r>
              <a:rPr spc="-125" dirty="0"/>
              <a:t>Información</a:t>
            </a:r>
            <a:r>
              <a:rPr spc="105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00" dirty="0">
                <a:latin typeface="Arial"/>
                <a:cs typeface="Arial"/>
              </a:rPr>
              <a:t>Tecnología, negocios </a:t>
            </a:r>
            <a:r>
              <a:rPr sz="1800" b="0" spc="-90" dirty="0">
                <a:latin typeface="Arial"/>
                <a:cs typeface="Arial"/>
              </a:rPr>
              <a:t>y</a:t>
            </a:r>
            <a:r>
              <a:rPr sz="1800" b="0" spc="-50" dirty="0">
                <a:latin typeface="Arial"/>
                <a:cs typeface="Arial"/>
              </a:rPr>
              <a:t> </a:t>
            </a:r>
            <a:r>
              <a:rPr sz="1800" b="0" spc="-65" dirty="0">
                <a:latin typeface="Arial"/>
                <a:cs typeface="Arial"/>
              </a:rPr>
              <a:t>estrategia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67400" y="1143000"/>
            <a:ext cx="2971800" cy="26209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19800" y="3886200"/>
            <a:ext cx="2819400" cy="23286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9</a:t>
            </a:fld>
            <a:endParaRPr spc="-5" dirty="0"/>
          </a:p>
        </p:txBody>
      </p:sp>
      <p:sp>
        <p:nvSpPr>
          <p:cNvPr id="8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84847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/>
              <a:t>– </a:t>
            </a:r>
            <a:r>
              <a:rPr spc="-125" dirty="0"/>
              <a:t>Planeamiento </a:t>
            </a:r>
            <a:r>
              <a:rPr spc="-130" dirty="0"/>
              <a:t>corporativo de </a:t>
            </a:r>
            <a:r>
              <a:rPr spc="-185" dirty="0"/>
              <a:t>Sistemas </a:t>
            </a:r>
            <a:r>
              <a:rPr spc="-130" dirty="0"/>
              <a:t>de </a:t>
            </a:r>
            <a:r>
              <a:rPr spc="-125" dirty="0"/>
              <a:t>Información</a:t>
            </a:r>
            <a:r>
              <a:rPr spc="105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00" dirty="0">
                <a:latin typeface="Arial"/>
                <a:cs typeface="Arial"/>
              </a:rPr>
              <a:t>Tecnología, negocios </a:t>
            </a:r>
            <a:r>
              <a:rPr sz="1800" b="0" spc="-90" dirty="0">
                <a:latin typeface="Arial"/>
                <a:cs typeface="Arial"/>
              </a:rPr>
              <a:t>y</a:t>
            </a:r>
            <a:r>
              <a:rPr sz="1800" b="0" spc="-50" dirty="0">
                <a:latin typeface="Arial"/>
                <a:cs typeface="Arial"/>
              </a:rPr>
              <a:t> </a:t>
            </a:r>
            <a:r>
              <a:rPr sz="1800" b="0" spc="-65" dirty="0">
                <a:latin typeface="Arial"/>
                <a:cs typeface="Arial"/>
              </a:rPr>
              <a:t>estrategia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37480" y="1351025"/>
            <a:ext cx="7596198" cy="47577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10</a:t>
            </a:fld>
            <a:endParaRPr spc="-5" dirty="0"/>
          </a:p>
        </p:txBody>
      </p:sp>
      <p:sp>
        <p:nvSpPr>
          <p:cNvPr id="6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84847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/>
              <a:t>– </a:t>
            </a:r>
            <a:r>
              <a:rPr spc="-125" dirty="0"/>
              <a:t>Planeamiento </a:t>
            </a:r>
            <a:r>
              <a:rPr spc="-130" dirty="0"/>
              <a:t>corporativo de </a:t>
            </a:r>
            <a:r>
              <a:rPr spc="-185" dirty="0"/>
              <a:t>Sistemas </a:t>
            </a:r>
            <a:r>
              <a:rPr spc="-130" dirty="0"/>
              <a:t>de </a:t>
            </a:r>
            <a:r>
              <a:rPr spc="-125" dirty="0"/>
              <a:t>Información</a:t>
            </a:r>
            <a:r>
              <a:rPr spc="105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00" dirty="0">
                <a:latin typeface="Arial"/>
                <a:cs typeface="Arial"/>
              </a:rPr>
              <a:t>Tecnología, negocios </a:t>
            </a:r>
            <a:r>
              <a:rPr sz="1800" b="0" spc="-90" dirty="0">
                <a:latin typeface="Arial"/>
                <a:cs typeface="Arial"/>
              </a:rPr>
              <a:t>y</a:t>
            </a:r>
            <a:r>
              <a:rPr sz="1800" b="0" spc="-50" dirty="0">
                <a:latin typeface="Arial"/>
                <a:cs typeface="Arial"/>
              </a:rPr>
              <a:t> </a:t>
            </a:r>
            <a:r>
              <a:rPr sz="1800" b="0" spc="-65" dirty="0">
                <a:latin typeface="Arial"/>
                <a:cs typeface="Arial"/>
              </a:rPr>
              <a:t>estrategia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3905" y="1429215"/>
            <a:ext cx="7732598" cy="45431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11</a:t>
            </a:fld>
            <a:endParaRPr spc="-5" dirty="0"/>
          </a:p>
        </p:txBody>
      </p:sp>
      <p:sp>
        <p:nvSpPr>
          <p:cNvPr id="6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036066"/>
            <a:ext cx="5870575" cy="4918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680" indent="-34798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60680" algn="l"/>
                <a:tab pos="361315" algn="l"/>
              </a:tabLst>
            </a:pPr>
            <a:r>
              <a:rPr sz="2200" spc="-235" dirty="0">
                <a:latin typeface="Arial"/>
                <a:cs typeface="Arial"/>
              </a:rPr>
              <a:t>En</a:t>
            </a:r>
            <a:r>
              <a:rPr sz="2200" spc="-125" dirty="0">
                <a:latin typeface="Arial"/>
                <a:cs typeface="Arial"/>
              </a:rPr>
              <a:t> </a:t>
            </a:r>
            <a:r>
              <a:rPr sz="2200" spc="-90" dirty="0">
                <a:latin typeface="Arial"/>
                <a:cs typeface="Arial"/>
              </a:rPr>
              <a:t>resumen:</a:t>
            </a:r>
            <a:endParaRPr sz="2200">
              <a:latin typeface="Arial"/>
              <a:cs typeface="Arial"/>
            </a:endParaRPr>
          </a:p>
          <a:p>
            <a:pPr marL="817880" marR="6350" lvl="1" indent="-347980">
              <a:lnSpc>
                <a:spcPct val="100000"/>
              </a:lnSpc>
              <a:spcBef>
                <a:spcPts val="30"/>
              </a:spcBef>
              <a:buFont typeface="Wingdings"/>
              <a:buChar char=""/>
              <a:tabLst>
                <a:tab pos="817880" algn="l"/>
                <a:tab pos="818515" algn="l"/>
              </a:tabLst>
            </a:pPr>
            <a:r>
              <a:rPr sz="1800" i="1" spc="-165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1800" i="1" spc="-110" dirty="0">
                <a:solidFill>
                  <a:srgbClr val="00338D"/>
                </a:solidFill>
                <a:latin typeface="Arial"/>
                <a:cs typeface="Arial"/>
              </a:rPr>
              <a:t>TI, en </a:t>
            </a:r>
            <a:r>
              <a:rPr sz="1800" i="1" spc="-70" dirty="0">
                <a:solidFill>
                  <a:srgbClr val="00338D"/>
                </a:solidFill>
                <a:latin typeface="Arial"/>
                <a:cs typeface="Arial"/>
              </a:rPr>
              <a:t>el </a:t>
            </a:r>
            <a:r>
              <a:rPr sz="1800" i="1" spc="-80" dirty="0">
                <a:solidFill>
                  <a:srgbClr val="00338D"/>
                </a:solidFill>
                <a:latin typeface="Arial"/>
                <a:cs typeface="Arial"/>
              </a:rPr>
              <a:t>marco </a:t>
            </a:r>
            <a:r>
              <a:rPr sz="1800" i="1" spc="-110" dirty="0">
                <a:solidFill>
                  <a:srgbClr val="00338D"/>
                </a:solidFill>
                <a:latin typeface="Arial"/>
                <a:cs typeface="Arial"/>
              </a:rPr>
              <a:t>de </a:t>
            </a:r>
            <a:r>
              <a:rPr sz="1800" i="1" spc="-80" dirty="0">
                <a:solidFill>
                  <a:srgbClr val="00338D"/>
                </a:solidFill>
                <a:latin typeface="Arial"/>
                <a:cs typeface="Arial"/>
              </a:rPr>
              <a:t>un </a:t>
            </a:r>
            <a:r>
              <a:rPr sz="1800" i="1" spc="-220" dirty="0">
                <a:solidFill>
                  <a:srgbClr val="00338D"/>
                </a:solidFill>
                <a:latin typeface="Arial"/>
                <a:cs typeface="Arial"/>
              </a:rPr>
              <a:t>SI  </a:t>
            </a:r>
            <a:r>
              <a:rPr sz="1800" i="1" spc="-55" dirty="0">
                <a:solidFill>
                  <a:srgbClr val="00338D"/>
                </a:solidFill>
                <a:latin typeface="Arial"/>
                <a:cs typeface="Arial"/>
              </a:rPr>
              <a:t>integrado, </a:t>
            </a:r>
            <a:r>
              <a:rPr sz="1800" b="1" i="1" spc="-85" dirty="0">
                <a:solidFill>
                  <a:srgbClr val="00338D"/>
                </a:solidFill>
                <a:latin typeface="Arial"/>
                <a:cs typeface="Arial"/>
              </a:rPr>
              <a:t>tiene </a:t>
            </a:r>
            <a:r>
              <a:rPr sz="1800" b="1" i="1" spc="-105" dirty="0">
                <a:solidFill>
                  <a:srgbClr val="00338D"/>
                </a:solidFill>
                <a:latin typeface="Arial"/>
                <a:cs typeface="Arial"/>
              </a:rPr>
              <a:t>valor  </a:t>
            </a:r>
            <a:r>
              <a:rPr sz="1800" b="1" i="1" spc="-114" dirty="0">
                <a:solidFill>
                  <a:srgbClr val="00338D"/>
                </a:solidFill>
                <a:latin typeface="Arial"/>
                <a:cs typeface="Arial"/>
              </a:rPr>
              <a:t>estratégico.</a:t>
            </a:r>
            <a:endParaRPr sz="1800">
              <a:latin typeface="Arial"/>
              <a:cs typeface="Arial"/>
            </a:endParaRPr>
          </a:p>
          <a:p>
            <a:pPr marL="817880" lvl="1" indent="-347980">
              <a:lnSpc>
                <a:spcPct val="100000"/>
              </a:lnSpc>
              <a:buFont typeface="Wingdings"/>
              <a:buChar char=""/>
              <a:tabLst>
                <a:tab pos="817880" algn="l"/>
                <a:tab pos="818515" algn="l"/>
              </a:tabLst>
            </a:pPr>
            <a:r>
              <a:rPr sz="1800" i="1" spc="-165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1800" i="1" spc="-140" dirty="0">
                <a:solidFill>
                  <a:srgbClr val="00338D"/>
                </a:solidFill>
                <a:latin typeface="Arial"/>
                <a:cs typeface="Arial"/>
              </a:rPr>
              <a:t>TI </a:t>
            </a:r>
            <a:r>
              <a:rPr sz="1800" i="1" spc="-55" dirty="0">
                <a:solidFill>
                  <a:srgbClr val="00338D"/>
                </a:solidFill>
                <a:latin typeface="Arial"/>
                <a:cs typeface="Arial"/>
              </a:rPr>
              <a:t>, </a:t>
            </a:r>
            <a:r>
              <a:rPr sz="1800" i="1" spc="-114" dirty="0">
                <a:solidFill>
                  <a:srgbClr val="00338D"/>
                </a:solidFill>
                <a:latin typeface="Arial"/>
                <a:cs typeface="Arial"/>
              </a:rPr>
              <a:t>en </a:t>
            </a:r>
            <a:r>
              <a:rPr sz="1800" i="1" spc="-70" dirty="0">
                <a:solidFill>
                  <a:srgbClr val="00338D"/>
                </a:solidFill>
                <a:latin typeface="Arial"/>
                <a:cs typeface="Arial"/>
              </a:rPr>
              <a:t>el </a:t>
            </a:r>
            <a:r>
              <a:rPr sz="1800" i="1" spc="-80" dirty="0">
                <a:solidFill>
                  <a:srgbClr val="00338D"/>
                </a:solidFill>
                <a:latin typeface="Arial"/>
                <a:cs typeface="Arial"/>
              </a:rPr>
              <a:t>marco </a:t>
            </a:r>
            <a:r>
              <a:rPr sz="1800" i="1" spc="-114" dirty="0">
                <a:solidFill>
                  <a:srgbClr val="00338D"/>
                </a:solidFill>
                <a:latin typeface="Arial"/>
                <a:cs typeface="Arial"/>
              </a:rPr>
              <a:t>de </a:t>
            </a:r>
            <a:r>
              <a:rPr sz="1800" i="1" spc="-80" dirty="0">
                <a:solidFill>
                  <a:srgbClr val="00338D"/>
                </a:solidFill>
                <a:latin typeface="Arial"/>
                <a:cs typeface="Arial"/>
              </a:rPr>
              <a:t>un </a:t>
            </a:r>
            <a:r>
              <a:rPr sz="1800" i="1" spc="-220" dirty="0">
                <a:solidFill>
                  <a:srgbClr val="00338D"/>
                </a:solidFill>
                <a:latin typeface="Arial"/>
                <a:cs typeface="Arial"/>
              </a:rPr>
              <a:t>SI </a:t>
            </a:r>
            <a:r>
              <a:rPr sz="1800" i="1" spc="-55" dirty="0">
                <a:solidFill>
                  <a:srgbClr val="00338D"/>
                </a:solidFill>
                <a:latin typeface="Arial"/>
                <a:cs typeface="Arial"/>
              </a:rPr>
              <a:t>integrado, </a:t>
            </a:r>
            <a:r>
              <a:rPr sz="1800" b="1" i="1" spc="-100" dirty="0">
                <a:solidFill>
                  <a:srgbClr val="00338D"/>
                </a:solidFill>
                <a:latin typeface="Arial"/>
                <a:cs typeface="Arial"/>
              </a:rPr>
              <a:t>agrega</a:t>
            </a:r>
            <a:r>
              <a:rPr sz="1800" b="1" i="1" spc="-15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800" b="1" i="1" spc="-95" dirty="0">
                <a:solidFill>
                  <a:srgbClr val="00338D"/>
                </a:solidFill>
                <a:latin typeface="Arial"/>
                <a:cs typeface="Arial"/>
              </a:rPr>
              <a:t>valor</a:t>
            </a:r>
            <a:r>
              <a:rPr sz="1800" i="1" spc="-95" dirty="0">
                <a:solidFill>
                  <a:srgbClr val="00338D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817880" lvl="1" indent="-347980">
              <a:lnSpc>
                <a:spcPct val="100000"/>
              </a:lnSpc>
              <a:buFont typeface="Wingdings"/>
              <a:buChar char=""/>
              <a:tabLst>
                <a:tab pos="817880" algn="l"/>
                <a:tab pos="818515" algn="l"/>
              </a:tabLst>
            </a:pPr>
            <a:r>
              <a:rPr sz="1800" i="1" spc="-165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1800" i="1" spc="-110" dirty="0">
                <a:solidFill>
                  <a:srgbClr val="00338D"/>
                </a:solidFill>
                <a:latin typeface="Arial"/>
                <a:cs typeface="Arial"/>
              </a:rPr>
              <a:t>TI, </a:t>
            </a:r>
            <a:r>
              <a:rPr sz="1800" b="1" i="1" spc="-125" dirty="0">
                <a:solidFill>
                  <a:srgbClr val="00338D"/>
                </a:solidFill>
                <a:latin typeface="Arial"/>
                <a:cs typeface="Arial"/>
              </a:rPr>
              <a:t>por </a:t>
            </a:r>
            <a:r>
              <a:rPr sz="1800" b="1" i="1" spc="-180" dirty="0">
                <a:solidFill>
                  <a:srgbClr val="00338D"/>
                </a:solidFill>
                <a:latin typeface="Arial"/>
                <a:cs typeface="Arial"/>
              </a:rPr>
              <a:t>sí </a:t>
            </a:r>
            <a:r>
              <a:rPr sz="1800" b="1" i="1" spc="-125" dirty="0">
                <a:solidFill>
                  <a:srgbClr val="00338D"/>
                </a:solidFill>
                <a:latin typeface="Arial"/>
                <a:cs typeface="Arial"/>
              </a:rPr>
              <a:t>sola, </a:t>
            </a:r>
            <a:r>
              <a:rPr sz="1800" b="1" i="1" spc="-155" dirty="0">
                <a:solidFill>
                  <a:srgbClr val="00338D"/>
                </a:solidFill>
                <a:latin typeface="Arial"/>
                <a:cs typeface="Arial"/>
              </a:rPr>
              <a:t>no</a:t>
            </a:r>
            <a:r>
              <a:rPr sz="1800" b="1" i="1" spc="16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800" b="1" i="1" spc="-105" dirty="0">
                <a:solidFill>
                  <a:srgbClr val="00338D"/>
                </a:solidFill>
                <a:latin typeface="Arial"/>
                <a:cs typeface="Arial"/>
              </a:rPr>
              <a:t>basta</a:t>
            </a:r>
            <a:r>
              <a:rPr sz="1800" i="1" spc="-105" dirty="0">
                <a:solidFill>
                  <a:srgbClr val="00338D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817880" lvl="1" indent="-347980">
              <a:lnSpc>
                <a:spcPct val="100000"/>
              </a:lnSpc>
              <a:buFont typeface="Wingdings"/>
              <a:buChar char=""/>
              <a:tabLst>
                <a:tab pos="817880" algn="l"/>
                <a:tab pos="818515" algn="l"/>
              </a:tabLst>
            </a:pPr>
            <a:r>
              <a:rPr sz="1800" i="1" spc="-165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1800" i="1" spc="-140" dirty="0">
                <a:solidFill>
                  <a:srgbClr val="00338D"/>
                </a:solidFill>
                <a:latin typeface="Arial"/>
                <a:cs typeface="Arial"/>
              </a:rPr>
              <a:t>TI </a:t>
            </a:r>
            <a:r>
              <a:rPr sz="1800" i="1" spc="-135" dirty="0">
                <a:solidFill>
                  <a:srgbClr val="00338D"/>
                </a:solidFill>
                <a:latin typeface="Arial"/>
                <a:cs typeface="Arial"/>
              </a:rPr>
              <a:t>es, </a:t>
            </a:r>
            <a:r>
              <a:rPr sz="1800" i="1" spc="-60" dirty="0">
                <a:solidFill>
                  <a:srgbClr val="00338D"/>
                </a:solidFill>
                <a:latin typeface="Arial"/>
                <a:cs typeface="Arial"/>
              </a:rPr>
              <a:t>principalmente,</a:t>
            </a:r>
            <a:r>
              <a:rPr sz="1800" i="1" spc="9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800" b="1" i="1" spc="-105" dirty="0">
                <a:solidFill>
                  <a:srgbClr val="00338D"/>
                </a:solidFill>
                <a:latin typeface="Arial"/>
                <a:cs typeface="Arial"/>
              </a:rPr>
              <a:t>instrumental</a:t>
            </a:r>
            <a:r>
              <a:rPr sz="1800" i="1" spc="-105" dirty="0">
                <a:solidFill>
                  <a:srgbClr val="00338D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817880" marR="5715" lvl="1" indent="-347980">
              <a:lnSpc>
                <a:spcPct val="100000"/>
              </a:lnSpc>
              <a:buFont typeface="Wingdings"/>
              <a:buChar char=""/>
              <a:tabLst>
                <a:tab pos="817880" algn="l"/>
                <a:tab pos="818515" algn="l"/>
              </a:tabLst>
            </a:pPr>
            <a:r>
              <a:rPr sz="1800" i="1" spc="-165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1800" i="1" spc="-140" dirty="0">
                <a:solidFill>
                  <a:srgbClr val="00338D"/>
                </a:solidFill>
                <a:latin typeface="Arial"/>
                <a:cs typeface="Arial"/>
              </a:rPr>
              <a:t>TI </a:t>
            </a:r>
            <a:r>
              <a:rPr sz="1800" b="1" i="1" spc="-135" dirty="0">
                <a:solidFill>
                  <a:srgbClr val="00338D"/>
                </a:solidFill>
                <a:latin typeface="Arial"/>
                <a:cs typeface="Arial"/>
              </a:rPr>
              <a:t>debe </a:t>
            </a:r>
            <a:r>
              <a:rPr sz="1800" b="1" i="1" spc="-110" dirty="0">
                <a:solidFill>
                  <a:srgbClr val="00338D"/>
                </a:solidFill>
                <a:latin typeface="Arial"/>
                <a:cs typeface="Arial"/>
              </a:rPr>
              <a:t>estar </a:t>
            </a:r>
            <a:r>
              <a:rPr sz="1800" b="1" i="1" spc="-90" dirty="0">
                <a:solidFill>
                  <a:srgbClr val="00338D"/>
                </a:solidFill>
                <a:latin typeface="Arial"/>
                <a:cs typeface="Arial"/>
              </a:rPr>
              <a:t>alineada </a:t>
            </a:r>
            <a:r>
              <a:rPr sz="1800" b="1" i="1" spc="-200" dirty="0">
                <a:solidFill>
                  <a:srgbClr val="00338D"/>
                </a:solidFill>
                <a:latin typeface="Arial"/>
                <a:cs typeface="Arial"/>
              </a:rPr>
              <a:t>con </a:t>
            </a:r>
            <a:r>
              <a:rPr sz="1800" b="1" i="1" spc="-90" dirty="0">
                <a:solidFill>
                  <a:srgbClr val="00338D"/>
                </a:solidFill>
                <a:latin typeface="Arial"/>
                <a:cs typeface="Arial"/>
              </a:rPr>
              <a:t>el </a:t>
            </a:r>
            <a:r>
              <a:rPr sz="1800" b="1" i="1" spc="-195" dirty="0">
                <a:solidFill>
                  <a:srgbClr val="00338D"/>
                </a:solidFill>
                <a:latin typeface="Arial"/>
                <a:cs typeface="Arial"/>
              </a:rPr>
              <a:t>SI </a:t>
            </a:r>
            <a:r>
              <a:rPr sz="1800" b="1" i="1" spc="-155" dirty="0">
                <a:solidFill>
                  <a:srgbClr val="00338D"/>
                </a:solidFill>
                <a:latin typeface="Arial"/>
                <a:cs typeface="Arial"/>
              </a:rPr>
              <a:t>y </a:t>
            </a:r>
            <a:r>
              <a:rPr sz="1800" b="1" i="1" spc="-200" dirty="0">
                <a:solidFill>
                  <a:srgbClr val="00338D"/>
                </a:solidFill>
                <a:latin typeface="Arial"/>
                <a:cs typeface="Arial"/>
              </a:rPr>
              <a:t>con </a:t>
            </a:r>
            <a:r>
              <a:rPr sz="1800" b="1" i="1" spc="-55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1800" b="1" i="1" spc="-150" dirty="0">
                <a:solidFill>
                  <a:srgbClr val="00338D"/>
                </a:solidFill>
                <a:latin typeface="Arial"/>
                <a:cs typeface="Arial"/>
              </a:rPr>
              <a:t>visión </a:t>
            </a:r>
            <a:r>
              <a:rPr sz="1800" b="1" i="1" spc="-155" dirty="0">
                <a:solidFill>
                  <a:srgbClr val="00338D"/>
                </a:solidFill>
                <a:latin typeface="Arial"/>
                <a:cs typeface="Arial"/>
              </a:rPr>
              <a:t>y </a:t>
            </a:r>
            <a:r>
              <a:rPr sz="1800" b="1" i="1" spc="-55" dirty="0">
                <a:solidFill>
                  <a:srgbClr val="00338D"/>
                </a:solidFill>
                <a:latin typeface="Arial"/>
                <a:cs typeface="Arial"/>
              </a:rPr>
              <a:t>la  </a:t>
            </a:r>
            <a:r>
              <a:rPr sz="1800" b="1" i="1" spc="-145" dirty="0">
                <a:solidFill>
                  <a:srgbClr val="00338D"/>
                </a:solidFill>
                <a:latin typeface="Arial"/>
                <a:cs typeface="Arial"/>
              </a:rPr>
              <a:t>misión </a:t>
            </a:r>
            <a:r>
              <a:rPr sz="1800" b="1" i="1" spc="-140" dirty="0">
                <a:solidFill>
                  <a:srgbClr val="00338D"/>
                </a:solidFill>
                <a:latin typeface="Arial"/>
                <a:cs typeface="Arial"/>
              </a:rPr>
              <a:t>de </a:t>
            </a:r>
            <a:r>
              <a:rPr sz="1800" b="1" i="1" spc="-135" dirty="0">
                <a:solidFill>
                  <a:srgbClr val="00338D"/>
                </a:solidFill>
                <a:latin typeface="Arial"/>
                <a:cs typeface="Arial"/>
              </a:rPr>
              <a:t>las</a:t>
            </a:r>
            <a:r>
              <a:rPr sz="1800" b="1" i="1" spc="1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800" b="1" i="1" spc="-135" dirty="0">
                <a:solidFill>
                  <a:srgbClr val="00338D"/>
                </a:solidFill>
                <a:latin typeface="Arial"/>
                <a:cs typeface="Arial"/>
              </a:rPr>
              <a:t>organizaciones</a:t>
            </a:r>
            <a:r>
              <a:rPr sz="1800" i="1" spc="-135" dirty="0">
                <a:solidFill>
                  <a:srgbClr val="00338D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817880" marR="5080" lvl="1" indent="-347980">
              <a:lnSpc>
                <a:spcPct val="100000"/>
              </a:lnSpc>
              <a:buFont typeface="Wingdings"/>
              <a:buChar char=""/>
              <a:tabLst>
                <a:tab pos="817880" algn="l"/>
                <a:tab pos="818515" algn="l"/>
                <a:tab pos="1165225" algn="l"/>
                <a:tab pos="1468120" algn="l"/>
                <a:tab pos="2398395" algn="l"/>
                <a:tab pos="2765425" algn="l"/>
                <a:tab pos="3140710" algn="l"/>
                <a:tab pos="3687445" algn="l"/>
                <a:tab pos="4751070" algn="l"/>
                <a:tab pos="5623560" algn="l"/>
              </a:tabLst>
            </a:pPr>
            <a:r>
              <a:rPr sz="1800" i="1" spc="-165" dirty="0">
                <a:solidFill>
                  <a:srgbClr val="00338D"/>
                </a:solidFill>
                <a:latin typeface="Arial"/>
                <a:cs typeface="Arial"/>
              </a:rPr>
              <a:t>L</a:t>
            </a:r>
            <a:r>
              <a:rPr sz="1800" i="1" spc="-160" dirty="0">
                <a:solidFill>
                  <a:srgbClr val="00338D"/>
                </a:solidFill>
                <a:latin typeface="Arial"/>
                <a:cs typeface="Arial"/>
              </a:rPr>
              <a:t>a</a:t>
            </a:r>
            <a:r>
              <a:rPr sz="1800" i="1" dirty="0">
                <a:solidFill>
                  <a:srgbClr val="00338D"/>
                </a:solidFill>
                <a:latin typeface="Arial"/>
                <a:cs typeface="Arial"/>
              </a:rPr>
              <a:t>	</a:t>
            </a:r>
            <a:r>
              <a:rPr sz="1800" i="1" spc="-190" dirty="0">
                <a:solidFill>
                  <a:srgbClr val="00338D"/>
                </a:solidFill>
                <a:latin typeface="Arial"/>
                <a:cs typeface="Arial"/>
              </a:rPr>
              <a:t>T</a:t>
            </a:r>
            <a:r>
              <a:rPr sz="1800" i="1" spc="-85" dirty="0">
                <a:solidFill>
                  <a:srgbClr val="00338D"/>
                </a:solidFill>
                <a:latin typeface="Arial"/>
                <a:cs typeface="Arial"/>
              </a:rPr>
              <a:t>I</a:t>
            </a:r>
            <a:r>
              <a:rPr sz="1800" i="1" dirty="0">
                <a:solidFill>
                  <a:srgbClr val="00338D"/>
                </a:solidFill>
                <a:latin typeface="Arial"/>
                <a:cs typeface="Arial"/>
              </a:rPr>
              <a:t>	</a:t>
            </a:r>
            <a:r>
              <a:rPr sz="1800" b="1" i="1" spc="-114" dirty="0">
                <a:solidFill>
                  <a:srgbClr val="00338D"/>
                </a:solidFill>
                <a:latin typeface="Arial"/>
                <a:cs typeface="Arial"/>
              </a:rPr>
              <a:t>requie</a:t>
            </a:r>
            <a:r>
              <a:rPr sz="1800" b="1" i="1" spc="-80" dirty="0">
                <a:solidFill>
                  <a:srgbClr val="00338D"/>
                </a:solidFill>
                <a:latin typeface="Arial"/>
                <a:cs typeface="Arial"/>
              </a:rPr>
              <a:t>r</a:t>
            </a:r>
            <a:r>
              <a:rPr sz="1800" b="1" i="1" spc="-120" dirty="0">
                <a:solidFill>
                  <a:srgbClr val="00338D"/>
                </a:solidFill>
                <a:latin typeface="Arial"/>
                <a:cs typeface="Arial"/>
              </a:rPr>
              <a:t>e</a:t>
            </a:r>
            <a:r>
              <a:rPr sz="1800" b="1" i="1" dirty="0">
                <a:solidFill>
                  <a:srgbClr val="00338D"/>
                </a:solidFill>
                <a:latin typeface="Arial"/>
                <a:cs typeface="Arial"/>
              </a:rPr>
              <a:t>	</a:t>
            </a:r>
            <a:r>
              <a:rPr sz="1800" b="1" i="1" spc="-135" dirty="0">
                <a:solidFill>
                  <a:srgbClr val="00338D"/>
                </a:solidFill>
                <a:latin typeface="Arial"/>
                <a:cs typeface="Arial"/>
              </a:rPr>
              <a:t>de</a:t>
            </a:r>
            <a:r>
              <a:rPr sz="1800" b="1" i="1" dirty="0">
                <a:solidFill>
                  <a:srgbClr val="00338D"/>
                </a:solidFill>
                <a:latin typeface="Arial"/>
                <a:cs typeface="Arial"/>
              </a:rPr>
              <a:t>	</a:t>
            </a:r>
            <a:r>
              <a:rPr sz="1800" b="1" i="1" spc="-160" dirty="0">
                <a:solidFill>
                  <a:srgbClr val="00338D"/>
                </a:solidFill>
                <a:latin typeface="Arial"/>
                <a:cs typeface="Arial"/>
              </a:rPr>
              <a:t>u</a:t>
            </a:r>
            <a:r>
              <a:rPr sz="1800" b="1" i="1" spc="-155" dirty="0">
                <a:solidFill>
                  <a:srgbClr val="00338D"/>
                </a:solidFill>
                <a:latin typeface="Arial"/>
                <a:cs typeface="Arial"/>
              </a:rPr>
              <a:t>n</a:t>
            </a:r>
            <a:r>
              <a:rPr sz="1800" b="1" i="1" dirty="0">
                <a:solidFill>
                  <a:srgbClr val="00338D"/>
                </a:solidFill>
                <a:latin typeface="Arial"/>
                <a:cs typeface="Arial"/>
              </a:rPr>
              <a:t>	</a:t>
            </a:r>
            <a:r>
              <a:rPr sz="1800" b="1" i="1" spc="-155" dirty="0">
                <a:solidFill>
                  <a:srgbClr val="00338D"/>
                </a:solidFill>
                <a:latin typeface="Arial"/>
                <a:cs typeface="Arial"/>
              </a:rPr>
              <a:t>muy</a:t>
            </a:r>
            <a:r>
              <a:rPr sz="1800" b="1" i="1" dirty="0">
                <a:solidFill>
                  <a:srgbClr val="00338D"/>
                </a:solidFill>
                <a:latin typeface="Arial"/>
                <a:cs typeface="Arial"/>
              </a:rPr>
              <a:t>	</a:t>
            </a:r>
            <a:r>
              <a:rPr sz="1800" b="1" i="1" spc="-135" dirty="0">
                <a:solidFill>
                  <a:srgbClr val="00338D"/>
                </a:solidFill>
                <a:latin typeface="Arial"/>
                <a:cs typeface="Arial"/>
              </a:rPr>
              <a:t>adecuado</a:t>
            </a:r>
            <a:r>
              <a:rPr sz="1800" b="1" i="1" dirty="0">
                <a:solidFill>
                  <a:srgbClr val="00338D"/>
                </a:solidFill>
                <a:latin typeface="Arial"/>
                <a:cs typeface="Arial"/>
              </a:rPr>
              <a:t>	</a:t>
            </a:r>
            <a:r>
              <a:rPr sz="1800" b="1" i="1" spc="-110" dirty="0">
                <a:solidFill>
                  <a:srgbClr val="00338D"/>
                </a:solidFill>
                <a:latin typeface="Arial"/>
                <a:cs typeface="Arial"/>
              </a:rPr>
              <a:t>pr</a:t>
            </a:r>
            <a:r>
              <a:rPr sz="1800" b="1" i="1" spc="-220" dirty="0">
                <a:solidFill>
                  <a:srgbClr val="00338D"/>
                </a:solidFill>
                <a:latin typeface="Arial"/>
                <a:cs typeface="Arial"/>
              </a:rPr>
              <a:t>o</a:t>
            </a:r>
            <a:r>
              <a:rPr sz="1800" b="1" i="1" spc="-215" dirty="0">
                <a:solidFill>
                  <a:srgbClr val="00338D"/>
                </a:solidFill>
                <a:latin typeface="Arial"/>
                <a:cs typeface="Arial"/>
              </a:rPr>
              <a:t>c</a:t>
            </a:r>
            <a:r>
              <a:rPr sz="1800" b="1" i="1" spc="-190" dirty="0">
                <a:solidFill>
                  <a:srgbClr val="00338D"/>
                </a:solidFill>
                <a:latin typeface="Arial"/>
                <a:cs typeface="Arial"/>
              </a:rPr>
              <a:t>es</a:t>
            </a:r>
            <a:r>
              <a:rPr sz="1800" b="1" i="1" spc="-200" dirty="0">
                <a:solidFill>
                  <a:srgbClr val="00338D"/>
                </a:solidFill>
                <a:latin typeface="Arial"/>
                <a:cs typeface="Arial"/>
              </a:rPr>
              <a:t>o</a:t>
            </a:r>
            <a:r>
              <a:rPr sz="1800" b="1" i="1" dirty="0">
                <a:solidFill>
                  <a:srgbClr val="00338D"/>
                </a:solidFill>
                <a:latin typeface="Arial"/>
                <a:cs typeface="Arial"/>
              </a:rPr>
              <a:t>	</a:t>
            </a:r>
            <a:r>
              <a:rPr sz="1800" b="1" i="1" spc="-110" dirty="0">
                <a:solidFill>
                  <a:srgbClr val="00338D"/>
                </a:solidFill>
                <a:latin typeface="Arial"/>
                <a:cs typeface="Arial"/>
              </a:rPr>
              <a:t>de </a:t>
            </a:r>
            <a:r>
              <a:rPr sz="1800" b="1" i="1" spc="-6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800" b="1" i="1" spc="-155" dirty="0">
                <a:solidFill>
                  <a:srgbClr val="00338D"/>
                </a:solidFill>
                <a:latin typeface="Arial"/>
                <a:cs typeface="Arial"/>
              </a:rPr>
              <a:t>selección, </a:t>
            </a:r>
            <a:r>
              <a:rPr sz="1800" b="1" i="1" spc="-135" dirty="0">
                <a:solidFill>
                  <a:srgbClr val="00338D"/>
                </a:solidFill>
                <a:latin typeface="Arial"/>
                <a:cs typeface="Arial"/>
              </a:rPr>
              <a:t>incorporación, </a:t>
            </a:r>
            <a:r>
              <a:rPr sz="1800" b="1" i="1" spc="-120" dirty="0">
                <a:solidFill>
                  <a:srgbClr val="00338D"/>
                </a:solidFill>
                <a:latin typeface="Arial"/>
                <a:cs typeface="Arial"/>
              </a:rPr>
              <a:t>actualización </a:t>
            </a:r>
            <a:r>
              <a:rPr sz="1800" b="1" i="1" spc="-155" dirty="0">
                <a:solidFill>
                  <a:srgbClr val="00338D"/>
                </a:solidFill>
                <a:latin typeface="Arial"/>
                <a:cs typeface="Arial"/>
              </a:rPr>
              <a:t>y</a:t>
            </a:r>
            <a:r>
              <a:rPr sz="1800" b="1" i="1" spc="4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800" b="1" i="1" spc="-114" dirty="0">
                <a:solidFill>
                  <a:srgbClr val="00338D"/>
                </a:solidFill>
                <a:latin typeface="Arial"/>
                <a:cs typeface="Arial"/>
              </a:rPr>
              <a:t>control</a:t>
            </a:r>
            <a:r>
              <a:rPr sz="1800" i="1" spc="-114" dirty="0">
                <a:solidFill>
                  <a:srgbClr val="00338D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817880" lvl="1" indent="-347980">
              <a:lnSpc>
                <a:spcPct val="100000"/>
              </a:lnSpc>
              <a:buFont typeface="Wingdings"/>
              <a:buChar char=""/>
              <a:tabLst>
                <a:tab pos="817880" algn="l"/>
                <a:tab pos="818515" algn="l"/>
              </a:tabLst>
            </a:pPr>
            <a:r>
              <a:rPr sz="1800" i="1" spc="-165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1800" i="1" spc="-110" dirty="0">
                <a:solidFill>
                  <a:srgbClr val="00338D"/>
                </a:solidFill>
                <a:latin typeface="Arial"/>
                <a:cs typeface="Arial"/>
              </a:rPr>
              <a:t>TI, </a:t>
            </a:r>
            <a:r>
              <a:rPr sz="1800" i="1" spc="-60" dirty="0">
                <a:solidFill>
                  <a:srgbClr val="00338D"/>
                </a:solidFill>
                <a:latin typeface="Arial"/>
                <a:cs typeface="Arial"/>
              </a:rPr>
              <a:t>para </a:t>
            </a:r>
            <a:r>
              <a:rPr sz="1800" i="1" spc="-114" dirty="0">
                <a:solidFill>
                  <a:srgbClr val="00338D"/>
                </a:solidFill>
                <a:latin typeface="Arial"/>
                <a:cs typeface="Arial"/>
              </a:rPr>
              <a:t>ser </a:t>
            </a:r>
            <a:r>
              <a:rPr sz="1800" i="1" spc="-80" dirty="0">
                <a:solidFill>
                  <a:srgbClr val="00338D"/>
                </a:solidFill>
                <a:latin typeface="Arial"/>
                <a:cs typeface="Arial"/>
              </a:rPr>
              <a:t>exitosa, </a:t>
            </a:r>
            <a:r>
              <a:rPr sz="1800" b="1" i="1" spc="-140" dirty="0">
                <a:solidFill>
                  <a:srgbClr val="00338D"/>
                </a:solidFill>
                <a:latin typeface="Arial"/>
                <a:cs typeface="Arial"/>
              </a:rPr>
              <a:t>debe </a:t>
            </a:r>
            <a:r>
              <a:rPr sz="1800" b="1" i="1" spc="-114" dirty="0">
                <a:solidFill>
                  <a:srgbClr val="00338D"/>
                </a:solidFill>
                <a:latin typeface="Arial"/>
                <a:cs typeface="Arial"/>
              </a:rPr>
              <a:t>estar </a:t>
            </a:r>
            <a:r>
              <a:rPr sz="1800" b="1" i="1" spc="-130" dirty="0">
                <a:solidFill>
                  <a:srgbClr val="00338D"/>
                </a:solidFill>
                <a:latin typeface="Arial"/>
                <a:cs typeface="Arial"/>
              </a:rPr>
              <a:t>basada </a:t>
            </a:r>
            <a:r>
              <a:rPr sz="1800" b="1" i="1" spc="-140" dirty="0">
                <a:solidFill>
                  <a:srgbClr val="00338D"/>
                </a:solidFill>
                <a:latin typeface="Arial"/>
                <a:cs typeface="Arial"/>
              </a:rPr>
              <a:t>en </a:t>
            </a:r>
            <a:r>
              <a:rPr sz="1800" b="1" i="1" spc="-55" dirty="0">
                <a:solidFill>
                  <a:srgbClr val="00338D"/>
                </a:solidFill>
                <a:latin typeface="Arial"/>
                <a:cs typeface="Arial"/>
              </a:rPr>
              <a:t>la</a:t>
            </a:r>
            <a:r>
              <a:rPr sz="1800" b="1" i="1" spc="19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800" b="1" i="1" spc="-105" dirty="0">
                <a:solidFill>
                  <a:srgbClr val="00338D"/>
                </a:solidFill>
                <a:latin typeface="Arial"/>
                <a:cs typeface="Arial"/>
              </a:rPr>
              <a:t>gente</a:t>
            </a:r>
            <a:r>
              <a:rPr sz="1800" i="1" spc="-105" dirty="0">
                <a:solidFill>
                  <a:srgbClr val="00338D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360680" marR="5715" indent="-347980" algn="just">
              <a:lnSpc>
                <a:spcPct val="100000"/>
              </a:lnSpc>
              <a:spcBef>
                <a:spcPts val="1055"/>
              </a:spcBef>
              <a:buFont typeface="Wingdings"/>
              <a:buChar char=""/>
              <a:tabLst>
                <a:tab pos="361315" algn="l"/>
              </a:tabLst>
            </a:pPr>
            <a:r>
              <a:rPr sz="2200" spc="-185" dirty="0">
                <a:latin typeface="Arial"/>
                <a:cs typeface="Arial"/>
              </a:rPr>
              <a:t>Lo </a:t>
            </a:r>
            <a:r>
              <a:rPr sz="2200" spc="-40" dirty="0">
                <a:latin typeface="Arial"/>
                <a:cs typeface="Arial"/>
              </a:rPr>
              <a:t>importante </a:t>
            </a:r>
            <a:r>
              <a:rPr sz="2200" spc="-185" dirty="0">
                <a:latin typeface="Arial"/>
                <a:cs typeface="Arial"/>
              </a:rPr>
              <a:t>es </a:t>
            </a:r>
            <a:r>
              <a:rPr sz="2200" spc="-95" dirty="0">
                <a:latin typeface="Arial"/>
                <a:cs typeface="Arial"/>
              </a:rPr>
              <a:t>qué </a:t>
            </a:r>
            <a:r>
              <a:rPr sz="2200" spc="-105" dirty="0">
                <a:latin typeface="Arial"/>
                <a:cs typeface="Arial"/>
              </a:rPr>
              <a:t>hacer </a:t>
            </a:r>
            <a:r>
              <a:rPr sz="2200" spc="-114" dirty="0">
                <a:latin typeface="Arial"/>
                <a:cs typeface="Arial"/>
              </a:rPr>
              <a:t>con </a:t>
            </a:r>
            <a:r>
              <a:rPr sz="2200" spc="-90" dirty="0">
                <a:latin typeface="Arial"/>
                <a:cs typeface="Arial"/>
              </a:rPr>
              <a:t>la  </a:t>
            </a:r>
            <a:r>
              <a:rPr sz="2200" spc="-60" dirty="0">
                <a:latin typeface="Arial"/>
                <a:cs typeface="Arial"/>
              </a:rPr>
              <a:t>infraestructura,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70" dirty="0">
                <a:latin typeface="Arial"/>
                <a:cs typeface="Arial"/>
              </a:rPr>
              <a:t>no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60" dirty="0">
                <a:latin typeface="Arial"/>
                <a:cs typeface="Arial"/>
              </a:rPr>
              <a:t>infraestructura </a:t>
            </a:r>
            <a:r>
              <a:rPr sz="2200" spc="-35" dirty="0">
                <a:latin typeface="Arial"/>
                <a:cs typeface="Arial"/>
              </a:rPr>
              <a:t>por </a:t>
            </a:r>
            <a:r>
              <a:rPr sz="2200" spc="-180" dirty="0">
                <a:latin typeface="Arial"/>
                <a:cs typeface="Arial"/>
              </a:rPr>
              <a:t>sí  </a:t>
            </a:r>
            <a:r>
              <a:rPr sz="2200" spc="-100" dirty="0">
                <a:latin typeface="Arial"/>
                <a:cs typeface="Arial"/>
              </a:rPr>
              <a:t>misma.</a:t>
            </a:r>
            <a:endParaRPr sz="2200">
              <a:latin typeface="Arial"/>
              <a:cs typeface="Arial"/>
            </a:endParaRPr>
          </a:p>
          <a:p>
            <a:pPr marL="360680" marR="5715" indent="-347980" algn="just">
              <a:lnSpc>
                <a:spcPct val="100000"/>
              </a:lnSpc>
              <a:buFont typeface="Wingdings"/>
              <a:buChar char=""/>
              <a:tabLst>
                <a:tab pos="361315" algn="l"/>
              </a:tabLst>
            </a:pPr>
            <a:r>
              <a:rPr sz="2200" spc="-190" dirty="0">
                <a:latin typeface="Arial"/>
                <a:cs typeface="Arial"/>
              </a:rPr>
              <a:t>Para </a:t>
            </a:r>
            <a:r>
              <a:rPr sz="2200" spc="-80" dirty="0">
                <a:latin typeface="Arial"/>
                <a:cs typeface="Arial"/>
              </a:rPr>
              <a:t>aprender </a:t>
            </a:r>
            <a:r>
              <a:rPr sz="2200" spc="-110" dirty="0">
                <a:latin typeface="Arial"/>
                <a:cs typeface="Arial"/>
              </a:rPr>
              <a:t>algo </a:t>
            </a:r>
            <a:r>
              <a:rPr sz="2200" spc="-100" dirty="0">
                <a:latin typeface="Arial"/>
                <a:cs typeface="Arial"/>
              </a:rPr>
              <a:t>nuevo, </a:t>
            </a:r>
            <a:r>
              <a:rPr sz="2200" spc="-45" dirty="0">
                <a:latin typeface="Arial"/>
                <a:cs typeface="Arial"/>
              </a:rPr>
              <a:t>primero </a:t>
            </a:r>
            <a:r>
              <a:rPr sz="2200" spc="-130" dirty="0">
                <a:latin typeface="Arial"/>
                <a:cs typeface="Arial"/>
              </a:rPr>
              <a:t>hay </a:t>
            </a:r>
            <a:r>
              <a:rPr sz="2200" spc="-95" dirty="0">
                <a:latin typeface="Arial"/>
                <a:cs typeface="Arial"/>
              </a:rPr>
              <a:t>que  </a:t>
            </a:r>
            <a:r>
              <a:rPr sz="2200" spc="-100" dirty="0">
                <a:latin typeface="Arial"/>
                <a:cs typeface="Arial"/>
              </a:rPr>
              <a:t>desaprender </a:t>
            </a:r>
            <a:r>
              <a:rPr sz="2200" spc="-30" dirty="0">
                <a:latin typeface="Arial"/>
                <a:cs typeface="Arial"/>
              </a:rPr>
              <a:t>lo</a:t>
            </a:r>
            <a:r>
              <a:rPr sz="2200" spc="-145" dirty="0">
                <a:latin typeface="Arial"/>
                <a:cs typeface="Arial"/>
              </a:rPr>
              <a:t> </a:t>
            </a:r>
            <a:r>
              <a:rPr sz="2200" spc="-65" dirty="0">
                <a:latin typeface="Arial"/>
                <a:cs typeface="Arial"/>
              </a:rPr>
              <a:t>anterior.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84847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/>
              <a:t>– </a:t>
            </a:r>
            <a:r>
              <a:rPr spc="-125" dirty="0"/>
              <a:t>Planeamiento </a:t>
            </a:r>
            <a:r>
              <a:rPr spc="-130" dirty="0"/>
              <a:t>corporativo de </a:t>
            </a:r>
            <a:r>
              <a:rPr spc="-185" dirty="0"/>
              <a:t>Sistemas </a:t>
            </a:r>
            <a:r>
              <a:rPr spc="-130" dirty="0"/>
              <a:t>de </a:t>
            </a:r>
            <a:r>
              <a:rPr spc="-125" dirty="0"/>
              <a:t>Información</a:t>
            </a:r>
            <a:r>
              <a:rPr spc="105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00" dirty="0">
                <a:latin typeface="Arial"/>
                <a:cs typeface="Arial"/>
              </a:rPr>
              <a:t>Tecnología, negocios </a:t>
            </a:r>
            <a:r>
              <a:rPr sz="1800" b="0" spc="-90" dirty="0">
                <a:latin typeface="Arial"/>
                <a:cs typeface="Arial"/>
              </a:rPr>
              <a:t>y</a:t>
            </a:r>
            <a:r>
              <a:rPr sz="1800" b="0" spc="-50" dirty="0">
                <a:latin typeface="Arial"/>
                <a:cs typeface="Arial"/>
              </a:rPr>
              <a:t> </a:t>
            </a:r>
            <a:r>
              <a:rPr sz="1800" b="0" spc="-65" dirty="0">
                <a:latin typeface="Arial"/>
                <a:cs typeface="Arial"/>
              </a:rPr>
              <a:t>estrategia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24600" y="1186433"/>
            <a:ext cx="2590800" cy="23187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24600" y="3886200"/>
            <a:ext cx="2590800" cy="21976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12</a:t>
            </a:fld>
            <a:endParaRPr spc="-5" dirty="0"/>
          </a:p>
        </p:txBody>
      </p:sp>
      <p:sp>
        <p:nvSpPr>
          <p:cNvPr id="8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684847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25" dirty="0">
                <a:solidFill>
                  <a:srgbClr val="FFFFFF"/>
                </a:solidFill>
                <a:latin typeface="Arial"/>
                <a:cs typeface="Arial"/>
              </a:rPr>
              <a:t>Planeamiento </a:t>
            </a:r>
            <a:r>
              <a:rPr sz="2000" b="1" spc="-130" dirty="0">
                <a:solidFill>
                  <a:srgbClr val="FFFFFF"/>
                </a:solidFill>
                <a:latin typeface="Arial"/>
                <a:cs typeface="Arial"/>
              </a:rPr>
              <a:t>corporativo de </a:t>
            </a:r>
            <a:r>
              <a:rPr sz="2000" b="1" spc="-185" dirty="0">
                <a:solidFill>
                  <a:srgbClr val="FFFFFF"/>
                </a:solidFill>
                <a:latin typeface="Arial"/>
                <a:cs typeface="Arial"/>
              </a:rPr>
              <a:t>Sistemas </a:t>
            </a:r>
            <a:r>
              <a:rPr sz="2000" b="1" spc="-130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2000" b="1" spc="-125" dirty="0">
                <a:solidFill>
                  <a:srgbClr val="FFFFFF"/>
                </a:solidFill>
                <a:latin typeface="Arial"/>
                <a:cs typeface="Arial"/>
              </a:rPr>
              <a:t>Información</a:t>
            </a:r>
            <a:r>
              <a:rPr sz="2000" b="1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Tecnología, negocios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estrategia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144591" y="1991105"/>
            <a:ext cx="3670877" cy="31742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9268" y="1036066"/>
            <a:ext cx="455358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680" indent="-34798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60680" algn="l"/>
                <a:tab pos="361315" algn="l"/>
              </a:tabLst>
            </a:pPr>
            <a:r>
              <a:rPr sz="2200" spc="-195" dirty="0">
                <a:solidFill>
                  <a:srgbClr val="00338D"/>
                </a:solidFill>
                <a:latin typeface="Arial"/>
                <a:cs typeface="Arial"/>
              </a:rPr>
              <a:t>¿Cómo </a:t>
            </a:r>
            <a:r>
              <a:rPr sz="2200" spc="-185" dirty="0">
                <a:solidFill>
                  <a:srgbClr val="00338D"/>
                </a:solidFill>
                <a:latin typeface="Arial"/>
                <a:cs typeface="Arial"/>
              </a:rPr>
              <a:t>se </a:t>
            </a:r>
            <a:r>
              <a:rPr sz="2200" spc="-60" dirty="0">
                <a:solidFill>
                  <a:srgbClr val="00338D"/>
                </a:solidFill>
                <a:latin typeface="Arial"/>
                <a:cs typeface="Arial"/>
              </a:rPr>
              <a:t>define </a:t>
            </a:r>
            <a:r>
              <a:rPr sz="2200" spc="-70" dirty="0">
                <a:solidFill>
                  <a:srgbClr val="00338D"/>
                </a:solidFill>
                <a:latin typeface="Arial"/>
                <a:cs typeface="Arial"/>
              </a:rPr>
              <a:t>un </a:t>
            </a:r>
            <a:r>
              <a:rPr sz="2200" b="1" u="heavy" spc="-229" dirty="0">
                <a:solidFill>
                  <a:srgbClr val="00338D"/>
                </a:solidFill>
                <a:uFill>
                  <a:solidFill>
                    <a:srgbClr val="00338D"/>
                  </a:solidFill>
                </a:uFill>
                <a:latin typeface="Arial"/>
                <a:cs typeface="Arial"/>
              </a:rPr>
              <a:t>SI </a:t>
            </a:r>
            <a:r>
              <a:rPr sz="2200" b="1" u="heavy" spc="-190" dirty="0">
                <a:solidFill>
                  <a:srgbClr val="00338D"/>
                </a:solidFill>
                <a:uFill>
                  <a:solidFill>
                    <a:srgbClr val="00338D"/>
                  </a:solidFill>
                </a:uFill>
                <a:latin typeface="Arial"/>
                <a:cs typeface="Arial"/>
              </a:rPr>
              <a:t>basado </a:t>
            </a:r>
            <a:r>
              <a:rPr sz="2200" b="1" u="heavy" spc="-145" dirty="0">
                <a:solidFill>
                  <a:srgbClr val="00338D"/>
                </a:solidFill>
                <a:uFill>
                  <a:solidFill>
                    <a:srgbClr val="00338D"/>
                  </a:solidFill>
                </a:uFill>
                <a:latin typeface="Arial"/>
                <a:cs typeface="Arial"/>
              </a:rPr>
              <a:t>en</a:t>
            </a:r>
            <a:r>
              <a:rPr sz="2200" b="1" u="heavy" spc="-275" dirty="0">
                <a:solidFill>
                  <a:srgbClr val="00338D"/>
                </a:solidFill>
                <a:uFill>
                  <a:solidFill>
                    <a:srgbClr val="00338D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165" dirty="0">
                <a:solidFill>
                  <a:srgbClr val="00338D"/>
                </a:solidFill>
                <a:uFill>
                  <a:solidFill>
                    <a:srgbClr val="00338D"/>
                  </a:solidFill>
                </a:uFill>
                <a:latin typeface="Arial"/>
                <a:cs typeface="Arial"/>
              </a:rPr>
              <a:t>TI</a:t>
            </a:r>
            <a:r>
              <a:rPr sz="2200" spc="-165" dirty="0">
                <a:solidFill>
                  <a:srgbClr val="00338D"/>
                </a:solidFill>
                <a:latin typeface="Arial"/>
                <a:cs typeface="Arial"/>
              </a:rPr>
              <a:t>?</a:t>
            </a:r>
            <a:endParaRPr sz="22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13</a:t>
            </a:fld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239268" y="1678432"/>
            <a:ext cx="4629150" cy="429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i="1" spc="-170" dirty="0">
                <a:latin typeface="Arial"/>
                <a:cs typeface="Arial"/>
              </a:rPr>
              <a:t>Este </a:t>
            </a:r>
            <a:r>
              <a:rPr sz="2000" i="1" spc="-45" dirty="0">
                <a:latin typeface="Arial"/>
                <a:cs typeface="Arial"/>
              </a:rPr>
              <a:t>término </a:t>
            </a:r>
            <a:r>
              <a:rPr sz="2000" i="1" spc="-110" dirty="0">
                <a:latin typeface="Arial"/>
                <a:cs typeface="Arial"/>
              </a:rPr>
              <a:t>comprende </a:t>
            </a:r>
            <a:r>
              <a:rPr sz="2000" i="1" spc="-85" dirty="0">
                <a:latin typeface="Arial"/>
                <a:cs typeface="Arial"/>
              </a:rPr>
              <a:t>a </a:t>
            </a:r>
            <a:r>
              <a:rPr sz="2000" i="1" spc="-100" dirty="0">
                <a:latin typeface="Arial"/>
                <a:cs typeface="Arial"/>
              </a:rPr>
              <a:t>los </a:t>
            </a:r>
            <a:r>
              <a:rPr sz="2000" i="1" spc="-245" dirty="0">
                <a:latin typeface="Arial"/>
                <a:cs typeface="Arial"/>
              </a:rPr>
              <a:t>SI </a:t>
            </a:r>
            <a:r>
              <a:rPr sz="2000" i="1" spc="-110" dirty="0">
                <a:latin typeface="Arial"/>
                <a:cs typeface="Arial"/>
              </a:rPr>
              <a:t>y </a:t>
            </a:r>
            <a:r>
              <a:rPr sz="2000" i="1" spc="-85" dirty="0">
                <a:latin typeface="Arial"/>
                <a:cs typeface="Arial"/>
              </a:rPr>
              <a:t>a todos </a:t>
            </a:r>
            <a:r>
              <a:rPr sz="2000" i="1" spc="-100" dirty="0">
                <a:latin typeface="Arial"/>
                <a:cs typeface="Arial"/>
              </a:rPr>
              <a:t>los  </a:t>
            </a:r>
            <a:r>
              <a:rPr sz="2000" i="1" spc="-114" dirty="0">
                <a:latin typeface="Arial"/>
                <a:cs typeface="Arial"/>
              </a:rPr>
              <a:t>recursos </a:t>
            </a:r>
            <a:r>
              <a:rPr sz="2000" i="1" spc="-95" dirty="0">
                <a:latin typeface="Arial"/>
                <a:cs typeface="Arial"/>
              </a:rPr>
              <a:t>organizacionales </a:t>
            </a:r>
            <a:r>
              <a:rPr sz="2000" i="1" spc="-120" dirty="0">
                <a:latin typeface="Arial"/>
                <a:cs typeface="Arial"/>
              </a:rPr>
              <a:t>necesarios </a:t>
            </a:r>
            <a:r>
              <a:rPr sz="2000" i="1" spc="-65" dirty="0">
                <a:latin typeface="Arial"/>
                <a:cs typeface="Arial"/>
              </a:rPr>
              <a:t>para  </a:t>
            </a:r>
            <a:r>
              <a:rPr sz="2000" i="1" spc="-80" dirty="0">
                <a:latin typeface="Arial"/>
                <a:cs typeface="Arial"/>
              </a:rPr>
              <a:t>planearlos, </a:t>
            </a:r>
            <a:r>
              <a:rPr sz="2000" i="1" spc="-95" dirty="0">
                <a:latin typeface="Arial"/>
                <a:cs typeface="Arial"/>
              </a:rPr>
              <a:t>diseñarlos, </a:t>
            </a:r>
            <a:r>
              <a:rPr sz="2000" i="1" spc="-75" dirty="0">
                <a:latin typeface="Arial"/>
                <a:cs typeface="Arial"/>
              </a:rPr>
              <a:t>construirlos </a:t>
            </a:r>
            <a:r>
              <a:rPr sz="2000" i="1" spc="-90" dirty="0">
                <a:latin typeface="Arial"/>
                <a:cs typeface="Arial"/>
              </a:rPr>
              <a:t>o  </a:t>
            </a:r>
            <a:r>
              <a:rPr sz="2000" i="1" spc="-60" dirty="0">
                <a:latin typeface="Arial"/>
                <a:cs typeface="Arial"/>
              </a:rPr>
              <a:t>adquirirlos, </a:t>
            </a:r>
            <a:r>
              <a:rPr sz="2000" i="1" spc="-55" dirty="0">
                <a:latin typeface="Arial"/>
                <a:cs typeface="Arial"/>
              </a:rPr>
              <a:t>implantarlos, </a:t>
            </a:r>
            <a:r>
              <a:rPr sz="2000" i="1" spc="-50" dirty="0">
                <a:latin typeface="Arial"/>
                <a:cs typeface="Arial"/>
              </a:rPr>
              <a:t>distribuirlos,  </a:t>
            </a:r>
            <a:r>
              <a:rPr sz="2000" i="1" spc="-60" dirty="0">
                <a:latin typeface="Arial"/>
                <a:cs typeface="Arial"/>
              </a:rPr>
              <a:t>controlarlos, </a:t>
            </a:r>
            <a:r>
              <a:rPr sz="2000" i="1" spc="-80" dirty="0">
                <a:latin typeface="Arial"/>
                <a:cs typeface="Arial"/>
              </a:rPr>
              <a:t>mantenerlos, </a:t>
            </a:r>
            <a:r>
              <a:rPr sz="2000" i="1" spc="-75" dirty="0">
                <a:latin typeface="Arial"/>
                <a:cs typeface="Arial"/>
              </a:rPr>
              <a:t>actualizarlos </a:t>
            </a:r>
            <a:r>
              <a:rPr sz="2000" i="1" spc="-110" dirty="0">
                <a:latin typeface="Arial"/>
                <a:cs typeface="Arial"/>
              </a:rPr>
              <a:t>y  </a:t>
            </a:r>
            <a:r>
              <a:rPr sz="2000" i="1" spc="-60" dirty="0">
                <a:latin typeface="Arial"/>
                <a:cs typeface="Arial"/>
              </a:rPr>
              <a:t>auditarlos. </a:t>
            </a:r>
            <a:r>
              <a:rPr sz="2000" i="1" spc="-295" dirty="0">
                <a:latin typeface="Arial"/>
                <a:cs typeface="Arial"/>
              </a:rPr>
              <a:t>Es </a:t>
            </a:r>
            <a:r>
              <a:rPr sz="2000" i="1" spc="-80" dirty="0">
                <a:latin typeface="Arial"/>
                <a:cs typeface="Arial"/>
              </a:rPr>
              <a:t>decir </a:t>
            </a:r>
            <a:r>
              <a:rPr sz="2000" i="1" spc="-114" dirty="0">
                <a:latin typeface="Arial"/>
                <a:cs typeface="Arial"/>
              </a:rPr>
              <a:t>que </a:t>
            </a:r>
            <a:r>
              <a:rPr sz="2000" b="1" i="1" spc="-145" dirty="0">
                <a:latin typeface="Arial"/>
                <a:cs typeface="Arial"/>
              </a:rPr>
              <a:t>involucra </a:t>
            </a:r>
            <a:r>
              <a:rPr sz="2000" b="1" i="1" spc="-60" dirty="0">
                <a:latin typeface="Arial"/>
                <a:cs typeface="Arial"/>
              </a:rPr>
              <a:t>a </a:t>
            </a:r>
            <a:r>
              <a:rPr sz="2000" b="1" i="1" spc="-190" dirty="0">
                <a:latin typeface="Arial"/>
                <a:cs typeface="Arial"/>
              </a:rPr>
              <a:t>los  </a:t>
            </a:r>
            <a:r>
              <a:rPr sz="2000" b="1" i="1" spc="-175" dirty="0">
                <a:latin typeface="Arial"/>
                <a:cs typeface="Arial"/>
              </a:rPr>
              <a:t>productos </a:t>
            </a:r>
            <a:r>
              <a:rPr sz="2000" b="1" i="1" spc="-150" dirty="0">
                <a:latin typeface="Arial"/>
                <a:cs typeface="Arial"/>
              </a:rPr>
              <a:t>de </a:t>
            </a:r>
            <a:r>
              <a:rPr sz="2000" b="1" i="1" spc="-105" dirty="0">
                <a:latin typeface="Arial"/>
                <a:cs typeface="Arial"/>
              </a:rPr>
              <a:t>hardware </a:t>
            </a:r>
            <a:r>
              <a:rPr sz="2000" b="1" i="1" spc="-175" dirty="0">
                <a:latin typeface="Arial"/>
                <a:cs typeface="Arial"/>
              </a:rPr>
              <a:t>y </a:t>
            </a:r>
            <a:r>
              <a:rPr sz="2000" b="1" i="1" spc="-110" dirty="0">
                <a:latin typeface="Arial"/>
                <a:cs typeface="Arial"/>
              </a:rPr>
              <a:t>software </a:t>
            </a:r>
            <a:r>
              <a:rPr sz="2000" b="1" i="1" spc="-175" dirty="0">
                <a:latin typeface="Arial"/>
                <a:cs typeface="Arial"/>
              </a:rPr>
              <a:t>y </a:t>
            </a:r>
            <a:r>
              <a:rPr sz="2000" b="1" i="1" spc="-60" dirty="0">
                <a:latin typeface="Arial"/>
                <a:cs typeface="Arial"/>
              </a:rPr>
              <a:t>a </a:t>
            </a:r>
            <a:r>
              <a:rPr sz="2000" b="1" i="1" spc="-65" dirty="0">
                <a:latin typeface="Arial"/>
                <a:cs typeface="Arial"/>
              </a:rPr>
              <a:t>la  </a:t>
            </a:r>
            <a:r>
              <a:rPr sz="2000" b="1" i="1" spc="-105" dirty="0">
                <a:latin typeface="Arial"/>
                <a:cs typeface="Arial"/>
              </a:rPr>
              <a:t>operatoria </a:t>
            </a:r>
            <a:r>
              <a:rPr sz="2000" b="1" i="1" spc="-150" dirty="0">
                <a:latin typeface="Arial"/>
                <a:cs typeface="Arial"/>
              </a:rPr>
              <a:t>de </a:t>
            </a:r>
            <a:r>
              <a:rPr sz="2000" b="1" i="1" spc="-185" dirty="0">
                <a:latin typeface="Arial"/>
                <a:cs typeface="Arial"/>
              </a:rPr>
              <a:t>sistemas </a:t>
            </a:r>
            <a:r>
              <a:rPr sz="2000" b="1" i="1" spc="-150" dirty="0">
                <a:latin typeface="Arial"/>
                <a:cs typeface="Arial"/>
              </a:rPr>
              <a:t>de </a:t>
            </a:r>
            <a:r>
              <a:rPr sz="2000" b="1" i="1" spc="-135" dirty="0">
                <a:latin typeface="Arial"/>
                <a:cs typeface="Arial"/>
              </a:rPr>
              <a:t>información </a:t>
            </a:r>
            <a:r>
              <a:rPr sz="2000" b="1" i="1" spc="-175" dirty="0">
                <a:latin typeface="Arial"/>
                <a:cs typeface="Arial"/>
              </a:rPr>
              <a:t>y  </a:t>
            </a:r>
            <a:r>
              <a:rPr sz="2000" b="1" i="1" spc="-210" dirty="0">
                <a:latin typeface="Arial"/>
                <a:cs typeface="Arial"/>
              </a:rPr>
              <a:t>procesos </a:t>
            </a:r>
            <a:r>
              <a:rPr sz="2000" b="1" i="1" spc="-125" dirty="0">
                <a:latin typeface="Arial"/>
                <a:cs typeface="Arial"/>
              </a:rPr>
              <a:t>administrativos, </a:t>
            </a:r>
            <a:r>
              <a:rPr sz="2000" b="1" i="1" spc="-150" dirty="0">
                <a:latin typeface="Arial"/>
                <a:cs typeface="Arial"/>
              </a:rPr>
              <a:t>de gestión </a:t>
            </a:r>
            <a:r>
              <a:rPr sz="2000" b="1" i="1" spc="-175" dirty="0">
                <a:latin typeface="Arial"/>
                <a:cs typeface="Arial"/>
              </a:rPr>
              <a:t>y  </a:t>
            </a:r>
            <a:r>
              <a:rPr sz="2000" b="1" i="1" spc="-125" dirty="0">
                <a:latin typeface="Arial"/>
                <a:cs typeface="Arial"/>
              </a:rPr>
              <a:t>control, </a:t>
            </a:r>
            <a:r>
              <a:rPr sz="2000" b="1" i="1" spc="-150" dirty="0">
                <a:latin typeface="Arial"/>
                <a:cs typeface="Arial"/>
              </a:rPr>
              <a:t>así </a:t>
            </a:r>
            <a:r>
              <a:rPr sz="2000" b="1" i="1" spc="-210" dirty="0">
                <a:latin typeface="Arial"/>
                <a:cs typeface="Arial"/>
              </a:rPr>
              <a:t>como </a:t>
            </a:r>
            <a:r>
              <a:rPr sz="2000" b="1" i="1" spc="-60" dirty="0">
                <a:latin typeface="Arial"/>
                <a:cs typeface="Arial"/>
              </a:rPr>
              <a:t>a </a:t>
            </a:r>
            <a:r>
              <a:rPr sz="2000" b="1" i="1" spc="-150" dirty="0">
                <a:latin typeface="Arial"/>
                <a:cs typeface="Arial"/>
              </a:rPr>
              <a:t>las </a:t>
            </a:r>
            <a:r>
              <a:rPr sz="2000" b="1" i="1" spc="-165" dirty="0">
                <a:latin typeface="Arial"/>
                <a:cs typeface="Arial"/>
              </a:rPr>
              <a:t>capacidades  </a:t>
            </a:r>
            <a:r>
              <a:rPr sz="2000" b="1" i="1" spc="-150" dirty="0">
                <a:latin typeface="Arial"/>
                <a:cs typeface="Arial"/>
              </a:rPr>
              <a:t>profesionales </a:t>
            </a:r>
            <a:r>
              <a:rPr sz="2000" b="1" i="1" spc="-170" dirty="0">
                <a:latin typeface="Arial"/>
                <a:cs typeface="Arial"/>
              </a:rPr>
              <a:t>necesarias </a:t>
            </a:r>
            <a:r>
              <a:rPr sz="2000" b="1" i="1" spc="-90" dirty="0">
                <a:latin typeface="Arial"/>
                <a:cs typeface="Arial"/>
              </a:rPr>
              <a:t>para </a:t>
            </a:r>
            <a:r>
              <a:rPr sz="2000" b="1" i="1" spc="-114" dirty="0">
                <a:latin typeface="Arial"/>
                <a:cs typeface="Arial"/>
              </a:rPr>
              <a:t>aplicar </a:t>
            </a:r>
            <a:r>
              <a:rPr sz="2000" b="1" i="1" spc="-245" dirty="0">
                <a:latin typeface="Arial"/>
                <a:cs typeface="Arial"/>
              </a:rPr>
              <a:t>esos  </a:t>
            </a:r>
            <a:r>
              <a:rPr sz="2000" b="1" i="1" spc="-175" dirty="0">
                <a:latin typeface="Arial"/>
                <a:cs typeface="Arial"/>
              </a:rPr>
              <a:t>productos y </a:t>
            </a:r>
            <a:r>
              <a:rPr sz="2000" b="1" i="1" spc="-210" dirty="0">
                <a:latin typeface="Arial"/>
                <a:cs typeface="Arial"/>
              </a:rPr>
              <a:t>procesos </a:t>
            </a:r>
            <a:r>
              <a:rPr sz="2000" b="1" i="1" spc="-60" dirty="0">
                <a:latin typeface="Arial"/>
                <a:cs typeface="Arial"/>
              </a:rPr>
              <a:t>a </a:t>
            </a:r>
            <a:r>
              <a:rPr sz="2000" b="1" i="1" spc="-65" dirty="0">
                <a:latin typeface="Arial"/>
                <a:cs typeface="Arial"/>
              </a:rPr>
              <a:t>la </a:t>
            </a:r>
            <a:r>
              <a:rPr sz="2000" b="1" i="1" spc="-180" dirty="0">
                <a:latin typeface="Arial"/>
                <a:cs typeface="Arial"/>
              </a:rPr>
              <a:t>producción </a:t>
            </a:r>
            <a:r>
              <a:rPr sz="2000" b="1" i="1" spc="-150" dirty="0">
                <a:latin typeface="Arial"/>
                <a:cs typeface="Arial"/>
              </a:rPr>
              <a:t>de  </a:t>
            </a:r>
            <a:r>
              <a:rPr sz="2000" b="1" i="1" spc="-135" dirty="0">
                <a:latin typeface="Arial"/>
                <a:cs typeface="Arial"/>
              </a:rPr>
              <a:t>información </a:t>
            </a:r>
            <a:r>
              <a:rPr sz="2000" b="1" i="1" spc="-175" dirty="0">
                <a:latin typeface="Arial"/>
                <a:cs typeface="Arial"/>
              </a:rPr>
              <a:t>y </a:t>
            </a:r>
            <a:r>
              <a:rPr sz="2000" b="1" i="1" spc="-60" dirty="0">
                <a:latin typeface="Arial"/>
                <a:cs typeface="Arial"/>
              </a:rPr>
              <a:t>a </a:t>
            </a:r>
            <a:r>
              <a:rPr sz="2000" b="1" i="1" spc="-254" dirty="0">
                <a:latin typeface="Arial"/>
                <a:cs typeface="Arial"/>
              </a:rPr>
              <a:t>su </a:t>
            </a:r>
            <a:r>
              <a:rPr sz="2000" b="1" i="1" spc="-130" dirty="0">
                <a:latin typeface="Arial"/>
                <a:cs typeface="Arial"/>
              </a:rPr>
              <a:t>desarrollo,  </a:t>
            </a:r>
            <a:r>
              <a:rPr sz="2000" b="1" i="1" spc="-125" dirty="0">
                <a:latin typeface="Arial"/>
                <a:cs typeface="Arial"/>
              </a:rPr>
              <a:t>gerenciamiento, </a:t>
            </a:r>
            <a:r>
              <a:rPr sz="2000" b="1" i="1" spc="-95" dirty="0">
                <a:latin typeface="Arial"/>
                <a:cs typeface="Arial"/>
              </a:rPr>
              <a:t>auditoría </a:t>
            </a:r>
            <a:r>
              <a:rPr sz="2000" b="1" i="1" spc="-175" dirty="0">
                <a:latin typeface="Arial"/>
                <a:cs typeface="Arial"/>
              </a:rPr>
              <a:t>y</a:t>
            </a:r>
            <a:r>
              <a:rPr sz="2000" b="1" i="1" spc="-165" dirty="0">
                <a:latin typeface="Arial"/>
                <a:cs typeface="Arial"/>
              </a:rPr>
              <a:t> </a:t>
            </a:r>
            <a:r>
              <a:rPr sz="2000" b="1" i="1" spc="-140" dirty="0">
                <a:latin typeface="Arial"/>
                <a:cs typeface="Arial"/>
              </a:rPr>
              <a:t>seguridad.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45176" y="1167637"/>
            <a:ext cx="1400175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000" b="1" spc="-170" dirty="0">
                <a:solidFill>
                  <a:srgbClr val="2171FF"/>
                </a:solidFill>
                <a:latin typeface="Arial"/>
                <a:cs typeface="Arial"/>
              </a:rPr>
              <a:t>Es </a:t>
            </a:r>
            <a:r>
              <a:rPr sz="1000" b="1" spc="-45" dirty="0">
                <a:solidFill>
                  <a:srgbClr val="2171FF"/>
                </a:solidFill>
                <a:latin typeface="Arial"/>
                <a:cs typeface="Arial"/>
              </a:rPr>
              <a:t>el </a:t>
            </a:r>
            <a:r>
              <a:rPr sz="1000" b="1" spc="-65" dirty="0">
                <a:solidFill>
                  <a:srgbClr val="2171FF"/>
                </a:solidFill>
                <a:latin typeface="Arial"/>
                <a:cs typeface="Arial"/>
              </a:rPr>
              <a:t>equipo </a:t>
            </a:r>
            <a:r>
              <a:rPr sz="1000" b="1" spc="-80" dirty="0">
                <a:solidFill>
                  <a:srgbClr val="2171FF"/>
                </a:solidFill>
                <a:latin typeface="Arial"/>
                <a:cs typeface="Arial"/>
              </a:rPr>
              <a:t>físico  </a:t>
            </a:r>
            <a:r>
              <a:rPr sz="1000" b="1" spc="-55" dirty="0">
                <a:solidFill>
                  <a:srgbClr val="2171FF"/>
                </a:solidFill>
                <a:latin typeface="Arial"/>
                <a:cs typeface="Arial"/>
              </a:rPr>
              <a:t>utilizado </a:t>
            </a:r>
            <a:r>
              <a:rPr sz="1000" b="1" spc="-60" dirty="0">
                <a:solidFill>
                  <a:srgbClr val="2171FF"/>
                </a:solidFill>
                <a:latin typeface="Arial"/>
                <a:cs typeface="Arial"/>
              </a:rPr>
              <a:t>para </a:t>
            </a:r>
            <a:r>
              <a:rPr sz="1000" b="1" spc="-85" dirty="0">
                <a:solidFill>
                  <a:srgbClr val="2171FF"/>
                </a:solidFill>
                <a:latin typeface="Arial"/>
                <a:cs typeface="Arial"/>
              </a:rPr>
              <a:t>las  </a:t>
            </a:r>
            <a:r>
              <a:rPr sz="1000" b="1" spc="-70" dirty="0">
                <a:solidFill>
                  <a:srgbClr val="2171FF"/>
                </a:solidFill>
                <a:latin typeface="Arial"/>
                <a:cs typeface="Arial"/>
              </a:rPr>
              <a:t>actividades </a:t>
            </a:r>
            <a:r>
              <a:rPr sz="1000" b="1" spc="-65" dirty="0">
                <a:solidFill>
                  <a:srgbClr val="2171FF"/>
                </a:solidFill>
                <a:latin typeface="Arial"/>
                <a:cs typeface="Arial"/>
              </a:rPr>
              <a:t>de </a:t>
            </a:r>
            <a:r>
              <a:rPr sz="1000" b="1" spc="-75" dirty="0">
                <a:solidFill>
                  <a:srgbClr val="2171FF"/>
                </a:solidFill>
                <a:latin typeface="Arial"/>
                <a:cs typeface="Arial"/>
              </a:rPr>
              <a:t>ingreso,  </a:t>
            </a:r>
            <a:r>
              <a:rPr sz="1000" b="1" spc="-70" dirty="0">
                <a:solidFill>
                  <a:srgbClr val="2171FF"/>
                </a:solidFill>
                <a:latin typeface="Arial"/>
                <a:cs typeface="Arial"/>
              </a:rPr>
              <a:t>procesamiento </a:t>
            </a:r>
            <a:r>
              <a:rPr sz="1000" b="1" spc="-85" dirty="0">
                <a:solidFill>
                  <a:srgbClr val="2171FF"/>
                </a:solidFill>
                <a:latin typeface="Arial"/>
                <a:cs typeface="Arial"/>
              </a:rPr>
              <a:t>y </a:t>
            </a:r>
            <a:r>
              <a:rPr sz="1000" b="1" spc="-70" dirty="0">
                <a:solidFill>
                  <a:srgbClr val="2171FF"/>
                </a:solidFill>
                <a:latin typeface="Arial"/>
                <a:cs typeface="Arial"/>
              </a:rPr>
              <a:t>salida</a:t>
            </a:r>
            <a:r>
              <a:rPr sz="1000" b="1" spc="-100" dirty="0">
                <a:solidFill>
                  <a:srgbClr val="2171FF"/>
                </a:solidFill>
                <a:latin typeface="Arial"/>
                <a:cs typeface="Arial"/>
              </a:rPr>
              <a:t> </a:t>
            </a:r>
            <a:r>
              <a:rPr sz="1000" b="1" spc="-65" dirty="0">
                <a:solidFill>
                  <a:srgbClr val="2171FF"/>
                </a:solidFill>
                <a:latin typeface="Arial"/>
                <a:cs typeface="Arial"/>
              </a:rPr>
              <a:t>de  </a:t>
            </a:r>
            <a:r>
              <a:rPr sz="1000" b="1" spc="-75" dirty="0">
                <a:solidFill>
                  <a:srgbClr val="2171FF"/>
                </a:solidFill>
                <a:latin typeface="Arial"/>
                <a:cs typeface="Arial"/>
              </a:rPr>
              <a:t>un</a:t>
            </a:r>
            <a:r>
              <a:rPr sz="1000" b="1" spc="-60" dirty="0">
                <a:solidFill>
                  <a:srgbClr val="2171FF"/>
                </a:solidFill>
                <a:latin typeface="Arial"/>
                <a:cs typeface="Arial"/>
              </a:rPr>
              <a:t> </a:t>
            </a:r>
            <a:r>
              <a:rPr sz="1000" b="1" spc="-75" dirty="0">
                <a:solidFill>
                  <a:srgbClr val="2171FF"/>
                </a:solidFill>
                <a:latin typeface="Arial"/>
                <a:cs typeface="Arial"/>
              </a:rPr>
              <a:t>SI.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26223" y="1167637"/>
            <a:ext cx="152146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000" b="1" spc="-114" dirty="0">
                <a:solidFill>
                  <a:srgbClr val="FFC000"/>
                </a:solidFill>
                <a:latin typeface="Arial"/>
                <a:cs typeface="Arial"/>
              </a:rPr>
              <a:t>Son </a:t>
            </a:r>
            <a:r>
              <a:rPr sz="1000" b="1" spc="-80" dirty="0">
                <a:solidFill>
                  <a:srgbClr val="FFC000"/>
                </a:solidFill>
                <a:latin typeface="Arial"/>
                <a:cs typeface="Arial"/>
              </a:rPr>
              <a:t>instrucciones</a:t>
            </a:r>
            <a:r>
              <a:rPr sz="1000" b="1" spc="-9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000" b="1" spc="-60" dirty="0">
                <a:solidFill>
                  <a:srgbClr val="FFC000"/>
                </a:solidFill>
                <a:latin typeface="Arial"/>
                <a:cs typeface="Arial"/>
              </a:rPr>
              <a:t>detalladas  </a:t>
            </a:r>
            <a:r>
              <a:rPr sz="1000" b="1" spc="-75" dirty="0">
                <a:solidFill>
                  <a:srgbClr val="FFC000"/>
                </a:solidFill>
                <a:latin typeface="Arial"/>
                <a:cs typeface="Arial"/>
              </a:rPr>
              <a:t>preprogramadas </a:t>
            </a:r>
            <a:r>
              <a:rPr sz="1000" b="1" spc="-70" dirty="0">
                <a:solidFill>
                  <a:srgbClr val="FFC000"/>
                </a:solidFill>
                <a:latin typeface="Arial"/>
                <a:cs typeface="Arial"/>
              </a:rPr>
              <a:t>que  </a:t>
            </a:r>
            <a:r>
              <a:rPr sz="1000" b="1" spc="-65" dirty="0">
                <a:solidFill>
                  <a:srgbClr val="FFC000"/>
                </a:solidFill>
                <a:latin typeface="Arial"/>
                <a:cs typeface="Arial"/>
              </a:rPr>
              <a:t>controlan </a:t>
            </a:r>
            <a:r>
              <a:rPr sz="1000" b="1" spc="-85" dirty="0">
                <a:solidFill>
                  <a:srgbClr val="FFC000"/>
                </a:solidFill>
                <a:latin typeface="Arial"/>
                <a:cs typeface="Arial"/>
              </a:rPr>
              <a:t>y </a:t>
            </a:r>
            <a:r>
              <a:rPr sz="1000" b="1" spc="-75" dirty="0">
                <a:solidFill>
                  <a:srgbClr val="FFC000"/>
                </a:solidFill>
                <a:latin typeface="Arial"/>
                <a:cs typeface="Arial"/>
              </a:rPr>
              <a:t>coordinan </a:t>
            </a:r>
            <a:r>
              <a:rPr sz="1000" b="1" spc="-90" dirty="0">
                <a:solidFill>
                  <a:srgbClr val="FFC000"/>
                </a:solidFill>
                <a:latin typeface="Arial"/>
                <a:cs typeface="Arial"/>
              </a:rPr>
              <a:t>los  </a:t>
            </a:r>
            <a:r>
              <a:rPr sz="1000" b="1" spc="-80" dirty="0">
                <a:solidFill>
                  <a:srgbClr val="FFC000"/>
                </a:solidFill>
                <a:latin typeface="Arial"/>
                <a:cs typeface="Arial"/>
              </a:rPr>
              <a:t>componentes </a:t>
            </a:r>
            <a:r>
              <a:rPr sz="1000" b="1" spc="-65" dirty="0">
                <a:solidFill>
                  <a:srgbClr val="FFC000"/>
                </a:solidFill>
                <a:latin typeface="Arial"/>
                <a:cs typeface="Arial"/>
              </a:rPr>
              <a:t>de </a:t>
            </a:r>
            <a:r>
              <a:rPr sz="1000" b="1" spc="-60" dirty="0">
                <a:solidFill>
                  <a:srgbClr val="FFC000"/>
                </a:solidFill>
                <a:latin typeface="Arial"/>
                <a:cs typeface="Arial"/>
              </a:rPr>
              <a:t>hardware  </a:t>
            </a:r>
            <a:r>
              <a:rPr sz="1000" b="1" spc="-55" dirty="0">
                <a:solidFill>
                  <a:srgbClr val="FFC000"/>
                </a:solidFill>
                <a:latin typeface="Arial"/>
                <a:cs typeface="Arial"/>
              </a:rPr>
              <a:t>del</a:t>
            </a:r>
            <a:r>
              <a:rPr sz="1000" b="1" spc="-6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000" b="1" spc="-75" dirty="0">
                <a:solidFill>
                  <a:srgbClr val="FFC000"/>
                </a:solidFill>
                <a:latin typeface="Arial"/>
                <a:cs typeface="Arial"/>
              </a:rPr>
              <a:t>SI.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05650" y="5165852"/>
            <a:ext cx="1485900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000" b="1" spc="-70" dirty="0">
                <a:solidFill>
                  <a:srgbClr val="00AF50"/>
                </a:solidFill>
                <a:latin typeface="Arial"/>
                <a:cs typeface="Arial"/>
              </a:rPr>
              <a:t>Incluye </a:t>
            </a:r>
            <a:r>
              <a:rPr sz="1000" b="1" spc="-40" dirty="0">
                <a:solidFill>
                  <a:srgbClr val="00AF50"/>
                </a:solidFill>
                <a:latin typeface="Arial"/>
                <a:cs typeface="Arial"/>
              </a:rPr>
              <a:t>tanto </a:t>
            </a:r>
            <a:r>
              <a:rPr sz="1000" b="1" spc="-90" dirty="0">
                <a:solidFill>
                  <a:srgbClr val="00AF50"/>
                </a:solidFill>
                <a:latin typeface="Arial"/>
                <a:cs typeface="Arial"/>
              </a:rPr>
              <a:t>los </a:t>
            </a:r>
            <a:r>
              <a:rPr sz="1000" b="1" spc="-85" dirty="0">
                <a:solidFill>
                  <a:srgbClr val="00AF50"/>
                </a:solidFill>
                <a:latin typeface="Arial"/>
                <a:cs typeface="Arial"/>
              </a:rPr>
              <a:t>medios  </a:t>
            </a:r>
            <a:r>
              <a:rPr sz="1000" b="1" spc="-90" dirty="0">
                <a:solidFill>
                  <a:srgbClr val="00AF50"/>
                </a:solidFill>
                <a:latin typeface="Arial"/>
                <a:cs typeface="Arial"/>
              </a:rPr>
              <a:t>físicos </a:t>
            </a:r>
            <a:r>
              <a:rPr sz="1000" b="1" spc="-60" dirty="0">
                <a:solidFill>
                  <a:srgbClr val="00AF50"/>
                </a:solidFill>
                <a:latin typeface="Arial"/>
                <a:cs typeface="Arial"/>
              </a:rPr>
              <a:t>para </a:t>
            </a:r>
            <a:r>
              <a:rPr sz="1000" b="1" spc="-70" dirty="0">
                <a:solidFill>
                  <a:srgbClr val="00AF50"/>
                </a:solidFill>
                <a:latin typeface="Arial"/>
                <a:cs typeface="Arial"/>
              </a:rPr>
              <a:t>almacenar  </a:t>
            </a:r>
            <a:r>
              <a:rPr sz="1000" b="1" spc="-65" dirty="0">
                <a:solidFill>
                  <a:srgbClr val="00AF50"/>
                </a:solidFill>
                <a:latin typeface="Arial"/>
                <a:cs typeface="Arial"/>
              </a:rPr>
              <a:t>datos, </a:t>
            </a:r>
            <a:r>
              <a:rPr sz="1000" b="1" spc="-60" dirty="0">
                <a:solidFill>
                  <a:srgbClr val="00AF50"/>
                </a:solidFill>
                <a:latin typeface="Arial"/>
                <a:cs typeface="Arial"/>
              </a:rPr>
              <a:t>tales </a:t>
            </a:r>
            <a:r>
              <a:rPr sz="1000" b="1" spc="-95" dirty="0">
                <a:solidFill>
                  <a:srgbClr val="00AF50"/>
                </a:solidFill>
                <a:latin typeface="Arial"/>
                <a:cs typeface="Arial"/>
              </a:rPr>
              <a:t>como </a:t>
            </a:r>
            <a:r>
              <a:rPr sz="1000" b="1" spc="-90" dirty="0">
                <a:solidFill>
                  <a:srgbClr val="00AF50"/>
                </a:solidFill>
                <a:latin typeface="Arial"/>
                <a:cs typeface="Arial"/>
              </a:rPr>
              <a:t>los </a:t>
            </a:r>
            <a:r>
              <a:rPr sz="1000" b="1" spc="-110" dirty="0">
                <a:solidFill>
                  <a:srgbClr val="00AF50"/>
                </a:solidFill>
                <a:latin typeface="Arial"/>
                <a:cs typeface="Arial"/>
              </a:rPr>
              <a:t>discos  </a:t>
            </a:r>
            <a:r>
              <a:rPr sz="1000" b="1" spc="-80" dirty="0">
                <a:solidFill>
                  <a:srgbClr val="00AF50"/>
                </a:solidFill>
                <a:latin typeface="Arial"/>
                <a:cs typeface="Arial"/>
              </a:rPr>
              <a:t>ópticos </a:t>
            </a:r>
            <a:r>
              <a:rPr sz="1000" b="1" spc="-75" dirty="0">
                <a:solidFill>
                  <a:srgbClr val="00AF50"/>
                </a:solidFill>
                <a:latin typeface="Arial"/>
                <a:cs typeface="Arial"/>
              </a:rPr>
              <a:t>o cintas, </a:t>
            </a:r>
            <a:r>
              <a:rPr sz="1000" b="1" spc="-95" dirty="0">
                <a:solidFill>
                  <a:srgbClr val="00AF50"/>
                </a:solidFill>
                <a:latin typeface="Arial"/>
                <a:cs typeface="Arial"/>
              </a:rPr>
              <a:t>como  </a:t>
            </a:r>
            <a:r>
              <a:rPr sz="1000" b="1" spc="-55" dirty="0">
                <a:solidFill>
                  <a:srgbClr val="00AF50"/>
                </a:solidFill>
                <a:latin typeface="Arial"/>
                <a:cs typeface="Arial"/>
              </a:rPr>
              <a:t>también </a:t>
            </a:r>
            <a:r>
              <a:rPr sz="1000" b="1" spc="-45" dirty="0">
                <a:solidFill>
                  <a:srgbClr val="00AF50"/>
                </a:solidFill>
                <a:latin typeface="Arial"/>
                <a:cs typeface="Arial"/>
              </a:rPr>
              <a:t>el </a:t>
            </a:r>
            <a:r>
              <a:rPr sz="1000" b="1" spc="-55" dirty="0">
                <a:solidFill>
                  <a:srgbClr val="00AF50"/>
                </a:solidFill>
                <a:latin typeface="Arial"/>
                <a:cs typeface="Arial"/>
              </a:rPr>
              <a:t>software </a:t>
            </a:r>
            <a:r>
              <a:rPr sz="1000" b="1" spc="-70" dirty="0">
                <a:solidFill>
                  <a:srgbClr val="00AF50"/>
                </a:solidFill>
                <a:latin typeface="Arial"/>
                <a:cs typeface="Arial"/>
              </a:rPr>
              <a:t>que  </a:t>
            </a:r>
            <a:r>
              <a:rPr sz="1000" b="1" spc="-60" dirty="0">
                <a:solidFill>
                  <a:srgbClr val="00AF50"/>
                </a:solidFill>
                <a:latin typeface="Arial"/>
                <a:cs typeface="Arial"/>
              </a:rPr>
              <a:t>administra </a:t>
            </a:r>
            <a:r>
              <a:rPr sz="1000" b="1" spc="-50" dirty="0">
                <a:solidFill>
                  <a:srgbClr val="00AF50"/>
                </a:solidFill>
                <a:latin typeface="Arial"/>
                <a:cs typeface="Arial"/>
              </a:rPr>
              <a:t>la </a:t>
            </a:r>
            <a:r>
              <a:rPr sz="1000" b="1" spc="-80" dirty="0">
                <a:solidFill>
                  <a:srgbClr val="00AF50"/>
                </a:solidFill>
                <a:latin typeface="Arial"/>
                <a:cs typeface="Arial"/>
              </a:rPr>
              <a:t>organización  </a:t>
            </a:r>
            <a:r>
              <a:rPr sz="1000" b="1" spc="-65" dirty="0">
                <a:solidFill>
                  <a:srgbClr val="00AF50"/>
                </a:solidFill>
                <a:latin typeface="Arial"/>
                <a:cs typeface="Arial"/>
              </a:rPr>
              <a:t>de </a:t>
            </a:r>
            <a:r>
              <a:rPr sz="1000" b="1" spc="-90" dirty="0">
                <a:solidFill>
                  <a:srgbClr val="00AF50"/>
                </a:solidFill>
                <a:latin typeface="Arial"/>
                <a:cs typeface="Arial"/>
              </a:rPr>
              <a:t>los </a:t>
            </a:r>
            <a:r>
              <a:rPr sz="1000" b="1" spc="-70" dirty="0">
                <a:solidFill>
                  <a:srgbClr val="00AF50"/>
                </a:solidFill>
                <a:latin typeface="Arial"/>
                <a:cs typeface="Arial"/>
              </a:rPr>
              <a:t>datos </a:t>
            </a:r>
            <a:r>
              <a:rPr sz="1000" b="1" spc="-65" dirty="0">
                <a:solidFill>
                  <a:srgbClr val="00AF50"/>
                </a:solidFill>
                <a:latin typeface="Arial"/>
                <a:cs typeface="Arial"/>
              </a:rPr>
              <a:t>en </a:t>
            </a:r>
            <a:r>
              <a:rPr sz="1000" b="1" spc="-90" dirty="0">
                <a:solidFill>
                  <a:srgbClr val="00AF50"/>
                </a:solidFill>
                <a:latin typeface="Arial"/>
                <a:cs typeface="Arial"/>
              </a:rPr>
              <a:t>estos  </a:t>
            </a:r>
            <a:r>
              <a:rPr sz="1000" b="1" spc="-70" dirty="0">
                <a:solidFill>
                  <a:srgbClr val="00AF50"/>
                </a:solidFill>
                <a:latin typeface="Arial"/>
                <a:cs typeface="Arial"/>
              </a:rPr>
              <a:t>medios.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61178" y="5204205"/>
            <a:ext cx="139382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1000" b="1" spc="-114" dirty="0">
                <a:solidFill>
                  <a:srgbClr val="FF0000"/>
                </a:solidFill>
                <a:latin typeface="Arial"/>
                <a:cs typeface="Arial"/>
              </a:rPr>
              <a:t>Son </a:t>
            </a:r>
            <a:r>
              <a:rPr sz="1000" b="1" spc="-80" dirty="0">
                <a:solidFill>
                  <a:srgbClr val="FF0000"/>
                </a:solidFill>
                <a:latin typeface="Arial"/>
                <a:cs typeface="Arial"/>
              </a:rPr>
              <a:t>dispositivos </a:t>
            </a:r>
            <a:r>
              <a:rPr sz="1000" b="1" spc="-95" dirty="0">
                <a:solidFill>
                  <a:srgbClr val="FF0000"/>
                </a:solidFill>
                <a:latin typeface="Arial"/>
                <a:cs typeface="Arial"/>
              </a:rPr>
              <a:t>físicos </a:t>
            </a:r>
            <a:r>
              <a:rPr sz="1000" b="1" spc="-85" dirty="0">
                <a:solidFill>
                  <a:srgbClr val="FF0000"/>
                </a:solidFill>
                <a:latin typeface="Arial"/>
                <a:cs typeface="Arial"/>
              </a:rPr>
              <a:t>y  </a:t>
            </a:r>
            <a:r>
              <a:rPr sz="1000" b="1" spc="-65" dirty="0">
                <a:solidFill>
                  <a:srgbClr val="FF0000"/>
                </a:solidFill>
                <a:latin typeface="Arial"/>
                <a:cs typeface="Arial"/>
              </a:rPr>
              <a:t>de </a:t>
            </a:r>
            <a:r>
              <a:rPr sz="1000" b="1" spc="-55" dirty="0">
                <a:solidFill>
                  <a:srgbClr val="FF0000"/>
                </a:solidFill>
                <a:latin typeface="Arial"/>
                <a:cs typeface="Arial"/>
              </a:rPr>
              <a:t>software, </a:t>
            </a:r>
            <a:r>
              <a:rPr sz="1000" b="1" spc="-70" dirty="0">
                <a:solidFill>
                  <a:srgbClr val="FF0000"/>
                </a:solidFill>
                <a:latin typeface="Arial"/>
                <a:cs typeface="Arial"/>
              </a:rPr>
              <a:t>que </a:t>
            </a:r>
            <a:r>
              <a:rPr sz="1000" b="1" spc="-75" dirty="0">
                <a:solidFill>
                  <a:srgbClr val="FF0000"/>
                </a:solidFill>
                <a:latin typeface="Arial"/>
                <a:cs typeface="Arial"/>
              </a:rPr>
              <a:t>vinculan  </a:t>
            </a:r>
            <a:r>
              <a:rPr sz="1000" b="1" spc="-90" dirty="0">
                <a:solidFill>
                  <a:srgbClr val="FF0000"/>
                </a:solidFill>
                <a:latin typeface="Arial"/>
                <a:cs typeface="Arial"/>
              </a:rPr>
              <a:t>los </a:t>
            </a:r>
            <a:r>
              <a:rPr sz="1000" b="1" spc="-65" dirty="0">
                <a:solidFill>
                  <a:srgbClr val="FF0000"/>
                </a:solidFill>
                <a:latin typeface="Arial"/>
                <a:cs typeface="Arial"/>
              </a:rPr>
              <a:t>distintos </a:t>
            </a:r>
            <a:r>
              <a:rPr sz="1000" b="1" spc="-80" dirty="0">
                <a:solidFill>
                  <a:srgbClr val="FF0000"/>
                </a:solidFill>
                <a:latin typeface="Arial"/>
                <a:cs typeface="Arial"/>
              </a:rPr>
              <a:t>dispositivos  </a:t>
            </a:r>
            <a:r>
              <a:rPr sz="1000" b="1" spc="-65" dirty="0">
                <a:solidFill>
                  <a:srgbClr val="FF0000"/>
                </a:solidFill>
                <a:latin typeface="Arial"/>
                <a:cs typeface="Arial"/>
              </a:rPr>
              <a:t>de </a:t>
            </a:r>
            <a:r>
              <a:rPr sz="1000" b="1" spc="-55" dirty="0">
                <a:solidFill>
                  <a:srgbClr val="FF0000"/>
                </a:solidFill>
                <a:latin typeface="Arial"/>
                <a:cs typeface="Arial"/>
              </a:rPr>
              <a:t>hardware </a:t>
            </a:r>
            <a:r>
              <a:rPr sz="1000" b="1" spc="-85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1000" b="1" spc="-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60" dirty="0">
                <a:solidFill>
                  <a:srgbClr val="FF0000"/>
                </a:solidFill>
                <a:latin typeface="Arial"/>
                <a:cs typeface="Arial"/>
              </a:rPr>
              <a:t>transfieran  </a:t>
            </a:r>
            <a:r>
              <a:rPr sz="1000" b="1" spc="-70" dirty="0">
                <a:solidFill>
                  <a:srgbClr val="FF0000"/>
                </a:solidFill>
                <a:latin typeface="Arial"/>
                <a:cs typeface="Arial"/>
              </a:rPr>
              <a:t>datos </a:t>
            </a:r>
            <a:r>
              <a:rPr sz="1000" b="1" spc="-65" dirty="0">
                <a:solidFill>
                  <a:srgbClr val="FF0000"/>
                </a:solidFill>
                <a:latin typeface="Arial"/>
                <a:cs typeface="Arial"/>
              </a:rPr>
              <a:t>de </a:t>
            </a:r>
            <a:r>
              <a:rPr sz="1000" b="1" spc="-75" dirty="0">
                <a:solidFill>
                  <a:srgbClr val="FF0000"/>
                </a:solidFill>
                <a:latin typeface="Arial"/>
                <a:cs typeface="Arial"/>
              </a:rPr>
              <a:t>un </a:t>
            </a:r>
            <a:r>
              <a:rPr sz="1000" b="1" spc="-70" dirty="0">
                <a:solidFill>
                  <a:srgbClr val="FF0000"/>
                </a:solidFill>
                <a:latin typeface="Arial"/>
                <a:cs typeface="Arial"/>
              </a:rPr>
              <a:t>lugar </a:t>
            </a:r>
            <a:r>
              <a:rPr sz="1000" b="1" spc="-80" dirty="0">
                <a:solidFill>
                  <a:srgbClr val="FF0000"/>
                </a:solidFill>
                <a:latin typeface="Arial"/>
                <a:cs typeface="Arial"/>
              </a:rPr>
              <a:t>físico </a:t>
            </a:r>
            <a:r>
              <a:rPr sz="1000" b="1" spc="-65" dirty="0">
                <a:solidFill>
                  <a:srgbClr val="FF0000"/>
                </a:solidFill>
                <a:latin typeface="Arial"/>
                <a:cs typeface="Arial"/>
              </a:rPr>
              <a:t>a  </a:t>
            </a:r>
            <a:r>
              <a:rPr sz="1000" b="1" spc="-35" dirty="0">
                <a:solidFill>
                  <a:srgbClr val="FF0000"/>
                </a:solidFill>
                <a:latin typeface="Arial"/>
                <a:cs typeface="Arial"/>
              </a:rPr>
              <a:t>otro.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541520" cy="22783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02105" y="919733"/>
            <a:ext cx="138366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150" dirty="0">
                <a:solidFill>
                  <a:srgbClr val="00338D"/>
                </a:solidFill>
              </a:rPr>
              <a:t>Hardware</a:t>
            </a:r>
            <a:endParaRPr sz="2600"/>
          </a:p>
        </p:txBody>
      </p:sp>
      <p:sp>
        <p:nvSpPr>
          <p:cNvPr id="5" name="object 5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1119378" y="0"/>
                </a:moveTo>
                <a:lnTo>
                  <a:pt x="334898" y="0"/>
                </a:lnTo>
                <a:lnTo>
                  <a:pt x="0" y="1160526"/>
                </a:lnTo>
                <a:lnTo>
                  <a:pt x="784479" y="1160526"/>
                </a:lnTo>
                <a:lnTo>
                  <a:pt x="111937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0" y="1160526"/>
                </a:moveTo>
                <a:lnTo>
                  <a:pt x="334898" y="0"/>
                </a:lnTo>
                <a:lnTo>
                  <a:pt x="1119378" y="0"/>
                </a:lnTo>
                <a:lnTo>
                  <a:pt x="784479" y="1160526"/>
                </a:lnTo>
                <a:lnTo>
                  <a:pt x="0" y="1160526"/>
                </a:lnTo>
                <a:close/>
              </a:path>
            </a:pathLst>
          </a:custGeom>
          <a:ln w="9906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09950" y="1247647"/>
            <a:ext cx="3225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55" dirty="0">
                <a:solidFill>
                  <a:srgbClr val="FFFFFF"/>
                </a:solidFill>
                <a:latin typeface="Arial"/>
                <a:cs typeface="Arial"/>
              </a:rPr>
              <a:t>II</a:t>
            </a:r>
            <a:endParaRPr sz="4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/>
              <a:t>– </a:t>
            </a:r>
            <a:r>
              <a:rPr spc="-114" dirty="0"/>
              <a:t>Hardware</a:t>
            </a:r>
            <a:r>
              <a:rPr spc="-215" dirty="0"/>
              <a:t> </a:t>
            </a:r>
            <a:r>
              <a:rPr spc="-1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268" y="500126"/>
            <a:ext cx="5353050" cy="5710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Hardware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360680" marR="5080" indent="-347980">
              <a:lnSpc>
                <a:spcPct val="100000"/>
              </a:lnSpc>
              <a:buFont typeface="Wingdings"/>
              <a:buChar char=""/>
              <a:tabLst>
                <a:tab pos="361315" algn="l"/>
              </a:tabLst>
            </a:pPr>
            <a:r>
              <a:rPr sz="2600" b="1" spc="-145" dirty="0">
                <a:latin typeface="Arial"/>
                <a:cs typeface="Arial"/>
              </a:rPr>
              <a:t>Informática: </a:t>
            </a:r>
            <a:r>
              <a:rPr sz="2600" spc="-120" dirty="0">
                <a:latin typeface="Arial"/>
                <a:cs typeface="Arial"/>
              </a:rPr>
              <a:t>ciencia </a:t>
            </a:r>
            <a:r>
              <a:rPr sz="2600" spc="-110" dirty="0">
                <a:latin typeface="Arial"/>
                <a:cs typeface="Arial"/>
              </a:rPr>
              <a:t>que </a:t>
            </a:r>
            <a:r>
              <a:rPr sz="2600" spc="-100" dirty="0">
                <a:latin typeface="Arial"/>
                <a:cs typeface="Arial"/>
              </a:rPr>
              <a:t>estudia </a:t>
            </a:r>
            <a:r>
              <a:rPr sz="2600" spc="-70" dirty="0">
                <a:latin typeface="Arial"/>
                <a:cs typeface="Arial"/>
              </a:rPr>
              <a:t>el  </a:t>
            </a:r>
            <a:r>
              <a:rPr sz="2600" spc="-45" dirty="0">
                <a:latin typeface="Arial"/>
                <a:cs typeface="Arial"/>
              </a:rPr>
              <a:t>tratamiento </a:t>
            </a:r>
            <a:r>
              <a:rPr sz="2600" spc="-70" dirty="0">
                <a:latin typeface="Arial"/>
                <a:cs typeface="Arial"/>
              </a:rPr>
              <a:t>automático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95" dirty="0">
                <a:latin typeface="Arial"/>
                <a:cs typeface="Arial"/>
              </a:rPr>
              <a:t>racional</a:t>
            </a:r>
            <a:r>
              <a:rPr sz="2600" spc="-290" dirty="0">
                <a:latin typeface="Arial"/>
                <a:cs typeface="Arial"/>
              </a:rPr>
              <a:t> </a:t>
            </a:r>
            <a:r>
              <a:rPr sz="2600" spc="-125" dirty="0">
                <a:latin typeface="Arial"/>
                <a:cs typeface="Arial"/>
              </a:rPr>
              <a:t>de  </a:t>
            </a:r>
            <a:r>
              <a:rPr sz="2600" spc="-95" dirty="0">
                <a:latin typeface="Arial"/>
                <a:cs typeface="Arial"/>
              </a:rPr>
              <a:t>la</a:t>
            </a:r>
            <a:r>
              <a:rPr sz="2600" spc="-140" dirty="0">
                <a:latin typeface="Arial"/>
                <a:cs typeface="Arial"/>
              </a:rPr>
              <a:t> </a:t>
            </a:r>
            <a:r>
              <a:rPr sz="2600" spc="-70" dirty="0">
                <a:latin typeface="Arial"/>
                <a:cs typeface="Arial"/>
              </a:rPr>
              <a:t>información.</a:t>
            </a:r>
            <a:endParaRPr sz="2600">
              <a:latin typeface="Arial"/>
              <a:cs typeface="Arial"/>
            </a:endParaRPr>
          </a:p>
          <a:p>
            <a:pPr marL="360680" marR="325120" indent="-347980">
              <a:lnSpc>
                <a:spcPct val="100000"/>
              </a:lnSpc>
              <a:buFont typeface="Wingdings"/>
              <a:buChar char=""/>
              <a:tabLst>
                <a:tab pos="361315" algn="l"/>
              </a:tabLst>
            </a:pPr>
            <a:r>
              <a:rPr sz="2600" b="1" spc="-204" dirty="0">
                <a:latin typeface="Arial"/>
                <a:cs typeface="Arial"/>
              </a:rPr>
              <a:t>Aplicación </a:t>
            </a:r>
            <a:r>
              <a:rPr sz="2600" b="1" spc="-150" dirty="0">
                <a:latin typeface="Arial"/>
                <a:cs typeface="Arial"/>
              </a:rPr>
              <a:t>informática: </a:t>
            </a:r>
            <a:r>
              <a:rPr sz="2600" spc="-135" dirty="0">
                <a:latin typeface="Arial"/>
                <a:cs typeface="Arial"/>
              </a:rPr>
              <a:t>programas  </a:t>
            </a:r>
            <a:r>
              <a:rPr sz="2600" spc="-110" dirty="0">
                <a:latin typeface="Arial"/>
                <a:cs typeface="Arial"/>
              </a:rPr>
              <a:t>que </a:t>
            </a:r>
            <a:r>
              <a:rPr sz="2600" spc="-120" dirty="0">
                <a:latin typeface="Arial"/>
                <a:cs typeface="Arial"/>
              </a:rPr>
              <a:t>realizan </a:t>
            </a:r>
            <a:r>
              <a:rPr sz="2600" spc="-125" dirty="0">
                <a:latin typeface="Arial"/>
                <a:cs typeface="Arial"/>
              </a:rPr>
              <a:t>una </a:t>
            </a:r>
            <a:r>
              <a:rPr sz="2600" spc="-65" dirty="0">
                <a:latin typeface="Arial"/>
                <a:cs typeface="Arial"/>
              </a:rPr>
              <a:t>función  </a:t>
            </a:r>
            <a:r>
              <a:rPr sz="2600" spc="-85" dirty="0">
                <a:latin typeface="Arial"/>
                <a:cs typeface="Arial"/>
              </a:rPr>
              <a:t>determinada.</a:t>
            </a:r>
            <a:endParaRPr sz="2600">
              <a:latin typeface="Arial"/>
              <a:cs typeface="Arial"/>
            </a:endParaRPr>
          </a:p>
          <a:p>
            <a:pPr marL="360680" marR="661670" indent="-347980">
              <a:lnSpc>
                <a:spcPct val="100000"/>
              </a:lnSpc>
              <a:buFont typeface="Wingdings"/>
              <a:buChar char=""/>
              <a:tabLst>
                <a:tab pos="361315" algn="l"/>
              </a:tabLst>
            </a:pPr>
            <a:r>
              <a:rPr sz="2600" b="1" spc="-225" dirty="0">
                <a:latin typeface="Arial"/>
                <a:cs typeface="Arial"/>
              </a:rPr>
              <a:t>Sistema </a:t>
            </a:r>
            <a:r>
              <a:rPr sz="2600" b="1" spc="-150" dirty="0">
                <a:latin typeface="Arial"/>
                <a:cs typeface="Arial"/>
              </a:rPr>
              <a:t>Informático: </a:t>
            </a:r>
            <a:r>
              <a:rPr sz="2600" spc="-100" dirty="0">
                <a:latin typeface="Arial"/>
                <a:cs typeface="Arial"/>
              </a:rPr>
              <a:t>elementos  </a:t>
            </a:r>
            <a:r>
              <a:rPr sz="2600" spc="-145" dirty="0">
                <a:latin typeface="Arial"/>
                <a:cs typeface="Arial"/>
              </a:rPr>
              <a:t>necesarios </a:t>
            </a:r>
            <a:r>
              <a:rPr sz="2600" spc="-130" dirty="0">
                <a:latin typeface="Arial"/>
                <a:cs typeface="Arial"/>
              </a:rPr>
              <a:t>para </a:t>
            </a:r>
            <a:r>
              <a:rPr sz="2600" spc="-95" dirty="0">
                <a:latin typeface="Arial"/>
                <a:cs typeface="Arial"/>
              </a:rPr>
              <a:t>la </a:t>
            </a:r>
            <a:r>
              <a:rPr sz="2600" spc="-110" dirty="0">
                <a:latin typeface="Arial"/>
                <a:cs typeface="Arial"/>
              </a:rPr>
              <a:t>realización </a:t>
            </a:r>
            <a:r>
              <a:rPr sz="2600" spc="-125" dirty="0">
                <a:latin typeface="Arial"/>
                <a:cs typeface="Arial"/>
              </a:rPr>
              <a:t>y  </a:t>
            </a:r>
            <a:r>
              <a:rPr sz="2600" spc="-90" dirty="0">
                <a:latin typeface="Arial"/>
                <a:cs typeface="Arial"/>
              </a:rPr>
              <a:t>explotación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u="heavy" spc="-1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aplicaciones  </a:t>
            </a:r>
            <a:r>
              <a:rPr sz="2600" u="heavy" spc="-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informáticas</a:t>
            </a:r>
            <a:r>
              <a:rPr sz="2600" spc="-85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 marL="360680" marR="152400" indent="-347980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361315" algn="l"/>
              </a:tabLst>
            </a:pPr>
            <a:r>
              <a:rPr sz="2600" b="1" spc="-160" dirty="0">
                <a:latin typeface="Arial"/>
                <a:cs typeface="Arial"/>
              </a:rPr>
              <a:t>Hardware: </a:t>
            </a:r>
            <a:r>
              <a:rPr sz="2600" spc="-100" dirty="0">
                <a:latin typeface="Arial"/>
                <a:cs typeface="Arial"/>
              </a:rPr>
              <a:t>elementos </a:t>
            </a:r>
            <a:r>
              <a:rPr sz="2600" spc="-135" dirty="0">
                <a:latin typeface="Arial"/>
                <a:cs typeface="Arial"/>
              </a:rPr>
              <a:t>físicos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90" dirty="0">
                <a:latin typeface="Arial"/>
                <a:cs typeface="Arial"/>
              </a:rPr>
              <a:t>un </a:t>
            </a:r>
            <a:r>
              <a:rPr sz="2600" u="heavy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600" u="heavy" spc="-1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sistema </a:t>
            </a:r>
            <a:r>
              <a:rPr sz="2600" u="heavy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informático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spc="-110" dirty="0">
                <a:latin typeface="Arial"/>
                <a:cs typeface="Arial"/>
              </a:rPr>
              <a:t>(computadoras,  </a:t>
            </a:r>
            <a:r>
              <a:rPr sz="2600" spc="-85" dirty="0">
                <a:latin typeface="Arial"/>
                <a:cs typeface="Arial"/>
              </a:rPr>
              <a:t>periféricos,</a:t>
            </a:r>
            <a:r>
              <a:rPr sz="2600" spc="-125" dirty="0">
                <a:latin typeface="Arial"/>
                <a:cs typeface="Arial"/>
              </a:rPr>
              <a:t> </a:t>
            </a:r>
            <a:r>
              <a:rPr sz="2600" spc="-80" dirty="0">
                <a:latin typeface="Arial"/>
                <a:cs typeface="Arial"/>
              </a:rPr>
              <a:t>etc...).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67400" y="1143000"/>
            <a:ext cx="2976372" cy="2362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96000" y="3652265"/>
            <a:ext cx="2444425" cy="2748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15</a:t>
            </a:fld>
            <a:endParaRPr spc="-5" dirty="0"/>
          </a:p>
        </p:txBody>
      </p:sp>
      <p:sp>
        <p:nvSpPr>
          <p:cNvPr id="8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29959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/>
              <a:t>– </a:t>
            </a:r>
            <a:r>
              <a:rPr spc="-114" dirty="0"/>
              <a:t>Hardware</a:t>
            </a:r>
            <a:r>
              <a:rPr spc="-155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05" dirty="0">
                <a:latin typeface="Arial"/>
                <a:cs typeface="Arial"/>
              </a:rPr>
              <a:t>Conceptos </a:t>
            </a:r>
            <a:r>
              <a:rPr sz="1800" b="0" spc="-114" dirty="0">
                <a:latin typeface="Arial"/>
                <a:cs typeface="Arial"/>
              </a:rPr>
              <a:t>básicos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70" dirty="0">
                <a:latin typeface="Arial"/>
                <a:cs typeface="Arial"/>
              </a:rPr>
              <a:t> </a:t>
            </a:r>
            <a:r>
              <a:rPr sz="1800" b="0" spc="-75" dirty="0">
                <a:latin typeface="Arial"/>
                <a:cs typeface="Arial"/>
              </a:rPr>
              <a:t>Hardware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0448" y="1105011"/>
            <a:ext cx="4012885" cy="16621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5180" y="4211609"/>
            <a:ext cx="4399081" cy="21996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56232" y="2975606"/>
            <a:ext cx="4079734" cy="16108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00600" y="1117091"/>
            <a:ext cx="1962150" cy="16788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4508" y="2845307"/>
            <a:ext cx="2358662" cy="125653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858000" y="1143000"/>
            <a:ext cx="2048255" cy="16192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00600" y="4876800"/>
            <a:ext cx="3482390" cy="12954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16</a:t>
            </a:fld>
            <a:endParaRPr spc="-5" dirty="0"/>
          </a:p>
        </p:txBody>
      </p:sp>
      <p:sp>
        <p:nvSpPr>
          <p:cNvPr id="12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/>
              <a:t>– </a:t>
            </a:r>
            <a:r>
              <a:rPr spc="-114" dirty="0"/>
              <a:t>Hardware</a:t>
            </a:r>
            <a:r>
              <a:rPr spc="-215" dirty="0"/>
              <a:t> </a:t>
            </a:r>
            <a:r>
              <a:rPr spc="-110" dirty="0"/>
              <a:t>(Cont.)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17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9268" y="500126"/>
            <a:ext cx="8615045" cy="5314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básicos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Hardware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360680" marR="5080" indent="-347980" algn="just">
              <a:lnSpc>
                <a:spcPct val="100000"/>
              </a:lnSpc>
              <a:buFont typeface="Wingdings"/>
              <a:buChar char=""/>
              <a:tabLst>
                <a:tab pos="361315" algn="l"/>
              </a:tabLst>
            </a:pPr>
            <a:r>
              <a:rPr sz="2600" spc="-245" dirty="0">
                <a:latin typeface="Arial"/>
                <a:cs typeface="Arial"/>
              </a:rPr>
              <a:t>Los </a:t>
            </a:r>
            <a:r>
              <a:rPr sz="2600" spc="-140" dirty="0">
                <a:latin typeface="Arial"/>
                <a:cs typeface="Arial"/>
              </a:rPr>
              <a:t>Gerentes </a:t>
            </a:r>
            <a:r>
              <a:rPr sz="2600" spc="-120" dirty="0">
                <a:latin typeface="Arial"/>
                <a:cs typeface="Arial"/>
              </a:rPr>
              <a:t>deben </a:t>
            </a:r>
            <a:r>
              <a:rPr sz="2600" spc="-95" dirty="0">
                <a:latin typeface="Arial"/>
                <a:cs typeface="Arial"/>
              </a:rPr>
              <a:t>comprender </a:t>
            </a:r>
            <a:r>
              <a:rPr sz="2600" spc="-160" dirty="0">
                <a:latin typeface="Arial"/>
                <a:cs typeface="Arial"/>
              </a:rPr>
              <a:t>las </a:t>
            </a:r>
            <a:r>
              <a:rPr sz="2600" spc="-180" dirty="0">
                <a:latin typeface="Arial"/>
                <a:cs typeface="Arial"/>
              </a:rPr>
              <a:t>Tecnologías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95" dirty="0">
                <a:latin typeface="Arial"/>
                <a:cs typeface="Arial"/>
              </a:rPr>
              <a:t>hardware  </a:t>
            </a:r>
            <a:r>
              <a:rPr sz="2600" spc="-120" dirty="0">
                <a:latin typeface="Arial"/>
                <a:cs typeface="Arial"/>
              </a:rPr>
              <a:t>como </a:t>
            </a:r>
            <a:r>
              <a:rPr sz="2600" spc="-80" dirty="0">
                <a:latin typeface="Arial"/>
                <a:cs typeface="Arial"/>
              </a:rPr>
              <a:t>alternativas </a:t>
            </a:r>
            <a:r>
              <a:rPr sz="2600" spc="-105" dirty="0">
                <a:latin typeface="Arial"/>
                <a:cs typeface="Arial"/>
              </a:rPr>
              <a:t>disponibles </a:t>
            </a:r>
            <a:r>
              <a:rPr sz="2600" spc="-125" dirty="0">
                <a:latin typeface="Arial"/>
                <a:cs typeface="Arial"/>
              </a:rPr>
              <a:t>para procesar y </a:t>
            </a:r>
            <a:r>
              <a:rPr sz="2600" spc="-120" dirty="0">
                <a:latin typeface="Arial"/>
                <a:cs typeface="Arial"/>
              </a:rPr>
              <a:t>almacenar </a:t>
            </a:r>
            <a:r>
              <a:rPr sz="2600" spc="-95" dirty="0">
                <a:latin typeface="Arial"/>
                <a:cs typeface="Arial"/>
              </a:rPr>
              <a:t>la  </a:t>
            </a:r>
            <a:r>
              <a:rPr sz="2600" spc="-70" dirty="0">
                <a:latin typeface="Arial"/>
                <a:cs typeface="Arial"/>
              </a:rPr>
              <a:t>información,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25" dirty="0">
                <a:latin typeface="Arial"/>
                <a:cs typeface="Arial"/>
              </a:rPr>
              <a:t>manera </a:t>
            </a:r>
            <a:r>
              <a:rPr sz="2600" spc="-110" dirty="0">
                <a:latin typeface="Arial"/>
                <a:cs typeface="Arial"/>
              </a:rPr>
              <a:t>que </a:t>
            </a:r>
            <a:r>
              <a:rPr sz="2600" spc="-120" dirty="0">
                <a:latin typeface="Arial"/>
                <a:cs typeface="Arial"/>
              </a:rPr>
              <a:t>puedan seleccionar </a:t>
            </a:r>
            <a:r>
              <a:rPr sz="2600" spc="-160" dirty="0">
                <a:latin typeface="Arial"/>
                <a:cs typeface="Arial"/>
              </a:rPr>
              <a:t>las  </a:t>
            </a:r>
            <a:r>
              <a:rPr sz="2600" spc="-120" dirty="0">
                <a:latin typeface="Arial"/>
                <a:cs typeface="Arial"/>
              </a:rPr>
              <a:t>tecnologías </a:t>
            </a:r>
            <a:r>
              <a:rPr sz="2600" spc="-110" dirty="0">
                <a:latin typeface="Arial"/>
                <a:cs typeface="Arial"/>
              </a:rPr>
              <a:t>correctas </a:t>
            </a:r>
            <a:r>
              <a:rPr sz="2600" spc="-130" dirty="0">
                <a:latin typeface="Arial"/>
                <a:cs typeface="Arial"/>
              </a:rPr>
              <a:t>para </a:t>
            </a:r>
            <a:r>
              <a:rPr sz="2600" spc="-190" dirty="0">
                <a:latin typeface="Arial"/>
                <a:cs typeface="Arial"/>
              </a:rPr>
              <a:t>su </a:t>
            </a:r>
            <a:r>
              <a:rPr sz="2600" spc="-120" dirty="0">
                <a:latin typeface="Arial"/>
                <a:cs typeface="Arial"/>
              </a:rPr>
              <a:t>organización. </a:t>
            </a:r>
            <a:r>
              <a:rPr sz="2600" spc="-245" dirty="0">
                <a:latin typeface="Arial"/>
                <a:cs typeface="Arial"/>
              </a:rPr>
              <a:t>Los </a:t>
            </a:r>
            <a:r>
              <a:rPr sz="2600" spc="-105" dirty="0">
                <a:latin typeface="Arial"/>
                <a:cs typeface="Arial"/>
              </a:rPr>
              <a:t>modernos  </a:t>
            </a:r>
            <a:r>
              <a:rPr sz="2600" spc="-155" dirty="0">
                <a:latin typeface="Arial"/>
                <a:cs typeface="Arial"/>
              </a:rPr>
              <a:t>sistemas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80" dirty="0">
                <a:latin typeface="Arial"/>
                <a:cs typeface="Arial"/>
              </a:rPr>
              <a:t>cómputo </a:t>
            </a:r>
            <a:r>
              <a:rPr sz="2600" spc="-55" dirty="0">
                <a:latin typeface="Arial"/>
                <a:cs typeface="Arial"/>
              </a:rPr>
              <a:t>tienen </a:t>
            </a:r>
            <a:r>
              <a:rPr sz="2600" spc="-130" dirty="0">
                <a:latin typeface="Arial"/>
                <a:cs typeface="Arial"/>
              </a:rPr>
              <a:t>6 </a:t>
            </a:r>
            <a:r>
              <a:rPr sz="2600" spc="-114" dirty="0">
                <a:latin typeface="Arial"/>
                <a:cs typeface="Arial"/>
              </a:rPr>
              <a:t>componentes</a:t>
            </a:r>
            <a:r>
              <a:rPr sz="2600" spc="-275" dirty="0">
                <a:latin typeface="Arial"/>
                <a:cs typeface="Arial"/>
              </a:rPr>
              <a:t> </a:t>
            </a:r>
            <a:r>
              <a:rPr sz="2600" spc="-90" dirty="0">
                <a:latin typeface="Arial"/>
                <a:cs typeface="Arial"/>
              </a:rPr>
              <a:t>principales: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/>
              <a:buChar char=""/>
            </a:pPr>
            <a:endParaRPr sz="2700">
              <a:latin typeface="Times New Roman"/>
              <a:cs typeface="Times New Roman"/>
            </a:endParaRPr>
          </a:p>
          <a:p>
            <a:pPr marL="927100" lvl="1" indent="-457200">
              <a:lnSpc>
                <a:spcPct val="100000"/>
              </a:lnSpc>
              <a:buAutoNum type="arabicPeriod"/>
              <a:tabLst>
                <a:tab pos="927100" algn="l"/>
                <a:tab pos="927735" algn="l"/>
              </a:tabLst>
            </a:pPr>
            <a:r>
              <a:rPr sz="2600" b="1" spc="-175" dirty="0">
                <a:latin typeface="Arial"/>
                <a:cs typeface="Arial"/>
              </a:rPr>
              <a:t>Unidad </a:t>
            </a:r>
            <a:r>
              <a:rPr sz="2600" b="1" spc="-160" dirty="0">
                <a:latin typeface="Arial"/>
                <a:cs typeface="Arial"/>
              </a:rPr>
              <a:t>central </a:t>
            </a:r>
            <a:r>
              <a:rPr sz="2600" b="1" spc="-170" dirty="0">
                <a:latin typeface="Arial"/>
                <a:cs typeface="Arial"/>
              </a:rPr>
              <a:t>de </a:t>
            </a:r>
            <a:r>
              <a:rPr sz="2600" b="1" spc="-185" dirty="0">
                <a:latin typeface="Arial"/>
                <a:cs typeface="Arial"/>
              </a:rPr>
              <a:t>procesamiento</a:t>
            </a:r>
            <a:r>
              <a:rPr sz="2600" b="1" spc="40" dirty="0">
                <a:latin typeface="Arial"/>
                <a:cs typeface="Arial"/>
              </a:rPr>
              <a:t> </a:t>
            </a:r>
            <a:r>
              <a:rPr sz="2600" b="1" spc="-229" dirty="0">
                <a:latin typeface="Arial"/>
                <a:cs typeface="Arial"/>
              </a:rPr>
              <a:t>(CPU)</a:t>
            </a:r>
            <a:endParaRPr sz="26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927100" algn="l"/>
                <a:tab pos="927735" algn="l"/>
              </a:tabLst>
            </a:pPr>
            <a:r>
              <a:rPr sz="2600" b="1" spc="-175" dirty="0">
                <a:latin typeface="Arial"/>
                <a:cs typeface="Arial"/>
              </a:rPr>
              <a:t>Almacenamiento</a:t>
            </a:r>
            <a:r>
              <a:rPr sz="2600" b="1" spc="-110" dirty="0">
                <a:latin typeface="Arial"/>
                <a:cs typeface="Arial"/>
              </a:rPr>
              <a:t> </a:t>
            </a:r>
            <a:r>
              <a:rPr sz="2600" b="1" spc="-165" dirty="0">
                <a:latin typeface="Arial"/>
                <a:cs typeface="Arial"/>
              </a:rPr>
              <a:t>principal</a:t>
            </a:r>
            <a:endParaRPr sz="26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AutoNum type="arabicPeriod"/>
              <a:tabLst>
                <a:tab pos="927100" algn="l"/>
                <a:tab pos="927735" algn="l"/>
              </a:tabLst>
            </a:pPr>
            <a:r>
              <a:rPr sz="2600" b="1" spc="-215" dirty="0">
                <a:latin typeface="Arial"/>
                <a:cs typeface="Arial"/>
              </a:rPr>
              <a:t>Dispositivos </a:t>
            </a:r>
            <a:r>
              <a:rPr sz="2600" b="1" spc="-170" dirty="0">
                <a:latin typeface="Arial"/>
                <a:cs typeface="Arial"/>
              </a:rPr>
              <a:t>de</a:t>
            </a:r>
            <a:r>
              <a:rPr sz="2600" b="1" spc="-25" dirty="0">
                <a:latin typeface="Arial"/>
                <a:cs typeface="Arial"/>
              </a:rPr>
              <a:t> </a:t>
            </a:r>
            <a:r>
              <a:rPr sz="2600" b="1" spc="-145" dirty="0">
                <a:latin typeface="Arial"/>
                <a:cs typeface="Arial"/>
              </a:rPr>
              <a:t>entrada</a:t>
            </a:r>
            <a:endParaRPr sz="26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AutoNum type="arabicPeriod"/>
              <a:tabLst>
                <a:tab pos="927100" algn="l"/>
                <a:tab pos="927735" algn="l"/>
              </a:tabLst>
            </a:pPr>
            <a:r>
              <a:rPr sz="2600" b="1" spc="-215" dirty="0">
                <a:latin typeface="Arial"/>
                <a:cs typeface="Arial"/>
              </a:rPr>
              <a:t>Dispositivos </a:t>
            </a:r>
            <a:r>
              <a:rPr sz="2600" b="1" spc="-170" dirty="0">
                <a:latin typeface="Arial"/>
                <a:cs typeface="Arial"/>
              </a:rPr>
              <a:t>de</a:t>
            </a:r>
            <a:r>
              <a:rPr sz="2600" b="1" spc="-25" dirty="0">
                <a:latin typeface="Arial"/>
                <a:cs typeface="Arial"/>
              </a:rPr>
              <a:t> </a:t>
            </a:r>
            <a:r>
              <a:rPr sz="2600" b="1" spc="-185" dirty="0">
                <a:latin typeface="Arial"/>
                <a:cs typeface="Arial"/>
              </a:rPr>
              <a:t>salida</a:t>
            </a:r>
            <a:endParaRPr sz="26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AutoNum type="arabicPeriod"/>
              <a:tabLst>
                <a:tab pos="927100" algn="l"/>
                <a:tab pos="927735" algn="l"/>
              </a:tabLst>
            </a:pPr>
            <a:r>
              <a:rPr sz="2600" b="1" spc="-175" dirty="0">
                <a:latin typeface="Arial"/>
                <a:cs typeface="Arial"/>
              </a:rPr>
              <a:t>Almacenamiento</a:t>
            </a:r>
            <a:r>
              <a:rPr sz="2600" b="1" spc="-110" dirty="0">
                <a:latin typeface="Arial"/>
                <a:cs typeface="Arial"/>
              </a:rPr>
              <a:t> </a:t>
            </a:r>
            <a:r>
              <a:rPr sz="2600" b="1" spc="-204" dirty="0">
                <a:latin typeface="Arial"/>
                <a:cs typeface="Arial"/>
              </a:rPr>
              <a:t>secundario</a:t>
            </a:r>
            <a:endParaRPr sz="26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AutoNum type="arabicPeriod"/>
              <a:tabLst>
                <a:tab pos="927100" algn="l"/>
                <a:tab pos="927735" algn="l"/>
              </a:tabLst>
            </a:pPr>
            <a:r>
              <a:rPr sz="2600" b="1" spc="-215" dirty="0">
                <a:latin typeface="Arial"/>
                <a:cs typeface="Arial"/>
              </a:rPr>
              <a:t>Dispositivos </a:t>
            </a:r>
            <a:r>
              <a:rPr sz="2600" b="1" spc="-170" dirty="0">
                <a:latin typeface="Arial"/>
                <a:cs typeface="Arial"/>
              </a:rPr>
              <a:t>de</a:t>
            </a:r>
            <a:r>
              <a:rPr sz="2600" b="1" spc="-25" dirty="0">
                <a:latin typeface="Arial"/>
                <a:cs typeface="Arial"/>
              </a:rPr>
              <a:t> </a:t>
            </a:r>
            <a:r>
              <a:rPr sz="2600" b="1" spc="-220" dirty="0">
                <a:latin typeface="Arial"/>
                <a:cs typeface="Arial"/>
              </a:rPr>
              <a:t>comunicación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77000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29959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/>
              <a:t>– </a:t>
            </a:r>
            <a:r>
              <a:rPr spc="-114" dirty="0"/>
              <a:t>Hardware</a:t>
            </a:r>
            <a:r>
              <a:rPr spc="-155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05" dirty="0">
                <a:latin typeface="Arial"/>
                <a:cs typeface="Arial"/>
              </a:rPr>
              <a:t>Conceptos </a:t>
            </a:r>
            <a:r>
              <a:rPr sz="1800" b="0" spc="-114" dirty="0">
                <a:latin typeface="Arial"/>
                <a:cs typeface="Arial"/>
              </a:rPr>
              <a:t>básicos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70" dirty="0">
                <a:latin typeface="Arial"/>
                <a:cs typeface="Arial"/>
              </a:rPr>
              <a:t> </a:t>
            </a:r>
            <a:r>
              <a:rPr sz="1800" b="0" spc="-75" dirty="0">
                <a:latin typeface="Arial"/>
                <a:cs typeface="Arial"/>
              </a:rPr>
              <a:t>Hardware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31391" y="1162229"/>
            <a:ext cx="6743700" cy="42625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52777" y="5570604"/>
            <a:ext cx="980407" cy="7037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18153" y="5410200"/>
            <a:ext cx="858774" cy="990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60491" y="5588508"/>
            <a:ext cx="905256" cy="7239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18</a:t>
            </a:fld>
            <a:endParaRPr spc="-5" dirty="0"/>
          </a:p>
        </p:txBody>
      </p:sp>
      <p:sp>
        <p:nvSpPr>
          <p:cNvPr id="9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544659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29959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/>
              <a:t>– </a:t>
            </a:r>
            <a:r>
              <a:rPr spc="-114" dirty="0"/>
              <a:t>Hardware</a:t>
            </a:r>
            <a:r>
              <a:rPr spc="-155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05" dirty="0">
                <a:latin typeface="Arial"/>
                <a:cs typeface="Arial"/>
              </a:rPr>
              <a:t>Conceptos </a:t>
            </a:r>
            <a:r>
              <a:rPr sz="1800" b="0" spc="-114" dirty="0">
                <a:latin typeface="Arial"/>
                <a:cs typeface="Arial"/>
              </a:rPr>
              <a:t>básicos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70" dirty="0">
                <a:latin typeface="Arial"/>
                <a:cs typeface="Arial"/>
              </a:rPr>
              <a:t> </a:t>
            </a:r>
            <a:r>
              <a:rPr sz="1800" b="0" spc="-75" dirty="0">
                <a:latin typeface="Arial"/>
                <a:cs typeface="Arial"/>
              </a:rPr>
              <a:t>Hardware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19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90322" y="1037844"/>
            <a:ext cx="8562975" cy="368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marR="5080" indent="-347345" algn="just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60680" algn="l"/>
              </a:tabLst>
            </a:pPr>
            <a:r>
              <a:rPr sz="2000" b="1" spc="-135" dirty="0">
                <a:latin typeface="Arial"/>
                <a:cs typeface="Arial"/>
              </a:rPr>
              <a:t>Unidad </a:t>
            </a:r>
            <a:r>
              <a:rPr sz="2000" b="1" spc="-120" dirty="0">
                <a:latin typeface="Arial"/>
                <a:cs typeface="Arial"/>
              </a:rPr>
              <a:t>central </a:t>
            </a:r>
            <a:r>
              <a:rPr sz="2000" b="1" spc="-130" dirty="0">
                <a:latin typeface="Arial"/>
                <a:cs typeface="Arial"/>
              </a:rPr>
              <a:t>de </a:t>
            </a:r>
            <a:r>
              <a:rPr sz="2000" b="1" spc="-145" dirty="0">
                <a:latin typeface="Arial"/>
                <a:cs typeface="Arial"/>
              </a:rPr>
              <a:t>procesamiento </a:t>
            </a:r>
            <a:r>
              <a:rPr sz="2000" b="1" spc="-170" dirty="0">
                <a:latin typeface="Arial"/>
                <a:cs typeface="Arial"/>
              </a:rPr>
              <a:t>(CPU): </a:t>
            </a:r>
            <a:r>
              <a:rPr sz="2000" spc="-165" dirty="0">
                <a:latin typeface="Arial"/>
                <a:cs typeface="Arial"/>
              </a:rPr>
              <a:t>es </a:t>
            </a:r>
            <a:r>
              <a:rPr sz="2000" spc="-70" dirty="0">
                <a:latin typeface="Arial"/>
                <a:cs typeface="Arial"/>
              </a:rPr>
              <a:t>la </a:t>
            </a:r>
            <a:r>
              <a:rPr sz="2000" spc="-45" dirty="0">
                <a:latin typeface="Arial"/>
                <a:cs typeface="Arial"/>
              </a:rPr>
              <a:t>parte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 computadora </a:t>
            </a:r>
            <a:r>
              <a:rPr sz="2000" spc="-90" dirty="0">
                <a:latin typeface="Arial"/>
                <a:cs typeface="Arial"/>
              </a:rPr>
              <a:t>en </a:t>
            </a:r>
            <a:r>
              <a:rPr sz="2000" spc="-65" dirty="0">
                <a:latin typeface="Arial"/>
                <a:cs typeface="Arial"/>
              </a:rPr>
              <a:t>la 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170" dirty="0">
                <a:latin typeface="Arial"/>
                <a:cs typeface="Arial"/>
              </a:rPr>
              <a:t>se</a:t>
            </a:r>
            <a:r>
              <a:rPr sz="2000" spc="21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da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70" dirty="0">
                <a:latin typeface="Arial"/>
                <a:cs typeface="Arial"/>
              </a:rPr>
              <a:t>manipulación </a:t>
            </a:r>
            <a:r>
              <a:rPr sz="2000" spc="-95" dirty="0">
                <a:latin typeface="Arial"/>
                <a:cs typeface="Arial"/>
              </a:rPr>
              <a:t>de símbolos, </a:t>
            </a:r>
            <a:r>
              <a:rPr sz="2000" spc="-90" dirty="0">
                <a:latin typeface="Arial"/>
                <a:cs typeface="Arial"/>
              </a:rPr>
              <a:t>números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55" dirty="0">
                <a:latin typeface="Arial"/>
                <a:cs typeface="Arial"/>
              </a:rPr>
              <a:t>letras; </a:t>
            </a:r>
            <a:r>
              <a:rPr sz="2000" spc="-170" dirty="0">
                <a:latin typeface="Arial"/>
                <a:cs typeface="Arial"/>
              </a:rPr>
              <a:t>es </a:t>
            </a:r>
            <a:r>
              <a:rPr sz="2000" spc="-60" dirty="0">
                <a:latin typeface="Arial"/>
                <a:cs typeface="Arial"/>
              </a:rPr>
              <a:t>aquello </a:t>
            </a:r>
            <a:r>
              <a:rPr sz="2000" spc="-85" dirty="0">
                <a:latin typeface="Arial"/>
                <a:cs typeface="Arial"/>
              </a:rPr>
              <a:t>que  </a:t>
            </a:r>
            <a:r>
              <a:rPr sz="2000" spc="-55" dirty="0">
                <a:latin typeface="Arial"/>
                <a:cs typeface="Arial"/>
              </a:rPr>
              <a:t>controla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130" dirty="0">
                <a:latin typeface="Arial"/>
                <a:cs typeface="Arial"/>
              </a:rPr>
              <a:t>demás </a:t>
            </a:r>
            <a:r>
              <a:rPr sz="2000" spc="-75" dirty="0">
                <a:latin typeface="Arial"/>
                <a:cs typeface="Arial"/>
              </a:rPr>
              <a:t>partes </a:t>
            </a:r>
            <a:r>
              <a:rPr sz="2000" spc="-60" dirty="0">
                <a:latin typeface="Arial"/>
                <a:cs typeface="Arial"/>
              </a:rPr>
              <a:t>del </a:t>
            </a:r>
            <a:r>
              <a:rPr sz="2000" spc="-105" dirty="0">
                <a:latin typeface="Arial"/>
                <a:cs typeface="Arial"/>
              </a:rPr>
              <a:t>sistema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cómputo.</a:t>
            </a:r>
            <a:endParaRPr sz="2000">
              <a:latin typeface="Arial"/>
              <a:cs typeface="Arial"/>
            </a:endParaRPr>
          </a:p>
          <a:p>
            <a:pPr marL="360045" marR="5080" indent="-347345" algn="just">
              <a:lnSpc>
                <a:spcPct val="100000"/>
              </a:lnSpc>
              <a:buAutoNum type="arabicPeriod"/>
              <a:tabLst>
                <a:tab pos="360680" algn="l"/>
              </a:tabLst>
            </a:pPr>
            <a:r>
              <a:rPr sz="2000" b="1" spc="-135" dirty="0">
                <a:latin typeface="Arial"/>
                <a:cs typeface="Arial"/>
              </a:rPr>
              <a:t>Almacenamiento </a:t>
            </a:r>
            <a:r>
              <a:rPr sz="2000" b="1" spc="-125" dirty="0">
                <a:latin typeface="Arial"/>
                <a:cs typeface="Arial"/>
              </a:rPr>
              <a:t>principal: </a:t>
            </a:r>
            <a:r>
              <a:rPr sz="2000" spc="-170" dirty="0">
                <a:latin typeface="Arial"/>
                <a:cs typeface="Arial"/>
              </a:rPr>
              <a:t>es </a:t>
            </a:r>
            <a:r>
              <a:rPr sz="2000" spc="-80" dirty="0">
                <a:latin typeface="Arial"/>
                <a:cs typeface="Arial"/>
              </a:rPr>
              <a:t>donde </a:t>
            </a:r>
            <a:r>
              <a:rPr sz="2000" spc="-175" dirty="0">
                <a:latin typeface="Arial"/>
                <a:cs typeface="Arial"/>
              </a:rPr>
              <a:t>se </a:t>
            </a:r>
            <a:r>
              <a:rPr sz="2000" spc="-100" dirty="0">
                <a:latin typeface="Arial"/>
                <a:cs typeface="Arial"/>
              </a:rPr>
              <a:t>almacenan </a:t>
            </a:r>
            <a:r>
              <a:rPr sz="2000" spc="-55" dirty="0">
                <a:latin typeface="Arial"/>
                <a:cs typeface="Arial"/>
              </a:rPr>
              <a:t>temporalmente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85" dirty="0">
                <a:latin typeface="Arial"/>
                <a:cs typeface="Arial"/>
              </a:rPr>
              <a:t>datos </a:t>
            </a:r>
            <a:r>
              <a:rPr sz="2000" spc="-100" dirty="0">
                <a:latin typeface="Arial"/>
                <a:cs typeface="Arial"/>
              </a:rPr>
              <a:t>y 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75" dirty="0">
                <a:latin typeface="Arial"/>
                <a:cs typeface="Arial"/>
              </a:rPr>
              <a:t>instrucciones </a:t>
            </a:r>
            <a:r>
              <a:rPr sz="2000" spc="-60" dirty="0">
                <a:latin typeface="Arial"/>
                <a:cs typeface="Arial"/>
              </a:rPr>
              <a:t>del </a:t>
            </a:r>
            <a:r>
              <a:rPr sz="2000" spc="-90" dirty="0">
                <a:latin typeface="Arial"/>
                <a:cs typeface="Arial"/>
              </a:rPr>
              <a:t>programa </a:t>
            </a:r>
            <a:r>
              <a:rPr sz="2000" spc="-60" dirty="0">
                <a:latin typeface="Arial"/>
                <a:cs typeface="Arial"/>
              </a:rPr>
              <a:t>durante </a:t>
            </a:r>
            <a:r>
              <a:rPr sz="2000" spc="-50" dirty="0">
                <a:latin typeface="Arial"/>
                <a:cs typeface="Arial"/>
              </a:rPr>
              <a:t>el </a:t>
            </a:r>
            <a:r>
              <a:rPr sz="2000" spc="-75" dirty="0">
                <a:latin typeface="Arial"/>
                <a:cs typeface="Arial"/>
              </a:rPr>
              <a:t>procesamiento. </a:t>
            </a:r>
            <a:r>
              <a:rPr sz="2000" spc="-175" dirty="0">
                <a:latin typeface="Arial"/>
                <a:cs typeface="Arial"/>
              </a:rPr>
              <a:t>Con </a:t>
            </a:r>
            <a:r>
              <a:rPr sz="2000" spc="-50" dirty="0">
                <a:latin typeface="Arial"/>
                <a:cs typeface="Arial"/>
              </a:rPr>
              <a:t>el  </a:t>
            </a:r>
            <a:r>
              <a:rPr sz="2000" spc="-80" dirty="0">
                <a:latin typeface="Arial"/>
                <a:cs typeface="Arial"/>
              </a:rPr>
              <a:t>almacenamiento </a:t>
            </a:r>
            <a:r>
              <a:rPr sz="2000" spc="-50" dirty="0">
                <a:latin typeface="Arial"/>
                <a:cs typeface="Arial"/>
              </a:rPr>
              <a:t>principal, </a:t>
            </a:r>
            <a:r>
              <a:rPr sz="2000" spc="-175" dirty="0">
                <a:latin typeface="Arial"/>
                <a:cs typeface="Arial"/>
              </a:rPr>
              <a:t>se </a:t>
            </a:r>
            <a:r>
              <a:rPr sz="2000" spc="-45" dirty="0">
                <a:latin typeface="Arial"/>
                <a:cs typeface="Arial"/>
              </a:rPr>
              <a:t>utilizan </a:t>
            </a:r>
            <a:r>
              <a:rPr sz="2000" spc="-90" dirty="0">
                <a:latin typeface="Arial"/>
                <a:cs typeface="Arial"/>
              </a:rPr>
              <a:t>varios </a:t>
            </a:r>
            <a:r>
              <a:rPr sz="2000" spc="-45" dirty="0">
                <a:latin typeface="Arial"/>
                <a:cs typeface="Arial"/>
              </a:rPr>
              <a:t>tipos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00" dirty="0">
                <a:latin typeface="Arial"/>
                <a:cs typeface="Arial"/>
              </a:rPr>
              <a:t>chips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65" dirty="0">
                <a:latin typeface="Arial"/>
                <a:cs typeface="Arial"/>
              </a:rPr>
              <a:t>memoria  </a:t>
            </a:r>
            <a:r>
              <a:rPr sz="2000" spc="-85" dirty="0">
                <a:latin typeface="Arial"/>
                <a:cs typeface="Arial"/>
              </a:rPr>
              <a:t>semiconductores:</a:t>
            </a:r>
            <a:endParaRPr sz="2000">
              <a:latin typeface="Arial"/>
              <a:cs typeface="Arial"/>
            </a:endParaRPr>
          </a:p>
          <a:p>
            <a:pPr marL="817244" marR="5715" lvl="1" indent="-347345" algn="just">
              <a:lnSpc>
                <a:spcPct val="100000"/>
              </a:lnSpc>
              <a:buFont typeface="Arial"/>
              <a:buChar char="•"/>
              <a:tabLst>
                <a:tab pos="817880" algn="l"/>
              </a:tabLst>
            </a:pPr>
            <a:r>
              <a:rPr sz="2000" i="1" u="heavy" spc="-1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RAM </a:t>
            </a:r>
            <a:r>
              <a:rPr sz="2000" i="1" u="heavy" spc="-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(memoria </a:t>
            </a:r>
            <a:r>
              <a:rPr sz="2000" i="1" u="heavy" spc="-1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 </a:t>
            </a:r>
            <a:r>
              <a:rPr sz="2000" i="1" u="heavy" spc="-1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acceso </a:t>
            </a:r>
            <a:r>
              <a:rPr sz="2000" i="1" u="heavy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aleatorio)</a:t>
            </a:r>
            <a:r>
              <a:rPr sz="2000" spc="-45" dirty="0">
                <a:latin typeface="Arial"/>
                <a:cs typeface="Arial"/>
              </a:rPr>
              <a:t>: </a:t>
            </a:r>
            <a:r>
              <a:rPr sz="2000" spc="-170" dirty="0">
                <a:latin typeface="Arial"/>
                <a:cs typeface="Arial"/>
              </a:rPr>
              <a:t>se </a:t>
            </a:r>
            <a:r>
              <a:rPr sz="2000" spc="-45" dirty="0">
                <a:latin typeface="Arial"/>
                <a:cs typeface="Arial"/>
              </a:rPr>
              <a:t>utiliza </a:t>
            </a:r>
            <a:r>
              <a:rPr sz="2000" spc="-100" dirty="0">
                <a:latin typeface="Arial"/>
                <a:cs typeface="Arial"/>
              </a:rPr>
              <a:t>para </a:t>
            </a:r>
            <a:r>
              <a:rPr sz="2000" spc="-80" dirty="0">
                <a:latin typeface="Arial"/>
                <a:cs typeface="Arial"/>
              </a:rPr>
              <a:t>almacenamiento </a:t>
            </a:r>
            <a:r>
              <a:rPr sz="2000" spc="-160" dirty="0">
                <a:latin typeface="Arial"/>
                <a:cs typeface="Arial"/>
              </a:rPr>
              <a:t>a  </a:t>
            </a:r>
            <a:r>
              <a:rPr sz="2000" spc="-35" dirty="0">
                <a:latin typeface="Arial"/>
                <a:cs typeface="Arial"/>
              </a:rPr>
              <a:t>corto </a:t>
            </a:r>
            <a:r>
              <a:rPr sz="2000" spc="-110" dirty="0">
                <a:latin typeface="Arial"/>
                <a:cs typeface="Arial"/>
              </a:rPr>
              <a:t>plazo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datos </a:t>
            </a:r>
            <a:r>
              <a:rPr sz="2000" spc="-120" dirty="0">
                <a:latin typeface="Arial"/>
                <a:cs typeface="Arial"/>
              </a:rPr>
              <a:t>e </a:t>
            </a:r>
            <a:r>
              <a:rPr sz="2000" spc="-75" dirty="0">
                <a:latin typeface="Arial"/>
                <a:cs typeface="Arial"/>
              </a:rPr>
              <a:t>instrucciones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-17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programas.</a:t>
            </a:r>
            <a:endParaRPr sz="2000">
              <a:latin typeface="Arial"/>
              <a:cs typeface="Arial"/>
            </a:endParaRPr>
          </a:p>
          <a:p>
            <a:pPr marL="817244" marR="5715" lvl="1" indent="-347345" algn="just">
              <a:lnSpc>
                <a:spcPct val="100000"/>
              </a:lnSpc>
              <a:buFont typeface="Arial"/>
              <a:buChar char="•"/>
              <a:tabLst>
                <a:tab pos="817880" algn="l"/>
              </a:tabLst>
            </a:pPr>
            <a:r>
              <a:rPr sz="2000" i="1" u="heavy" spc="-19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ROM </a:t>
            </a:r>
            <a:r>
              <a:rPr sz="2000" i="1" u="heavy" spc="-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(memoria </a:t>
            </a:r>
            <a:r>
              <a:rPr sz="2000" i="1" u="heavy" spc="-1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 </a:t>
            </a:r>
            <a:r>
              <a:rPr sz="2000" i="1" u="heavy" spc="-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sólo </a:t>
            </a:r>
            <a:r>
              <a:rPr sz="2000" i="1" u="heavy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lectura):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almacena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00" dirty="0">
                <a:latin typeface="Arial"/>
                <a:cs typeface="Arial"/>
              </a:rPr>
              <a:t>manera </a:t>
            </a:r>
            <a:r>
              <a:rPr sz="2000" spc="-65" dirty="0">
                <a:latin typeface="Arial"/>
                <a:cs typeface="Arial"/>
              </a:rPr>
              <a:t>permanente  </a:t>
            </a:r>
            <a:r>
              <a:rPr sz="2000" spc="-75" dirty="0">
                <a:latin typeface="Arial"/>
                <a:cs typeface="Arial"/>
              </a:rPr>
              <a:t>instrucciones </a:t>
            </a:r>
            <a:r>
              <a:rPr sz="2000" spc="-50" dirty="0">
                <a:latin typeface="Arial"/>
                <a:cs typeface="Arial"/>
              </a:rPr>
              <a:t>importantes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85" dirty="0">
                <a:latin typeface="Arial"/>
                <a:cs typeface="Arial"/>
              </a:rPr>
              <a:t>programa. </a:t>
            </a:r>
            <a:r>
              <a:rPr sz="2000" spc="-215" dirty="0">
                <a:latin typeface="Arial"/>
                <a:cs typeface="Arial"/>
              </a:rPr>
              <a:t>En </a:t>
            </a:r>
            <a:r>
              <a:rPr sz="2000" spc="-110" dirty="0">
                <a:latin typeface="Arial"/>
                <a:cs typeface="Arial"/>
              </a:rPr>
              <a:t>estos </a:t>
            </a:r>
            <a:r>
              <a:rPr sz="2000" spc="-100" dirty="0">
                <a:latin typeface="Arial"/>
                <a:cs typeface="Arial"/>
              </a:rPr>
              <a:t>chips </a:t>
            </a:r>
            <a:r>
              <a:rPr sz="2000" spc="-85" dirty="0">
                <a:latin typeface="Arial"/>
                <a:cs typeface="Arial"/>
              </a:rPr>
              <a:t>sólo </a:t>
            </a:r>
            <a:r>
              <a:rPr sz="2000" spc="-175" dirty="0">
                <a:latin typeface="Arial"/>
                <a:cs typeface="Arial"/>
              </a:rPr>
              <a:t>se </a:t>
            </a:r>
            <a:r>
              <a:rPr sz="2000" spc="-85" dirty="0">
                <a:latin typeface="Arial"/>
                <a:cs typeface="Arial"/>
              </a:rPr>
              <a:t>puede </a:t>
            </a:r>
            <a:r>
              <a:rPr sz="2000" spc="-45" dirty="0">
                <a:latin typeface="Arial"/>
                <a:cs typeface="Arial"/>
              </a:rPr>
              <a:t>leer;  </a:t>
            </a:r>
            <a:r>
              <a:rPr sz="2000" spc="-65" dirty="0">
                <a:latin typeface="Arial"/>
                <a:cs typeface="Arial"/>
              </a:rPr>
              <a:t>no </a:t>
            </a:r>
            <a:r>
              <a:rPr sz="2000" spc="-175" dirty="0">
                <a:latin typeface="Arial"/>
                <a:cs typeface="Arial"/>
              </a:rPr>
              <a:t>se </a:t>
            </a:r>
            <a:r>
              <a:rPr sz="2000" spc="-85" dirty="0">
                <a:latin typeface="Arial"/>
                <a:cs typeface="Arial"/>
              </a:rPr>
              <a:t>puede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escribir.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0322" y="4696205"/>
            <a:ext cx="21755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900" algn="l"/>
                <a:tab pos="1898014" algn="l"/>
              </a:tabLst>
            </a:pPr>
            <a:r>
              <a:rPr sz="2000" b="1" spc="-65" dirty="0">
                <a:latin typeface="Arial"/>
                <a:cs typeface="Arial"/>
              </a:rPr>
              <a:t>3.	</a:t>
            </a:r>
            <a:r>
              <a:rPr sz="2000" b="1" spc="-150" dirty="0">
                <a:latin typeface="Arial"/>
                <a:cs typeface="Arial"/>
              </a:rPr>
              <a:t>Dispositi</a:t>
            </a:r>
            <a:r>
              <a:rPr sz="2000" b="1" spc="-185" dirty="0">
                <a:latin typeface="Arial"/>
                <a:cs typeface="Arial"/>
              </a:rPr>
              <a:t>v</a:t>
            </a:r>
            <a:r>
              <a:rPr sz="2000" b="1" spc="-235" dirty="0">
                <a:latin typeface="Arial"/>
                <a:cs typeface="Arial"/>
              </a:rPr>
              <a:t>os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130" dirty="0">
                <a:latin typeface="Arial"/>
                <a:cs typeface="Arial"/>
              </a:rPr>
              <a:t>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02483" y="4696205"/>
            <a:ext cx="6248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65530" algn="l"/>
                <a:tab pos="2157730" algn="l"/>
                <a:tab pos="2889250" algn="l"/>
                <a:tab pos="3165475" algn="l"/>
                <a:tab pos="3618229" algn="l"/>
                <a:tab pos="4881245" algn="l"/>
                <a:tab pos="5302885" algn="l"/>
              </a:tabLst>
            </a:pPr>
            <a:r>
              <a:rPr sz="2000" b="1" spc="-114" dirty="0">
                <a:latin typeface="Arial"/>
                <a:cs typeface="Arial"/>
              </a:rPr>
              <a:t>entrada:	</a:t>
            </a:r>
            <a:r>
              <a:rPr sz="2000" spc="-50" dirty="0">
                <a:latin typeface="Arial"/>
                <a:cs typeface="Arial"/>
              </a:rPr>
              <a:t>obtienen	</a:t>
            </a:r>
            <a:r>
              <a:rPr sz="2000" spc="-85" dirty="0">
                <a:latin typeface="Arial"/>
                <a:cs typeface="Arial"/>
              </a:rPr>
              <a:t>datos	</a:t>
            </a:r>
            <a:r>
              <a:rPr sz="2000" spc="-100" dirty="0">
                <a:latin typeface="Arial"/>
                <a:cs typeface="Arial"/>
              </a:rPr>
              <a:t>y	</a:t>
            </a:r>
            <a:r>
              <a:rPr sz="2000" spc="-90" dirty="0">
                <a:latin typeface="Arial"/>
                <a:cs typeface="Arial"/>
              </a:rPr>
              <a:t>los	</a:t>
            </a:r>
            <a:r>
              <a:rPr sz="2000" spc="-60" dirty="0">
                <a:latin typeface="Arial"/>
                <a:cs typeface="Arial"/>
              </a:rPr>
              <a:t>convierten	</a:t>
            </a:r>
            <a:r>
              <a:rPr sz="2000" spc="-95" dirty="0">
                <a:latin typeface="Arial"/>
                <a:cs typeface="Arial"/>
              </a:rPr>
              <a:t>en	</a:t>
            </a:r>
            <a:r>
              <a:rPr sz="2000" spc="-60" dirty="0">
                <a:latin typeface="Arial"/>
                <a:cs typeface="Arial"/>
              </a:rPr>
              <a:t>formatos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776" y="5001005"/>
            <a:ext cx="8106409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000" spc="-70" dirty="0">
                <a:latin typeface="Arial"/>
                <a:cs typeface="Arial"/>
              </a:rPr>
              <a:t>electrónicos </a:t>
            </a:r>
            <a:r>
              <a:rPr sz="2000" spc="-95" dirty="0">
                <a:latin typeface="Arial"/>
                <a:cs typeface="Arial"/>
              </a:rPr>
              <a:t>para </a:t>
            </a:r>
            <a:r>
              <a:rPr sz="2000" spc="-114" dirty="0">
                <a:latin typeface="Arial"/>
                <a:cs typeface="Arial"/>
              </a:rPr>
              <a:t>uso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70" dirty="0">
                <a:latin typeface="Arial"/>
                <a:cs typeface="Arial"/>
              </a:rPr>
              <a:t>computadora. </a:t>
            </a:r>
            <a:r>
              <a:rPr sz="2000" spc="-100" dirty="0">
                <a:latin typeface="Arial"/>
                <a:cs typeface="Arial"/>
              </a:rPr>
              <a:t>Ejemplos: </a:t>
            </a:r>
            <a:r>
              <a:rPr sz="2000" spc="-70" dirty="0">
                <a:latin typeface="Arial"/>
                <a:cs typeface="Arial"/>
              </a:rPr>
              <a:t>teclado, </a:t>
            </a:r>
            <a:r>
              <a:rPr sz="2000" spc="-100" dirty="0">
                <a:latin typeface="Arial"/>
                <a:cs typeface="Arial"/>
              </a:rPr>
              <a:t>mouse, </a:t>
            </a:r>
            <a:r>
              <a:rPr sz="2000" spc="-130" dirty="0">
                <a:latin typeface="Arial"/>
                <a:cs typeface="Arial"/>
              </a:rPr>
              <a:t>escáner,  </a:t>
            </a:r>
            <a:r>
              <a:rPr sz="2000" spc="-70" dirty="0">
                <a:latin typeface="Arial"/>
                <a:cs typeface="Arial"/>
              </a:rPr>
              <a:t>video, </a:t>
            </a:r>
            <a:r>
              <a:rPr sz="2000" spc="-95" dirty="0">
                <a:latin typeface="Arial"/>
                <a:cs typeface="Arial"/>
              </a:rPr>
              <a:t>plumas </a:t>
            </a:r>
            <a:r>
              <a:rPr sz="2000" spc="-70" dirty="0">
                <a:latin typeface="Arial"/>
                <a:cs typeface="Arial"/>
              </a:rPr>
              <a:t>digitales </a:t>
            </a:r>
            <a:r>
              <a:rPr sz="2000" spc="-65" dirty="0">
                <a:latin typeface="Arial"/>
                <a:cs typeface="Arial"/>
              </a:rPr>
              <a:t>u </a:t>
            </a:r>
            <a:r>
              <a:rPr sz="2000" spc="-80" dirty="0">
                <a:latin typeface="Arial"/>
                <a:cs typeface="Arial"/>
              </a:rPr>
              <a:t>ópticas, </a:t>
            </a:r>
            <a:r>
              <a:rPr sz="2000" spc="-60" dirty="0">
                <a:latin typeface="Arial"/>
                <a:cs typeface="Arial"/>
              </a:rPr>
              <a:t>pantalla </a:t>
            </a:r>
            <a:r>
              <a:rPr sz="2000" spc="-100" dirty="0">
                <a:latin typeface="Arial"/>
                <a:cs typeface="Arial"/>
              </a:rPr>
              <a:t>sensible </a:t>
            </a:r>
            <a:r>
              <a:rPr sz="2000" spc="-70" dirty="0">
                <a:latin typeface="Arial"/>
                <a:cs typeface="Arial"/>
              </a:rPr>
              <a:t>al </a:t>
            </a:r>
            <a:r>
              <a:rPr sz="2000" spc="-50" dirty="0">
                <a:latin typeface="Arial"/>
                <a:cs typeface="Arial"/>
              </a:rPr>
              <a:t>tacto, </a:t>
            </a:r>
            <a:r>
              <a:rPr sz="2000" spc="-70" dirty="0">
                <a:latin typeface="Arial"/>
                <a:cs typeface="Arial"/>
              </a:rPr>
              <a:t>entrada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70" dirty="0">
                <a:latin typeface="Arial"/>
                <a:cs typeface="Arial"/>
              </a:rPr>
              <a:t>audio,  </a:t>
            </a:r>
            <a:r>
              <a:rPr sz="2000" spc="-60" dirty="0">
                <a:latin typeface="Arial"/>
                <a:cs typeface="Arial"/>
              </a:rPr>
              <a:t>reconocimiento </a:t>
            </a:r>
            <a:r>
              <a:rPr sz="2000" spc="-40" dirty="0">
                <a:latin typeface="Arial"/>
                <a:cs typeface="Arial"/>
              </a:rPr>
              <a:t>óptico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00" dirty="0">
                <a:latin typeface="Arial"/>
                <a:cs typeface="Arial"/>
              </a:rPr>
              <a:t>caracteres, </a:t>
            </a:r>
            <a:r>
              <a:rPr sz="2000" spc="-125" dirty="0">
                <a:latin typeface="Arial"/>
                <a:cs typeface="Arial"/>
              </a:rPr>
              <a:t>sensores, </a:t>
            </a:r>
            <a:r>
              <a:rPr sz="2000" spc="-45" dirty="0">
                <a:latin typeface="Arial"/>
                <a:cs typeface="Arial"/>
              </a:rPr>
              <a:t>identificación </a:t>
            </a:r>
            <a:r>
              <a:rPr sz="2000" spc="-40" dirty="0">
                <a:latin typeface="Arial"/>
                <a:cs typeface="Arial"/>
              </a:rPr>
              <a:t>por  </a:t>
            </a:r>
            <a:r>
              <a:rPr sz="2000" spc="-70" dirty="0">
                <a:latin typeface="Arial"/>
                <a:cs typeface="Arial"/>
              </a:rPr>
              <a:t>radiofrecuencia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60" dirty="0">
                <a:latin typeface="Arial"/>
                <a:cs typeface="Arial"/>
              </a:rPr>
              <a:t>(RFID).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29959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/>
              <a:t>– </a:t>
            </a:r>
            <a:r>
              <a:rPr spc="-114" dirty="0"/>
              <a:t>Hardware</a:t>
            </a:r>
            <a:r>
              <a:rPr spc="-155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05" dirty="0">
                <a:latin typeface="Arial"/>
                <a:cs typeface="Arial"/>
              </a:rPr>
              <a:t>Conceptos </a:t>
            </a:r>
            <a:r>
              <a:rPr sz="1800" b="0" spc="-114" dirty="0">
                <a:latin typeface="Arial"/>
                <a:cs typeface="Arial"/>
              </a:rPr>
              <a:t>básicos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70" dirty="0">
                <a:latin typeface="Arial"/>
                <a:cs typeface="Arial"/>
              </a:rPr>
              <a:t> </a:t>
            </a:r>
            <a:r>
              <a:rPr sz="1800" b="0" spc="-75" dirty="0">
                <a:latin typeface="Arial"/>
                <a:cs typeface="Arial"/>
              </a:rPr>
              <a:t>Hardware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20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356864" y="1038351"/>
            <a:ext cx="11322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20" dirty="0">
                <a:latin typeface="Arial"/>
                <a:cs typeface="Arial"/>
              </a:rPr>
              <a:t>des</a:t>
            </a:r>
            <a:r>
              <a:rPr sz="2000" spc="-114" dirty="0">
                <a:latin typeface="Arial"/>
                <a:cs typeface="Arial"/>
              </a:rPr>
              <a:t>p</a:t>
            </a:r>
            <a:r>
              <a:rPr sz="2000" spc="-60" dirty="0">
                <a:latin typeface="Arial"/>
                <a:cs typeface="Arial"/>
              </a:rPr>
              <a:t>lie</a:t>
            </a:r>
            <a:r>
              <a:rPr sz="2000" spc="-125" dirty="0">
                <a:latin typeface="Arial"/>
                <a:cs typeface="Arial"/>
              </a:rPr>
              <a:t>g</a:t>
            </a:r>
            <a:r>
              <a:rPr sz="2000" spc="-110" dirty="0">
                <a:latin typeface="Arial"/>
                <a:cs typeface="Arial"/>
              </a:rPr>
              <a:t>an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32705" y="1038351"/>
            <a:ext cx="10547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2440" algn="l"/>
              </a:tabLst>
            </a:pPr>
            <a:r>
              <a:rPr sz="2000" spc="-90" dirty="0">
                <a:latin typeface="Arial"/>
                <a:cs typeface="Arial"/>
              </a:rPr>
              <a:t>los	datos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31332" y="1038351"/>
            <a:ext cx="8782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0" dirty="0">
                <a:latin typeface="Arial"/>
                <a:cs typeface="Arial"/>
              </a:rPr>
              <a:t>d</a:t>
            </a:r>
            <a:r>
              <a:rPr sz="2000" spc="-90" dirty="0">
                <a:latin typeface="Arial"/>
                <a:cs typeface="Arial"/>
              </a:rPr>
              <a:t>e</a:t>
            </a:r>
            <a:r>
              <a:rPr sz="2000" spc="-120" dirty="0">
                <a:latin typeface="Arial"/>
                <a:cs typeface="Arial"/>
              </a:rPr>
              <a:t>spu</a:t>
            </a:r>
            <a:r>
              <a:rPr sz="2000" spc="-114" dirty="0">
                <a:latin typeface="Arial"/>
                <a:cs typeface="Arial"/>
              </a:rPr>
              <a:t>é</a:t>
            </a:r>
            <a:r>
              <a:rPr sz="2000" spc="-220" dirty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53173" y="1038351"/>
            <a:ext cx="8477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1325" algn="l"/>
              </a:tabLst>
            </a:pPr>
            <a:r>
              <a:rPr sz="2000" spc="-90" dirty="0">
                <a:latin typeface="Arial"/>
                <a:cs typeface="Arial"/>
              </a:rPr>
              <a:t>d</a:t>
            </a:r>
            <a:r>
              <a:rPr sz="2000" spc="-95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85" dirty="0">
                <a:latin typeface="Arial"/>
                <a:cs typeface="Arial"/>
              </a:rPr>
              <a:t>que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322" y="1038351"/>
            <a:ext cx="34798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0045" algn="l"/>
                <a:tab pos="1793875" algn="l"/>
                <a:tab pos="2226945" algn="l"/>
              </a:tabLst>
            </a:pPr>
            <a:r>
              <a:rPr sz="2000" b="1" spc="-65" dirty="0">
                <a:latin typeface="Arial"/>
                <a:cs typeface="Arial"/>
              </a:rPr>
              <a:t>4.	</a:t>
            </a:r>
            <a:r>
              <a:rPr sz="2000" b="1" spc="-165" dirty="0">
                <a:latin typeface="Arial"/>
                <a:cs typeface="Arial"/>
              </a:rPr>
              <a:t>Dispositivos	</a:t>
            </a:r>
            <a:r>
              <a:rPr sz="2000" b="1" spc="-130" dirty="0">
                <a:latin typeface="Arial"/>
                <a:cs typeface="Arial"/>
              </a:rPr>
              <a:t>de	</a:t>
            </a:r>
            <a:r>
              <a:rPr sz="2000" b="1" spc="-140" dirty="0">
                <a:latin typeface="Arial"/>
                <a:cs typeface="Arial"/>
              </a:rPr>
              <a:t>salida:</a:t>
            </a:r>
            <a:endParaRPr sz="2000">
              <a:latin typeface="Arial"/>
              <a:cs typeface="Arial"/>
            </a:endParaRPr>
          </a:p>
          <a:p>
            <a:pPr marL="360045">
              <a:lnSpc>
                <a:spcPct val="100000"/>
              </a:lnSpc>
              <a:tabLst>
                <a:tab pos="1802764" algn="l"/>
                <a:tab pos="2345690" algn="l"/>
              </a:tabLst>
            </a:pPr>
            <a:r>
              <a:rPr sz="2000" spc="-25" dirty="0">
                <a:latin typeface="Arial"/>
                <a:cs typeface="Arial"/>
              </a:rPr>
              <a:t>p</a:t>
            </a:r>
            <a:r>
              <a:rPr sz="2000" spc="-50" dirty="0">
                <a:latin typeface="Arial"/>
                <a:cs typeface="Arial"/>
              </a:rPr>
              <a:t>r</a:t>
            </a:r>
            <a:r>
              <a:rPr sz="2000" spc="-114" dirty="0">
                <a:latin typeface="Arial"/>
                <a:cs typeface="Arial"/>
              </a:rPr>
              <a:t>oc</a:t>
            </a:r>
            <a:r>
              <a:rPr sz="2000" spc="-110" dirty="0">
                <a:latin typeface="Arial"/>
                <a:cs typeface="Arial"/>
              </a:rPr>
              <a:t>e</a:t>
            </a:r>
            <a:r>
              <a:rPr sz="2000" spc="-185" dirty="0">
                <a:latin typeface="Arial"/>
                <a:cs typeface="Arial"/>
              </a:rPr>
              <a:t>s</a:t>
            </a:r>
            <a:r>
              <a:rPr sz="2000" spc="-195" dirty="0">
                <a:latin typeface="Arial"/>
                <a:cs typeface="Arial"/>
              </a:rPr>
              <a:t>a</a:t>
            </a:r>
            <a:r>
              <a:rPr sz="2000" spc="-125" dirty="0">
                <a:latin typeface="Arial"/>
                <a:cs typeface="Arial"/>
              </a:rPr>
              <a:t>do</a:t>
            </a:r>
            <a:r>
              <a:rPr sz="2000" spc="-100" dirty="0">
                <a:latin typeface="Arial"/>
                <a:cs typeface="Arial"/>
              </a:rPr>
              <a:t>s</a:t>
            </a:r>
            <a:r>
              <a:rPr sz="2000" spc="-55" dirty="0">
                <a:latin typeface="Arial"/>
                <a:cs typeface="Arial"/>
              </a:rPr>
              <a:t>.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95" dirty="0">
                <a:latin typeface="Arial"/>
                <a:cs typeface="Arial"/>
              </a:rPr>
              <a:t>Lo</a:t>
            </a:r>
            <a:r>
              <a:rPr sz="2000" spc="-175" dirty="0">
                <a:latin typeface="Arial"/>
                <a:cs typeface="Arial"/>
              </a:rPr>
              <a:t>s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prin</a:t>
            </a:r>
            <a:r>
              <a:rPr sz="2000" spc="-160" dirty="0">
                <a:latin typeface="Arial"/>
                <a:cs typeface="Arial"/>
              </a:rPr>
              <a:t>c</a:t>
            </a:r>
            <a:r>
              <a:rPr sz="2000" spc="-60" dirty="0">
                <a:latin typeface="Arial"/>
                <a:cs typeface="Arial"/>
              </a:rPr>
              <a:t>ip</a:t>
            </a:r>
            <a:r>
              <a:rPr sz="2000" spc="-80" dirty="0">
                <a:latin typeface="Arial"/>
                <a:cs typeface="Arial"/>
              </a:rPr>
              <a:t>a</a:t>
            </a:r>
            <a:r>
              <a:rPr sz="2000" spc="-30" dirty="0">
                <a:latin typeface="Arial"/>
                <a:cs typeface="Arial"/>
              </a:rPr>
              <a:t>l</a:t>
            </a:r>
            <a:r>
              <a:rPr sz="2000" spc="-70" dirty="0">
                <a:latin typeface="Arial"/>
                <a:cs typeface="Arial"/>
              </a:rPr>
              <a:t>e</a:t>
            </a:r>
            <a:r>
              <a:rPr sz="2000" spc="-220" dirty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48938" y="1343151"/>
            <a:ext cx="44380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24305" algn="l"/>
                <a:tab pos="1889125" algn="l"/>
                <a:tab pos="2687955" algn="l"/>
                <a:tab pos="3326765" algn="l"/>
                <a:tab pos="3710304" algn="l"/>
              </a:tabLst>
            </a:pPr>
            <a:r>
              <a:rPr sz="2000" spc="-75" dirty="0">
                <a:latin typeface="Arial"/>
                <a:cs typeface="Arial"/>
              </a:rPr>
              <a:t>dispositivos	</a:t>
            </a:r>
            <a:r>
              <a:rPr sz="2000" spc="-95" dirty="0">
                <a:latin typeface="Arial"/>
                <a:cs typeface="Arial"/>
              </a:rPr>
              <a:t>de	salida	son:	</a:t>
            </a:r>
            <a:r>
              <a:rPr sz="2000" spc="-75" dirty="0">
                <a:latin typeface="Arial"/>
                <a:cs typeface="Arial"/>
              </a:rPr>
              <a:t>la	</a:t>
            </a:r>
            <a:r>
              <a:rPr sz="2000" spc="-70" dirty="0">
                <a:latin typeface="Arial"/>
                <a:cs typeface="Arial"/>
              </a:rPr>
              <a:t>unidad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44790" y="1038351"/>
            <a:ext cx="10071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  <a:tabLst>
                <a:tab pos="556895" algn="l"/>
              </a:tabLst>
            </a:pPr>
            <a:r>
              <a:rPr sz="2000" spc="-100" dirty="0">
                <a:latin typeface="Arial"/>
                <a:cs typeface="Arial"/>
              </a:rPr>
              <a:t>ha</a:t>
            </a:r>
            <a:r>
              <a:rPr sz="2000" spc="-95" dirty="0">
                <a:latin typeface="Arial"/>
                <a:cs typeface="Arial"/>
              </a:rPr>
              <a:t>n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0" dirty="0">
                <a:latin typeface="Arial"/>
                <a:cs typeface="Arial"/>
              </a:rPr>
              <a:t>sido</a:t>
            </a:r>
            <a:endParaRPr sz="20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2000" spc="-95" dirty="0">
                <a:latin typeface="Arial"/>
                <a:cs typeface="Arial"/>
              </a:rPr>
              <a:t>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0322" y="1647951"/>
            <a:ext cx="8563610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0045" marR="6985">
              <a:lnSpc>
                <a:spcPct val="100000"/>
              </a:lnSpc>
              <a:spcBef>
                <a:spcPts val="95"/>
              </a:spcBef>
            </a:pPr>
            <a:r>
              <a:rPr sz="2000" spc="-80" dirty="0">
                <a:latin typeface="Arial"/>
                <a:cs typeface="Arial"/>
              </a:rPr>
              <a:t>presentación visual, </a:t>
            </a:r>
            <a:r>
              <a:rPr sz="2000" spc="-90" dirty="0">
                <a:latin typeface="Arial"/>
                <a:cs typeface="Arial"/>
              </a:rPr>
              <a:t>impresoras, </a:t>
            </a:r>
            <a:r>
              <a:rPr sz="2000" spc="-114" dirty="0">
                <a:latin typeface="Arial"/>
                <a:cs typeface="Arial"/>
              </a:rPr>
              <a:t>salidas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65" dirty="0">
                <a:latin typeface="Arial"/>
                <a:cs typeface="Arial"/>
              </a:rPr>
              <a:t>audio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75" dirty="0">
                <a:latin typeface="Arial"/>
                <a:cs typeface="Arial"/>
              </a:rPr>
              <a:t>dispositivos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40" dirty="0">
                <a:latin typeface="Arial"/>
                <a:cs typeface="Arial"/>
              </a:rPr>
              <a:t>control  </a:t>
            </a:r>
            <a:r>
              <a:rPr sz="2000" spc="-80" dirty="0">
                <a:latin typeface="Arial"/>
                <a:cs typeface="Arial"/>
              </a:rPr>
              <a:t>físico.</a:t>
            </a:r>
            <a:endParaRPr sz="2000">
              <a:latin typeface="Arial"/>
              <a:cs typeface="Arial"/>
            </a:endParaRPr>
          </a:p>
          <a:p>
            <a:pPr marL="360045" marR="6350" indent="-347345" algn="just">
              <a:lnSpc>
                <a:spcPct val="100000"/>
              </a:lnSpc>
              <a:buAutoNum type="arabicPeriod" startAt="5"/>
              <a:tabLst>
                <a:tab pos="360680" algn="l"/>
              </a:tabLst>
            </a:pPr>
            <a:r>
              <a:rPr sz="2000" b="1" spc="-135" dirty="0">
                <a:latin typeface="Arial"/>
                <a:cs typeface="Arial"/>
              </a:rPr>
              <a:t>Almacenamiento </a:t>
            </a:r>
            <a:r>
              <a:rPr sz="2000" b="1" spc="-155" dirty="0">
                <a:latin typeface="Arial"/>
                <a:cs typeface="Arial"/>
              </a:rPr>
              <a:t>secundario: </a:t>
            </a:r>
            <a:r>
              <a:rPr sz="2000" spc="-175" dirty="0">
                <a:latin typeface="Arial"/>
                <a:cs typeface="Arial"/>
              </a:rPr>
              <a:t>se </a:t>
            </a:r>
            <a:r>
              <a:rPr sz="2000" spc="-45" dirty="0">
                <a:latin typeface="Arial"/>
                <a:cs typeface="Arial"/>
              </a:rPr>
              <a:t>utiliza </a:t>
            </a:r>
            <a:r>
              <a:rPr sz="2000" spc="-100" dirty="0">
                <a:latin typeface="Arial"/>
                <a:cs typeface="Arial"/>
              </a:rPr>
              <a:t>para </a:t>
            </a:r>
            <a:r>
              <a:rPr sz="2000" spc="-85" dirty="0">
                <a:latin typeface="Arial"/>
                <a:cs typeface="Arial"/>
              </a:rPr>
              <a:t>guardar </a:t>
            </a:r>
            <a:r>
              <a:rPr sz="2000" spc="-90" dirty="0">
                <a:latin typeface="Arial"/>
                <a:cs typeface="Arial"/>
              </a:rPr>
              <a:t>datos </a:t>
            </a:r>
            <a:r>
              <a:rPr sz="2000" spc="-60" dirty="0">
                <a:latin typeface="Arial"/>
                <a:cs typeface="Arial"/>
              </a:rPr>
              <a:t>fuera </a:t>
            </a:r>
            <a:r>
              <a:rPr sz="2000" spc="-55" dirty="0">
                <a:latin typeface="Arial"/>
                <a:cs typeface="Arial"/>
              </a:rPr>
              <a:t>del </a:t>
            </a:r>
            <a:r>
              <a:rPr sz="2000" spc="-105" dirty="0">
                <a:latin typeface="Arial"/>
                <a:cs typeface="Arial"/>
              </a:rPr>
              <a:t>área </a:t>
            </a:r>
            <a:r>
              <a:rPr sz="2000" spc="-95" dirty="0">
                <a:latin typeface="Arial"/>
                <a:cs typeface="Arial"/>
              </a:rPr>
              <a:t>de  </a:t>
            </a:r>
            <a:r>
              <a:rPr sz="2000" spc="-80" dirty="0">
                <a:latin typeface="Arial"/>
                <a:cs typeface="Arial"/>
              </a:rPr>
              <a:t>almacenamiento </a:t>
            </a:r>
            <a:r>
              <a:rPr sz="2000" spc="-50" dirty="0">
                <a:latin typeface="Arial"/>
                <a:cs typeface="Arial"/>
              </a:rPr>
              <a:t>principal </a:t>
            </a:r>
            <a:r>
              <a:rPr sz="2000" spc="-110" dirty="0">
                <a:latin typeface="Arial"/>
                <a:cs typeface="Arial"/>
              </a:rPr>
              <a:t>a, </a:t>
            </a:r>
            <a:r>
              <a:rPr sz="2000" spc="-55" dirty="0">
                <a:latin typeface="Arial"/>
                <a:cs typeface="Arial"/>
              </a:rPr>
              <a:t>relativamente, </a:t>
            </a:r>
            <a:r>
              <a:rPr sz="2000" spc="-80" dirty="0">
                <a:latin typeface="Arial"/>
                <a:cs typeface="Arial"/>
              </a:rPr>
              <a:t>largo </a:t>
            </a:r>
            <a:r>
              <a:rPr sz="2000" spc="-100" dirty="0">
                <a:latin typeface="Arial"/>
                <a:cs typeface="Arial"/>
              </a:rPr>
              <a:t>plazo. </a:t>
            </a:r>
            <a:r>
              <a:rPr sz="2000" spc="-220" dirty="0">
                <a:latin typeface="Arial"/>
                <a:cs typeface="Arial"/>
              </a:rPr>
              <a:t>Las </a:t>
            </a:r>
            <a:r>
              <a:rPr sz="2000" spc="-90" dirty="0">
                <a:latin typeface="Arial"/>
                <a:cs typeface="Arial"/>
              </a:rPr>
              <a:t>tecnologías </a:t>
            </a:r>
            <a:r>
              <a:rPr sz="2000" spc="-145" dirty="0">
                <a:latin typeface="Arial"/>
                <a:cs typeface="Arial"/>
              </a:rPr>
              <a:t>más  </a:t>
            </a:r>
            <a:r>
              <a:rPr sz="2000" spc="-50" dirty="0">
                <a:latin typeface="Arial"/>
                <a:cs typeface="Arial"/>
              </a:rPr>
              <a:t>importantes </a:t>
            </a:r>
            <a:r>
              <a:rPr sz="2000" spc="-114" dirty="0">
                <a:latin typeface="Arial"/>
                <a:cs typeface="Arial"/>
              </a:rPr>
              <a:t>son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20" dirty="0">
                <a:latin typeface="Arial"/>
                <a:cs typeface="Arial"/>
              </a:rPr>
              <a:t>discos </a:t>
            </a:r>
            <a:r>
              <a:rPr sz="2000" spc="-90" dirty="0">
                <a:latin typeface="Arial"/>
                <a:cs typeface="Arial"/>
              </a:rPr>
              <a:t>magnéticos </a:t>
            </a:r>
            <a:r>
              <a:rPr sz="2000" spc="-65" dirty="0">
                <a:latin typeface="Arial"/>
                <a:cs typeface="Arial"/>
              </a:rPr>
              <a:t>(flexibles </a:t>
            </a:r>
            <a:r>
              <a:rPr sz="2000" spc="-60" dirty="0">
                <a:latin typeface="Arial"/>
                <a:cs typeface="Arial"/>
              </a:rPr>
              <a:t>o </a:t>
            </a:r>
            <a:r>
              <a:rPr sz="2000" spc="-80" dirty="0">
                <a:latin typeface="Arial"/>
                <a:cs typeface="Arial"/>
              </a:rPr>
              <a:t>duros), </a:t>
            </a:r>
            <a:r>
              <a:rPr sz="2000" spc="-125" dirty="0">
                <a:latin typeface="Arial"/>
                <a:cs typeface="Arial"/>
              </a:rPr>
              <a:t>discos </a:t>
            </a:r>
            <a:r>
              <a:rPr sz="2000" spc="-70" dirty="0">
                <a:latin typeface="Arial"/>
                <a:cs typeface="Arial"/>
              </a:rPr>
              <a:t>ópticos </a:t>
            </a:r>
            <a:r>
              <a:rPr sz="2000" spc="-195" dirty="0">
                <a:latin typeface="Arial"/>
                <a:cs typeface="Arial"/>
              </a:rPr>
              <a:t>(CD,  </a:t>
            </a:r>
            <a:r>
              <a:rPr sz="2000" spc="-160" dirty="0">
                <a:latin typeface="Arial"/>
                <a:cs typeface="Arial"/>
              </a:rPr>
              <a:t>DVD), </a:t>
            </a:r>
            <a:r>
              <a:rPr sz="2000" spc="-60" dirty="0">
                <a:latin typeface="Arial"/>
                <a:cs typeface="Arial"/>
              </a:rPr>
              <a:t>cinta </a:t>
            </a:r>
            <a:r>
              <a:rPr sz="2000" spc="-90" dirty="0">
                <a:latin typeface="Arial"/>
                <a:cs typeface="Arial"/>
              </a:rPr>
              <a:t>magnética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105" dirty="0">
                <a:latin typeface="Arial"/>
                <a:cs typeface="Arial"/>
              </a:rPr>
              <a:t>redes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almacenamiento.</a:t>
            </a:r>
            <a:endParaRPr sz="2000">
              <a:latin typeface="Arial"/>
              <a:cs typeface="Arial"/>
            </a:endParaRPr>
          </a:p>
          <a:p>
            <a:pPr marL="360045" marR="5080" indent="-347345" algn="just">
              <a:lnSpc>
                <a:spcPct val="100000"/>
              </a:lnSpc>
              <a:buAutoNum type="arabicPeriod" startAt="5"/>
              <a:tabLst>
                <a:tab pos="360680" algn="l"/>
              </a:tabLst>
            </a:pPr>
            <a:r>
              <a:rPr sz="2000" b="1" spc="-165" dirty="0">
                <a:latin typeface="Arial"/>
                <a:cs typeface="Arial"/>
              </a:rPr>
              <a:t>Dispositivos </a:t>
            </a:r>
            <a:r>
              <a:rPr sz="2000" b="1" spc="-135" dirty="0">
                <a:latin typeface="Arial"/>
                <a:cs typeface="Arial"/>
              </a:rPr>
              <a:t>de </a:t>
            </a:r>
            <a:r>
              <a:rPr sz="2000" b="1" spc="-165" dirty="0">
                <a:latin typeface="Arial"/>
                <a:cs typeface="Arial"/>
              </a:rPr>
              <a:t>comunicación: </a:t>
            </a:r>
            <a:r>
              <a:rPr sz="2000" spc="-50" dirty="0">
                <a:latin typeface="Arial"/>
                <a:cs typeface="Arial"/>
              </a:rPr>
              <a:t>transmiten </a:t>
            </a:r>
            <a:r>
              <a:rPr sz="2000" spc="-130" dirty="0">
                <a:latin typeface="Arial"/>
                <a:cs typeface="Arial"/>
              </a:rPr>
              <a:t>señales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85" dirty="0">
                <a:latin typeface="Arial"/>
                <a:cs typeface="Arial"/>
              </a:rPr>
              <a:t>comunicación </a:t>
            </a:r>
            <a:r>
              <a:rPr sz="2000" spc="-40" dirty="0">
                <a:latin typeface="Arial"/>
                <a:cs typeface="Arial"/>
              </a:rPr>
              <a:t>entre </a:t>
            </a:r>
            <a:r>
              <a:rPr sz="2000" spc="-50" dirty="0">
                <a:latin typeface="Arial"/>
                <a:cs typeface="Arial"/>
              </a:rPr>
              <a:t>el  </a:t>
            </a:r>
            <a:r>
              <a:rPr sz="2000" spc="-240" dirty="0">
                <a:latin typeface="Arial"/>
                <a:cs typeface="Arial"/>
              </a:rPr>
              <a:t>CPU, </a:t>
            </a:r>
            <a:r>
              <a:rPr sz="2000" spc="-55" dirty="0">
                <a:latin typeface="Arial"/>
                <a:cs typeface="Arial"/>
              </a:rPr>
              <a:t>el </a:t>
            </a:r>
            <a:r>
              <a:rPr sz="2000" spc="-80" dirty="0">
                <a:latin typeface="Arial"/>
                <a:cs typeface="Arial"/>
              </a:rPr>
              <a:t>almacenamiento </a:t>
            </a:r>
            <a:r>
              <a:rPr sz="2000" spc="-55" dirty="0">
                <a:latin typeface="Arial"/>
                <a:cs typeface="Arial"/>
              </a:rPr>
              <a:t>principal </a:t>
            </a:r>
            <a:r>
              <a:rPr sz="2000" spc="-95" dirty="0">
                <a:latin typeface="Arial"/>
                <a:cs typeface="Arial"/>
              </a:rPr>
              <a:t>y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30" dirty="0">
                <a:latin typeface="Arial"/>
                <a:cs typeface="Arial"/>
              </a:rPr>
              <a:t>demás</a:t>
            </a:r>
            <a:r>
              <a:rPr sz="2000" spc="-36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dispositivos.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29959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/>
              <a:t>– </a:t>
            </a:r>
            <a:r>
              <a:rPr spc="-114" dirty="0"/>
              <a:t>Hardware</a:t>
            </a:r>
            <a:r>
              <a:rPr spc="-155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05" dirty="0">
                <a:latin typeface="Arial"/>
                <a:cs typeface="Arial"/>
              </a:rPr>
              <a:t>Conceptos </a:t>
            </a:r>
            <a:r>
              <a:rPr sz="1800" b="0" spc="-114" dirty="0">
                <a:latin typeface="Arial"/>
                <a:cs typeface="Arial"/>
              </a:rPr>
              <a:t>básicos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70" dirty="0">
                <a:latin typeface="Arial"/>
                <a:cs typeface="Arial"/>
              </a:rPr>
              <a:t> </a:t>
            </a:r>
            <a:r>
              <a:rPr sz="1800" b="0" spc="-75" dirty="0">
                <a:latin typeface="Arial"/>
                <a:cs typeface="Arial"/>
              </a:rPr>
              <a:t>Hardware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1907329"/>
            <a:ext cx="8369816" cy="44172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0586" y="1044194"/>
            <a:ext cx="8289290" cy="812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220" dirty="0">
                <a:latin typeface="Arial"/>
                <a:cs typeface="Arial"/>
              </a:rPr>
              <a:t>Lenguaje </a:t>
            </a:r>
            <a:r>
              <a:rPr sz="2600" b="1" spc="-170" dirty="0">
                <a:latin typeface="Arial"/>
                <a:cs typeface="Arial"/>
              </a:rPr>
              <a:t>de</a:t>
            </a:r>
            <a:r>
              <a:rPr sz="2600" b="1" spc="-20" dirty="0">
                <a:latin typeface="Arial"/>
                <a:cs typeface="Arial"/>
              </a:rPr>
              <a:t> </a:t>
            </a:r>
            <a:r>
              <a:rPr sz="2600" b="1" spc="-185" dirty="0">
                <a:latin typeface="Arial"/>
                <a:cs typeface="Arial"/>
              </a:rPr>
              <a:t>procesamiento</a:t>
            </a:r>
            <a:endParaRPr sz="26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280"/>
              </a:spcBef>
            </a:pPr>
            <a:r>
              <a:rPr sz="1500" b="1" spc="-75" dirty="0">
                <a:latin typeface="Arial"/>
                <a:cs typeface="Arial"/>
              </a:rPr>
              <a:t>Bit</a:t>
            </a:r>
            <a:r>
              <a:rPr sz="1500" spc="-75" dirty="0">
                <a:latin typeface="Arial"/>
                <a:cs typeface="Arial"/>
              </a:rPr>
              <a:t>: </a:t>
            </a:r>
            <a:r>
              <a:rPr sz="1500" spc="-65" dirty="0">
                <a:latin typeface="Arial"/>
                <a:cs typeface="Arial"/>
              </a:rPr>
              <a:t>Unidad </a:t>
            </a:r>
            <a:r>
              <a:rPr sz="1500" spc="-60" dirty="0">
                <a:latin typeface="Arial"/>
                <a:cs typeface="Arial"/>
              </a:rPr>
              <a:t>mínima </a:t>
            </a:r>
            <a:r>
              <a:rPr sz="1500" spc="-70" dirty="0">
                <a:latin typeface="Arial"/>
                <a:cs typeface="Arial"/>
              </a:rPr>
              <a:t>de </a:t>
            </a:r>
            <a:r>
              <a:rPr sz="1500" spc="-65" dirty="0">
                <a:latin typeface="Arial"/>
                <a:cs typeface="Arial"/>
              </a:rPr>
              <a:t>datos que </a:t>
            </a:r>
            <a:r>
              <a:rPr sz="1500" spc="-100" dirty="0">
                <a:latin typeface="Arial"/>
                <a:cs typeface="Arial"/>
              </a:rPr>
              <a:t>usan </a:t>
            </a:r>
            <a:r>
              <a:rPr sz="1500" spc="-95" dirty="0">
                <a:latin typeface="Arial"/>
                <a:cs typeface="Arial"/>
              </a:rPr>
              <a:t>las </a:t>
            </a:r>
            <a:r>
              <a:rPr sz="1500" spc="-65" dirty="0">
                <a:latin typeface="Arial"/>
                <a:cs typeface="Arial"/>
              </a:rPr>
              <a:t>computadoras. </a:t>
            </a:r>
            <a:r>
              <a:rPr sz="1500" spc="-90" dirty="0">
                <a:latin typeface="Arial"/>
                <a:cs typeface="Arial"/>
              </a:rPr>
              <a:t>Representa dos </a:t>
            </a:r>
            <a:r>
              <a:rPr sz="1500" spc="-85" dirty="0">
                <a:latin typeface="Arial"/>
                <a:cs typeface="Arial"/>
              </a:rPr>
              <a:t>estados </a:t>
            </a:r>
            <a:r>
              <a:rPr sz="1500" spc="-70" dirty="0">
                <a:latin typeface="Arial"/>
                <a:cs typeface="Arial"/>
              </a:rPr>
              <a:t>de </a:t>
            </a:r>
            <a:r>
              <a:rPr sz="1500" spc="-55" dirty="0">
                <a:latin typeface="Arial"/>
                <a:cs typeface="Arial"/>
              </a:rPr>
              <a:t>la </a:t>
            </a:r>
            <a:r>
              <a:rPr sz="1500" spc="-45" dirty="0">
                <a:latin typeface="Arial"/>
                <a:cs typeface="Arial"/>
              </a:rPr>
              <a:t>información </a:t>
            </a:r>
            <a:r>
              <a:rPr sz="1500" spc="-65" dirty="0">
                <a:latin typeface="Arial"/>
                <a:cs typeface="Arial"/>
              </a:rPr>
              <a:t>(0 </a:t>
            </a:r>
            <a:r>
              <a:rPr sz="1500" spc="-45" dirty="0">
                <a:latin typeface="Arial"/>
                <a:cs typeface="Arial"/>
              </a:rPr>
              <a:t>o</a:t>
            </a:r>
            <a:r>
              <a:rPr sz="1500" spc="-135" dirty="0">
                <a:latin typeface="Arial"/>
                <a:cs typeface="Arial"/>
              </a:rPr>
              <a:t> </a:t>
            </a:r>
            <a:r>
              <a:rPr sz="1500" spc="-55" dirty="0">
                <a:latin typeface="Arial"/>
                <a:cs typeface="Arial"/>
              </a:rPr>
              <a:t>1).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21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29959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/>
              <a:t>– </a:t>
            </a:r>
            <a:r>
              <a:rPr spc="-114" dirty="0"/>
              <a:t>Hardware</a:t>
            </a:r>
            <a:r>
              <a:rPr spc="-155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05" dirty="0">
                <a:latin typeface="Arial"/>
                <a:cs typeface="Arial"/>
              </a:rPr>
              <a:t>Conceptos </a:t>
            </a:r>
            <a:r>
              <a:rPr sz="1800" b="0" spc="-114" dirty="0">
                <a:latin typeface="Arial"/>
                <a:cs typeface="Arial"/>
              </a:rPr>
              <a:t>básicos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70" dirty="0">
                <a:latin typeface="Arial"/>
                <a:cs typeface="Arial"/>
              </a:rPr>
              <a:t> </a:t>
            </a:r>
            <a:r>
              <a:rPr sz="1800" b="0" spc="-75" dirty="0">
                <a:latin typeface="Arial"/>
                <a:cs typeface="Arial"/>
              </a:rPr>
              <a:t>Hardware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1447800"/>
            <a:ext cx="6047994" cy="3810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867400" y="4343400"/>
            <a:ext cx="3074670" cy="1752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22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453517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14" dirty="0">
                <a:solidFill>
                  <a:srgbClr val="FFFFFF"/>
                </a:solidFill>
                <a:latin typeface="Arial"/>
                <a:cs typeface="Arial"/>
              </a:rPr>
              <a:t>Hardware</a:t>
            </a:r>
            <a:r>
              <a:rPr sz="2000" b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25" dirty="0">
                <a:solidFill>
                  <a:srgbClr val="FFFFFF"/>
                </a:solidFill>
                <a:latin typeface="Arial"/>
                <a:cs typeface="Arial"/>
              </a:rPr>
              <a:t>Sistemas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computacionales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almacenamiento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0586" y="1044194"/>
            <a:ext cx="461200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245" dirty="0">
                <a:solidFill>
                  <a:srgbClr val="000000"/>
                </a:solidFill>
              </a:rPr>
              <a:t>Tipos </a:t>
            </a:r>
            <a:r>
              <a:rPr sz="2600" spc="-170" dirty="0">
                <a:solidFill>
                  <a:srgbClr val="000000"/>
                </a:solidFill>
              </a:rPr>
              <a:t>de </a:t>
            </a:r>
            <a:r>
              <a:rPr sz="2600" spc="-245" dirty="0">
                <a:solidFill>
                  <a:srgbClr val="000000"/>
                </a:solidFill>
              </a:rPr>
              <a:t>Sistemas </a:t>
            </a:r>
            <a:r>
              <a:rPr sz="2600" spc="-170" dirty="0">
                <a:solidFill>
                  <a:srgbClr val="000000"/>
                </a:solidFill>
              </a:rPr>
              <a:t>de</a:t>
            </a:r>
            <a:r>
              <a:rPr sz="2600" spc="95" dirty="0">
                <a:solidFill>
                  <a:srgbClr val="000000"/>
                </a:solidFill>
              </a:rPr>
              <a:t> </a:t>
            </a:r>
            <a:r>
              <a:rPr sz="2600" spc="-165" dirty="0">
                <a:solidFill>
                  <a:srgbClr val="000000"/>
                </a:solidFill>
              </a:rPr>
              <a:t>Información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1755394" y="1615186"/>
            <a:ext cx="5771515" cy="4643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100"/>
              </a:spcBef>
            </a:pPr>
            <a:r>
              <a:rPr sz="2200" b="1" spc="-210" dirty="0">
                <a:latin typeface="Arial"/>
                <a:cs typeface="Arial"/>
              </a:rPr>
              <a:t>Sistemas </a:t>
            </a:r>
            <a:r>
              <a:rPr sz="2200" b="1" spc="-140" dirty="0">
                <a:latin typeface="Arial"/>
                <a:cs typeface="Arial"/>
              </a:rPr>
              <a:t>de</a:t>
            </a:r>
            <a:r>
              <a:rPr sz="2200" b="1" spc="-30" dirty="0">
                <a:latin typeface="Arial"/>
                <a:cs typeface="Arial"/>
              </a:rPr>
              <a:t> </a:t>
            </a:r>
            <a:r>
              <a:rPr sz="2200" b="1" spc="-170" dirty="0">
                <a:latin typeface="Arial"/>
                <a:cs typeface="Arial"/>
              </a:rPr>
              <a:t>microcomputadoras</a:t>
            </a:r>
            <a:endParaRPr sz="2200">
              <a:latin typeface="Arial"/>
              <a:cs typeface="Arial"/>
            </a:endParaRPr>
          </a:p>
          <a:p>
            <a:pPr marL="1104265" indent="-177165">
              <a:lnSpc>
                <a:spcPct val="100000"/>
              </a:lnSpc>
              <a:buChar char="•"/>
              <a:tabLst>
                <a:tab pos="1104900" algn="l"/>
              </a:tabLst>
            </a:pPr>
            <a:r>
              <a:rPr sz="2200" spc="-114" dirty="0">
                <a:latin typeface="Arial"/>
                <a:cs typeface="Arial"/>
              </a:rPr>
              <a:t>Computadoras</a:t>
            </a:r>
            <a:r>
              <a:rPr sz="2200" spc="-140" dirty="0">
                <a:latin typeface="Arial"/>
                <a:cs typeface="Arial"/>
              </a:rPr>
              <a:t> </a:t>
            </a:r>
            <a:r>
              <a:rPr sz="2200" spc="-114" dirty="0">
                <a:latin typeface="Arial"/>
                <a:cs typeface="Arial"/>
              </a:rPr>
              <a:t>personales</a:t>
            </a:r>
            <a:endParaRPr sz="2200">
              <a:latin typeface="Arial"/>
              <a:cs typeface="Arial"/>
            </a:endParaRPr>
          </a:p>
          <a:p>
            <a:pPr marL="1104265" indent="-177165">
              <a:lnSpc>
                <a:spcPct val="100000"/>
              </a:lnSpc>
              <a:buChar char="•"/>
              <a:tabLst>
                <a:tab pos="1104900" algn="l"/>
              </a:tabLst>
            </a:pPr>
            <a:r>
              <a:rPr sz="2200" spc="-140" dirty="0">
                <a:latin typeface="Arial"/>
                <a:cs typeface="Arial"/>
              </a:rPr>
              <a:t>Estaciones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50" dirty="0">
                <a:latin typeface="Arial"/>
                <a:cs typeface="Arial"/>
              </a:rPr>
              <a:t>trabajo</a:t>
            </a:r>
            <a:r>
              <a:rPr sz="2200" spc="-130" dirty="0">
                <a:latin typeface="Arial"/>
                <a:cs typeface="Arial"/>
              </a:rPr>
              <a:t> </a:t>
            </a:r>
            <a:r>
              <a:rPr sz="2200" spc="-110" dirty="0">
                <a:latin typeface="Arial"/>
                <a:cs typeface="Arial"/>
              </a:rPr>
              <a:t>técnicas</a:t>
            </a:r>
            <a:endParaRPr sz="2200">
              <a:latin typeface="Arial"/>
              <a:cs typeface="Arial"/>
            </a:endParaRPr>
          </a:p>
          <a:p>
            <a:pPr marL="1104265" indent="-177165">
              <a:lnSpc>
                <a:spcPct val="100000"/>
              </a:lnSpc>
              <a:buChar char="•"/>
              <a:tabLst>
                <a:tab pos="1104900" algn="l"/>
              </a:tabLst>
            </a:pPr>
            <a:r>
              <a:rPr sz="2200" spc="-100" dirty="0">
                <a:latin typeface="Arial"/>
                <a:cs typeface="Arial"/>
              </a:rPr>
              <a:t>Dispositivos </a:t>
            </a:r>
            <a:r>
              <a:rPr sz="2200" spc="-85" dirty="0">
                <a:latin typeface="Arial"/>
                <a:cs typeface="Arial"/>
              </a:rPr>
              <a:t>móviles </a:t>
            </a:r>
            <a:r>
              <a:rPr sz="2200" spc="-60" dirty="0">
                <a:latin typeface="Arial"/>
                <a:cs typeface="Arial"/>
              </a:rPr>
              <a:t>(tablets,</a:t>
            </a:r>
            <a:r>
              <a:rPr sz="2200" spc="-200" dirty="0">
                <a:latin typeface="Arial"/>
                <a:cs typeface="Arial"/>
              </a:rPr>
              <a:t> </a:t>
            </a:r>
            <a:r>
              <a:rPr sz="2200" spc="-220" dirty="0">
                <a:latin typeface="Arial"/>
                <a:cs typeface="Arial"/>
              </a:rPr>
              <a:t>PDAs)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2567940">
              <a:lnSpc>
                <a:spcPct val="100000"/>
              </a:lnSpc>
            </a:pPr>
            <a:r>
              <a:rPr sz="2200" b="1" spc="-210" dirty="0">
                <a:latin typeface="Arial"/>
                <a:cs typeface="Arial"/>
              </a:rPr>
              <a:t>Sistemas </a:t>
            </a:r>
            <a:r>
              <a:rPr sz="2200" b="1" spc="-140" dirty="0">
                <a:latin typeface="Arial"/>
                <a:cs typeface="Arial"/>
              </a:rPr>
              <a:t>de </a:t>
            </a:r>
            <a:r>
              <a:rPr sz="2200" b="1" spc="-185" dirty="0">
                <a:latin typeface="Arial"/>
                <a:cs typeface="Arial"/>
              </a:rPr>
              <a:t>rango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spc="-140" dirty="0">
                <a:latin typeface="Arial"/>
                <a:cs typeface="Arial"/>
              </a:rPr>
              <a:t>medio</a:t>
            </a:r>
            <a:endParaRPr sz="2200">
              <a:latin typeface="Arial"/>
              <a:cs typeface="Arial"/>
            </a:endParaRPr>
          </a:p>
          <a:p>
            <a:pPr marL="3481070" lvl="1" indent="-177800">
              <a:lnSpc>
                <a:spcPct val="100000"/>
              </a:lnSpc>
              <a:buChar char="•"/>
              <a:tabLst>
                <a:tab pos="3481704" algn="l"/>
              </a:tabLst>
            </a:pPr>
            <a:r>
              <a:rPr sz="2200" spc="-114" dirty="0">
                <a:latin typeface="Arial"/>
                <a:cs typeface="Arial"/>
              </a:rPr>
              <a:t>Servidores 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spc="-210" dirty="0">
                <a:latin typeface="Arial"/>
                <a:cs typeface="Arial"/>
              </a:rPr>
              <a:t> </a:t>
            </a:r>
            <a:r>
              <a:rPr sz="2200" spc="-65" dirty="0">
                <a:latin typeface="Arial"/>
                <a:cs typeface="Arial"/>
              </a:rPr>
              <a:t>red</a:t>
            </a:r>
            <a:endParaRPr sz="2200">
              <a:latin typeface="Arial"/>
              <a:cs typeface="Arial"/>
            </a:endParaRPr>
          </a:p>
          <a:p>
            <a:pPr marL="3726815" lvl="2" indent="-177800">
              <a:lnSpc>
                <a:spcPct val="100000"/>
              </a:lnSpc>
              <a:buChar char="•"/>
              <a:tabLst>
                <a:tab pos="3727450" algn="l"/>
              </a:tabLst>
            </a:pPr>
            <a:r>
              <a:rPr sz="2200" spc="-114" dirty="0">
                <a:latin typeface="Arial"/>
                <a:cs typeface="Arial"/>
              </a:rPr>
              <a:t>Servidores</a:t>
            </a:r>
            <a:r>
              <a:rPr sz="2200" spc="-200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web</a:t>
            </a:r>
            <a:endParaRPr sz="2200">
              <a:latin typeface="Arial"/>
              <a:cs typeface="Arial"/>
            </a:endParaRPr>
          </a:p>
          <a:p>
            <a:pPr marL="2183130" indent="-177165">
              <a:lnSpc>
                <a:spcPct val="100000"/>
              </a:lnSpc>
              <a:buChar char="•"/>
              <a:tabLst>
                <a:tab pos="2183765" algn="l"/>
              </a:tabLst>
            </a:pPr>
            <a:r>
              <a:rPr sz="2200" spc="-114" dirty="0">
                <a:latin typeface="Arial"/>
                <a:cs typeface="Arial"/>
              </a:rPr>
              <a:t>Servidores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75" dirty="0">
                <a:latin typeface="Arial"/>
                <a:cs typeface="Arial"/>
              </a:rPr>
              <a:t>bases 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spc="-120" dirty="0">
                <a:latin typeface="Arial"/>
                <a:cs typeface="Arial"/>
              </a:rPr>
              <a:t> </a:t>
            </a:r>
            <a:r>
              <a:rPr sz="2200" spc="-95" dirty="0">
                <a:latin typeface="Arial"/>
                <a:cs typeface="Arial"/>
              </a:rPr>
              <a:t>datos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35"/>
              </a:spcBef>
            </a:pPr>
            <a:r>
              <a:rPr sz="2200" b="1" spc="-210" dirty="0">
                <a:latin typeface="Arial"/>
                <a:cs typeface="Arial"/>
              </a:rPr>
              <a:t>Sistemas </a:t>
            </a:r>
            <a:r>
              <a:rPr sz="2200" b="1" spc="-140" dirty="0">
                <a:latin typeface="Arial"/>
                <a:cs typeface="Arial"/>
              </a:rPr>
              <a:t>de </a:t>
            </a:r>
            <a:r>
              <a:rPr sz="2200" b="1" spc="-170" dirty="0">
                <a:latin typeface="Arial"/>
                <a:cs typeface="Arial"/>
              </a:rPr>
              <a:t>computadoras </a:t>
            </a:r>
            <a:r>
              <a:rPr sz="2200" b="1" spc="-155" dirty="0">
                <a:latin typeface="Arial"/>
                <a:cs typeface="Arial"/>
              </a:rPr>
              <a:t>centrales</a:t>
            </a:r>
            <a:r>
              <a:rPr sz="2200" b="1" spc="50" dirty="0">
                <a:latin typeface="Arial"/>
                <a:cs typeface="Arial"/>
              </a:rPr>
              <a:t> </a:t>
            </a:r>
            <a:r>
              <a:rPr sz="2200" b="1" spc="-105" dirty="0">
                <a:latin typeface="Arial"/>
                <a:cs typeface="Arial"/>
              </a:rPr>
              <a:t>(</a:t>
            </a:r>
            <a:r>
              <a:rPr sz="2200" b="1" i="1" spc="-105" dirty="0">
                <a:latin typeface="Arial"/>
                <a:cs typeface="Arial"/>
              </a:rPr>
              <a:t>mainframe</a:t>
            </a:r>
            <a:r>
              <a:rPr sz="2200" b="1" spc="-105" dirty="0"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buChar char="•"/>
              <a:tabLst>
                <a:tab pos="190500" algn="l"/>
              </a:tabLst>
            </a:pPr>
            <a:r>
              <a:rPr sz="2200" spc="-155" dirty="0">
                <a:latin typeface="Arial"/>
                <a:cs typeface="Arial"/>
              </a:rPr>
              <a:t>Sistemas</a:t>
            </a:r>
            <a:r>
              <a:rPr sz="2200" spc="-120" dirty="0">
                <a:latin typeface="Arial"/>
                <a:cs typeface="Arial"/>
              </a:rPr>
              <a:t> </a:t>
            </a:r>
            <a:r>
              <a:rPr sz="2200" spc="-100" dirty="0">
                <a:latin typeface="Arial"/>
                <a:cs typeface="Arial"/>
              </a:rPr>
              <a:t>empresariales</a:t>
            </a:r>
            <a:endParaRPr sz="22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buChar char="•"/>
              <a:tabLst>
                <a:tab pos="190500" algn="l"/>
              </a:tabLst>
            </a:pPr>
            <a:r>
              <a:rPr sz="2200" spc="-140" dirty="0">
                <a:latin typeface="Arial"/>
                <a:cs typeface="Arial"/>
              </a:rPr>
              <a:t>Procesadores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10" dirty="0">
                <a:latin typeface="Arial"/>
                <a:cs typeface="Arial"/>
              </a:rPr>
              <a:t>transacciones</a:t>
            </a:r>
            <a:endParaRPr sz="2200">
              <a:latin typeface="Arial"/>
              <a:cs typeface="Arial"/>
            </a:endParaRPr>
          </a:p>
          <a:p>
            <a:pPr marL="189865" indent="-177165">
              <a:lnSpc>
                <a:spcPct val="100000"/>
              </a:lnSpc>
              <a:buChar char="•"/>
              <a:tabLst>
                <a:tab pos="190500" algn="l"/>
              </a:tabLst>
            </a:pPr>
            <a:r>
              <a:rPr sz="2200" spc="-110" dirty="0">
                <a:latin typeface="Arial"/>
                <a:cs typeface="Arial"/>
              </a:rPr>
              <a:t>Supercomputadoras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29385" y="1676400"/>
            <a:ext cx="1385214" cy="12999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3377" y="4813243"/>
            <a:ext cx="1077711" cy="15181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91400" y="3200400"/>
            <a:ext cx="1184909" cy="1828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23</a:t>
            </a:fld>
            <a:endParaRPr spc="-5" dirty="0"/>
          </a:p>
        </p:txBody>
      </p:sp>
      <p:sp>
        <p:nvSpPr>
          <p:cNvPr id="10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453517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14" dirty="0">
                <a:solidFill>
                  <a:srgbClr val="FFFFFF"/>
                </a:solidFill>
                <a:latin typeface="Arial"/>
                <a:cs typeface="Arial"/>
              </a:rPr>
              <a:t>Hardware</a:t>
            </a:r>
            <a:r>
              <a:rPr sz="2000" b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25" dirty="0">
                <a:solidFill>
                  <a:srgbClr val="FFFFFF"/>
                </a:solidFill>
                <a:latin typeface="Arial"/>
                <a:cs typeface="Arial"/>
              </a:rPr>
              <a:t>Sistemas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computacionales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almacenamiento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0586" y="1044194"/>
            <a:ext cx="279527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185" dirty="0">
                <a:solidFill>
                  <a:srgbClr val="000000"/>
                </a:solidFill>
              </a:rPr>
              <a:t>Microcomputadoras</a:t>
            </a:r>
            <a:endParaRPr sz="2600"/>
          </a:p>
        </p:txBody>
      </p:sp>
      <p:sp>
        <p:nvSpPr>
          <p:cNvPr id="4" name="object 4"/>
          <p:cNvSpPr/>
          <p:nvPr/>
        </p:nvSpPr>
        <p:spPr>
          <a:xfrm>
            <a:off x="5715000" y="2276855"/>
            <a:ext cx="1676400" cy="14305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19800" y="1438655"/>
            <a:ext cx="861822" cy="1066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71359" y="4715255"/>
            <a:ext cx="1767840" cy="1295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29655" y="5172455"/>
            <a:ext cx="1456944" cy="8473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53959" y="3038855"/>
            <a:ext cx="1361440" cy="15240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43800" y="1362455"/>
            <a:ext cx="1219200" cy="118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486400" y="3800855"/>
            <a:ext cx="1905000" cy="110032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0586" y="1580388"/>
            <a:ext cx="496062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000" spc="-185" dirty="0">
                <a:latin typeface="Arial"/>
                <a:cs typeface="Arial"/>
              </a:rPr>
              <a:t>Son </a:t>
            </a:r>
            <a:r>
              <a:rPr sz="2000" spc="-95" dirty="0">
                <a:latin typeface="Arial"/>
                <a:cs typeface="Arial"/>
              </a:rPr>
              <a:t>aquellas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170" dirty="0">
                <a:latin typeface="Arial"/>
                <a:cs typeface="Arial"/>
              </a:rPr>
              <a:t>se</a:t>
            </a:r>
            <a:r>
              <a:rPr sz="2000" spc="21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pueden colocar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65" dirty="0">
                <a:latin typeface="Arial"/>
                <a:cs typeface="Arial"/>
              </a:rPr>
              <a:t>un  </a:t>
            </a:r>
            <a:r>
              <a:rPr sz="2000" spc="-50" dirty="0">
                <a:latin typeface="Arial"/>
                <a:cs typeface="Arial"/>
              </a:rPr>
              <a:t>escritorio, </a:t>
            </a:r>
            <a:r>
              <a:rPr sz="2000" spc="-60" dirty="0">
                <a:latin typeface="Arial"/>
                <a:cs typeface="Arial"/>
              </a:rPr>
              <a:t>o </a:t>
            </a:r>
            <a:r>
              <a:rPr sz="2000" spc="-65" dirty="0">
                <a:latin typeface="Arial"/>
                <a:cs typeface="Arial"/>
              </a:rPr>
              <a:t>bien,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120" dirty="0">
                <a:latin typeface="Arial"/>
                <a:cs typeface="Arial"/>
              </a:rPr>
              <a:t>son </a:t>
            </a:r>
            <a:r>
              <a:rPr sz="2000" spc="-40" dirty="0">
                <a:latin typeface="Arial"/>
                <a:cs typeface="Arial"/>
              </a:rPr>
              <a:t>portátiles. </a:t>
            </a:r>
            <a:r>
              <a:rPr sz="2000" spc="-130" dirty="0">
                <a:latin typeface="Arial"/>
                <a:cs typeface="Arial"/>
              </a:rPr>
              <a:t>Una  </a:t>
            </a:r>
            <a:r>
              <a:rPr sz="2000" spc="-90" dirty="0">
                <a:latin typeface="Arial"/>
                <a:cs typeface="Arial"/>
              </a:rPr>
              <a:t>estación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45" dirty="0">
                <a:latin typeface="Arial"/>
                <a:cs typeface="Arial"/>
              </a:rPr>
              <a:t>trabajo </a:t>
            </a:r>
            <a:r>
              <a:rPr sz="2000" spc="-55" dirty="0">
                <a:latin typeface="Arial"/>
                <a:cs typeface="Arial"/>
              </a:rPr>
              <a:t>también </a:t>
            </a:r>
            <a:r>
              <a:rPr sz="2000" spc="-170" dirty="0">
                <a:latin typeface="Arial"/>
                <a:cs typeface="Arial"/>
              </a:rPr>
              <a:t>se</a:t>
            </a:r>
            <a:r>
              <a:rPr sz="2000" spc="21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ajusta </a:t>
            </a:r>
            <a:r>
              <a:rPr sz="2000" spc="-160" dirty="0">
                <a:latin typeface="Arial"/>
                <a:cs typeface="Arial"/>
              </a:rPr>
              <a:t>a</a:t>
            </a:r>
            <a:r>
              <a:rPr sz="2000" spc="-17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un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24</a:t>
            </a:fld>
            <a:endParaRPr spc="-5" dirty="0"/>
          </a:p>
        </p:txBody>
      </p:sp>
      <p:sp>
        <p:nvSpPr>
          <p:cNvPr id="12" name="object 12"/>
          <p:cNvSpPr txBox="1"/>
          <p:nvPr/>
        </p:nvSpPr>
        <p:spPr>
          <a:xfrm>
            <a:off x="370586" y="2799842"/>
            <a:ext cx="33807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278255" algn="l"/>
                <a:tab pos="1786255" algn="l"/>
                <a:tab pos="2551430" algn="l"/>
                <a:tab pos="3252470" algn="l"/>
              </a:tabLst>
            </a:pPr>
            <a:r>
              <a:rPr sz="2000" spc="-25" dirty="0">
                <a:latin typeface="Arial"/>
                <a:cs typeface="Arial"/>
              </a:rPr>
              <a:t>p</a:t>
            </a:r>
            <a:r>
              <a:rPr sz="2000" spc="-50" dirty="0">
                <a:latin typeface="Arial"/>
                <a:cs typeface="Arial"/>
              </a:rPr>
              <a:t>r</a:t>
            </a:r>
            <a:r>
              <a:rPr sz="2000" spc="-114" dirty="0">
                <a:latin typeface="Arial"/>
                <a:cs typeface="Arial"/>
              </a:rPr>
              <a:t>oc</a:t>
            </a:r>
            <a:r>
              <a:rPr sz="2000" spc="-110" dirty="0">
                <a:latin typeface="Arial"/>
                <a:cs typeface="Arial"/>
              </a:rPr>
              <a:t>e</a:t>
            </a:r>
            <a:r>
              <a:rPr sz="2000" spc="-185" dirty="0">
                <a:latin typeface="Arial"/>
                <a:cs typeface="Arial"/>
              </a:rPr>
              <a:t>s</a:t>
            </a:r>
            <a:r>
              <a:rPr sz="2000" spc="-195" dirty="0">
                <a:latin typeface="Arial"/>
                <a:cs typeface="Arial"/>
              </a:rPr>
              <a:t>a</a:t>
            </a:r>
            <a:r>
              <a:rPr sz="2000" spc="-45" dirty="0">
                <a:latin typeface="Arial"/>
                <a:cs typeface="Arial"/>
              </a:rPr>
              <a:t>m</a:t>
            </a:r>
            <a:r>
              <a:rPr sz="2000" spc="-10" dirty="0">
                <a:latin typeface="Arial"/>
                <a:cs typeface="Arial"/>
              </a:rPr>
              <a:t>i</a:t>
            </a:r>
            <a:r>
              <a:rPr sz="2000" spc="-95" dirty="0">
                <a:latin typeface="Arial"/>
                <a:cs typeface="Arial"/>
              </a:rPr>
              <a:t>e</a:t>
            </a:r>
            <a:r>
              <a:rPr sz="2000" spc="-114" dirty="0">
                <a:latin typeface="Arial"/>
                <a:cs typeface="Arial"/>
              </a:rPr>
              <a:t>n</a:t>
            </a:r>
            <a:r>
              <a:rPr sz="2000" spc="100" dirty="0">
                <a:latin typeface="Arial"/>
                <a:cs typeface="Arial"/>
              </a:rPr>
              <a:t>t</a:t>
            </a:r>
            <a:r>
              <a:rPr sz="2000" spc="-60" dirty="0">
                <a:latin typeface="Arial"/>
                <a:cs typeface="Arial"/>
              </a:rPr>
              <a:t>o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35" dirty="0">
                <a:latin typeface="Arial"/>
                <a:cs typeface="Arial"/>
              </a:rPr>
              <a:t>m</a:t>
            </a:r>
            <a:r>
              <a:rPr sz="2000" spc="-114" dirty="0">
                <a:latin typeface="Arial"/>
                <a:cs typeface="Arial"/>
              </a:rPr>
              <a:t>a</a:t>
            </a:r>
            <a:r>
              <a:rPr sz="2000" spc="85" dirty="0">
                <a:latin typeface="Arial"/>
                <a:cs typeface="Arial"/>
              </a:rPr>
              <a:t>t</a:t>
            </a:r>
            <a:r>
              <a:rPr sz="2000" spc="-95" dirty="0">
                <a:latin typeface="Arial"/>
                <a:cs typeface="Arial"/>
              </a:rPr>
              <a:t>em</a:t>
            </a:r>
            <a:r>
              <a:rPr sz="2000" spc="-180" dirty="0">
                <a:latin typeface="Arial"/>
                <a:cs typeface="Arial"/>
              </a:rPr>
              <a:t>á</a:t>
            </a:r>
            <a:r>
              <a:rPr sz="2000" spc="114" dirty="0">
                <a:latin typeface="Arial"/>
                <a:cs typeface="Arial"/>
              </a:rPr>
              <a:t>t</a:t>
            </a:r>
            <a:r>
              <a:rPr sz="2000" spc="-45" dirty="0">
                <a:latin typeface="Arial"/>
                <a:cs typeface="Arial"/>
              </a:rPr>
              <a:t>i</a:t>
            </a:r>
            <a:r>
              <a:rPr sz="2000" spc="-110" dirty="0">
                <a:latin typeface="Arial"/>
                <a:cs typeface="Arial"/>
              </a:rPr>
              <a:t>c</a:t>
            </a:r>
            <a:r>
              <a:rPr sz="2000" spc="-60" dirty="0">
                <a:latin typeface="Arial"/>
                <a:cs typeface="Arial"/>
              </a:rPr>
              <a:t>o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70" dirty="0">
                <a:latin typeface="Arial"/>
                <a:cs typeface="Arial"/>
              </a:rPr>
              <a:t>y  </a:t>
            </a:r>
            <a:r>
              <a:rPr sz="2000" spc="-60" dirty="0">
                <a:latin typeface="Arial"/>
                <a:cs typeface="Arial"/>
              </a:rPr>
              <a:t>potentes,	</a:t>
            </a:r>
            <a:r>
              <a:rPr sz="2000" spc="-65" dirty="0">
                <a:latin typeface="Arial"/>
                <a:cs typeface="Arial"/>
              </a:rPr>
              <a:t>pudiendo	</a:t>
            </a:r>
            <a:r>
              <a:rPr sz="2000" spc="-80" dirty="0">
                <a:latin typeface="Arial"/>
                <a:cs typeface="Arial"/>
              </a:rPr>
              <a:t>realizar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52240" y="2799842"/>
            <a:ext cx="7245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 marR="5080" indent="-1905">
              <a:lnSpc>
                <a:spcPct val="100000"/>
              </a:lnSpc>
              <a:spcBef>
                <a:spcPts val="95"/>
              </a:spcBef>
            </a:pPr>
            <a:r>
              <a:rPr sz="2000" spc="-90" dirty="0">
                <a:latin typeface="Arial"/>
                <a:cs typeface="Arial"/>
              </a:rPr>
              <a:t>g</a:t>
            </a:r>
            <a:r>
              <a:rPr sz="2000" spc="-100" dirty="0">
                <a:latin typeface="Arial"/>
                <a:cs typeface="Arial"/>
              </a:rPr>
              <a:t>r</a:t>
            </a:r>
            <a:r>
              <a:rPr sz="2000" spc="-170" dirty="0">
                <a:latin typeface="Arial"/>
                <a:cs typeface="Arial"/>
              </a:rPr>
              <a:t>á</a:t>
            </a:r>
            <a:r>
              <a:rPr sz="2000" spc="55" dirty="0">
                <a:latin typeface="Arial"/>
                <a:cs typeface="Arial"/>
              </a:rPr>
              <a:t>f</a:t>
            </a:r>
            <a:r>
              <a:rPr sz="2000" spc="-45" dirty="0">
                <a:latin typeface="Arial"/>
                <a:cs typeface="Arial"/>
              </a:rPr>
              <a:t>i</a:t>
            </a:r>
            <a:r>
              <a:rPr sz="2000" spc="-114" dirty="0">
                <a:latin typeface="Arial"/>
                <a:cs typeface="Arial"/>
              </a:rPr>
              <a:t>c</a:t>
            </a:r>
            <a:r>
              <a:rPr sz="2000" spc="-40" dirty="0">
                <a:latin typeface="Arial"/>
                <a:cs typeface="Arial"/>
              </a:rPr>
              <a:t>o  </a:t>
            </a:r>
            <a:r>
              <a:rPr sz="2000" spc="-95" dirty="0">
                <a:latin typeface="Arial"/>
                <a:cs typeface="Arial"/>
              </a:rPr>
              <a:t>tareas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0586" y="2494534"/>
            <a:ext cx="496062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91920" algn="l"/>
                <a:tab pos="2210435" algn="l"/>
                <a:tab pos="3081020" algn="l"/>
                <a:tab pos="4687570" algn="l"/>
              </a:tabLst>
            </a:pPr>
            <a:r>
              <a:rPr sz="2000" spc="-120" dirty="0">
                <a:latin typeface="Arial"/>
                <a:cs typeface="Arial"/>
              </a:rPr>
              <a:t>e</a:t>
            </a:r>
            <a:r>
              <a:rPr sz="2000" spc="-135" dirty="0">
                <a:latin typeface="Arial"/>
                <a:cs typeface="Arial"/>
              </a:rPr>
              <a:t>sc</a:t>
            </a:r>
            <a:r>
              <a:rPr sz="2000" spc="-85" dirty="0">
                <a:latin typeface="Arial"/>
                <a:cs typeface="Arial"/>
              </a:rPr>
              <a:t>r</a:t>
            </a:r>
            <a:r>
              <a:rPr sz="2000" spc="55" dirty="0">
                <a:latin typeface="Arial"/>
                <a:cs typeface="Arial"/>
              </a:rPr>
              <a:t>it</a:t>
            </a:r>
            <a:r>
              <a:rPr sz="2000" spc="-25" dirty="0">
                <a:latin typeface="Arial"/>
                <a:cs typeface="Arial"/>
              </a:rPr>
              <a:t>ori</a:t>
            </a:r>
            <a:r>
              <a:rPr sz="2000" spc="-60" dirty="0">
                <a:latin typeface="Arial"/>
                <a:cs typeface="Arial"/>
              </a:rPr>
              <a:t>o,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65" dirty="0">
                <a:latin typeface="Arial"/>
                <a:cs typeface="Arial"/>
              </a:rPr>
              <a:t>pe</a:t>
            </a:r>
            <a:r>
              <a:rPr sz="2000" spc="-70" dirty="0">
                <a:latin typeface="Arial"/>
                <a:cs typeface="Arial"/>
              </a:rPr>
              <a:t>r</a:t>
            </a:r>
            <a:r>
              <a:rPr sz="2000" spc="-60" dirty="0">
                <a:latin typeface="Arial"/>
                <a:cs typeface="Arial"/>
              </a:rPr>
              <a:t>o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5" dirty="0">
                <a:latin typeface="Arial"/>
                <a:cs typeface="Arial"/>
              </a:rPr>
              <a:t>tien</a:t>
            </a:r>
            <a:r>
              <a:rPr sz="2000" spc="-120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70" dirty="0">
                <a:latin typeface="Arial"/>
                <a:cs typeface="Arial"/>
              </a:rPr>
              <a:t>c</a:t>
            </a:r>
            <a:r>
              <a:rPr sz="2000" spc="-150" dirty="0">
                <a:latin typeface="Arial"/>
                <a:cs typeface="Arial"/>
              </a:rPr>
              <a:t>a</a:t>
            </a:r>
            <a:r>
              <a:rPr sz="2000" spc="-135" dirty="0">
                <a:latin typeface="Arial"/>
                <a:cs typeface="Arial"/>
              </a:rPr>
              <a:t>pa</a:t>
            </a:r>
            <a:r>
              <a:rPr sz="2000" spc="-110" dirty="0">
                <a:latin typeface="Arial"/>
                <a:cs typeface="Arial"/>
              </a:rPr>
              <a:t>c</a:t>
            </a:r>
            <a:r>
              <a:rPr sz="2000" spc="-60" dirty="0">
                <a:latin typeface="Arial"/>
                <a:cs typeface="Arial"/>
              </a:rPr>
              <a:t>id</a:t>
            </a:r>
            <a:r>
              <a:rPr sz="2000" spc="-80" dirty="0">
                <a:latin typeface="Arial"/>
                <a:cs typeface="Arial"/>
              </a:rPr>
              <a:t>a</a:t>
            </a:r>
            <a:r>
              <a:rPr sz="2000" spc="-95" dirty="0">
                <a:latin typeface="Arial"/>
                <a:cs typeface="Arial"/>
              </a:rPr>
              <a:t>d</a:t>
            </a:r>
            <a:r>
              <a:rPr sz="2000" spc="-90" dirty="0">
                <a:latin typeface="Arial"/>
                <a:cs typeface="Arial"/>
              </a:rPr>
              <a:t>e</a:t>
            </a:r>
            <a:r>
              <a:rPr sz="2000" spc="-220" dirty="0">
                <a:latin typeface="Arial"/>
                <a:cs typeface="Arial"/>
              </a:rPr>
              <a:t>s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5" dirty="0">
                <a:latin typeface="Arial"/>
                <a:cs typeface="Arial"/>
              </a:rPr>
              <a:t>de</a:t>
            </a:r>
            <a:endParaRPr sz="2000">
              <a:latin typeface="Arial"/>
              <a:cs typeface="Arial"/>
            </a:endParaRPr>
          </a:p>
          <a:p>
            <a:pPr marL="4521200" marR="6350" indent="635" algn="r">
              <a:lnSpc>
                <a:spcPct val="100000"/>
              </a:lnSpc>
            </a:pPr>
            <a:r>
              <a:rPr sz="2000" spc="-135" dirty="0">
                <a:latin typeface="Arial"/>
                <a:cs typeface="Arial"/>
              </a:rPr>
              <a:t>m</a:t>
            </a:r>
            <a:r>
              <a:rPr sz="2000" spc="-90" dirty="0">
                <a:latin typeface="Arial"/>
                <a:cs typeface="Arial"/>
              </a:rPr>
              <a:t>á</a:t>
            </a:r>
            <a:r>
              <a:rPr sz="2000" spc="-155" dirty="0">
                <a:latin typeface="Arial"/>
                <a:cs typeface="Arial"/>
              </a:rPr>
              <a:t>s  </a:t>
            </a:r>
            <a:r>
              <a:rPr sz="2000" spc="-135" dirty="0">
                <a:latin typeface="Arial"/>
                <a:cs typeface="Arial"/>
              </a:rPr>
              <a:t>m</a:t>
            </a:r>
            <a:r>
              <a:rPr sz="2000" spc="-85" dirty="0">
                <a:latin typeface="Arial"/>
                <a:cs typeface="Arial"/>
              </a:rPr>
              <a:t>á</a:t>
            </a:r>
            <a:r>
              <a:rPr sz="2000" spc="-220" dirty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complicadas </a:t>
            </a:r>
            <a:r>
              <a:rPr spc="-85" dirty="0"/>
              <a:t>que </a:t>
            </a:r>
            <a:r>
              <a:rPr spc="-95" dirty="0"/>
              <a:t>una </a:t>
            </a:r>
            <a:r>
              <a:rPr spc="-345" dirty="0"/>
              <a:t>PC </a:t>
            </a:r>
            <a:r>
              <a:rPr spc="-95" dirty="0"/>
              <a:t>en </a:t>
            </a:r>
            <a:r>
              <a:rPr spc="-55" dirty="0"/>
              <a:t>el </a:t>
            </a:r>
            <a:r>
              <a:rPr spc="-85" dirty="0"/>
              <a:t>mismo</a:t>
            </a:r>
            <a:r>
              <a:rPr spc="-110" dirty="0"/>
              <a:t> </a:t>
            </a:r>
            <a:r>
              <a:rPr spc="-35" dirty="0"/>
              <a:t>tiempo.</a:t>
            </a:r>
          </a:p>
          <a:p>
            <a:pPr>
              <a:lnSpc>
                <a:spcPct val="100000"/>
              </a:lnSpc>
            </a:pPr>
            <a:endParaRPr spc="-35" dirty="0"/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Times New Roman"/>
              <a:cs typeface="Times New Roman"/>
            </a:endParaRPr>
          </a:p>
          <a:p>
            <a:pPr marL="243840" marR="5715" indent="-231140">
              <a:lnSpc>
                <a:spcPct val="100000"/>
              </a:lnSpc>
              <a:buFont typeface="Wingdings"/>
              <a:buChar char=""/>
              <a:tabLst>
                <a:tab pos="244475" algn="l"/>
                <a:tab pos="1073150" algn="l"/>
                <a:tab pos="2199640" algn="l"/>
                <a:tab pos="3266440" algn="l"/>
                <a:tab pos="4471035" algn="l"/>
              </a:tabLst>
            </a:pPr>
            <a:r>
              <a:rPr spc="-185" dirty="0"/>
              <a:t>¿Qu</a:t>
            </a:r>
            <a:r>
              <a:rPr spc="-155" dirty="0"/>
              <a:t>é</a:t>
            </a:r>
            <a:r>
              <a:rPr dirty="0"/>
              <a:t>	</a:t>
            </a:r>
            <a:r>
              <a:rPr spc="-160" dirty="0"/>
              <a:t>c</a:t>
            </a:r>
            <a:r>
              <a:rPr spc="25" dirty="0"/>
              <a:t>r</a:t>
            </a:r>
            <a:r>
              <a:rPr spc="20" dirty="0"/>
              <a:t>i</a:t>
            </a:r>
            <a:r>
              <a:rPr spc="85" dirty="0"/>
              <a:t>t</a:t>
            </a:r>
            <a:r>
              <a:rPr spc="-114" dirty="0"/>
              <a:t>e</a:t>
            </a:r>
            <a:r>
              <a:rPr spc="-60" dirty="0"/>
              <a:t>rios</a:t>
            </a:r>
            <a:r>
              <a:rPr dirty="0"/>
              <a:t>	</a:t>
            </a:r>
            <a:r>
              <a:rPr spc="-90" dirty="0"/>
              <a:t>pued</a:t>
            </a:r>
            <a:r>
              <a:rPr spc="-80" dirty="0"/>
              <a:t>e</a:t>
            </a:r>
            <a:r>
              <a:rPr spc="-65" dirty="0"/>
              <a:t>n</a:t>
            </a:r>
            <a:r>
              <a:rPr dirty="0"/>
              <a:t>	</a:t>
            </a:r>
            <a:r>
              <a:rPr spc="25" dirty="0"/>
              <a:t>u</a:t>
            </a:r>
            <a:r>
              <a:rPr spc="20" dirty="0"/>
              <a:t>t</a:t>
            </a:r>
            <a:r>
              <a:rPr spc="-35" dirty="0"/>
              <a:t>ili</a:t>
            </a:r>
            <a:r>
              <a:rPr spc="-110" dirty="0"/>
              <a:t>z</a:t>
            </a:r>
            <a:r>
              <a:rPr spc="-155" dirty="0"/>
              <a:t>a</a:t>
            </a:r>
            <a:r>
              <a:rPr spc="-5" dirty="0"/>
              <a:t>r</a:t>
            </a:r>
            <a:r>
              <a:rPr spc="-165" dirty="0"/>
              <a:t>s</a:t>
            </a:r>
            <a:r>
              <a:rPr spc="-180" dirty="0"/>
              <a:t>e</a:t>
            </a:r>
            <a:r>
              <a:rPr dirty="0"/>
              <a:t>	</a:t>
            </a:r>
            <a:r>
              <a:rPr spc="-114" dirty="0"/>
              <a:t>p</a:t>
            </a:r>
            <a:r>
              <a:rPr spc="-105" dirty="0"/>
              <a:t>a</a:t>
            </a:r>
            <a:r>
              <a:rPr spc="-15" dirty="0"/>
              <a:t>r</a:t>
            </a:r>
            <a:r>
              <a:rPr spc="-105" dirty="0"/>
              <a:t>a  </a:t>
            </a:r>
            <a:r>
              <a:rPr spc="-95" dirty="0"/>
              <a:t>seleccionar </a:t>
            </a:r>
            <a:r>
              <a:rPr spc="-300" dirty="0"/>
              <a:t>PCs</a:t>
            </a:r>
            <a:r>
              <a:rPr spc="-85" dirty="0"/>
              <a:t> corporativas?</a:t>
            </a:r>
          </a:p>
          <a:p>
            <a:pPr marL="243840" marR="5080" indent="-231140">
              <a:lnSpc>
                <a:spcPct val="100000"/>
              </a:lnSpc>
              <a:buFont typeface="Wingdings"/>
              <a:buChar char=""/>
              <a:tabLst>
                <a:tab pos="244475" algn="l"/>
              </a:tabLst>
            </a:pPr>
            <a:r>
              <a:rPr spc="-180" dirty="0"/>
              <a:t>¿Cuáles </a:t>
            </a:r>
            <a:r>
              <a:rPr spc="-120" dirty="0"/>
              <a:t>son </a:t>
            </a:r>
            <a:r>
              <a:rPr spc="-90" dirty="0"/>
              <a:t>los </a:t>
            </a:r>
            <a:r>
              <a:rPr spc="-110" dirty="0"/>
              <a:t>costos </a:t>
            </a:r>
            <a:r>
              <a:rPr spc="-120" dirty="0"/>
              <a:t>asociados </a:t>
            </a:r>
            <a:r>
              <a:rPr spc="-160" dirty="0"/>
              <a:t>a </a:t>
            </a:r>
            <a:r>
              <a:rPr spc="-35" dirty="0"/>
              <a:t>tener </a:t>
            </a:r>
            <a:r>
              <a:rPr spc="-95" dirty="0"/>
              <a:t>una  </a:t>
            </a:r>
            <a:r>
              <a:rPr spc="-290" dirty="0"/>
              <a:t>PC?</a:t>
            </a:r>
          </a:p>
          <a:p>
            <a:pPr marL="642620" lvl="1" indent="-172720">
              <a:lnSpc>
                <a:spcPct val="100000"/>
              </a:lnSpc>
              <a:buFont typeface="Wingdings"/>
              <a:buChar char=""/>
              <a:tabLst>
                <a:tab pos="643255" algn="l"/>
              </a:tabLst>
            </a:pPr>
            <a:r>
              <a:rPr sz="2000" b="1" spc="-295" dirty="0">
                <a:latin typeface="Arial"/>
                <a:cs typeface="Arial"/>
              </a:rPr>
              <a:t>TCO </a:t>
            </a:r>
            <a:r>
              <a:rPr sz="2000" b="1" spc="-125" dirty="0">
                <a:latin typeface="Arial"/>
                <a:cs typeface="Arial"/>
              </a:rPr>
              <a:t>(</a:t>
            </a:r>
            <a:r>
              <a:rPr sz="2000" b="1" i="1" spc="-125" dirty="0">
                <a:latin typeface="Arial"/>
                <a:cs typeface="Arial"/>
              </a:rPr>
              <a:t>Total </a:t>
            </a:r>
            <a:r>
              <a:rPr sz="2000" b="1" i="1" spc="-225" dirty="0">
                <a:latin typeface="Arial"/>
                <a:cs typeface="Arial"/>
              </a:rPr>
              <a:t>Cost </a:t>
            </a:r>
            <a:r>
              <a:rPr sz="2000" b="1" i="1" spc="-105" dirty="0">
                <a:latin typeface="Arial"/>
                <a:cs typeface="Arial"/>
              </a:rPr>
              <a:t>of</a:t>
            </a:r>
            <a:r>
              <a:rPr sz="2000" b="1" i="1" spc="-409" dirty="0">
                <a:latin typeface="Arial"/>
                <a:cs typeface="Arial"/>
              </a:rPr>
              <a:t> </a:t>
            </a:r>
            <a:r>
              <a:rPr sz="2000" b="1" i="1" spc="-150" dirty="0">
                <a:latin typeface="Arial"/>
                <a:cs typeface="Arial"/>
              </a:rPr>
              <a:t>Ownership</a:t>
            </a:r>
            <a:r>
              <a:rPr sz="2000" b="1" spc="-150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53517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/>
              <a:t>– </a:t>
            </a:r>
            <a:r>
              <a:rPr spc="-114" dirty="0"/>
              <a:t>Hardware</a:t>
            </a:r>
            <a:r>
              <a:rPr spc="-150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25" dirty="0">
                <a:latin typeface="Arial"/>
                <a:cs typeface="Arial"/>
              </a:rPr>
              <a:t>Sistemas </a:t>
            </a:r>
            <a:r>
              <a:rPr sz="1800" b="0" spc="-75" dirty="0">
                <a:latin typeface="Arial"/>
                <a:cs typeface="Arial"/>
              </a:rPr>
              <a:t>computacionales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10" dirty="0">
                <a:latin typeface="Arial"/>
                <a:cs typeface="Arial"/>
              </a:rPr>
              <a:t> </a:t>
            </a:r>
            <a:r>
              <a:rPr sz="1800" b="0" spc="-70" dirty="0">
                <a:latin typeface="Arial"/>
                <a:cs typeface="Arial"/>
              </a:rPr>
              <a:t>almacenamiento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51153" y="1105661"/>
            <a:ext cx="5382006" cy="34145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62244" y="3352800"/>
            <a:ext cx="2548890" cy="3022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51153" y="4507991"/>
            <a:ext cx="4911090" cy="18669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33159" y="1105661"/>
            <a:ext cx="2085593" cy="22471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25</a:t>
            </a:fld>
            <a:endParaRPr spc="-5" dirty="0"/>
          </a:p>
        </p:txBody>
      </p:sp>
      <p:sp>
        <p:nvSpPr>
          <p:cNvPr id="9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453517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14" dirty="0">
                <a:solidFill>
                  <a:srgbClr val="FFFFFF"/>
                </a:solidFill>
                <a:latin typeface="Arial"/>
                <a:cs typeface="Arial"/>
              </a:rPr>
              <a:t>Hardware</a:t>
            </a:r>
            <a:r>
              <a:rPr sz="2000" b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25" dirty="0">
                <a:solidFill>
                  <a:srgbClr val="FFFFFF"/>
                </a:solidFill>
                <a:latin typeface="Arial"/>
                <a:cs typeface="Arial"/>
              </a:rPr>
              <a:t>Sistemas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computacionales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almacenamiento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0586" y="1044194"/>
            <a:ext cx="435991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215" dirty="0">
                <a:solidFill>
                  <a:srgbClr val="000000"/>
                </a:solidFill>
              </a:rPr>
              <a:t>Computadores </a:t>
            </a:r>
            <a:r>
              <a:rPr sz="2600" spc="-170" dirty="0">
                <a:solidFill>
                  <a:srgbClr val="000000"/>
                </a:solidFill>
              </a:rPr>
              <a:t>de </a:t>
            </a:r>
            <a:r>
              <a:rPr sz="2600" spc="-275" dirty="0">
                <a:solidFill>
                  <a:srgbClr val="000000"/>
                </a:solidFill>
              </a:rPr>
              <a:t>Rango</a:t>
            </a:r>
            <a:r>
              <a:rPr sz="2600" spc="35" dirty="0">
                <a:solidFill>
                  <a:srgbClr val="000000"/>
                </a:solidFill>
              </a:rPr>
              <a:t> </a:t>
            </a:r>
            <a:r>
              <a:rPr sz="2600" spc="-110" dirty="0">
                <a:solidFill>
                  <a:srgbClr val="000000"/>
                </a:solidFill>
              </a:rPr>
              <a:t>Medio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383540" y="1617471"/>
            <a:ext cx="5252720" cy="459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000" spc="-290" dirty="0">
                <a:latin typeface="Arial"/>
                <a:cs typeface="Arial"/>
              </a:rPr>
              <a:t>Es </a:t>
            </a:r>
            <a:r>
              <a:rPr sz="2000" spc="-110" dirty="0">
                <a:latin typeface="Arial"/>
                <a:cs typeface="Arial"/>
              </a:rPr>
              <a:t>menos </a:t>
            </a:r>
            <a:r>
              <a:rPr sz="2000" spc="-40" dirty="0">
                <a:latin typeface="Arial"/>
                <a:cs typeface="Arial"/>
              </a:rPr>
              <a:t>potente, </a:t>
            </a:r>
            <a:r>
              <a:rPr sz="2000" spc="-105" dirty="0">
                <a:latin typeface="Arial"/>
                <a:cs typeface="Arial"/>
              </a:rPr>
              <a:t>menos </a:t>
            </a:r>
            <a:r>
              <a:rPr sz="2000" spc="-125" dirty="0">
                <a:latin typeface="Arial"/>
                <a:cs typeface="Arial"/>
              </a:rPr>
              <a:t>cara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150" dirty="0">
                <a:latin typeface="Arial"/>
                <a:cs typeface="Arial"/>
              </a:rPr>
              <a:t>más </a:t>
            </a:r>
            <a:r>
              <a:rPr sz="2000" spc="-95" dirty="0">
                <a:latin typeface="Arial"/>
                <a:cs typeface="Arial"/>
              </a:rPr>
              <a:t>pequeña 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65" dirty="0">
                <a:latin typeface="Arial"/>
                <a:cs typeface="Arial"/>
              </a:rPr>
              <a:t>un </a:t>
            </a:r>
            <a:r>
              <a:rPr sz="2000" i="1" spc="-60" dirty="0">
                <a:latin typeface="Arial"/>
                <a:cs typeface="Arial"/>
              </a:rPr>
              <a:t>mainframe</a:t>
            </a:r>
            <a:r>
              <a:rPr sz="2000" spc="-60" dirty="0">
                <a:latin typeface="Arial"/>
                <a:cs typeface="Arial"/>
              </a:rPr>
              <a:t>, </a:t>
            </a:r>
            <a:r>
              <a:rPr sz="2000" spc="-65" dirty="0">
                <a:latin typeface="Arial"/>
                <a:cs typeface="Arial"/>
              </a:rPr>
              <a:t>pero </a:t>
            </a:r>
            <a:r>
              <a:rPr sz="2000" spc="-155" dirty="0">
                <a:latin typeface="Arial"/>
                <a:cs typeface="Arial"/>
              </a:rPr>
              <a:t>capaz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55" dirty="0">
                <a:latin typeface="Arial"/>
                <a:cs typeface="Arial"/>
              </a:rPr>
              <a:t>soportar </a:t>
            </a:r>
            <a:r>
              <a:rPr sz="2000" spc="-120" dirty="0">
                <a:latin typeface="Arial"/>
                <a:cs typeface="Arial"/>
              </a:rPr>
              <a:t>las  necesidades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60" dirty="0">
                <a:latin typeface="Arial"/>
                <a:cs typeface="Arial"/>
              </a:rPr>
              <a:t>cómputo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05" dirty="0">
                <a:latin typeface="Arial"/>
                <a:cs typeface="Arial"/>
              </a:rPr>
              <a:t>organizaciones </a:t>
            </a:r>
            <a:r>
              <a:rPr sz="2000" spc="-150" dirty="0">
                <a:latin typeface="Arial"/>
                <a:cs typeface="Arial"/>
              </a:rPr>
              <a:t>más  </a:t>
            </a:r>
            <a:r>
              <a:rPr sz="2000" spc="-110" dirty="0">
                <a:latin typeface="Arial"/>
                <a:cs typeface="Arial"/>
              </a:rPr>
              <a:t>pequeñas </a:t>
            </a:r>
            <a:r>
              <a:rPr sz="2000" spc="-60" dirty="0">
                <a:latin typeface="Arial"/>
                <a:cs typeface="Arial"/>
              </a:rPr>
              <a:t>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55" dirty="0">
                <a:latin typeface="Arial"/>
                <a:cs typeface="Arial"/>
              </a:rPr>
              <a:t>administrar </a:t>
            </a:r>
            <a:r>
              <a:rPr sz="2000" spc="-105" dirty="0">
                <a:latin typeface="Arial"/>
                <a:cs typeface="Arial"/>
              </a:rPr>
              <a:t>redes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0" dirty="0">
                <a:latin typeface="Arial"/>
                <a:cs typeface="Arial"/>
              </a:rPr>
              <a:t>otras  </a:t>
            </a:r>
            <a:r>
              <a:rPr sz="2000" spc="-85" dirty="0">
                <a:latin typeface="Arial"/>
                <a:cs typeface="Arial"/>
              </a:rPr>
              <a:t>computadoras. </a:t>
            </a:r>
            <a:r>
              <a:rPr sz="2000" spc="-220" dirty="0">
                <a:latin typeface="Arial"/>
                <a:cs typeface="Arial"/>
              </a:rPr>
              <a:t>Las </a:t>
            </a:r>
            <a:r>
              <a:rPr sz="2000" spc="-85" dirty="0">
                <a:latin typeface="Arial"/>
                <a:cs typeface="Arial"/>
              </a:rPr>
              <a:t>computadoras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95" dirty="0">
                <a:latin typeface="Arial"/>
                <a:cs typeface="Arial"/>
              </a:rPr>
              <a:t>rango </a:t>
            </a:r>
            <a:r>
              <a:rPr sz="2000" spc="-60" dirty="0">
                <a:latin typeface="Arial"/>
                <a:cs typeface="Arial"/>
              </a:rPr>
              <a:t>medio  </a:t>
            </a:r>
            <a:r>
              <a:rPr sz="2000" spc="-85" dirty="0">
                <a:latin typeface="Arial"/>
                <a:cs typeface="Arial"/>
              </a:rPr>
              <a:t>pueden </a:t>
            </a:r>
            <a:r>
              <a:rPr sz="2000" spc="-105" dirty="0">
                <a:latin typeface="Arial"/>
                <a:cs typeface="Arial"/>
              </a:rPr>
              <a:t>ser </a:t>
            </a:r>
            <a:r>
              <a:rPr sz="2000" spc="-70" dirty="0">
                <a:latin typeface="Arial"/>
                <a:cs typeface="Arial"/>
              </a:rPr>
              <a:t>minicomputadoras, </a:t>
            </a:r>
            <a:r>
              <a:rPr sz="2000" spc="-60" dirty="0">
                <a:latin typeface="Arial"/>
                <a:cs typeface="Arial"/>
              </a:rPr>
              <a:t>o </a:t>
            </a:r>
            <a:r>
              <a:rPr sz="2000" spc="-65" dirty="0">
                <a:latin typeface="Arial"/>
                <a:cs typeface="Arial"/>
              </a:rPr>
              <a:t>bien, </a:t>
            </a:r>
            <a:r>
              <a:rPr sz="2000" spc="-85" dirty="0">
                <a:latin typeface="Arial"/>
                <a:cs typeface="Arial"/>
              </a:rPr>
              <a:t>pueden </a:t>
            </a:r>
            <a:r>
              <a:rPr sz="2000" spc="-105" dirty="0">
                <a:latin typeface="Arial"/>
                <a:cs typeface="Arial"/>
              </a:rPr>
              <a:t>ser  </a:t>
            </a:r>
            <a:r>
              <a:rPr sz="2000" spc="-80" dirty="0">
                <a:latin typeface="Arial"/>
                <a:cs typeface="Arial"/>
              </a:rPr>
              <a:t>servidores. </a:t>
            </a:r>
            <a:r>
              <a:rPr sz="2000" spc="-220" dirty="0">
                <a:latin typeface="Arial"/>
                <a:cs typeface="Arial"/>
              </a:rPr>
              <a:t>Las </a:t>
            </a:r>
            <a:r>
              <a:rPr sz="2000" spc="-85" dirty="0">
                <a:latin typeface="Arial"/>
                <a:cs typeface="Arial"/>
              </a:rPr>
              <a:t>computadoras </a:t>
            </a:r>
            <a:r>
              <a:rPr sz="2000" spc="-60" dirty="0">
                <a:latin typeface="Arial"/>
                <a:cs typeface="Arial"/>
              </a:rPr>
              <a:t>del </a:t>
            </a:r>
            <a:r>
              <a:rPr sz="2000" dirty="0">
                <a:latin typeface="Arial"/>
                <a:cs typeface="Arial"/>
              </a:rPr>
              <a:t>tipo </a:t>
            </a:r>
            <a:r>
              <a:rPr sz="2000" spc="-85" dirty="0">
                <a:latin typeface="Arial"/>
                <a:cs typeface="Arial"/>
              </a:rPr>
              <a:t>servidores  </a:t>
            </a:r>
            <a:r>
              <a:rPr sz="2000" spc="-100" dirty="0">
                <a:latin typeface="Arial"/>
                <a:cs typeface="Arial"/>
              </a:rPr>
              <a:t>están </a:t>
            </a:r>
            <a:r>
              <a:rPr sz="2000" spc="-85" dirty="0">
                <a:latin typeface="Arial"/>
                <a:cs typeface="Arial"/>
              </a:rPr>
              <a:t>optimizadas </a:t>
            </a:r>
            <a:r>
              <a:rPr sz="2000" spc="-90" dirty="0">
                <a:latin typeface="Arial"/>
                <a:cs typeface="Arial"/>
              </a:rPr>
              <a:t>específicamente </a:t>
            </a:r>
            <a:r>
              <a:rPr sz="2000" spc="-100" dirty="0">
                <a:latin typeface="Arial"/>
                <a:cs typeface="Arial"/>
              </a:rPr>
              <a:t>para </a:t>
            </a:r>
            <a:r>
              <a:rPr sz="2000" spc="-55" dirty="0">
                <a:latin typeface="Arial"/>
                <a:cs typeface="Arial"/>
              </a:rPr>
              <a:t>soportar 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60" dirty="0">
                <a:latin typeface="Arial"/>
                <a:cs typeface="Arial"/>
              </a:rPr>
              <a:t>red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85" dirty="0">
                <a:latin typeface="Arial"/>
                <a:cs typeface="Arial"/>
              </a:rPr>
              <a:t>computadoras,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40" dirty="0">
                <a:latin typeface="Arial"/>
                <a:cs typeface="Arial"/>
              </a:rPr>
              <a:t>permiten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90" dirty="0">
                <a:latin typeface="Arial"/>
                <a:cs typeface="Arial"/>
              </a:rPr>
              <a:t>los  </a:t>
            </a:r>
            <a:r>
              <a:rPr sz="2000" spc="-95" dirty="0">
                <a:latin typeface="Arial"/>
                <a:cs typeface="Arial"/>
              </a:rPr>
              <a:t>usuarios </a:t>
            </a:r>
            <a:r>
              <a:rPr sz="2000" spc="-70" dirty="0">
                <a:latin typeface="Arial"/>
                <a:cs typeface="Arial"/>
              </a:rPr>
              <a:t>compartan </a:t>
            </a:r>
            <a:r>
              <a:rPr sz="2000" spc="-90" dirty="0">
                <a:latin typeface="Arial"/>
                <a:cs typeface="Arial"/>
              </a:rPr>
              <a:t>archivos, </a:t>
            </a:r>
            <a:r>
              <a:rPr sz="2000" spc="-55" dirty="0">
                <a:latin typeface="Arial"/>
                <a:cs typeface="Arial"/>
              </a:rPr>
              <a:t>software,  </a:t>
            </a:r>
            <a:r>
              <a:rPr sz="2000" spc="-75" dirty="0">
                <a:latin typeface="Arial"/>
                <a:cs typeface="Arial"/>
              </a:rPr>
              <a:t>dispositivos </a:t>
            </a:r>
            <a:r>
              <a:rPr sz="2000" spc="-60" dirty="0">
                <a:latin typeface="Arial"/>
                <a:cs typeface="Arial"/>
              </a:rPr>
              <a:t>periféricos </a:t>
            </a:r>
            <a:r>
              <a:rPr sz="2000" spc="-90" dirty="0">
                <a:latin typeface="Arial"/>
                <a:cs typeface="Arial"/>
              </a:rPr>
              <a:t>(como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90" dirty="0">
                <a:latin typeface="Arial"/>
                <a:cs typeface="Arial"/>
              </a:rPr>
              <a:t>impresoras) </a:t>
            </a:r>
            <a:r>
              <a:rPr sz="2000" spc="-65" dirty="0">
                <a:latin typeface="Arial"/>
                <a:cs typeface="Arial"/>
              </a:rPr>
              <a:t>u  </a:t>
            </a:r>
            <a:r>
              <a:rPr sz="2000" spc="-50" dirty="0">
                <a:latin typeface="Arial"/>
                <a:cs typeface="Arial"/>
              </a:rPr>
              <a:t>otros </a:t>
            </a:r>
            <a:r>
              <a:rPr sz="2000" spc="-105" dirty="0">
                <a:latin typeface="Arial"/>
                <a:cs typeface="Arial"/>
              </a:rPr>
              <a:t>recursos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95" dirty="0">
                <a:latin typeface="Arial"/>
                <a:cs typeface="Arial"/>
              </a:rPr>
              <a:t>redes. </a:t>
            </a:r>
            <a:r>
              <a:rPr sz="2000" spc="-190" dirty="0">
                <a:latin typeface="Arial"/>
                <a:cs typeface="Arial"/>
              </a:rPr>
              <a:t>Los </a:t>
            </a:r>
            <a:r>
              <a:rPr sz="2000" spc="-85" dirty="0">
                <a:latin typeface="Arial"/>
                <a:cs typeface="Arial"/>
              </a:rPr>
              <a:t>servidores </a:t>
            </a:r>
            <a:r>
              <a:rPr sz="2000" spc="-40" dirty="0">
                <a:latin typeface="Arial"/>
                <a:cs typeface="Arial"/>
              </a:rPr>
              <a:t>tienen  </a:t>
            </a:r>
            <a:r>
              <a:rPr sz="2000" spc="-105" dirty="0">
                <a:latin typeface="Arial"/>
                <a:cs typeface="Arial"/>
              </a:rPr>
              <a:t>gran </a:t>
            </a:r>
            <a:r>
              <a:rPr sz="2000" spc="-65" dirty="0">
                <a:latin typeface="Arial"/>
                <a:cs typeface="Arial"/>
              </a:rPr>
              <a:t>memoria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110" dirty="0">
                <a:latin typeface="Arial"/>
                <a:cs typeface="Arial"/>
              </a:rPr>
              <a:t>capacidad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almacenamiento </a:t>
            </a:r>
            <a:r>
              <a:rPr sz="2000" spc="-100" dirty="0">
                <a:latin typeface="Arial"/>
                <a:cs typeface="Arial"/>
              </a:rPr>
              <a:t>en  disco, </a:t>
            </a:r>
            <a:r>
              <a:rPr sz="2000" spc="-120" dirty="0">
                <a:latin typeface="Arial"/>
                <a:cs typeface="Arial"/>
              </a:rPr>
              <a:t>capacidades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00" dirty="0">
                <a:latin typeface="Arial"/>
                <a:cs typeface="Arial"/>
              </a:rPr>
              <a:t>comunicaciones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50" dirty="0">
                <a:latin typeface="Arial"/>
                <a:cs typeface="Arial"/>
              </a:rPr>
              <a:t>alta  </a:t>
            </a:r>
            <a:r>
              <a:rPr sz="2000" spc="-80" dirty="0">
                <a:latin typeface="Arial"/>
                <a:cs typeface="Arial"/>
              </a:rPr>
              <a:t>velocidad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270" dirty="0">
                <a:latin typeface="Arial"/>
                <a:cs typeface="Arial"/>
              </a:rPr>
              <a:t>CPUs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potentes.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978236" y="1212263"/>
            <a:ext cx="1219200" cy="1925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29400" y="3124200"/>
            <a:ext cx="2380488" cy="1600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10992" y="4724400"/>
            <a:ext cx="1631876" cy="1524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26</a:t>
            </a:fld>
            <a:endParaRPr spc="-5" dirty="0"/>
          </a:p>
        </p:txBody>
      </p:sp>
      <p:sp>
        <p:nvSpPr>
          <p:cNvPr id="10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53517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/>
              <a:t>– </a:t>
            </a:r>
            <a:r>
              <a:rPr spc="-114" dirty="0"/>
              <a:t>Hardware</a:t>
            </a:r>
            <a:r>
              <a:rPr spc="-150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25" dirty="0">
                <a:latin typeface="Arial"/>
                <a:cs typeface="Arial"/>
              </a:rPr>
              <a:t>Sistemas </a:t>
            </a:r>
            <a:r>
              <a:rPr sz="1800" b="0" spc="-75" dirty="0">
                <a:latin typeface="Arial"/>
                <a:cs typeface="Arial"/>
              </a:rPr>
              <a:t>computacionales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10" dirty="0">
                <a:latin typeface="Arial"/>
                <a:cs typeface="Arial"/>
              </a:rPr>
              <a:t> </a:t>
            </a:r>
            <a:r>
              <a:rPr sz="1800" b="0" spc="-70" dirty="0">
                <a:latin typeface="Arial"/>
                <a:cs typeface="Arial"/>
              </a:rPr>
              <a:t>almacenamiento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727191" y="1613916"/>
            <a:ext cx="2097023" cy="24772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54423" y="2471166"/>
            <a:ext cx="1259839" cy="1429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71600" y="1546097"/>
            <a:ext cx="2561844" cy="29497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70586" y="1044194"/>
            <a:ext cx="342836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210" dirty="0">
                <a:latin typeface="Arial"/>
                <a:cs typeface="Arial"/>
              </a:rPr>
              <a:t>Servidores </a:t>
            </a:r>
            <a:r>
              <a:rPr sz="2600" b="1" spc="-220" dirty="0">
                <a:latin typeface="Arial"/>
                <a:cs typeface="Arial"/>
              </a:rPr>
              <a:t>y</a:t>
            </a:r>
            <a:r>
              <a:rPr sz="2600" b="1" spc="-110" dirty="0">
                <a:latin typeface="Arial"/>
                <a:cs typeface="Arial"/>
              </a:rPr>
              <a:t> </a:t>
            </a:r>
            <a:r>
              <a:rPr sz="2600" b="1" spc="-150" dirty="0">
                <a:latin typeface="Arial"/>
                <a:cs typeface="Arial"/>
              </a:rPr>
              <a:t>Mainframes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27</a:t>
            </a:fld>
            <a:endParaRPr spc="-5" dirty="0"/>
          </a:p>
        </p:txBody>
      </p:sp>
      <p:sp>
        <p:nvSpPr>
          <p:cNvPr id="7" name="object 7"/>
          <p:cNvSpPr txBox="1"/>
          <p:nvPr/>
        </p:nvSpPr>
        <p:spPr>
          <a:xfrm>
            <a:off x="307340" y="4208526"/>
            <a:ext cx="8529955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000" spc="-290" dirty="0">
                <a:latin typeface="Arial"/>
                <a:cs typeface="Arial"/>
              </a:rPr>
              <a:t>Es </a:t>
            </a:r>
            <a:r>
              <a:rPr sz="2000" spc="-75" dirty="0">
                <a:latin typeface="Arial"/>
                <a:cs typeface="Arial"/>
              </a:rPr>
              <a:t>la computadora </a:t>
            </a:r>
            <a:r>
              <a:rPr sz="2000" spc="-150" dirty="0">
                <a:latin typeface="Arial"/>
                <a:cs typeface="Arial"/>
              </a:rPr>
              <a:t>más </a:t>
            </a:r>
            <a:r>
              <a:rPr sz="2000" spc="-100" dirty="0">
                <a:latin typeface="Arial"/>
                <a:cs typeface="Arial"/>
              </a:rPr>
              <a:t>grande y poderosa </a:t>
            </a:r>
            <a:r>
              <a:rPr sz="2000" spc="-105" dirty="0">
                <a:latin typeface="Arial"/>
                <a:cs typeface="Arial"/>
              </a:rPr>
              <a:t>con </a:t>
            </a:r>
            <a:r>
              <a:rPr sz="2000" spc="-65" dirty="0">
                <a:latin typeface="Arial"/>
                <a:cs typeface="Arial"/>
              </a:rPr>
              <a:t>memoria </a:t>
            </a:r>
            <a:r>
              <a:rPr sz="2000" spc="-120" dirty="0">
                <a:latin typeface="Arial"/>
                <a:cs typeface="Arial"/>
              </a:rPr>
              <a:t>masiva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65" dirty="0">
                <a:latin typeface="Arial"/>
                <a:cs typeface="Arial"/>
              </a:rPr>
              <a:t>potencia </a:t>
            </a:r>
            <a:r>
              <a:rPr sz="2000" spc="-90" dirty="0">
                <a:latin typeface="Arial"/>
                <a:cs typeface="Arial"/>
              </a:rPr>
              <a:t>de  </a:t>
            </a:r>
            <a:r>
              <a:rPr sz="2000" spc="-80" dirty="0">
                <a:latin typeface="Arial"/>
                <a:cs typeface="Arial"/>
              </a:rPr>
              <a:t>procesamiento </a:t>
            </a:r>
            <a:r>
              <a:rPr sz="2000" spc="-75" dirty="0">
                <a:latin typeface="Arial"/>
                <a:cs typeface="Arial"/>
              </a:rPr>
              <a:t>extremadamente </a:t>
            </a:r>
            <a:r>
              <a:rPr sz="2000" spc="-70" dirty="0">
                <a:latin typeface="Arial"/>
                <a:cs typeface="Arial"/>
              </a:rPr>
              <a:t>rápida. </a:t>
            </a:r>
            <a:r>
              <a:rPr sz="2000" spc="-265" dirty="0">
                <a:latin typeface="Arial"/>
                <a:cs typeface="Arial"/>
              </a:rPr>
              <a:t>Se </a:t>
            </a:r>
            <a:r>
              <a:rPr sz="2000" spc="-150" dirty="0">
                <a:latin typeface="Arial"/>
                <a:cs typeface="Arial"/>
              </a:rPr>
              <a:t>usa </a:t>
            </a:r>
            <a:r>
              <a:rPr sz="2000" spc="-100" dirty="0">
                <a:latin typeface="Arial"/>
                <a:cs typeface="Arial"/>
              </a:rPr>
              <a:t>para </a:t>
            </a:r>
            <a:r>
              <a:rPr sz="2000" spc="-95" dirty="0">
                <a:latin typeface="Arial"/>
                <a:cs typeface="Arial"/>
              </a:rPr>
              <a:t>aplicaciones </a:t>
            </a:r>
            <a:r>
              <a:rPr sz="2000" spc="-80" dirty="0">
                <a:latin typeface="Arial"/>
                <a:cs typeface="Arial"/>
              </a:rPr>
              <a:t>muy </a:t>
            </a:r>
            <a:r>
              <a:rPr sz="2000" spc="-114" dirty="0">
                <a:latin typeface="Arial"/>
                <a:cs typeface="Arial"/>
              </a:rPr>
              <a:t>grandes </a:t>
            </a:r>
            <a:r>
              <a:rPr sz="2000" spc="-90" dirty="0">
                <a:latin typeface="Arial"/>
                <a:cs typeface="Arial"/>
              </a:rPr>
              <a:t>de  </a:t>
            </a:r>
            <a:r>
              <a:rPr sz="2000" spc="-105" dirty="0">
                <a:latin typeface="Arial"/>
                <a:cs typeface="Arial"/>
              </a:rPr>
              <a:t>negocios, </a:t>
            </a:r>
            <a:r>
              <a:rPr sz="2000" spc="-75" dirty="0">
                <a:latin typeface="Arial"/>
                <a:cs typeface="Arial"/>
              </a:rPr>
              <a:t>científicas </a:t>
            </a:r>
            <a:r>
              <a:rPr sz="2000" spc="-60" dirty="0">
                <a:latin typeface="Arial"/>
                <a:cs typeface="Arial"/>
              </a:rPr>
              <a:t>o </a:t>
            </a:r>
            <a:r>
              <a:rPr sz="2000" spc="-50" dirty="0">
                <a:latin typeface="Arial"/>
                <a:cs typeface="Arial"/>
              </a:rPr>
              <a:t>militares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75" dirty="0">
                <a:latin typeface="Arial"/>
                <a:cs typeface="Arial"/>
              </a:rPr>
              <a:t>computadora </a:t>
            </a:r>
            <a:r>
              <a:rPr sz="2000" spc="-95" dirty="0">
                <a:latin typeface="Arial"/>
                <a:cs typeface="Arial"/>
              </a:rPr>
              <a:t>debe </a:t>
            </a:r>
            <a:r>
              <a:rPr sz="2000" spc="-75" dirty="0">
                <a:latin typeface="Arial"/>
                <a:cs typeface="Arial"/>
              </a:rPr>
              <a:t>manejar  </a:t>
            </a:r>
            <a:r>
              <a:rPr sz="2000" spc="-90" dirty="0">
                <a:latin typeface="Arial"/>
                <a:cs typeface="Arial"/>
              </a:rPr>
              <a:t>cantidades </a:t>
            </a:r>
            <a:r>
              <a:rPr sz="2000" spc="-135" dirty="0">
                <a:latin typeface="Arial"/>
                <a:cs typeface="Arial"/>
              </a:rPr>
              <a:t>masivas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datos </a:t>
            </a:r>
            <a:r>
              <a:rPr sz="2000" spc="-60" dirty="0">
                <a:latin typeface="Arial"/>
                <a:cs typeface="Arial"/>
              </a:rPr>
              <a:t>o </a:t>
            </a:r>
            <a:r>
              <a:rPr sz="2000" spc="-105" dirty="0">
                <a:latin typeface="Arial"/>
                <a:cs typeface="Arial"/>
              </a:rPr>
              <a:t>muchos </a:t>
            </a:r>
            <a:r>
              <a:rPr sz="2000" spc="-114" dirty="0">
                <a:latin typeface="Arial"/>
                <a:cs typeface="Arial"/>
              </a:rPr>
              <a:t>procesos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complicados.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1588770" marR="1583055" indent="869315">
              <a:lnSpc>
                <a:spcPct val="100000"/>
              </a:lnSpc>
            </a:pPr>
            <a:r>
              <a:rPr sz="2000" b="1" spc="-114" dirty="0">
                <a:latin typeface="Arial"/>
                <a:cs typeface="Arial"/>
              </a:rPr>
              <a:t>(Video: </a:t>
            </a:r>
            <a:r>
              <a:rPr sz="2000" b="1" spc="-254" dirty="0">
                <a:latin typeface="Arial"/>
                <a:cs typeface="Arial"/>
              </a:rPr>
              <a:t>En </a:t>
            </a:r>
            <a:r>
              <a:rPr sz="2000" b="1" spc="-170" dirty="0">
                <a:latin typeface="Arial"/>
                <a:cs typeface="Arial"/>
              </a:rPr>
              <a:t>las </a:t>
            </a:r>
            <a:r>
              <a:rPr sz="2000" b="1" spc="-140" dirty="0">
                <a:latin typeface="Arial"/>
                <a:cs typeface="Arial"/>
              </a:rPr>
              <a:t>entrañas </a:t>
            </a:r>
            <a:r>
              <a:rPr sz="2000" b="1" spc="-130" dirty="0">
                <a:latin typeface="Arial"/>
                <a:cs typeface="Arial"/>
              </a:rPr>
              <a:t>de </a:t>
            </a:r>
            <a:r>
              <a:rPr sz="2000" b="1" spc="-160" dirty="0">
                <a:latin typeface="Arial"/>
                <a:cs typeface="Arial"/>
              </a:rPr>
              <a:t>Google)  </a:t>
            </a:r>
            <a:r>
              <a:rPr sz="2000" b="1" u="heavy" spc="-130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5"/>
              </a:rPr>
              <a:t>http://www.youtube.com/watch?v=hOxUSR1VBcg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0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77000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53517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/>
              <a:t>– </a:t>
            </a:r>
            <a:r>
              <a:rPr spc="-114" dirty="0"/>
              <a:t>Hardware</a:t>
            </a:r>
            <a:r>
              <a:rPr spc="-150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25" dirty="0">
                <a:latin typeface="Arial"/>
                <a:cs typeface="Arial"/>
              </a:rPr>
              <a:t>Sistemas </a:t>
            </a:r>
            <a:r>
              <a:rPr sz="1800" b="0" spc="-75" dirty="0">
                <a:latin typeface="Arial"/>
                <a:cs typeface="Arial"/>
              </a:rPr>
              <a:t>computacionales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10" dirty="0">
                <a:latin typeface="Arial"/>
                <a:cs typeface="Arial"/>
              </a:rPr>
              <a:t> </a:t>
            </a:r>
            <a:r>
              <a:rPr sz="1800" b="0" spc="-70" dirty="0">
                <a:latin typeface="Arial"/>
                <a:cs typeface="Arial"/>
              </a:rPr>
              <a:t>almacenamiento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28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70586" y="912678"/>
            <a:ext cx="8529320" cy="1873250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600" b="1" spc="-195" dirty="0">
                <a:latin typeface="Arial"/>
                <a:cs typeface="Arial"/>
              </a:rPr>
              <a:t>Periféricos</a:t>
            </a:r>
            <a:endParaRPr sz="26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795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000" spc="-170" dirty="0">
                <a:latin typeface="Arial"/>
                <a:cs typeface="Arial"/>
              </a:rPr>
              <a:t>Todos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80" dirty="0">
                <a:latin typeface="Arial"/>
                <a:cs typeface="Arial"/>
              </a:rPr>
              <a:t>dispositivos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0" dirty="0">
                <a:latin typeface="Arial"/>
                <a:cs typeface="Arial"/>
              </a:rPr>
              <a:t>entrada, </a:t>
            </a:r>
            <a:r>
              <a:rPr sz="2000" spc="-100" dirty="0">
                <a:latin typeface="Arial"/>
                <a:cs typeface="Arial"/>
              </a:rPr>
              <a:t>salida y </a:t>
            </a:r>
            <a:r>
              <a:rPr sz="2000" spc="-80" dirty="0">
                <a:latin typeface="Arial"/>
                <a:cs typeface="Arial"/>
              </a:rPr>
              <a:t>almacenamiento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secundario.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000" spc="-185" dirty="0">
                <a:latin typeface="Arial"/>
                <a:cs typeface="Arial"/>
              </a:rPr>
              <a:t>Son </a:t>
            </a:r>
            <a:r>
              <a:rPr sz="2000" spc="-50" dirty="0">
                <a:latin typeface="Arial"/>
                <a:cs typeface="Arial"/>
              </a:rPr>
              <a:t>parte </a:t>
            </a:r>
            <a:r>
              <a:rPr sz="2000" spc="-60" dirty="0">
                <a:latin typeface="Arial"/>
                <a:cs typeface="Arial"/>
              </a:rPr>
              <a:t>del </a:t>
            </a:r>
            <a:r>
              <a:rPr sz="2000" spc="-105" dirty="0">
                <a:latin typeface="Arial"/>
                <a:cs typeface="Arial"/>
              </a:rPr>
              <a:t>sistema </a:t>
            </a:r>
            <a:r>
              <a:rPr sz="2000" spc="-45" dirty="0">
                <a:latin typeface="Arial"/>
                <a:cs typeface="Arial"/>
              </a:rPr>
              <a:t>informático </a:t>
            </a:r>
            <a:r>
              <a:rPr sz="2000" spc="-65" dirty="0">
                <a:latin typeface="Arial"/>
                <a:cs typeface="Arial"/>
              </a:rPr>
              <a:t>pero no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</a:t>
            </a:r>
            <a:r>
              <a:rPr sz="2000" spc="-170" dirty="0">
                <a:latin typeface="Arial"/>
                <a:cs typeface="Arial"/>
              </a:rPr>
              <a:t> </a:t>
            </a:r>
            <a:r>
              <a:rPr sz="2000" spc="-235" dirty="0">
                <a:latin typeface="Arial"/>
                <a:cs typeface="Arial"/>
              </a:rPr>
              <a:t>CPU.</a:t>
            </a:r>
            <a:endParaRPr sz="2000">
              <a:latin typeface="Arial"/>
              <a:cs typeface="Arial"/>
            </a:endParaRPr>
          </a:p>
          <a:p>
            <a:pPr marL="469900" marR="5080" indent="-457200">
              <a:lnSpc>
                <a:spcPct val="100000"/>
              </a:lnSpc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000" spc="-110" dirty="0">
                <a:latin typeface="Arial"/>
                <a:cs typeface="Arial"/>
              </a:rPr>
              <a:t>No </a:t>
            </a:r>
            <a:r>
              <a:rPr sz="2000" spc="-120" dirty="0">
                <a:latin typeface="Arial"/>
                <a:cs typeface="Arial"/>
              </a:rPr>
              <a:t>son </a:t>
            </a:r>
            <a:r>
              <a:rPr sz="2000" spc="-70" dirty="0">
                <a:latin typeface="Arial"/>
                <a:cs typeface="Arial"/>
              </a:rPr>
              <a:t>independientes: </a:t>
            </a:r>
            <a:r>
              <a:rPr sz="2000" spc="-85" dirty="0">
                <a:latin typeface="Arial"/>
                <a:cs typeface="Arial"/>
              </a:rPr>
              <a:t>pueden </a:t>
            </a:r>
            <a:r>
              <a:rPr sz="2000" spc="-100" dirty="0">
                <a:latin typeface="Arial"/>
                <a:cs typeface="Arial"/>
              </a:rPr>
              <a:t>conectarse </a:t>
            </a:r>
            <a:r>
              <a:rPr sz="2000" spc="-70" dirty="0">
                <a:latin typeface="Arial"/>
                <a:cs typeface="Arial"/>
              </a:rPr>
              <a:t>al </a:t>
            </a:r>
            <a:r>
              <a:rPr sz="2000" spc="-100" dirty="0">
                <a:latin typeface="Arial"/>
                <a:cs typeface="Arial"/>
              </a:rPr>
              <a:t>sistema y </a:t>
            </a:r>
            <a:r>
              <a:rPr sz="2000" spc="-120" dirty="0">
                <a:latin typeface="Arial"/>
                <a:cs typeface="Arial"/>
              </a:rPr>
              <a:t>son </a:t>
            </a:r>
            <a:r>
              <a:rPr sz="2000" spc="-70" dirty="0">
                <a:latin typeface="Arial"/>
                <a:cs typeface="Arial"/>
              </a:rPr>
              <a:t>controlados </a:t>
            </a:r>
            <a:r>
              <a:rPr sz="2000" spc="-40" dirty="0">
                <a:latin typeface="Arial"/>
                <a:cs typeface="Arial"/>
              </a:rPr>
              <a:t>por  </a:t>
            </a:r>
            <a:r>
              <a:rPr sz="2000" spc="-75" dirty="0">
                <a:latin typeface="Arial"/>
                <a:cs typeface="Arial"/>
              </a:rPr>
              <a:t>la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35" dirty="0">
                <a:latin typeface="Arial"/>
                <a:cs typeface="Arial"/>
              </a:rPr>
              <a:t>CPU.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453517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14" dirty="0">
                <a:solidFill>
                  <a:srgbClr val="FFFFFF"/>
                </a:solidFill>
                <a:latin typeface="Arial"/>
                <a:cs typeface="Arial"/>
              </a:rPr>
              <a:t>Hardware</a:t>
            </a:r>
            <a:r>
              <a:rPr sz="2000" b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25" dirty="0">
                <a:solidFill>
                  <a:srgbClr val="FFFFFF"/>
                </a:solidFill>
                <a:latin typeface="Arial"/>
                <a:cs typeface="Arial"/>
              </a:rPr>
              <a:t>Sistemas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computacionales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almacenamiento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0586" y="1044194"/>
            <a:ext cx="303276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95" dirty="0">
                <a:latin typeface="Arial"/>
                <a:cs typeface="Arial"/>
              </a:rPr>
              <a:t>Periféricos </a:t>
            </a:r>
            <a:r>
              <a:rPr sz="2600" b="1" spc="-170" dirty="0">
                <a:latin typeface="Arial"/>
                <a:cs typeface="Arial"/>
              </a:rPr>
              <a:t>de</a:t>
            </a:r>
            <a:r>
              <a:rPr sz="2600" b="1" spc="-85" dirty="0">
                <a:latin typeface="Arial"/>
                <a:cs typeface="Arial"/>
              </a:rPr>
              <a:t> </a:t>
            </a:r>
            <a:r>
              <a:rPr sz="2600" b="1" spc="-145" dirty="0">
                <a:latin typeface="Arial"/>
                <a:cs typeface="Arial"/>
              </a:rPr>
              <a:t>entrada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25395" y="3514344"/>
            <a:ext cx="2121408" cy="707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3400" y="1600200"/>
            <a:ext cx="1710689" cy="12816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62800" y="4724400"/>
            <a:ext cx="1447800" cy="10706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3400" y="4419600"/>
            <a:ext cx="2667000" cy="17225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67812" y="4895088"/>
            <a:ext cx="1594153" cy="15057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47614" y="1708404"/>
            <a:ext cx="1263959" cy="103479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34200" y="3048000"/>
            <a:ext cx="1233677" cy="98014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648200" y="1752600"/>
            <a:ext cx="1908809" cy="126949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48200" y="3048000"/>
            <a:ext cx="1905000" cy="19050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10400" y="1447800"/>
            <a:ext cx="1189481" cy="118946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29</a:t>
            </a:fld>
            <a:endParaRPr spc="-5" dirty="0"/>
          </a:p>
        </p:txBody>
      </p:sp>
      <p:sp>
        <p:nvSpPr>
          <p:cNvPr id="16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453517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14" dirty="0">
                <a:solidFill>
                  <a:srgbClr val="FFFFFF"/>
                </a:solidFill>
                <a:latin typeface="Arial"/>
                <a:cs typeface="Arial"/>
              </a:rPr>
              <a:t>Hardware</a:t>
            </a:r>
            <a:r>
              <a:rPr sz="2000" b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25" dirty="0">
                <a:solidFill>
                  <a:srgbClr val="FFFFFF"/>
                </a:solidFill>
                <a:latin typeface="Arial"/>
                <a:cs typeface="Arial"/>
              </a:rPr>
              <a:t>Sistemas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computacionales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almacenamiento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0586" y="1044194"/>
            <a:ext cx="276225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95" dirty="0">
                <a:latin typeface="Arial"/>
                <a:cs typeface="Arial"/>
              </a:rPr>
              <a:t>Periféricos </a:t>
            </a:r>
            <a:r>
              <a:rPr sz="2600" b="1" spc="-170" dirty="0">
                <a:latin typeface="Arial"/>
                <a:cs typeface="Arial"/>
              </a:rPr>
              <a:t>de</a:t>
            </a:r>
            <a:r>
              <a:rPr sz="2600" b="1" spc="-90" dirty="0">
                <a:latin typeface="Arial"/>
                <a:cs typeface="Arial"/>
              </a:rPr>
              <a:t> </a:t>
            </a:r>
            <a:r>
              <a:rPr sz="2600" b="1" spc="-185" dirty="0">
                <a:latin typeface="Arial"/>
                <a:cs typeface="Arial"/>
              </a:rPr>
              <a:t>salida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5800" y="1524000"/>
            <a:ext cx="1676400" cy="19156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01533" y="1447800"/>
            <a:ext cx="1837266" cy="1905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86600" y="1676400"/>
            <a:ext cx="1372361" cy="12835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81800" y="3429000"/>
            <a:ext cx="1752600" cy="224866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9600" y="3886200"/>
            <a:ext cx="1981200" cy="120950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24200" y="3505200"/>
            <a:ext cx="2819400" cy="23286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30</a:t>
            </a:fld>
            <a:endParaRPr spc="-5" dirty="0"/>
          </a:p>
        </p:txBody>
      </p:sp>
      <p:sp>
        <p:nvSpPr>
          <p:cNvPr id="12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53517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/>
              <a:t>– </a:t>
            </a:r>
            <a:r>
              <a:rPr spc="-114" dirty="0"/>
              <a:t>Hardware</a:t>
            </a:r>
            <a:r>
              <a:rPr spc="-150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25" dirty="0">
                <a:latin typeface="Arial"/>
                <a:cs typeface="Arial"/>
              </a:rPr>
              <a:t>Sistemas </a:t>
            </a:r>
            <a:r>
              <a:rPr sz="1800" b="0" spc="-75" dirty="0">
                <a:latin typeface="Arial"/>
                <a:cs typeface="Arial"/>
              </a:rPr>
              <a:t>computacionales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10" dirty="0">
                <a:latin typeface="Arial"/>
                <a:cs typeface="Arial"/>
              </a:rPr>
              <a:t> </a:t>
            </a:r>
            <a:r>
              <a:rPr sz="1800" b="0" spc="-70" dirty="0">
                <a:latin typeface="Arial"/>
                <a:cs typeface="Arial"/>
              </a:rPr>
              <a:t>almacenamiento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0586" y="1044194"/>
            <a:ext cx="426466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95" dirty="0">
                <a:latin typeface="Arial"/>
                <a:cs typeface="Arial"/>
              </a:rPr>
              <a:t>Periféricos </a:t>
            </a:r>
            <a:r>
              <a:rPr sz="2600" b="1" spc="-170" dirty="0">
                <a:latin typeface="Arial"/>
                <a:cs typeface="Arial"/>
              </a:rPr>
              <a:t>de</a:t>
            </a:r>
            <a:r>
              <a:rPr sz="2600" b="1" spc="-75" dirty="0">
                <a:latin typeface="Arial"/>
                <a:cs typeface="Arial"/>
              </a:rPr>
              <a:t> </a:t>
            </a:r>
            <a:r>
              <a:rPr sz="2600" b="1" spc="-165" dirty="0">
                <a:latin typeface="Arial"/>
                <a:cs typeface="Arial"/>
              </a:rPr>
              <a:t>almacenamiento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29380" y="1676780"/>
            <a:ext cx="1447800" cy="1143000"/>
          </a:xfrm>
          <a:custGeom>
            <a:avLst/>
            <a:gdLst/>
            <a:ahLst/>
            <a:cxnLst/>
            <a:rect l="l" t="t" r="r" b="b"/>
            <a:pathLst>
              <a:path w="1447800" h="1143000">
                <a:moveTo>
                  <a:pt x="783844" y="0"/>
                </a:moveTo>
                <a:lnTo>
                  <a:pt x="663956" y="0"/>
                </a:lnTo>
                <a:lnTo>
                  <a:pt x="0" y="1143000"/>
                </a:lnTo>
                <a:lnTo>
                  <a:pt x="1447800" y="1143000"/>
                </a:lnTo>
                <a:lnTo>
                  <a:pt x="783844" y="0"/>
                </a:lnTo>
                <a:close/>
              </a:path>
            </a:pathLst>
          </a:custGeom>
          <a:solidFill>
            <a:srgbClr val="C0504D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90264" y="2204974"/>
            <a:ext cx="526415" cy="42481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algn="ctr">
              <a:lnSpc>
                <a:spcPct val="91200"/>
              </a:lnSpc>
              <a:spcBef>
                <a:spcPts val="175"/>
              </a:spcBef>
            </a:pPr>
            <a:r>
              <a:rPr sz="700" b="1" spc="-5" dirty="0">
                <a:latin typeface="Verdana"/>
                <a:cs typeface="Verdana"/>
              </a:rPr>
              <a:t>Semi-  conducto</a:t>
            </a:r>
            <a:r>
              <a:rPr sz="700" b="1" dirty="0">
                <a:latin typeface="Verdana"/>
                <a:cs typeface="Verdana"/>
              </a:rPr>
              <a:t>r  de    </a:t>
            </a:r>
            <a:r>
              <a:rPr sz="700" b="1" spc="-5" dirty="0">
                <a:latin typeface="Verdana"/>
                <a:cs typeface="Verdana"/>
              </a:rPr>
              <a:t>memoria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43580" y="2819780"/>
            <a:ext cx="2819400" cy="1143000"/>
          </a:xfrm>
          <a:custGeom>
            <a:avLst/>
            <a:gdLst/>
            <a:ahLst/>
            <a:cxnLst/>
            <a:rect l="l" t="t" r="r" b="b"/>
            <a:pathLst>
              <a:path w="2819400" h="1143000">
                <a:moveTo>
                  <a:pt x="2155444" y="0"/>
                </a:moveTo>
                <a:lnTo>
                  <a:pt x="663956" y="0"/>
                </a:lnTo>
                <a:lnTo>
                  <a:pt x="0" y="1143000"/>
                </a:lnTo>
                <a:lnTo>
                  <a:pt x="2819399" y="1143000"/>
                </a:lnTo>
                <a:lnTo>
                  <a:pt x="2155444" y="0"/>
                </a:lnTo>
                <a:close/>
              </a:path>
            </a:pathLst>
          </a:custGeom>
          <a:solidFill>
            <a:srgbClr val="4F81BC">
              <a:alpha val="7686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43580" y="2819780"/>
            <a:ext cx="2819400" cy="1143000"/>
          </a:xfrm>
          <a:custGeom>
            <a:avLst/>
            <a:gdLst/>
            <a:ahLst/>
            <a:cxnLst/>
            <a:rect l="l" t="t" r="r" b="b"/>
            <a:pathLst>
              <a:path w="2819400" h="1143000">
                <a:moveTo>
                  <a:pt x="0" y="1143000"/>
                </a:moveTo>
                <a:lnTo>
                  <a:pt x="663956" y="0"/>
                </a:lnTo>
                <a:lnTo>
                  <a:pt x="2155444" y="0"/>
                </a:lnTo>
                <a:lnTo>
                  <a:pt x="2819399" y="1143000"/>
                </a:lnTo>
                <a:lnTo>
                  <a:pt x="0" y="1143000"/>
                </a:lnTo>
                <a:close/>
              </a:path>
            </a:pathLst>
          </a:custGeom>
          <a:ln w="2514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59961" y="3204210"/>
            <a:ext cx="786765" cy="628015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 marR="5080" indent="-635" algn="ctr">
              <a:lnSpc>
                <a:spcPct val="91300"/>
              </a:lnSpc>
              <a:spcBef>
                <a:spcPts val="244"/>
              </a:spcBef>
            </a:pPr>
            <a:r>
              <a:rPr sz="1400" b="1" spc="-10" dirty="0">
                <a:latin typeface="Verdana"/>
                <a:cs typeface="Verdana"/>
              </a:rPr>
              <a:t>Discos  m</a:t>
            </a:r>
            <a:r>
              <a:rPr sz="1400" b="1" spc="-5" dirty="0">
                <a:latin typeface="Verdana"/>
                <a:cs typeface="Verdana"/>
              </a:rPr>
              <a:t>a</a:t>
            </a:r>
            <a:r>
              <a:rPr sz="1400" b="1" spc="-10" dirty="0">
                <a:latin typeface="Verdana"/>
                <a:cs typeface="Verdana"/>
              </a:rPr>
              <a:t>gn</a:t>
            </a:r>
            <a:r>
              <a:rPr sz="1400" b="1" spc="-5" dirty="0">
                <a:latin typeface="Verdana"/>
                <a:cs typeface="Verdana"/>
              </a:rPr>
              <a:t>é-  ticos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57780" y="3962780"/>
            <a:ext cx="4191000" cy="1143000"/>
          </a:xfrm>
          <a:custGeom>
            <a:avLst/>
            <a:gdLst/>
            <a:ahLst/>
            <a:cxnLst/>
            <a:rect l="l" t="t" r="r" b="b"/>
            <a:pathLst>
              <a:path w="4191000" h="1143000">
                <a:moveTo>
                  <a:pt x="3527044" y="0"/>
                </a:moveTo>
                <a:lnTo>
                  <a:pt x="663956" y="0"/>
                </a:lnTo>
                <a:lnTo>
                  <a:pt x="0" y="1143000"/>
                </a:lnTo>
                <a:lnTo>
                  <a:pt x="4191000" y="1143000"/>
                </a:lnTo>
                <a:lnTo>
                  <a:pt x="3527044" y="0"/>
                </a:lnTo>
                <a:close/>
              </a:path>
            </a:pathLst>
          </a:custGeom>
          <a:solidFill>
            <a:srgbClr val="4F81BC">
              <a:alpha val="6313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57780" y="3962780"/>
            <a:ext cx="4191000" cy="1143000"/>
          </a:xfrm>
          <a:custGeom>
            <a:avLst/>
            <a:gdLst/>
            <a:ahLst/>
            <a:cxnLst/>
            <a:rect l="l" t="t" r="r" b="b"/>
            <a:pathLst>
              <a:path w="4191000" h="1143000">
                <a:moveTo>
                  <a:pt x="0" y="1143000"/>
                </a:moveTo>
                <a:lnTo>
                  <a:pt x="663956" y="0"/>
                </a:lnTo>
                <a:lnTo>
                  <a:pt x="3527044" y="0"/>
                </a:lnTo>
                <a:lnTo>
                  <a:pt x="4191000" y="1143000"/>
                </a:lnTo>
                <a:lnTo>
                  <a:pt x="0" y="1143000"/>
                </a:lnTo>
                <a:close/>
              </a:path>
            </a:pathLst>
          </a:custGeom>
          <a:ln w="2514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27729" y="4496561"/>
            <a:ext cx="145161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latin typeface="Verdana"/>
                <a:cs typeface="Verdana"/>
              </a:rPr>
              <a:t>Discos</a:t>
            </a:r>
            <a:r>
              <a:rPr sz="1400" b="1" spc="-4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ópticos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71980" y="5105780"/>
            <a:ext cx="5562600" cy="1143000"/>
          </a:xfrm>
          <a:custGeom>
            <a:avLst/>
            <a:gdLst/>
            <a:ahLst/>
            <a:cxnLst/>
            <a:rect l="l" t="t" r="r" b="b"/>
            <a:pathLst>
              <a:path w="5562600" h="1143000">
                <a:moveTo>
                  <a:pt x="4898644" y="0"/>
                </a:moveTo>
                <a:lnTo>
                  <a:pt x="663956" y="0"/>
                </a:lnTo>
                <a:lnTo>
                  <a:pt x="0" y="1143000"/>
                </a:lnTo>
                <a:lnTo>
                  <a:pt x="5562600" y="1143000"/>
                </a:lnTo>
                <a:lnTo>
                  <a:pt x="4898644" y="0"/>
                </a:lnTo>
                <a:close/>
              </a:path>
            </a:pathLst>
          </a:custGeom>
          <a:solidFill>
            <a:srgbClr val="4F81BC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71980" y="5105780"/>
            <a:ext cx="5562600" cy="1143000"/>
          </a:xfrm>
          <a:custGeom>
            <a:avLst/>
            <a:gdLst/>
            <a:ahLst/>
            <a:cxnLst/>
            <a:rect l="l" t="t" r="r" b="b"/>
            <a:pathLst>
              <a:path w="5562600" h="1143000">
                <a:moveTo>
                  <a:pt x="0" y="1143000"/>
                </a:moveTo>
                <a:lnTo>
                  <a:pt x="663956" y="0"/>
                </a:lnTo>
                <a:lnTo>
                  <a:pt x="4898644" y="0"/>
                </a:lnTo>
                <a:lnTo>
                  <a:pt x="5562600" y="1143000"/>
                </a:lnTo>
                <a:lnTo>
                  <a:pt x="0" y="1143000"/>
                </a:lnTo>
                <a:close/>
              </a:path>
            </a:pathLst>
          </a:custGeom>
          <a:ln w="2514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31717" y="5616955"/>
            <a:ext cx="164338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Verdana"/>
                <a:cs typeface="Verdana"/>
              </a:rPr>
              <a:t>Cinta</a:t>
            </a:r>
            <a:r>
              <a:rPr sz="1400" b="1" spc="-4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magnética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62452" y="2089912"/>
            <a:ext cx="174878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6215" algn="l"/>
                <a:tab pos="424815" algn="l"/>
              </a:tabLst>
            </a:pPr>
            <a:r>
              <a:rPr sz="1100" b="1" u="heavy" spc="-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	</a:t>
            </a:r>
            <a:r>
              <a:rPr sz="1100" b="1" spc="-5" dirty="0">
                <a:latin typeface="Verdana"/>
                <a:cs typeface="Verdana"/>
              </a:rPr>
              <a:t>	Almacenamiento</a:t>
            </a:r>
            <a:endParaRPr sz="1100">
              <a:latin typeface="Verdana"/>
              <a:cs typeface="Verdana"/>
            </a:endParaRPr>
          </a:p>
          <a:p>
            <a:pPr marL="1067435">
              <a:lnSpc>
                <a:spcPct val="100000"/>
              </a:lnSpc>
            </a:pPr>
            <a:r>
              <a:rPr sz="1100" b="1" spc="-10" dirty="0">
                <a:latin typeface="Verdana"/>
                <a:cs typeface="Verdana"/>
              </a:rPr>
              <a:t>pri</a:t>
            </a:r>
            <a:r>
              <a:rPr sz="1100" b="1" spc="-5" dirty="0">
                <a:latin typeface="Verdana"/>
                <a:cs typeface="Verdana"/>
              </a:rPr>
              <a:t>mario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62452" y="4376165"/>
            <a:ext cx="167258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6215" algn="l"/>
                <a:tab pos="348615" algn="l"/>
              </a:tabLst>
            </a:pPr>
            <a:r>
              <a:rPr sz="1100" b="1" u="heavy" spc="-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	</a:t>
            </a:r>
            <a:r>
              <a:rPr sz="1100" b="1" spc="-5" dirty="0">
                <a:latin typeface="Verdana"/>
                <a:cs typeface="Verdana"/>
              </a:rPr>
              <a:t>	Almacenamiento</a:t>
            </a:r>
            <a:endParaRPr sz="1100">
              <a:latin typeface="Verdana"/>
              <a:cs typeface="Verdana"/>
            </a:endParaRPr>
          </a:p>
          <a:p>
            <a:pPr marL="800100">
              <a:lnSpc>
                <a:spcPct val="100000"/>
              </a:lnSpc>
            </a:pPr>
            <a:r>
              <a:rPr sz="1100" b="1" spc="-10" dirty="0">
                <a:latin typeface="Verdana"/>
                <a:cs typeface="Verdana"/>
              </a:rPr>
              <a:t>secundario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285494" y="2241930"/>
            <a:ext cx="1780920" cy="27393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36560" y="1838705"/>
            <a:ext cx="2497455" cy="4033520"/>
          </a:xfrm>
          <a:custGeom>
            <a:avLst/>
            <a:gdLst/>
            <a:ahLst/>
            <a:cxnLst/>
            <a:rect l="l" t="t" r="r" b="b"/>
            <a:pathLst>
              <a:path w="2497454" h="4033520">
                <a:moveTo>
                  <a:pt x="2451772" y="61431"/>
                </a:moveTo>
                <a:lnTo>
                  <a:pt x="0" y="4026306"/>
                </a:lnTo>
                <a:lnTo>
                  <a:pt x="10794" y="4032986"/>
                </a:lnTo>
                <a:lnTo>
                  <a:pt x="2462592" y="68122"/>
                </a:lnTo>
                <a:lnTo>
                  <a:pt x="2451772" y="61431"/>
                </a:lnTo>
                <a:close/>
              </a:path>
              <a:path w="2497454" h="4033520">
                <a:moveTo>
                  <a:pt x="2492699" y="50546"/>
                </a:moveTo>
                <a:lnTo>
                  <a:pt x="2458504" y="50546"/>
                </a:lnTo>
                <a:lnTo>
                  <a:pt x="2469299" y="57277"/>
                </a:lnTo>
                <a:lnTo>
                  <a:pt x="2462592" y="68122"/>
                </a:lnTo>
                <a:lnTo>
                  <a:pt x="2489619" y="84836"/>
                </a:lnTo>
                <a:lnTo>
                  <a:pt x="2492699" y="50546"/>
                </a:lnTo>
                <a:close/>
              </a:path>
              <a:path w="2497454" h="4033520">
                <a:moveTo>
                  <a:pt x="2458504" y="50546"/>
                </a:moveTo>
                <a:lnTo>
                  <a:pt x="2451772" y="61431"/>
                </a:lnTo>
                <a:lnTo>
                  <a:pt x="2462592" y="68122"/>
                </a:lnTo>
                <a:lnTo>
                  <a:pt x="2469299" y="57277"/>
                </a:lnTo>
                <a:lnTo>
                  <a:pt x="2458504" y="50546"/>
                </a:lnTo>
                <a:close/>
              </a:path>
              <a:path w="2497454" h="4033520">
                <a:moveTo>
                  <a:pt x="2497239" y="0"/>
                </a:moveTo>
                <a:lnTo>
                  <a:pt x="2424722" y="44704"/>
                </a:lnTo>
                <a:lnTo>
                  <a:pt x="2451772" y="61431"/>
                </a:lnTo>
                <a:lnTo>
                  <a:pt x="2458504" y="50546"/>
                </a:lnTo>
                <a:lnTo>
                  <a:pt x="2492699" y="50546"/>
                </a:lnTo>
                <a:lnTo>
                  <a:pt x="24972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31</a:t>
            </a:fld>
            <a:endParaRPr spc="-5" dirty="0"/>
          </a:p>
        </p:txBody>
      </p:sp>
      <p:sp>
        <p:nvSpPr>
          <p:cNvPr id="21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932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/>
              <a:t>– </a:t>
            </a:r>
            <a:r>
              <a:rPr spc="-114" dirty="0"/>
              <a:t>Hardware</a:t>
            </a:r>
            <a:r>
              <a:rPr spc="-150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70" dirty="0">
                <a:latin typeface="Arial"/>
                <a:cs typeface="Arial"/>
              </a:rPr>
              <a:t>Los </a:t>
            </a:r>
            <a:r>
              <a:rPr sz="1800" b="0" spc="-95" dirty="0">
                <a:latin typeface="Arial"/>
                <a:cs typeface="Arial"/>
              </a:rPr>
              <a:t>nuevos </a:t>
            </a:r>
            <a:r>
              <a:rPr sz="1800" b="0" spc="-105" dirty="0">
                <a:latin typeface="Arial"/>
                <a:cs typeface="Arial"/>
              </a:rPr>
              <a:t>desafíos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5" dirty="0">
                <a:latin typeface="Arial"/>
                <a:cs typeface="Arial"/>
              </a:rPr>
              <a:t>aplicaciones de </a:t>
            </a:r>
            <a:r>
              <a:rPr sz="1800" b="0" spc="-65" dirty="0">
                <a:latin typeface="Arial"/>
                <a:cs typeface="Arial"/>
              </a:rPr>
              <a:t>la </a:t>
            </a:r>
            <a:r>
              <a:rPr sz="1800" b="0" spc="-75" dirty="0">
                <a:latin typeface="Arial"/>
                <a:cs typeface="Arial"/>
              </a:rPr>
              <a:t>era</a:t>
            </a:r>
            <a:r>
              <a:rPr sz="1800" b="0" spc="10" dirty="0">
                <a:latin typeface="Arial"/>
                <a:cs typeface="Arial"/>
              </a:rPr>
              <a:t> </a:t>
            </a:r>
            <a:r>
              <a:rPr sz="1800" b="0" spc="-35" dirty="0">
                <a:latin typeface="Arial"/>
                <a:cs typeface="Arial"/>
              </a:rPr>
              <a:t>digital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32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70586" y="949536"/>
            <a:ext cx="8468360" cy="497141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2600" b="1" spc="-330" dirty="0">
                <a:latin typeface="Arial"/>
                <a:cs typeface="Arial"/>
              </a:rPr>
              <a:t>La </a:t>
            </a:r>
            <a:r>
              <a:rPr sz="2600" b="1" spc="-195" dirty="0">
                <a:latin typeface="Arial"/>
                <a:cs typeface="Arial"/>
              </a:rPr>
              <a:t>nueva </a:t>
            </a:r>
            <a:r>
              <a:rPr sz="2600" b="1" spc="-155" dirty="0">
                <a:latin typeface="Arial"/>
                <a:cs typeface="Arial"/>
              </a:rPr>
              <a:t>era </a:t>
            </a:r>
            <a:r>
              <a:rPr sz="2600" b="1" spc="-140" dirty="0">
                <a:latin typeface="Arial"/>
                <a:cs typeface="Arial"/>
              </a:rPr>
              <a:t>digital: </a:t>
            </a:r>
            <a:r>
              <a:rPr sz="2600" b="1" spc="-114" dirty="0">
                <a:latin typeface="Arial"/>
                <a:cs typeface="Arial"/>
              </a:rPr>
              <a:t>el </a:t>
            </a:r>
            <a:r>
              <a:rPr sz="2600" b="1" spc="-175" dirty="0">
                <a:latin typeface="Arial"/>
                <a:cs typeface="Arial"/>
              </a:rPr>
              <a:t>fenómeno </a:t>
            </a:r>
            <a:r>
              <a:rPr sz="2600" b="1" spc="-170" dirty="0">
                <a:latin typeface="Arial"/>
                <a:cs typeface="Arial"/>
              </a:rPr>
              <a:t>de </a:t>
            </a:r>
            <a:r>
              <a:rPr sz="2600" b="1" spc="-125" dirty="0">
                <a:latin typeface="Arial"/>
                <a:cs typeface="Arial"/>
              </a:rPr>
              <a:t>la</a:t>
            </a:r>
            <a:r>
              <a:rPr sz="2600" b="1" spc="-135" dirty="0">
                <a:latin typeface="Arial"/>
                <a:cs typeface="Arial"/>
              </a:rPr>
              <a:t> </a:t>
            </a:r>
            <a:r>
              <a:rPr sz="2600" b="1" spc="-175" dirty="0">
                <a:latin typeface="Arial"/>
                <a:cs typeface="Arial"/>
              </a:rPr>
              <a:t>Digitalización</a:t>
            </a:r>
            <a:endParaRPr sz="2600">
              <a:latin typeface="Arial"/>
              <a:cs typeface="Arial"/>
            </a:endParaRPr>
          </a:p>
          <a:p>
            <a:pPr marL="20955" marR="5080" algn="just">
              <a:lnSpc>
                <a:spcPct val="100000"/>
              </a:lnSpc>
              <a:spcBef>
                <a:spcPts val="520"/>
              </a:spcBef>
            </a:pPr>
            <a:r>
              <a:rPr sz="1800" spc="-195" dirty="0">
                <a:latin typeface="Arial"/>
                <a:cs typeface="Arial"/>
              </a:rPr>
              <a:t>La </a:t>
            </a:r>
            <a:r>
              <a:rPr sz="1800" spc="-70" dirty="0">
                <a:latin typeface="Arial"/>
                <a:cs typeface="Arial"/>
              </a:rPr>
              <a:t>Digitalización </a:t>
            </a:r>
            <a:r>
              <a:rPr sz="1800" spc="-80" dirty="0">
                <a:latin typeface="Arial"/>
                <a:cs typeface="Arial"/>
              </a:rPr>
              <a:t>reduce barreras de </a:t>
            </a:r>
            <a:r>
              <a:rPr sz="1800" spc="-60" dirty="0">
                <a:latin typeface="Arial"/>
                <a:cs typeface="Arial"/>
              </a:rPr>
              <a:t>entrada </a:t>
            </a:r>
            <a:r>
              <a:rPr sz="1800" spc="-70" dirty="0">
                <a:latin typeface="Arial"/>
                <a:cs typeface="Arial"/>
              </a:rPr>
              <a:t>erosionando </a:t>
            </a:r>
            <a:r>
              <a:rPr sz="1800" spc="-80" dirty="0">
                <a:latin typeface="Arial"/>
                <a:cs typeface="Arial"/>
              </a:rPr>
              <a:t>los </a:t>
            </a:r>
            <a:r>
              <a:rPr sz="1800" spc="-50" dirty="0">
                <a:latin typeface="Arial"/>
                <a:cs typeface="Arial"/>
              </a:rPr>
              <a:t>límites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75" dirty="0">
                <a:latin typeface="Arial"/>
                <a:cs typeface="Arial"/>
              </a:rPr>
              <a:t>competencia </a:t>
            </a:r>
            <a:r>
              <a:rPr sz="1800" spc="-40" dirty="0">
                <a:latin typeface="Arial"/>
                <a:cs typeface="Arial"/>
              </a:rPr>
              <a:t>entre  </a:t>
            </a:r>
            <a:r>
              <a:rPr sz="1800" spc="-85" dirty="0">
                <a:latin typeface="Arial"/>
                <a:cs typeface="Arial"/>
              </a:rPr>
              <a:t>jugadores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105" dirty="0">
                <a:latin typeface="Arial"/>
                <a:cs typeface="Arial"/>
              </a:rPr>
              <a:t>diversas </a:t>
            </a:r>
            <a:r>
              <a:rPr sz="1800" spc="-60" dirty="0">
                <a:latin typeface="Arial"/>
                <a:cs typeface="Arial"/>
              </a:rPr>
              <a:t>industrias. </a:t>
            </a:r>
            <a:r>
              <a:rPr sz="1800" spc="-165" dirty="0">
                <a:latin typeface="Arial"/>
                <a:cs typeface="Arial"/>
              </a:rPr>
              <a:t>Los </a:t>
            </a:r>
            <a:r>
              <a:rPr sz="1800" spc="-100" dirty="0">
                <a:latin typeface="Arial"/>
                <a:cs typeface="Arial"/>
              </a:rPr>
              <a:t>nuevos </a:t>
            </a:r>
            <a:r>
              <a:rPr sz="1800" spc="-70" dirty="0">
                <a:latin typeface="Arial"/>
                <a:cs typeface="Arial"/>
              </a:rPr>
              <a:t>dispositivos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75" dirty="0">
                <a:latin typeface="Arial"/>
                <a:cs typeface="Arial"/>
              </a:rPr>
              <a:t>activos </a:t>
            </a:r>
            <a:r>
              <a:rPr sz="1800" spc="-65" dirty="0">
                <a:latin typeface="Arial"/>
                <a:cs typeface="Arial"/>
              </a:rPr>
              <a:t>digitales </a:t>
            </a:r>
            <a:r>
              <a:rPr sz="1800" spc="-90" dirty="0">
                <a:latin typeface="Arial"/>
                <a:cs typeface="Arial"/>
              </a:rPr>
              <a:t>están  </a:t>
            </a:r>
            <a:r>
              <a:rPr sz="1800" spc="-85" dirty="0">
                <a:latin typeface="Arial"/>
                <a:cs typeface="Arial"/>
              </a:rPr>
              <a:t>generando </a:t>
            </a:r>
            <a:r>
              <a:rPr sz="1800" spc="-70" dirty="0">
                <a:latin typeface="Arial"/>
                <a:cs typeface="Arial"/>
              </a:rPr>
              <a:t>quiebres </a:t>
            </a:r>
            <a:r>
              <a:rPr sz="1800" spc="-85" dirty="0">
                <a:latin typeface="Arial"/>
                <a:cs typeface="Arial"/>
              </a:rPr>
              <a:t>en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125" dirty="0">
                <a:latin typeface="Arial"/>
                <a:cs typeface="Arial"/>
              </a:rPr>
              <a:t>cadenas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55" dirty="0">
                <a:latin typeface="Arial"/>
                <a:cs typeface="Arial"/>
              </a:rPr>
              <a:t>valor </a:t>
            </a:r>
            <a:r>
              <a:rPr sz="1800" spc="-50" dirty="0">
                <a:latin typeface="Arial"/>
                <a:cs typeface="Arial"/>
              </a:rPr>
              <a:t>ofreciendo </a:t>
            </a:r>
            <a:r>
              <a:rPr sz="1800" spc="-75" dirty="0">
                <a:latin typeface="Arial"/>
                <a:cs typeface="Arial"/>
              </a:rPr>
              <a:t>mayor </a:t>
            </a:r>
            <a:r>
              <a:rPr sz="1800" spc="-114" dirty="0">
                <a:latin typeface="Arial"/>
                <a:cs typeface="Arial"/>
              </a:rPr>
              <a:t>escala, </a:t>
            </a:r>
            <a:r>
              <a:rPr sz="1800" spc="-85" dirty="0">
                <a:latin typeface="Arial"/>
                <a:cs typeface="Arial"/>
              </a:rPr>
              <a:t>menores </a:t>
            </a:r>
            <a:r>
              <a:rPr sz="1800" spc="-105" dirty="0">
                <a:latin typeface="Arial"/>
                <a:cs typeface="Arial"/>
              </a:rPr>
              <a:t>costos </a:t>
            </a:r>
            <a:r>
              <a:rPr sz="1800" spc="-90" dirty="0">
                <a:latin typeface="Arial"/>
                <a:cs typeface="Arial"/>
              </a:rPr>
              <a:t>y  </a:t>
            </a:r>
            <a:r>
              <a:rPr sz="1800" spc="-105" dirty="0">
                <a:latin typeface="Arial"/>
                <a:cs typeface="Arial"/>
              </a:rPr>
              <a:t>mayores </a:t>
            </a:r>
            <a:r>
              <a:rPr sz="1800" spc="-50" dirty="0">
                <a:latin typeface="Arial"/>
                <a:cs typeface="Arial"/>
              </a:rPr>
              <a:t>retornos. </a:t>
            </a:r>
            <a:r>
              <a:rPr sz="1800" spc="-195" dirty="0">
                <a:latin typeface="Arial"/>
                <a:cs typeface="Arial"/>
              </a:rPr>
              <a:t>Las</a:t>
            </a:r>
            <a:r>
              <a:rPr sz="1800" spc="110" dirty="0">
                <a:latin typeface="Arial"/>
                <a:cs typeface="Arial"/>
              </a:rPr>
              <a:t> </a:t>
            </a:r>
            <a:r>
              <a:rPr sz="1800" spc="-110" dirty="0">
                <a:latin typeface="Arial"/>
                <a:cs typeface="Arial"/>
              </a:rPr>
              <a:t>capacidades </a:t>
            </a:r>
            <a:r>
              <a:rPr sz="1800" spc="-65" dirty="0">
                <a:latin typeface="Arial"/>
                <a:cs typeface="Arial"/>
              </a:rPr>
              <a:t>digitales </a:t>
            </a:r>
            <a:r>
              <a:rPr sz="1800" spc="-55" dirty="0">
                <a:latin typeface="Arial"/>
                <a:cs typeface="Arial"/>
              </a:rPr>
              <a:t>determinarán </a:t>
            </a:r>
            <a:r>
              <a:rPr sz="1800" spc="-60" dirty="0">
                <a:latin typeface="Arial"/>
                <a:cs typeface="Arial"/>
              </a:rPr>
              <a:t>crecientemente </a:t>
            </a:r>
            <a:r>
              <a:rPr sz="1800" spc="-70" dirty="0">
                <a:latin typeface="Arial"/>
                <a:cs typeface="Arial"/>
              </a:rPr>
              <a:t>qué  </a:t>
            </a:r>
            <a:r>
              <a:rPr sz="1800" spc="-95" dirty="0">
                <a:latin typeface="Arial"/>
                <a:cs typeface="Arial"/>
              </a:rPr>
              <a:t>organizaciones </a:t>
            </a:r>
            <a:r>
              <a:rPr sz="1800" spc="-90" dirty="0">
                <a:latin typeface="Arial"/>
                <a:cs typeface="Arial"/>
              </a:rPr>
              <a:t>crean </a:t>
            </a:r>
            <a:r>
              <a:rPr sz="1800" spc="-55" dirty="0">
                <a:latin typeface="Arial"/>
                <a:cs typeface="Arial"/>
              </a:rPr>
              <a:t>o </a:t>
            </a:r>
            <a:r>
              <a:rPr sz="1800" spc="-70" dirty="0">
                <a:latin typeface="Arial"/>
                <a:cs typeface="Arial"/>
              </a:rPr>
              <a:t>destruyen </a:t>
            </a:r>
            <a:r>
              <a:rPr sz="1800" spc="-85" dirty="0">
                <a:latin typeface="Arial"/>
                <a:cs typeface="Arial"/>
              </a:rPr>
              <a:t>valor. </a:t>
            </a:r>
            <a:r>
              <a:rPr sz="1800" spc="-200" dirty="0">
                <a:latin typeface="Arial"/>
                <a:cs typeface="Arial"/>
              </a:rPr>
              <a:t>Las </a:t>
            </a:r>
            <a:r>
              <a:rPr sz="1800" spc="-114" dirty="0">
                <a:latin typeface="Arial"/>
                <a:cs typeface="Arial"/>
              </a:rPr>
              <a:t>nuevas </a:t>
            </a:r>
            <a:r>
              <a:rPr sz="1800" spc="-75" dirty="0">
                <a:latin typeface="Arial"/>
                <a:cs typeface="Arial"/>
              </a:rPr>
              <a:t>tendencias </a:t>
            </a:r>
            <a:r>
              <a:rPr sz="1800" spc="-85" dirty="0">
                <a:latin typeface="Arial"/>
                <a:cs typeface="Arial"/>
              </a:rPr>
              <a:t>emergentes </a:t>
            </a:r>
            <a:r>
              <a:rPr sz="1800" spc="-30" dirty="0">
                <a:latin typeface="Arial"/>
                <a:cs typeface="Arial"/>
              </a:rPr>
              <a:t>por </a:t>
            </a:r>
            <a:r>
              <a:rPr sz="1800" spc="-45" dirty="0">
                <a:latin typeface="Arial"/>
                <a:cs typeface="Arial"/>
              </a:rPr>
              <a:t>parte </a:t>
            </a:r>
            <a:r>
              <a:rPr sz="1800" spc="-80" dirty="0">
                <a:latin typeface="Arial"/>
                <a:cs typeface="Arial"/>
              </a:rPr>
              <a:t>de  </a:t>
            </a:r>
            <a:r>
              <a:rPr sz="1800" spc="-60" dirty="0">
                <a:latin typeface="Arial"/>
                <a:cs typeface="Arial"/>
              </a:rPr>
              <a:t>entrantes </a:t>
            </a:r>
            <a:r>
              <a:rPr sz="1800" spc="-55" dirty="0">
                <a:latin typeface="Arial"/>
                <a:cs typeface="Arial"/>
              </a:rPr>
              <a:t>disruptivos </a:t>
            </a:r>
            <a:r>
              <a:rPr sz="1800" spc="-90" dirty="0">
                <a:latin typeface="Arial"/>
                <a:cs typeface="Arial"/>
              </a:rPr>
              <a:t>generarán </a:t>
            </a:r>
            <a:r>
              <a:rPr sz="1800" spc="-95" dirty="0">
                <a:latin typeface="Arial"/>
                <a:cs typeface="Arial"/>
              </a:rPr>
              <a:t>cambios </a:t>
            </a:r>
            <a:r>
              <a:rPr sz="1800" spc="-85" dirty="0">
                <a:latin typeface="Arial"/>
                <a:cs typeface="Arial"/>
              </a:rPr>
              <a:t>en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100" dirty="0">
                <a:latin typeface="Arial"/>
                <a:cs typeface="Arial"/>
              </a:rPr>
              <a:t>curvas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70" dirty="0">
                <a:latin typeface="Arial"/>
                <a:cs typeface="Arial"/>
              </a:rPr>
              <a:t>adopción </a:t>
            </a:r>
            <a:r>
              <a:rPr sz="1800" spc="-65" dirty="0">
                <a:latin typeface="Arial"/>
                <a:cs typeface="Arial"/>
              </a:rPr>
              <a:t>tradicionales,  </a:t>
            </a:r>
            <a:r>
              <a:rPr sz="1800" spc="-85" dirty="0">
                <a:latin typeface="Arial"/>
                <a:cs typeface="Arial"/>
              </a:rPr>
              <a:t>generando </a:t>
            </a:r>
            <a:r>
              <a:rPr sz="1800" spc="-95" dirty="0">
                <a:latin typeface="Arial"/>
                <a:cs typeface="Arial"/>
              </a:rPr>
              <a:t>riesgos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75" dirty="0">
                <a:latin typeface="Arial"/>
                <a:cs typeface="Arial"/>
              </a:rPr>
              <a:t>desaparición </a:t>
            </a:r>
            <a:r>
              <a:rPr sz="1800" spc="-90" dirty="0">
                <a:latin typeface="Arial"/>
                <a:cs typeface="Arial"/>
              </a:rPr>
              <a:t>para </a:t>
            </a:r>
            <a:r>
              <a:rPr sz="1800" spc="-95" dirty="0">
                <a:latin typeface="Arial"/>
                <a:cs typeface="Arial"/>
              </a:rPr>
              <a:t>organizaciones </a:t>
            </a:r>
            <a:r>
              <a:rPr sz="1800" spc="-60" dirty="0">
                <a:latin typeface="Arial"/>
                <a:cs typeface="Arial"/>
              </a:rPr>
              <a:t>tradicionales </a:t>
            </a:r>
            <a:r>
              <a:rPr sz="1800" spc="-40" dirty="0">
                <a:latin typeface="Arial"/>
                <a:cs typeface="Arial"/>
              </a:rPr>
              <a:t>(ej: </a:t>
            </a:r>
            <a:r>
              <a:rPr sz="1800" spc="-75" dirty="0">
                <a:latin typeface="Arial"/>
                <a:cs typeface="Arial"/>
              </a:rPr>
              <a:t>Blockbuster). </a:t>
            </a:r>
            <a:r>
              <a:rPr sz="1800" spc="-200" dirty="0">
                <a:latin typeface="Arial"/>
                <a:cs typeface="Arial"/>
              </a:rPr>
              <a:t>Las  </a:t>
            </a:r>
            <a:r>
              <a:rPr sz="1800" spc="-55" dirty="0">
                <a:latin typeface="Arial"/>
                <a:cs typeface="Arial"/>
              </a:rPr>
              <a:t>oportunidades </a:t>
            </a:r>
            <a:r>
              <a:rPr sz="1800" spc="-85" dirty="0">
                <a:latin typeface="Arial"/>
                <a:cs typeface="Arial"/>
              </a:rPr>
              <a:t>venideras </a:t>
            </a:r>
            <a:r>
              <a:rPr sz="1800" spc="-75" dirty="0">
                <a:latin typeface="Arial"/>
                <a:cs typeface="Arial"/>
              </a:rPr>
              <a:t>pueden </a:t>
            </a:r>
            <a:r>
              <a:rPr sz="1800" spc="-80" dirty="0">
                <a:latin typeface="Arial"/>
                <a:cs typeface="Arial"/>
              </a:rPr>
              <a:t>resumirse </a:t>
            </a:r>
            <a:r>
              <a:rPr sz="1800" spc="-85" dirty="0">
                <a:latin typeface="Arial"/>
                <a:cs typeface="Arial"/>
              </a:rPr>
              <a:t>en </a:t>
            </a:r>
            <a:r>
              <a:rPr sz="1800" spc="-110" dirty="0">
                <a:latin typeface="Arial"/>
                <a:cs typeface="Arial"/>
              </a:rPr>
              <a:t>las</a:t>
            </a:r>
            <a:r>
              <a:rPr sz="1800" spc="-135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siguientes: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363855" marR="5715" indent="-342900" algn="just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64490" algn="l"/>
              </a:tabLst>
            </a:pPr>
            <a:r>
              <a:rPr sz="1800" spc="-80" dirty="0">
                <a:latin typeface="Arial"/>
                <a:cs typeface="Arial"/>
              </a:rPr>
              <a:t>Enriquecer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60" dirty="0">
                <a:latin typeface="Arial"/>
                <a:cs typeface="Arial"/>
              </a:rPr>
              <a:t>interacción </a:t>
            </a:r>
            <a:r>
              <a:rPr sz="1800" spc="-40" dirty="0">
                <a:latin typeface="Arial"/>
                <a:cs typeface="Arial"/>
              </a:rPr>
              <a:t>entre </a:t>
            </a:r>
            <a:r>
              <a:rPr sz="1800" spc="-65" dirty="0">
                <a:latin typeface="Arial"/>
                <a:cs typeface="Arial"/>
              </a:rPr>
              <a:t>clientes, </a:t>
            </a:r>
            <a:r>
              <a:rPr sz="1800" spc="-75" dirty="0">
                <a:latin typeface="Arial"/>
                <a:cs typeface="Arial"/>
              </a:rPr>
              <a:t>proveedores, </a:t>
            </a:r>
            <a:r>
              <a:rPr sz="1800" spc="-85" dirty="0">
                <a:latin typeface="Arial"/>
                <a:cs typeface="Arial"/>
              </a:rPr>
              <a:t>stakeholders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80" dirty="0">
                <a:latin typeface="Arial"/>
                <a:cs typeface="Arial"/>
              </a:rPr>
              <a:t>empleados:  </a:t>
            </a:r>
            <a:r>
              <a:rPr sz="1800" spc="-30" dirty="0">
                <a:latin typeface="Arial"/>
                <a:cs typeface="Arial"/>
              </a:rPr>
              <a:t>facilitar </a:t>
            </a:r>
            <a:r>
              <a:rPr sz="1800" spc="-50" dirty="0">
                <a:latin typeface="Arial"/>
                <a:cs typeface="Arial"/>
              </a:rPr>
              <a:t>el </a:t>
            </a:r>
            <a:r>
              <a:rPr sz="1800" spc="-130" dirty="0">
                <a:latin typeface="Arial"/>
                <a:cs typeface="Arial"/>
              </a:rPr>
              <a:t>acceso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65" dirty="0">
                <a:latin typeface="Arial"/>
                <a:cs typeface="Arial"/>
              </a:rPr>
              <a:t>contenidos, </a:t>
            </a:r>
            <a:r>
              <a:rPr sz="1800" spc="-80" dirty="0">
                <a:latin typeface="Arial"/>
                <a:cs typeface="Arial"/>
              </a:rPr>
              <a:t>personalizar </a:t>
            </a:r>
            <a:r>
              <a:rPr sz="1800" spc="-110" dirty="0">
                <a:latin typeface="Arial"/>
                <a:cs typeface="Arial"/>
              </a:rPr>
              <a:t>mensajes </a:t>
            </a:r>
            <a:r>
              <a:rPr sz="1800" spc="-114" dirty="0">
                <a:latin typeface="Arial"/>
                <a:cs typeface="Arial"/>
              </a:rPr>
              <a:t>según </a:t>
            </a:r>
            <a:r>
              <a:rPr sz="1800" spc="-60" dirty="0">
                <a:latin typeface="Arial"/>
                <a:cs typeface="Arial"/>
              </a:rPr>
              <a:t>contexto, </a:t>
            </a:r>
            <a:r>
              <a:rPr sz="1800" spc="-100" dirty="0">
                <a:latin typeface="Arial"/>
                <a:cs typeface="Arial"/>
              </a:rPr>
              <a:t>agregar  </a:t>
            </a:r>
            <a:r>
              <a:rPr sz="1800" spc="-60" dirty="0">
                <a:latin typeface="Arial"/>
                <a:cs typeface="Arial"/>
              </a:rPr>
              <a:t>conectividad </a:t>
            </a:r>
            <a:r>
              <a:rPr sz="1800" spc="-90" dirty="0">
                <a:latin typeface="Arial"/>
                <a:cs typeface="Arial"/>
              </a:rPr>
              <a:t>social </a:t>
            </a:r>
            <a:r>
              <a:rPr sz="1800" spc="-105" dirty="0">
                <a:latin typeface="Arial"/>
                <a:cs typeface="Arial"/>
              </a:rPr>
              <a:t>son algunas </a:t>
            </a:r>
            <a:r>
              <a:rPr sz="1800" spc="-90" dirty="0">
                <a:latin typeface="Arial"/>
                <a:cs typeface="Arial"/>
              </a:rPr>
              <a:t>técnicas </a:t>
            </a:r>
            <a:r>
              <a:rPr sz="1800" spc="-75" dirty="0">
                <a:latin typeface="Arial"/>
                <a:cs typeface="Arial"/>
              </a:rPr>
              <a:t>que </a:t>
            </a:r>
            <a:r>
              <a:rPr sz="1800" spc="-35" dirty="0">
                <a:latin typeface="Arial"/>
                <a:cs typeface="Arial"/>
              </a:rPr>
              <a:t>permitirán </a:t>
            </a:r>
            <a:r>
              <a:rPr sz="1800" spc="-45" dirty="0">
                <a:latin typeface="Arial"/>
                <a:cs typeface="Arial"/>
              </a:rPr>
              <a:t>disminuir </a:t>
            </a:r>
            <a:r>
              <a:rPr sz="1800" spc="-105" dirty="0">
                <a:latin typeface="Arial"/>
                <a:cs typeface="Arial"/>
              </a:rPr>
              <a:t>costos </a:t>
            </a:r>
            <a:r>
              <a:rPr sz="1800" spc="-80" dirty="0">
                <a:latin typeface="Arial"/>
                <a:cs typeface="Arial"/>
              </a:rPr>
              <a:t>de  </a:t>
            </a:r>
            <a:r>
              <a:rPr sz="1800" spc="-75" dirty="0">
                <a:latin typeface="Arial"/>
                <a:cs typeface="Arial"/>
              </a:rPr>
              <a:t>transacción.</a:t>
            </a:r>
            <a:endParaRPr sz="1800">
              <a:latin typeface="Arial"/>
              <a:cs typeface="Arial"/>
            </a:endParaRPr>
          </a:p>
          <a:p>
            <a:pPr marL="363855" indent="-342900" algn="just">
              <a:lnSpc>
                <a:spcPct val="100000"/>
              </a:lnSpc>
              <a:buAutoNum type="arabicPeriod"/>
              <a:tabLst>
                <a:tab pos="364490" algn="l"/>
              </a:tabLst>
            </a:pPr>
            <a:r>
              <a:rPr sz="1800" spc="-30" dirty="0">
                <a:latin typeface="Arial"/>
                <a:cs typeface="Arial"/>
              </a:rPr>
              <a:t>Mejorar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95" dirty="0">
                <a:latin typeface="Arial"/>
                <a:cs typeface="Arial"/>
              </a:rPr>
              <a:t>decisiones </a:t>
            </a:r>
            <a:r>
              <a:rPr sz="1800" spc="-55" dirty="0">
                <a:latin typeface="Arial"/>
                <a:cs typeface="Arial"/>
              </a:rPr>
              <a:t>del </a:t>
            </a:r>
            <a:r>
              <a:rPr sz="1800" i="1" spc="-80" dirty="0">
                <a:latin typeface="Arial"/>
                <a:cs typeface="Arial"/>
              </a:rPr>
              <a:t>management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10" dirty="0">
                <a:latin typeface="Arial"/>
                <a:cs typeface="Arial"/>
              </a:rPr>
              <a:t>partir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85" dirty="0">
                <a:latin typeface="Arial"/>
                <a:cs typeface="Arial"/>
              </a:rPr>
              <a:t>tecnologías </a:t>
            </a:r>
            <a:r>
              <a:rPr sz="1800" spc="-105" dirty="0">
                <a:latin typeface="Arial"/>
                <a:cs typeface="Arial"/>
              </a:rPr>
              <a:t>sociales </a:t>
            </a:r>
            <a:r>
              <a:rPr sz="1800" spc="-55" dirty="0">
                <a:latin typeface="Arial"/>
                <a:cs typeface="Arial"/>
              </a:rPr>
              <a:t>o </a:t>
            </a:r>
            <a:r>
              <a:rPr sz="1800" spc="-85" dirty="0">
                <a:latin typeface="Arial"/>
                <a:cs typeface="Arial"/>
              </a:rPr>
              <a:t>de</a:t>
            </a:r>
            <a:r>
              <a:rPr sz="1800" spc="-125" dirty="0">
                <a:latin typeface="Arial"/>
                <a:cs typeface="Arial"/>
              </a:rPr>
              <a:t> </a:t>
            </a:r>
            <a:r>
              <a:rPr sz="1800" spc="-140" dirty="0">
                <a:latin typeface="Arial"/>
                <a:cs typeface="Arial"/>
              </a:rPr>
              <a:t>IoT.</a:t>
            </a:r>
            <a:endParaRPr sz="1800">
              <a:latin typeface="Arial"/>
              <a:cs typeface="Arial"/>
            </a:endParaRPr>
          </a:p>
          <a:p>
            <a:pPr marL="363855" indent="-342900" algn="just">
              <a:lnSpc>
                <a:spcPct val="100000"/>
              </a:lnSpc>
              <a:buAutoNum type="arabicPeriod"/>
              <a:tabLst>
                <a:tab pos="364490" algn="l"/>
              </a:tabLst>
            </a:pPr>
            <a:r>
              <a:rPr sz="1800" spc="-80" dirty="0">
                <a:latin typeface="Arial"/>
                <a:cs typeface="Arial"/>
              </a:rPr>
              <a:t>Desarrollando </a:t>
            </a:r>
            <a:r>
              <a:rPr sz="1800" spc="-100" dirty="0">
                <a:latin typeface="Arial"/>
                <a:cs typeface="Arial"/>
              </a:rPr>
              <a:t>nuevos </a:t>
            </a:r>
            <a:r>
              <a:rPr sz="1800" spc="-75" dirty="0">
                <a:latin typeface="Arial"/>
                <a:cs typeface="Arial"/>
              </a:rPr>
              <a:t>modelos </a:t>
            </a:r>
            <a:r>
              <a:rPr sz="1800" spc="-65" dirty="0">
                <a:latin typeface="Arial"/>
                <a:cs typeface="Arial"/>
              </a:rPr>
              <a:t>operativos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5" dirty="0">
                <a:latin typeface="Arial"/>
                <a:cs typeface="Arial"/>
              </a:rPr>
              <a:t>partir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65" dirty="0">
                <a:latin typeface="Arial"/>
                <a:cs typeface="Arial"/>
              </a:rPr>
              <a:t>la innovación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45" dirty="0">
                <a:latin typeface="Arial"/>
                <a:cs typeface="Arial"/>
              </a:rPr>
              <a:t>producto </a:t>
            </a:r>
            <a:r>
              <a:rPr sz="1800" spc="-215" dirty="0">
                <a:latin typeface="Arial"/>
                <a:cs typeface="Arial"/>
              </a:rPr>
              <a:t>P2P </a:t>
            </a:r>
            <a:r>
              <a:rPr sz="1800" spc="-55" dirty="0">
                <a:latin typeface="Arial"/>
                <a:cs typeface="Arial"/>
              </a:rPr>
              <a:t>o</a:t>
            </a:r>
            <a:endParaRPr sz="1800">
              <a:latin typeface="Arial"/>
              <a:cs typeface="Arial"/>
            </a:endParaRPr>
          </a:p>
          <a:p>
            <a:pPr marL="363855">
              <a:lnSpc>
                <a:spcPct val="100000"/>
              </a:lnSpc>
            </a:pP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70" dirty="0">
                <a:latin typeface="Arial"/>
                <a:cs typeface="Arial"/>
              </a:rPr>
              <a:t>servicio </a:t>
            </a:r>
            <a:r>
              <a:rPr sz="1800" spc="-65" dirty="0">
                <a:latin typeface="Arial"/>
                <a:cs typeface="Arial"/>
              </a:rPr>
              <a:t>al</a:t>
            </a:r>
            <a:r>
              <a:rPr sz="1800" spc="-1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cliente.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46932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14" dirty="0">
                <a:solidFill>
                  <a:srgbClr val="FFFFFF"/>
                </a:solidFill>
                <a:latin typeface="Arial"/>
                <a:cs typeface="Arial"/>
              </a:rPr>
              <a:t>Hardware</a:t>
            </a:r>
            <a:r>
              <a:rPr sz="2000" b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70" dirty="0">
                <a:solidFill>
                  <a:srgbClr val="FFFFFF"/>
                </a:solidFill>
                <a:latin typeface="Arial"/>
                <a:cs typeface="Arial"/>
              </a:rPr>
              <a:t>Los 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nuevos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desafíos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aplicaciones de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era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digital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0586" y="1044194"/>
            <a:ext cx="82283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330" dirty="0">
                <a:latin typeface="Arial"/>
                <a:cs typeface="Arial"/>
              </a:rPr>
              <a:t>La </a:t>
            </a:r>
            <a:r>
              <a:rPr sz="2600" b="1" spc="-195" dirty="0">
                <a:latin typeface="Arial"/>
                <a:cs typeface="Arial"/>
              </a:rPr>
              <a:t>nueva </a:t>
            </a:r>
            <a:r>
              <a:rPr sz="2600" b="1" spc="-155" dirty="0">
                <a:latin typeface="Arial"/>
                <a:cs typeface="Arial"/>
              </a:rPr>
              <a:t>era </a:t>
            </a:r>
            <a:r>
              <a:rPr sz="2600" b="1" spc="-140" dirty="0">
                <a:latin typeface="Arial"/>
                <a:cs typeface="Arial"/>
              </a:rPr>
              <a:t>digital: </a:t>
            </a:r>
            <a:r>
              <a:rPr sz="2600" b="1" spc="-114" dirty="0">
                <a:latin typeface="Arial"/>
                <a:cs typeface="Arial"/>
              </a:rPr>
              <a:t>el </a:t>
            </a:r>
            <a:r>
              <a:rPr sz="2600" b="1" spc="-175" dirty="0">
                <a:latin typeface="Arial"/>
                <a:cs typeface="Arial"/>
              </a:rPr>
              <a:t>fenómeno </a:t>
            </a:r>
            <a:r>
              <a:rPr sz="2600" b="1" spc="-170" dirty="0">
                <a:latin typeface="Arial"/>
                <a:cs typeface="Arial"/>
              </a:rPr>
              <a:t>de </a:t>
            </a:r>
            <a:r>
              <a:rPr sz="2600" b="1" spc="-125" dirty="0">
                <a:latin typeface="Arial"/>
                <a:cs typeface="Arial"/>
              </a:rPr>
              <a:t>la </a:t>
            </a:r>
            <a:r>
              <a:rPr sz="2600" b="1" spc="-175" dirty="0">
                <a:latin typeface="Arial"/>
                <a:cs typeface="Arial"/>
              </a:rPr>
              <a:t>Digitalización</a:t>
            </a:r>
            <a:r>
              <a:rPr sz="2600" b="1" spc="-70" dirty="0">
                <a:latin typeface="Arial"/>
                <a:cs typeface="Arial"/>
              </a:rPr>
              <a:t> </a:t>
            </a:r>
            <a:r>
              <a:rPr sz="2600" b="1" spc="-150" dirty="0">
                <a:latin typeface="Arial"/>
                <a:cs typeface="Arial"/>
              </a:rPr>
              <a:t>(Cont.)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93366" y="1590033"/>
            <a:ext cx="7072967" cy="47159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24194" y="6496303"/>
            <a:ext cx="2971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65" dirty="0">
                <a:latin typeface="Arial"/>
                <a:cs typeface="Arial"/>
              </a:rPr>
              <a:t>Hi</a:t>
            </a:r>
            <a:r>
              <a:rPr sz="1200" spc="10" dirty="0">
                <a:latin typeface="Arial"/>
                <a:cs typeface="Arial"/>
              </a:rPr>
              <a:t>r</a:t>
            </a:r>
            <a:r>
              <a:rPr sz="1200" spc="65" dirty="0">
                <a:latin typeface="Arial"/>
                <a:cs typeface="Arial"/>
              </a:rPr>
              <a:t>t</a:t>
            </a:r>
            <a:r>
              <a:rPr sz="1200" spc="-35" dirty="0"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59295" y="6496303"/>
            <a:ext cx="19431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25" dirty="0">
                <a:latin typeface="Arial"/>
                <a:cs typeface="Arial"/>
              </a:rPr>
              <a:t>M</a:t>
            </a:r>
            <a:r>
              <a:rPr sz="1200" spc="-35" dirty="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91528" y="6496303"/>
            <a:ext cx="5746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i="1" spc="-65" dirty="0">
                <a:latin typeface="Arial"/>
                <a:cs typeface="Arial"/>
              </a:rPr>
              <a:t>Stra</a:t>
            </a:r>
            <a:r>
              <a:rPr sz="1200" i="1" spc="50" dirty="0">
                <a:latin typeface="Arial"/>
                <a:cs typeface="Arial"/>
              </a:rPr>
              <a:t>t</a:t>
            </a:r>
            <a:r>
              <a:rPr sz="1200" i="1" spc="-60" dirty="0">
                <a:latin typeface="Arial"/>
                <a:cs typeface="Arial"/>
              </a:rPr>
              <a:t>egic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03997" y="6496303"/>
            <a:ext cx="6121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i="1" spc="-50" dirty="0">
                <a:latin typeface="Arial"/>
                <a:cs typeface="Arial"/>
              </a:rPr>
              <a:t>principles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54568" y="6496303"/>
            <a:ext cx="20002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i="1" spc="10" dirty="0">
                <a:latin typeface="Arial"/>
                <a:cs typeface="Arial"/>
              </a:rPr>
              <a:t>f</a:t>
            </a:r>
            <a:r>
              <a:rPr sz="1200" i="1" spc="-60" dirty="0">
                <a:latin typeface="Arial"/>
                <a:cs typeface="Arial"/>
              </a:rPr>
              <a:t>o</a:t>
            </a:r>
            <a:r>
              <a:rPr sz="1200" i="1" spc="10" dirty="0">
                <a:latin typeface="Arial"/>
                <a:cs typeface="Arial"/>
              </a:rPr>
              <a:t>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33</a:t>
            </a:fld>
            <a:endParaRPr spc="-5" dirty="0"/>
          </a:p>
        </p:txBody>
      </p:sp>
      <p:sp>
        <p:nvSpPr>
          <p:cNvPr id="12" name="object 12"/>
          <p:cNvSpPr txBox="1"/>
          <p:nvPr/>
        </p:nvSpPr>
        <p:spPr>
          <a:xfrm>
            <a:off x="5489447" y="6679183"/>
            <a:ext cx="26593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i="1" spc="-50" dirty="0">
                <a:latin typeface="Arial"/>
                <a:cs typeface="Arial"/>
              </a:rPr>
              <a:t>competing </a:t>
            </a:r>
            <a:r>
              <a:rPr sz="1200" i="1" spc="-25" dirty="0">
                <a:latin typeface="Arial"/>
                <a:cs typeface="Arial"/>
              </a:rPr>
              <a:t>in </a:t>
            </a:r>
            <a:r>
              <a:rPr sz="1200" i="1" spc="-55" dirty="0">
                <a:latin typeface="Arial"/>
                <a:cs typeface="Arial"/>
              </a:rPr>
              <a:t>a </a:t>
            </a:r>
            <a:r>
              <a:rPr sz="1200" i="1" spc="-15" dirty="0">
                <a:latin typeface="Arial"/>
                <a:cs typeface="Arial"/>
              </a:rPr>
              <a:t>digital </a:t>
            </a:r>
            <a:r>
              <a:rPr sz="1200" i="1" spc="-60" dirty="0">
                <a:latin typeface="Arial"/>
                <a:cs typeface="Arial"/>
              </a:rPr>
              <a:t>age</a:t>
            </a:r>
            <a:r>
              <a:rPr sz="1200" spc="-60" dirty="0">
                <a:latin typeface="Arial"/>
                <a:cs typeface="Arial"/>
              </a:rPr>
              <a:t>, </a:t>
            </a:r>
            <a:r>
              <a:rPr sz="1200" spc="-75" dirty="0">
                <a:latin typeface="Arial"/>
                <a:cs typeface="Arial"/>
              </a:rPr>
              <a:t>McKinsey,</a:t>
            </a:r>
            <a:r>
              <a:rPr sz="1200" spc="-23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2014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932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/>
              <a:t>– </a:t>
            </a:r>
            <a:r>
              <a:rPr spc="-114" dirty="0"/>
              <a:t>Hardware</a:t>
            </a:r>
            <a:r>
              <a:rPr spc="-150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70" dirty="0">
                <a:latin typeface="Arial"/>
                <a:cs typeface="Arial"/>
              </a:rPr>
              <a:t>Los </a:t>
            </a:r>
            <a:r>
              <a:rPr sz="1800" b="0" spc="-95" dirty="0">
                <a:latin typeface="Arial"/>
                <a:cs typeface="Arial"/>
              </a:rPr>
              <a:t>nuevos </a:t>
            </a:r>
            <a:r>
              <a:rPr sz="1800" b="0" spc="-105" dirty="0">
                <a:latin typeface="Arial"/>
                <a:cs typeface="Arial"/>
              </a:rPr>
              <a:t>desafíos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5" dirty="0">
                <a:latin typeface="Arial"/>
                <a:cs typeface="Arial"/>
              </a:rPr>
              <a:t>aplicaciones de </a:t>
            </a:r>
            <a:r>
              <a:rPr sz="1800" b="0" spc="-65" dirty="0">
                <a:latin typeface="Arial"/>
                <a:cs typeface="Arial"/>
              </a:rPr>
              <a:t>la </a:t>
            </a:r>
            <a:r>
              <a:rPr sz="1800" b="0" spc="-75" dirty="0">
                <a:latin typeface="Arial"/>
                <a:cs typeface="Arial"/>
              </a:rPr>
              <a:t>era</a:t>
            </a:r>
            <a:r>
              <a:rPr sz="1800" b="0" spc="10" dirty="0">
                <a:latin typeface="Arial"/>
                <a:cs typeface="Arial"/>
              </a:rPr>
              <a:t> </a:t>
            </a:r>
            <a:r>
              <a:rPr sz="1800" b="0" spc="-35" dirty="0">
                <a:latin typeface="Arial"/>
                <a:cs typeface="Arial"/>
              </a:rPr>
              <a:t>digital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044194"/>
            <a:ext cx="357187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05" dirty="0">
                <a:latin typeface="Arial"/>
                <a:cs typeface="Arial"/>
              </a:rPr>
              <a:t>Internet </a:t>
            </a:r>
            <a:r>
              <a:rPr sz="2600" b="1" spc="-170" dirty="0">
                <a:latin typeface="Arial"/>
                <a:cs typeface="Arial"/>
              </a:rPr>
              <a:t>de </a:t>
            </a:r>
            <a:r>
              <a:rPr sz="2600" b="1" spc="-220" dirty="0">
                <a:latin typeface="Arial"/>
                <a:cs typeface="Arial"/>
              </a:rPr>
              <a:t>las </a:t>
            </a:r>
            <a:r>
              <a:rPr sz="2600" b="1" spc="-310" dirty="0">
                <a:latin typeface="Arial"/>
                <a:cs typeface="Arial"/>
              </a:rPr>
              <a:t>cosas</a:t>
            </a:r>
            <a:r>
              <a:rPr sz="2600" b="1" spc="-65" dirty="0">
                <a:latin typeface="Arial"/>
                <a:cs typeface="Arial"/>
              </a:rPr>
              <a:t> </a:t>
            </a:r>
            <a:r>
              <a:rPr sz="2600" b="1" spc="-160" dirty="0">
                <a:latin typeface="Arial"/>
                <a:cs typeface="Arial"/>
              </a:rPr>
              <a:t>(IOT)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1507236"/>
            <a:ext cx="3500120" cy="3439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600" spc="-85" dirty="0">
                <a:latin typeface="Arial"/>
                <a:cs typeface="Arial"/>
              </a:rPr>
              <a:t>Refiere </a:t>
            </a:r>
            <a:r>
              <a:rPr sz="1600" spc="-125" dirty="0">
                <a:latin typeface="Arial"/>
                <a:cs typeface="Arial"/>
              </a:rPr>
              <a:t>a </a:t>
            </a:r>
            <a:r>
              <a:rPr sz="1600" spc="-65" dirty="0">
                <a:latin typeface="Arial"/>
                <a:cs typeface="Arial"/>
              </a:rPr>
              <a:t>la </a:t>
            </a:r>
            <a:r>
              <a:rPr sz="1600" spc="-55" dirty="0">
                <a:latin typeface="Arial"/>
                <a:cs typeface="Arial"/>
              </a:rPr>
              <a:t>interconexión </a:t>
            </a:r>
            <a:r>
              <a:rPr sz="1600" spc="-35" dirty="0">
                <a:latin typeface="Arial"/>
                <a:cs typeface="Arial"/>
              </a:rPr>
              <a:t>digital </a:t>
            </a:r>
            <a:r>
              <a:rPr sz="1600" spc="-80" dirty="0">
                <a:latin typeface="Arial"/>
                <a:cs typeface="Arial"/>
              </a:rPr>
              <a:t>de  </a:t>
            </a:r>
            <a:r>
              <a:rPr sz="1600" spc="-50" dirty="0">
                <a:latin typeface="Arial"/>
                <a:cs typeface="Arial"/>
              </a:rPr>
              <a:t>objetos </a:t>
            </a:r>
            <a:r>
              <a:rPr sz="1600" spc="-85" dirty="0">
                <a:latin typeface="Arial"/>
                <a:cs typeface="Arial"/>
              </a:rPr>
              <a:t>físicos </a:t>
            </a:r>
            <a:r>
              <a:rPr sz="1600" spc="-80" dirty="0">
                <a:latin typeface="Arial"/>
                <a:cs typeface="Arial"/>
              </a:rPr>
              <a:t>con </a:t>
            </a:r>
            <a:r>
              <a:rPr sz="1600" spc="-25" dirty="0">
                <a:latin typeface="Arial"/>
                <a:cs typeface="Arial"/>
              </a:rPr>
              <a:t>Internet </a:t>
            </a:r>
            <a:r>
              <a:rPr sz="1600" spc="-125" dirty="0">
                <a:latin typeface="Arial"/>
                <a:cs typeface="Arial"/>
              </a:rPr>
              <a:t>a </a:t>
            </a:r>
            <a:r>
              <a:rPr sz="1600" spc="-10" dirty="0">
                <a:latin typeface="Arial"/>
                <a:cs typeface="Arial"/>
              </a:rPr>
              <a:t>partir </a:t>
            </a:r>
            <a:r>
              <a:rPr sz="1600" spc="-50" dirty="0">
                <a:latin typeface="Arial"/>
                <a:cs typeface="Arial"/>
              </a:rPr>
              <a:t>del  </a:t>
            </a:r>
            <a:r>
              <a:rPr sz="1600" spc="-95" dirty="0">
                <a:latin typeface="Arial"/>
                <a:cs typeface="Arial"/>
              </a:rPr>
              <a:t>uso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95" dirty="0">
                <a:latin typeface="Arial"/>
                <a:cs typeface="Arial"/>
              </a:rPr>
              <a:t>sensores. </a:t>
            </a:r>
            <a:r>
              <a:rPr sz="1600" spc="-45" dirty="0">
                <a:latin typeface="Arial"/>
                <a:cs typeface="Arial"/>
              </a:rPr>
              <a:t>Alternativamente,  </a:t>
            </a:r>
            <a:r>
              <a:rPr sz="1600" spc="-25" dirty="0">
                <a:latin typeface="Arial"/>
                <a:cs typeface="Arial"/>
              </a:rPr>
              <a:t>Internet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95" dirty="0">
                <a:latin typeface="Arial"/>
                <a:cs typeface="Arial"/>
              </a:rPr>
              <a:t>las </a:t>
            </a:r>
            <a:r>
              <a:rPr sz="1600" spc="-135" dirty="0">
                <a:latin typeface="Arial"/>
                <a:cs typeface="Arial"/>
              </a:rPr>
              <a:t>cosas es </a:t>
            </a:r>
            <a:r>
              <a:rPr sz="1600" spc="-45" dirty="0">
                <a:latin typeface="Arial"/>
                <a:cs typeface="Arial"/>
              </a:rPr>
              <a:t>el </a:t>
            </a:r>
            <a:r>
              <a:rPr sz="1600" spc="-35" dirty="0">
                <a:latin typeface="Arial"/>
                <a:cs typeface="Arial"/>
              </a:rPr>
              <a:t>punto </a:t>
            </a:r>
            <a:r>
              <a:rPr sz="1600" spc="-75" dirty="0">
                <a:latin typeface="Arial"/>
                <a:cs typeface="Arial"/>
              </a:rPr>
              <a:t>en </a:t>
            </a:r>
            <a:r>
              <a:rPr sz="1600" spc="-45" dirty="0">
                <a:latin typeface="Arial"/>
                <a:cs typeface="Arial"/>
              </a:rPr>
              <a:t>el  </a:t>
            </a:r>
            <a:r>
              <a:rPr sz="1600" spc="-25" dirty="0">
                <a:latin typeface="Arial"/>
                <a:cs typeface="Arial"/>
              </a:rPr>
              <a:t>tiempo </a:t>
            </a:r>
            <a:r>
              <a:rPr sz="1600" spc="-75" dirty="0">
                <a:latin typeface="Arial"/>
                <a:cs typeface="Arial"/>
              </a:rPr>
              <a:t>en </a:t>
            </a:r>
            <a:r>
              <a:rPr sz="1600" spc="-45" dirty="0">
                <a:latin typeface="Arial"/>
                <a:cs typeface="Arial"/>
              </a:rPr>
              <a:t>el</a:t>
            </a:r>
            <a:r>
              <a:rPr sz="1600" spc="350" dirty="0">
                <a:latin typeface="Arial"/>
                <a:cs typeface="Arial"/>
              </a:rPr>
              <a:t> </a:t>
            </a:r>
            <a:r>
              <a:rPr sz="1600" spc="-70" dirty="0">
                <a:latin typeface="Arial"/>
                <a:cs typeface="Arial"/>
              </a:rPr>
              <a:t>que  </a:t>
            </a:r>
            <a:r>
              <a:rPr sz="1600" spc="-135" dirty="0">
                <a:latin typeface="Arial"/>
                <a:cs typeface="Arial"/>
              </a:rPr>
              <a:t>se </a:t>
            </a:r>
            <a:r>
              <a:rPr sz="1600" spc="-70" dirty="0">
                <a:latin typeface="Arial"/>
                <a:cs typeface="Arial"/>
              </a:rPr>
              <a:t>conectarían  </a:t>
            </a:r>
            <a:r>
              <a:rPr sz="1600" spc="-125" dirty="0">
                <a:latin typeface="Arial"/>
                <a:cs typeface="Arial"/>
              </a:rPr>
              <a:t>a  </a:t>
            </a:r>
            <a:r>
              <a:rPr sz="1600" spc="-25" dirty="0">
                <a:latin typeface="Arial"/>
                <a:cs typeface="Arial"/>
              </a:rPr>
              <a:t>Internet </a:t>
            </a:r>
            <a:r>
              <a:rPr sz="1600" spc="-120" dirty="0">
                <a:latin typeface="Arial"/>
                <a:cs typeface="Arial"/>
              </a:rPr>
              <a:t>más </a:t>
            </a:r>
            <a:r>
              <a:rPr sz="1600" spc="-100" dirty="0">
                <a:latin typeface="Arial"/>
                <a:cs typeface="Arial"/>
              </a:rPr>
              <a:t>“cosas </a:t>
            </a:r>
            <a:r>
              <a:rPr sz="1600" spc="-50" dirty="0">
                <a:latin typeface="Arial"/>
                <a:cs typeface="Arial"/>
              </a:rPr>
              <a:t>u </a:t>
            </a:r>
            <a:r>
              <a:rPr sz="1600" spc="-25" dirty="0">
                <a:latin typeface="Arial"/>
                <a:cs typeface="Arial"/>
              </a:rPr>
              <a:t>objetos” </a:t>
            </a:r>
            <a:r>
              <a:rPr sz="1600" spc="-70" dirty="0">
                <a:latin typeface="Arial"/>
                <a:cs typeface="Arial"/>
              </a:rPr>
              <a:t>que  </a:t>
            </a:r>
            <a:r>
              <a:rPr sz="1600" spc="-90" dirty="0">
                <a:latin typeface="Arial"/>
                <a:cs typeface="Arial"/>
              </a:rPr>
              <a:t>personas. </a:t>
            </a:r>
            <a:r>
              <a:rPr sz="1600" spc="-140" dirty="0">
                <a:latin typeface="Arial"/>
                <a:cs typeface="Arial"/>
              </a:rPr>
              <a:t>El </a:t>
            </a:r>
            <a:r>
              <a:rPr sz="1600" spc="-65" dirty="0">
                <a:latin typeface="Arial"/>
                <a:cs typeface="Arial"/>
              </a:rPr>
              <a:t>concepto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25" dirty="0">
                <a:latin typeface="Arial"/>
                <a:cs typeface="Arial"/>
              </a:rPr>
              <a:t>Internet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100" dirty="0">
                <a:latin typeface="Arial"/>
                <a:cs typeface="Arial"/>
              </a:rPr>
              <a:t>las  </a:t>
            </a:r>
            <a:r>
              <a:rPr sz="1600" spc="-135" dirty="0">
                <a:latin typeface="Arial"/>
                <a:cs typeface="Arial"/>
              </a:rPr>
              <a:t>cosas </a:t>
            </a:r>
            <a:r>
              <a:rPr sz="1600" spc="-40" dirty="0">
                <a:latin typeface="Arial"/>
                <a:cs typeface="Arial"/>
              </a:rPr>
              <a:t>fue </a:t>
            </a:r>
            <a:r>
              <a:rPr sz="1600" spc="-55" dirty="0">
                <a:latin typeface="Arial"/>
                <a:cs typeface="Arial"/>
              </a:rPr>
              <a:t>propuesto </a:t>
            </a:r>
            <a:r>
              <a:rPr sz="1600" spc="-25" dirty="0">
                <a:latin typeface="Arial"/>
                <a:cs typeface="Arial"/>
              </a:rPr>
              <a:t>por </a:t>
            </a:r>
            <a:r>
              <a:rPr sz="1600" spc="-95" dirty="0">
                <a:latin typeface="Arial"/>
                <a:cs typeface="Arial"/>
              </a:rPr>
              <a:t>Kevin </a:t>
            </a:r>
            <a:r>
              <a:rPr sz="1600" spc="-75" dirty="0">
                <a:latin typeface="Arial"/>
                <a:cs typeface="Arial"/>
              </a:rPr>
              <a:t>Ashton en  </a:t>
            </a:r>
            <a:r>
              <a:rPr sz="1600" spc="-45" dirty="0">
                <a:latin typeface="Arial"/>
                <a:cs typeface="Arial"/>
              </a:rPr>
              <a:t>el </a:t>
            </a:r>
            <a:r>
              <a:rPr sz="1600" spc="-65" dirty="0">
                <a:latin typeface="Arial"/>
                <a:cs typeface="Arial"/>
              </a:rPr>
              <a:t>Auto-ID </a:t>
            </a:r>
            <a:r>
              <a:rPr sz="1600" spc="-80" dirty="0">
                <a:latin typeface="Arial"/>
                <a:cs typeface="Arial"/>
              </a:rPr>
              <a:t>Center </a:t>
            </a:r>
            <a:r>
              <a:rPr sz="1600" spc="-50" dirty="0">
                <a:latin typeface="Arial"/>
                <a:cs typeface="Arial"/>
              </a:rPr>
              <a:t>del </a:t>
            </a:r>
            <a:r>
              <a:rPr sz="1600" spc="-75" dirty="0">
                <a:latin typeface="Arial"/>
                <a:cs typeface="Arial"/>
              </a:rPr>
              <a:t>MIT en 1999, </a:t>
            </a:r>
            <a:r>
              <a:rPr sz="1600" spc="-65" dirty="0">
                <a:latin typeface="Arial"/>
                <a:cs typeface="Arial"/>
              </a:rPr>
              <a:t>donde  </a:t>
            </a:r>
            <a:r>
              <a:rPr sz="1600" spc="-140" dirty="0">
                <a:latin typeface="Arial"/>
                <a:cs typeface="Arial"/>
              </a:rPr>
              <a:t>se </a:t>
            </a:r>
            <a:r>
              <a:rPr sz="1600" spc="-75" dirty="0">
                <a:latin typeface="Arial"/>
                <a:cs typeface="Arial"/>
              </a:rPr>
              <a:t>realizaban </a:t>
            </a:r>
            <a:r>
              <a:rPr sz="1600" spc="-80" dirty="0">
                <a:latin typeface="Arial"/>
                <a:cs typeface="Arial"/>
              </a:rPr>
              <a:t>investigaciones </a:t>
            </a:r>
            <a:r>
              <a:rPr sz="1600" spc="-75" dirty="0">
                <a:latin typeface="Arial"/>
                <a:cs typeface="Arial"/>
              </a:rPr>
              <a:t>en </a:t>
            </a:r>
            <a:r>
              <a:rPr sz="1600" spc="-45" dirty="0">
                <a:latin typeface="Arial"/>
                <a:cs typeface="Arial"/>
              </a:rPr>
              <a:t>el </a:t>
            </a:r>
            <a:r>
              <a:rPr sz="1600" spc="-90" dirty="0">
                <a:latin typeface="Arial"/>
                <a:cs typeface="Arial"/>
              </a:rPr>
              <a:t>campo 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5" dirty="0">
                <a:latin typeface="Arial"/>
                <a:cs typeface="Arial"/>
              </a:rPr>
              <a:t>la </a:t>
            </a:r>
            <a:r>
              <a:rPr sz="1600" spc="-40" dirty="0">
                <a:latin typeface="Arial"/>
                <a:cs typeface="Arial"/>
              </a:rPr>
              <a:t>identificación </a:t>
            </a:r>
            <a:r>
              <a:rPr sz="1600" spc="-30" dirty="0">
                <a:latin typeface="Arial"/>
                <a:cs typeface="Arial"/>
              </a:rPr>
              <a:t>por </a:t>
            </a:r>
            <a:r>
              <a:rPr sz="1600" spc="-60" dirty="0">
                <a:latin typeface="Arial"/>
                <a:cs typeface="Arial"/>
              </a:rPr>
              <a:t>radiofrecuencia </a:t>
            </a:r>
            <a:r>
              <a:rPr sz="1600" spc="-85" dirty="0">
                <a:latin typeface="Arial"/>
                <a:cs typeface="Arial"/>
              </a:rPr>
              <a:t>en  </a:t>
            </a:r>
            <a:r>
              <a:rPr sz="1600" spc="-50" dirty="0">
                <a:latin typeface="Arial"/>
                <a:cs typeface="Arial"/>
              </a:rPr>
              <a:t>red </a:t>
            </a:r>
            <a:r>
              <a:rPr sz="1600" spc="-145" dirty="0">
                <a:latin typeface="Arial"/>
                <a:cs typeface="Arial"/>
              </a:rPr>
              <a:t>(RFID) </a:t>
            </a:r>
            <a:r>
              <a:rPr sz="1600" spc="-75" dirty="0">
                <a:latin typeface="Arial"/>
                <a:cs typeface="Arial"/>
              </a:rPr>
              <a:t>y tecnologías de </a:t>
            </a:r>
            <a:r>
              <a:rPr sz="1600" spc="-95" dirty="0">
                <a:latin typeface="Arial"/>
                <a:cs typeface="Arial"/>
              </a:rPr>
              <a:t>sensores. </a:t>
            </a:r>
            <a:r>
              <a:rPr sz="1600" spc="-175" dirty="0">
                <a:latin typeface="Arial"/>
                <a:cs typeface="Arial"/>
              </a:rPr>
              <a:t>En  </a:t>
            </a:r>
            <a:r>
              <a:rPr sz="1600" spc="-80" dirty="0">
                <a:latin typeface="Arial"/>
                <a:cs typeface="Arial"/>
              </a:rPr>
              <a:t>simples </a:t>
            </a:r>
            <a:r>
              <a:rPr sz="1600" spc="-110" dirty="0">
                <a:latin typeface="Arial"/>
                <a:cs typeface="Arial"/>
              </a:rPr>
              <a:t>pasos, </a:t>
            </a:r>
            <a:r>
              <a:rPr sz="1600" spc="-125" dirty="0">
                <a:latin typeface="Arial"/>
                <a:cs typeface="Arial"/>
              </a:rPr>
              <a:t>a </a:t>
            </a:r>
            <a:r>
              <a:rPr sz="1600" spc="-10" dirty="0">
                <a:latin typeface="Arial"/>
                <a:cs typeface="Arial"/>
              </a:rPr>
              <a:t>partir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90" dirty="0">
                <a:latin typeface="Arial"/>
                <a:cs typeface="Arial"/>
              </a:rPr>
              <a:t>esta </a:t>
            </a:r>
            <a:r>
              <a:rPr sz="1600" spc="-65" dirty="0">
                <a:latin typeface="Arial"/>
                <a:cs typeface="Arial"/>
              </a:rPr>
              <a:t>tecnología,  </a:t>
            </a:r>
            <a:r>
              <a:rPr sz="1600" spc="-140" dirty="0">
                <a:latin typeface="Arial"/>
                <a:cs typeface="Arial"/>
              </a:rPr>
              <a:t>se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spc="-65" dirty="0">
                <a:latin typeface="Arial"/>
                <a:cs typeface="Arial"/>
              </a:rPr>
              <a:t>debe: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5165090"/>
            <a:ext cx="349948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70" dirty="0">
                <a:latin typeface="Arial"/>
                <a:cs typeface="Arial"/>
              </a:rPr>
              <a:t>Capturar </a:t>
            </a:r>
            <a:r>
              <a:rPr sz="1600" spc="-75" dirty="0">
                <a:latin typeface="Arial"/>
                <a:cs typeface="Arial"/>
              </a:rPr>
              <a:t>datos </a:t>
            </a:r>
            <a:r>
              <a:rPr sz="1600" spc="-50" dirty="0">
                <a:latin typeface="Arial"/>
                <a:cs typeface="Arial"/>
              </a:rPr>
              <a:t>del</a:t>
            </a:r>
            <a:r>
              <a:rPr sz="1600" spc="-12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objeto;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50" dirty="0">
                <a:latin typeface="Arial"/>
                <a:cs typeface="Arial"/>
              </a:rPr>
              <a:t>Incorporar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45" dirty="0">
                <a:latin typeface="Arial"/>
                <a:cs typeface="Arial"/>
              </a:rPr>
              <a:t>información </a:t>
            </a:r>
            <a:r>
              <a:rPr sz="1600" spc="-125" dirty="0">
                <a:latin typeface="Arial"/>
                <a:cs typeface="Arial"/>
              </a:rPr>
              <a:t>a </a:t>
            </a:r>
            <a:r>
              <a:rPr sz="1600" spc="-80" dirty="0">
                <a:latin typeface="Arial"/>
                <a:cs typeface="Arial"/>
              </a:rPr>
              <a:t>una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red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75" dirty="0">
                <a:latin typeface="Arial"/>
                <a:cs typeface="Arial"/>
              </a:rPr>
              <a:t>de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spc="-65" dirty="0">
                <a:latin typeface="Arial"/>
                <a:cs typeface="Arial"/>
              </a:rPr>
              <a:t>datos;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 startAt="3"/>
              <a:tabLst>
                <a:tab pos="354965" algn="l"/>
                <a:tab pos="355600" algn="l"/>
              </a:tabLst>
            </a:pPr>
            <a:r>
              <a:rPr sz="1600" spc="-45" dirty="0">
                <a:latin typeface="Arial"/>
                <a:cs typeface="Arial"/>
              </a:rPr>
              <a:t>Utilizarla </a:t>
            </a:r>
            <a:r>
              <a:rPr sz="1600" spc="-80" dirty="0">
                <a:latin typeface="Arial"/>
                <a:cs typeface="Arial"/>
              </a:rPr>
              <a:t>para </a:t>
            </a:r>
            <a:r>
              <a:rPr sz="1600" spc="-65" dirty="0">
                <a:latin typeface="Arial"/>
                <a:cs typeface="Arial"/>
              </a:rPr>
              <a:t>crear</a:t>
            </a:r>
            <a:r>
              <a:rPr sz="1600" spc="-145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valor.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95676" y="1549144"/>
            <a:ext cx="5127115" cy="42668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48100" y="5886703"/>
            <a:ext cx="51415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u="sng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Fuente</a:t>
            </a:r>
            <a:r>
              <a:rPr sz="1200" spc="-55" dirty="0">
                <a:latin typeface="Arial"/>
                <a:cs typeface="Arial"/>
              </a:rPr>
              <a:t>: </a:t>
            </a:r>
            <a:r>
              <a:rPr sz="1200" i="1" spc="-50" dirty="0">
                <a:latin typeface="Arial"/>
                <a:cs typeface="Arial"/>
              </a:rPr>
              <a:t>Disruptive </a:t>
            </a:r>
            <a:r>
              <a:rPr sz="1200" i="1" spc="-75" dirty="0">
                <a:latin typeface="Arial"/>
                <a:cs typeface="Arial"/>
              </a:rPr>
              <a:t>Technologies: </a:t>
            </a:r>
            <a:r>
              <a:rPr sz="1200" i="1" spc="-80" dirty="0">
                <a:latin typeface="Arial"/>
                <a:cs typeface="Arial"/>
              </a:rPr>
              <a:t>advances </a:t>
            </a:r>
            <a:r>
              <a:rPr sz="1200" i="1" spc="5" dirty="0">
                <a:latin typeface="Arial"/>
                <a:cs typeface="Arial"/>
              </a:rPr>
              <a:t>that </a:t>
            </a:r>
            <a:r>
              <a:rPr sz="1200" i="1" dirty="0">
                <a:latin typeface="Arial"/>
                <a:cs typeface="Arial"/>
              </a:rPr>
              <a:t>will </a:t>
            </a:r>
            <a:r>
              <a:rPr sz="1200" i="1" spc="-30" dirty="0">
                <a:latin typeface="Arial"/>
                <a:cs typeface="Arial"/>
              </a:rPr>
              <a:t>transform </a:t>
            </a:r>
            <a:r>
              <a:rPr sz="1200" i="1" spc="-20" dirty="0">
                <a:latin typeface="Arial"/>
                <a:cs typeface="Arial"/>
              </a:rPr>
              <a:t>life, </a:t>
            </a:r>
            <a:r>
              <a:rPr sz="1200" i="1" spc="-80" dirty="0">
                <a:latin typeface="Arial"/>
                <a:cs typeface="Arial"/>
              </a:rPr>
              <a:t>business</a:t>
            </a:r>
            <a:r>
              <a:rPr sz="1200" spc="-80" dirty="0">
                <a:latin typeface="Arial"/>
                <a:cs typeface="Arial"/>
              </a:rPr>
              <a:t>, </a:t>
            </a:r>
            <a:r>
              <a:rPr sz="1200" i="1" spc="-60" dirty="0">
                <a:latin typeface="Arial"/>
                <a:cs typeface="Arial"/>
              </a:rPr>
              <a:t>and  </a:t>
            </a:r>
            <a:r>
              <a:rPr sz="1200" i="1" spc="-30" dirty="0">
                <a:latin typeface="Arial"/>
                <a:cs typeface="Arial"/>
              </a:rPr>
              <a:t>the </a:t>
            </a:r>
            <a:r>
              <a:rPr sz="1200" i="1" spc="-35" dirty="0">
                <a:latin typeface="Arial"/>
                <a:cs typeface="Arial"/>
              </a:rPr>
              <a:t>global </a:t>
            </a:r>
            <a:r>
              <a:rPr sz="1200" i="1" spc="-75" dirty="0">
                <a:latin typeface="Arial"/>
                <a:cs typeface="Arial"/>
              </a:rPr>
              <a:t>economy </a:t>
            </a:r>
            <a:r>
              <a:rPr sz="1200" spc="-70" dirty="0">
                <a:latin typeface="Arial"/>
                <a:cs typeface="Arial"/>
              </a:rPr>
              <a:t>McKinsey </a:t>
            </a:r>
            <a:r>
              <a:rPr sz="1200" spc="-60" dirty="0">
                <a:latin typeface="Arial"/>
                <a:cs typeface="Arial"/>
              </a:rPr>
              <a:t>Global </a:t>
            </a:r>
            <a:r>
              <a:rPr sz="1200" spc="-20" dirty="0">
                <a:latin typeface="Arial"/>
                <a:cs typeface="Arial"/>
              </a:rPr>
              <a:t>Institute,</a:t>
            </a:r>
            <a:r>
              <a:rPr sz="1200" spc="-12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2013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34</a:t>
            </a:fld>
            <a:endParaRPr spc="-5" dirty="0"/>
          </a:p>
        </p:txBody>
      </p:sp>
      <p:sp>
        <p:nvSpPr>
          <p:cNvPr id="10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46932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14" dirty="0">
                <a:solidFill>
                  <a:srgbClr val="FFFFFF"/>
                </a:solidFill>
                <a:latin typeface="Arial"/>
                <a:cs typeface="Arial"/>
              </a:rPr>
              <a:t>Hardware</a:t>
            </a:r>
            <a:r>
              <a:rPr sz="2000" b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70" dirty="0">
                <a:solidFill>
                  <a:srgbClr val="FFFFFF"/>
                </a:solidFill>
                <a:latin typeface="Arial"/>
                <a:cs typeface="Arial"/>
              </a:rPr>
              <a:t>Los 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nuevos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desafíos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aplicaciones de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era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digital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044194"/>
            <a:ext cx="357187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05" dirty="0">
                <a:latin typeface="Arial"/>
                <a:cs typeface="Arial"/>
              </a:rPr>
              <a:t>Internet </a:t>
            </a:r>
            <a:r>
              <a:rPr sz="2600" b="1" spc="-170" dirty="0">
                <a:latin typeface="Arial"/>
                <a:cs typeface="Arial"/>
              </a:rPr>
              <a:t>de </a:t>
            </a:r>
            <a:r>
              <a:rPr sz="2600" b="1" spc="-220" dirty="0">
                <a:latin typeface="Arial"/>
                <a:cs typeface="Arial"/>
              </a:rPr>
              <a:t>las </a:t>
            </a:r>
            <a:r>
              <a:rPr sz="2600" b="1" spc="-310" dirty="0">
                <a:latin typeface="Arial"/>
                <a:cs typeface="Arial"/>
              </a:rPr>
              <a:t>cosas</a:t>
            </a:r>
            <a:r>
              <a:rPr sz="2600" b="1" spc="-65" dirty="0">
                <a:latin typeface="Arial"/>
                <a:cs typeface="Arial"/>
              </a:rPr>
              <a:t> </a:t>
            </a:r>
            <a:r>
              <a:rPr sz="2600" b="1" spc="-160" dirty="0">
                <a:latin typeface="Arial"/>
                <a:cs typeface="Arial"/>
              </a:rPr>
              <a:t>(IOT)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2000" y="1665732"/>
            <a:ext cx="7696200" cy="4419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320035" y="6147561"/>
            <a:ext cx="4555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Fuente</a:t>
            </a:r>
            <a:r>
              <a:rPr sz="1200" spc="-55" dirty="0">
                <a:latin typeface="Arial"/>
                <a:cs typeface="Arial"/>
              </a:rPr>
              <a:t>: </a:t>
            </a:r>
            <a:r>
              <a:rPr sz="1200" i="1" spc="-30" dirty="0">
                <a:latin typeface="Arial"/>
                <a:cs typeface="Arial"/>
              </a:rPr>
              <a:t>What </a:t>
            </a:r>
            <a:r>
              <a:rPr sz="1200" i="1" spc="-65" dirty="0">
                <a:latin typeface="Arial"/>
                <a:cs typeface="Arial"/>
              </a:rPr>
              <a:t>separates </a:t>
            </a:r>
            <a:r>
              <a:rPr sz="1200" i="1" spc="-60" dirty="0">
                <a:latin typeface="Arial"/>
                <a:cs typeface="Arial"/>
              </a:rPr>
              <a:t>leaders </a:t>
            </a:r>
            <a:r>
              <a:rPr sz="1200" i="1" spc="-20" dirty="0">
                <a:latin typeface="Arial"/>
                <a:cs typeface="Arial"/>
              </a:rPr>
              <a:t>from </a:t>
            </a:r>
            <a:r>
              <a:rPr sz="1200" i="1" spc="-50" dirty="0">
                <a:latin typeface="Arial"/>
                <a:cs typeface="Arial"/>
              </a:rPr>
              <a:t>laggards </a:t>
            </a:r>
            <a:r>
              <a:rPr sz="1200" i="1" spc="-25" dirty="0">
                <a:latin typeface="Arial"/>
                <a:cs typeface="Arial"/>
              </a:rPr>
              <a:t>in </a:t>
            </a:r>
            <a:r>
              <a:rPr sz="1200" i="1" spc="-30" dirty="0">
                <a:latin typeface="Arial"/>
                <a:cs typeface="Arial"/>
              </a:rPr>
              <a:t>the </a:t>
            </a:r>
            <a:r>
              <a:rPr sz="1200" i="1" spc="-100" dirty="0">
                <a:latin typeface="Arial"/>
                <a:cs typeface="Arial"/>
              </a:rPr>
              <a:t>IoT. </a:t>
            </a:r>
            <a:r>
              <a:rPr sz="1200" spc="-75" dirty="0">
                <a:latin typeface="Arial"/>
                <a:cs typeface="Arial"/>
              </a:rPr>
              <a:t>McKinsey,</a:t>
            </a:r>
            <a:r>
              <a:rPr sz="1200" spc="-21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2018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35</a:t>
            </a:fld>
            <a:endParaRPr spc="-5" dirty="0"/>
          </a:p>
        </p:txBody>
      </p:sp>
      <p:sp>
        <p:nvSpPr>
          <p:cNvPr id="8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46932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14" dirty="0">
                <a:solidFill>
                  <a:srgbClr val="FFFFFF"/>
                </a:solidFill>
                <a:latin typeface="Arial"/>
                <a:cs typeface="Arial"/>
              </a:rPr>
              <a:t>Hardware</a:t>
            </a:r>
            <a:r>
              <a:rPr sz="2000" b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70" dirty="0">
                <a:solidFill>
                  <a:srgbClr val="FFFFFF"/>
                </a:solidFill>
                <a:latin typeface="Arial"/>
                <a:cs typeface="Arial"/>
              </a:rPr>
              <a:t>Los 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nuevos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desafíos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aplicaciones de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era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digital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044194"/>
            <a:ext cx="357187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05" dirty="0">
                <a:latin typeface="Arial"/>
                <a:cs typeface="Arial"/>
              </a:rPr>
              <a:t>Internet </a:t>
            </a:r>
            <a:r>
              <a:rPr sz="2600" b="1" spc="-170" dirty="0">
                <a:latin typeface="Arial"/>
                <a:cs typeface="Arial"/>
              </a:rPr>
              <a:t>de </a:t>
            </a:r>
            <a:r>
              <a:rPr sz="2600" b="1" spc="-220" dirty="0">
                <a:latin typeface="Arial"/>
                <a:cs typeface="Arial"/>
              </a:rPr>
              <a:t>las </a:t>
            </a:r>
            <a:r>
              <a:rPr sz="2600" b="1" spc="-310" dirty="0">
                <a:latin typeface="Arial"/>
                <a:cs typeface="Arial"/>
              </a:rPr>
              <a:t>cosas</a:t>
            </a:r>
            <a:r>
              <a:rPr sz="2600" b="1" spc="-65" dirty="0">
                <a:latin typeface="Arial"/>
                <a:cs typeface="Arial"/>
              </a:rPr>
              <a:t> </a:t>
            </a:r>
            <a:r>
              <a:rPr sz="2600" b="1" spc="-160" dirty="0">
                <a:latin typeface="Arial"/>
                <a:cs typeface="Arial"/>
              </a:rPr>
              <a:t>(IOT)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95400" y="1524000"/>
            <a:ext cx="6625590" cy="47144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36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932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/>
              <a:t>– </a:t>
            </a:r>
            <a:r>
              <a:rPr spc="-114" dirty="0"/>
              <a:t>Hardware</a:t>
            </a:r>
            <a:r>
              <a:rPr spc="-150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70" dirty="0">
                <a:latin typeface="Arial"/>
                <a:cs typeface="Arial"/>
              </a:rPr>
              <a:t>Los </a:t>
            </a:r>
            <a:r>
              <a:rPr sz="1800" b="0" spc="-95" dirty="0">
                <a:latin typeface="Arial"/>
                <a:cs typeface="Arial"/>
              </a:rPr>
              <a:t>nuevos </a:t>
            </a:r>
            <a:r>
              <a:rPr sz="1800" b="0" spc="-105" dirty="0">
                <a:latin typeface="Arial"/>
                <a:cs typeface="Arial"/>
              </a:rPr>
              <a:t>desafíos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5" dirty="0">
                <a:latin typeface="Arial"/>
                <a:cs typeface="Arial"/>
              </a:rPr>
              <a:t>aplicaciones de </a:t>
            </a:r>
            <a:r>
              <a:rPr sz="1800" b="0" spc="-65" dirty="0">
                <a:latin typeface="Arial"/>
                <a:cs typeface="Arial"/>
              </a:rPr>
              <a:t>la </a:t>
            </a:r>
            <a:r>
              <a:rPr sz="1800" b="0" spc="-75" dirty="0">
                <a:latin typeface="Arial"/>
                <a:cs typeface="Arial"/>
              </a:rPr>
              <a:t>era</a:t>
            </a:r>
            <a:r>
              <a:rPr sz="1800" b="0" spc="10" dirty="0">
                <a:latin typeface="Arial"/>
                <a:cs typeface="Arial"/>
              </a:rPr>
              <a:t> </a:t>
            </a:r>
            <a:r>
              <a:rPr sz="1800" b="0" spc="-35" dirty="0">
                <a:latin typeface="Arial"/>
                <a:cs typeface="Arial"/>
              </a:rPr>
              <a:t>digital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9506" y="1085353"/>
            <a:ext cx="5278340" cy="52876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62600" y="1765628"/>
            <a:ext cx="3048591" cy="43043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37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932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/>
              <a:t>– </a:t>
            </a:r>
            <a:r>
              <a:rPr spc="-114" dirty="0"/>
              <a:t>Hardware</a:t>
            </a:r>
            <a:r>
              <a:rPr spc="-150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70" dirty="0">
                <a:latin typeface="Arial"/>
                <a:cs typeface="Arial"/>
              </a:rPr>
              <a:t>Los </a:t>
            </a:r>
            <a:r>
              <a:rPr sz="1800" b="0" spc="-95" dirty="0">
                <a:latin typeface="Arial"/>
                <a:cs typeface="Arial"/>
              </a:rPr>
              <a:t>nuevos </a:t>
            </a:r>
            <a:r>
              <a:rPr sz="1800" b="0" spc="-105" dirty="0">
                <a:latin typeface="Arial"/>
                <a:cs typeface="Arial"/>
              </a:rPr>
              <a:t>desafíos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5" dirty="0">
                <a:latin typeface="Arial"/>
                <a:cs typeface="Arial"/>
              </a:rPr>
              <a:t>aplicaciones de </a:t>
            </a:r>
            <a:r>
              <a:rPr sz="1800" b="0" spc="-65" dirty="0">
                <a:latin typeface="Arial"/>
                <a:cs typeface="Arial"/>
              </a:rPr>
              <a:t>la </a:t>
            </a:r>
            <a:r>
              <a:rPr sz="1800" b="0" spc="-75" dirty="0">
                <a:latin typeface="Arial"/>
                <a:cs typeface="Arial"/>
              </a:rPr>
              <a:t>era</a:t>
            </a:r>
            <a:r>
              <a:rPr sz="1800" b="0" spc="10" dirty="0">
                <a:latin typeface="Arial"/>
                <a:cs typeface="Arial"/>
              </a:rPr>
              <a:t> </a:t>
            </a:r>
            <a:r>
              <a:rPr sz="1800" b="0" spc="-35" dirty="0">
                <a:latin typeface="Arial"/>
                <a:cs typeface="Arial"/>
              </a:rPr>
              <a:t>digital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028700"/>
            <a:ext cx="4363974" cy="5448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63973" y="1028700"/>
            <a:ext cx="4780025" cy="32377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63973" y="4114800"/>
            <a:ext cx="4780025" cy="2362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38</a:t>
            </a:fld>
            <a:endParaRPr spc="-5" dirty="0"/>
          </a:p>
        </p:txBody>
      </p:sp>
      <p:sp>
        <p:nvSpPr>
          <p:cNvPr id="8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331" y="3272048"/>
            <a:ext cx="1509976" cy="30955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932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/>
              <a:t>– </a:t>
            </a:r>
            <a:r>
              <a:rPr spc="-114" dirty="0"/>
              <a:t>Hardware</a:t>
            </a:r>
            <a:r>
              <a:rPr spc="-150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70" dirty="0">
                <a:latin typeface="Arial"/>
                <a:cs typeface="Arial"/>
              </a:rPr>
              <a:t>Los </a:t>
            </a:r>
            <a:r>
              <a:rPr sz="1800" b="0" spc="-95" dirty="0">
                <a:latin typeface="Arial"/>
                <a:cs typeface="Arial"/>
              </a:rPr>
              <a:t>nuevos </a:t>
            </a:r>
            <a:r>
              <a:rPr sz="1800" b="0" spc="-105" dirty="0">
                <a:latin typeface="Arial"/>
                <a:cs typeface="Arial"/>
              </a:rPr>
              <a:t>desafíos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5" dirty="0">
                <a:latin typeface="Arial"/>
                <a:cs typeface="Arial"/>
              </a:rPr>
              <a:t>aplicaciones de </a:t>
            </a:r>
            <a:r>
              <a:rPr sz="1800" b="0" spc="-65" dirty="0">
                <a:latin typeface="Arial"/>
                <a:cs typeface="Arial"/>
              </a:rPr>
              <a:t>la </a:t>
            </a:r>
            <a:r>
              <a:rPr sz="1800" b="0" spc="-75" dirty="0">
                <a:latin typeface="Arial"/>
                <a:cs typeface="Arial"/>
              </a:rPr>
              <a:t>era</a:t>
            </a:r>
            <a:r>
              <a:rPr sz="1800" b="0" spc="10" dirty="0">
                <a:latin typeface="Arial"/>
                <a:cs typeface="Arial"/>
              </a:rPr>
              <a:t> </a:t>
            </a:r>
            <a:r>
              <a:rPr sz="1800" b="0" spc="-35" dirty="0">
                <a:latin typeface="Arial"/>
                <a:cs typeface="Arial"/>
              </a:rPr>
              <a:t>digital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3994" y="4441697"/>
            <a:ext cx="213614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i="1" spc="-55" dirty="0">
                <a:latin typeface="Arial"/>
                <a:cs typeface="Arial"/>
              </a:rPr>
              <a:t>Valija </a:t>
            </a:r>
            <a:r>
              <a:rPr sz="1400" i="1" spc="-35" dirty="0">
                <a:latin typeface="Arial"/>
                <a:cs typeface="Arial"/>
              </a:rPr>
              <a:t>inteligente </a:t>
            </a:r>
            <a:r>
              <a:rPr sz="1400" i="1" spc="-90" dirty="0">
                <a:latin typeface="Arial"/>
                <a:cs typeface="Arial"/>
              </a:rPr>
              <a:t>con </a:t>
            </a:r>
            <a:r>
              <a:rPr sz="1400" i="1" spc="-45" dirty="0">
                <a:latin typeface="Arial"/>
                <a:cs typeface="Arial"/>
              </a:rPr>
              <a:t>rastreo  </a:t>
            </a:r>
            <a:r>
              <a:rPr sz="1400" i="1" spc="-195" dirty="0">
                <a:latin typeface="Arial"/>
                <a:cs typeface="Arial"/>
              </a:rPr>
              <a:t>GPS, </a:t>
            </a:r>
            <a:r>
              <a:rPr sz="1400" i="1" spc="-55" dirty="0">
                <a:latin typeface="Arial"/>
                <a:cs typeface="Arial"/>
              </a:rPr>
              <a:t>cargador </a:t>
            </a:r>
            <a:r>
              <a:rPr sz="1400" i="1" spc="-90" dirty="0">
                <a:latin typeface="Arial"/>
                <a:cs typeface="Arial"/>
              </a:rPr>
              <a:t>de </a:t>
            </a:r>
            <a:r>
              <a:rPr sz="1400" i="1" spc="-65" dirty="0">
                <a:latin typeface="Arial"/>
                <a:cs typeface="Arial"/>
              </a:rPr>
              <a:t>dispositivos  </a:t>
            </a:r>
            <a:r>
              <a:rPr sz="1400" i="1" spc="-60" dirty="0">
                <a:latin typeface="Arial"/>
                <a:cs typeface="Arial"/>
              </a:rPr>
              <a:t>electrónicos, </a:t>
            </a:r>
            <a:r>
              <a:rPr sz="1400" i="1" spc="-80" dirty="0">
                <a:latin typeface="Arial"/>
                <a:cs typeface="Arial"/>
              </a:rPr>
              <a:t>conexión </a:t>
            </a:r>
            <a:r>
              <a:rPr sz="1400" i="1" spc="-140" dirty="0">
                <a:latin typeface="Arial"/>
                <a:cs typeface="Arial"/>
              </a:rPr>
              <a:t>3G </a:t>
            </a:r>
            <a:r>
              <a:rPr sz="1400" i="1" spc="-75" dirty="0">
                <a:latin typeface="Arial"/>
                <a:cs typeface="Arial"/>
              </a:rPr>
              <a:t>y  </a:t>
            </a:r>
            <a:r>
              <a:rPr sz="1400" i="1" spc="-45" dirty="0">
                <a:latin typeface="Arial"/>
                <a:cs typeface="Arial"/>
              </a:rPr>
              <a:t>Bluetooth.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56180" y="5510976"/>
            <a:ext cx="2447289" cy="7680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47366" y="1066800"/>
            <a:ext cx="1415033" cy="21366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5" y="2193289"/>
            <a:ext cx="2687320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03835">
              <a:lnSpc>
                <a:spcPct val="100000"/>
              </a:lnSpc>
              <a:spcBef>
                <a:spcPts val="95"/>
              </a:spcBef>
            </a:pPr>
            <a:r>
              <a:rPr sz="1400" i="1" spc="-125" dirty="0">
                <a:latin typeface="Arial"/>
                <a:cs typeface="Arial"/>
              </a:rPr>
              <a:t>El </a:t>
            </a:r>
            <a:r>
              <a:rPr sz="1400" i="1" spc="-40" dirty="0">
                <a:latin typeface="Arial"/>
                <a:cs typeface="Arial"/>
              </a:rPr>
              <a:t>primer </a:t>
            </a:r>
            <a:r>
              <a:rPr sz="1400" i="1" spc="-75" dirty="0">
                <a:latin typeface="Arial"/>
                <a:cs typeface="Arial"/>
              </a:rPr>
              <a:t>encendedor </a:t>
            </a:r>
            <a:r>
              <a:rPr sz="1400" i="1" spc="-35" dirty="0">
                <a:latin typeface="Arial"/>
                <a:cs typeface="Arial"/>
              </a:rPr>
              <a:t>inteligente</a:t>
            </a:r>
            <a:r>
              <a:rPr sz="1400" i="1" spc="-105" dirty="0">
                <a:latin typeface="Arial"/>
                <a:cs typeface="Arial"/>
              </a:rPr>
              <a:t> </a:t>
            </a:r>
            <a:r>
              <a:rPr sz="1400" i="1" spc="-75" dirty="0">
                <a:latin typeface="Arial"/>
                <a:cs typeface="Arial"/>
              </a:rPr>
              <a:t>y  </a:t>
            </a:r>
            <a:r>
              <a:rPr sz="1400" i="1" spc="-55" dirty="0">
                <a:latin typeface="Arial"/>
                <a:cs typeface="Arial"/>
              </a:rPr>
              <a:t>aplicación </a:t>
            </a:r>
            <a:r>
              <a:rPr sz="1400" i="1" spc="-85" dirty="0">
                <a:latin typeface="Arial"/>
                <a:cs typeface="Arial"/>
              </a:rPr>
              <a:t>que </a:t>
            </a:r>
            <a:r>
              <a:rPr sz="1400" i="1" spc="-30" dirty="0">
                <a:latin typeface="Arial"/>
                <a:cs typeface="Arial"/>
              </a:rPr>
              <a:t>te </a:t>
            </a:r>
            <a:r>
              <a:rPr sz="1400" i="1" spc="-70" dirty="0">
                <a:latin typeface="Arial"/>
                <a:cs typeface="Arial"/>
              </a:rPr>
              <a:t>ayudan </a:t>
            </a:r>
            <a:r>
              <a:rPr sz="1400" i="1" spc="-60" dirty="0">
                <a:latin typeface="Arial"/>
                <a:cs typeface="Arial"/>
              </a:rPr>
              <a:t>a</a:t>
            </a:r>
            <a:r>
              <a:rPr sz="1400" i="1" spc="-85" dirty="0">
                <a:latin typeface="Arial"/>
                <a:cs typeface="Arial"/>
              </a:rPr>
              <a:t> </a:t>
            </a:r>
            <a:r>
              <a:rPr sz="1400" i="1" spc="-45" dirty="0">
                <a:latin typeface="Arial"/>
                <a:cs typeface="Arial"/>
              </a:rPr>
              <a:t>controlar,</a:t>
            </a:r>
            <a:endParaRPr sz="1400">
              <a:latin typeface="Arial"/>
              <a:cs typeface="Arial"/>
            </a:endParaRPr>
          </a:p>
          <a:p>
            <a:pPr marL="913765">
              <a:lnSpc>
                <a:spcPct val="100000"/>
              </a:lnSpc>
            </a:pPr>
            <a:r>
              <a:rPr sz="1400" i="1" spc="-45" dirty="0">
                <a:latin typeface="Arial"/>
                <a:cs typeface="Arial"/>
              </a:rPr>
              <a:t>reducir </a:t>
            </a:r>
            <a:r>
              <a:rPr sz="1400" i="1" spc="-75" dirty="0">
                <a:latin typeface="Arial"/>
                <a:cs typeface="Arial"/>
              </a:rPr>
              <a:t>y </a:t>
            </a:r>
            <a:r>
              <a:rPr sz="1400" i="1" spc="-45" dirty="0">
                <a:latin typeface="Arial"/>
                <a:cs typeface="Arial"/>
              </a:rPr>
              <a:t>dejar </a:t>
            </a:r>
            <a:r>
              <a:rPr sz="1400" i="1" spc="-90" dirty="0">
                <a:latin typeface="Arial"/>
                <a:cs typeface="Arial"/>
              </a:rPr>
              <a:t>de</a:t>
            </a:r>
            <a:r>
              <a:rPr sz="1400" i="1" spc="-190" dirty="0">
                <a:latin typeface="Arial"/>
                <a:cs typeface="Arial"/>
              </a:rPr>
              <a:t> </a:t>
            </a:r>
            <a:r>
              <a:rPr sz="1400" i="1" spc="-55" dirty="0">
                <a:latin typeface="Arial"/>
                <a:cs typeface="Arial"/>
              </a:rPr>
              <a:t>fumar.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6080" y="1628098"/>
            <a:ext cx="1762687" cy="4791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95644" y="1123188"/>
            <a:ext cx="2583942" cy="52578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543297" y="1088135"/>
            <a:ext cx="1603375" cy="215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400" i="1" spc="-35" dirty="0">
                <a:latin typeface="Arial"/>
                <a:cs typeface="Arial"/>
              </a:rPr>
              <a:t>Air </a:t>
            </a:r>
            <a:r>
              <a:rPr sz="1400" i="1" spc="-70" dirty="0">
                <a:latin typeface="Arial"/>
                <a:cs typeface="Arial"/>
              </a:rPr>
              <a:t>Silent </a:t>
            </a:r>
            <a:r>
              <a:rPr sz="1400" i="1" spc="-75" dirty="0">
                <a:latin typeface="Arial"/>
                <a:cs typeface="Arial"/>
              </a:rPr>
              <a:t>conectado </a:t>
            </a:r>
            <a:r>
              <a:rPr sz="1400" i="1" spc="-60" dirty="0">
                <a:latin typeface="Arial"/>
                <a:cs typeface="Arial"/>
              </a:rPr>
              <a:t>a  </a:t>
            </a:r>
            <a:r>
              <a:rPr sz="1400" i="1" spc="-35" dirty="0">
                <a:latin typeface="Arial"/>
                <a:cs typeface="Arial"/>
              </a:rPr>
              <a:t>Internet </a:t>
            </a:r>
            <a:r>
              <a:rPr sz="1400" i="1" spc="-45" dirty="0">
                <a:latin typeface="Arial"/>
                <a:cs typeface="Arial"/>
              </a:rPr>
              <a:t>para  </a:t>
            </a:r>
            <a:r>
              <a:rPr sz="1400" i="1" spc="-55" dirty="0">
                <a:latin typeface="Arial"/>
                <a:cs typeface="Arial"/>
              </a:rPr>
              <a:t>configuración </a:t>
            </a:r>
            <a:r>
              <a:rPr sz="1400" i="1" spc="-40" dirty="0">
                <a:latin typeface="Arial"/>
                <a:cs typeface="Arial"/>
              </a:rPr>
              <a:t>móvil  </a:t>
            </a:r>
            <a:r>
              <a:rPr sz="1400" i="1" spc="-105" dirty="0">
                <a:latin typeface="Arial"/>
                <a:cs typeface="Arial"/>
              </a:rPr>
              <a:t>desde </a:t>
            </a:r>
            <a:r>
              <a:rPr sz="1400" i="1" spc="-50" dirty="0">
                <a:latin typeface="Arial"/>
                <a:cs typeface="Arial"/>
              </a:rPr>
              <a:t>cualquier</a:t>
            </a:r>
            <a:r>
              <a:rPr sz="1400" i="1" spc="-90" dirty="0">
                <a:latin typeface="Arial"/>
                <a:cs typeface="Arial"/>
              </a:rPr>
              <a:t> </a:t>
            </a:r>
            <a:r>
              <a:rPr sz="1400" i="1" spc="-55" dirty="0">
                <a:latin typeface="Arial"/>
                <a:cs typeface="Arial"/>
              </a:rPr>
              <a:t>lugar,  </a:t>
            </a:r>
            <a:r>
              <a:rPr sz="1400" i="1" spc="-35" dirty="0">
                <a:latin typeface="Arial"/>
                <a:cs typeface="Arial"/>
              </a:rPr>
              <a:t>control </a:t>
            </a:r>
            <a:r>
              <a:rPr sz="1400" i="1" spc="-90" dirty="0">
                <a:latin typeface="Arial"/>
                <a:cs typeface="Arial"/>
              </a:rPr>
              <a:t>de </a:t>
            </a:r>
            <a:r>
              <a:rPr sz="1400" i="1" spc="-245" dirty="0">
                <a:latin typeface="Arial"/>
                <a:cs typeface="Arial"/>
              </a:rPr>
              <a:t>GPS  </a:t>
            </a:r>
            <a:r>
              <a:rPr sz="1400" i="1" spc="-40" dirty="0">
                <a:latin typeface="Arial"/>
                <a:cs typeface="Arial"/>
              </a:rPr>
              <a:t>automático </a:t>
            </a:r>
            <a:r>
              <a:rPr sz="1400" i="1" spc="-114" dirty="0">
                <a:latin typeface="Arial"/>
                <a:cs typeface="Arial"/>
              </a:rPr>
              <a:t>e  </a:t>
            </a:r>
            <a:r>
              <a:rPr sz="1400" i="1" spc="-45" dirty="0">
                <a:latin typeface="Arial"/>
                <a:cs typeface="Arial"/>
              </a:rPr>
              <a:t>inteligencia </a:t>
            </a:r>
            <a:r>
              <a:rPr sz="1400" i="1" spc="-50" dirty="0">
                <a:latin typeface="Arial"/>
                <a:cs typeface="Arial"/>
              </a:rPr>
              <a:t>para  </a:t>
            </a:r>
            <a:r>
              <a:rPr sz="1400" i="1" spc="-40" dirty="0">
                <a:latin typeface="Arial"/>
                <a:cs typeface="Arial"/>
              </a:rPr>
              <a:t>automatizar  </a:t>
            </a:r>
            <a:r>
              <a:rPr sz="1400" i="1" spc="-35" dirty="0">
                <a:latin typeface="Arial"/>
                <a:cs typeface="Arial"/>
              </a:rPr>
              <a:t>temperatura  </a:t>
            </a:r>
            <a:r>
              <a:rPr sz="1400" i="1" spc="-55" dirty="0">
                <a:latin typeface="Arial"/>
                <a:cs typeface="Arial"/>
              </a:rPr>
              <a:t>ambiente.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70832" y="3313938"/>
            <a:ext cx="1890522" cy="105841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39</a:t>
            </a:fld>
            <a:endParaRPr spc="-5" dirty="0"/>
          </a:p>
        </p:txBody>
      </p:sp>
      <p:sp>
        <p:nvSpPr>
          <p:cNvPr id="14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2658" y="1921001"/>
            <a:ext cx="1804035" cy="1565275"/>
          </a:xfrm>
          <a:custGeom>
            <a:avLst/>
            <a:gdLst/>
            <a:ahLst/>
            <a:cxnLst/>
            <a:rect l="l" t="t" r="r" b="b"/>
            <a:pathLst>
              <a:path w="1804035" h="1565275">
                <a:moveTo>
                  <a:pt x="0" y="1565148"/>
                </a:moveTo>
                <a:lnTo>
                  <a:pt x="1803654" y="1565148"/>
                </a:lnTo>
                <a:lnTo>
                  <a:pt x="1803654" y="0"/>
                </a:lnTo>
                <a:lnTo>
                  <a:pt x="0" y="0"/>
                </a:lnTo>
                <a:lnTo>
                  <a:pt x="0" y="1565148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684526" y="1921001"/>
            <a:ext cx="1792605" cy="1560830"/>
          </a:xfrm>
          <a:custGeom>
            <a:avLst/>
            <a:gdLst/>
            <a:ahLst/>
            <a:cxnLst/>
            <a:rect l="l" t="t" r="r" b="b"/>
            <a:pathLst>
              <a:path w="1792604" h="1560829">
                <a:moveTo>
                  <a:pt x="0" y="1560576"/>
                </a:moveTo>
                <a:lnTo>
                  <a:pt x="1792224" y="1560576"/>
                </a:lnTo>
                <a:lnTo>
                  <a:pt x="1792224" y="0"/>
                </a:lnTo>
                <a:lnTo>
                  <a:pt x="0" y="0"/>
                </a:lnTo>
                <a:lnTo>
                  <a:pt x="0" y="1560576"/>
                </a:lnTo>
                <a:close/>
              </a:path>
            </a:pathLst>
          </a:custGeom>
          <a:solidFill>
            <a:srgbClr val="005E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69535" y="1921001"/>
            <a:ext cx="1798320" cy="1564640"/>
          </a:xfrm>
          <a:custGeom>
            <a:avLst/>
            <a:gdLst/>
            <a:ahLst/>
            <a:cxnLst/>
            <a:rect l="l" t="t" r="r" b="b"/>
            <a:pathLst>
              <a:path w="1798320" h="1564639">
                <a:moveTo>
                  <a:pt x="0" y="1564386"/>
                </a:moveTo>
                <a:lnTo>
                  <a:pt x="1798319" y="1564386"/>
                </a:lnTo>
                <a:lnTo>
                  <a:pt x="1798319" y="0"/>
                </a:lnTo>
                <a:lnTo>
                  <a:pt x="0" y="0"/>
                </a:lnTo>
                <a:lnTo>
                  <a:pt x="0" y="1564386"/>
                </a:lnTo>
                <a:close/>
              </a:path>
            </a:pathLst>
          </a:custGeom>
          <a:solidFill>
            <a:srgbClr val="0091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53783" y="1921001"/>
            <a:ext cx="1801495" cy="1564640"/>
          </a:xfrm>
          <a:custGeom>
            <a:avLst/>
            <a:gdLst/>
            <a:ahLst/>
            <a:cxnLst/>
            <a:rect l="l" t="t" r="r" b="b"/>
            <a:pathLst>
              <a:path w="1801495" h="1564639">
                <a:moveTo>
                  <a:pt x="0" y="1564386"/>
                </a:moveTo>
                <a:lnTo>
                  <a:pt x="1801368" y="1564386"/>
                </a:lnTo>
                <a:lnTo>
                  <a:pt x="1801368" y="0"/>
                </a:lnTo>
                <a:lnTo>
                  <a:pt x="0" y="0"/>
                </a:lnTo>
                <a:lnTo>
                  <a:pt x="0" y="1564386"/>
                </a:lnTo>
                <a:close/>
              </a:path>
            </a:pathLst>
          </a:custGeom>
          <a:solidFill>
            <a:srgbClr val="4736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7955" y="3588765"/>
            <a:ext cx="1353820" cy="64516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algn="ctr">
              <a:lnSpc>
                <a:spcPct val="95200"/>
              </a:lnSpc>
              <a:spcBef>
                <a:spcPts val="175"/>
              </a:spcBef>
            </a:pPr>
            <a:r>
              <a:rPr sz="1400" b="1" spc="-5" dirty="0">
                <a:solidFill>
                  <a:srgbClr val="00338D"/>
                </a:solidFill>
                <a:latin typeface="Arial"/>
                <a:cs typeface="Arial"/>
              </a:rPr>
              <a:t>Introducción</a:t>
            </a:r>
            <a:r>
              <a:rPr sz="1400" b="1" spc="-7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00338D"/>
                </a:solidFill>
                <a:latin typeface="Arial"/>
                <a:cs typeface="Arial"/>
              </a:rPr>
              <a:t>de  Producción  Mecánica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8374" y="4816602"/>
            <a:ext cx="303530" cy="200660"/>
          </a:xfrm>
          <a:custGeom>
            <a:avLst/>
            <a:gdLst/>
            <a:ahLst/>
            <a:cxnLst/>
            <a:rect l="l" t="t" r="r" b="b"/>
            <a:pathLst>
              <a:path w="303530" h="200660">
                <a:moveTo>
                  <a:pt x="303275" y="0"/>
                </a:moveTo>
                <a:lnTo>
                  <a:pt x="0" y="0"/>
                </a:lnTo>
                <a:lnTo>
                  <a:pt x="151637" y="200406"/>
                </a:lnTo>
                <a:lnTo>
                  <a:pt x="303275" y="0"/>
                </a:lnTo>
                <a:close/>
              </a:path>
            </a:pathLst>
          </a:custGeom>
          <a:solidFill>
            <a:srgbClr val="002F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7225" y="4347590"/>
            <a:ext cx="1860550" cy="283845"/>
          </a:xfrm>
          <a:prstGeom prst="rect">
            <a:avLst/>
          </a:prstGeom>
          <a:ln w="9905">
            <a:solidFill>
              <a:srgbClr val="00308D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235585">
              <a:lnSpc>
                <a:spcPct val="100000"/>
              </a:lnSpc>
              <a:spcBef>
                <a:spcPts val="390"/>
              </a:spcBef>
            </a:pPr>
            <a:r>
              <a:rPr sz="1100" spc="-20" dirty="0">
                <a:latin typeface="Arial"/>
                <a:cs typeface="Arial"/>
              </a:rPr>
              <a:t>Agua </a:t>
            </a:r>
            <a:r>
              <a:rPr sz="1100" spc="-5" dirty="0">
                <a:latin typeface="Arial"/>
                <a:cs typeface="Arial"/>
              </a:rPr>
              <a:t>y </a:t>
            </a:r>
            <a:r>
              <a:rPr sz="1100" spc="-20" dirty="0">
                <a:latin typeface="Arial"/>
                <a:cs typeface="Arial"/>
              </a:rPr>
              <a:t>energía </a:t>
            </a:r>
            <a:r>
              <a:rPr sz="1100" spc="-65" dirty="0">
                <a:latin typeface="Arial"/>
                <a:cs typeface="Arial"/>
              </a:rPr>
              <a:t>a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vapor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0795" y="5085588"/>
            <a:ext cx="1633855" cy="4273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638175" marR="5080" indent="-626110">
              <a:lnSpc>
                <a:spcPct val="102699"/>
              </a:lnSpc>
              <a:spcBef>
                <a:spcPts val="60"/>
              </a:spcBef>
            </a:pPr>
            <a:r>
              <a:rPr sz="1300" spc="-5" dirty="0">
                <a:solidFill>
                  <a:srgbClr val="96979A"/>
                </a:solidFill>
                <a:latin typeface="Arial"/>
                <a:cs typeface="Arial"/>
              </a:rPr>
              <a:t>Primer </a:t>
            </a:r>
            <a:r>
              <a:rPr sz="1300" dirty="0">
                <a:solidFill>
                  <a:srgbClr val="96979A"/>
                </a:solidFill>
                <a:latin typeface="Arial"/>
                <a:cs typeface="Arial"/>
              </a:rPr>
              <a:t>telar</a:t>
            </a:r>
            <a:r>
              <a:rPr sz="1300" spc="-70" dirty="0">
                <a:solidFill>
                  <a:srgbClr val="96979A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96979A"/>
                </a:solidFill>
                <a:latin typeface="Arial"/>
                <a:cs typeface="Arial"/>
              </a:rPr>
              <a:t>mecánico  </a:t>
            </a:r>
            <a:r>
              <a:rPr sz="1300" spc="-20" dirty="0">
                <a:solidFill>
                  <a:srgbClr val="96979A"/>
                </a:solidFill>
                <a:latin typeface="Arial"/>
                <a:cs typeface="Arial"/>
              </a:rPr>
              <a:t>1784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77414" y="3588765"/>
            <a:ext cx="1806575" cy="44132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5560" marR="5080" indent="-22860">
              <a:lnSpc>
                <a:spcPts val="1600"/>
              </a:lnSpc>
              <a:spcBef>
                <a:spcPts val="215"/>
              </a:spcBef>
            </a:pPr>
            <a:r>
              <a:rPr sz="1400" b="1" spc="-5" dirty="0">
                <a:solidFill>
                  <a:srgbClr val="006AB4"/>
                </a:solidFill>
                <a:latin typeface="Arial"/>
                <a:cs typeface="Arial"/>
              </a:rPr>
              <a:t>División del trabajo</a:t>
            </a:r>
            <a:r>
              <a:rPr sz="1400" b="1" spc="-70" dirty="0">
                <a:solidFill>
                  <a:srgbClr val="006AB4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006AB4"/>
                </a:solidFill>
                <a:latin typeface="Arial"/>
                <a:cs typeface="Arial"/>
              </a:rPr>
              <a:t>y  Producción en</a:t>
            </a:r>
            <a:r>
              <a:rPr sz="1400" b="1" spc="-65" dirty="0">
                <a:solidFill>
                  <a:srgbClr val="006AB4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006AB4"/>
                </a:solidFill>
                <a:latin typeface="Arial"/>
                <a:cs typeface="Arial"/>
              </a:rPr>
              <a:t>masa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453384" y="4816602"/>
            <a:ext cx="304165" cy="200660"/>
          </a:xfrm>
          <a:custGeom>
            <a:avLst/>
            <a:gdLst/>
            <a:ahLst/>
            <a:cxnLst/>
            <a:rect l="l" t="t" r="r" b="b"/>
            <a:pathLst>
              <a:path w="304164" h="200660">
                <a:moveTo>
                  <a:pt x="304038" y="0"/>
                </a:moveTo>
                <a:lnTo>
                  <a:pt x="0" y="0"/>
                </a:lnTo>
                <a:lnTo>
                  <a:pt x="152018" y="200406"/>
                </a:lnTo>
                <a:lnTo>
                  <a:pt x="304038" y="0"/>
                </a:lnTo>
                <a:close/>
              </a:path>
            </a:pathLst>
          </a:custGeom>
          <a:solidFill>
            <a:srgbClr val="006A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49854" y="4347590"/>
            <a:ext cx="1861185" cy="283845"/>
          </a:xfrm>
          <a:prstGeom prst="rect">
            <a:avLst/>
          </a:prstGeom>
          <a:ln w="9905">
            <a:solidFill>
              <a:srgbClr val="00308D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414020">
              <a:lnSpc>
                <a:spcPct val="100000"/>
              </a:lnSpc>
              <a:spcBef>
                <a:spcPts val="480"/>
              </a:spcBef>
            </a:pPr>
            <a:r>
              <a:rPr sz="1100" spc="-30" dirty="0">
                <a:latin typeface="Arial"/>
                <a:cs typeface="Arial"/>
              </a:rPr>
              <a:t>Energía</a:t>
            </a:r>
            <a:r>
              <a:rPr sz="1100" spc="-10" dirty="0">
                <a:latin typeface="Arial"/>
                <a:cs typeface="Arial"/>
              </a:rPr>
              <a:t> Eléctrica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74594" y="5079746"/>
            <a:ext cx="1209040" cy="630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065" marR="5080" algn="ctr">
              <a:lnSpc>
                <a:spcPct val="102699"/>
              </a:lnSpc>
              <a:spcBef>
                <a:spcPts val="60"/>
              </a:spcBef>
            </a:pPr>
            <a:r>
              <a:rPr sz="1300" spc="-15" dirty="0">
                <a:solidFill>
                  <a:srgbClr val="96979A"/>
                </a:solidFill>
                <a:latin typeface="Arial"/>
                <a:cs typeface="Arial"/>
              </a:rPr>
              <a:t>Primera </a:t>
            </a:r>
            <a:r>
              <a:rPr sz="1300" spc="-30" dirty="0">
                <a:solidFill>
                  <a:srgbClr val="96979A"/>
                </a:solidFill>
                <a:latin typeface="Arial"/>
                <a:cs typeface="Arial"/>
              </a:rPr>
              <a:t>línea</a:t>
            </a:r>
            <a:r>
              <a:rPr sz="1300" spc="-80" dirty="0">
                <a:solidFill>
                  <a:srgbClr val="96979A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96979A"/>
                </a:solidFill>
                <a:latin typeface="Arial"/>
                <a:cs typeface="Arial"/>
              </a:rPr>
              <a:t>de  </a:t>
            </a:r>
            <a:r>
              <a:rPr sz="1300" spc="10" dirty="0">
                <a:solidFill>
                  <a:srgbClr val="96979A"/>
                </a:solidFill>
                <a:latin typeface="Arial"/>
                <a:cs typeface="Arial"/>
              </a:rPr>
              <a:t>montaje</a:t>
            </a:r>
            <a:endParaRPr sz="1300">
              <a:latin typeface="Arial"/>
              <a:cs typeface="Arial"/>
            </a:endParaRPr>
          </a:p>
          <a:p>
            <a:pPr marL="1905" algn="ctr">
              <a:lnSpc>
                <a:spcPct val="100000"/>
              </a:lnSpc>
              <a:spcBef>
                <a:spcPts val="35"/>
              </a:spcBef>
            </a:pPr>
            <a:r>
              <a:rPr sz="1300" spc="-10" dirty="0">
                <a:solidFill>
                  <a:srgbClr val="96979A"/>
                </a:solidFill>
                <a:latin typeface="Arial"/>
                <a:cs typeface="Arial"/>
              </a:rPr>
              <a:t>1870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93665" y="3588765"/>
            <a:ext cx="1750060" cy="64516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indent="-635" algn="ctr">
              <a:lnSpc>
                <a:spcPct val="95200"/>
              </a:lnSpc>
              <a:spcBef>
                <a:spcPts val="175"/>
              </a:spcBef>
            </a:pPr>
            <a:r>
              <a:rPr sz="1400" b="1" spc="-5" dirty="0">
                <a:solidFill>
                  <a:srgbClr val="0095D7"/>
                </a:solidFill>
                <a:latin typeface="Arial"/>
                <a:cs typeface="Arial"/>
              </a:rPr>
              <a:t>Sistemas  implementados</a:t>
            </a:r>
            <a:r>
              <a:rPr sz="1400" b="1" spc="-60" dirty="0">
                <a:solidFill>
                  <a:srgbClr val="0095D7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0095D7"/>
                </a:solidFill>
                <a:latin typeface="Arial"/>
                <a:cs typeface="Arial"/>
              </a:rPr>
              <a:t>para  automatizar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439155" y="4816602"/>
            <a:ext cx="303530" cy="200660"/>
          </a:xfrm>
          <a:custGeom>
            <a:avLst/>
            <a:gdLst/>
            <a:ahLst/>
            <a:cxnLst/>
            <a:rect l="l" t="t" r="r" b="b"/>
            <a:pathLst>
              <a:path w="303529" h="200660">
                <a:moveTo>
                  <a:pt x="303276" y="0"/>
                </a:moveTo>
                <a:lnTo>
                  <a:pt x="0" y="0"/>
                </a:lnTo>
                <a:lnTo>
                  <a:pt x="151638" y="200406"/>
                </a:lnTo>
                <a:lnTo>
                  <a:pt x="303276" y="0"/>
                </a:lnTo>
                <a:close/>
              </a:path>
            </a:pathLst>
          </a:custGeom>
          <a:solidFill>
            <a:srgbClr val="0095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643246" y="4341495"/>
            <a:ext cx="1861185" cy="284480"/>
          </a:xfrm>
          <a:prstGeom prst="rect">
            <a:avLst/>
          </a:prstGeom>
          <a:ln w="9905">
            <a:solidFill>
              <a:srgbClr val="00308D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65"/>
              </a:spcBef>
            </a:pPr>
            <a:r>
              <a:rPr sz="1100" spc="-5" dirty="0">
                <a:latin typeface="Arial"/>
                <a:cs typeface="Arial"/>
              </a:rPr>
              <a:t>Sistemas de </a:t>
            </a:r>
            <a:r>
              <a:rPr sz="1100" spc="-35" dirty="0">
                <a:latin typeface="Arial"/>
                <a:cs typeface="Arial"/>
              </a:rPr>
              <a:t>IT </a:t>
            </a:r>
            <a:r>
              <a:rPr sz="1100" spc="-5" dirty="0">
                <a:latin typeface="Arial"/>
                <a:cs typeface="Arial"/>
              </a:rPr>
              <a:t>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eléctricos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56226" y="5049266"/>
            <a:ext cx="1425575" cy="630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-1270" algn="ctr">
              <a:lnSpc>
                <a:spcPct val="102499"/>
              </a:lnSpc>
              <a:spcBef>
                <a:spcPts val="60"/>
              </a:spcBef>
            </a:pPr>
            <a:r>
              <a:rPr sz="1300" spc="-5" dirty="0">
                <a:solidFill>
                  <a:srgbClr val="96979A"/>
                </a:solidFill>
                <a:latin typeface="Arial"/>
                <a:cs typeface="Arial"/>
              </a:rPr>
              <a:t>Primer </a:t>
            </a:r>
            <a:r>
              <a:rPr sz="1300" dirty="0">
                <a:solidFill>
                  <a:srgbClr val="96979A"/>
                </a:solidFill>
                <a:latin typeface="Arial"/>
                <a:cs typeface="Arial"/>
              </a:rPr>
              <a:t>controlador  lógico</a:t>
            </a:r>
            <a:r>
              <a:rPr sz="1300" spc="-100" dirty="0">
                <a:solidFill>
                  <a:srgbClr val="96979A"/>
                </a:solidFill>
                <a:latin typeface="Arial"/>
                <a:cs typeface="Arial"/>
              </a:rPr>
              <a:t> </a:t>
            </a:r>
            <a:r>
              <a:rPr sz="1300" spc="-5" dirty="0">
                <a:solidFill>
                  <a:srgbClr val="96979A"/>
                </a:solidFill>
                <a:latin typeface="Arial"/>
                <a:cs typeface="Arial"/>
              </a:rPr>
              <a:t>programable  </a:t>
            </a:r>
            <a:r>
              <a:rPr sz="1300" spc="-15" dirty="0">
                <a:solidFill>
                  <a:srgbClr val="96979A"/>
                </a:solidFill>
                <a:latin typeface="Arial"/>
                <a:cs typeface="Arial"/>
              </a:rPr>
              <a:t>1969</a:t>
            </a:r>
            <a:endParaRPr sz="1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37857" y="3588765"/>
            <a:ext cx="1630680" cy="64516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algn="ctr">
              <a:lnSpc>
                <a:spcPct val="95200"/>
              </a:lnSpc>
              <a:spcBef>
                <a:spcPts val="175"/>
              </a:spcBef>
            </a:pPr>
            <a:r>
              <a:rPr sz="1400" b="1" spc="-5" dirty="0">
                <a:solidFill>
                  <a:srgbClr val="3B388D"/>
                </a:solidFill>
                <a:latin typeface="Arial"/>
                <a:cs typeface="Arial"/>
              </a:rPr>
              <a:t>Desplazamiento</a:t>
            </a:r>
            <a:r>
              <a:rPr sz="1400" b="1" spc="-70" dirty="0">
                <a:solidFill>
                  <a:srgbClr val="3B388D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3B388D"/>
                </a:solidFill>
                <a:latin typeface="Arial"/>
                <a:cs typeface="Arial"/>
              </a:rPr>
              <a:t>de  limites del mundo  </a:t>
            </a:r>
            <a:r>
              <a:rPr sz="1400" b="1" dirty="0">
                <a:solidFill>
                  <a:srgbClr val="3B388D"/>
                </a:solidFill>
                <a:latin typeface="Arial"/>
                <a:cs typeface="Arial"/>
              </a:rPr>
              <a:t>físico </a:t>
            </a:r>
            <a:r>
              <a:rPr sz="1400" b="1" spc="-5" dirty="0">
                <a:solidFill>
                  <a:srgbClr val="3B388D"/>
                </a:solidFill>
                <a:latin typeface="Arial"/>
                <a:cs typeface="Arial"/>
              </a:rPr>
              <a:t>y</a:t>
            </a:r>
            <a:r>
              <a:rPr sz="1400" b="1" spc="-55" dirty="0">
                <a:solidFill>
                  <a:srgbClr val="3B388D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3B388D"/>
                </a:solidFill>
                <a:latin typeface="Arial"/>
                <a:cs typeface="Arial"/>
              </a:rPr>
              <a:t>virtual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424166" y="4816602"/>
            <a:ext cx="304165" cy="200660"/>
          </a:xfrm>
          <a:custGeom>
            <a:avLst/>
            <a:gdLst/>
            <a:ahLst/>
            <a:cxnLst/>
            <a:rect l="l" t="t" r="r" b="b"/>
            <a:pathLst>
              <a:path w="304165" h="200660">
                <a:moveTo>
                  <a:pt x="304037" y="0"/>
                </a:moveTo>
                <a:lnTo>
                  <a:pt x="0" y="0"/>
                </a:lnTo>
                <a:lnTo>
                  <a:pt x="152018" y="200406"/>
                </a:lnTo>
                <a:lnTo>
                  <a:pt x="304037" y="0"/>
                </a:lnTo>
                <a:close/>
              </a:path>
            </a:pathLst>
          </a:custGeom>
          <a:solidFill>
            <a:srgbClr val="3B38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636639" y="4341495"/>
            <a:ext cx="1860550" cy="284480"/>
          </a:xfrm>
          <a:prstGeom prst="rect">
            <a:avLst/>
          </a:prstGeom>
          <a:ln w="9905">
            <a:solidFill>
              <a:srgbClr val="00308D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254000">
              <a:lnSpc>
                <a:spcPct val="100000"/>
              </a:lnSpc>
              <a:spcBef>
                <a:spcPts val="355"/>
              </a:spcBef>
            </a:pPr>
            <a:r>
              <a:rPr sz="1100" spc="-5" dirty="0">
                <a:latin typeface="Arial"/>
                <a:cs typeface="Arial"/>
              </a:rPr>
              <a:t>Sistemas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conectados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56043" y="5162296"/>
            <a:ext cx="120205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96979A"/>
                </a:solidFill>
                <a:latin typeface="Arial"/>
                <a:cs typeface="Arial"/>
              </a:rPr>
              <a:t>Sucediendo</a:t>
            </a:r>
            <a:r>
              <a:rPr sz="1300" spc="-55" dirty="0">
                <a:solidFill>
                  <a:srgbClr val="96979A"/>
                </a:solidFill>
                <a:latin typeface="Arial"/>
                <a:cs typeface="Arial"/>
              </a:rPr>
              <a:t> </a:t>
            </a:r>
            <a:r>
              <a:rPr sz="1300" spc="-5" dirty="0">
                <a:solidFill>
                  <a:srgbClr val="96979A"/>
                </a:solidFill>
                <a:latin typeface="Arial"/>
                <a:cs typeface="Arial"/>
              </a:rPr>
              <a:t>hoy</a:t>
            </a:r>
            <a:endParaRPr sz="13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92658" y="1857375"/>
            <a:ext cx="7762875" cy="0"/>
          </a:xfrm>
          <a:custGeom>
            <a:avLst/>
            <a:gdLst/>
            <a:ahLst/>
            <a:cxnLst/>
            <a:rect l="l" t="t" r="r" b="b"/>
            <a:pathLst>
              <a:path w="7762875">
                <a:moveTo>
                  <a:pt x="0" y="0"/>
                </a:moveTo>
                <a:lnTo>
                  <a:pt x="7762494" y="0"/>
                </a:lnTo>
              </a:path>
            </a:pathLst>
          </a:custGeom>
          <a:ln w="31241">
            <a:solidFill>
              <a:srgbClr val="C500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428481" y="3454146"/>
            <a:ext cx="125730" cy="133350"/>
          </a:xfrm>
          <a:custGeom>
            <a:avLst/>
            <a:gdLst/>
            <a:ahLst/>
            <a:cxnLst/>
            <a:rect l="l" t="t" r="r" b="b"/>
            <a:pathLst>
              <a:path w="125729" h="133350">
                <a:moveTo>
                  <a:pt x="0" y="0"/>
                </a:moveTo>
                <a:lnTo>
                  <a:pt x="0" y="133350"/>
                </a:lnTo>
                <a:lnTo>
                  <a:pt x="125729" y="66675"/>
                </a:lnTo>
                <a:lnTo>
                  <a:pt x="0" y="0"/>
                </a:lnTo>
                <a:close/>
              </a:path>
            </a:pathLst>
          </a:custGeom>
          <a:solidFill>
            <a:srgbClr val="C500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92658" y="3521583"/>
            <a:ext cx="7762875" cy="0"/>
          </a:xfrm>
          <a:custGeom>
            <a:avLst/>
            <a:gdLst/>
            <a:ahLst/>
            <a:cxnLst/>
            <a:rect l="l" t="t" r="r" b="b"/>
            <a:pathLst>
              <a:path w="7762875">
                <a:moveTo>
                  <a:pt x="0" y="0"/>
                </a:moveTo>
                <a:lnTo>
                  <a:pt x="7762494" y="0"/>
                </a:lnTo>
              </a:path>
            </a:pathLst>
          </a:custGeom>
          <a:ln w="31241">
            <a:solidFill>
              <a:srgbClr val="C500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410956" y="1752600"/>
            <a:ext cx="127000" cy="132715"/>
          </a:xfrm>
          <a:custGeom>
            <a:avLst/>
            <a:gdLst/>
            <a:ahLst/>
            <a:cxnLst/>
            <a:rect l="l" t="t" r="r" b="b"/>
            <a:pathLst>
              <a:path w="127000" h="132714">
                <a:moveTo>
                  <a:pt x="0" y="0"/>
                </a:moveTo>
                <a:lnTo>
                  <a:pt x="0" y="132587"/>
                </a:lnTo>
                <a:lnTo>
                  <a:pt x="126492" y="66294"/>
                </a:lnTo>
                <a:lnTo>
                  <a:pt x="0" y="0"/>
                </a:lnTo>
                <a:close/>
              </a:path>
            </a:pathLst>
          </a:custGeom>
          <a:solidFill>
            <a:srgbClr val="C500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610350" y="2964942"/>
            <a:ext cx="520446" cy="4945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46760" y="3047336"/>
            <a:ext cx="637540" cy="434340"/>
          </a:xfrm>
          <a:custGeom>
            <a:avLst/>
            <a:gdLst/>
            <a:ahLst/>
            <a:cxnLst/>
            <a:rect l="l" t="t" r="r" b="b"/>
            <a:pathLst>
              <a:path w="637540" h="434339">
                <a:moveTo>
                  <a:pt x="8733" y="254678"/>
                </a:moveTo>
                <a:lnTo>
                  <a:pt x="0" y="254678"/>
                </a:lnTo>
                <a:lnTo>
                  <a:pt x="0" y="271350"/>
                </a:lnTo>
                <a:lnTo>
                  <a:pt x="8733" y="273400"/>
                </a:lnTo>
                <a:lnTo>
                  <a:pt x="20684" y="277142"/>
                </a:lnTo>
                <a:lnTo>
                  <a:pt x="56540" y="303361"/>
                </a:lnTo>
                <a:lnTo>
                  <a:pt x="72474" y="348304"/>
                </a:lnTo>
                <a:lnTo>
                  <a:pt x="68492" y="363285"/>
                </a:lnTo>
                <a:lnTo>
                  <a:pt x="48571" y="400738"/>
                </a:lnTo>
                <a:lnTo>
                  <a:pt x="8733" y="419464"/>
                </a:lnTo>
                <a:lnTo>
                  <a:pt x="0" y="421516"/>
                </a:lnTo>
                <a:lnTo>
                  <a:pt x="0" y="434241"/>
                </a:lnTo>
                <a:lnTo>
                  <a:pt x="19234" y="434241"/>
                </a:lnTo>
                <a:lnTo>
                  <a:pt x="28652" y="430700"/>
                </a:lnTo>
                <a:lnTo>
                  <a:pt x="72474" y="400738"/>
                </a:lnTo>
                <a:lnTo>
                  <a:pt x="88411" y="355795"/>
                </a:lnTo>
                <a:lnTo>
                  <a:pt x="325452" y="355795"/>
                </a:lnTo>
                <a:lnTo>
                  <a:pt x="323459" y="348304"/>
                </a:lnTo>
                <a:lnTo>
                  <a:pt x="326448" y="337068"/>
                </a:lnTo>
                <a:lnTo>
                  <a:pt x="88411" y="337068"/>
                </a:lnTo>
                <a:lnTo>
                  <a:pt x="72474" y="292126"/>
                </a:lnTo>
                <a:lnTo>
                  <a:pt x="28652" y="262161"/>
                </a:lnTo>
                <a:lnTo>
                  <a:pt x="8733" y="254678"/>
                </a:lnTo>
                <a:close/>
              </a:path>
              <a:path w="637540" h="434339">
                <a:moveTo>
                  <a:pt x="325452" y="355795"/>
                </a:moveTo>
                <a:lnTo>
                  <a:pt x="307530" y="355795"/>
                </a:lnTo>
                <a:lnTo>
                  <a:pt x="315486" y="385757"/>
                </a:lnTo>
                <a:lnTo>
                  <a:pt x="327445" y="400738"/>
                </a:lnTo>
                <a:lnTo>
                  <a:pt x="335417" y="411973"/>
                </a:lnTo>
                <a:lnTo>
                  <a:pt x="351345" y="423209"/>
                </a:lnTo>
                <a:lnTo>
                  <a:pt x="367290" y="430700"/>
                </a:lnTo>
                <a:lnTo>
                  <a:pt x="376705" y="434241"/>
                </a:lnTo>
                <a:lnTo>
                  <a:pt x="433562" y="434241"/>
                </a:lnTo>
                <a:lnTo>
                  <a:pt x="442977" y="430700"/>
                </a:lnTo>
                <a:lnTo>
                  <a:pt x="458906" y="423209"/>
                </a:lnTo>
                <a:lnTo>
                  <a:pt x="407118" y="423209"/>
                </a:lnTo>
                <a:lnTo>
                  <a:pt x="375246" y="415719"/>
                </a:lnTo>
                <a:lnTo>
                  <a:pt x="339403" y="389502"/>
                </a:lnTo>
                <a:lnTo>
                  <a:pt x="327445" y="363285"/>
                </a:lnTo>
                <a:lnTo>
                  <a:pt x="325452" y="355795"/>
                </a:lnTo>
                <a:close/>
              </a:path>
              <a:path w="637540" h="434339">
                <a:moveTo>
                  <a:pt x="458906" y="269659"/>
                </a:moveTo>
                <a:lnTo>
                  <a:pt x="407118" y="269659"/>
                </a:lnTo>
                <a:lnTo>
                  <a:pt x="423063" y="273400"/>
                </a:lnTo>
                <a:lnTo>
                  <a:pt x="435005" y="277142"/>
                </a:lnTo>
                <a:lnTo>
                  <a:pt x="450949" y="284636"/>
                </a:lnTo>
                <a:lnTo>
                  <a:pt x="462892" y="292126"/>
                </a:lnTo>
                <a:lnTo>
                  <a:pt x="474850" y="303361"/>
                </a:lnTo>
                <a:lnTo>
                  <a:pt x="478836" y="318342"/>
                </a:lnTo>
                <a:lnTo>
                  <a:pt x="486792" y="333323"/>
                </a:lnTo>
                <a:lnTo>
                  <a:pt x="486792" y="363285"/>
                </a:lnTo>
                <a:lnTo>
                  <a:pt x="478836" y="374520"/>
                </a:lnTo>
                <a:lnTo>
                  <a:pt x="474850" y="389502"/>
                </a:lnTo>
                <a:lnTo>
                  <a:pt x="435005" y="415719"/>
                </a:lnTo>
                <a:lnTo>
                  <a:pt x="407118" y="423209"/>
                </a:lnTo>
                <a:lnTo>
                  <a:pt x="458906" y="423209"/>
                </a:lnTo>
                <a:lnTo>
                  <a:pt x="474850" y="411973"/>
                </a:lnTo>
                <a:lnTo>
                  <a:pt x="486792" y="400738"/>
                </a:lnTo>
                <a:lnTo>
                  <a:pt x="494764" y="385757"/>
                </a:lnTo>
                <a:lnTo>
                  <a:pt x="502736" y="355795"/>
                </a:lnTo>
                <a:lnTo>
                  <a:pt x="637024" y="355795"/>
                </a:lnTo>
                <a:lnTo>
                  <a:pt x="637024" y="284636"/>
                </a:lnTo>
                <a:lnTo>
                  <a:pt x="474850" y="284636"/>
                </a:lnTo>
                <a:lnTo>
                  <a:pt x="474850" y="280883"/>
                </a:lnTo>
                <a:lnTo>
                  <a:pt x="458906" y="269659"/>
                </a:lnTo>
                <a:close/>
              </a:path>
              <a:path w="637540" h="434339">
                <a:moveTo>
                  <a:pt x="152153" y="0"/>
                </a:moveTo>
                <a:lnTo>
                  <a:pt x="0" y="0"/>
                </a:lnTo>
                <a:lnTo>
                  <a:pt x="0" y="14981"/>
                </a:lnTo>
                <a:lnTo>
                  <a:pt x="136217" y="14981"/>
                </a:lnTo>
                <a:lnTo>
                  <a:pt x="136217" y="337068"/>
                </a:lnTo>
                <a:lnTo>
                  <a:pt x="326448" y="337068"/>
                </a:lnTo>
                <a:lnTo>
                  <a:pt x="331431" y="318342"/>
                </a:lnTo>
                <a:lnTo>
                  <a:pt x="339403" y="303361"/>
                </a:lnTo>
                <a:lnTo>
                  <a:pt x="347359" y="292126"/>
                </a:lnTo>
                <a:lnTo>
                  <a:pt x="359317" y="284636"/>
                </a:lnTo>
                <a:lnTo>
                  <a:pt x="152153" y="284636"/>
                </a:lnTo>
                <a:lnTo>
                  <a:pt x="152153" y="0"/>
                </a:lnTo>
                <a:close/>
              </a:path>
              <a:path w="637540" h="434339">
                <a:moveTo>
                  <a:pt x="423063" y="254678"/>
                </a:moveTo>
                <a:lnTo>
                  <a:pt x="387204" y="254678"/>
                </a:lnTo>
                <a:lnTo>
                  <a:pt x="367290" y="262161"/>
                </a:lnTo>
                <a:lnTo>
                  <a:pt x="351345" y="269659"/>
                </a:lnTo>
                <a:lnTo>
                  <a:pt x="335417" y="280883"/>
                </a:lnTo>
                <a:lnTo>
                  <a:pt x="335417" y="284636"/>
                </a:lnTo>
                <a:lnTo>
                  <a:pt x="359317" y="284636"/>
                </a:lnTo>
                <a:lnTo>
                  <a:pt x="375246" y="277142"/>
                </a:lnTo>
                <a:lnTo>
                  <a:pt x="407118" y="269659"/>
                </a:lnTo>
                <a:lnTo>
                  <a:pt x="458906" y="269659"/>
                </a:lnTo>
                <a:lnTo>
                  <a:pt x="442977" y="262161"/>
                </a:lnTo>
                <a:lnTo>
                  <a:pt x="423063" y="254678"/>
                </a:lnTo>
                <a:close/>
              </a:path>
              <a:path w="637540" h="434339">
                <a:moveTo>
                  <a:pt x="637024" y="228457"/>
                </a:moveTo>
                <a:lnTo>
                  <a:pt x="558510" y="228457"/>
                </a:lnTo>
                <a:lnTo>
                  <a:pt x="518665" y="284636"/>
                </a:lnTo>
                <a:lnTo>
                  <a:pt x="637024" y="284636"/>
                </a:lnTo>
                <a:lnTo>
                  <a:pt x="637024" y="228457"/>
                </a:lnTo>
                <a:close/>
              </a:path>
              <a:path w="637540" h="434339">
                <a:moveTo>
                  <a:pt x="626241" y="183514"/>
                </a:moveTo>
                <a:lnTo>
                  <a:pt x="582410" y="205978"/>
                </a:lnTo>
                <a:lnTo>
                  <a:pt x="582410" y="228457"/>
                </a:lnTo>
                <a:lnTo>
                  <a:pt x="602341" y="228457"/>
                </a:lnTo>
                <a:lnTo>
                  <a:pt x="602341" y="217218"/>
                </a:lnTo>
                <a:lnTo>
                  <a:pt x="610297" y="209735"/>
                </a:lnTo>
                <a:lnTo>
                  <a:pt x="626241" y="209735"/>
                </a:lnTo>
                <a:lnTo>
                  <a:pt x="626241" y="183514"/>
                </a:lnTo>
                <a:close/>
              </a:path>
              <a:path w="637540" h="434339">
                <a:moveTo>
                  <a:pt x="626241" y="209735"/>
                </a:moveTo>
                <a:lnTo>
                  <a:pt x="610297" y="209735"/>
                </a:lnTo>
                <a:lnTo>
                  <a:pt x="610297" y="228457"/>
                </a:lnTo>
                <a:lnTo>
                  <a:pt x="626241" y="228457"/>
                </a:lnTo>
                <a:lnTo>
                  <a:pt x="626241" y="209735"/>
                </a:lnTo>
                <a:close/>
              </a:path>
              <a:path w="637540" h="434339">
                <a:moveTo>
                  <a:pt x="64507" y="33703"/>
                </a:moveTo>
                <a:lnTo>
                  <a:pt x="0" y="33703"/>
                </a:lnTo>
                <a:lnTo>
                  <a:pt x="0" y="183514"/>
                </a:lnTo>
                <a:lnTo>
                  <a:pt x="64507" y="183514"/>
                </a:lnTo>
                <a:lnTo>
                  <a:pt x="64507" y="337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46760" y="3344561"/>
            <a:ext cx="45085" cy="98425"/>
          </a:xfrm>
          <a:custGeom>
            <a:avLst/>
            <a:gdLst/>
            <a:ahLst/>
            <a:cxnLst/>
            <a:rect l="l" t="t" r="r" b="b"/>
            <a:pathLst>
              <a:path w="45084" h="98425">
                <a:moveTo>
                  <a:pt x="0" y="0"/>
                </a:moveTo>
                <a:lnTo>
                  <a:pt x="0" y="17372"/>
                </a:lnTo>
                <a:lnTo>
                  <a:pt x="4749" y="17372"/>
                </a:lnTo>
                <a:lnTo>
                  <a:pt x="16700" y="24863"/>
                </a:lnTo>
                <a:lnTo>
                  <a:pt x="24669" y="36098"/>
                </a:lnTo>
                <a:lnTo>
                  <a:pt x="28652" y="51079"/>
                </a:lnTo>
                <a:lnTo>
                  <a:pt x="24669" y="62314"/>
                </a:lnTo>
                <a:lnTo>
                  <a:pt x="16700" y="73550"/>
                </a:lnTo>
                <a:lnTo>
                  <a:pt x="4749" y="81041"/>
                </a:lnTo>
                <a:lnTo>
                  <a:pt x="0" y="82529"/>
                </a:lnTo>
                <a:lnTo>
                  <a:pt x="0" y="98413"/>
                </a:lnTo>
                <a:lnTo>
                  <a:pt x="12716" y="96022"/>
                </a:lnTo>
                <a:lnTo>
                  <a:pt x="28652" y="84785"/>
                </a:lnTo>
                <a:lnTo>
                  <a:pt x="40603" y="69804"/>
                </a:lnTo>
                <a:lnTo>
                  <a:pt x="44588" y="51079"/>
                </a:lnTo>
                <a:lnTo>
                  <a:pt x="40603" y="28607"/>
                </a:lnTo>
                <a:lnTo>
                  <a:pt x="28652" y="13626"/>
                </a:lnTo>
                <a:lnTo>
                  <a:pt x="12716" y="23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46760" y="3382172"/>
            <a:ext cx="8890" cy="23495"/>
          </a:xfrm>
          <a:custGeom>
            <a:avLst/>
            <a:gdLst/>
            <a:ahLst/>
            <a:cxnLst/>
            <a:rect l="l" t="t" r="r" b="b"/>
            <a:pathLst>
              <a:path w="8890" h="23495">
                <a:moveTo>
                  <a:pt x="0" y="0"/>
                </a:moveTo>
                <a:lnTo>
                  <a:pt x="0" y="23190"/>
                </a:lnTo>
                <a:lnTo>
                  <a:pt x="4749" y="20958"/>
                </a:lnTo>
                <a:lnTo>
                  <a:pt x="4749" y="17212"/>
                </a:lnTo>
                <a:lnTo>
                  <a:pt x="8733" y="13468"/>
                </a:lnTo>
                <a:lnTo>
                  <a:pt x="4749" y="5977"/>
                </a:lnTo>
                <a:lnTo>
                  <a:pt x="4749" y="22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098105" y="3343207"/>
            <a:ext cx="107560" cy="1011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10871" y="2916248"/>
            <a:ext cx="422909" cy="404495"/>
          </a:xfrm>
          <a:custGeom>
            <a:avLst/>
            <a:gdLst/>
            <a:ahLst/>
            <a:cxnLst/>
            <a:rect l="l" t="t" r="r" b="b"/>
            <a:pathLst>
              <a:path w="422909" h="404495">
                <a:moveTo>
                  <a:pt x="394398" y="0"/>
                </a:moveTo>
                <a:lnTo>
                  <a:pt x="342611" y="0"/>
                </a:lnTo>
                <a:lnTo>
                  <a:pt x="334639" y="14981"/>
                </a:lnTo>
                <a:lnTo>
                  <a:pt x="310738" y="14981"/>
                </a:lnTo>
                <a:lnTo>
                  <a:pt x="43814" y="314602"/>
                </a:lnTo>
                <a:lnTo>
                  <a:pt x="0" y="314602"/>
                </a:lnTo>
                <a:lnTo>
                  <a:pt x="0" y="404489"/>
                </a:lnTo>
                <a:lnTo>
                  <a:pt x="143419" y="404489"/>
                </a:lnTo>
                <a:lnTo>
                  <a:pt x="143419" y="382010"/>
                </a:lnTo>
                <a:lnTo>
                  <a:pt x="23900" y="382010"/>
                </a:lnTo>
                <a:lnTo>
                  <a:pt x="23900" y="340823"/>
                </a:lnTo>
                <a:lnTo>
                  <a:pt x="131815" y="340823"/>
                </a:lnTo>
                <a:lnTo>
                  <a:pt x="334639" y="67422"/>
                </a:lnTo>
                <a:lnTo>
                  <a:pt x="348094" y="67422"/>
                </a:lnTo>
                <a:lnTo>
                  <a:pt x="330653" y="41201"/>
                </a:lnTo>
                <a:lnTo>
                  <a:pt x="350583" y="11239"/>
                </a:lnTo>
                <a:lnTo>
                  <a:pt x="402005" y="11239"/>
                </a:lnTo>
                <a:lnTo>
                  <a:pt x="394398" y="0"/>
                </a:lnTo>
                <a:close/>
              </a:path>
              <a:path w="422909" h="404495">
                <a:moveTo>
                  <a:pt x="131815" y="340823"/>
                </a:moveTo>
                <a:lnTo>
                  <a:pt x="95602" y="340823"/>
                </a:lnTo>
                <a:lnTo>
                  <a:pt x="95602" y="382010"/>
                </a:lnTo>
                <a:lnTo>
                  <a:pt x="123488" y="382010"/>
                </a:lnTo>
                <a:lnTo>
                  <a:pt x="123488" y="352047"/>
                </a:lnTo>
                <a:lnTo>
                  <a:pt x="131815" y="340823"/>
                </a:lnTo>
                <a:close/>
              </a:path>
              <a:path w="422909" h="404495">
                <a:moveTo>
                  <a:pt x="374484" y="86144"/>
                </a:moveTo>
                <a:lnTo>
                  <a:pt x="362525" y="86144"/>
                </a:lnTo>
                <a:lnTo>
                  <a:pt x="362525" y="325842"/>
                </a:lnTo>
                <a:lnTo>
                  <a:pt x="374484" y="325842"/>
                </a:lnTo>
                <a:lnTo>
                  <a:pt x="374484" y="86144"/>
                </a:lnTo>
                <a:close/>
              </a:path>
              <a:path w="422909" h="404495">
                <a:moveTo>
                  <a:pt x="348094" y="67422"/>
                </a:moveTo>
                <a:lnTo>
                  <a:pt x="334639" y="67422"/>
                </a:lnTo>
                <a:lnTo>
                  <a:pt x="342611" y="86144"/>
                </a:lnTo>
                <a:lnTo>
                  <a:pt x="394398" y="86144"/>
                </a:lnTo>
                <a:lnTo>
                  <a:pt x="403694" y="71163"/>
                </a:lnTo>
                <a:lnTo>
                  <a:pt x="350583" y="71163"/>
                </a:lnTo>
                <a:lnTo>
                  <a:pt x="348094" y="67422"/>
                </a:lnTo>
                <a:close/>
              </a:path>
              <a:path w="422909" h="404495">
                <a:moveTo>
                  <a:pt x="378470" y="22479"/>
                </a:moveTo>
                <a:lnTo>
                  <a:pt x="362525" y="22479"/>
                </a:lnTo>
                <a:lnTo>
                  <a:pt x="354553" y="26220"/>
                </a:lnTo>
                <a:lnTo>
                  <a:pt x="346597" y="41201"/>
                </a:lnTo>
                <a:lnTo>
                  <a:pt x="354553" y="56182"/>
                </a:lnTo>
                <a:lnTo>
                  <a:pt x="362525" y="59924"/>
                </a:lnTo>
                <a:lnTo>
                  <a:pt x="362525" y="71163"/>
                </a:lnTo>
                <a:lnTo>
                  <a:pt x="374484" y="71163"/>
                </a:lnTo>
                <a:lnTo>
                  <a:pt x="374484" y="59924"/>
                </a:lnTo>
                <a:lnTo>
                  <a:pt x="386426" y="56182"/>
                </a:lnTo>
                <a:lnTo>
                  <a:pt x="390412" y="48684"/>
                </a:lnTo>
                <a:lnTo>
                  <a:pt x="362525" y="48684"/>
                </a:lnTo>
                <a:lnTo>
                  <a:pt x="358539" y="41201"/>
                </a:lnTo>
                <a:lnTo>
                  <a:pt x="362525" y="33703"/>
                </a:lnTo>
                <a:lnTo>
                  <a:pt x="390412" y="33703"/>
                </a:lnTo>
                <a:lnTo>
                  <a:pt x="386426" y="26220"/>
                </a:lnTo>
                <a:lnTo>
                  <a:pt x="378470" y="22479"/>
                </a:lnTo>
                <a:close/>
              </a:path>
              <a:path w="422909" h="404495">
                <a:moveTo>
                  <a:pt x="402005" y="11239"/>
                </a:moveTo>
                <a:lnTo>
                  <a:pt x="390412" y="11239"/>
                </a:lnTo>
                <a:lnTo>
                  <a:pt x="406356" y="41201"/>
                </a:lnTo>
                <a:lnTo>
                  <a:pt x="390412" y="71163"/>
                </a:lnTo>
                <a:lnTo>
                  <a:pt x="403694" y="71163"/>
                </a:lnTo>
                <a:lnTo>
                  <a:pt x="422285" y="41201"/>
                </a:lnTo>
                <a:lnTo>
                  <a:pt x="402005" y="11239"/>
                </a:lnTo>
                <a:close/>
              </a:path>
              <a:path w="422909" h="404495">
                <a:moveTo>
                  <a:pt x="390412" y="33703"/>
                </a:moveTo>
                <a:lnTo>
                  <a:pt x="374484" y="33703"/>
                </a:lnTo>
                <a:lnTo>
                  <a:pt x="378470" y="41201"/>
                </a:lnTo>
                <a:lnTo>
                  <a:pt x="374484" y="48684"/>
                </a:lnTo>
                <a:lnTo>
                  <a:pt x="390412" y="48684"/>
                </a:lnTo>
                <a:lnTo>
                  <a:pt x="390412" y="337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727197" y="2984766"/>
            <a:ext cx="470534" cy="494665"/>
          </a:xfrm>
          <a:custGeom>
            <a:avLst/>
            <a:gdLst/>
            <a:ahLst/>
            <a:cxnLst/>
            <a:rect l="l" t="t" r="r" b="b"/>
            <a:pathLst>
              <a:path w="470535" h="494664">
                <a:moveTo>
                  <a:pt x="371406" y="0"/>
                </a:moveTo>
                <a:lnTo>
                  <a:pt x="0" y="0"/>
                </a:lnTo>
                <a:lnTo>
                  <a:pt x="0" y="34389"/>
                </a:lnTo>
                <a:lnTo>
                  <a:pt x="354902" y="34389"/>
                </a:lnTo>
                <a:lnTo>
                  <a:pt x="354902" y="323536"/>
                </a:lnTo>
                <a:lnTo>
                  <a:pt x="0" y="323536"/>
                </a:lnTo>
                <a:lnTo>
                  <a:pt x="0" y="363754"/>
                </a:lnTo>
                <a:lnTo>
                  <a:pt x="367011" y="363754"/>
                </a:lnTo>
                <a:lnTo>
                  <a:pt x="367011" y="373327"/>
                </a:lnTo>
                <a:lnTo>
                  <a:pt x="0" y="373327"/>
                </a:lnTo>
                <a:lnTo>
                  <a:pt x="0" y="380987"/>
                </a:lnTo>
                <a:lnTo>
                  <a:pt x="371051" y="380987"/>
                </a:lnTo>
                <a:lnTo>
                  <a:pt x="453786" y="440348"/>
                </a:lnTo>
                <a:lnTo>
                  <a:pt x="0" y="440348"/>
                </a:lnTo>
                <a:lnTo>
                  <a:pt x="0" y="494525"/>
                </a:lnTo>
                <a:lnTo>
                  <a:pt x="439905" y="494525"/>
                </a:lnTo>
                <a:lnTo>
                  <a:pt x="441677" y="493965"/>
                </a:lnTo>
                <a:lnTo>
                  <a:pt x="451767" y="492050"/>
                </a:lnTo>
                <a:lnTo>
                  <a:pt x="457817" y="488220"/>
                </a:lnTo>
                <a:lnTo>
                  <a:pt x="132933" y="488220"/>
                </a:lnTo>
                <a:lnTo>
                  <a:pt x="132933" y="472901"/>
                </a:lnTo>
                <a:lnTo>
                  <a:pt x="467907" y="472901"/>
                </a:lnTo>
                <a:lnTo>
                  <a:pt x="469926" y="470986"/>
                </a:lnTo>
                <a:lnTo>
                  <a:pt x="469926" y="442262"/>
                </a:lnTo>
                <a:lnTo>
                  <a:pt x="375081" y="375242"/>
                </a:lnTo>
                <a:lnTo>
                  <a:pt x="375081" y="361839"/>
                </a:lnTo>
                <a:lnTo>
                  <a:pt x="377101" y="361839"/>
                </a:lnTo>
                <a:lnTo>
                  <a:pt x="385171" y="358009"/>
                </a:lnTo>
                <a:lnTo>
                  <a:pt x="389210" y="354180"/>
                </a:lnTo>
                <a:lnTo>
                  <a:pt x="397280" y="342683"/>
                </a:lnTo>
                <a:lnTo>
                  <a:pt x="397280" y="22892"/>
                </a:lnTo>
                <a:lnTo>
                  <a:pt x="395261" y="15233"/>
                </a:lnTo>
                <a:lnTo>
                  <a:pt x="391230" y="9489"/>
                </a:lnTo>
                <a:lnTo>
                  <a:pt x="379121" y="1830"/>
                </a:lnTo>
                <a:lnTo>
                  <a:pt x="371406" y="0"/>
                </a:lnTo>
                <a:close/>
              </a:path>
              <a:path w="470535" h="494664">
                <a:moveTo>
                  <a:pt x="467907" y="472901"/>
                </a:moveTo>
                <a:lnTo>
                  <a:pt x="197509" y="472901"/>
                </a:lnTo>
                <a:lnTo>
                  <a:pt x="197509" y="488220"/>
                </a:lnTo>
                <a:lnTo>
                  <a:pt x="457817" y="488220"/>
                </a:lnTo>
                <a:lnTo>
                  <a:pt x="465887" y="480561"/>
                </a:lnTo>
                <a:lnTo>
                  <a:pt x="467907" y="474816"/>
                </a:lnTo>
                <a:lnTo>
                  <a:pt x="467907" y="472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727197" y="3395433"/>
            <a:ext cx="401320" cy="0"/>
          </a:xfrm>
          <a:custGeom>
            <a:avLst/>
            <a:gdLst/>
            <a:ahLst/>
            <a:cxnLst/>
            <a:rect l="l" t="t" r="r" b="b"/>
            <a:pathLst>
              <a:path w="401319">
                <a:moveTo>
                  <a:pt x="0" y="0"/>
                </a:moveTo>
                <a:lnTo>
                  <a:pt x="401319" y="0"/>
                </a:lnTo>
              </a:path>
            </a:pathLst>
          </a:custGeom>
          <a:ln w="3638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727197" y="3063195"/>
            <a:ext cx="336743" cy="2163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699254" y="2936011"/>
            <a:ext cx="492997" cy="5402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92658" y="1968500"/>
            <a:ext cx="1804035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0" marR="267970" indent="-226695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1a.</a:t>
            </a:r>
            <a:r>
              <a:rPr sz="1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Revolución  Industrial</a:t>
            </a:r>
            <a:endParaRPr sz="1400">
              <a:latin typeface="Arial"/>
              <a:cs typeface="Arial"/>
            </a:endParaRPr>
          </a:p>
          <a:p>
            <a:pPr marL="280035">
              <a:lnSpc>
                <a:spcPct val="100000"/>
              </a:lnSpc>
              <a:spcBef>
                <a:spcPts val="480"/>
              </a:spcBef>
            </a:pPr>
            <a:r>
              <a:rPr sz="1400" i="1" spc="50" dirty="0">
                <a:solidFill>
                  <a:srgbClr val="FFFFFF"/>
                </a:solidFill>
                <a:latin typeface="Arial"/>
                <a:cs typeface="Arial"/>
              </a:rPr>
              <a:t>Productividad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40</a:t>
            </a:fld>
            <a:endParaRPr spc="-5" dirty="0"/>
          </a:p>
        </p:txBody>
      </p:sp>
      <p:sp>
        <p:nvSpPr>
          <p:cNvPr id="37" name="object 37"/>
          <p:cNvSpPr txBox="1"/>
          <p:nvPr/>
        </p:nvSpPr>
        <p:spPr>
          <a:xfrm>
            <a:off x="2684526" y="1968500"/>
            <a:ext cx="179260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9875" marR="261620" algn="ctr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2a.</a:t>
            </a:r>
            <a:r>
              <a:rPr sz="1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Revolución  Industrial</a:t>
            </a:r>
            <a:endParaRPr sz="1400">
              <a:latin typeface="Arial"/>
              <a:cs typeface="Arial"/>
            </a:endParaRPr>
          </a:p>
          <a:p>
            <a:pPr marL="466725" marR="421640" algn="ctr">
              <a:lnSpc>
                <a:spcPct val="100000"/>
              </a:lnSpc>
              <a:spcBef>
                <a:spcPts val="480"/>
              </a:spcBef>
            </a:pPr>
            <a:r>
              <a:rPr sz="1400" i="1" spc="50" dirty="0">
                <a:solidFill>
                  <a:srgbClr val="FFFFFF"/>
                </a:solidFill>
                <a:latin typeface="Arial"/>
                <a:cs typeface="Arial"/>
              </a:rPr>
              <a:t>Mejoría</a:t>
            </a:r>
            <a:r>
              <a:rPr sz="1400" i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i="1" spc="3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400" i="1" spc="15" dirty="0">
                <a:solidFill>
                  <a:srgbClr val="FFFFFF"/>
                </a:solidFill>
                <a:latin typeface="Arial"/>
                <a:cs typeface="Arial"/>
              </a:rPr>
              <a:t> Procesos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669535" y="1968500"/>
            <a:ext cx="179832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9745" marR="264160" indent="-226695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3a.</a:t>
            </a:r>
            <a:r>
              <a:rPr sz="1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Revolución  Industrial</a:t>
            </a:r>
            <a:endParaRPr sz="1400">
              <a:latin typeface="Arial"/>
              <a:cs typeface="Arial"/>
            </a:endParaRPr>
          </a:p>
          <a:p>
            <a:pPr marL="401320" marR="561340" indent="47625">
              <a:lnSpc>
                <a:spcPct val="100000"/>
              </a:lnSpc>
              <a:spcBef>
                <a:spcPts val="480"/>
              </a:spcBef>
            </a:pPr>
            <a:r>
              <a:rPr sz="1400" i="1" spc="55" dirty="0">
                <a:solidFill>
                  <a:srgbClr val="FFFFFF"/>
                </a:solidFill>
                <a:latin typeface="Arial"/>
                <a:cs typeface="Arial"/>
              </a:rPr>
              <a:t>Arbitraje  </a:t>
            </a:r>
            <a:r>
              <a:rPr sz="1400" i="1" spc="3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i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i="1" spc="20" dirty="0">
                <a:solidFill>
                  <a:srgbClr val="FFFFFF"/>
                </a:solidFill>
                <a:latin typeface="Arial"/>
                <a:cs typeface="Arial"/>
              </a:rPr>
              <a:t>Costos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53783" y="1968500"/>
            <a:ext cx="180149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4955" marR="266065" algn="ctr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4a.</a:t>
            </a:r>
            <a:r>
              <a:rPr sz="1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Revolución  Industrial</a:t>
            </a:r>
            <a:endParaRPr sz="1400">
              <a:latin typeface="Arial"/>
              <a:cs typeface="Arial"/>
            </a:endParaRPr>
          </a:p>
          <a:p>
            <a:pPr marL="426720" marR="340995" algn="ctr">
              <a:lnSpc>
                <a:spcPct val="100000"/>
              </a:lnSpc>
              <a:spcBef>
                <a:spcPts val="480"/>
              </a:spcBef>
            </a:pPr>
            <a:r>
              <a:rPr sz="1400" i="1" spc="65" dirty="0">
                <a:solidFill>
                  <a:srgbClr val="FFFFFF"/>
                </a:solidFill>
                <a:latin typeface="Arial"/>
                <a:cs typeface="Arial"/>
              </a:rPr>
              <a:t>Automación </a:t>
            </a:r>
            <a:r>
              <a:rPr sz="1400" i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i="1" spc="40" dirty="0">
                <a:solidFill>
                  <a:srgbClr val="FFFFFF"/>
                </a:solidFill>
                <a:latin typeface="Arial"/>
                <a:cs typeface="Arial"/>
              </a:rPr>
              <a:t>Integrada</a:t>
            </a:r>
            <a:endParaRPr sz="1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4939" y="1111758"/>
            <a:ext cx="87229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spc="-175" dirty="0">
                <a:latin typeface="Arial"/>
                <a:cs typeface="Arial"/>
              </a:rPr>
              <a:t>Las </a:t>
            </a:r>
            <a:r>
              <a:rPr sz="1600" spc="-75" dirty="0">
                <a:latin typeface="Arial"/>
                <a:cs typeface="Arial"/>
              </a:rPr>
              <a:t>tecnologías </a:t>
            </a:r>
            <a:r>
              <a:rPr sz="1600" spc="-55" dirty="0">
                <a:latin typeface="Arial"/>
                <a:cs typeface="Arial"/>
              </a:rPr>
              <a:t>digitales </a:t>
            </a:r>
            <a:r>
              <a:rPr sz="1600" spc="-80" dirty="0">
                <a:latin typeface="Arial"/>
                <a:cs typeface="Arial"/>
              </a:rPr>
              <a:t>han </a:t>
            </a:r>
            <a:r>
              <a:rPr sz="1600" spc="-65" dirty="0">
                <a:latin typeface="Arial"/>
                <a:cs typeface="Arial"/>
              </a:rPr>
              <a:t>evolucionado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15" dirty="0">
                <a:latin typeface="Arial"/>
                <a:cs typeface="Arial"/>
              </a:rPr>
              <a:t>tal </a:t>
            </a:r>
            <a:r>
              <a:rPr sz="1600" spc="-40" dirty="0">
                <a:latin typeface="Arial"/>
                <a:cs typeface="Arial"/>
              </a:rPr>
              <a:t>forma, </a:t>
            </a:r>
            <a:r>
              <a:rPr sz="1600" spc="-70" dirty="0">
                <a:latin typeface="Arial"/>
                <a:cs typeface="Arial"/>
              </a:rPr>
              <a:t>que </a:t>
            </a:r>
            <a:r>
              <a:rPr sz="1600" spc="-125" dirty="0">
                <a:latin typeface="Arial"/>
                <a:cs typeface="Arial"/>
              </a:rPr>
              <a:t>a </a:t>
            </a:r>
            <a:r>
              <a:rPr sz="1600" spc="-75" dirty="0">
                <a:latin typeface="Arial"/>
                <a:cs typeface="Arial"/>
              </a:rPr>
              <a:t>través de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45" dirty="0">
                <a:latin typeface="Arial"/>
                <a:cs typeface="Arial"/>
              </a:rPr>
              <a:t>utilización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40" dirty="0">
                <a:latin typeface="Arial"/>
                <a:cs typeface="Arial"/>
              </a:rPr>
              <a:t>robots, </a:t>
            </a:r>
            <a:r>
              <a:rPr sz="1600" spc="-135" dirty="0">
                <a:latin typeface="Arial"/>
                <a:cs typeface="Arial"/>
              </a:rPr>
              <a:t>se  </a:t>
            </a:r>
            <a:r>
              <a:rPr sz="1600" spc="-70" dirty="0">
                <a:latin typeface="Arial"/>
                <a:cs typeface="Arial"/>
              </a:rPr>
              <a:t>pueden </a:t>
            </a:r>
            <a:r>
              <a:rPr sz="1600" spc="-45" dirty="0">
                <a:latin typeface="Arial"/>
                <a:cs typeface="Arial"/>
              </a:rPr>
              <a:t>ejecutar </a:t>
            </a:r>
            <a:r>
              <a:rPr sz="1600" spc="-95" dirty="0">
                <a:latin typeface="Arial"/>
                <a:cs typeface="Arial"/>
              </a:rPr>
              <a:t>procesos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45" dirty="0">
                <a:latin typeface="Arial"/>
                <a:cs typeface="Arial"/>
              </a:rPr>
              <a:t>forma </a:t>
            </a:r>
            <a:r>
              <a:rPr sz="1600" spc="-120" dirty="0">
                <a:latin typeface="Arial"/>
                <a:cs typeface="Arial"/>
              </a:rPr>
              <a:t>mas </a:t>
            </a:r>
            <a:r>
              <a:rPr sz="1600" spc="-45" dirty="0">
                <a:latin typeface="Arial"/>
                <a:cs typeface="Arial"/>
              </a:rPr>
              <a:t>eficiente </a:t>
            </a:r>
            <a:r>
              <a:rPr sz="1600" spc="-70" dirty="0">
                <a:latin typeface="Arial"/>
                <a:cs typeface="Arial"/>
              </a:rPr>
              <a:t>que </a:t>
            </a:r>
            <a:r>
              <a:rPr sz="1600" spc="-20" dirty="0">
                <a:latin typeface="Arial"/>
                <a:cs typeface="Arial"/>
              </a:rPr>
              <a:t>lo </a:t>
            </a:r>
            <a:r>
              <a:rPr sz="1600" spc="-75" dirty="0">
                <a:latin typeface="Arial"/>
                <a:cs typeface="Arial"/>
              </a:rPr>
              <a:t>haría </a:t>
            </a:r>
            <a:r>
              <a:rPr sz="1600" spc="-55" dirty="0">
                <a:latin typeface="Arial"/>
                <a:cs typeface="Arial"/>
              </a:rPr>
              <a:t>un</a:t>
            </a:r>
            <a:r>
              <a:rPr sz="1600" spc="-270" dirty="0">
                <a:latin typeface="Arial"/>
                <a:cs typeface="Arial"/>
              </a:rPr>
              <a:t> </a:t>
            </a:r>
            <a:r>
              <a:rPr sz="1600" spc="-60" dirty="0">
                <a:latin typeface="Arial"/>
                <a:cs typeface="Arial"/>
              </a:rPr>
              <a:t>humano: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64286" y="5974333"/>
            <a:ext cx="76142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110" dirty="0">
                <a:latin typeface="Arial"/>
                <a:cs typeface="Arial"/>
              </a:rPr>
              <a:t>Video</a:t>
            </a:r>
            <a:r>
              <a:rPr sz="1800" spc="-110" dirty="0">
                <a:latin typeface="Arial"/>
                <a:cs typeface="Arial"/>
              </a:rPr>
              <a:t>: </a:t>
            </a:r>
            <a:r>
              <a:rPr sz="1800" i="1" spc="-95" dirty="0">
                <a:latin typeface="Arial"/>
                <a:cs typeface="Arial"/>
              </a:rPr>
              <a:t>Think </a:t>
            </a:r>
            <a:r>
              <a:rPr sz="1800" i="1" spc="-25" dirty="0">
                <a:latin typeface="Arial"/>
                <a:cs typeface="Arial"/>
              </a:rPr>
              <a:t>forward</a:t>
            </a:r>
            <a:r>
              <a:rPr sz="1800" spc="-25" dirty="0">
                <a:latin typeface="Arial"/>
                <a:cs typeface="Arial"/>
              </a:rPr>
              <a:t>:</a:t>
            </a:r>
            <a:r>
              <a:rPr sz="1800" spc="-135" dirty="0">
                <a:latin typeface="Arial"/>
                <a:cs typeface="Arial"/>
              </a:rPr>
              <a:t> </a:t>
            </a:r>
            <a:r>
              <a:rPr sz="1800" u="heavy" spc="-75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6"/>
              </a:rPr>
              <a:t>https://www.youtube.com/watch?v=amFe8WZP8DY&amp;t=85s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932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/>
              <a:t>– </a:t>
            </a:r>
            <a:r>
              <a:rPr spc="-114" dirty="0"/>
              <a:t>Hardware</a:t>
            </a:r>
            <a:r>
              <a:rPr spc="-150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70" dirty="0">
                <a:latin typeface="Arial"/>
                <a:cs typeface="Arial"/>
              </a:rPr>
              <a:t>Los </a:t>
            </a:r>
            <a:r>
              <a:rPr sz="1800" b="0" spc="-95" dirty="0">
                <a:latin typeface="Arial"/>
                <a:cs typeface="Arial"/>
              </a:rPr>
              <a:t>nuevos </a:t>
            </a:r>
            <a:r>
              <a:rPr sz="1800" b="0" spc="-105" dirty="0">
                <a:latin typeface="Arial"/>
                <a:cs typeface="Arial"/>
              </a:rPr>
              <a:t>desafíos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5" dirty="0">
                <a:latin typeface="Arial"/>
                <a:cs typeface="Arial"/>
              </a:rPr>
              <a:t>aplicaciones de </a:t>
            </a:r>
            <a:r>
              <a:rPr sz="1800" b="0" spc="-65" dirty="0">
                <a:latin typeface="Arial"/>
                <a:cs typeface="Arial"/>
              </a:rPr>
              <a:t>la </a:t>
            </a:r>
            <a:r>
              <a:rPr sz="1800" b="0" spc="-75" dirty="0">
                <a:latin typeface="Arial"/>
                <a:cs typeface="Arial"/>
              </a:rPr>
              <a:t>era</a:t>
            </a:r>
            <a:r>
              <a:rPr sz="1800" b="0" spc="10" dirty="0">
                <a:latin typeface="Arial"/>
                <a:cs typeface="Arial"/>
              </a:rPr>
              <a:t> </a:t>
            </a:r>
            <a:r>
              <a:rPr sz="1800" b="0" spc="-35" dirty="0">
                <a:latin typeface="Arial"/>
                <a:cs typeface="Arial"/>
              </a:rPr>
              <a:t>digital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45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106" y="2051992"/>
            <a:ext cx="7154595" cy="28853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9206" y="1134270"/>
            <a:ext cx="8366971" cy="7913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20040" y="5105400"/>
            <a:ext cx="1981200" cy="13022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29433" y="5105400"/>
            <a:ext cx="1876806" cy="129082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53557" y="5153208"/>
            <a:ext cx="2428619" cy="12047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932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/>
              <a:t>– </a:t>
            </a:r>
            <a:r>
              <a:rPr spc="-114" dirty="0"/>
              <a:t>Hardware</a:t>
            </a:r>
            <a:r>
              <a:rPr spc="-150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70" dirty="0">
                <a:latin typeface="Arial"/>
                <a:cs typeface="Arial"/>
              </a:rPr>
              <a:t>Los </a:t>
            </a:r>
            <a:r>
              <a:rPr sz="1800" b="0" spc="-95" dirty="0">
                <a:latin typeface="Arial"/>
                <a:cs typeface="Arial"/>
              </a:rPr>
              <a:t>nuevos </a:t>
            </a:r>
            <a:r>
              <a:rPr sz="1800" b="0" spc="-105" dirty="0">
                <a:latin typeface="Arial"/>
                <a:cs typeface="Arial"/>
              </a:rPr>
              <a:t>desafíos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5" dirty="0">
                <a:latin typeface="Arial"/>
                <a:cs typeface="Arial"/>
              </a:rPr>
              <a:t>aplicaciones de </a:t>
            </a:r>
            <a:r>
              <a:rPr sz="1800" b="0" spc="-65" dirty="0">
                <a:latin typeface="Arial"/>
                <a:cs typeface="Arial"/>
              </a:rPr>
              <a:t>la </a:t>
            </a:r>
            <a:r>
              <a:rPr sz="1800" b="0" spc="-75" dirty="0">
                <a:latin typeface="Arial"/>
                <a:cs typeface="Arial"/>
              </a:rPr>
              <a:t>era</a:t>
            </a:r>
            <a:r>
              <a:rPr sz="1800" b="0" spc="10" dirty="0">
                <a:latin typeface="Arial"/>
                <a:cs typeface="Arial"/>
              </a:rPr>
              <a:t> </a:t>
            </a:r>
            <a:r>
              <a:rPr sz="1800" b="0" spc="-35" dirty="0">
                <a:latin typeface="Arial"/>
                <a:cs typeface="Arial"/>
              </a:rPr>
              <a:t>digital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41</a:t>
            </a:fld>
            <a:endParaRPr spc="-5" dirty="0"/>
          </a:p>
        </p:txBody>
      </p:sp>
      <p:sp>
        <p:nvSpPr>
          <p:cNvPr id="10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932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/>
              <a:t>– </a:t>
            </a:r>
            <a:r>
              <a:rPr spc="-114" dirty="0"/>
              <a:t>Hardware</a:t>
            </a:r>
            <a:r>
              <a:rPr spc="-150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70" dirty="0">
                <a:latin typeface="Arial"/>
                <a:cs typeface="Arial"/>
              </a:rPr>
              <a:t>Los </a:t>
            </a:r>
            <a:r>
              <a:rPr sz="1800" b="0" spc="-95" dirty="0">
                <a:latin typeface="Arial"/>
                <a:cs typeface="Arial"/>
              </a:rPr>
              <a:t>nuevos </a:t>
            </a:r>
            <a:r>
              <a:rPr sz="1800" b="0" spc="-105" dirty="0">
                <a:latin typeface="Arial"/>
                <a:cs typeface="Arial"/>
              </a:rPr>
              <a:t>desafíos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5" dirty="0">
                <a:latin typeface="Arial"/>
                <a:cs typeface="Arial"/>
              </a:rPr>
              <a:t>aplicaciones de </a:t>
            </a:r>
            <a:r>
              <a:rPr sz="1800" b="0" spc="-65" dirty="0">
                <a:latin typeface="Arial"/>
                <a:cs typeface="Arial"/>
              </a:rPr>
              <a:t>la </a:t>
            </a:r>
            <a:r>
              <a:rPr sz="1800" b="0" spc="-75" dirty="0">
                <a:latin typeface="Arial"/>
                <a:cs typeface="Arial"/>
              </a:rPr>
              <a:t>era</a:t>
            </a:r>
            <a:r>
              <a:rPr sz="1800" b="0" spc="10" dirty="0">
                <a:latin typeface="Arial"/>
                <a:cs typeface="Arial"/>
              </a:rPr>
              <a:t> </a:t>
            </a:r>
            <a:r>
              <a:rPr sz="1800" b="0" spc="-35" dirty="0">
                <a:latin typeface="Arial"/>
                <a:cs typeface="Arial"/>
              </a:rPr>
              <a:t>digital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0"/>
            <a:ext cx="9144000" cy="518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42</a:t>
            </a:fld>
            <a:endParaRPr spc="-5" dirty="0"/>
          </a:p>
        </p:txBody>
      </p:sp>
      <p:sp>
        <p:nvSpPr>
          <p:cNvPr id="6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88592"/>
            <a:ext cx="9144000" cy="4636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6258" y="193801"/>
            <a:ext cx="46932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14" dirty="0">
                <a:solidFill>
                  <a:srgbClr val="FFFFFF"/>
                </a:solidFill>
                <a:latin typeface="Arial"/>
                <a:cs typeface="Arial"/>
              </a:rPr>
              <a:t>Hardware</a:t>
            </a:r>
            <a:r>
              <a:rPr sz="2000" b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70" dirty="0">
                <a:solidFill>
                  <a:srgbClr val="FFFFFF"/>
                </a:solidFill>
                <a:latin typeface="Arial"/>
                <a:cs typeface="Arial"/>
              </a:rPr>
              <a:t>Los 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nuevos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desafíos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aplicaciones de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era</a:t>
            </a:r>
            <a:r>
              <a:rPr sz="18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digital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43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307340" y="1044194"/>
            <a:ext cx="485267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415" dirty="0">
                <a:latin typeface="Arial"/>
                <a:cs typeface="Arial"/>
              </a:rPr>
              <a:t>RPA </a:t>
            </a:r>
            <a:r>
              <a:rPr sz="2600" b="1" spc="-215" dirty="0">
                <a:latin typeface="Arial"/>
                <a:cs typeface="Arial"/>
              </a:rPr>
              <a:t>(Robotics </a:t>
            </a:r>
            <a:r>
              <a:rPr sz="2600" b="1" spc="-285" dirty="0">
                <a:latin typeface="Arial"/>
                <a:cs typeface="Arial"/>
              </a:rPr>
              <a:t>Process</a:t>
            </a:r>
            <a:r>
              <a:rPr sz="2600" b="1" spc="-114" dirty="0">
                <a:latin typeface="Arial"/>
                <a:cs typeface="Arial"/>
              </a:rPr>
              <a:t> </a:t>
            </a:r>
            <a:r>
              <a:rPr sz="2600" b="1" spc="-145" dirty="0">
                <a:latin typeface="Arial"/>
                <a:cs typeface="Arial"/>
              </a:rPr>
              <a:t>Automation)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" y="1524000"/>
            <a:ext cx="9128759" cy="4572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932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/>
              <a:t>– </a:t>
            </a:r>
            <a:r>
              <a:rPr spc="-114" dirty="0"/>
              <a:t>Hardware</a:t>
            </a:r>
            <a:r>
              <a:rPr spc="-150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70" dirty="0">
                <a:latin typeface="Arial"/>
                <a:cs typeface="Arial"/>
              </a:rPr>
              <a:t>Los </a:t>
            </a:r>
            <a:r>
              <a:rPr sz="1800" b="0" spc="-95" dirty="0">
                <a:latin typeface="Arial"/>
                <a:cs typeface="Arial"/>
              </a:rPr>
              <a:t>nuevos </a:t>
            </a:r>
            <a:r>
              <a:rPr sz="1800" b="0" spc="-105" dirty="0">
                <a:latin typeface="Arial"/>
                <a:cs typeface="Arial"/>
              </a:rPr>
              <a:t>desafíos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5" dirty="0">
                <a:latin typeface="Arial"/>
                <a:cs typeface="Arial"/>
              </a:rPr>
              <a:t>aplicaciones de </a:t>
            </a:r>
            <a:r>
              <a:rPr sz="1800" b="0" spc="-65" dirty="0">
                <a:latin typeface="Arial"/>
                <a:cs typeface="Arial"/>
              </a:rPr>
              <a:t>la </a:t>
            </a:r>
            <a:r>
              <a:rPr sz="1800" b="0" spc="-75" dirty="0">
                <a:latin typeface="Arial"/>
                <a:cs typeface="Arial"/>
              </a:rPr>
              <a:t>era</a:t>
            </a:r>
            <a:r>
              <a:rPr sz="1800" b="0" spc="10" dirty="0">
                <a:latin typeface="Arial"/>
                <a:cs typeface="Arial"/>
              </a:rPr>
              <a:t> </a:t>
            </a:r>
            <a:r>
              <a:rPr sz="1800" b="0" spc="-35" dirty="0">
                <a:latin typeface="Arial"/>
                <a:cs typeface="Arial"/>
              </a:rPr>
              <a:t>digital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44</a:t>
            </a:fld>
            <a:endParaRPr spc="-5" dirty="0"/>
          </a:p>
        </p:txBody>
      </p:sp>
      <p:sp>
        <p:nvSpPr>
          <p:cNvPr id="6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5241" y="1148841"/>
            <a:ext cx="3575050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400" i="1" spc="-60" dirty="0">
                <a:latin typeface="Arial"/>
                <a:cs typeface="Arial"/>
              </a:rPr>
              <a:t>Durante </a:t>
            </a:r>
            <a:r>
              <a:rPr sz="1400" i="1" spc="-70" dirty="0">
                <a:latin typeface="Arial"/>
                <a:cs typeface="Arial"/>
              </a:rPr>
              <a:t>los </a:t>
            </a:r>
            <a:r>
              <a:rPr sz="1400" i="1" spc="-35" dirty="0">
                <a:latin typeface="Arial"/>
                <a:cs typeface="Arial"/>
              </a:rPr>
              <a:t>últimos </a:t>
            </a:r>
            <a:r>
              <a:rPr sz="1400" i="1" spc="-90" dirty="0">
                <a:latin typeface="Arial"/>
                <a:cs typeface="Arial"/>
              </a:rPr>
              <a:t>años </a:t>
            </a:r>
            <a:r>
              <a:rPr sz="1400" i="1" spc="-95" dirty="0">
                <a:latin typeface="Arial"/>
                <a:cs typeface="Arial"/>
              </a:rPr>
              <a:t>hemos </a:t>
            </a:r>
            <a:r>
              <a:rPr sz="1400" i="1" spc="-50" dirty="0">
                <a:latin typeface="Arial"/>
                <a:cs typeface="Arial"/>
              </a:rPr>
              <a:t>visto </a:t>
            </a:r>
            <a:r>
              <a:rPr sz="1400" i="1" spc="-80" dirty="0">
                <a:latin typeface="Arial"/>
                <a:cs typeface="Arial"/>
              </a:rPr>
              <a:t>diversas  </a:t>
            </a:r>
            <a:r>
              <a:rPr sz="1400" i="1" spc="-70" dirty="0">
                <a:latin typeface="Arial"/>
                <a:cs typeface="Arial"/>
              </a:rPr>
              <a:t>palancas </a:t>
            </a:r>
            <a:r>
              <a:rPr sz="1400" i="1" spc="-90" dirty="0">
                <a:latin typeface="Arial"/>
                <a:cs typeface="Arial"/>
              </a:rPr>
              <a:t>de </a:t>
            </a:r>
            <a:r>
              <a:rPr sz="1400" i="1" spc="-45" dirty="0">
                <a:latin typeface="Arial"/>
                <a:cs typeface="Arial"/>
              </a:rPr>
              <a:t>optimización </a:t>
            </a:r>
            <a:r>
              <a:rPr sz="1400" i="1" spc="-90" dirty="0">
                <a:latin typeface="Arial"/>
                <a:cs typeface="Arial"/>
              </a:rPr>
              <a:t>de </a:t>
            </a:r>
            <a:r>
              <a:rPr sz="1400" i="1" spc="-85" dirty="0">
                <a:latin typeface="Arial"/>
                <a:cs typeface="Arial"/>
              </a:rPr>
              <a:t>costos, </a:t>
            </a:r>
            <a:r>
              <a:rPr sz="1400" i="1" spc="-70" dirty="0">
                <a:latin typeface="Arial"/>
                <a:cs typeface="Arial"/>
              </a:rPr>
              <a:t>sin </a:t>
            </a:r>
            <a:r>
              <a:rPr sz="1400" i="1" spc="-60" dirty="0">
                <a:latin typeface="Arial"/>
                <a:cs typeface="Arial"/>
              </a:rPr>
              <a:t>embargo  </a:t>
            </a:r>
            <a:r>
              <a:rPr sz="1400" i="1" spc="-225" dirty="0">
                <a:latin typeface="Arial"/>
                <a:cs typeface="Arial"/>
              </a:rPr>
              <a:t>RPA </a:t>
            </a:r>
            <a:r>
              <a:rPr sz="1400" i="1" spc="-65" dirty="0">
                <a:latin typeface="Arial"/>
                <a:cs typeface="Arial"/>
              </a:rPr>
              <a:t>no </a:t>
            </a:r>
            <a:r>
              <a:rPr sz="1400" i="1" spc="-70" dirty="0">
                <a:latin typeface="Arial"/>
                <a:cs typeface="Arial"/>
              </a:rPr>
              <a:t>solo</a:t>
            </a:r>
            <a:r>
              <a:rPr sz="1400" i="1" spc="245" dirty="0">
                <a:latin typeface="Arial"/>
                <a:cs typeface="Arial"/>
              </a:rPr>
              <a:t> </a:t>
            </a:r>
            <a:r>
              <a:rPr sz="1400" i="1" spc="-50" dirty="0">
                <a:latin typeface="Arial"/>
                <a:cs typeface="Arial"/>
              </a:rPr>
              <a:t>duplica </a:t>
            </a:r>
            <a:r>
              <a:rPr sz="1400" i="1" spc="-70" dirty="0">
                <a:latin typeface="Arial"/>
                <a:cs typeface="Arial"/>
              </a:rPr>
              <a:t>las  </a:t>
            </a:r>
            <a:r>
              <a:rPr sz="1400" i="1" spc="-60" dirty="0">
                <a:latin typeface="Arial"/>
                <a:cs typeface="Arial"/>
              </a:rPr>
              <a:t>eficiencias obtenidas  </a:t>
            </a:r>
            <a:r>
              <a:rPr sz="1400" i="1" spc="-55" dirty="0">
                <a:latin typeface="Arial"/>
                <a:cs typeface="Arial"/>
              </a:rPr>
              <a:t>hasta </a:t>
            </a:r>
            <a:r>
              <a:rPr sz="1400" i="1" spc="-50" dirty="0">
                <a:latin typeface="Arial"/>
                <a:cs typeface="Arial"/>
              </a:rPr>
              <a:t>ahora, </a:t>
            </a:r>
            <a:r>
              <a:rPr sz="1400" i="1" spc="-70" dirty="0">
                <a:latin typeface="Arial"/>
                <a:cs typeface="Arial"/>
              </a:rPr>
              <a:t>sino</a:t>
            </a:r>
            <a:r>
              <a:rPr sz="1400" i="1" spc="245" dirty="0">
                <a:latin typeface="Arial"/>
                <a:cs typeface="Arial"/>
              </a:rPr>
              <a:t> </a:t>
            </a:r>
            <a:r>
              <a:rPr sz="1400" i="1" spc="-80" dirty="0">
                <a:latin typeface="Arial"/>
                <a:cs typeface="Arial"/>
              </a:rPr>
              <a:t>que </a:t>
            </a:r>
            <a:r>
              <a:rPr sz="1400" i="1" spc="-70" dirty="0">
                <a:latin typeface="Arial"/>
                <a:cs typeface="Arial"/>
              </a:rPr>
              <a:t>ofrece </a:t>
            </a:r>
            <a:r>
              <a:rPr sz="1400" i="1" spc="-45" dirty="0">
                <a:latin typeface="Arial"/>
                <a:cs typeface="Arial"/>
              </a:rPr>
              <a:t>otros </a:t>
            </a:r>
            <a:r>
              <a:rPr sz="1400" i="1" spc="-65" dirty="0">
                <a:latin typeface="Arial"/>
                <a:cs typeface="Arial"/>
              </a:rPr>
              <a:t>beneficios  </a:t>
            </a:r>
            <a:r>
              <a:rPr sz="1400" i="1" spc="-35" dirty="0">
                <a:latin typeface="Arial"/>
                <a:cs typeface="Arial"/>
              </a:rPr>
              <a:t>cualitativos.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30932" y="362826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4066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269741" y="3836670"/>
            <a:ext cx="1617345" cy="1341120"/>
          </a:xfrm>
          <a:custGeom>
            <a:avLst/>
            <a:gdLst/>
            <a:ahLst/>
            <a:cxnLst/>
            <a:rect l="l" t="t" r="r" b="b"/>
            <a:pathLst>
              <a:path w="1617345" h="1341120">
                <a:moveTo>
                  <a:pt x="1209167" y="0"/>
                </a:moveTo>
                <a:lnTo>
                  <a:pt x="407797" y="0"/>
                </a:lnTo>
                <a:lnTo>
                  <a:pt x="0" y="670559"/>
                </a:lnTo>
                <a:lnTo>
                  <a:pt x="407797" y="1341119"/>
                </a:lnTo>
                <a:lnTo>
                  <a:pt x="1209167" y="1341119"/>
                </a:lnTo>
                <a:lnTo>
                  <a:pt x="1616964" y="670559"/>
                </a:lnTo>
                <a:lnTo>
                  <a:pt x="1209167" y="0"/>
                </a:lnTo>
                <a:close/>
              </a:path>
            </a:pathLst>
          </a:custGeom>
          <a:solidFill>
            <a:srgbClr val="005E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64202" y="1639823"/>
            <a:ext cx="1617345" cy="1341120"/>
          </a:xfrm>
          <a:custGeom>
            <a:avLst/>
            <a:gdLst/>
            <a:ahLst/>
            <a:cxnLst/>
            <a:rect l="l" t="t" r="r" b="b"/>
            <a:pathLst>
              <a:path w="1617345" h="1341120">
                <a:moveTo>
                  <a:pt x="1209167" y="0"/>
                </a:moveTo>
                <a:lnTo>
                  <a:pt x="407797" y="0"/>
                </a:lnTo>
                <a:lnTo>
                  <a:pt x="0" y="670560"/>
                </a:lnTo>
                <a:lnTo>
                  <a:pt x="407797" y="1341120"/>
                </a:lnTo>
                <a:lnTo>
                  <a:pt x="1209167" y="1341120"/>
                </a:lnTo>
                <a:lnTo>
                  <a:pt x="1616964" y="670560"/>
                </a:lnTo>
                <a:lnTo>
                  <a:pt x="1209167" y="0"/>
                </a:lnTo>
                <a:close/>
              </a:path>
            </a:pathLst>
          </a:custGeom>
          <a:solidFill>
            <a:srgbClr val="005E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40373" y="2392679"/>
            <a:ext cx="1616710" cy="1342390"/>
          </a:xfrm>
          <a:custGeom>
            <a:avLst/>
            <a:gdLst/>
            <a:ahLst/>
            <a:cxnLst/>
            <a:rect l="l" t="t" r="r" b="b"/>
            <a:pathLst>
              <a:path w="1616709" h="1342389">
                <a:moveTo>
                  <a:pt x="1208151" y="0"/>
                </a:moveTo>
                <a:lnTo>
                  <a:pt x="408050" y="0"/>
                </a:lnTo>
                <a:lnTo>
                  <a:pt x="0" y="670941"/>
                </a:lnTo>
                <a:lnTo>
                  <a:pt x="408050" y="1341882"/>
                </a:lnTo>
                <a:lnTo>
                  <a:pt x="1208151" y="1341882"/>
                </a:lnTo>
                <a:lnTo>
                  <a:pt x="1616202" y="670941"/>
                </a:lnTo>
                <a:lnTo>
                  <a:pt x="1208151" y="0"/>
                </a:lnTo>
                <a:close/>
              </a:path>
            </a:pathLst>
          </a:custGeom>
          <a:solidFill>
            <a:srgbClr val="005E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40373" y="3896105"/>
            <a:ext cx="1616710" cy="1341120"/>
          </a:xfrm>
          <a:custGeom>
            <a:avLst/>
            <a:gdLst/>
            <a:ahLst/>
            <a:cxnLst/>
            <a:rect l="l" t="t" r="r" b="b"/>
            <a:pathLst>
              <a:path w="1616709" h="1341120">
                <a:moveTo>
                  <a:pt x="1208404" y="0"/>
                </a:moveTo>
                <a:lnTo>
                  <a:pt x="407797" y="0"/>
                </a:lnTo>
                <a:lnTo>
                  <a:pt x="0" y="670560"/>
                </a:lnTo>
                <a:lnTo>
                  <a:pt x="407797" y="1341120"/>
                </a:lnTo>
                <a:lnTo>
                  <a:pt x="1208404" y="1341120"/>
                </a:lnTo>
                <a:lnTo>
                  <a:pt x="1616202" y="670560"/>
                </a:lnTo>
                <a:lnTo>
                  <a:pt x="1208404" y="0"/>
                </a:lnTo>
                <a:close/>
              </a:path>
            </a:pathLst>
          </a:custGeom>
          <a:solidFill>
            <a:srgbClr val="005E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64202" y="4618482"/>
            <a:ext cx="1617345" cy="1341120"/>
          </a:xfrm>
          <a:custGeom>
            <a:avLst/>
            <a:gdLst/>
            <a:ahLst/>
            <a:cxnLst/>
            <a:rect l="l" t="t" r="r" b="b"/>
            <a:pathLst>
              <a:path w="1617345" h="1341120">
                <a:moveTo>
                  <a:pt x="1209167" y="0"/>
                </a:moveTo>
                <a:lnTo>
                  <a:pt x="407797" y="0"/>
                </a:lnTo>
                <a:lnTo>
                  <a:pt x="0" y="670560"/>
                </a:lnTo>
                <a:lnTo>
                  <a:pt x="407797" y="1341120"/>
                </a:lnTo>
                <a:lnTo>
                  <a:pt x="1209167" y="1341120"/>
                </a:lnTo>
                <a:lnTo>
                  <a:pt x="1616964" y="670560"/>
                </a:lnTo>
                <a:lnTo>
                  <a:pt x="1209167" y="0"/>
                </a:lnTo>
                <a:close/>
              </a:path>
            </a:pathLst>
          </a:custGeom>
          <a:solidFill>
            <a:srgbClr val="005E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49618" y="2810255"/>
            <a:ext cx="96520" cy="283210"/>
          </a:xfrm>
          <a:custGeom>
            <a:avLst/>
            <a:gdLst/>
            <a:ahLst/>
            <a:cxnLst/>
            <a:rect l="l" t="t" r="r" b="b"/>
            <a:pathLst>
              <a:path w="96520" h="283210">
                <a:moveTo>
                  <a:pt x="0" y="282702"/>
                </a:moveTo>
                <a:lnTo>
                  <a:pt x="0" y="0"/>
                </a:lnTo>
                <a:lnTo>
                  <a:pt x="96011" y="0"/>
                </a:lnTo>
                <a:lnTo>
                  <a:pt x="96011" y="282702"/>
                </a:lnTo>
                <a:lnTo>
                  <a:pt x="0" y="2827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87540" y="2672333"/>
            <a:ext cx="96520" cy="421005"/>
          </a:xfrm>
          <a:custGeom>
            <a:avLst/>
            <a:gdLst/>
            <a:ahLst/>
            <a:cxnLst/>
            <a:rect l="l" t="t" r="r" b="b"/>
            <a:pathLst>
              <a:path w="96520" h="421005">
                <a:moveTo>
                  <a:pt x="0" y="420624"/>
                </a:moveTo>
                <a:lnTo>
                  <a:pt x="0" y="0"/>
                </a:lnTo>
                <a:lnTo>
                  <a:pt x="96011" y="0"/>
                </a:lnTo>
                <a:lnTo>
                  <a:pt x="96011" y="420624"/>
                </a:lnTo>
                <a:lnTo>
                  <a:pt x="0" y="4206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11695" y="2948177"/>
            <a:ext cx="96520" cy="144780"/>
          </a:xfrm>
          <a:custGeom>
            <a:avLst/>
            <a:gdLst/>
            <a:ahLst/>
            <a:cxnLst/>
            <a:rect l="l" t="t" r="r" b="b"/>
            <a:pathLst>
              <a:path w="96520" h="144780">
                <a:moveTo>
                  <a:pt x="0" y="144780"/>
                </a:moveTo>
                <a:lnTo>
                  <a:pt x="0" y="0"/>
                </a:lnTo>
                <a:lnTo>
                  <a:pt x="96011" y="0"/>
                </a:lnTo>
                <a:lnTo>
                  <a:pt x="96011" y="144780"/>
                </a:lnTo>
                <a:lnTo>
                  <a:pt x="0" y="1447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73773" y="3077336"/>
            <a:ext cx="97155" cy="0"/>
          </a:xfrm>
          <a:custGeom>
            <a:avLst/>
            <a:gdLst/>
            <a:ahLst/>
            <a:cxnLst/>
            <a:rect l="l" t="t" r="r" b="b"/>
            <a:pathLst>
              <a:path w="97154">
                <a:moveTo>
                  <a:pt x="0" y="0"/>
                </a:moveTo>
                <a:lnTo>
                  <a:pt x="96774" y="0"/>
                </a:lnTo>
              </a:path>
            </a:pathLst>
          </a:custGeom>
          <a:ln w="3124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89953" y="3130295"/>
            <a:ext cx="591185" cy="0"/>
          </a:xfrm>
          <a:custGeom>
            <a:avLst/>
            <a:gdLst/>
            <a:ahLst/>
            <a:cxnLst/>
            <a:rect l="l" t="t" r="r" b="b"/>
            <a:pathLst>
              <a:path w="591184">
                <a:moveTo>
                  <a:pt x="0" y="0"/>
                </a:moveTo>
                <a:lnTo>
                  <a:pt x="591185" y="0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95034" y="2617089"/>
            <a:ext cx="467359" cy="467359"/>
          </a:xfrm>
          <a:custGeom>
            <a:avLst/>
            <a:gdLst/>
            <a:ahLst/>
            <a:cxnLst/>
            <a:rect l="l" t="t" r="r" b="b"/>
            <a:pathLst>
              <a:path w="467359" h="467360">
                <a:moveTo>
                  <a:pt x="406464" y="47181"/>
                </a:moveTo>
                <a:lnTo>
                  <a:pt x="0" y="453771"/>
                </a:lnTo>
                <a:lnTo>
                  <a:pt x="13462" y="467233"/>
                </a:lnTo>
                <a:lnTo>
                  <a:pt x="419926" y="60643"/>
                </a:lnTo>
                <a:lnTo>
                  <a:pt x="406464" y="47181"/>
                </a:lnTo>
                <a:close/>
              </a:path>
              <a:path w="467359" h="467360">
                <a:moveTo>
                  <a:pt x="454236" y="38226"/>
                </a:moveTo>
                <a:lnTo>
                  <a:pt x="415416" y="38226"/>
                </a:lnTo>
                <a:lnTo>
                  <a:pt x="428879" y="51688"/>
                </a:lnTo>
                <a:lnTo>
                  <a:pt x="419926" y="60643"/>
                </a:lnTo>
                <a:lnTo>
                  <a:pt x="440055" y="80772"/>
                </a:lnTo>
                <a:lnTo>
                  <a:pt x="454236" y="38226"/>
                </a:lnTo>
                <a:close/>
              </a:path>
              <a:path w="467359" h="467360">
                <a:moveTo>
                  <a:pt x="415416" y="38226"/>
                </a:moveTo>
                <a:lnTo>
                  <a:pt x="406464" y="47181"/>
                </a:lnTo>
                <a:lnTo>
                  <a:pt x="419926" y="60643"/>
                </a:lnTo>
                <a:lnTo>
                  <a:pt x="428879" y="51688"/>
                </a:lnTo>
                <a:lnTo>
                  <a:pt x="415416" y="38226"/>
                </a:lnTo>
                <a:close/>
              </a:path>
              <a:path w="467359" h="467360">
                <a:moveTo>
                  <a:pt x="466979" y="0"/>
                </a:moveTo>
                <a:lnTo>
                  <a:pt x="386207" y="26924"/>
                </a:lnTo>
                <a:lnTo>
                  <a:pt x="406464" y="47181"/>
                </a:lnTo>
                <a:lnTo>
                  <a:pt x="415416" y="38226"/>
                </a:lnTo>
                <a:lnTo>
                  <a:pt x="454236" y="38226"/>
                </a:lnTo>
                <a:lnTo>
                  <a:pt x="4669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578727" y="4088510"/>
            <a:ext cx="0" cy="551180"/>
          </a:xfrm>
          <a:custGeom>
            <a:avLst/>
            <a:gdLst/>
            <a:ahLst/>
            <a:cxnLst/>
            <a:rect l="l" t="t" r="r" b="b"/>
            <a:pathLst>
              <a:path h="551179">
                <a:moveTo>
                  <a:pt x="0" y="0"/>
                </a:moveTo>
                <a:lnTo>
                  <a:pt x="0" y="550926"/>
                </a:lnTo>
              </a:path>
            </a:pathLst>
          </a:custGeom>
          <a:ln w="1295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607682" y="4088510"/>
            <a:ext cx="293370" cy="106045"/>
          </a:xfrm>
          <a:custGeom>
            <a:avLst/>
            <a:gdLst/>
            <a:ahLst/>
            <a:cxnLst/>
            <a:rect l="l" t="t" r="r" b="b"/>
            <a:pathLst>
              <a:path w="293370" h="106045">
                <a:moveTo>
                  <a:pt x="240411" y="0"/>
                </a:moveTo>
                <a:lnTo>
                  <a:pt x="0" y="0"/>
                </a:lnTo>
                <a:lnTo>
                  <a:pt x="0" y="105918"/>
                </a:lnTo>
                <a:lnTo>
                  <a:pt x="240411" y="105918"/>
                </a:lnTo>
                <a:lnTo>
                  <a:pt x="293370" y="52958"/>
                </a:lnTo>
                <a:lnTo>
                  <a:pt x="24041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607682" y="4088510"/>
            <a:ext cx="293370" cy="106045"/>
          </a:xfrm>
          <a:custGeom>
            <a:avLst/>
            <a:gdLst/>
            <a:ahLst/>
            <a:cxnLst/>
            <a:rect l="l" t="t" r="r" b="b"/>
            <a:pathLst>
              <a:path w="293370" h="106045">
                <a:moveTo>
                  <a:pt x="0" y="0"/>
                </a:moveTo>
                <a:lnTo>
                  <a:pt x="240411" y="0"/>
                </a:lnTo>
                <a:lnTo>
                  <a:pt x="293370" y="52958"/>
                </a:lnTo>
                <a:lnTo>
                  <a:pt x="240411" y="105918"/>
                </a:lnTo>
                <a:lnTo>
                  <a:pt x="0" y="105918"/>
                </a:lnTo>
                <a:lnTo>
                  <a:pt x="0" y="0"/>
                </a:lnTo>
                <a:close/>
              </a:path>
            </a:pathLst>
          </a:custGeom>
          <a:ln w="2514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790943" y="4223765"/>
            <a:ext cx="318515" cy="2796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49820" y="4532757"/>
            <a:ext cx="245110" cy="106680"/>
          </a:xfrm>
          <a:custGeom>
            <a:avLst/>
            <a:gdLst/>
            <a:ahLst/>
            <a:cxnLst/>
            <a:rect l="l" t="t" r="r" b="b"/>
            <a:pathLst>
              <a:path w="245109" h="106679">
                <a:moveTo>
                  <a:pt x="191261" y="0"/>
                </a:moveTo>
                <a:lnTo>
                  <a:pt x="0" y="0"/>
                </a:lnTo>
                <a:lnTo>
                  <a:pt x="0" y="106680"/>
                </a:lnTo>
                <a:lnTo>
                  <a:pt x="191261" y="106680"/>
                </a:lnTo>
                <a:lnTo>
                  <a:pt x="244601" y="53340"/>
                </a:lnTo>
                <a:lnTo>
                  <a:pt x="1912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49820" y="4532757"/>
            <a:ext cx="245110" cy="106680"/>
          </a:xfrm>
          <a:custGeom>
            <a:avLst/>
            <a:gdLst/>
            <a:ahLst/>
            <a:cxnLst/>
            <a:rect l="l" t="t" r="r" b="b"/>
            <a:pathLst>
              <a:path w="245109" h="106679">
                <a:moveTo>
                  <a:pt x="0" y="0"/>
                </a:moveTo>
                <a:lnTo>
                  <a:pt x="191261" y="0"/>
                </a:lnTo>
                <a:lnTo>
                  <a:pt x="244601" y="53340"/>
                </a:lnTo>
                <a:lnTo>
                  <a:pt x="191261" y="106680"/>
                </a:lnTo>
                <a:lnTo>
                  <a:pt x="0" y="106680"/>
                </a:lnTo>
                <a:lnTo>
                  <a:pt x="0" y="0"/>
                </a:lnTo>
                <a:close/>
              </a:path>
            </a:pathLst>
          </a:custGeom>
          <a:ln w="2514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509259" y="4948428"/>
            <a:ext cx="129539" cy="125730"/>
          </a:xfrm>
          <a:custGeom>
            <a:avLst/>
            <a:gdLst/>
            <a:ahLst/>
            <a:cxnLst/>
            <a:rect l="l" t="t" r="r" b="b"/>
            <a:pathLst>
              <a:path w="129539" h="125729">
                <a:moveTo>
                  <a:pt x="0" y="125730"/>
                </a:moveTo>
                <a:lnTo>
                  <a:pt x="129539" y="125730"/>
                </a:lnTo>
                <a:lnTo>
                  <a:pt x="129539" y="0"/>
                </a:lnTo>
                <a:lnTo>
                  <a:pt x="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551678" y="4899405"/>
            <a:ext cx="145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Wingdings"/>
                <a:cs typeface="Wingdings"/>
              </a:rPr>
              <a:t></a:t>
            </a:r>
            <a:endParaRPr sz="1200">
              <a:latin typeface="Wingdings"/>
              <a:cs typeface="Wingding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799332" y="4588002"/>
            <a:ext cx="604520" cy="0"/>
          </a:xfrm>
          <a:custGeom>
            <a:avLst/>
            <a:gdLst/>
            <a:ahLst/>
            <a:cxnLst/>
            <a:rect l="l" t="t" r="r" b="b"/>
            <a:pathLst>
              <a:path w="604520">
                <a:moveTo>
                  <a:pt x="0" y="0"/>
                </a:moveTo>
                <a:lnTo>
                  <a:pt x="604265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3874770" y="4130802"/>
          <a:ext cx="474979" cy="403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2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827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763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0985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3975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53975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4664202" y="3130295"/>
            <a:ext cx="1617345" cy="1341120"/>
          </a:xfrm>
          <a:custGeom>
            <a:avLst/>
            <a:gdLst/>
            <a:ahLst/>
            <a:cxnLst/>
            <a:rect l="l" t="t" r="r" b="b"/>
            <a:pathLst>
              <a:path w="1617345" h="1341120">
                <a:moveTo>
                  <a:pt x="1209167" y="0"/>
                </a:moveTo>
                <a:lnTo>
                  <a:pt x="407797" y="0"/>
                </a:lnTo>
                <a:lnTo>
                  <a:pt x="0" y="670559"/>
                </a:lnTo>
                <a:lnTo>
                  <a:pt x="407797" y="1341120"/>
                </a:lnTo>
                <a:lnTo>
                  <a:pt x="1209167" y="1341120"/>
                </a:lnTo>
                <a:lnTo>
                  <a:pt x="1616964" y="670559"/>
                </a:lnTo>
                <a:lnTo>
                  <a:pt x="1209167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133847" y="3714750"/>
            <a:ext cx="6597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Beneficios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88458" y="2652014"/>
            <a:ext cx="5988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7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200" spc="-15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act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itud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76491" y="3297935"/>
            <a:ext cx="6051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Eficiencia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51168" y="4698492"/>
            <a:ext cx="699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 marR="5080" indent="-62865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Mejoría</a:t>
            </a:r>
            <a:r>
              <a:rPr sz="1200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de  </a:t>
            </a:r>
            <a:r>
              <a:rPr sz="1200" spc="-90" dirty="0">
                <a:solidFill>
                  <a:srgbClr val="FFFFFF"/>
                </a:solidFill>
                <a:latin typeface="Arial"/>
                <a:cs typeface="Arial"/>
              </a:rPr>
              <a:t>Procesos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869182" y="4702302"/>
            <a:ext cx="483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9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200" spc="-14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lidad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269741" y="2349245"/>
            <a:ext cx="1617345" cy="1341120"/>
          </a:xfrm>
          <a:custGeom>
            <a:avLst/>
            <a:gdLst/>
            <a:ahLst/>
            <a:cxnLst/>
            <a:rect l="l" t="t" r="r" b="b"/>
            <a:pathLst>
              <a:path w="1617345" h="1341120">
                <a:moveTo>
                  <a:pt x="1209167" y="0"/>
                </a:moveTo>
                <a:lnTo>
                  <a:pt x="407797" y="0"/>
                </a:lnTo>
                <a:lnTo>
                  <a:pt x="0" y="670559"/>
                </a:lnTo>
                <a:lnTo>
                  <a:pt x="407797" y="1341120"/>
                </a:lnTo>
                <a:lnTo>
                  <a:pt x="1209167" y="1341120"/>
                </a:lnTo>
                <a:lnTo>
                  <a:pt x="1616964" y="670559"/>
                </a:lnTo>
                <a:lnTo>
                  <a:pt x="1209167" y="0"/>
                </a:lnTo>
                <a:close/>
              </a:path>
            </a:pathLst>
          </a:custGeom>
          <a:solidFill>
            <a:srgbClr val="005E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907535" y="2754629"/>
            <a:ext cx="401955" cy="401955"/>
          </a:xfrm>
          <a:custGeom>
            <a:avLst/>
            <a:gdLst/>
            <a:ahLst/>
            <a:cxnLst/>
            <a:rect l="l" t="t" r="r" b="b"/>
            <a:pathLst>
              <a:path w="401954" h="401955">
                <a:moveTo>
                  <a:pt x="200787" y="0"/>
                </a:moveTo>
                <a:lnTo>
                  <a:pt x="154794" y="5310"/>
                </a:lnTo>
                <a:lnTo>
                  <a:pt x="112550" y="20434"/>
                </a:lnTo>
                <a:lnTo>
                  <a:pt x="75266" y="44157"/>
                </a:lnTo>
                <a:lnTo>
                  <a:pt x="44157" y="75266"/>
                </a:lnTo>
                <a:lnTo>
                  <a:pt x="20434" y="112550"/>
                </a:lnTo>
                <a:lnTo>
                  <a:pt x="5310" y="154794"/>
                </a:lnTo>
                <a:lnTo>
                  <a:pt x="0" y="200787"/>
                </a:lnTo>
                <a:lnTo>
                  <a:pt x="5310" y="246779"/>
                </a:lnTo>
                <a:lnTo>
                  <a:pt x="20434" y="289023"/>
                </a:lnTo>
                <a:lnTo>
                  <a:pt x="44157" y="326307"/>
                </a:lnTo>
                <a:lnTo>
                  <a:pt x="75266" y="357416"/>
                </a:lnTo>
                <a:lnTo>
                  <a:pt x="112550" y="381139"/>
                </a:lnTo>
                <a:lnTo>
                  <a:pt x="154794" y="396263"/>
                </a:lnTo>
                <a:lnTo>
                  <a:pt x="200787" y="401574"/>
                </a:lnTo>
                <a:lnTo>
                  <a:pt x="246779" y="396263"/>
                </a:lnTo>
                <a:lnTo>
                  <a:pt x="289023" y="381139"/>
                </a:lnTo>
                <a:lnTo>
                  <a:pt x="326307" y="357416"/>
                </a:lnTo>
                <a:lnTo>
                  <a:pt x="357416" y="326307"/>
                </a:lnTo>
                <a:lnTo>
                  <a:pt x="381139" y="289023"/>
                </a:lnTo>
                <a:lnTo>
                  <a:pt x="396263" y="246779"/>
                </a:lnTo>
                <a:lnTo>
                  <a:pt x="401574" y="200787"/>
                </a:lnTo>
                <a:lnTo>
                  <a:pt x="200787" y="200787"/>
                </a:lnTo>
                <a:lnTo>
                  <a:pt x="2007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149852" y="2703576"/>
            <a:ext cx="200406" cy="2011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766565" y="3273805"/>
            <a:ext cx="628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85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elocidad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187696" y="4817173"/>
            <a:ext cx="172974" cy="2386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503926" y="4817173"/>
            <a:ext cx="175260" cy="2386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257800" y="4744878"/>
            <a:ext cx="350520" cy="335915"/>
          </a:xfrm>
          <a:custGeom>
            <a:avLst/>
            <a:gdLst/>
            <a:ahLst/>
            <a:cxnLst/>
            <a:rect l="l" t="t" r="r" b="b"/>
            <a:pathLst>
              <a:path w="350520" h="335914">
                <a:moveTo>
                  <a:pt x="243966" y="228568"/>
                </a:moveTo>
                <a:lnTo>
                  <a:pt x="106552" y="228568"/>
                </a:lnTo>
                <a:lnTo>
                  <a:pt x="101346" y="230346"/>
                </a:lnTo>
                <a:lnTo>
                  <a:pt x="96265" y="231997"/>
                </a:lnTo>
                <a:lnTo>
                  <a:pt x="82798" y="237499"/>
                </a:lnTo>
                <a:lnTo>
                  <a:pt x="68722" y="243443"/>
                </a:lnTo>
                <a:lnTo>
                  <a:pt x="54671" y="249695"/>
                </a:lnTo>
                <a:lnTo>
                  <a:pt x="41275" y="256127"/>
                </a:lnTo>
                <a:lnTo>
                  <a:pt x="17398" y="265175"/>
                </a:lnTo>
                <a:lnTo>
                  <a:pt x="7163" y="271664"/>
                </a:lnTo>
                <a:lnTo>
                  <a:pt x="0" y="282035"/>
                </a:lnTo>
                <a:lnTo>
                  <a:pt x="0" y="335375"/>
                </a:lnTo>
                <a:lnTo>
                  <a:pt x="350520" y="335375"/>
                </a:lnTo>
                <a:lnTo>
                  <a:pt x="350242" y="321950"/>
                </a:lnTo>
                <a:lnTo>
                  <a:pt x="349631" y="306752"/>
                </a:lnTo>
                <a:lnTo>
                  <a:pt x="349019" y="292530"/>
                </a:lnTo>
                <a:lnTo>
                  <a:pt x="348741" y="282035"/>
                </a:lnTo>
                <a:lnTo>
                  <a:pt x="342580" y="271664"/>
                </a:lnTo>
                <a:lnTo>
                  <a:pt x="332692" y="265175"/>
                </a:lnTo>
                <a:lnTo>
                  <a:pt x="320542" y="260639"/>
                </a:lnTo>
                <a:lnTo>
                  <a:pt x="307594" y="256127"/>
                </a:lnTo>
                <a:lnTo>
                  <a:pt x="294376" y="249695"/>
                </a:lnTo>
                <a:lnTo>
                  <a:pt x="280717" y="243443"/>
                </a:lnTo>
                <a:lnTo>
                  <a:pt x="266749" y="237499"/>
                </a:lnTo>
                <a:lnTo>
                  <a:pt x="252602" y="231997"/>
                </a:lnTo>
                <a:lnTo>
                  <a:pt x="247396" y="230346"/>
                </a:lnTo>
                <a:lnTo>
                  <a:pt x="243966" y="228568"/>
                </a:lnTo>
                <a:close/>
              </a:path>
              <a:path w="350520" h="335914">
                <a:moveTo>
                  <a:pt x="228473" y="154527"/>
                </a:moveTo>
                <a:lnTo>
                  <a:pt x="115062" y="154527"/>
                </a:lnTo>
                <a:lnTo>
                  <a:pt x="122047" y="156305"/>
                </a:lnTo>
                <a:lnTo>
                  <a:pt x="122304" y="163762"/>
                </a:lnTo>
                <a:lnTo>
                  <a:pt x="123440" y="178057"/>
                </a:lnTo>
                <a:lnTo>
                  <a:pt x="123698" y="185515"/>
                </a:lnTo>
                <a:lnTo>
                  <a:pt x="127126" y="192500"/>
                </a:lnTo>
                <a:lnTo>
                  <a:pt x="132334" y="192500"/>
                </a:lnTo>
                <a:lnTo>
                  <a:pt x="133985" y="201009"/>
                </a:lnTo>
                <a:lnTo>
                  <a:pt x="127126" y="202787"/>
                </a:lnTo>
                <a:lnTo>
                  <a:pt x="123991" y="208994"/>
                </a:lnTo>
                <a:lnTo>
                  <a:pt x="120046" y="216344"/>
                </a:lnTo>
                <a:lnTo>
                  <a:pt x="115768" y="223361"/>
                </a:lnTo>
                <a:lnTo>
                  <a:pt x="111633" y="228568"/>
                </a:lnTo>
                <a:lnTo>
                  <a:pt x="238887" y="228568"/>
                </a:lnTo>
                <a:lnTo>
                  <a:pt x="234001" y="223361"/>
                </a:lnTo>
                <a:lnTo>
                  <a:pt x="229806" y="216344"/>
                </a:lnTo>
                <a:lnTo>
                  <a:pt x="226278" y="208994"/>
                </a:lnTo>
                <a:lnTo>
                  <a:pt x="223392" y="202787"/>
                </a:lnTo>
                <a:lnTo>
                  <a:pt x="216535" y="202787"/>
                </a:lnTo>
                <a:lnTo>
                  <a:pt x="213105" y="201009"/>
                </a:lnTo>
                <a:lnTo>
                  <a:pt x="213105" y="190722"/>
                </a:lnTo>
                <a:lnTo>
                  <a:pt x="219963" y="190722"/>
                </a:lnTo>
                <a:lnTo>
                  <a:pt x="223392" y="182086"/>
                </a:lnTo>
                <a:lnTo>
                  <a:pt x="225044" y="175228"/>
                </a:lnTo>
                <a:lnTo>
                  <a:pt x="223392" y="166592"/>
                </a:lnTo>
                <a:lnTo>
                  <a:pt x="226822" y="159734"/>
                </a:lnTo>
                <a:lnTo>
                  <a:pt x="228473" y="154527"/>
                </a:lnTo>
                <a:close/>
              </a:path>
              <a:path w="350520" h="335914">
                <a:moveTo>
                  <a:pt x="168195" y="0"/>
                </a:moveTo>
                <a:lnTo>
                  <a:pt x="119830" y="19738"/>
                </a:lnTo>
                <a:lnTo>
                  <a:pt x="104776" y="65327"/>
                </a:lnTo>
                <a:lnTo>
                  <a:pt x="108203" y="99409"/>
                </a:lnTo>
                <a:lnTo>
                  <a:pt x="109982" y="106394"/>
                </a:lnTo>
                <a:lnTo>
                  <a:pt x="103124" y="109823"/>
                </a:lnTo>
                <a:lnTo>
                  <a:pt x="103124" y="114903"/>
                </a:lnTo>
                <a:lnTo>
                  <a:pt x="104213" y="124773"/>
                </a:lnTo>
                <a:lnTo>
                  <a:pt x="105648" y="136715"/>
                </a:lnTo>
                <a:lnTo>
                  <a:pt x="108401" y="147669"/>
                </a:lnTo>
                <a:lnTo>
                  <a:pt x="113411" y="154527"/>
                </a:lnTo>
                <a:lnTo>
                  <a:pt x="235458" y="154527"/>
                </a:lnTo>
                <a:lnTo>
                  <a:pt x="237109" y="151098"/>
                </a:lnTo>
                <a:lnTo>
                  <a:pt x="240541" y="147657"/>
                </a:lnTo>
                <a:lnTo>
                  <a:pt x="242315" y="140811"/>
                </a:lnTo>
                <a:lnTo>
                  <a:pt x="242432" y="136715"/>
                </a:lnTo>
                <a:lnTo>
                  <a:pt x="243494" y="130629"/>
                </a:lnTo>
                <a:lnTo>
                  <a:pt x="244221" y="123555"/>
                </a:lnTo>
                <a:lnTo>
                  <a:pt x="243994" y="116504"/>
                </a:lnTo>
                <a:lnTo>
                  <a:pt x="242315" y="109823"/>
                </a:lnTo>
                <a:lnTo>
                  <a:pt x="238887" y="104616"/>
                </a:lnTo>
                <a:lnTo>
                  <a:pt x="237109" y="99409"/>
                </a:lnTo>
                <a:lnTo>
                  <a:pt x="237412" y="91898"/>
                </a:lnTo>
                <a:lnTo>
                  <a:pt x="238204" y="81803"/>
                </a:lnTo>
                <a:lnTo>
                  <a:pt x="239305" y="72352"/>
                </a:lnTo>
                <a:lnTo>
                  <a:pt x="240537" y="66770"/>
                </a:lnTo>
                <a:lnTo>
                  <a:pt x="240252" y="57721"/>
                </a:lnTo>
                <a:lnTo>
                  <a:pt x="226822" y="16732"/>
                </a:lnTo>
                <a:lnTo>
                  <a:pt x="216535" y="15081"/>
                </a:lnTo>
                <a:lnTo>
                  <a:pt x="209676" y="8223"/>
                </a:lnTo>
                <a:lnTo>
                  <a:pt x="188680" y="230"/>
                </a:lnTo>
                <a:lnTo>
                  <a:pt x="1681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994909" y="5260340"/>
            <a:ext cx="900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6845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Control 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y 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Cumpli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ie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200" spc="5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139690" y="1927098"/>
            <a:ext cx="626110" cy="626110"/>
          </a:xfrm>
          <a:custGeom>
            <a:avLst/>
            <a:gdLst/>
            <a:ahLst/>
            <a:cxnLst/>
            <a:rect l="l" t="t" r="r" b="b"/>
            <a:pathLst>
              <a:path w="626110" h="626110">
                <a:moveTo>
                  <a:pt x="312800" y="0"/>
                </a:moveTo>
                <a:lnTo>
                  <a:pt x="266700" y="3403"/>
                </a:lnTo>
                <a:lnTo>
                  <a:pt x="222658" y="13287"/>
                </a:lnTo>
                <a:lnTo>
                  <a:pt x="181167" y="29160"/>
                </a:lnTo>
                <a:lnTo>
                  <a:pt x="142717" y="50531"/>
                </a:lnTo>
                <a:lnTo>
                  <a:pt x="107800" y="76908"/>
                </a:lnTo>
                <a:lnTo>
                  <a:pt x="76908" y="107800"/>
                </a:lnTo>
                <a:lnTo>
                  <a:pt x="50531" y="142717"/>
                </a:lnTo>
                <a:lnTo>
                  <a:pt x="29160" y="181167"/>
                </a:lnTo>
                <a:lnTo>
                  <a:pt x="13287" y="222658"/>
                </a:lnTo>
                <a:lnTo>
                  <a:pt x="3403" y="266700"/>
                </a:lnTo>
                <a:lnTo>
                  <a:pt x="0" y="312800"/>
                </a:lnTo>
                <a:lnTo>
                  <a:pt x="3403" y="359073"/>
                </a:lnTo>
                <a:lnTo>
                  <a:pt x="13287" y="403221"/>
                </a:lnTo>
                <a:lnTo>
                  <a:pt x="29160" y="444764"/>
                </a:lnTo>
                <a:lnTo>
                  <a:pt x="50531" y="483221"/>
                </a:lnTo>
                <a:lnTo>
                  <a:pt x="76908" y="518110"/>
                </a:lnTo>
                <a:lnTo>
                  <a:pt x="107800" y="548951"/>
                </a:lnTo>
                <a:lnTo>
                  <a:pt x="142717" y="575263"/>
                </a:lnTo>
                <a:lnTo>
                  <a:pt x="181167" y="596564"/>
                </a:lnTo>
                <a:lnTo>
                  <a:pt x="222658" y="612376"/>
                </a:lnTo>
                <a:lnTo>
                  <a:pt x="266700" y="622215"/>
                </a:lnTo>
                <a:lnTo>
                  <a:pt x="312800" y="625601"/>
                </a:lnTo>
                <a:lnTo>
                  <a:pt x="359073" y="622215"/>
                </a:lnTo>
                <a:lnTo>
                  <a:pt x="403221" y="612376"/>
                </a:lnTo>
                <a:lnTo>
                  <a:pt x="444764" y="596564"/>
                </a:lnTo>
                <a:lnTo>
                  <a:pt x="473048" y="580898"/>
                </a:lnTo>
                <a:lnTo>
                  <a:pt x="312800" y="580898"/>
                </a:lnTo>
                <a:lnTo>
                  <a:pt x="264706" y="576587"/>
                </a:lnTo>
                <a:lnTo>
                  <a:pt x="219400" y="564156"/>
                </a:lnTo>
                <a:lnTo>
                  <a:pt x="177649" y="544354"/>
                </a:lnTo>
                <a:lnTo>
                  <a:pt x="140219" y="517933"/>
                </a:lnTo>
                <a:lnTo>
                  <a:pt x="107877" y="485643"/>
                </a:lnTo>
                <a:lnTo>
                  <a:pt x="81388" y="448234"/>
                </a:lnTo>
                <a:lnTo>
                  <a:pt x="61518" y="406457"/>
                </a:lnTo>
                <a:lnTo>
                  <a:pt x="49035" y="361062"/>
                </a:lnTo>
                <a:lnTo>
                  <a:pt x="44704" y="312800"/>
                </a:lnTo>
                <a:lnTo>
                  <a:pt x="49035" y="264706"/>
                </a:lnTo>
                <a:lnTo>
                  <a:pt x="61518" y="219400"/>
                </a:lnTo>
                <a:lnTo>
                  <a:pt x="81388" y="177649"/>
                </a:lnTo>
                <a:lnTo>
                  <a:pt x="107877" y="140219"/>
                </a:lnTo>
                <a:lnTo>
                  <a:pt x="140219" y="107877"/>
                </a:lnTo>
                <a:lnTo>
                  <a:pt x="177649" y="81388"/>
                </a:lnTo>
                <a:lnTo>
                  <a:pt x="219400" y="61518"/>
                </a:lnTo>
                <a:lnTo>
                  <a:pt x="264706" y="49035"/>
                </a:lnTo>
                <a:lnTo>
                  <a:pt x="312800" y="44703"/>
                </a:lnTo>
                <a:lnTo>
                  <a:pt x="472734" y="44703"/>
                </a:lnTo>
                <a:lnTo>
                  <a:pt x="444764" y="29160"/>
                </a:lnTo>
                <a:lnTo>
                  <a:pt x="403221" y="13287"/>
                </a:lnTo>
                <a:lnTo>
                  <a:pt x="359073" y="3403"/>
                </a:lnTo>
                <a:lnTo>
                  <a:pt x="312800" y="0"/>
                </a:lnTo>
                <a:close/>
              </a:path>
              <a:path w="626110" h="626110">
                <a:moveTo>
                  <a:pt x="472734" y="44703"/>
                </a:moveTo>
                <a:lnTo>
                  <a:pt x="312800" y="44703"/>
                </a:lnTo>
                <a:lnTo>
                  <a:pt x="361062" y="49035"/>
                </a:lnTo>
                <a:lnTo>
                  <a:pt x="406457" y="61518"/>
                </a:lnTo>
                <a:lnTo>
                  <a:pt x="448234" y="81388"/>
                </a:lnTo>
                <a:lnTo>
                  <a:pt x="485643" y="107877"/>
                </a:lnTo>
                <a:lnTo>
                  <a:pt x="517933" y="140219"/>
                </a:lnTo>
                <a:lnTo>
                  <a:pt x="544354" y="177649"/>
                </a:lnTo>
                <a:lnTo>
                  <a:pt x="564156" y="219400"/>
                </a:lnTo>
                <a:lnTo>
                  <a:pt x="576587" y="264706"/>
                </a:lnTo>
                <a:lnTo>
                  <a:pt x="580898" y="312800"/>
                </a:lnTo>
                <a:lnTo>
                  <a:pt x="576587" y="361062"/>
                </a:lnTo>
                <a:lnTo>
                  <a:pt x="564156" y="406457"/>
                </a:lnTo>
                <a:lnTo>
                  <a:pt x="544354" y="448234"/>
                </a:lnTo>
                <a:lnTo>
                  <a:pt x="517933" y="485643"/>
                </a:lnTo>
                <a:lnTo>
                  <a:pt x="485643" y="517933"/>
                </a:lnTo>
                <a:lnTo>
                  <a:pt x="448234" y="544354"/>
                </a:lnTo>
                <a:lnTo>
                  <a:pt x="406457" y="564156"/>
                </a:lnTo>
                <a:lnTo>
                  <a:pt x="361062" y="576587"/>
                </a:lnTo>
                <a:lnTo>
                  <a:pt x="312800" y="580898"/>
                </a:lnTo>
                <a:lnTo>
                  <a:pt x="473048" y="580898"/>
                </a:lnTo>
                <a:lnTo>
                  <a:pt x="518110" y="548951"/>
                </a:lnTo>
                <a:lnTo>
                  <a:pt x="548951" y="518110"/>
                </a:lnTo>
                <a:lnTo>
                  <a:pt x="575263" y="483221"/>
                </a:lnTo>
                <a:lnTo>
                  <a:pt x="596564" y="444764"/>
                </a:lnTo>
                <a:lnTo>
                  <a:pt x="612376" y="403221"/>
                </a:lnTo>
                <a:lnTo>
                  <a:pt x="622215" y="359073"/>
                </a:lnTo>
                <a:lnTo>
                  <a:pt x="625601" y="312800"/>
                </a:lnTo>
                <a:lnTo>
                  <a:pt x="622215" y="266700"/>
                </a:lnTo>
                <a:lnTo>
                  <a:pt x="612376" y="222658"/>
                </a:lnTo>
                <a:lnTo>
                  <a:pt x="596564" y="181167"/>
                </a:lnTo>
                <a:lnTo>
                  <a:pt x="575263" y="142717"/>
                </a:lnTo>
                <a:lnTo>
                  <a:pt x="548951" y="107800"/>
                </a:lnTo>
                <a:lnTo>
                  <a:pt x="518110" y="76908"/>
                </a:lnTo>
                <a:lnTo>
                  <a:pt x="483221" y="50531"/>
                </a:lnTo>
                <a:lnTo>
                  <a:pt x="472734" y="447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228844" y="2016251"/>
            <a:ext cx="447675" cy="447040"/>
          </a:xfrm>
          <a:custGeom>
            <a:avLst/>
            <a:gdLst/>
            <a:ahLst/>
            <a:cxnLst/>
            <a:rect l="l" t="t" r="r" b="b"/>
            <a:pathLst>
              <a:path w="447675" h="447039">
                <a:moveTo>
                  <a:pt x="223646" y="0"/>
                </a:moveTo>
                <a:lnTo>
                  <a:pt x="178668" y="4551"/>
                </a:lnTo>
                <a:lnTo>
                  <a:pt x="136731" y="17597"/>
                </a:lnTo>
                <a:lnTo>
                  <a:pt x="98747" y="38227"/>
                </a:lnTo>
                <a:lnTo>
                  <a:pt x="65627" y="65532"/>
                </a:lnTo>
                <a:lnTo>
                  <a:pt x="38281" y="98598"/>
                </a:lnTo>
                <a:lnTo>
                  <a:pt x="17621" y="136517"/>
                </a:lnTo>
                <a:lnTo>
                  <a:pt x="4556" y="178386"/>
                </a:lnTo>
                <a:lnTo>
                  <a:pt x="0" y="223265"/>
                </a:lnTo>
                <a:lnTo>
                  <a:pt x="4557" y="268337"/>
                </a:lnTo>
                <a:lnTo>
                  <a:pt x="17621" y="310282"/>
                </a:lnTo>
                <a:lnTo>
                  <a:pt x="38281" y="348212"/>
                </a:lnTo>
                <a:lnTo>
                  <a:pt x="65627" y="381238"/>
                </a:lnTo>
                <a:lnTo>
                  <a:pt x="98747" y="408471"/>
                </a:lnTo>
                <a:lnTo>
                  <a:pt x="136731" y="429023"/>
                </a:lnTo>
                <a:lnTo>
                  <a:pt x="178668" y="442006"/>
                </a:lnTo>
                <a:lnTo>
                  <a:pt x="223646" y="446532"/>
                </a:lnTo>
                <a:lnTo>
                  <a:pt x="268808" y="442006"/>
                </a:lnTo>
                <a:lnTo>
                  <a:pt x="310830" y="429023"/>
                </a:lnTo>
                <a:lnTo>
                  <a:pt x="348825" y="408471"/>
                </a:lnTo>
                <a:lnTo>
                  <a:pt x="367847" y="392811"/>
                </a:lnTo>
                <a:lnTo>
                  <a:pt x="223646" y="392811"/>
                </a:lnTo>
                <a:lnTo>
                  <a:pt x="178657" y="386769"/>
                </a:lnTo>
                <a:lnTo>
                  <a:pt x="138138" y="369711"/>
                </a:lnTo>
                <a:lnTo>
                  <a:pt x="103743" y="343233"/>
                </a:lnTo>
                <a:lnTo>
                  <a:pt x="77126" y="308934"/>
                </a:lnTo>
                <a:lnTo>
                  <a:pt x="59943" y="268412"/>
                </a:lnTo>
                <a:lnTo>
                  <a:pt x="53847" y="223265"/>
                </a:lnTo>
                <a:lnTo>
                  <a:pt x="59947" y="178376"/>
                </a:lnTo>
                <a:lnTo>
                  <a:pt x="77126" y="138044"/>
                </a:lnTo>
                <a:lnTo>
                  <a:pt x="103743" y="103854"/>
                </a:lnTo>
                <a:lnTo>
                  <a:pt x="138138" y="77432"/>
                </a:lnTo>
                <a:lnTo>
                  <a:pt x="178657" y="60394"/>
                </a:lnTo>
                <a:lnTo>
                  <a:pt x="223646" y="54356"/>
                </a:lnTo>
                <a:lnTo>
                  <a:pt x="368364" y="54356"/>
                </a:lnTo>
                <a:lnTo>
                  <a:pt x="348825" y="38227"/>
                </a:lnTo>
                <a:lnTo>
                  <a:pt x="310830" y="17597"/>
                </a:lnTo>
                <a:lnTo>
                  <a:pt x="268808" y="4551"/>
                </a:lnTo>
                <a:lnTo>
                  <a:pt x="223646" y="0"/>
                </a:lnTo>
                <a:close/>
              </a:path>
              <a:path w="447675" h="447039">
                <a:moveTo>
                  <a:pt x="368364" y="54356"/>
                </a:moveTo>
                <a:lnTo>
                  <a:pt x="223646" y="54356"/>
                </a:lnTo>
                <a:lnTo>
                  <a:pt x="268856" y="60394"/>
                </a:lnTo>
                <a:lnTo>
                  <a:pt x="309437" y="77432"/>
                </a:lnTo>
                <a:lnTo>
                  <a:pt x="343789" y="103854"/>
                </a:lnTo>
                <a:lnTo>
                  <a:pt x="370308" y="138044"/>
                </a:lnTo>
                <a:lnTo>
                  <a:pt x="387394" y="178386"/>
                </a:lnTo>
                <a:lnTo>
                  <a:pt x="393445" y="223265"/>
                </a:lnTo>
                <a:lnTo>
                  <a:pt x="387394" y="268412"/>
                </a:lnTo>
                <a:lnTo>
                  <a:pt x="370308" y="308934"/>
                </a:lnTo>
                <a:lnTo>
                  <a:pt x="343788" y="343233"/>
                </a:lnTo>
                <a:lnTo>
                  <a:pt x="309437" y="369711"/>
                </a:lnTo>
                <a:lnTo>
                  <a:pt x="268856" y="386769"/>
                </a:lnTo>
                <a:lnTo>
                  <a:pt x="223646" y="392811"/>
                </a:lnTo>
                <a:lnTo>
                  <a:pt x="367847" y="392811"/>
                </a:lnTo>
                <a:lnTo>
                  <a:pt x="409179" y="348212"/>
                </a:lnTo>
                <a:lnTo>
                  <a:pt x="429762" y="310282"/>
                </a:lnTo>
                <a:lnTo>
                  <a:pt x="442762" y="268337"/>
                </a:lnTo>
                <a:lnTo>
                  <a:pt x="447293" y="223265"/>
                </a:lnTo>
                <a:lnTo>
                  <a:pt x="442762" y="178376"/>
                </a:lnTo>
                <a:lnTo>
                  <a:pt x="429762" y="136517"/>
                </a:lnTo>
                <a:lnTo>
                  <a:pt x="409179" y="98598"/>
                </a:lnTo>
                <a:lnTo>
                  <a:pt x="381904" y="65532"/>
                </a:lnTo>
                <a:lnTo>
                  <a:pt x="368364" y="543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953761" y="1956816"/>
            <a:ext cx="488950" cy="300355"/>
          </a:xfrm>
          <a:custGeom>
            <a:avLst/>
            <a:gdLst/>
            <a:ahLst/>
            <a:cxnLst/>
            <a:rect l="l" t="t" r="r" b="b"/>
            <a:pathLst>
              <a:path w="488950" h="300355">
                <a:moveTo>
                  <a:pt x="24637" y="0"/>
                </a:moveTo>
                <a:lnTo>
                  <a:pt x="0" y="41910"/>
                </a:lnTo>
                <a:lnTo>
                  <a:pt x="488441" y="300228"/>
                </a:lnTo>
                <a:lnTo>
                  <a:pt x="246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995671" y="1971294"/>
            <a:ext cx="134874" cy="11125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385053" y="2198370"/>
            <a:ext cx="93980" cy="70485"/>
          </a:xfrm>
          <a:custGeom>
            <a:avLst/>
            <a:gdLst/>
            <a:ahLst/>
            <a:cxnLst/>
            <a:rect l="l" t="t" r="r" b="b"/>
            <a:pathLst>
              <a:path w="93979" h="70485">
                <a:moveTo>
                  <a:pt x="39624" y="0"/>
                </a:moveTo>
                <a:lnTo>
                  <a:pt x="23875" y="35432"/>
                </a:lnTo>
                <a:lnTo>
                  <a:pt x="0" y="67055"/>
                </a:lnTo>
                <a:lnTo>
                  <a:pt x="93725" y="70103"/>
                </a:lnTo>
                <a:lnTo>
                  <a:pt x="39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1897126" y="3981195"/>
            <a:ext cx="1283335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8309" marR="5080" indent="135890" algn="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338D"/>
                </a:solidFill>
                <a:latin typeface="Arial"/>
                <a:cs typeface="Arial"/>
              </a:rPr>
              <a:t>—</a:t>
            </a:r>
            <a:r>
              <a:rPr sz="1200" spc="-1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00338D"/>
                </a:solidFill>
                <a:latin typeface="Arial"/>
                <a:cs typeface="Arial"/>
              </a:rPr>
              <a:t>Detecta </a:t>
            </a:r>
            <a:r>
              <a:rPr sz="1200" spc="-5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00338D"/>
                </a:solidFill>
                <a:latin typeface="Arial"/>
                <a:cs typeface="Arial"/>
              </a:rPr>
              <a:t>integridad</a:t>
            </a:r>
            <a:r>
              <a:rPr sz="1200" spc="-1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00338D"/>
                </a:solidFill>
                <a:latin typeface="Arial"/>
                <a:cs typeface="Arial"/>
              </a:rPr>
              <a:t>de</a:t>
            </a:r>
            <a:endParaRPr sz="12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1200" spc="-70" dirty="0">
                <a:solidFill>
                  <a:srgbClr val="00338D"/>
                </a:solidFill>
                <a:latin typeface="Arial"/>
                <a:cs typeface="Arial"/>
              </a:rPr>
              <a:t>d</a:t>
            </a:r>
            <a:r>
              <a:rPr sz="1200" spc="-80" dirty="0">
                <a:solidFill>
                  <a:srgbClr val="00338D"/>
                </a:solidFill>
                <a:latin typeface="Arial"/>
                <a:cs typeface="Arial"/>
              </a:rPr>
              <a:t>a</a:t>
            </a:r>
            <a:r>
              <a:rPr sz="1200" spc="50" dirty="0">
                <a:solidFill>
                  <a:srgbClr val="00338D"/>
                </a:solidFill>
                <a:latin typeface="Arial"/>
                <a:cs typeface="Arial"/>
              </a:rPr>
              <a:t>t</a:t>
            </a:r>
            <a:r>
              <a:rPr sz="1200" spc="-90" dirty="0">
                <a:solidFill>
                  <a:srgbClr val="00338D"/>
                </a:solidFill>
                <a:latin typeface="Arial"/>
                <a:cs typeface="Arial"/>
              </a:rPr>
              <a:t>os</a:t>
            </a:r>
            <a:endParaRPr sz="12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300"/>
              </a:spcBef>
            </a:pPr>
            <a:r>
              <a:rPr sz="1200" dirty="0">
                <a:solidFill>
                  <a:srgbClr val="00338D"/>
                </a:solidFill>
                <a:latin typeface="Arial"/>
                <a:cs typeface="Arial"/>
              </a:rPr>
              <a:t>— </a:t>
            </a:r>
            <a:r>
              <a:rPr sz="1200" spc="-40" dirty="0">
                <a:solidFill>
                  <a:srgbClr val="00338D"/>
                </a:solidFill>
                <a:latin typeface="Arial"/>
                <a:cs typeface="Arial"/>
              </a:rPr>
              <a:t>Anticipa</a:t>
            </a:r>
            <a:r>
              <a:rPr sz="1200" spc="-7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00338D"/>
                </a:solidFill>
                <a:latin typeface="Arial"/>
                <a:cs typeface="Arial"/>
              </a:rPr>
              <a:t>solución</a:t>
            </a:r>
            <a:endParaRPr sz="1200">
              <a:latin typeface="Arial"/>
              <a:cs typeface="Arial"/>
            </a:endParaRPr>
          </a:p>
          <a:p>
            <a:pPr marR="6350" algn="r">
              <a:lnSpc>
                <a:spcPct val="100000"/>
              </a:lnSpc>
            </a:pPr>
            <a:r>
              <a:rPr sz="1200" spc="-60" dirty="0">
                <a:solidFill>
                  <a:srgbClr val="00338D"/>
                </a:solidFill>
                <a:latin typeface="Arial"/>
                <a:cs typeface="Arial"/>
              </a:rPr>
              <a:t>de</a:t>
            </a:r>
            <a:r>
              <a:rPr sz="1200" spc="-14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00338D"/>
                </a:solidFill>
                <a:latin typeface="Arial"/>
                <a:cs typeface="Arial"/>
              </a:rPr>
              <a:t>problemas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45</a:t>
            </a:fld>
            <a:endParaRPr spc="-5" dirty="0"/>
          </a:p>
        </p:txBody>
      </p:sp>
      <p:sp>
        <p:nvSpPr>
          <p:cNvPr id="45" name="object 45"/>
          <p:cNvSpPr txBox="1"/>
          <p:nvPr/>
        </p:nvSpPr>
        <p:spPr>
          <a:xfrm>
            <a:off x="3737355" y="5416803"/>
            <a:ext cx="883919" cy="978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338D"/>
                </a:solidFill>
                <a:latin typeface="Arial"/>
                <a:cs typeface="Arial"/>
              </a:rPr>
              <a:t>—</a:t>
            </a:r>
            <a:r>
              <a:rPr sz="1200" spc="-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00338D"/>
                </a:solidFill>
                <a:latin typeface="Arial"/>
                <a:cs typeface="Arial"/>
              </a:rPr>
              <a:t>Monitorea</a:t>
            </a:r>
            <a:endParaRPr sz="1200">
              <a:latin typeface="Arial"/>
              <a:cs typeface="Arial"/>
            </a:endParaRPr>
          </a:p>
          <a:p>
            <a:pPr marL="313690">
              <a:lnSpc>
                <a:spcPct val="100000"/>
              </a:lnSpc>
            </a:pPr>
            <a:r>
              <a:rPr sz="1200" spc="-55" dirty="0">
                <a:solidFill>
                  <a:srgbClr val="00338D"/>
                </a:solidFill>
                <a:latin typeface="Arial"/>
                <a:cs typeface="Arial"/>
              </a:rPr>
              <a:t>e</a:t>
            </a:r>
            <a:r>
              <a:rPr sz="1200" spc="-65" dirty="0">
                <a:solidFill>
                  <a:srgbClr val="00338D"/>
                </a:solidFill>
                <a:latin typeface="Arial"/>
                <a:cs typeface="Arial"/>
              </a:rPr>
              <a:t>n</a:t>
            </a:r>
            <a:r>
              <a:rPr sz="1200" spc="50" dirty="0">
                <a:solidFill>
                  <a:srgbClr val="00338D"/>
                </a:solidFill>
                <a:latin typeface="Arial"/>
                <a:cs typeface="Arial"/>
              </a:rPr>
              <a:t>t</a:t>
            </a:r>
            <a:r>
              <a:rPr sz="1200" spc="-30" dirty="0">
                <a:solidFill>
                  <a:srgbClr val="00338D"/>
                </a:solidFill>
                <a:latin typeface="Arial"/>
                <a:cs typeface="Arial"/>
              </a:rPr>
              <a:t>orno</a:t>
            </a:r>
            <a:r>
              <a:rPr sz="1200" spc="-135" dirty="0">
                <a:solidFill>
                  <a:srgbClr val="00338D"/>
                </a:solidFill>
                <a:latin typeface="Arial"/>
                <a:cs typeface="Arial"/>
              </a:rPr>
              <a:t>s</a:t>
            </a:r>
            <a:endParaRPr sz="1200">
              <a:latin typeface="Arial"/>
              <a:cs typeface="Arial"/>
            </a:endParaRPr>
          </a:p>
          <a:p>
            <a:pPr marL="173990" marR="5080" indent="-106680" algn="just">
              <a:lnSpc>
                <a:spcPct val="100000"/>
              </a:lnSpc>
              <a:spcBef>
                <a:spcPts val="300"/>
              </a:spcBef>
            </a:pPr>
            <a:r>
              <a:rPr sz="1200" dirty="0">
                <a:solidFill>
                  <a:srgbClr val="00338D"/>
                </a:solidFill>
                <a:latin typeface="Arial"/>
                <a:cs typeface="Arial"/>
              </a:rPr>
              <a:t>— </a:t>
            </a:r>
            <a:r>
              <a:rPr sz="1200" spc="-30" dirty="0">
                <a:solidFill>
                  <a:srgbClr val="00338D"/>
                </a:solidFill>
                <a:latin typeface="Arial"/>
                <a:cs typeface="Arial"/>
              </a:rPr>
              <a:t>Mantiene  </a:t>
            </a:r>
            <a:r>
              <a:rPr sz="1200" spc="-35" dirty="0">
                <a:solidFill>
                  <a:srgbClr val="00338D"/>
                </a:solidFill>
                <a:latin typeface="Arial"/>
                <a:cs typeface="Arial"/>
              </a:rPr>
              <a:t>registro </a:t>
            </a:r>
            <a:r>
              <a:rPr sz="1200" spc="-60" dirty="0">
                <a:solidFill>
                  <a:srgbClr val="00338D"/>
                </a:solidFill>
                <a:latin typeface="Arial"/>
                <a:cs typeface="Arial"/>
              </a:rPr>
              <a:t>de  </a:t>
            </a:r>
            <a:r>
              <a:rPr sz="1200" spc="-40" dirty="0">
                <a:solidFill>
                  <a:srgbClr val="00338D"/>
                </a:solidFill>
                <a:latin typeface="Arial"/>
                <a:cs typeface="Arial"/>
              </a:rPr>
              <a:t>act</a:t>
            </a:r>
            <a:r>
              <a:rPr sz="1200" spc="-55" dirty="0">
                <a:solidFill>
                  <a:srgbClr val="00338D"/>
                </a:solidFill>
                <a:latin typeface="Arial"/>
                <a:cs typeface="Arial"/>
              </a:rPr>
              <a:t>ividades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309105" y="1549400"/>
            <a:ext cx="1031240" cy="795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265" marR="5080" indent="-202565">
              <a:lnSpc>
                <a:spcPct val="100000"/>
              </a:lnSpc>
              <a:spcBef>
                <a:spcPts val="100"/>
              </a:spcBef>
              <a:buChar char="—"/>
              <a:tabLst>
                <a:tab pos="215900" algn="l"/>
              </a:tabLst>
            </a:pPr>
            <a:r>
              <a:rPr sz="1200" spc="-55" dirty="0">
                <a:solidFill>
                  <a:srgbClr val="00338D"/>
                </a:solidFill>
                <a:latin typeface="Arial"/>
                <a:cs typeface="Arial"/>
              </a:rPr>
              <a:t>Elimina</a:t>
            </a:r>
            <a:r>
              <a:rPr sz="1200" spc="-1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00338D"/>
                </a:solidFill>
                <a:latin typeface="Arial"/>
                <a:cs typeface="Arial"/>
              </a:rPr>
              <a:t>error  </a:t>
            </a:r>
            <a:r>
              <a:rPr sz="1200" spc="-55" dirty="0">
                <a:solidFill>
                  <a:srgbClr val="00338D"/>
                </a:solidFill>
                <a:latin typeface="Arial"/>
                <a:cs typeface="Arial"/>
              </a:rPr>
              <a:t>humano</a:t>
            </a:r>
            <a:endParaRPr sz="1200">
              <a:latin typeface="Arial"/>
              <a:cs typeface="Arial"/>
            </a:endParaRPr>
          </a:p>
          <a:p>
            <a:pPr marL="215265" marR="55880" indent="-202565">
              <a:lnSpc>
                <a:spcPct val="100000"/>
              </a:lnSpc>
              <a:spcBef>
                <a:spcPts val="300"/>
              </a:spcBef>
              <a:buChar char="—"/>
              <a:tabLst>
                <a:tab pos="215900" algn="l"/>
              </a:tabLst>
            </a:pPr>
            <a:r>
              <a:rPr sz="1200" spc="-55" dirty="0">
                <a:solidFill>
                  <a:srgbClr val="00338D"/>
                </a:solidFill>
                <a:latin typeface="Arial"/>
                <a:cs typeface="Arial"/>
              </a:rPr>
              <a:t>Detecta  </a:t>
            </a:r>
            <a:r>
              <a:rPr sz="1200" spc="-95" dirty="0">
                <a:solidFill>
                  <a:srgbClr val="00338D"/>
                </a:solidFill>
                <a:latin typeface="Arial"/>
                <a:cs typeface="Arial"/>
              </a:rPr>
              <a:t>e</a:t>
            </a:r>
            <a:r>
              <a:rPr sz="1200" spc="-114" dirty="0">
                <a:solidFill>
                  <a:srgbClr val="00338D"/>
                </a:solidFill>
                <a:latin typeface="Arial"/>
                <a:cs typeface="Arial"/>
              </a:rPr>
              <a:t>x</a:t>
            </a:r>
            <a:r>
              <a:rPr sz="1200" spc="-85" dirty="0">
                <a:solidFill>
                  <a:srgbClr val="00338D"/>
                </a:solidFill>
                <a:latin typeface="Arial"/>
                <a:cs typeface="Arial"/>
              </a:rPr>
              <a:t>ce</a:t>
            </a:r>
            <a:r>
              <a:rPr sz="1200" spc="-65" dirty="0">
                <a:solidFill>
                  <a:srgbClr val="00338D"/>
                </a:solidFill>
                <a:latin typeface="Arial"/>
                <a:cs typeface="Arial"/>
              </a:rPr>
              <a:t>pciones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680959" y="4565904"/>
            <a:ext cx="1196975" cy="795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265" indent="-202565">
              <a:lnSpc>
                <a:spcPct val="100000"/>
              </a:lnSpc>
              <a:spcBef>
                <a:spcPts val="100"/>
              </a:spcBef>
              <a:buChar char="—"/>
              <a:tabLst>
                <a:tab pos="215900" algn="l"/>
              </a:tabLst>
            </a:pPr>
            <a:r>
              <a:rPr sz="1200" spc="-55" dirty="0">
                <a:solidFill>
                  <a:srgbClr val="00338D"/>
                </a:solidFill>
                <a:latin typeface="Arial"/>
                <a:cs typeface="Arial"/>
              </a:rPr>
              <a:t>Facilita</a:t>
            </a:r>
            <a:endParaRPr sz="1200">
              <a:latin typeface="Arial"/>
              <a:cs typeface="Arial"/>
            </a:endParaRPr>
          </a:p>
          <a:p>
            <a:pPr marL="215265">
              <a:lnSpc>
                <a:spcPct val="100000"/>
              </a:lnSpc>
            </a:pPr>
            <a:r>
              <a:rPr sz="1200" spc="-55" dirty="0">
                <a:solidFill>
                  <a:srgbClr val="00338D"/>
                </a:solidFill>
                <a:latin typeface="Arial"/>
                <a:cs typeface="Arial"/>
              </a:rPr>
              <a:t>estandarización</a:t>
            </a:r>
            <a:endParaRPr sz="1200">
              <a:latin typeface="Arial"/>
              <a:cs typeface="Arial"/>
            </a:endParaRPr>
          </a:p>
          <a:p>
            <a:pPr marL="215265" marR="112395" indent="-202565">
              <a:lnSpc>
                <a:spcPct val="100000"/>
              </a:lnSpc>
              <a:spcBef>
                <a:spcPts val="300"/>
              </a:spcBef>
              <a:buChar char="—"/>
              <a:tabLst>
                <a:tab pos="215900" algn="l"/>
              </a:tabLst>
            </a:pPr>
            <a:r>
              <a:rPr sz="1200" spc="-40" dirty="0">
                <a:solidFill>
                  <a:srgbClr val="00338D"/>
                </a:solidFill>
                <a:latin typeface="Arial"/>
                <a:cs typeface="Arial"/>
              </a:rPr>
              <a:t>Visibilidad </a:t>
            </a:r>
            <a:r>
              <a:rPr sz="1200" spc="-60" dirty="0">
                <a:solidFill>
                  <a:srgbClr val="00338D"/>
                </a:solidFill>
                <a:latin typeface="Arial"/>
                <a:cs typeface="Arial"/>
              </a:rPr>
              <a:t>y  </a:t>
            </a:r>
            <a:r>
              <a:rPr sz="1200" spc="-225" dirty="0">
                <a:solidFill>
                  <a:srgbClr val="00338D"/>
                </a:solidFill>
                <a:latin typeface="Arial"/>
                <a:cs typeface="Arial"/>
              </a:rPr>
              <a:t>T</a:t>
            </a:r>
            <a:r>
              <a:rPr sz="1200" spc="-10" dirty="0">
                <a:solidFill>
                  <a:srgbClr val="00338D"/>
                </a:solidFill>
                <a:latin typeface="Arial"/>
                <a:cs typeface="Arial"/>
              </a:rPr>
              <a:t>r</a:t>
            </a:r>
            <a:r>
              <a:rPr sz="1200" spc="-70" dirty="0">
                <a:solidFill>
                  <a:srgbClr val="00338D"/>
                </a:solidFill>
                <a:latin typeface="Arial"/>
                <a:cs typeface="Arial"/>
              </a:rPr>
              <a:t>anspa</a:t>
            </a:r>
            <a:r>
              <a:rPr sz="1200" spc="-65" dirty="0">
                <a:solidFill>
                  <a:srgbClr val="00338D"/>
                </a:solidFill>
                <a:latin typeface="Arial"/>
                <a:cs typeface="Arial"/>
              </a:rPr>
              <a:t>r</a:t>
            </a:r>
            <a:r>
              <a:rPr sz="1200" spc="-70" dirty="0">
                <a:solidFill>
                  <a:srgbClr val="00338D"/>
                </a:solidFill>
                <a:latin typeface="Arial"/>
                <a:cs typeface="Arial"/>
              </a:rPr>
              <a:t>enc</a:t>
            </a:r>
            <a:r>
              <a:rPr sz="1200" spc="-45" dirty="0">
                <a:solidFill>
                  <a:srgbClr val="00338D"/>
                </a:solidFill>
                <a:latin typeface="Arial"/>
                <a:cs typeface="Arial"/>
              </a:rPr>
              <a:t>ia</a:t>
            </a:r>
            <a:endParaRPr sz="12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757159" y="2806953"/>
            <a:ext cx="1161415" cy="833119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15265" indent="-202565">
              <a:lnSpc>
                <a:spcPct val="100000"/>
              </a:lnSpc>
              <a:spcBef>
                <a:spcPts val="400"/>
              </a:spcBef>
              <a:buChar char="—"/>
              <a:tabLst>
                <a:tab pos="215900" algn="l"/>
              </a:tabLst>
            </a:pPr>
            <a:r>
              <a:rPr sz="1200" spc="-95" dirty="0">
                <a:solidFill>
                  <a:srgbClr val="00338D"/>
                </a:solidFill>
                <a:latin typeface="Arial"/>
                <a:cs typeface="Arial"/>
              </a:rPr>
              <a:t>Reduce</a:t>
            </a:r>
            <a:r>
              <a:rPr sz="1200" spc="-8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200" spc="-175" dirty="0">
                <a:solidFill>
                  <a:srgbClr val="00338D"/>
                </a:solidFill>
                <a:latin typeface="Arial"/>
                <a:cs typeface="Arial"/>
              </a:rPr>
              <a:t>FTEs</a:t>
            </a:r>
            <a:endParaRPr sz="1200">
              <a:latin typeface="Arial"/>
              <a:cs typeface="Arial"/>
            </a:endParaRPr>
          </a:p>
          <a:p>
            <a:pPr marL="215265" marR="5080" indent="-202565">
              <a:lnSpc>
                <a:spcPct val="100000"/>
              </a:lnSpc>
              <a:spcBef>
                <a:spcPts val="300"/>
              </a:spcBef>
              <a:buChar char="—"/>
              <a:tabLst>
                <a:tab pos="215900" algn="l"/>
              </a:tabLst>
            </a:pPr>
            <a:r>
              <a:rPr sz="1200" spc="-65" dirty="0">
                <a:solidFill>
                  <a:srgbClr val="00338D"/>
                </a:solidFill>
                <a:latin typeface="Arial"/>
                <a:cs typeface="Arial"/>
              </a:rPr>
              <a:t>Libera</a:t>
            </a:r>
            <a:r>
              <a:rPr sz="1200" spc="-14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00338D"/>
                </a:solidFill>
                <a:latin typeface="Arial"/>
                <a:cs typeface="Arial"/>
              </a:rPr>
              <a:t>recursos  </a:t>
            </a:r>
            <a:r>
              <a:rPr sz="1200" spc="-60" dirty="0">
                <a:solidFill>
                  <a:srgbClr val="00338D"/>
                </a:solidFill>
                <a:latin typeface="Arial"/>
                <a:cs typeface="Arial"/>
              </a:rPr>
              <a:t>para </a:t>
            </a:r>
            <a:r>
              <a:rPr sz="1200" spc="-55" dirty="0">
                <a:solidFill>
                  <a:srgbClr val="00338D"/>
                </a:solidFill>
                <a:latin typeface="Arial"/>
                <a:cs typeface="Arial"/>
              </a:rPr>
              <a:t>generar  </a:t>
            </a:r>
            <a:r>
              <a:rPr sz="1200" spc="-90" dirty="0">
                <a:solidFill>
                  <a:srgbClr val="00338D"/>
                </a:solidFill>
                <a:latin typeface="Arial"/>
                <a:cs typeface="Arial"/>
              </a:rPr>
              <a:t>mas</a:t>
            </a:r>
            <a:r>
              <a:rPr sz="1200" spc="-6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00338D"/>
                </a:solidFill>
                <a:latin typeface="Arial"/>
                <a:cs typeface="Arial"/>
              </a:rPr>
              <a:t>valor</a:t>
            </a:r>
            <a:endParaRPr sz="12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939035" y="2584703"/>
            <a:ext cx="1286510" cy="65024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30835">
              <a:lnSpc>
                <a:spcPct val="100000"/>
              </a:lnSpc>
              <a:spcBef>
                <a:spcPts val="400"/>
              </a:spcBef>
            </a:pPr>
            <a:r>
              <a:rPr sz="1200" dirty="0">
                <a:solidFill>
                  <a:srgbClr val="00338D"/>
                </a:solidFill>
                <a:latin typeface="Arial"/>
                <a:cs typeface="Arial"/>
              </a:rPr>
              <a:t>— </a:t>
            </a:r>
            <a:r>
              <a:rPr sz="1200" spc="-65" dirty="0">
                <a:solidFill>
                  <a:srgbClr val="00338D"/>
                </a:solidFill>
                <a:latin typeface="Arial"/>
                <a:cs typeface="Arial"/>
              </a:rPr>
              <a:t>365 </a:t>
            </a:r>
            <a:r>
              <a:rPr sz="1200" spc="-85" dirty="0">
                <a:solidFill>
                  <a:srgbClr val="00338D"/>
                </a:solidFill>
                <a:latin typeface="Arial"/>
                <a:cs typeface="Arial"/>
              </a:rPr>
              <a:t>x </a:t>
            </a:r>
            <a:r>
              <a:rPr sz="1200" spc="-60" dirty="0">
                <a:solidFill>
                  <a:srgbClr val="00338D"/>
                </a:solidFill>
                <a:latin typeface="Arial"/>
                <a:cs typeface="Arial"/>
              </a:rPr>
              <a:t>24 </a:t>
            </a:r>
            <a:r>
              <a:rPr sz="1200" spc="-85" dirty="0">
                <a:solidFill>
                  <a:srgbClr val="00338D"/>
                </a:solidFill>
                <a:latin typeface="Arial"/>
                <a:cs typeface="Arial"/>
              </a:rPr>
              <a:t>x</a:t>
            </a:r>
            <a:r>
              <a:rPr sz="1200" spc="-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00338D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  <a:p>
            <a:pPr marL="156210" marR="5080" indent="-144145">
              <a:lnSpc>
                <a:spcPct val="100000"/>
              </a:lnSpc>
              <a:spcBef>
                <a:spcPts val="300"/>
              </a:spcBef>
            </a:pPr>
            <a:r>
              <a:rPr sz="1200" dirty="0">
                <a:solidFill>
                  <a:srgbClr val="00338D"/>
                </a:solidFill>
                <a:latin typeface="Arial"/>
                <a:cs typeface="Arial"/>
              </a:rPr>
              <a:t>— </a:t>
            </a:r>
            <a:r>
              <a:rPr sz="1200" spc="-40" dirty="0">
                <a:solidFill>
                  <a:srgbClr val="00338D"/>
                </a:solidFill>
                <a:latin typeface="Arial"/>
                <a:cs typeface="Arial"/>
              </a:rPr>
              <a:t>Mayor</a:t>
            </a:r>
            <a:r>
              <a:rPr sz="1200" spc="-8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00338D"/>
                </a:solidFill>
                <a:latin typeface="Arial"/>
                <a:cs typeface="Arial"/>
              </a:rPr>
              <a:t>capacidad  </a:t>
            </a:r>
            <a:r>
              <a:rPr sz="1200" spc="-60" dirty="0">
                <a:solidFill>
                  <a:srgbClr val="00338D"/>
                </a:solidFill>
                <a:latin typeface="Arial"/>
                <a:cs typeface="Arial"/>
              </a:rPr>
              <a:t>de</a:t>
            </a:r>
            <a:r>
              <a:rPr sz="1200" spc="-14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00338D"/>
                </a:solidFill>
                <a:latin typeface="Arial"/>
                <a:cs typeface="Arial"/>
              </a:rPr>
              <a:t>procesamiento</a:t>
            </a:r>
            <a:endParaRPr sz="12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77697" y="5437885"/>
            <a:ext cx="26873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1" i="1" spc="-95" dirty="0">
                <a:latin typeface="Arial"/>
                <a:cs typeface="Arial"/>
              </a:rPr>
              <a:t>Video</a:t>
            </a:r>
            <a:r>
              <a:rPr sz="1600" spc="-95" dirty="0">
                <a:latin typeface="Arial"/>
                <a:cs typeface="Arial"/>
              </a:rPr>
              <a:t>: </a:t>
            </a:r>
            <a:r>
              <a:rPr sz="1600" i="1" spc="-260" dirty="0">
                <a:latin typeface="Arial"/>
                <a:cs typeface="Arial"/>
              </a:rPr>
              <a:t>RPA </a:t>
            </a:r>
            <a:r>
              <a:rPr sz="1600" i="1" spc="-85" dirty="0">
                <a:latin typeface="Arial"/>
                <a:cs typeface="Arial"/>
              </a:rPr>
              <a:t>How </a:t>
            </a:r>
            <a:r>
              <a:rPr sz="1600" i="1" spc="-114" dirty="0">
                <a:latin typeface="Arial"/>
                <a:cs typeface="Arial"/>
              </a:rPr>
              <a:t>does </a:t>
            </a:r>
            <a:r>
              <a:rPr sz="1600" i="1" spc="50" dirty="0">
                <a:latin typeface="Arial"/>
                <a:cs typeface="Arial"/>
              </a:rPr>
              <a:t>it </a:t>
            </a:r>
            <a:r>
              <a:rPr sz="1600" i="1" spc="-50" dirty="0">
                <a:latin typeface="Arial"/>
                <a:cs typeface="Arial"/>
              </a:rPr>
              <a:t>work?</a:t>
            </a:r>
            <a:r>
              <a:rPr sz="1600" spc="-50" dirty="0">
                <a:latin typeface="Arial"/>
                <a:cs typeface="Arial"/>
              </a:rPr>
              <a:t>:  </a:t>
            </a:r>
            <a:r>
              <a:rPr sz="1600" u="heavy" spc="-30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7"/>
              </a:rPr>
              <a:t>https://www.youtube.com/watc </a:t>
            </a:r>
            <a:r>
              <a:rPr sz="1600" spc="-30" dirty="0">
                <a:solidFill>
                  <a:srgbClr val="8E248D"/>
                </a:solidFill>
                <a:latin typeface="Arial"/>
                <a:cs typeface="Arial"/>
                <a:hlinkClick r:id="rId7"/>
              </a:rPr>
              <a:t> </a:t>
            </a:r>
            <a:r>
              <a:rPr sz="1600" u="heavy" spc="-105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7"/>
              </a:rPr>
              <a:t>h?v=xW95yb6J1eU</a:t>
            </a:r>
            <a:endParaRPr sz="1600">
              <a:latin typeface="Arial"/>
              <a:cs typeface="Arial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932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/>
              <a:t>– </a:t>
            </a:r>
            <a:r>
              <a:rPr spc="-114" dirty="0"/>
              <a:t>Hardware</a:t>
            </a:r>
            <a:r>
              <a:rPr spc="-150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70" dirty="0">
                <a:latin typeface="Arial"/>
                <a:cs typeface="Arial"/>
              </a:rPr>
              <a:t>Los </a:t>
            </a:r>
            <a:r>
              <a:rPr sz="1800" b="0" spc="-95" dirty="0">
                <a:latin typeface="Arial"/>
                <a:cs typeface="Arial"/>
              </a:rPr>
              <a:t>nuevos </a:t>
            </a:r>
            <a:r>
              <a:rPr sz="1800" b="0" spc="-105" dirty="0">
                <a:latin typeface="Arial"/>
                <a:cs typeface="Arial"/>
              </a:rPr>
              <a:t>desafíos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5" dirty="0">
                <a:latin typeface="Arial"/>
                <a:cs typeface="Arial"/>
              </a:rPr>
              <a:t>aplicaciones de </a:t>
            </a:r>
            <a:r>
              <a:rPr sz="1800" b="0" spc="-65" dirty="0">
                <a:latin typeface="Arial"/>
                <a:cs typeface="Arial"/>
              </a:rPr>
              <a:t>la </a:t>
            </a:r>
            <a:r>
              <a:rPr sz="1800" b="0" spc="-75" dirty="0">
                <a:latin typeface="Arial"/>
                <a:cs typeface="Arial"/>
              </a:rPr>
              <a:t>era</a:t>
            </a:r>
            <a:r>
              <a:rPr sz="1800" b="0" spc="10" dirty="0">
                <a:latin typeface="Arial"/>
                <a:cs typeface="Arial"/>
              </a:rPr>
              <a:t> </a:t>
            </a:r>
            <a:r>
              <a:rPr sz="1800" b="0" spc="-35" dirty="0">
                <a:latin typeface="Arial"/>
                <a:cs typeface="Arial"/>
              </a:rPr>
              <a:t>digital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54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295" y="1182756"/>
            <a:ext cx="8387892" cy="51310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932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/>
              <a:t>– </a:t>
            </a:r>
            <a:r>
              <a:rPr spc="-114" dirty="0"/>
              <a:t>Hardware</a:t>
            </a:r>
            <a:r>
              <a:rPr spc="-150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70" dirty="0">
                <a:latin typeface="Arial"/>
                <a:cs typeface="Arial"/>
              </a:rPr>
              <a:t>Los </a:t>
            </a:r>
            <a:r>
              <a:rPr sz="1800" b="0" spc="-95" dirty="0">
                <a:latin typeface="Arial"/>
                <a:cs typeface="Arial"/>
              </a:rPr>
              <a:t>nuevos </a:t>
            </a:r>
            <a:r>
              <a:rPr sz="1800" b="0" spc="-105" dirty="0">
                <a:latin typeface="Arial"/>
                <a:cs typeface="Arial"/>
              </a:rPr>
              <a:t>desafíos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5" dirty="0">
                <a:latin typeface="Arial"/>
                <a:cs typeface="Arial"/>
              </a:rPr>
              <a:t>aplicaciones de </a:t>
            </a:r>
            <a:r>
              <a:rPr sz="1800" b="0" spc="-65" dirty="0">
                <a:latin typeface="Arial"/>
                <a:cs typeface="Arial"/>
              </a:rPr>
              <a:t>la </a:t>
            </a:r>
            <a:r>
              <a:rPr sz="1800" b="0" spc="-75" dirty="0">
                <a:latin typeface="Arial"/>
                <a:cs typeface="Arial"/>
              </a:rPr>
              <a:t>era</a:t>
            </a:r>
            <a:r>
              <a:rPr sz="1800" b="0" spc="10" dirty="0">
                <a:latin typeface="Arial"/>
                <a:cs typeface="Arial"/>
              </a:rPr>
              <a:t> </a:t>
            </a:r>
            <a:r>
              <a:rPr sz="1800" b="0" spc="-35" dirty="0">
                <a:latin typeface="Arial"/>
                <a:cs typeface="Arial"/>
              </a:rPr>
              <a:t>digital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46</a:t>
            </a:fld>
            <a:endParaRPr spc="-5" dirty="0"/>
          </a:p>
        </p:txBody>
      </p:sp>
      <p:sp>
        <p:nvSpPr>
          <p:cNvPr id="6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932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/>
              <a:t>– </a:t>
            </a:r>
            <a:r>
              <a:rPr spc="-114" dirty="0"/>
              <a:t>Hardware</a:t>
            </a:r>
            <a:r>
              <a:rPr spc="-150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70" dirty="0">
                <a:latin typeface="Arial"/>
                <a:cs typeface="Arial"/>
              </a:rPr>
              <a:t>Los </a:t>
            </a:r>
            <a:r>
              <a:rPr sz="1800" b="0" spc="-95" dirty="0">
                <a:latin typeface="Arial"/>
                <a:cs typeface="Arial"/>
              </a:rPr>
              <a:t>nuevos </a:t>
            </a:r>
            <a:r>
              <a:rPr sz="1800" b="0" spc="-105" dirty="0">
                <a:latin typeface="Arial"/>
                <a:cs typeface="Arial"/>
              </a:rPr>
              <a:t>desafíos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5" dirty="0">
                <a:latin typeface="Arial"/>
                <a:cs typeface="Arial"/>
              </a:rPr>
              <a:t>aplicaciones de </a:t>
            </a:r>
            <a:r>
              <a:rPr sz="1800" b="0" spc="-65" dirty="0">
                <a:latin typeface="Arial"/>
                <a:cs typeface="Arial"/>
              </a:rPr>
              <a:t>la </a:t>
            </a:r>
            <a:r>
              <a:rPr sz="1800" b="0" spc="-75" dirty="0">
                <a:latin typeface="Arial"/>
                <a:cs typeface="Arial"/>
              </a:rPr>
              <a:t>era</a:t>
            </a:r>
            <a:r>
              <a:rPr sz="1800" b="0" spc="10" dirty="0">
                <a:latin typeface="Arial"/>
                <a:cs typeface="Arial"/>
              </a:rPr>
              <a:t> </a:t>
            </a:r>
            <a:r>
              <a:rPr sz="1800" b="0" spc="-35" dirty="0">
                <a:latin typeface="Arial"/>
                <a:cs typeface="Arial"/>
              </a:rPr>
              <a:t>digital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537461"/>
            <a:ext cx="4651375" cy="4328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7080">
              <a:lnSpc>
                <a:spcPct val="100000"/>
              </a:lnSpc>
              <a:spcBef>
                <a:spcPts val="100"/>
              </a:spcBef>
              <a:buAutoNum type="arabicPlain"/>
              <a:tabLst>
                <a:tab pos="233679" algn="l"/>
              </a:tabLst>
            </a:pPr>
            <a:r>
              <a:rPr sz="2400" b="1" spc="-65" dirty="0">
                <a:solidFill>
                  <a:srgbClr val="004689"/>
                </a:solidFill>
                <a:latin typeface="Arial"/>
                <a:cs typeface="Arial"/>
              </a:rPr>
              <a:t>- </a:t>
            </a:r>
            <a:r>
              <a:rPr sz="2400" b="1" spc="-170" dirty="0">
                <a:solidFill>
                  <a:srgbClr val="004689"/>
                </a:solidFill>
                <a:latin typeface="Arial"/>
                <a:cs typeface="Arial"/>
              </a:rPr>
              <a:t>Automatización </a:t>
            </a:r>
            <a:r>
              <a:rPr sz="2400" b="1" spc="-155" dirty="0">
                <a:solidFill>
                  <a:srgbClr val="004689"/>
                </a:solidFill>
                <a:latin typeface="Arial"/>
                <a:cs typeface="Arial"/>
              </a:rPr>
              <a:t>de </a:t>
            </a:r>
            <a:r>
              <a:rPr sz="2400" b="1" spc="-235" dirty="0">
                <a:solidFill>
                  <a:srgbClr val="004689"/>
                </a:solidFill>
                <a:latin typeface="Arial"/>
                <a:cs typeface="Arial"/>
              </a:rPr>
              <a:t>carga </a:t>
            </a:r>
            <a:r>
              <a:rPr sz="2400" b="1" spc="-160" dirty="0">
                <a:solidFill>
                  <a:srgbClr val="004689"/>
                </a:solidFill>
                <a:latin typeface="Arial"/>
                <a:cs typeface="Arial"/>
              </a:rPr>
              <a:t>de  </a:t>
            </a:r>
            <a:r>
              <a:rPr sz="2400" b="1" spc="-195" dirty="0">
                <a:solidFill>
                  <a:srgbClr val="004689"/>
                </a:solidFill>
                <a:latin typeface="Arial"/>
                <a:cs typeface="Arial"/>
              </a:rPr>
              <a:t>padrones </a:t>
            </a:r>
            <a:r>
              <a:rPr sz="2400" b="1" spc="-160" dirty="0">
                <a:solidFill>
                  <a:srgbClr val="004689"/>
                </a:solidFill>
                <a:latin typeface="Arial"/>
                <a:cs typeface="Arial"/>
              </a:rPr>
              <a:t>en</a:t>
            </a:r>
            <a:r>
              <a:rPr sz="2400" b="1" spc="-75" dirty="0">
                <a:solidFill>
                  <a:srgbClr val="004689"/>
                </a:solidFill>
                <a:latin typeface="Arial"/>
                <a:cs typeface="Arial"/>
              </a:rPr>
              <a:t> </a:t>
            </a:r>
            <a:r>
              <a:rPr sz="2400" b="1" spc="-375" dirty="0">
                <a:solidFill>
                  <a:srgbClr val="004689"/>
                </a:solidFill>
                <a:latin typeface="Arial"/>
                <a:cs typeface="Arial"/>
              </a:rPr>
              <a:t>SAP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800" b="1" u="heavy" spc="-85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2"/>
              </a:rPr>
              <a:t>https://youtu.be/v_Xk6161Pwk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buAutoNum type="arabicPlain" startAt="2"/>
              <a:tabLst>
                <a:tab pos="233679" algn="l"/>
              </a:tabLst>
            </a:pPr>
            <a:r>
              <a:rPr sz="2400" b="1" spc="-65" dirty="0">
                <a:solidFill>
                  <a:srgbClr val="004689"/>
                </a:solidFill>
                <a:latin typeface="Arial"/>
                <a:cs typeface="Arial"/>
              </a:rPr>
              <a:t>- </a:t>
            </a:r>
            <a:r>
              <a:rPr sz="2400" b="1" spc="-170" dirty="0">
                <a:solidFill>
                  <a:srgbClr val="004689"/>
                </a:solidFill>
                <a:latin typeface="Arial"/>
                <a:cs typeface="Arial"/>
              </a:rPr>
              <a:t>Automatización </a:t>
            </a:r>
            <a:r>
              <a:rPr sz="2400" b="1" spc="-155" dirty="0">
                <a:solidFill>
                  <a:srgbClr val="004689"/>
                </a:solidFill>
                <a:latin typeface="Arial"/>
                <a:cs typeface="Arial"/>
              </a:rPr>
              <a:t>de </a:t>
            </a:r>
            <a:r>
              <a:rPr sz="2400" b="1" spc="-235" dirty="0">
                <a:solidFill>
                  <a:srgbClr val="004689"/>
                </a:solidFill>
                <a:latin typeface="Arial"/>
                <a:cs typeface="Arial"/>
              </a:rPr>
              <a:t>carga </a:t>
            </a:r>
            <a:r>
              <a:rPr sz="2400" b="1" spc="-400" dirty="0">
                <a:solidFill>
                  <a:srgbClr val="004689"/>
                </a:solidFill>
                <a:latin typeface="Arial"/>
                <a:cs typeface="Arial"/>
              </a:rPr>
              <a:t>DDJJ </a:t>
            </a:r>
            <a:r>
              <a:rPr sz="2400" b="1" spc="-210" dirty="0">
                <a:solidFill>
                  <a:srgbClr val="004689"/>
                </a:solidFill>
                <a:latin typeface="Arial"/>
                <a:cs typeface="Arial"/>
              </a:rPr>
              <a:t>IVA  </a:t>
            </a:r>
            <a:r>
              <a:rPr sz="2400" b="1" spc="-140" dirty="0">
                <a:solidFill>
                  <a:srgbClr val="004689"/>
                </a:solidFill>
                <a:latin typeface="Arial"/>
                <a:cs typeface="Arial"/>
              </a:rPr>
              <a:t>web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800" b="1" u="heavy" spc="-125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3"/>
              </a:rPr>
              <a:t>https://youtu.be/sBJADdyByG4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714375">
              <a:lnSpc>
                <a:spcPct val="100000"/>
              </a:lnSpc>
              <a:buAutoNum type="arabicPlain" startAt="3"/>
              <a:tabLst>
                <a:tab pos="233679" algn="l"/>
              </a:tabLst>
            </a:pPr>
            <a:r>
              <a:rPr sz="2400" b="1" spc="-65" dirty="0">
                <a:solidFill>
                  <a:srgbClr val="004689"/>
                </a:solidFill>
                <a:latin typeface="Arial"/>
                <a:cs typeface="Arial"/>
              </a:rPr>
              <a:t>- </a:t>
            </a:r>
            <a:r>
              <a:rPr sz="2400" b="1" spc="-185" dirty="0">
                <a:solidFill>
                  <a:srgbClr val="004689"/>
                </a:solidFill>
                <a:latin typeface="Arial"/>
                <a:cs typeface="Arial"/>
              </a:rPr>
              <a:t>Captura </a:t>
            </a:r>
            <a:r>
              <a:rPr sz="2400" b="1" spc="-200" dirty="0">
                <a:solidFill>
                  <a:srgbClr val="004689"/>
                </a:solidFill>
                <a:latin typeface="Arial"/>
                <a:cs typeface="Arial"/>
              </a:rPr>
              <a:t>y </a:t>
            </a:r>
            <a:r>
              <a:rPr sz="2400" b="1" spc="-175" dirty="0">
                <a:solidFill>
                  <a:srgbClr val="004689"/>
                </a:solidFill>
                <a:latin typeface="Arial"/>
                <a:cs typeface="Arial"/>
              </a:rPr>
              <a:t>contabilización </a:t>
            </a:r>
            <a:r>
              <a:rPr sz="2400" b="1" spc="-155" dirty="0">
                <a:solidFill>
                  <a:srgbClr val="004689"/>
                </a:solidFill>
                <a:latin typeface="Arial"/>
                <a:cs typeface="Arial"/>
              </a:rPr>
              <a:t>de  </a:t>
            </a:r>
            <a:r>
              <a:rPr sz="2400" b="1" spc="-180" dirty="0">
                <a:solidFill>
                  <a:srgbClr val="004689"/>
                </a:solidFill>
                <a:latin typeface="Arial"/>
                <a:cs typeface="Arial"/>
              </a:rPr>
              <a:t>facturas </a:t>
            </a:r>
            <a:r>
              <a:rPr sz="2400" b="1" spc="-100" dirty="0">
                <a:solidFill>
                  <a:srgbClr val="004689"/>
                </a:solidFill>
                <a:latin typeface="Arial"/>
                <a:cs typeface="Arial"/>
              </a:rPr>
              <a:t>(IQ </a:t>
            </a:r>
            <a:r>
              <a:rPr sz="2400" b="1" spc="-185" dirty="0">
                <a:solidFill>
                  <a:srgbClr val="004689"/>
                </a:solidFill>
                <a:latin typeface="Arial"/>
                <a:cs typeface="Arial"/>
              </a:rPr>
              <a:t>Bot </a:t>
            </a:r>
            <a:r>
              <a:rPr sz="2400" b="1" spc="-140" dirty="0">
                <a:solidFill>
                  <a:srgbClr val="004689"/>
                </a:solidFill>
                <a:latin typeface="Arial"/>
                <a:cs typeface="Arial"/>
              </a:rPr>
              <a:t>–</a:t>
            </a:r>
            <a:r>
              <a:rPr sz="2400" b="1" spc="-100" dirty="0">
                <a:solidFill>
                  <a:srgbClr val="004689"/>
                </a:solidFill>
                <a:latin typeface="Arial"/>
                <a:cs typeface="Arial"/>
              </a:rPr>
              <a:t> </a:t>
            </a:r>
            <a:r>
              <a:rPr sz="2400" b="1" spc="-180" dirty="0">
                <a:solidFill>
                  <a:srgbClr val="004689"/>
                </a:solidFill>
                <a:latin typeface="Arial"/>
                <a:cs typeface="Arial"/>
              </a:rPr>
              <a:t>Cognitivo)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b="1" u="heavy" spc="-65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4"/>
              </a:rPr>
              <a:t>https://youtu.be/u9M-7-Qq1lo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buAutoNum type="arabicPlain" startAt="4"/>
              <a:tabLst>
                <a:tab pos="233679" algn="l"/>
              </a:tabLst>
            </a:pPr>
            <a:r>
              <a:rPr sz="2400" b="1" spc="-65" dirty="0">
                <a:solidFill>
                  <a:srgbClr val="004689"/>
                </a:solidFill>
                <a:latin typeface="Arial"/>
                <a:cs typeface="Arial"/>
              </a:rPr>
              <a:t>- </a:t>
            </a:r>
            <a:r>
              <a:rPr sz="2400" b="1" spc="-210" dirty="0">
                <a:solidFill>
                  <a:srgbClr val="004689"/>
                </a:solidFill>
                <a:latin typeface="Arial"/>
                <a:cs typeface="Arial"/>
              </a:rPr>
              <a:t>Conciliaciones </a:t>
            </a:r>
            <a:r>
              <a:rPr sz="2400" b="1" spc="-220" dirty="0">
                <a:solidFill>
                  <a:srgbClr val="004689"/>
                </a:solidFill>
                <a:latin typeface="Arial"/>
                <a:cs typeface="Arial"/>
              </a:rPr>
              <a:t>Bancarias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b="1" u="heavy" spc="-80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5"/>
              </a:rPr>
              <a:t>https://youtu.be/UtuKnnw849Y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38800" y="1371600"/>
            <a:ext cx="3192018" cy="472973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47</a:t>
            </a:fld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9392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/>
              <a:t>– </a:t>
            </a:r>
            <a:r>
              <a:rPr spc="-114" dirty="0"/>
              <a:t>Hardware</a:t>
            </a:r>
            <a:r>
              <a:rPr spc="-150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70" dirty="0">
                <a:latin typeface="Arial"/>
                <a:cs typeface="Arial"/>
              </a:rPr>
              <a:t>Los </a:t>
            </a:r>
            <a:r>
              <a:rPr sz="1800" b="0" spc="-95" dirty="0">
                <a:latin typeface="Arial"/>
                <a:cs typeface="Arial"/>
              </a:rPr>
              <a:t>nuevos </a:t>
            </a:r>
            <a:r>
              <a:rPr sz="1800" b="0" spc="-105" dirty="0">
                <a:latin typeface="Arial"/>
                <a:cs typeface="Arial"/>
              </a:rPr>
              <a:t>desafíos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5" dirty="0">
                <a:latin typeface="Arial"/>
                <a:cs typeface="Arial"/>
              </a:rPr>
              <a:t>aplicaciones de </a:t>
            </a:r>
            <a:r>
              <a:rPr sz="1800" b="0" spc="-65" dirty="0">
                <a:latin typeface="Arial"/>
                <a:cs typeface="Arial"/>
              </a:rPr>
              <a:t>la </a:t>
            </a:r>
            <a:r>
              <a:rPr sz="1800" b="0" spc="-75" dirty="0">
                <a:latin typeface="Arial"/>
                <a:cs typeface="Arial"/>
              </a:rPr>
              <a:t>era</a:t>
            </a:r>
            <a:r>
              <a:rPr sz="1800" b="0" spc="10" dirty="0">
                <a:latin typeface="Arial"/>
                <a:cs typeface="Arial"/>
              </a:rPr>
              <a:t> </a:t>
            </a:r>
            <a:r>
              <a:rPr sz="1800" b="0" spc="-35" dirty="0">
                <a:latin typeface="Arial"/>
                <a:cs typeface="Arial"/>
              </a:rPr>
              <a:t>digital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7357" y="1579625"/>
            <a:ext cx="7374635" cy="43731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6786" y="2200910"/>
            <a:ext cx="6864984" cy="3073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1435" indent="635" algn="ctr">
              <a:lnSpc>
                <a:spcPct val="100000"/>
              </a:lnSpc>
              <a:spcBef>
                <a:spcPts val="95"/>
              </a:spcBef>
            </a:pPr>
            <a:r>
              <a:rPr sz="2000" b="1" spc="-225" dirty="0">
                <a:solidFill>
                  <a:srgbClr val="FFFFFF"/>
                </a:solidFill>
                <a:latin typeface="Arial"/>
                <a:cs typeface="Arial"/>
              </a:rPr>
              <a:t>(…) </a:t>
            </a:r>
            <a:r>
              <a:rPr sz="2000" b="1" spc="-95" dirty="0">
                <a:solidFill>
                  <a:srgbClr val="FFFFFF"/>
                </a:solidFill>
                <a:latin typeface="Arial"/>
                <a:cs typeface="Arial"/>
              </a:rPr>
              <a:t>Mientras </a:t>
            </a: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2000" b="1" spc="-135" dirty="0">
                <a:solidFill>
                  <a:srgbClr val="FFFFFF"/>
                </a:solidFill>
                <a:latin typeface="Arial"/>
                <a:cs typeface="Arial"/>
              </a:rPr>
              <a:t>TI </a:t>
            </a:r>
            <a:r>
              <a:rPr sz="2000" b="1" spc="-175" dirty="0">
                <a:solidFill>
                  <a:srgbClr val="FFFFFF"/>
                </a:solidFill>
                <a:latin typeface="Arial"/>
                <a:cs typeface="Arial"/>
              </a:rPr>
              <a:t>crece cada </a:t>
            </a:r>
            <a:r>
              <a:rPr sz="2000" b="1" spc="-165" dirty="0">
                <a:solidFill>
                  <a:srgbClr val="FFFFFF"/>
                </a:solidFill>
                <a:latin typeface="Arial"/>
                <a:cs typeface="Arial"/>
              </a:rPr>
              <a:t>vez </a:t>
            </a:r>
            <a:r>
              <a:rPr sz="2000" b="1" spc="-204" dirty="0">
                <a:solidFill>
                  <a:srgbClr val="FFFFFF"/>
                </a:solidFill>
                <a:latin typeface="Arial"/>
                <a:cs typeface="Arial"/>
              </a:rPr>
              <a:t>más </a:t>
            </a:r>
            <a:r>
              <a:rPr sz="2000" b="1" spc="-13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2000" b="1" spc="-125" dirty="0">
                <a:solidFill>
                  <a:srgbClr val="FFFFFF"/>
                </a:solidFill>
                <a:latin typeface="Arial"/>
                <a:cs typeface="Arial"/>
              </a:rPr>
              <a:t>poder </a:t>
            </a:r>
            <a:r>
              <a:rPr sz="2000" b="1" spc="-17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2000" b="1" spc="-135" dirty="0">
                <a:solidFill>
                  <a:srgbClr val="FFFFFF"/>
                </a:solidFill>
                <a:latin typeface="Arial"/>
                <a:cs typeface="Arial"/>
              </a:rPr>
              <a:t>ubicuidad, </a:t>
            </a:r>
            <a:r>
              <a:rPr sz="2000" b="1" spc="-170" dirty="0">
                <a:solidFill>
                  <a:srgbClr val="FFFFFF"/>
                </a:solidFill>
                <a:latin typeface="Arial"/>
                <a:cs typeface="Arial"/>
              </a:rPr>
              <a:t>las  empresas </a:t>
            </a: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2000" b="1" spc="-160" dirty="0">
                <a:solidFill>
                  <a:srgbClr val="FFFFFF"/>
                </a:solidFill>
                <a:latin typeface="Arial"/>
                <a:cs typeface="Arial"/>
              </a:rPr>
              <a:t>consideran </a:t>
            </a:r>
            <a:r>
              <a:rPr sz="2000" b="1" spc="-204" dirty="0">
                <a:solidFill>
                  <a:srgbClr val="FFFFFF"/>
                </a:solidFill>
                <a:latin typeface="Arial"/>
                <a:cs typeface="Arial"/>
              </a:rPr>
              <a:t>más </a:t>
            </a:r>
            <a:r>
              <a:rPr sz="2000" b="1" spc="-155" dirty="0">
                <a:solidFill>
                  <a:srgbClr val="FFFFFF"/>
                </a:solidFill>
                <a:latin typeface="Arial"/>
                <a:cs typeface="Arial"/>
              </a:rPr>
              <a:t>crucial </a:t>
            </a:r>
            <a:r>
              <a:rPr sz="2000" b="1" spc="-185" dirty="0">
                <a:solidFill>
                  <a:srgbClr val="FFFFFF"/>
                </a:solidFill>
                <a:latin typeface="Arial"/>
                <a:cs typeface="Arial"/>
              </a:rPr>
              <a:t>como </a:t>
            </a:r>
            <a:r>
              <a:rPr sz="2000" b="1" spc="-170" dirty="0">
                <a:solidFill>
                  <a:srgbClr val="FFFFFF"/>
                </a:solidFill>
                <a:latin typeface="Arial"/>
                <a:cs typeface="Arial"/>
              </a:rPr>
              <a:t>recurso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2000" b="1" spc="-145" dirty="0">
                <a:solidFill>
                  <a:srgbClr val="FFFFFF"/>
                </a:solidFill>
                <a:latin typeface="Arial"/>
                <a:cs typeface="Arial"/>
              </a:rPr>
              <a:t>alcanzar  </a:t>
            </a:r>
            <a:r>
              <a:rPr sz="2000" b="1" spc="-90" dirty="0">
                <a:solidFill>
                  <a:srgbClr val="FFFFFF"/>
                </a:solidFill>
                <a:latin typeface="Arial"/>
                <a:cs typeface="Arial"/>
              </a:rPr>
              <a:t>el éxito. </a:t>
            </a:r>
            <a:r>
              <a:rPr sz="2000" b="1" spc="-170" dirty="0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sz="2000" b="1" spc="-235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2000" b="1" spc="-80" dirty="0">
                <a:solidFill>
                  <a:srgbClr val="FFFFFF"/>
                </a:solidFill>
                <a:latin typeface="Arial"/>
                <a:cs typeface="Arial"/>
              </a:rPr>
              <a:t>parte, </a:t>
            </a:r>
            <a:r>
              <a:rPr sz="2000" b="1" spc="-180" dirty="0">
                <a:solidFill>
                  <a:srgbClr val="FFFFFF"/>
                </a:solidFill>
                <a:latin typeface="Arial"/>
                <a:cs typeface="Arial"/>
              </a:rPr>
              <a:t>los </a:t>
            </a:r>
            <a:r>
              <a:rPr sz="2000" b="1" spc="-145" dirty="0">
                <a:solidFill>
                  <a:srgbClr val="FFFFFF"/>
                </a:solidFill>
                <a:latin typeface="Arial"/>
                <a:cs typeface="Arial"/>
              </a:rPr>
              <a:t>Gerentes </a:t>
            </a:r>
            <a:r>
              <a:rPr sz="2000" b="1" spc="-17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2000" b="1" spc="-165" dirty="0">
                <a:solidFill>
                  <a:srgbClr val="FFFFFF"/>
                </a:solidFill>
                <a:latin typeface="Arial"/>
                <a:cs typeface="Arial"/>
              </a:rPr>
              <a:t>Ejecutivos </a:t>
            </a:r>
            <a:r>
              <a:rPr sz="2000" b="1" spc="-130" dirty="0">
                <a:solidFill>
                  <a:srgbClr val="FFFFFF"/>
                </a:solidFill>
                <a:latin typeface="Arial"/>
                <a:cs typeface="Arial"/>
              </a:rPr>
              <a:t>hablan  </a:t>
            </a:r>
            <a:r>
              <a:rPr sz="2000" b="1" spc="-125" dirty="0">
                <a:solidFill>
                  <a:srgbClr val="FFFFFF"/>
                </a:solidFill>
                <a:latin typeface="Arial"/>
                <a:cs typeface="Arial"/>
              </a:rPr>
              <a:t>constantemente </a:t>
            </a:r>
            <a:r>
              <a:rPr sz="2000" b="1" spc="-160" dirty="0">
                <a:solidFill>
                  <a:srgbClr val="FFFFFF"/>
                </a:solidFill>
                <a:latin typeface="Arial"/>
                <a:cs typeface="Arial"/>
              </a:rPr>
              <a:t>sobre </a:t>
            </a:r>
            <a:r>
              <a:rPr sz="2000" b="1" spc="-90" dirty="0">
                <a:solidFill>
                  <a:srgbClr val="FFFFFF"/>
                </a:solidFill>
                <a:latin typeface="Arial"/>
                <a:cs typeface="Arial"/>
              </a:rPr>
              <a:t>el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valor </a:t>
            </a:r>
            <a:r>
              <a:rPr sz="2000" b="1" spc="-135" dirty="0">
                <a:solidFill>
                  <a:srgbClr val="FFFFFF"/>
                </a:solidFill>
                <a:latin typeface="Arial"/>
                <a:cs typeface="Arial"/>
              </a:rPr>
              <a:t>estratégico </a:t>
            </a:r>
            <a:r>
              <a:rPr sz="2000" b="1" spc="-130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2000" b="1" spc="-135" dirty="0">
                <a:solidFill>
                  <a:srgbClr val="FFFFFF"/>
                </a:solidFill>
                <a:latin typeface="Arial"/>
                <a:cs typeface="Arial"/>
              </a:rPr>
              <a:t>TI </a:t>
            </a:r>
            <a:r>
              <a:rPr sz="2000" b="1" spc="-125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2000" b="1" spc="-155" dirty="0">
                <a:solidFill>
                  <a:srgbClr val="FFFFFF"/>
                </a:solidFill>
                <a:latin typeface="Arial"/>
                <a:cs typeface="Arial"/>
              </a:rPr>
              <a:t>ganar  </a:t>
            </a:r>
            <a:r>
              <a:rPr sz="2000" b="1" spc="-130" dirty="0">
                <a:solidFill>
                  <a:srgbClr val="FFFFFF"/>
                </a:solidFill>
                <a:latin typeface="Arial"/>
                <a:cs typeface="Arial"/>
              </a:rPr>
              <a:t>ventajas </a:t>
            </a:r>
            <a:r>
              <a:rPr sz="2000" b="1" spc="-125" dirty="0">
                <a:solidFill>
                  <a:srgbClr val="FFFFFF"/>
                </a:solidFill>
                <a:latin typeface="Arial"/>
                <a:cs typeface="Arial"/>
              </a:rPr>
              <a:t>competitivas. </a:t>
            </a:r>
            <a:r>
              <a:rPr sz="2000" b="1" spc="-155" dirty="0">
                <a:solidFill>
                  <a:srgbClr val="FFFFFF"/>
                </a:solidFill>
                <a:latin typeface="Arial"/>
                <a:cs typeface="Arial"/>
              </a:rPr>
              <a:t>Pero </a:t>
            </a:r>
            <a:r>
              <a:rPr sz="2000" b="1" spc="-204" dirty="0">
                <a:solidFill>
                  <a:srgbClr val="FFFFFF"/>
                </a:solidFill>
                <a:latin typeface="Arial"/>
                <a:cs typeface="Arial"/>
              </a:rPr>
              <a:t>son </a:t>
            </a: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2000" b="1" spc="-215" dirty="0">
                <a:solidFill>
                  <a:srgbClr val="FFFFFF"/>
                </a:solidFill>
                <a:latin typeface="Arial"/>
                <a:cs typeface="Arial"/>
              </a:rPr>
              <a:t>escasez </a:t>
            </a:r>
            <a:r>
              <a:rPr sz="2000" b="1" spc="-17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2000" b="1" spc="-90" dirty="0">
                <a:solidFill>
                  <a:srgbClr val="FFFFFF"/>
                </a:solidFill>
                <a:latin typeface="Arial"/>
                <a:cs typeface="Arial"/>
              </a:rPr>
              <a:t>el </a:t>
            </a:r>
            <a:r>
              <a:rPr sz="2000" b="1" spc="-204" dirty="0">
                <a:solidFill>
                  <a:srgbClr val="FFFFFF"/>
                </a:solidFill>
                <a:latin typeface="Arial"/>
                <a:cs typeface="Arial"/>
              </a:rPr>
              <a:t>uso </a:t>
            </a:r>
            <a:r>
              <a:rPr sz="2000" b="1" spc="-170" dirty="0">
                <a:solidFill>
                  <a:srgbClr val="FFFFFF"/>
                </a:solidFill>
                <a:latin typeface="Arial"/>
                <a:cs typeface="Arial"/>
              </a:rPr>
              <a:t>exclusivo 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aquello </a:t>
            </a:r>
            <a:r>
              <a:rPr sz="2000" b="1" spc="-140" dirty="0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sz="2000" b="1" spc="-165" dirty="0">
                <a:solidFill>
                  <a:srgbClr val="FFFFFF"/>
                </a:solidFill>
                <a:latin typeface="Arial"/>
                <a:cs typeface="Arial"/>
              </a:rPr>
              <a:t>hacen </a:t>
            </a: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realmente </a:t>
            </a:r>
            <a:r>
              <a:rPr sz="2000" b="1" spc="-155" dirty="0">
                <a:solidFill>
                  <a:srgbClr val="FFFFFF"/>
                </a:solidFill>
                <a:latin typeface="Arial"/>
                <a:cs typeface="Arial"/>
              </a:rPr>
              <a:t>valioso </a:t>
            </a:r>
            <a:r>
              <a:rPr sz="2000" b="1" spc="-13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000" b="1" spc="-150" dirty="0">
                <a:solidFill>
                  <a:srgbClr val="FFFFFF"/>
                </a:solidFill>
                <a:latin typeface="Arial"/>
                <a:cs typeface="Arial"/>
              </a:rPr>
              <a:t>un recurso. </a:t>
            </a:r>
            <a:r>
              <a:rPr sz="2000" b="1" i="1" u="heavy" spc="-27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Se </a:t>
            </a:r>
            <a:r>
              <a:rPr sz="2000" b="1" i="1" u="heavy" spc="-11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gana </a:t>
            </a:r>
            <a:r>
              <a:rPr sz="2000" b="1" i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i="1" u="heavy" spc="-10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terreno </a:t>
            </a:r>
            <a:r>
              <a:rPr sz="2000" b="1" i="1" u="heavy" spc="-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a </a:t>
            </a:r>
            <a:r>
              <a:rPr sz="2000" b="1" i="1" u="heavy" spc="-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la </a:t>
            </a:r>
            <a:r>
              <a:rPr sz="2000" b="1" i="1" u="heavy" spc="-1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competencia </a:t>
            </a:r>
            <a:r>
              <a:rPr sz="2000" b="1" i="1" u="heavy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haciendo </a:t>
            </a:r>
            <a:r>
              <a:rPr sz="2000" b="1" i="1" u="heavy" spc="-11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algo </a:t>
            </a:r>
            <a:r>
              <a:rPr sz="2000" b="1" i="1" u="heavy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que </a:t>
            </a:r>
            <a:r>
              <a:rPr sz="2000" b="1" i="1" u="heavy" spc="-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ésta </a:t>
            </a:r>
            <a:r>
              <a:rPr sz="2000" b="1" i="1" u="heavy" spc="-17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no </a:t>
            </a:r>
            <a:r>
              <a:rPr sz="2000" b="1" i="1" u="heavy" spc="-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puede </a:t>
            </a:r>
            <a:r>
              <a:rPr sz="2000" b="1" i="1" u="heavy" spc="-1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hacer </a:t>
            </a:r>
            <a:r>
              <a:rPr sz="2000" b="1" i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25" dirty="0">
                <a:solidFill>
                  <a:srgbClr val="FFFFFF"/>
                </a:solidFill>
                <a:latin typeface="Arial"/>
                <a:cs typeface="Arial"/>
              </a:rPr>
              <a:t>(…)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546735">
              <a:lnSpc>
                <a:spcPct val="100000"/>
              </a:lnSpc>
            </a:pPr>
            <a:r>
              <a:rPr sz="2000" b="1" i="1" spc="-165" dirty="0">
                <a:solidFill>
                  <a:srgbClr val="FFFFFF"/>
                </a:solidFill>
                <a:latin typeface="Arial"/>
                <a:cs typeface="Arial"/>
              </a:rPr>
              <a:t>Nicholas </a:t>
            </a:r>
            <a:r>
              <a:rPr sz="2000" b="1" i="1" spc="-150" dirty="0">
                <a:solidFill>
                  <a:srgbClr val="FFFFFF"/>
                </a:solidFill>
                <a:latin typeface="Arial"/>
                <a:cs typeface="Arial"/>
              </a:rPr>
              <a:t>Carr: </a:t>
            </a:r>
            <a:r>
              <a:rPr sz="2000" i="1" spc="-50" dirty="0">
                <a:solidFill>
                  <a:srgbClr val="FFFFFF"/>
                </a:solidFill>
                <a:latin typeface="Arial"/>
                <a:cs typeface="Arial"/>
              </a:rPr>
              <a:t>“IT </a:t>
            </a:r>
            <a:r>
              <a:rPr sz="2000" i="1" spc="-75" dirty="0">
                <a:solidFill>
                  <a:srgbClr val="FFFFFF"/>
                </a:solidFill>
                <a:latin typeface="Arial"/>
                <a:cs typeface="Arial"/>
              </a:rPr>
              <a:t>doesn’t </a:t>
            </a:r>
            <a:r>
              <a:rPr sz="2000" i="1" spc="10" dirty="0">
                <a:solidFill>
                  <a:srgbClr val="FFFFFF"/>
                </a:solidFill>
                <a:latin typeface="Arial"/>
                <a:cs typeface="Arial"/>
              </a:rPr>
              <a:t>matter” </a:t>
            </a:r>
            <a:r>
              <a:rPr sz="2000" i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i="1" spc="-85" dirty="0">
                <a:solidFill>
                  <a:srgbClr val="FFFFFF"/>
                </a:solidFill>
                <a:latin typeface="Arial"/>
                <a:cs typeface="Arial"/>
              </a:rPr>
              <a:t>Harvard </a:t>
            </a:r>
            <a:r>
              <a:rPr sz="2000" i="1" spc="-155" dirty="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sz="2000" i="1" spc="-1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i="1" spc="-135" dirty="0">
                <a:solidFill>
                  <a:srgbClr val="FFFFFF"/>
                </a:solidFill>
                <a:latin typeface="Arial"/>
                <a:cs typeface="Arial"/>
              </a:rPr>
              <a:t>Review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34071" y="1578863"/>
            <a:ext cx="1567433" cy="17678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48</a:t>
            </a:fld>
            <a:endParaRPr spc="-5" dirty="0"/>
          </a:p>
        </p:txBody>
      </p:sp>
      <p:sp>
        <p:nvSpPr>
          <p:cNvPr id="8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9392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/>
              <a:t>– </a:t>
            </a:r>
            <a:r>
              <a:rPr spc="-114" dirty="0"/>
              <a:t>Hardware</a:t>
            </a:r>
            <a:r>
              <a:rPr spc="-150" dirty="0"/>
              <a:t> </a:t>
            </a:r>
            <a:r>
              <a:rPr spc="-110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70" dirty="0">
                <a:latin typeface="Arial"/>
                <a:cs typeface="Arial"/>
              </a:rPr>
              <a:t>Los </a:t>
            </a:r>
            <a:r>
              <a:rPr sz="1800" b="0" spc="-95" dirty="0">
                <a:latin typeface="Arial"/>
                <a:cs typeface="Arial"/>
              </a:rPr>
              <a:t>nuevos </a:t>
            </a:r>
            <a:r>
              <a:rPr sz="1800" b="0" spc="-105" dirty="0">
                <a:latin typeface="Arial"/>
                <a:cs typeface="Arial"/>
              </a:rPr>
              <a:t>desafíos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5" dirty="0">
                <a:latin typeface="Arial"/>
                <a:cs typeface="Arial"/>
              </a:rPr>
              <a:t>aplicaciones de </a:t>
            </a:r>
            <a:r>
              <a:rPr sz="1800" b="0" spc="-65" dirty="0">
                <a:latin typeface="Arial"/>
                <a:cs typeface="Arial"/>
              </a:rPr>
              <a:t>la </a:t>
            </a:r>
            <a:r>
              <a:rPr sz="1800" b="0" spc="-75" dirty="0">
                <a:latin typeface="Arial"/>
                <a:cs typeface="Arial"/>
              </a:rPr>
              <a:t>era</a:t>
            </a:r>
            <a:r>
              <a:rPr sz="1800" b="0" spc="10" dirty="0">
                <a:latin typeface="Arial"/>
                <a:cs typeface="Arial"/>
              </a:rPr>
              <a:t> </a:t>
            </a:r>
            <a:r>
              <a:rPr sz="1800" b="0" spc="-35" dirty="0">
                <a:latin typeface="Arial"/>
                <a:cs typeface="Arial"/>
              </a:rPr>
              <a:t>digital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6786" y="2200910"/>
            <a:ext cx="6864984" cy="3073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1435" indent="635" algn="ctr">
              <a:lnSpc>
                <a:spcPct val="100000"/>
              </a:lnSpc>
              <a:spcBef>
                <a:spcPts val="95"/>
              </a:spcBef>
            </a:pPr>
            <a:r>
              <a:rPr sz="2000" b="1" spc="-225" dirty="0">
                <a:solidFill>
                  <a:srgbClr val="FFFFFF"/>
                </a:solidFill>
                <a:latin typeface="Arial"/>
                <a:cs typeface="Arial"/>
              </a:rPr>
              <a:t>(…) </a:t>
            </a:r>
            <a:r>
              <a:rPr sz="2000" b="1" spc="-95" dirty="0">
                <a:solidFill>
                  <a:srgbClr val="FFFFFF"/>
                </a:solidFill>
                <a:latin typeface="Arial"/>
                <a:cs typeface="Arial"/>
              </a:rPr>
              <a:t>Mientras </a:t>
            </a: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2000" b="1" spc="-135" dirty="0">
                <a:solidFill>
                  <a:srgbClr val="FFFFFF"/>
                </a:solidFill>
                <a:latin typeface="Arial"/>
                <a:cs typeface="Arial"/>
              </a:rPr>
              <a:t>TI </a:t>
            </a:r>
            <a:r>
              <a:rPr sz="2000" b="1" spc="-175" dirty="0">
                <a:solidFill>
                  <a:srgbClr val="FFFFFF"/>
                </a:solidFill>
                <a:latin typeface="Arial"/>
                <a:cs typeface="Arial"/>
              </a:rPr>
              <a:t>crece cada </a:t>
            </a:r>
            <a:r>
              <a:rPr sz="2000" b="1" spc="-165" dirty="0">
                <a:solidFill>
                  <a:srgbClr val="FFFFFF"/>
                </a:solidFill>
                <a:latin typeface="Arial"/>
                <a:cs typeface="Arial"/>
              </a:rPr>
              <a:t>vez </a:t>
            </a:r>
            <a:r>
              <a:rPr sz="2000" b="1" spc="-204" dirty="0">
                <a:solidFill>
                  <a:srgbClr val="FFFFFF"/>
                </a:solidFill>
                <a:latin typeface="Arial"/>
                <a:cs typeface="Arial"/>
              </a:rPr>
              <a:t>más </a:t>
            </a:r>
            <a:r>
              <a:rPr sz="2000" b="1" spc="-13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2000" b="1" spc="-125" dirty="0">
                <a:solidFill>
                  <a:srgbClr val="FFFFFF"/>
                </a:solidFill>
                <a:latin typeface="Arial"/>
                <a:cs typeface="Arial"/>
              </a:rPr>
              <a:t>poder </a:t>
            </a:r>
            <a:r>
              <a:rPr sz="2000" b="1" spc="-17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2000" b="1" spc="-135" dirty="0">
                <a:solidFill>
                  <a:srgbClr val="FFFFFF"/>
                </a:solidFill>
                <a:latin typeface="Arial"/>
                <a:cs typeface="Arial"/>
              </a:rPr>
              <a:t>ubicuidad, </a:t>
            </a:r>
            <a:r>
              <a:rPr sz="2000" b="1" spc="-170" dirty="0">
                <a:solidFill>
                  <a:srgbClr val="FFFFFF"/>
                </a:solidFill>
                <a:latin typeface="Arial"/>
                <a:cs typeface="Arial"/>
              </a:rPr>
              <a:t>las  empresas </a:t>
            </a: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2000" b="1" spc="-160" dirty="0">
                <a:solidFill>
                  <a:srgbClr val="FFFFFF"/>
                </a:solidFill>
                <a:latin typeface="Arial"/>
                <a:cs typeface="Arial"/>
              </a:rPr>
              <a:t>consideran </a:t>
            </a:r>
            <a:r>
              <a:rPr sz="2000" b="1" spc="-204" dirty="0">
                <a:solidFill>
                  <a:srgbClr val="FFFFFF"/>
                </a:solidFill>
                <a:latin typeface="Arial"/>
                <a:cs typeface="Arial"/>
              </a:rPr>
              <a:t>más </a:t>
            </a:r>
            <a:r>
              <a:rPr sz="2000" b="1" spc="-155" dirty="0">
                <a:solidFill>
                  <a:srgbClr val="FFFFFF"/>
                </a:solidFill>
                <a:latin typeface="Arial"/>
                <a:cs typeface="Arial"/>
              </a:rPr>
              <a:t>crucial </a:t>
            </a:r>
            <a:r>
              <a:rPr sz="2000" b="1" spc="-185" dirty="0">
                <a:solidFill>
                  <a:srgbClr val="FFFFFF"/>
                </a:solidFill>
                <a:latin typeface="Arial"/>
                <a:cs typeface="Arial"/>
              </a:rPr>
              <a:t>como </a:t>
            </a:r>
            <a:r>
              <a:rPr sz="2000" b="1" spc="-170" dirty="0">
                <a:solidFill>
                  <a:srgbClr val="FFFFFF"/>
                </a:solidFill>
                <a:latin typeface="Arial"/>
                <a:cs typeface="Arial"/>
              </a:rPr>
              <a:t>recurso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2000" b="1" spc="-145" dirty="0">
                <a:solidFill>
                  <a:srgbClr val="FFFFFF"/>
                </a:solidFill>
                <a:latin typeface="Arial"/>
                <a:cs typeface="Arial"/>
              </a:rPr>
              <a:t>alcanzar  </a:t>
            </a:r>
            <a:r>
              <a:rPr sz="2000" b="1" spc="-90" dirty="0">
                <a:solidFill>
                  <a:srgbClr val="FFFFFF"/>
                </a:solidFill>
                <a:latin typeface="Arial"/>
                <a:cs typeface="Arial"/>
              </a:rPr>
              <a:t>el éxito. </a:t>
            </a:r>
            <a:r>
              <a:rPr sz="2000" b="1" spc="-170" dirty="0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sz="2000" b="1" spc="-235" dirty="0">
                <a:solidFill>
                  <a:srgbClr val="FFFFFF"/>
                </a:solidFill>
                <a:latin typeface="Arial"/>
                <a:cs typeface="Arial"/>
              </a:rPr>
              <a:t>su </a:t>
            </a:r>
            <a:r>
              <a:rPr sz="2000" b="1" spc="-80" dirty="0">
                <a:solidFill>
                  <a:srgbClr val="FFFFFF"/>
                </a:solidFill>
                <a:latin typeface="Arial"/>
                <a:cs typeface="Arial"/>
              </a:rPr>
              <a:t>parte, </a:t>
            </a:r>
            <a:r>
              <a:rPr sz="2000" b="1" spc="-180" dirty="0">
                <a:solidFill>
                  <a:srgbClr val="FFFFFF"/>
                </a:solidFill>
                <a:latin typeface="Arial"/>
                <a:cs typeface="Arial"/>
              </a:rPr>
              <a:t>los </a:t>
            </a:r>
            <a:r>
              <a:rPr sz="2000" b="1" spc="-145" dirty="0">
                <a:solidFill>
                  <a:srgbClr val="FFFFFF"/>
                </a:solidFill>
                <a:latin typeface="Arial"/>
                <a:cs typeface="Arial"/>
              </a:rPr>
              <a:t>Gerentes </a:t>
            </a:r>
            <a:r>
              <a:rPr sz="2000" b="1" spc="-17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2000" b="1" spc="-165" dirty="0">
                <a:solidFill>
                  <a:srgbClr val="FFFFFF"/>
                </a:solidFill>
                <a:latin typeface="Arial"/>
                <a:cs typeface="Arial"/>
              </a:rPr>
              <a:t>Ejecutivos </a:t>
            </a:r>
            <a:r>
              <a:rPr sz="2000" b="1" spc="-130" dirty="0">
                <a:solidFill>
                  <a:srgbClr val="FFFFFF"/>
                </a:solidFill>
                <a:latin typeface="Arial"/>
                <a:cs typeface="Arial"/>
              </a:rPr>
              <a:t>hablan  </a:t>
            </a:r>
            <a:r>
              <a:rPr sz="2000" b="1" spc="-125" dirty="0">
                <a:solidFill>
                  <a:srgbClr val="FFFFFF"/>
                </a:solidFill>
                <a:latin typeface="Arial"/>
                <a:cs typeface="Arial"/>
              </a:rPr>
              <a:t>constantemente </a:t>
            </a:r>
            <a:r>
              <a:rPr sz="2000" b="1" spc="-160" dirty="0">
                <a:solidFill>
                  <a:srgbClr val="FFFFFF"/>
                </a:solidFill>
                <a:latin typeface="Arial"/>
                <a:cs typeface="Arial"/>
              </a:rPr>
              <a:t>sobre </a:t>
            </a:r>
            <a:r>
              <a:rPr sz="2000" b="1" spc="-90" dirty="0">
                <a:solidFill>
                  <a:srgbClr val="FFFFFF"/>
                </a:solidFill>
                <a:latin typeface="Arial"/>
                <a:cs typeface="Arial"/>
              </a:rPr>
              <a:t>el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valor </a:t>
            </a:r>
            <a:r>
              <a:rPr sz="2000" b="1" spc="-135" dirty="0">
                <a:solidFill>
                  <a:srgbClr val="FFFFFF"/>
                </a:solidFill>
                <a:latin typeface="Arial"/>
                <a:cs typeface="Arial"/>
              </a:rPr>
              <a:t>estratégico </a:t>
            </a:r>
            <a:r>
              <a:rPr sz="2000" b="1" spc="-130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2000" b="1" spc="-135" dirty="0">
                <a:solidFill>
                  <a:srgbClr val="FFFFFF"/>
                </a:solidFill>
                <a:latin typeface="Arial"/>
                <a:cs typeface="Arial"/>
              </a:rPr>
              <a:t>TI </a:t>
            </a:r>
            <a:r>
              <a:rPr sz="2000" b="1" spc="-125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2000" b="1" spc="-155" dirty="0">
                <a:solidFill>
                  <a:srgbClr val="FFFFFF"/>
                </a:solidFill>
                <a:latin typeface="Arial"/>
                <a:cs typeface="Arial"/>
              </a:rPr>
              <a:t>ganar  </a:t>
            </a:r>
            <a:r>
              <a:rPr sz="2000" b="1" spc="-130" dirty="0">
                <a:solidFill>
                  <a:srgbClr val="FFFFFF"/>
                </a:solidFill>
                <a:latin typeface="Arial"/>
                <a:cs typeface="Arial"/>
              </a:rPr>
              <a:t>ventajas </a:t>
            </a:r>
            <a:r>
              <a:rPr sz="2000" b="1" spc="-125" dirty="0">
                <a:solidFill>
                  <a:srgbClr val="FFFFFF"/>
                </a:solidFill>
                <a:latin typeface="Arial"/>
                <a:cs typeface="Arial"/>
              </a:rPr>
              <a:t>competitivas. </a:t>
            </a:r>
            <a:r>
              <a:rPr sz="2000" b="1" spc="-155" dirty="0">
                <a:solidFill>
                  <a:srgbClr val="FFFFFF"/>
                </a:solidFill>
                <a:latin typeface="Arial"/>
                <a:cs typeface="Arial"/>
              </a:rPr>
              <a:t>Pero </a:t>
            </a:r>
            <a:r>
              <a:rPr sz="2000" b="1" spc="-204" dirty="0">
                <a:solidFill>
                  <a:srgbClr val="FFFFFF"/>
                </a:solidFill>
                <a:latin typeface="Arial"/>
                <a:cs typeface="Arial"/>
              </a:rPr>
              <a:t>son </a:t>
            </a: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2000" b="1" spc="-215" dirty="0">
                <a:solidFill>
                  <a:srgbClr val="FFFFFF"/>
                </a:solidFill>
                <a:latin typeface="Arial"/>
                <a:cs typeface="Arial"/>
              </a:rPr>
              <a:t>escasez </a:t>
            </a:r>
            <a:r>
              <a:rPr sz="2000" b="1" spc="-17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2000" b="1" spc="-90" dirty="0">
                <a:solidFill>
                  <a:srgbClr val="FFFFFF"/>
                </a:solidFill>
                <a:latin typeface="Arial"/>
                <a:cs typeface="Arial"/>
              </a:rPr>
              <a:t>el </a:t>
            </a:r>
            <a:r>
              <a:rPr sz="2000" b="1" spc="-204" dirty="0">
                <a:solidFill>
                  <a:srgbClr val="FFFFFF"/>
                </a:solidFill>
                <a:latin typeface="Arial"/>
                <a:cs typeface="Arial"/>
              </a:rPr>
              <a:t>uso </a:t>
            </a:r>
            <a:r>
              <a:rPr sz="2000" b="1" spc="-170" dirty="0">
                <a:solidFill>
                  <a:srgbClr val="FFFFFF"/>
                </a:solidFill>
                <a:latin typeface="Arial"/>
                <a:cs typeface="Arial"/>
              </a:rPr>
              <a:t>exclusivo 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aquello </a:t>
            </a:r>
            <a:r>
              <a:rPr sz="2000" b="1" spc="-140" dirty="0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sz="2000" b="1" spc="-165" dirty="0">
                <a:solidFill>
                  <a:srgbClr val="FFFFFF"/>
                </a:solidFill>
                <a:latin typeface="Arial"/>
                <a:cs typeface="Arial"/>
              </a:rPr>
              <a:t>hacen </a:t>
            </a:r>
            <a:r>
              <a:rPr sz="2000" b="1" spc="-100" dirty="0">
                <a:solidFill>
                  <a:srgbClr val="FFFFFF"/>
                </a:solidFill>
                <a:latin typeface="Arial"/>
                <a:cs typeface="Arial"/>
              </a:rPr>
              <a:t>realmente </a:t>
            </a:r>
            <a:r>
              <a:rPr sz="2000" b="1" spc="-155" dirty="0">
                <a:solidFill>
                  <a:srgbClr val="FFFFFF"/>
                </a:solidFill>
                <a:latin typeface="Arial"/>
                <a:cs typeface="Arial"/>
              </a:rPr>
              <a:t>valioso </a:t>
            </a:r>
            <a:r>
              <a:rPr sz="2000" b="1" spc="-13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000" b="1" spc="-150" dirty="0">
                <a:solidFill>
                  <a:srgbClr val="FFFFFF"/>
                </a:solidFill>
                <a:latin typeface="Arial"/>
                <a:cs typeface="Arial"/>
              </a:rPr>
              <a:t>un recurso. </a:t>
            </a:r>
            <a:r>
              <a:rPr sz="2000" b="1" i="1" u="heavy" spc="-27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Se </a:t>
            </a:r>
            <a:r>
              <a:rPr sz="2000" b="1" i="1" u="heavy" spc="-11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gana </a:t>
            </a:r>
            <a:r>
              <a:rPr sz="2000" b="1" i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i="1" u="heavy" spc="-10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terreno </a:t>
            </a:r>
            <a:r>
              <a:rPr sz="2000" b="1" i="1" u="heavy" spc="-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a </a:t>
            </a:r>
            <a:r>
              <a:rPr sz="2000" b="1" i="1" u="heavy" spc="-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la </a:t>
            </a:r>
            <a:r>
              <a:rPr sz="2000" b="1" i="1" u="heavy" spc="-1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competencia </a:t>
            </a:r>
            <a:r>
              <a:rPr sz="2000" b="1" i="1" u="heavy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haciendo </a:t>
            </a:r>
            <a:r>
              <a:rPr sz="2000" b="1" i="1" u="heavy" spc="-11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algo </a:t>
            </a:r>
            <a:r>
              <a:rPr sz="2000" b="1" i="1" u="heavy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que </a:t>
            </a:r>
            <a:r>
              <a:rPr sz="2000" b="1" i="1" u="heavy" spc="-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ésta </a:t>
            </a:r>
            <a:r>
              <a:rPr sz="2000" b="1" i="1" u="heavy" spc="-17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no </a:t>
            </a:r>
            <a:r>
              <a:rPr sz="2000" b="1" i="1" u="heavy" spc="-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puede </a:t>
            </a:r>
            <a:r>
              <a:rPr sz="2000" b="1" i="1" u="heavy" spc="-1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hacer </a:t>
            </a:r>
            <a:r>
              <a:rPr sz="2000" b="1" i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25" dirty="0">
                <a:solidFill>
                  <a:srgbClr val="FFFFFF"/>
                </a:solidFill>
                <a:latin typeface="Arial"/>
                <a:cs typeface="Arial"/>
              </a:rPr>
              <a:t>(…)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546735">
              <a:lnSpc>
                <a:spcPct val="100000"/>
              </a:lnSpc>
            </a:pPr>
            <a:r>
              <a:rPr sz="2000" b="1" i="1" spc="-165" dirty="0">
                <a:solidFill>
                  <a:srgbClr val="FFFFFF"/>
                </a:solidFill>
                <a:latin typeface="Arial"/>
                <a:cs typeface="Arial"/>
              </a:rPr>
              <a:t>Nicholas </a:t>
            </a:r>
            <a:r>
              <a:rPr sz="2000" b="1" i="1" spc="-150" dirty="0">
                <a:solidFill>
                  <a:srgbClr val="FFFFFF"/>
                </a:solidFill>
                <a:latin typeface="Arial"/>
                <a:cs typeface="Arial"/>
              </a:rPr>
              <a:t>Carr: </a:t>
            </a:r>
            <a:r>
              <a:rPr sz="2000" i="1" spc="-50" dirty="0">
                <a:solidFill>
                  <a:srgbClr val="FFFFFF"/>
                </a:solidFill>
                <a:latin typeface="Arial"/>
                <a:cs typeface="Arial"/>
              </a:rPr>
              <a:t>“IT </a:t>
            </a:r>
            <a:r>
              <a:rPr sz="2000" i="1" spc="-75" dirty="0">
                <a:solidFill>
                  <a:srgbClr val="FFFFFF"/>
                </a:solidFill>
                <a:latin typeface="Arial"/>
                <a:cs typeface="Arial"/>
              </a:rPr>
              <a:t>doesn’t </a:t>
            </a:r>
            <a:r>
              <a:rPr sz="2000" i="1" spc="10" dirty="0">
                <a:solidFill>
                  <a:srgbClr val="FFFFFF"/>
                </a:solidFill>
                <a:latin typeface="Arial"/>
                <a:cs typeface="Arial"/>
              </a:rPr>
              <a:t>matter” </a:t>
            </a:r>
            <a:r>
              <a:rPr sz="2000" i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i="1" spc="-85" dirty="0">
                <a:solidFill>
                  <a:srgbClr val="FFFFFF"/>
                </a:solidFill>
                <a:latin typeface="Arial"/>
                <a:cs typeface="Arial"/>
              </a:rPr>
              <a:t>Harvard </a:t>
            </a:r>
            <a:r>
              <a:rPr sz="2000" i="1" spc="-155" dirty="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sz="2000" i="1" spc="-1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i="1" spc="-135" dirty="0">
                <a:solidFill>
                  <a:srgbClr val="FFFFFF"/>
                </a:solidFill>
                <a:latin typeface="Arial"/>
                <a:cs typeface="Arial"/>
              </a:rPr>
              <a:t>Review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49</a:t>
            </a:fld>
            <a:endParaRPr spc="-5" dirty="0"/>
          </a:p>
        </p:txBody>
      </p:sp>
      <p:sp>
        <p:nvSpPr>
          <p:cNvPr id="8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  <p:sp>
        <p:nvSpPr>
          <p:cNvPr id="9" name="8 Rectángulo"/>
          <p:cNvSpPr/>
          <p:nvPr/>
        </p:nvSpPr>
        <p:spPr>
          <a:xfrm>
            <a:off x="381000" y="3105835"/>
            <a:ext cx="7924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000" dirty="0" smtClean="0">
                <a:solidFill>
                  <a:srgbClr val="0070C0"/>
                </a:solidFill>
                <a:hlinkClick r:id="rId2"/>
              </a:rPr>
              <a:t>https://www.youtube.com/watch?v=jxZm2Iv4vUE&amp;feature=youtu.be</a:t>
            </a:r>
            <a:endParaRPr lang="es-AR" sz="20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58983" y="4581905"/>
            <a:ext cx="679488" cy="22760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4541520" cy="22783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62125" y="827532"/>
            <a:ext cx="10655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225" dirty="0">
                <a:solidFill>
                  <a:srgbClr val="00338D"/>
                </a:solidFill>
                <a:latin typeface="Arial"/>
                <a:cs typeface="Arial"/>
              </a:rPr>
              <a:t>Síntesis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1119378" y="0"/>
                </a:moveTo>
                <a:lnTo>
                  <a:pt x="334898" y="0"/>
                </a:lnTo>
                <a:lnTo>
                  <a:pt x="0" y="1160526"/>
                </a:lnTo>
                <a:lnTo>
                  <a:pt x="784479" y="1160526"/>
                </a:lnTo>
                <a:lnTo>
                  <a:pt x="11193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0" y="1160526"/>
                </a:moveTo>
                <a:lnTo>
                  <a:pt x="334898" y="0"/>
                </a:lnTo>
                <a:lnTo>
                  <a:pt x="1119378" y="0"/>
                </a:lnTo>
                <a:lnTo>
                  <a:pt x="784479" y="1160526"/>
                </a:lnTo>
                <a:lnTo>
                  <a:pt x="0" y="1160526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35273" y="1247647"/>
            <a:ext cx="4711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55" dirty="0">
                <a:solidFill>
                  <a:srgbClr val="FFFFFF"/>
                </a:solidFill>
                <a:latin typeface="Arial"/>
                <a:cs typeface="Arial"/>
              </a:rPr>
              <a:t>III</a:t>
            </a:r>
            <a:endParaRPr sz="4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342" y="193801"/>
            <a:ext cx="8641080" cy="5943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III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75" dirty="0">
                <a:solidFill>
                  <a:srgbClr val="FFFFFF"/>
                </a:solidFill>
                <a:latin typeface="Arial"/>
                <a:cs typeface="Arial"/>
              </a:rPr>
              <a:t>Síntesis</a:t>
            </a:r>
            <a:r>
              <a:rPr sz="2000" b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2000" dirty="0">
              <a:latin typeface="Arial"/>
              <a:cs typeface="Arial"/>
            </a:endParaRPr>
          </a:p>
          <a:p>
            <a:pPr marL="102235">
              <a:lnSpc>
                <a:spcPct val="100000"/>
              </a:lnSpc>
              <a:spcBef>
                <a:spcPts val="15"/>
              </a:spcBef>
            </a:pP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Resumen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preguntas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0" dirty="0" err="1">
                <a:solidFill>
                  <a:srgbClr val="FFFFFF"/>
                </a:solidFill>
                <a:latin typeface="Arial"/>
                <a:cs typeface="Arial"/>
              </a:rPr>
              <a:t>repaso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00" dirty="0">
              <a:latin typeface="Times New Roman"/>
              <a:cs typeface="Times New Roman"/>
            </a:endParaRPr>
          </a:p>
          <a:p>
            <a:pPr marL="279400" marR="5715" indent="-26670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78765" algn="l"/>
                <a:tab pos="279400" algn="l"/>
                <a:tab pos="1290320" algn="l"/>
                <a:tab pos="1751964" algn="l"/>
                <a:tab pos="2685415" algn="l"/>
                <a:tab pos="3190875" algn="l"/>
                <a:tab pos="3601720" algn="l"/>
                <a:tab pos="4630420" algn="l"/>
                <a:tab pos="5128895" algn="l"/>
                <a:tab pos="5678170" algn="l"/>
                <a:tab pos="6868795" algn="l"/>
                <a:tab pos="7402195" algn="l"/>
              </a:tabLst>
            </a:pPr>
            <a:r>
              <a:rPr sz="2200" spc="-210" dirty="0">
                <a:latin typeface="Arial"/>
                <a:cs typeface="Arial"/>
              </a:rPr>
              <a:t>¿Có</a:t>
            </a:r>
            <a:r>
              <a:rPr sz="2200" spc="-265" dirty="0">
                <a:latin typeface="Arial"/>
                <a:cs typeface="Arial"/>
              </a:rPr>
              <a:t>m</a:t>
            </a:r>
            <a:r>
              <a:rPr sz="2200" spc="-6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85" dirty="0">
                <a:latin typeface="Arial"/>
                <a:cs typeface="Arial"/>
              </a:rPr>
              <a:t>se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5" dirty="0">
                <a:latin typeface="Arial"/>
                <a:cs typeface="Arial"/>
              </a:rPr>
              <a:t>defin</a:t>
            </a:r>
            <a:r>
              <a:rPr sz="2200" spc="-6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75" dirty="0">
                <a:latin typeface="Arial"/>
                <a:cs typeface="Arial"/>
              </a:rPr>
              <a:t>u</a:t>
            </a:r>
            <a:r>
              <a:rPr sz="2200" spc="-70" dirty="0">
                <a:latin typeface="Arial"/>
                <a:cs typeface="Arial"/>
              </a:rPr>
              <a:t>n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260" dirty="0">
                <a:latin typeface="Arial"/>
                <a:cs typeface="Arial"/>
              </a:rPr>
              <a:t>SI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25" dirty="0">
                <a:latin typeface="Arial"/>
                <a:cs typeface="Arial"/>
              </a:rPr>
              <a:t>b</a:t>
            </a:r>
            <a:r>
              <a:rPr sz="2200" spc="-130" dirty="0">
                <a:latin typeface="Arial"/>
                <a:cs typeface="Arial"/>
              </a:rPr>
              <a:t>a</a:t>
            </a:r>
            <a:r>
              <a:rPr sz="2200" spc="-200" dirty="0">
                <a:latin typeface="Arial"/>
                <a:cs typeface="Arial"/>
              </a:rPr>
              <a:t>s</a:t>
            </a:r>
            <a:r>
              <a:rPr sz="2200" spc="-225" dirty="0">
                <a:latin typeface="Arial"/>
                <a:cs typeface="Arial"/>
              </a:rPr>
              <a:t>a</a:t>
            </a:r>
            <a:r>
              <a:rPr sz="2200" spc="-70" dirty="0">
                <a:latin typeface="Arial"/>
                <a:cs typeface="Arial"/>
              </a:rPr>
              <a:t>d</a:t>
            </a:r>
            <a:r>
              <a:rPr sz="2200" spc="-6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0" dirty="0">
                <a:latin typeface="Arial"/>
                <a:cs typeface="Arial"/>
              </a:rPr>
              <a:t>en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70" dirty="0">
                <a:latin typeface="Arial"/>
                <a:cs typeface="Arial"/>
              </a:rPr>
              <a:t>TI</a:t>
            </a:r>
            <a:r>
              <a:rPr sz="2200" spc="-204" dirty="0">
                <a:latin typeface="Arial"/>
                <a:cs typeface="Arial"/>
              </a:rPr>
              <a:t>?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210" dirty="0">
                <a:latin typeface="Arial"/>
                <a:cs typeface="Arial"/>
              </a:rPr>
              <a:t>Des</a:t>
            </a:r>
            <a:r>
              <a:rPr sz="2200" spc="-180" dirty="0">
                <a:latin typeface="Arial"/>
                <a:cs typeface="Arial"/>
              </a:rPr>
              <a:t>c</a:t>
            </a:r>
            <a:r>
              <a:rPr sz="2200" spc="30" dirty="0">
                <a:latin typeface="Arial"/>
                <a:cs typeface="Arial"/>
              </a:rPr>
              <a:t>r</a:t>
            </a:r>
            <a:r>
              <a:rPr sz="2200" spc="10" dirty="0">
                <a:latin typeface="Arial"/>
                <a:cs typeface="Arial"/>
              </a:rPr>
              <a:t>i</a:t>
            </a:r>
            <a:r>
              <a:rPr sz="2200" spc="-125" dirty="0">
                <a:latin typeface="Arial"/>
                <a:cs typeface="Arial"/>
              </a:rPr>
              <a:t>b</a:t>
            </a:r>
            <a:r>
              <a:rPr sz="2200" spc="-120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95" dirty="0">
                <a:latin typeface="Arial"/>
                <a:cs typeface="Arial"/>
              </a:rPr>
              <a:t>lo</a:t>
            </a:r>
            <a:r>
              <a:rPr sz="2200" spc="-114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5" dirty="0">
                <a:latin typeface="Arial"/>
                <a:cs typeface="Arial"/>
              </a:rPr>
              <a:t>pr</a:t>
            </a:r>
            <a:r>
              <a:rPr sz="2200" spc="-20" dirty="0">
                <a:latin typeface="Arial"/>
                <a:cs typeface="Arial"/>
              </a:rPr>
              <a:t>i</a:t>
            </a:r>
            <a:r>
              <a:rPr sz="2200" spc="-85" dirty="0">
                <a:latin typeface="Arial"/>
                <a:cs typeface="Arial"/>
              </a:rPr>
              <a:t>n</a:t>
            </a:r>
            <a:r>
              <a:rPr sz="2200" spc="-110" dirty="0">
                <a:latin typeface="Arial"/>
                <a:cs typeface="Arial"/>
              </a:rPr>
              <a:t>c</a:t>
            </a:r>
            <a:r>
              <a:rPr sz="2200" spc="-60" dirty="0">
                <a:latin typeface="Arial"/>
                <a:cs typeface="Arial"/>
              </a:rPr>
              <a:t>i</a:t>
            </a:r>
            <a:r>
              <a:rPr sz="2200" spc="-125" dirty="0">
                <a:latin typeface="Arial"/>
                <a:cs typeface="Arial"/>
              </a:rPr>
              <a:t>p</a:t>
            </a:r>
            <a:r>
              <a:rPr sz="2200" spc="-130" dirty="0">
                <a:latin typeface="Arial"/>
                <a:cs typeface="Arial"/>
              </a:rPr>
              <a:t>a</a:t>
            </a:r>
            <a:r>
              <a:rPr sz="2200" spc="5" dirty="0">
                <a:latin typeface="Arial"/>
                <a:cs typeface="Arial"/>
              </a:rPr>
              <a:t>l</a:t>
            </a:r>
            <a:r>
              <a:rPr sz="2200" spc="-140" dirty="0">
                <a:latin typeface="Arial"/>
                <a:cs typeface="Arial"/>
              </a:rPr>
              <a:t>es  </a:t>
            </a:r>
            <a:r>
              <a:rPr sz="2200" spc="-85" dirty="0">
                <a:latin typeface="Arial"/>
                <a:cs typeface="Arial"/>
              </a:rPr>
              <a:t>componentes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70" dirty="0">
                <a:latin typeface="Arial"/>
                <a:cs typeface="Arial"/>
              </a:rPr>
              <a:t>un </a:t>
            </a:r>
            <a:r>
              <a:rPr sz="2200" spc="-140" dirty="0">
                <a:latin typeface="Arial"/>
                <a:cs typeface="Arial"/>
              </a:rPr>
              <a:t>Sistema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60" dirty="0">
                <a:latin typeface="Arial"/>
                <a:cs typeface="Arial"/>
              </a:rPr>
              <a:t>Información </a:t>
            </a:r>
            <a:r>
              <a:rPr sz="2200" spc="-135" dirty="0">
                <a:latin typeface="Arial"/>
                <a:cs typeface="Arial"/>
              </a:rPr>
              <a:t>basado </a:t>
            </a:r>
            <a:r>
              <a:rPr sz="2200" spc="-100" dirty="0">
                <a:latin typeface="Arial"/>
                <a:cs typeface="Arial"/>
              </a:rPr>
              <a:t>en</a:t>
            </a:r>
            <a:r>
              <a:rPr sz="2200" spc="-275" dirty="0">
                <a:latin typeface="Arial"/>
                <a:cs typeface="Arial"/>
              </a:rPr>
              <a:t> </a:t>
            </a:r>
            <a:r>
              <a:rPr sz="2200" spc="-85" dirty="0">
                <a:latin typeface="Arial"/>
                <a:cs typeface="Arial"/>
              </a:rPr>
              <a:t>computadoras.</a:t>
            </a:r>
            <a:endParaRPr sz="2200" dirty="0">
              <a:latin typeface="Arial"/>
              <a:cs typeface="Arial"/>
            </a:endParaRPr>
          </a:p>
          <a:p>
            <a:pPr marL="279400" marR="5080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200" spc="-80" dirty="0">
                <a:latin typeface="Arial"/>
                <a:cs typeface="Arial"/>
              </a:rPr>
              <a:t>Nombre </a:t>
            </a:r>
            <a:r>
              <a:rPr sz="2200" spc="-110" dirty="0">
                <a:latin typeface="Arial"/>
                <a:cs typeface="Arial"/>
              </a:rPr>
              <a:t>3 </a:t>
            </a:r>
            <a:r>
              <a:rPr sz="2200" spc="-65" dirty="0">
                <a:latin typeface="Arial"/>
                <a:cs typeface="Arial"/>
              </a:rPr>
              <a:t>periféricos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65" dirty="0">
                <a:latin typeface="Arial"/>
                <a:cs typeface="Arial"/>
              </a:rPr>
              <a:t>entrada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10" dirty="0">
                <a:latin typeface="Arial"/>
                <a:cs typeface="Arial"/>
              </a:rPr>
              <a:t>3 </a:t>
            </a:r>
            <a:r>
              <a:rPr sz="2200" spc="-65" dirty="0">
                <a:latin typeface="Arial"/>
                <a:cs typeface="Arial"/>
              </a:rPr>
              <a:t>periféricos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05" dirty="0">
                <a:latin typeface="Arial"/>
                <a:cs typeface="Arial"/>
              </a:rPr>
              <a:t>salida. </a:t>
            </a:r>
            <a:r>
              <a:rPr sz="2200" spc="-120" dirty="0">
                <a:latin typeface="Arial"/>
                <a:cs typeface="Arial"/>
              </a:rPr>
              <a:t>Describa,  </a:t>
            </a:r>
            <a:r>
              <a:rPr sz="2200" spc="-65" dirty="0">
                <a:latin typeface="Arial"/>
                <a:cs typeface="Arial"/>
              </a:rPr>
              <a:t>mediante </a:t>
            </a:r>
            <a:r>
              <a:rPr sz="2200" spc="-85" dirty="0">
                <a:latin typeface="Arial"/>
                <a:cs typeface="Arial"/>
              </a:rPr>
              <a:t>ejemplos </a:t>
            </a:r>
            <a:r>
              <a:rPr sz="2200" spc="-110" dirty="0">
                <a:latin typeface="Arial"/>
                <a:cs typeface="Arial"/>
              </a:rPr>
              <a:t>específicos, </a:t>
            </a:r>
            <a:r>
              <a:rPr sz="2200" spc="-95" dirty="0">
                <a:latin typeface="Arial"/>
                <a:cs typeface="Arial"/>
              </a:rPr>
              <a:t>cómo </a:t>
            </a:r>
            <a:r>
              <a:rPr sz="2200" spc="-125" dirty="0">
                <a:latin typeface="Arial"/>
                <a:cs typeface="Arial"/>
              </a:rPr>
              <a:t>ha </a:t>
            </a:r>
            <a:r>
              <a:rPr sz="2200" spc="-85" dirty="0">
                <a:latin typeface="Arial"/>
                <a:cs typeface="Arial"/>
              </a:rPr>
              <a:t>evolucionado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75" dirty="0">
                <a:latin typeface="Arial"/>
                <a:cs typeface="Arial"/>
              </a:rPr>
              <a:t>hardware </a:t>
            </a:r>
            <a:r>
              <a:rPr sz="2200" spc="-100" dirty="0">
                <a:latin typeface="Arial"/>
                <a:cs typeface="Arial"/>
              </a:rPr>
              <a:t>para  </a:t>
            </a:r>
            <a:r>
              <a:rPr sz="2200" spc="-60" dirty="0">
                <a:latin typeface="Arial"/>
                <a:cs typeface="Arial"/>
              </a:rPr>
              <a:t>tornarse </a:t>
            </a:r>
            <a:r>
              <a:rPr sz="2200" spc="-105" dirty="0">
                <a:latin typeface="Arial"/>
                <a:cs typeface="Arial"/>
              </a:rPr>
              <a:t>una </a:t>
            </a:r>
            <a:r>
              <a:rPr sz="2200" spc="-70" dirty="0">
                <a:latin typeface="Arial"/>
                <a:cs typeface="Arial"/>
              </a:rPr>
              <a:t>ventaja</a:t>
            </a:r>
            <a:r>
              <a:rPr sz="2200" spc="-229" dirty="0">
                <a:latin typeface="Arial"/>
                <a:cs typeface="Arial"/>
              </a:rPr>
              <a:t> </a:t>
            </a:r>
            <a:r>
              <a:rPr sz="2200" spc="-50" dirty="0">
                <a:latin typeface="Arial"/>
                <a:cs typeface="Arial"/>
              </a:rPr>
              <a:t>competitiva.</a:t>
            </a:r>
            <a:endParaRPr sz="2200" dirty="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200" spc="-125" dirty="0">
                <a:latin typeface="Arial"/>
                <a:cs typeface="Arial"/>
              </a:rPr>
              <a:t>Describa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75" dirty="0">
                <a:latin typeface="Arial"/>
                <a:cs typeface="Arial"/>
              </a:rPr>
              <a:t>concepto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30" dirty="0">
                <a:latin typeface="Arial"/>
                <a:cs typeface="Arial"/>
              </a:rPr>
              <a:t>IoT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30" dirty="0">
                <a:latin typeface="Arial"/>
                <a:cs typeface="Arial"/>
              </a:rPr>
              <a:t>cuáles </a:t>
            </a:r>
            <a:r>
              <a:rPr sz="2200" spc="-125" dirty="0">
                <a:latin typeface="Arial"/>
                <a:cs typeface="Arial"/>
              </a:rPr>
              <a:t>son </a:t>
            </a:r>
            <a:r>
              <a:rPr sz="2200" spc="-185" dirty="0">
                <a:latin typeface="Arial"/>
                <a:cs typeface="Arial"/>
              </a:rPr>
              <a:t>sus</a:t>
            </a:r>
            <a:r>
              <a:rPr sz="2200" spc="-260" dirty="0">
                <a:latin typeface="Arial"/>
                <a:cs typeface="Arial"/>
              </a:rPr>
              <a:t> </a:t>
            </a:r>
            <a:r>
              <a:rPr sz="2200" spc="-100" dirty="0">
                <a:latin typeface="Arial"/>
                <a:cs typeface="Arial"/>
              </a:rPr>
              <a:t>aplicaciones.</a:t>
            </a:r>
            <a:endParaRPr sz="2200" dirty="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200" spc="-114" dirty="0">
                <a:latin typeface="Arial"/>
                <a:cs typeface="Arial"/>
              </a:rPr>
              <a:t>Explique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75" dirty="0">
                <a:latin typeface="Arial"/>
                <a:cs typeface="Arial"/>
              </a:rPr>
              <a:t>concepto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95" dirty="0">
                <a:latin typeface="Arial"/>
                <a:cs typeface="Arial"/>
              </a:rPr>
              <a:t>los </a:t>
            </a:r>
            <a:r>
              <a:rPr sz="2200" spc="-85" dirty="0">
                <a:latin typeface="Arial"/>
                <a:cs typeface="Arial"/>
              </a:rPr>
              <a:t>beneficios </a:t>
            </a:r>
            <a:r>
              <a:rPr sz="2200" spc="-90" dirty="0">
                <a:latin typeface="Arial"/>
                <a:cs typeface="Arial"/>
              </a:rPr>
              <a:t>que </a:t>
            </a:r>
            <a:r>
              <a:rPr sz="2200" spc="-35" dirty="0">
                <a:latin typeface="Arial"/>
                <a:cs typeface="Arial"/>
              </a:rPr>
              <a:t>trae</a:t>
            </a:r>
            <a:r>
              <a:rPr sz="2200" spc="-445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la </a:t>
            </a:r>
            <a:r>
              <a:rPr sz="2200" spc="-65" dirty="0">
                <a:latin typeface="Arial"/>
                <a:cs typeface="Arial"/>
              </a:rPr>
              <a:t>impresión </a:t>
            </a:r>
            <a:r>
              <a:rPr sz="2200" spc="-135" dirty="0">
                <a:latin typeface="Arial"/>
                <a:cs typeface="Arial"/>
              </a:rPr>
              <a:t>3D.</a:t>
            </a:r>
            <a:endParaRPr sz="2200" dirty="0">
              <a:latin typeface="Arial"/>
              <a:cs typeface="Arial"/>
            </a:endParaRPr>
          </a:p>
          <a:p>
            <a:pPr marL="279400" marR="635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  <a:tab pos="1012190" algn="l"/>
                <a:tab pos="2083435" algn="l"/>
                <a:tab pos="2463165" algn="l"/>
                <a:tab pos="3504565" algn="l"/>
                <a:tab pos="4629785" algn="l"/>
                <a:tab pos="5045710" algn="l"/>
                <a:tab pos="5372735" algn="l"/>
                <a:tab pos="6501130" algn="l"/>
                <a:tab pos="7887970" algn="l"/>
                <a:tab pos="8429625" algn="l"/>
              </a:tabLst>
            </a:pPr>
            <a:r>
              <a:rPr sz="2200" spc="-200" dirty="0">
                <a:latin typeface="Arial"/>
                <a:cs typeface="Arial"/>
              </a:rPr>
              <a:t>¿Qu</a:t>
            </a:r>
            <a:r>
              <a:rPr sz="2200" spc="-170" dirty="0">
                <a:latin typeface="Arial"/>
                <a:cs typeface="Arial"/>
              </a:rPr>
              <a:t>é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80" dirty="0">
                <a:latin typeface="Arial"/>
                <a:cs typeface="Arial"/>
              </a:rPr>
              <a:t>c</a:t>
            </a:r>
            <a:r>
              <a:rPr sz="2200" spc="-90" dirty="0">
                <a:latin typeface="Arial"/>
                <a:cs typeface="Arial"/>
              </a:rPr>
              <a:t>amb</a:t>
            </a:r>
            <a:r>
              <a:rPr sz="2200" spc="-45" dirty="0">
                <a:latin typeface="Arial"/>
                <a:cs typeface="Arial"/>
              </a:rPr>
              <a:t>i</a:t>
            </a:r>
            <a:r>
              <a:rPr sz="2200" spc="-165" dirty="0">
                <a:latin typeface="Arial"/>
                <a:cs typeface="Arial"/>
              </a:rPr>
              <a:t>o</a:t>
            </a:r>
            <a:r>
              <a:rPr sz="2200" spc="-145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85" dirty="0">
                <a:latin typeface="Arial"/>
                <a:cs typeface="Arial"/>
              </a:rPr>
              <a:t>se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14" dirty="0">
                <a:latin typeface="Arial"/>
                <a:cs typeface="Arial"/>
              </a:rPr>
              <a:t>esper</a:t>
            </a:r>
            <a:r>
              <a:rPr sz="2200" spc="-140" dirty="0">
                <a:latin typeface="Arial"/>
                <a:cs typeface="Arial"/>
              </a:rPr>
              <a:t>a</a:t>
            </a:r>
            <a:r>
              <a:rPr sz="2200" spc="-70" dirty="0">
                <a:latin typeface="Arial"/>
                <a:cs typeface="Arial"/>
              </a:rPr>
              <a:t>n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35" dirty="0">
                <a:latin typeface="Arial"/>
                <a:cs typeface="Arial"/>
              </a:rPr>
              <a:t>ob</a:t>
            </a:r>
            <a:r>
              <a:rPr sz="2200" spc="-125" dirty="0">
                <a:latin typeface="Arial"/>
                <a:cs typeface="Arial"/>
              </a:rPr>
              <a:t>s</a:t>
            </a:r>
            <a:r>
              <a:rPr sz="2200" spc="-65" dirty="0">
                <a:latin typeface="Arial"/>
                <a:cs typeface="Arial"/>
              </a:rPr>
              <a:t>er</a:t>
            </a:r>
            <a:r>
              <a:rPr sz="2200" spc="-85" dirty="0">
                <a:latin typeface="Arial"/>
                <a:cs typeface="Arial"/>
              </a:rPr>
              <a:t>v</a:t>
            </a:r>
            <a:r>
              <a:rPr sz="2200" spc="-70" dirty="0">
                <a:latin typeface="Arial"/>
                <a:cs typeface="Arial"/>
              </a:rPr>
              <a:t>ar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0" dirty="0">
                <a:latin typeface="Arial"/>
                <a:cs typeface="Arial"/>
              </a:rPr>
              <a:t>en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5" dirty="0">
                <a:latin typeface="Arial"/>
                <a:cs typeface="Arial"/>
              </a:rPr>
              <a:t>l</a:t>
            </a:r>
            <a:r>
              <a:rPr sz="2200" spc="-110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-75" dirty="0">
                <a:latin typeface="Arial"/>
                <a:cs typeface="Arial"/>
              </a:rPr>
              <a:t>n</a:t>
            </a:r>
            <a:r>
              <a:rPr sz="2200" spc="-80" dirty="0">
                <a:latin typeface="Arial"/>
                <a:cs typeface="Arial"/>
              </a:rPr>
              <a:t>dus</a:t>
            </a:r>
            <a:r>
              <a:rPr sz="2200" spc="-50" dirty="0">
                <a:latin typeface="Arial"/>
                <a:cs typeface="Arial"/>
              </a:rPr>
              <a:t>t</a:t>
            </a:r>
            <a:r>
              <a:rPr sz="2200" spc="30" dirty="0">
                <a:latin typeface="Arial"/>
                <a:cs typeface="Arial"/>
              </a:rPr>
              <a:t>r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-170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20" dirty="0">
                <a:latin typeface="Arial"/>
                <a:cs typeface="Arial"/>
              </a:rPr>
              <a:t>a</a:t>
            </a:r>
            <a:r>
              <a:rPr sz="2200" spc="-130" dirty="0">
                <a:latin typeface="Arial"/>
                <a:cs typeface="Arial"/>
              </a:rPr>
              <a:t>u</a:t>
            </a:r>
            <a:r>
              <a:rPr sz="2200" spc="-20" dirty="0">
                <a:latin typeface="Arial"/>
                <a:cs typeface="Arial"/>
              </a:rPr>
              <a:t>tomotriz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0" dirty="0">
                <a:latin typeface="Arial"/>
                <a:cs typeface="Arial"/>
              </a:rPr>
              <a:t>con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80" dirty="0">
                <a:latin typeface="Arial"/>
                <a:cs typeface="Arial"/>
              </a:rPr>
              <a:t>la  </a:t>
            </a:r>
            <a:r>
              <a:rPr sz="2200" spc="-110" dirty="0">
                <a:latin typeface="Arial"/>
                <a:cs typeface="Arial"/>
              </a:rPr>
              <a:t>elevada </a:t>
            </a:r>
            <a:r>
              <a:rPr sz="2200" spc="-70" dirty="0">
                <a:latin typeface="Arial"/>
                <a:cs typeface="Arial"/>
              </a:rPr>
              <a:t>penetración 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spc="-204" dirty="0">
                <a:latin typeface="Arial"/>
                <a:cs typeface="Arial"/>
              </a:rPr>
              <a:t> </a:t>
            </a:r>
            <a:r>
              <a:rPr sz="2200" spc="-95" dirty="0">
                <a:latin typeface="Arial"/>
                <a:cs typeface="Arial"/>
              </a:rPr>
              <a:t>tecnología?</a:t>
            </a:r>
            <a:endParaRPr sz="2200" dirty="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200" spc="-75" dirty="0">
                <a:latin typeface="Arial"/>
                <a:cs typeface="Arial"/>
              </a:rPr>
              <a:t>Mencione </a:t>
            </a:r>
            <a:r>
              <a:rPr sz="2200" spc="-85" dirty="0">
                <a:latin typeface="Arial"/>
                <a:cs typeface="Arial"/>
              </a:rPr>
              <a:t>ejemplos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75" dirty="0">
                <a:latin typeface="Arial"/>
                <a:cs typeface="Arial"/>
              </a:rPr>
              <a:t>hardware </a:t>
            </a:r>
            <a:r>
              <a:rPr sz="2200" spc="-95" dirty="0">
                <a:latin typeface="Arial"/>
                <a:cs typeface="Arial"/>
              </a:rPr>
              <a:t>como </a:t>
            </a:r>
            <a:r>
              <a:rPr sz="2200" spc="-70" dirty="0">
                <a:latin typeface="Arial"/>
                <a:cs typeface="Arial"/>
              </a:rPr>
              <a:t>ventaja</a:t>
            </a:r>
            <a:r>
              <a:rPr sz="2200" spc="-310" dirty="0">
                <a:latin typeface="Arial"/>
                <a:cs typeface="Arial"/>
              </a:rPr>
              <a:t> </a:t>
            </a:r>
            <a:r>
              <a:rPr sz="2200" spc="-50" dirty="0">
                <a:latin typeface="Arial"/>
                <a:cs typeface="Arial"/>
              </a:rPr>
              <a:t>competitiva.</a:t>
            </a:r>
            <a:endParaRPr sz="2200" dirty="0">
              <a:latin typeface="Arial"/>
              <a:cs typeface="Arial"/>
            </a:endParaRPr>
          </a:p>
          <a:p>
            <a:pPr marL="279400" marR="5715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  <a:tab pos="1222375" algn="l"/>
                <a:tab pos="1884680" algn="l"/>
                <a:tab pos="2214245" algn="l"/>
                <a:tab pos="3557270" algn="l"/>
                <a:tab pos="4243070" algn="l"/>
                <a:tab pos="5502910" algn="l"/>
                <a:tab pos="5992495" algn="l"/>
                <a:tab pos="7503795" algn="l"/>
              </a:tabLst>
            </a:pPr>
            <a:r>
              <a:rPr sz="2200" spc="-75" dirty="0">
                <a:latin typeface="Arial"/>
                <a:cs typeface="Arial"/>
              </a:rPr>
              <a:t>Defi</a:t>
            </a:r>
            <a:r>
              <a:rPr sz="2200" spc="-95" dirty="0">
                <a:latin typeface="Arial"/>
                <a:cs typeface="Arial"/>
              </a:rPr>
              <a:t>n</a:t>
            </a:r>
            <a:r>
              <a:rPr sz="2200" spc="-170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310" dirty="0">
                <a:latin typeface="Arial"/>
                <a:cs typeface="Arial"/>
              </a:rPr>
              <a:t>RPA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5" dirty="0">
                <a:latin typeface="Arial"/>
                <a:cs typeface="Arial"/>
              </a:rPr>
              <a:t>y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45" dirty="0">
                <a:latin typeface="Arial"/>
                <a:cs typeface="Arial"/>
              </a:rPr>
              <a:t>difere</a:t>
            </a:r>
            <a:r>
              <a:rPr sz="2200" spc="-65" dirty="0">
                <a:latin typeface="Arial"/>
                <a:cs typeface="Arial"/>
              </a:rPr>
              <a:t>n</a:t>
            </a:r>
            <a:r>
              <a:rPr sz="2200" spc="-180" dirty="0">
                <a:latin typeface="Arial"/>
                <a:cs typeface="Arial"/>
              </a:rPr>
              <a:t>c</a:t>
            </a:r>
            <a:r>
              <a:rPr sz="2200" spc="-60" dirty="0">
                <a:latin typeface="Arial"/>
                <a:cs typeface="Arial"/>
              </a:rPr>
              <a:t>ie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95" dirty="0">
                <a:latin typeface="Arial"/>
                <a:cs typeface="Arial"/>
              </a:rPr>
              <a:t>este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0" dirty="0">
                <a:latin typeface="Arial"/>
                <a:cs typeface="Arial"/>
              </a:rPr>
              <a:t>co</a:t>
            </a:r>
            <a:r>
              <a:rPr sz="2200" spc="-114" dirty="0">
                <a:latin typeface="Arial"/>
                <a:cs typeface="Arial"/>
              </a:rPr>
              <a:t>n</a:t>
            </a:r>
            <a:r>
              <a:rPr sz="2200" spc="-60" dirty="0">
                <a:latin typeface="Arial"/>
                <a:cs typeface="Arial"/>
              </a:rPr>
              <a:t>cepto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70" dirty="0">
                <a:latin typeface="Arial"/>
                <a:cs typeface="Arial"/>
              </a:rPr>
              <a:t>I</a:t>
            </a:r>
            <a:r>
              <a:rPr sz="2200" spc="-15" dirty="0">
                <a:latin typeface="Arial"/>
                <a:cs typeface="Arial"/>
              </a:rPr>
              <a:t>nteli</a:t>
            </a:r>
            <a:r>
              <a:rPr sz="2200" spc="-130" dirty="0">
                <a:latin typeface="Arial"/>
                <a:cs typeface="Arial"/>
              </a:rPr>
              <a:t>ge</a:t>
            </a:r>
            <a:r>
              <a:rPr sz="2200" spc="-140" dirty="0">
                <a:latin typeface="Arial"/>
                <a:cs typeface="Arial"/>
              </a:rPr>
              <a:t>n</a:t>
            </a:r>
            <a:r>
              <a:rPr sz="2200" spc="-180" dirty="0">
                <a:latin typeface="Arial"/>
                <a:cs typeface="Arial"/>
              </a:rPr>
              <a:t>c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-170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95" dirty="0">
                <a:latin typeface="Arial"/>
                <a:cs typeface="Arial"/>
              </a:rPr>
              <a:t>Cog</a:t>
            </a:r>
            <a:r>
              <a:rPr sz="2200" spc="-180" dirty="0">
                <a:latin typeface="Arial"/>
                <a:cs typeface="Arial"/>
              </a:rPr>
              <a:t>n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75" dirty="0">
                <a:latin typeface="Arial"/>
                <a:cs typeface="Arial"/>
              </a:rPr>
              <a:t>t</a:t>
            </a:r>
            <a:r>
              <a:rPr sz="2200" spc="45" dirty="0">
                <a:latin typeface="Arial"/>
                <a:cs typeface="Arial"/>
              </a:rPr>
              <a:t>i</a:t>
            </a:r>
            <a:r>
              <a:rPr sz="2200" spc="-130" dirty="0">
                <a:latin typeface="Arial"/>
                <a:cs typeface="Arial"/>
              </a:rPr>
              <a:t>v</a:t>
            </a:r>
            <a:r>
              <a:rPr sz="2200" spc="-155" dirty="0">
                <a:latin typeface="Arial"/>
                <a:cs typeface="Arial"/>
              </a:rPr>
              <a:t>a</a:t>
            </a:r>
            <a:r>
              <a:rPr sz="2200" spc="-60" dirty="0">
                <a:latin typeface="Arial"/>
                <a:cs typeface="Arial"/>
              </a:rPr>
              <a:t>.  </a:t>
            </a:r>
            <a:r>
              <a:rPr sz="2200" spc="-70" dirty="0">
                <a:latin typeface="Arial"/>
                <a:cs typeface="Arial"/>
              </a:rPr>
              <a:t>Ejemplifique</a:t>
            </a:r>
            <a:endParaRPr sz="2200" dirty="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200" spc="-80" dirty="0">
                <a:latin typeface="Arial"/>
                <a:cs typeface="Arial"/>
              </a:rPr>
              <a:t>Diferencie </a:t>
            </a:r>
            <a:r>
              <a:rPr sz="2200" spc="-120" dirty="0">
                <a:latin typeface="Arial"/>
                <a:cs typeface="Arial"/>
              </a:rPr>
              <a:t>Realidad </a:t>
            </a:r>
            <a:r>
              <a:rPr sz="2200" spc="-45" dirty="0">
                <a:latin typeface="Arial"/>
                <a:cs typeface="Arial"/>
              </a:rPr>
              <a:t>Virtual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20" dirty="0">
                <a:latin typeface="Arial"/>
                <a:cs typeface="Arial"/>
              </a:rPr>
              <a:t>Realidad </a:t>
            </a:r>
            <a:r>
              <a:rPr sz="2200" spc="-90" dirty="0">
                <a:latin typeface="Arial"/>
                <a:cs typeface="Arial"/>
              </a:rPr>
              <a:t>Aumentada.</a:t>
            </a:r>
            <a:r>
              <a:rPr sz="2200" spc="-315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Ejemplifique.</a:t>
            </a:r>
            <a:endParaRPr sz="2200" dirty="0">
              <a:latin typeface="Arial"/>
              <a:cs typeface="Arial"/>
            </a:endParaRPr>
          </a:p>
          <a:p>
            <a:pPr marL="279400" marR="5715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200" spc="-114" dirty="0">
                <a:latin typeface="Arial"/>
                <a:cs typeface="Arial"/>
              </a:rPr>
              <a:t>Discuta </a:t>
            </a:r>
            <a:r>
              <a:rPr sz="2200" spc="-95" dirty="0">
                <a:latin typeface="Arial"/>
                <a:cs typeface="Arial"/>
              </a:rPr>
              <a:t>los </a:t>
            </a:r>
            <a:r>
              <a:rPr sz="2200" spc="-85" dirty="0">
                <a:latin typeface="Arial"/>
                <a:cs typeface="Arial"/>
              </a:rPr>
              <a:t>principales </a:t>
            </a:r>
            <a:r>
              <a:rPr sz="2200" spc="-90" dirty="0">
                <a:latin typeface="Arial"/>
                <a:cs typeface="Arial"/>
              </a:rPr>
              <a:t>argumentos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10" dirty="0">
                <a:latin typeface="Arial"/>
                <a:cs typeface="Arial"/>
              </a:rPr>
              <a:t>Nicholas </a:t>
            </a:r>
            <a:r>
              <a:rPr sz="2200" spc="-135" dirty="0">
                <a:latin typeface="Arial"/>
                <a:cs typeface="Arial"/>
              </a:rPr>
              <a:t>Carr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10" dirty="0">
                <a:latin typeface="Arial"/>
                <a:cs typeface="Arial"/>
              </a:rPr>
              <a:t>torno </a:t>
            </a:r>
            <a:r>
              <a:rPr sz="2200" spc="-170" dirty="0">
                <a:latin typeface="Arial"/>
                <a:cs typeface="Arial"/>
              </a:rPr>
              <a:t>a </a:t>
            </a:r>
            <a:r>
              <a:rPr sz="2200" spc="-35" dirty="0">
                <a:latin typeface="Arial"/>
                <a:cs typeface="Arial"/>
              </a:rPr>
              <a:t>por </a:t>
            </a:r>
            <a:r>
              <a:rPr sz="2200" spc="-95" dirty="0">
                <a:latin typeface="Arial"/>
                <a:cs typeface="Arial"/>
              </a:rPr>
              <a:t>qué </a:t>
            </a:r>
            <a:r>
              <a:rPr sz="2200" spc="-85" dirty="0">
                <a:latin typeface="Arial"/>
                <a:cs typeface="Arial"/>
              </a:rPr>
              <a:t>la  </a:t>
            </a:r>
            <a:r>
              <a:rPr sz="2200" spc="-165" dirty="0">
                <a:latin typeface="Arial"/>
                <a:cs typeface="Arial"/>
              </a:rPr>
              <a:t>TI </a:t>
            </a:r>
            <a:r>
              <a:rPr sz="2200" spc="-140" dirty="0">
                <a:latin typeface="Arial"/>
                <a:cs typeface="Arial"/>
              </a:rPr>
              <a:t>ya </a:t>
            </a:r>
            <a:r>
              <a:rPr sz="2200" spc="-65" dirty="0">
                <a:latin typeface="Arial"/>
                <a:cs typeface="Arial"/>
              </a:rPr>
              <a:t>no </a:t>
            </a:r>
            <a:r>
              <a:rPr sz="2200" spc="-185" dirty="0">
                <a:latin typeface="Arial"/>
                <a:cs typeface="Arial"/>
              </a:rPr>
              <a:t>es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35" dirty="0">
                <a:latin typeface="Arial"/>
                <a:cs typeface="Arial"/>
              </a:rPr>
              <a:t>importante.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15"/>
                </a:spcBef>
              </a:pPr>
              <a:t>51</a:t>
            </a:fld>
            <a:endParaRPr spc="-5" dirty="0"/>
          </a:p>
        </p:txBody>
      </p:sp>
      <p:sp>
        <p:nvSpPr>
          <p:cNvPr id="5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35" dirty="0">
                <a:latin typeface="Trebuchet MS"/>
                <a:cs typeface="Trebuchet MS"/>
              </a:rPr>
              <a:t>2019</a:t>
            </a:r>
            <a:r>
              <a:rPr b="1" spc="-45" dirty="0">
                <a:latin typeface="Trebuchet MS"/>
                <a:cs typeface="Trebuchet MS"/>
              </a:rPr>
              <a:t> </a:t>
            </a:r>
            <a:r>
              <a:rPr b="1" spc="15" dirty="0">
                <a:latin typeface="Trebuchet MS"/>
                <a:cs typeface="Trebuchet MS"/>
              </a:rPr>
              <a:t>Universidad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20" dirty="0">
                <a:latin typeface="Trebuchet MS"/>
                <a:cs typeface="Trebuchet MS"/>
              </a:rPr>
              <a:t>Argentina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b="1" spc="5" dirty="0">
                <a:latin typeface="Trebuchet MS"/>
                <a:cs typeface="Trebuchet MS"/>
              </a:rPr>
              <a:t>de</a:t>
            </a:r>
            <a:r>
              <a:rPr b="1" spc="-3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la</a:t>
            </a:r>
            <a:r>
              <a:rPr b="1" spc="-30" dirty="0">
                <a:latin typeface="Trebuchet MS"/>
                <a:cs typeface="Trebuchet MS"/>
              </a:rPr>
              <a:t> </a:t>
            </a:r>
            <a:r>
              <a:rPr b="1" spc="25" dirty="0">
                <a:latin typeface="Trebuchet MS"/>
                <a:cs typeface="Trebuchet MS"/>
              </a:rPr>
              <a:t>Empresa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130" dirty="0"/>
              <a:t>–</a:t>
            </a:r>
            <a:r>
              <a:rPr spc="-20" dirty="0"/>
              <a:t> </a:t>
            </a:r>
            <a:r>
              <a:rPr spc="40" dirty="0"/>
              <a:t>Mag.</a:t>
            </a:r>
            <a:r>
              <a:rPr spc="-35" dirty="0"/>
              <a:t> </a:t>
            </a:r>
            <a:r>
              <a:rPr lang="es-AR" spc="-5" dirty="0" smtClean="0"/>
              <a:t>Javier Klus</a:t>
            </a:r>
            <a:r>
              <a:rPr spc="-30" dirty="0" smtClean="0"/>
              <a:t>(</a:t>
            </a:r>
            <a:r>
              <a:rPr lang="es-AR" spc="-30" dirty="0" err="1" smtClean="0"/>
              <a:t>jklus</a:t>
            </a:r>
            <a:r>
              <a:rPr spc="-30" dirty="0" smtClean="0"/>
              <a:t>@</a:t>
            </a:r>
            <a:r>
              <a:rPr spc="-30" dirty="0" err="1" smtClean="0"/>
              <a:t>uade.edu.ar</a:t>
            </a:r>
            <a:r>
              <a:rPr spc="-30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" y="0"/>
            <a:ext cx="9139427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5750" y="2084070"/>
            <a:ext cx="191198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330" dirty="0"/>
              <a:t>¿Dudas?</a:t>
            </a:r>
            <a:endParaRPr sz="3000"/>
          </a:p>
          <a:p>
            <a:pPr marL="12700">
              <a:lnSpc>
                <a:spcPct val="100000"/>
              </a:lnSpc>
            </a:pPr>
            <a:r>
              <a:rPr sz="3000" spc="-445" dirty="0"/>
              <a:t>¿</a:t>
            </a:r>
            <a:r>
              <a:rPr sz="3000" spc="-275" dirty="0"/>
              <a:t>Consulta</a:t>
            </a:r>
            <a:r>
              <a:rPr sz="3000" spc="-280" dirty="0"/>
              <a:t>s</a:t>
            </a:r>
            <a:r>
              <a:rPr sz="3000" spc="-445" dirty="0"/>
              <a:t>?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3845</Words>
  <Application>Microsoft Office PowerPoint</Application>
  <PresentationFormat>Presentación en pantalla (4:3)</PresentationFormat>
  <Paragraphs>444</Paragraphs>
  <Slides>52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52</vt:i4>
      </vt:variant>
    </vt:vector>
  </HeadingPairs>
  <TitlesOfParts>
    <vt:vector size="53" baseType="lpstr">
      <vt:lpstr>Office Theme</vt:lpstr>
      <vt:lpstr>Sistemas de  Información</vt:lpstr>
      <vt:lpstr>Diapositiva 2</vt:lpstr>
      <vt:lpstr>Diapositiva 3</vt:lpstr>
      <vt:lpstr>Diapositiva 4</vt:lpstr>
      <vt:lpstr>Diapositiva 5</vt:lpstr>
      <vt:lpstr>Diapositiva 6</vt:lpstr>
      <vt:lpstr>I – Planeamiento corporativo de Sistemas de Información (Cont.) Los Sistemas de Información como ventaja competitiva</vt:lpstr>
      <vt:lpstr>I – Planeamiento corporativo de Sistemas de Información (Cont.) Tecnología, negocios y estrategia</vt:lpstr>
      <vt:lpstr>I – Planeamiento corporativo de Sistemas de Información (Cont.) Tecnología, negocios y estrategia</vt:lpstr>
      <vt:lpstr>I – Planeamiento corporativo de Sistemas de Información (Cont.) Tecnología, negocios y estrategia</vt:lpstr>
      <vt:lpstr>I – Planeamiento corporativo de Sistemas de Información (Cont.) Tecnología, negocios y estrategia</vt:lpstr>
      <vt:lpstr>I – Planeamiento corporativo de Sistemas de Información (Cont.) Tecnología, negocios y estrategia</vt:lpstr>
      <vt:lpstr>Diapositiva 13</vt:lpstr>
      <vt:lpstr>Hardware</vt:lpstr>
      <vt:lpstr>II – Hardware (Cont.)</vt:lpstr>
      <vt:lpstr>II – Hardware (Cont.) Conceptos básicos de Hardware</vt:lpstr>
      <vt:lpstr>II – Hardware (Cont.)</vt:lpstr>
      <vt:lpstr>II – Hardware (Cont.) Conceptos básicos de Hardware</vt:lpstr>
      <vt:lpstr>II – Hardware (Cont.) Conceptos básicos de Hardware</vt:lpstr>
      <vt:lpstr>II – Hardware (Cont.) Conceptos básicos de Hardware</vt:lpstr>
      <vt:lpstr>II – Hardware (Cont.) Conceptos básicos de Hardware</vt:lpstr>
      <vt:lpstr>II – Hardware (Cont.) Conceptos básicos de Hardware</vt:lpstr>
      <vt:lpstr>Tipos de Sistemas de Información</vt:lpstr>
      <vt:lpstr>Microcomputadoras</vt:lpstr>
      <vt:lpstr>II – Hardware (Cont.) Sistemas computacionales y de almacenamiento</vt:lpstr>
      <vt:lpstr>Computadores de Rango Medio</vt:lpstr>
      <vt:lpstr>II – Hardware (Cont.) Sistemas computacionales y de almacenamiento</vt:lpstr>
      <vt:lpstr>II – Hardware (Cont.) Sistemas computacionales y de almacenamiento</vt:lpstr>
      <vt:lpstr>Diapositiva 29</vt:lpstr>
      <vt:lpstr>Diapositiva 30</vt:lpstr>
      <vt:lpstr>II – Hardware (Cont.) Sistemas computacionales y de almacenamiento</vt:lpstr>
      <vt:lpstr>II – Hardware (Cont.) Los nuevos desafíos y aplicaciones de la era digital</vt:lpstr>
      <vt:lpstr>Diapositiva 33</vt:lpstr>
      <vt:lpstr>II – Hardware (Cont.) Los nuevos desafíos y aplicaciones de la era digital</vt:lpstr>
      <vt:lpstr>Diapositiva 35</vt:lpstr>
      <vt:lpstr>Diapositiva 36</vt:lpstr>
      <vt:lpstr>II – Hardware (Cont.) Los nuevos desafíos y aplicaciones de la era digital</vt:lpstr>
      <vt:lpstr>II – Hardware (Cont.) Los nuevos desafíos y aplicaciones de la era digital</vt:lpstr>
      <vt:lpstr>II – Hardware (Cont.) Los nuevos desafíos y aplicaciones de la era digital</vt:lpstr>
      <vt:lpstr>II – Hardware (Cont.) Los nuevos desafíos y aplicaciones de la era digital</vt:lpstr>
      <vt:lpstr>II – Hardware (Cont.) Los nuevos desafíos y aplicaciones de la era digital</vt:lpstr>
      <vt:lpstr>II – Hardware (Cont.) Los nuevos desafíos y aplicaciones de la era digital</vt:lpstr>
      <vt:lpstr>Diapositiva 43</vt:lpstr>
      <vt:lpstr>II – Hardware (Cont.) Los nuevos desafíos y aplicaciones de la era digital</vt:lpstr>
      <vt:lpstr>II – Hardware (Cont.) Los nuevos desafíos y aplicaciones de la era digital</vt:lpstr>
      <vt:lpstr>II – Hardware (Cont.) Los nuevos desafíos y aplicaciones de la era digital</vt:lpstr>
      <vt:lpstr>II – Hardware (Cont.) Los nuevos desafíos y aplicaciones de la era digital</vt:lpstr>
      <vt:lpstr>II – Hardware (Cont.) Los nuevos desafíos y aplicaciones de la era digital</vt:lpstr>
      <vt:lpstr>II – Hardware (Cont.) Los nuevos desafíos y aplicaciones de la era digital</vt:lpstr>
      <vt:lpstr>Diapositiva 50</vt:lpstr>
      <vt:lpstr>Diapositiva 51</vt:lpstr>
      <vt:lpstr>¿Dudas? ¿Consultas?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Datawarehousing</dc:title>
  <dc:creator>Roberto Abalde</dc:creator>
  <cp:lastModifiedBy>GLORIA</cp:lastModifiedBy>
  <cp:revision>12</cp:revision>
  <dcterms:created xsi:type="dcterms:W3CDTF">2019-08-14T14:07:08Z</dcterms:created>
  <dcterms:modified xsi:type="dcterms:W3CDTF">2019-08-27T23:18:09Z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2019-03-03T00:00:00Z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2019-08-14T00:00:00Z</vt:filetime>
  </property>
</Properties>
</file>