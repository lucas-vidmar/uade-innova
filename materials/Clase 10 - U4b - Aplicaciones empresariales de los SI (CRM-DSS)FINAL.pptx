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9296400" cy="70104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2125" y="827532"/>
            <a:ext cx="6619748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750" y="2084070"/>
            <a:ext cx="85725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68" y="1498853"/>
            <a:ext cx="8616315" cy="264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5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12" Type="http://schemas.openxmlformats.org/officeDocument/2006/relationships/hyperlink" Target="https://www.cms-connected.com/News-Archive/November-2018/The-Forrester-Wave-CRM-Suites%2C-Q4-2018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11" Type="http://schemas.openxmlformats.org/officeDocument/2006/relationships/image" Target="../media/image44.png"/><Relationship Id="rId5" Type="http://schemas.openxmlformats.org/officeDocument/2006/relationships/image" Target="../media/image38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7" Type="http://schemas.openxmlformats.org/officeDocument/2006/relationships/image" Target="../media/image55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7" Type="http://schemas.openxmlformats.org/officeDocument/2006/relationships/image" Target="../media/image61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pu-tl7uzFM" TargetMode="External"/><Relationship Id="rId2" Type="http://schemas.openxmlformats.org/officeDocument/2006/relationships/hyperlink" Target="https://www.youtube.com/watch?v=r5dtF0xde-Y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image" Target="../media/image33.jpg"/><Relationship Id="rId7" Type="http://schemas.openxmlformats.org/officeDocument/2006/relationships/image" Target="../media/image91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jpg"/><Relationship Id="rId5" Type="http://schemas.openxmlformats.org/officeDocument/2006/relationships/image" Target="../media/image89.jpg"/><Relationship Id="rId4" Type="http://schemas.openxmlformats.org/officeDocument/2006/relationships/image" Target="../media/image88.jpg"/><Relationship Id="rId9" Type="http://schemas.openxmlformats.org/officeDocument/2006/relationships/image" Target="../media/image93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7F7hYlp3RY" TargetMode="External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43mS9M1ZjU8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335" dirty="0">
                <a:latin typeface="Trebuchet MS"/>
                <a:cs typeface="Trebuchet MS"/>
              </a:rPr>
              <a:t>Sistemas </a:t>
            </a:r>
            <a:r>
              <a:rPr sz="5400" i="1" spc="-340" dirty="0">
                <a:latin typeface="Trebuchet MS"/>
                <a:cs typeface="Trebuchet MS"/>
              </a:rPr>
              <a:t>de  </a:t>
            </a:r>
            <a:r>
              <a:rPr sz="5400" i="1" spc="-300" dirty="0">
                <a:latin typeface="Trebuchet MS"/>
                <a:cs typeface="Trebuchet MS"/>
              </a:rPr>
              <a:t>Información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59101"/>
            <a:ext cx="253288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349245"/>
            <a:ext cx="3530346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23566"/>
            <a:ext cx="2632710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025141"/>
            <a:ext cx="3199765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Unidad </a:t>
            </a:r>
            <a:r>
              <a:rPr sz="2400" b="1" i="1" spc="-19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400" b="1" i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i="1" spc="-16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Aplicaciones </a:t>
            </a:r>
            <a:r>
              <a:rPr sz="18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empresariales </a:t>
            </a: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800" b="1" i="1" spc="-110" dirty="0">
                <a:solidFill>
                  <a:srgbClr val="FFFFFF"/>
                </a:solidFill>
                <a:latin typeface="Trebuchet MS"/>
                <a:cs typeface="Trebuchet MS"/>
              </a:rPr>
              <a:t>los  </a:t>
            </a: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Sistemas de</a:t>
            </a:r>
            <a:r>
              <a:rPr sz="1800" b="1" i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614933"/>
            <a:ext cx="2739390" cy="7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668019"/>
            <a:ext cx="24377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3186"/>
                </a:solidFill>
                <a:latin typeface="Trebuchet MS"/>
                <a:cs typeface="Trebuchet MS"/>
              </a:rPr>
              <a:t>CRM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(</a:t>
            </a:r>
            <a:r>
              <a:rPr sz="1600" b="1" i="1" spc="-100" dirty="0">
                <a:solidFill>
                  <a:srgbClr val="003186"/>
                </a:solidFill>
                <a:latin typeface="Trebuchet MS"/>
                <a:cs typeface="Trebuchet MS"/>
              </a:rPr>
              <a:t>Customer</a:t>
            </a:r>
            <a:r>
              <a:rPr sz="1600" b="1" i="1" spc="-3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i="1" spc="-105" dirty="0">
                <a:solidFill>
                  <a:srgbClr val="003186"/>
                </a:solidFill>
                <a:latin typeface="Trebuchet MS"/>
                <a:cs typeface="Trebuchet MS"/>
              </a:rPr>
              <a:t>Relationship  </a:t>
            </a:r>
            <a:r>
              <a:rPr sz="1600" b="1" i="1" spc="-60" dirty="0">
                <a:solidFill>
                  <a:srgbClr val="003186"/>
                </a:solidFill>
                <a:latin typeface="Trebuchet MS"/>
                <a:cs typeface="Trebuchet MS"/>
              </a:rPr>
              <a:t>Management</a:t>
            </a:r>
            <a:r>
              <a:rPr sz="1600" b="1" spc="-60" dirty="0">
                <a:solidFill>
                  <a:srgbClr val="003186"/>
                </a:solidFill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210259"/>
            <a:ext cx="3474085" cy="17322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 y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objetivos.</a:t>
            </a:r>
            <a:endParaRPr sz="1400">
              <a:latin typeface="Trebuchet MS"/>
              <a:cs typeface="Trebuchet MS"/>
            </a:endParaRPr>
          </a:p>
          <a:p>
            <a:pPr marL="241300" marR="158115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Componentes 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clave,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tipos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orientaciones 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45" dirty="0">
                <a:solidFill>
                  <a:srgbClr val="003186"/>
                </a:solidFill>
                <a:latin typeface="Trebuchet MS"/>
                <a:cs typeface="Trebuchet MS"/>
              </a:rPr>
              <a:t>CRM. Mercado</a:t>
            </a:r>
            <a:r>
              <a:rPr sz="1400" b="1" spc="-31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soluciones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45" dirty="0">
                <a:solidFill>
                  <a:srgbClr val="003186"/>
                </a:solidFill>
                <a:latin typeface="Trebuchet MS"/>
                <a:cs typeface="Trebuchet MS"/>
              </a:rPr>
              <a:t>CRM.</a:t>
            </a:r>
            <a:endParaRPr sz="14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Puntos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críticos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para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su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adecuada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gestión</a:t>
            </a:r>
            <a:r>
              <a:rPr sz="1400" b="1" spc="-29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en 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las</a:t>
            </a: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organizaciones.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Ejemplos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aplicación.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0427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0427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69585" y="5713984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204" y="61664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6953" y="5689091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7829" y="57419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40" y="62677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0427" y="32007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C5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40427" y="32007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03876" y="3294379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9204" y="3746372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6953" y="3147060"/>
            <a:ext cx="3445763" cy="752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97829" y="3200399"/>
            <a:ext cx="3101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</a:t>
            </a:r>
            <a:r>
              <a:rPr sz="16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600" b="1" spc="-15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soporte</a:t>
            </a:r>
            <a:r>
              <a:rPr sz="16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para</a:t>
            </a:r>
            <a:r>
              <a:rPr sz="1600" b="1" spc="-1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la</a:t>
            </a:r>
            <a:r>
              <a:rPr sz="16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003186"/>
                </a:solidFill>
                <a:latin typeface="Trebuchet MS"/>
                <a:cs typeface="Trebuchet MS"/>
              </a:rPr>
              <a:t>toma</a:t>
            </a:r>
            <a:r>
              <a:rPr sz="16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003186"/>
                </a:solidFill>
                <a:latin typeface="Trebuchet MS"/>
                <a:cs typeface="Trebuchet MS"/>
              </a:rPr>
              <a:t>decisiones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3640" y="3740861"/>
            <a:ext cx="3707765" cy="16256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Necesidades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información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en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la</a:t>
            </a:r>
            <a:r>
              <a:rPr sz="1400" b="1" spc="-18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organización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 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objetivos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0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DSS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Business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Intelligence</a:t>
            </a:r>
            <a:r>
              <a:rPr sz="1400" b="1" spc="-1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(BI)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Data </a:t>
            </a:r>
            <a:r>
              <a:rPr sz="1400" b="1" spc="-30" dirty="0">
                <a:solidFill>
                  <a:srgbClr val="003186"/>
                </a:solidFill>
                <a:latin typeface="Trebuchet MS"/>
                <a:cs typeface="Trebuchet MS"/>
              </a:rPr>
              <a:t>Mining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03186"/>
                </a:solidFill>
                <a:latin typeface="Trebuchet MS"/>
                <a:cs typeface="Trebuchet MS"/>
              </a:rPr>
              <a:t>(DM)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Big Data</a:t>
            </a:r>
            <a:r>
              <a:rPr sz="1400" b="1" spc="-16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(BD)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7166" y="4649723"/>
            <a:ext cx="3231515" cy="172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65"/>
              </a:lnSpc>
              <a:spcBef>
                <a:spcPts val="10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225"/>
              </a:lnSpc>
            </a:pPr>
            <a:r>
              <a:rPr sz="2800" b="1" spc="-5" dirty="0">
                <a:solidFill>
                  <a:srgbClr val="00338D"/>
                </a:solidFill>
                <a:latin typeface="Trebuchet MS"/>
                <a:cs typeface="Trebuchet MS"/>
              </a:rPr>
              <a:t>CRM</a:t>
            </a:r>
            <a:r>
              <a:rPr sz="2800" b="1" spc="-2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75" dirty="0">
                <a:solidFill>
                  <a:srgbClr val="00338D"/>
                </a:solidFill>
                <a:latin typeface="Trebuchet MS"/>
                <a:cs typeface="Trebuchet MS"/>
              </a:rPr>
              <a:t>(</a:t>
            </a:r>
            <a:r>
              <a:rPr sz="2800" b="1" i="1" spc="-175" dirty="0">
                <a:solidFill>
                  <a:srgbClr val="00338D"/>
                </a:solidFill>
                <a:latin typeface="Trebuchet MS"/>
                <a:cs typeface="Trebuchet MS"/>
              </a:rPr>
              <a:t>Customer</a:t>
            </a:r>
            <a:endParaRPr sz="2800">
              <a:latin typeface="Trebuchet MS"/>
              <a:cs typeface="Trebuchet MS"/>
            </a:endParaRPr>
          </a:p>
          <a:p>
            <a:pPr marL="102870" marR="1000125" algn="ctr">
              <a:lnSpc>
                <a:spcPct val="100000"/>
              </a:lnSpc>
            </a:pPr>
            <a:r>
              <a:rPr sz="28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Relationship  </a:t>
            </a:r>
            <a:r>
              <a:rPr sz="2800" b="1" i="1" spc="-110" dirty="0">
                <a:solidFill>
                  <a:srgbClr val="00338D"/>
                </a:solidFill>
                <a:latin typeface="Trebuchet MS"/>
                <a:cs typeface="Trebuchet MS"/>
              </a:rPr>
              <a:t>Managemen</a:t>
            </a:r>
            <a:r>
              <a:rPr sz="2800" b="1" i="1" spc="-75" dirty="0">
                <a:solidFill>
                  <a:srgbClr val="00338D"/>
                </a:solidFill>
                <a:latin typeface="Trebuchet MS"/>
                <a:cs typeface="Trebuchet MS"/>
              </a:rPr>
              <a:t>t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9123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</a:t>
            </a:r>
            <a:r>
              <a:rPr sz="2000" i="1" spc="-475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Concepto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80" dirty="0">
                <a:latin typeface="Arial"/>
                <a:cs typeface="Arial"/>
              </a:rPr>
              <a:t> </a:t>
            </a:r>
            <a:r>
              <a:rPr sz="1800" b="0" spc="-50" dirty="0">
                <a:latin typeface="Arial"/>
                <a:cs typeface="Arial"/>
              </a:rPr>
              <a:t>objetivos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8617585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600" b="1" spc="-130" dirty="0">
                <a:latin typeface="Trebuchet MS"/>
                <a:cs typeface="Trebuchet MS"/>
              </a:rPr>
              <a:t>Sin </a:t>
            </a:r>
            <a:r>
              <a:rPr sz="2600" b="1" spc="-120" dirty="0">
                <a:latin typeface="Trebuchet MS"/>
                <a:cs typeface="Trebuchet MS"/>
              </a:rPr>
              <a:t>duda </a:t>
            </a:r>
            <a:r>
              <a:rPr sz="2600" b="1" spc="-140" dirty="0">
                <a:latin typeface="Trebuchet MS"/>
                <a:cs typeface="Trebuchet MS"/>
              </a:rPr>
              <a:t>alguna, </a:t>
            </a:r>
            <a:r>
              <a:rPr sz="2600" b="1" spc="-160" dirty="0">
                <a:latin typeface="Trebuchet MS"/>
                <a:cs typeface="Trebuchet MS"/>
              </a:rPr>
              <a:t>el concepto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" dirty="0">
                <a:latin typeface="Trebuchet MS"/>
                <a:cs typeface="Trebuchet MS"/>
              </a:rPr>
              <a:t>CRM </a:t>
            </a:r>
            <a:r>
              <a:rPr sz="2600" b="1" spc="-125" dirty="0">
                <a:latin typeface="Trebuchet MS"/>
                <a:cs typeface="Trebuchet MS"/>
              </a:rPr>
              <a:t>ha </a:t>
            </a:r>
            <a:r>
              <a:rPr sz="2600" b="1" spc="-105" dirty="0">
                <a:latin typeface="Trebuchet MS"/>
                <a:cs typeface="Trebuchet MS"/>
              </a:rPr>
              <a:t>sido </a:t>
            </a:r>
            <a:r>
              <a:rPr sz="2600" b="1" spc="-150" dirty="0">
                <a:latin typeface="Trebuchet MS"/>
                <a:cs typeface="Trebuchet MS"/>
              </a:rPr>
              <a:t>(y </a:t>
            </a:r>
            <a:r>
              <a:rPr sz="2600" b="1" spc="-155" dirty="0">
                <a:latin typeface="Trebuchet MS"/>
                <a:cs typeface="Trebuchet MS"/>
              </a:rPr>
              <a:t>actualmente  </a:t>
            </a:r>
            <a:r>
              <a:rPr sz="2600" b="1" spc="-140" dirty="0">
                <a:latin typeface="Trebuchet MS"/>
                <a:cs typeface="Trebuchet MS"/>
              </a:rPr>
              <a:t>es)</a:t>
            </a:r>
            <a:r>
              <a:rPr sz="2600" b="1" spc="500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empleado </a:t>
            </a:r>
            <a:r>
              <a:rPr sz="2600" b="1" spc="-165" dirty="0">
                <a:latin typeface="Trebuchet MS"/>
                <a:cs typeface="Trebuchet MS"/>
              </a:rPr>
              <a:t>en </a:t>
            </a:r>
            <a:r>
              <a:rPr sz="2600" b="1" spc="-135" dirty="0">
                <a:latin typeface="Trebuchet MS"/>
                <a:cs typeface="Trebuchet MS"/>
              </a:rPr>
              <a:t>múltiples </a:t>
            </a:r>
            <a:r>
              <a:rPr sz="2600" b="1" spc="-160" dirty="0">
                <a:latin typeface="Trebuchet MS"/>
                <a:cs typeface="Trebuchet MS"/>
              </a:rPr>
              <a:t>contextos </a:t>
            </a:r>
            <a:r>
              <a:rPr sz="2600" b="1" spc="-155" dirty="0">
                <a:latin typeface="Trebuchet MS"/>
                <a:cs typeface="Trebuchet MS"/>
              </a:rPr>
              <a:t>de negocio. </a:t>
            </a:r>
            <a:r>
              <a:rPr sz="2600" b="1" spc="-170" dirty="0">
                <a:latin typeface="Trebuchet MS"/>
                <a:cs typeface="Trebuchet MS"/>
              </a:rPr>
              <a:t>Los  </a:t>
            </a:r>
            <a:r>
              <a:rPr sz="2600" b="1" spc="-140" dirty="0">
                <a:latin typeface="Trebuchet MS"/>
                <a:cs typeface="Trebuchet MS"/>
              </a:rPr>
              <a:t>implementadores </a:t>
            </a:r>
            <a:r>
              <a:rPr sz="2600" b="1" spc="-135" dirty="0">
                <a:latin typeface="Trebuchet MS"/>
                <a:cs typeface="Trebuchet MS"/>
              </a:rPr>
              <a:t>exitosos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" dirty="0">
                <a:latin typeface="Trebuchet MS"/>
                <a:cs typeface="Trebuchet MS"/>
              </a:rPr>
              <a:t>CRM </a:t>
            </a:r>
            <a:r>
              <a:rPr sz="2600" b="1" spc="-140" dirty="0">
                <a:latin typeface="Trebuchet MS"/>
                <a:cs typeface="Trebuchet MS"/>
              </a:rPr>
              <a:t>(consultoras nacionales </a:t>
            </a:r>
            <a:r>
              <a:rPr sz="2600" b="1" spc="-190" dirty="0">
                <a:latin typeface="Trebuchet MS"/>
                <a:cs typeface="Trebuchet MS"/>
              </a:rPr>
              <a:t>e  </a:t>
            </a:r>
            <a:r>
              <a:rPr sz="2600" b="1" spc="-155" dirty="0">
                <a:latin typeface="Trebuchet MS"/>
                <a:cs typeface="Trebuchet MS"/>
              </a:rPr>
              <a:t>internacionales, </a:t>
            </a:r>
            <a:r>
              <a:rPr sz="2600" b="1" spc="-180" dirty="0">
                <a:latin typeface="Trebuchet MS"/>
                <a:cs typeface="Trebuchet MS"/>
              </a:rPr>
              <a:t>entre </a:t>
            </a:r>
            <a:r>
              <a:rPr sz="2600" b="1" spc="-120" dirty="0">
                <a:latin typeface="Trebuchet MS"/>
                <a:cs typeface="Trebuchet MS"/>
              </a:rPr>
              <a:t>otros) </a:t>
            </a:r>
            <a:r>
              <a:rPr sz="2600" b="1" spc="-150" dirty="0">
                <a:latin typeface="Trebuchet MS"/>
                <a:cs typeface="Trebuchet MS"/>
              </a:rPr>
              <a:t>aprendieron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35" dirty="0">
                <a:latin typeface="Trebuchet MS"/>
                <a:cs typeface="Trebuchet MS"/>
              </a:rPr>
              <a:t>distinguir </a:t>
            </a:r>
            <a:r>
              <a:rPr sz="2600" b="1" spc="-180" dirty="0">
                <a:latin typeface="Trebuchet MS"/>
                <a:cs typeface="Trebuchet MS"/>
              </a:rPr>
              <a:t>entre  </a:t>
            </a:r>
            <a:r>
              <a:rPr sz="2600" b="1" spc="-125" dirty="0">
                <a:latin typeface="Trebuchet MS"/>
                <a:cs typeface="Trebuchet MS"/>
              </a:rPr>
              <a:t>dolores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5" dirty="0">
                <a:latin typeface="Trebuchet MS"/>
                <a:cs typeface="Trebuchet MS"/>
              </a:rPr>
              <a:t>rutina </a:t>
            </a:r>
            <a:r>
              <a:rPr sz="2600" b="1" spc="-165" dirty="0">
                <a:latin typeface="Trebuchet MS"/>
                <a:cs typeface="Trebuchet MS"/>
              </a:rPr>
              <a:t>en </a:t>
            </a:r>
            <a:r>
              <a:rPr sz="2600" b="1" spc="-160" dirty="0">
                <a:latin typeface="Trebuchet MS"/>
                <a:cs typeface="Trebuchet MS"/>
              </a:rPr>
              <a:t>el </a:t>
            </a:r>
            <a:r>
              <a:rPr sz="2600" b="1" spc="-140" dirty="0">
                <a:latin typeface="Trebuchet MS"/>
                <a:cs typeface="Trebuchet MS"/>
              </a:rPr>
              <a:t>negocio </a:t>
            </a:r>
            <a:r>
              <a:rPr sz="2600" b="1" spc="-95" dirty="0">
                <a:latin typeface="Arial"/>
                <a:cs typeface="Arial"/>
              </a:rPr>
              <a:t>(“tal </a:t>
            </a:r>
            <a:r>
              <a:rPr sz="2600" b="1" spc="-245" dirty="0">
                <a:latin typeface="Trebuchet MS"/>
                <a:cs typeface="Trebuchet MS"/>
              </a:rPr>
              <a:t>vez </a:t>
            </a:r>
            <a:r>
              <a:rPr sz="2600" b="1" spc="-100" dirty="0">
                <a:latin typeface="Trebuchet MS"/>
                <a:cs typeface="Trebuchet MS"/>
              </a:rPr>
              <a:t>podamos </a:t>
            </a:r>
            <a:r>
              <a:rPr sz="2600" b="1" spc="-180" dirty="0">
                <a:latin typeface="Trebuchet MS"/>
                <a:cs typeface="Trebuchet MS"/>
              </a:rPr>
              <a:t>dejar </a:t>
            </a:r>
            <a:r>
              <a:rPr sz="2600" b="1" spc="-155" dirty="0">
                <a:latin typeface="Trebuchet MS"/>
                <a:cs typeface="Trebuchet MS"/>
              </a:rPr>
              <a:t>ese  </a:t>
            </a:r>
            <a:r>
              <a:rPr sz="2600" b="1" spc="-130" dirty="0">
                <a:latin typeface="Trebuchet MS"/>
                <a:cs typeface="Trebuchet MS"/>
              </a:rPr>
              <a:t>punto </a:t>
            </a:r>
            <a:r>
              <a:rPr sz="2600" b="1" spc="-145" dirty="0">
                <a:latin typeface="Trebuchet MS"/>
                <a:cs typeface="Trebuchet MS"/>
              </a:rPr>
              <a:t>para nuestro </a:t>
            </a:r>
            <a:r>
              <a:rPr sz="2600" b="1" spc="-150" dirty="0">
                <a:latin typeface="Trebuchet MS"/>
                <a:cs typeface="Trebuchet MS"/>
              </a:rPr>
              <a:t>próximo </a:t>
            </a:r>
            <a:r>
              <a:rPr sz="2600" b="1" spc="-145" dirty="0">
                <a:latin typeface="Arial"/>
                <a:cs typeface="Arial"/>
              </a:rPr>
              <a:t>plan”)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25" dirty="0">
                <a:latin typeface="Trebuchet MS"/>
                <a:cs typeface="Trebuchet MS"/>
              </a:rPr>
              <a:t>puntos </a:t>
            </a:r>
            <a:r>
              <a:rPr sz="2600" b="1" spc="-150" dirty="0">
                <a:latin typeface="Trebuchet MS"/>
                <a:cs typeface="Trebuchet MS"/>
              </a:rPr>
              <a:t>estratégicos </a:t>
            </a:r>
            <a:r>
              <a:rPr sz="2600" b="1" spc="-155" dirty="0">
                <a:latin typeface="Trebuchet MS"/>
                <a:cs typeface="Trebuchet MS"/>
              </a:rPr>
              <a:t>de  </a:t>
            </a:r>
            <a:r>
              <a:rPr sz="2600" b="1" spc="-120" dirty="0">
                <a:latin typeface="Trebuchet MS"/>
                <a:cs typeface="Trebuchet MS"/>
              </a:rPr>
              <a:t>dolor </a:t>
            </a:r>
            <a:r>
              <a:rPr sz="2600" b="1" spc="-195" dirty="0">
                <a:latin typeface="Arial"/>
                <a:cs typeface="Arial"/>
              </a:rPr>
              <a:t>(“solucionando </a:t>
            </a:r>
            <a:r>
              <a:rPr sz="2600" b="1" spc="-165" dirty="0">
                <a:latin typeface="Trebuchet MS"/>
                <a:cs typeface="Trebuchet MS"/>
              </a:rPr>
              <a:t>este </a:t>
            </a:r>
            <a:r>
              <a:rPr sz="2600" b="1" spc="-135" dirty="0">
                <a:latin typeface="Trebuchet MS"/>
                <a:cs typeface="Trebuchet MS"/>
              </a:rPr>
              <a:t>problema </a:t>
            </a:r>
            <a:r>
              <a:rPr sz="2600" b="1" spc="-145" dirty="0">
                <a:latin typeface="Trebuchet MS"/>
                <a:cs typeface="Trebuchet MS"/>
              </a:rPr>
              <a:t>duplicaremos nuestras  </a:t>
            </a:r>
            <a:r>
              <a:rPr sz="2600" b="1" spc="-215" dirty="0">
                <a:latin typeface="Arial"/>
                <a:cs typeface="Arial"/>
              </a:rPr>
              <a:t>ganancias”) </a:t>
            </a:r>
            <a:r>
              <a:rPr sz="2600" b="1" spc="-145" dirty="0">
                <a:latin typeface="Trebuchet MS"/>
                <a:cs typeface="Trebuchet MS"/>
              </a:rPr>
              <a:t>antes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70" dirty="0">
                <a:latin typeface="Trebuchet MS"/>
                <a:cs typeface="Trebuchet MS"/>
              </a:rPr>
              <a:t>prescribir </a:t>
            </a:r>
            <a:r>
              <a:rPr sz="2600" b="1" spc="-135" dirty="0">
                <a:latin typeface="Trebuchet MS"/>
                <a:cs typeface="Trebuchet MS"/>
              </a:rPr>
              <a:t>estas</a:t>
            </a:r>
            <a:r>
              <a:rPr sz="2600" b="1" spc="-150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soluciones.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3400" y="4579620"/>
            <a:ext cx="2581655" cy="1771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946" y="4579620"/>
            <a:ext cx="3717205" cy="1592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800" y="4604765"/>
            <a:ext cx="1727453" cy="17198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spc="-30" dirty="0"/>
              <a:t>(</a:t>
            </a:r>
            <a:r>
              <a:rPr lang="es-AR" spc="-30" dirty="0" err="1"/>
              <a:t>jklus</a:t>
            </a:r>
            <a:r>
              <a:rPr spc="-30" dirty="0"/>
              <a:t>@uade.edu.ar)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5736590" cy="132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21155" algn="l"/>
                <a:tab pos="3028315" algn="l"/>
                <a:tab pos="3583304" algn="l"/>
                <a:tab pos="5255895" algn="l"/>
              </a:tabLst>
            </a:pPr>
            <a:r>
              <a:rPr sz="2600" b="1" spc="-165" dirty="0">
                <a:latin typeface="Trebuchet MS"/>
                <a:cs typeface="Trebuchet MS"/>
              </a:rPr>
              <a:t>Concepto:	</a:t>
            </a:r>
            <a:r>
              <a:rPr sz="2600" spc="-65" dirty="0">
                <a:latin typeface="Arial"/>
                <a:cs typeface="Arial"/>
              </a:rPr>
              <a:t>conjunto	</a:t>
            </a:r>
            <a:r>
              <a:rPr sz="2600" spc="-120" dirty="0">
                <a:latin typeface="Arial"/>
                <a:cs typeface="Arial"/>
              </a:rPr>
              <a:t>de	estrategias	de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7834" y="1098041"/>
            <a:ext cx="281622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2075" algn="l"/>
              </a:tabLst>
            </a:pPr>
            <a:r>
              <a:rPr sz="2600" spc="-120" dirty="0">
                <a:latin typeface="Arial"/>
                <a:cs typeface="Arial"/>
              </a:rPr>
              <a:t>negocio,	</a:t>
            </a:r>
            <a:r>
              <a:rPr sz="2600" spc="-85" dirty="0">
                <a:latin typeface="Arial"/>
                <a:cs typeface="Arial"/>
              </a:rPr>
              <a:t>marketing,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494282"/>
            <a:ext cx="8618220" cy="2799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600" spc="-110" dirty="0">
                <a:latin typeface="Arial"/>
                <a:cs typeface="Arial"/>
              </a:rPr>
              <a:t>comunicación </a:t>
            </a:r>
            <a:r>
              <a:rPr sz="2600" spc="-155" dirty="0">
                <a:latin typeface="Arial"/>
                <a:cs typeface="Arial"/>
              </a:rPr>
              <a:t>e </a:t>
            </a:r>
            <a:r>
              <a:rPr sz="2600" spc="-65" dirty="0">
                <a:latin typeface="Arial"/>
                <a:cs typeface="Arial"/>
              </a:rPr>
              <a:t>infraestructura </a:t>
            </a:r>
            <a:r>
              <a:rPr sz="2600" spc="-100" dirty="0">
                <a:latin typeface="Arial"/>
                <a:cs typeface="Arial"/>
              </a:rPr>
              <a:t>tecnológica, </a:t>
            </a:r>
            <a:r>
              <a:rPr sz="2600" spc="-155" dirty="0">
                <a:latin typeface="Arial"/>
                <a:cs typeface="Arial"/>
              </a:rPr>
              <a:t>diseñadas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80" dirty="0">
                <a:latin typeface="Arial"/>
                <a:cs typeface="Arial"/>
              </a:rPr>
              <a:t>el  </a:t>
            </a:r>
            <a:r>
              <a:rPr sz="2600" spc="-45" dirty="0">
                <a:latin typeface="Arial"/>
                <a:cs typeface="Arial"/>
              </a:rPr>
              <a:t>objetivo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65" dirty="0">
                <a:latin typeface="Arial"/>
                <a:cs typeface="Arial"/>
              </a:rPr>
              <a:t>construir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85" dirty="0">
                <a:latin typeface="Arial"/>
                <a:cs typeface="Arial"/>
              </a:rPr>
              <a:t>relación </a:t>
            </a:r>
            <a:r>
              <a:rPr sz="2600" spc="-105" dirty="0">
                <a:latin typeface="Arial"/>
                <a:cs typeface="Arial"/>
              </a:rPr>
              <a:t>duradera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95" dirty="0">
                <a:latin typeface="Arial"/>
                <a:cs typeface="Arial"/>
              </a:rPr>
              <a:t>clientes,  </a:t>
            </a:r>
            <a:r>
              <a:rPr sz="2600" spc="-65" dirty="0">
                <a:latin typeface="Arial"/>
                <a:cs typeface="Arial"/>
              </a:rPr>
              <a:t>identificando, </a:t>
            </a:r>
            <a:r>
              <a:rPr sz="2600" spc="-95" dirty="0">
                <a:latin typeface="Arial"/>
                <a:cs typeface="Arial"/>
              </a:rPr>
              <a:t>comprendiendo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10" dirty="0">
                <a:latin typeface="Arial"/>
                <a:cs typeface="Arial"/>
              </a:rPr>
              <a:t>satisfaciendo </a:t>
            </a:r>
            <a:r>
              <a:rPr sz="2600" spc="-220" dirty="0">
                <a:latin typeface="Arial"/>
                <a:cs typeface="Arial"/>
              </a:rPr>
              <a:t>sus </a:t>
            </a:r>
            <a:r>
              <a:rPr sz="2600" spc="-155" dirty="0">
                <a:latin typeface="Arial"/>
                <a:cs typeface="Arial"/>
              </a:rPr>
              <a:t>necesidades  </a:t>
            </a:r>
            <a:r>
              <a:rPr sz="2600" spc="-185" dirty="0">
                <a:latin typeface="Arial"/>
                <a:cs typeface="Arial"/>
              </a:rPr>
              <a:t>(Gómez </a:t>
            </a:r>
            <a:r>
              <a:rPr sz="2600" spc="-100" dirty="0">
                <a:latin typeface="Arial"/>
                <a:cs typeface="Arial"/>
              </a:rPr>
              <a:t>Vieites, </a:t>
            </a:r>
            <a:r>
              <a:rPr sz="2600" spc="-135" dirty="0">
                <a:latin typeface="Arial"/>
                <a:cs typeface="Arial"/>
              </a:rPr>
              <a:t>2007 </a:t>
            </a:r>
            <a:r>
              <a:rPr sz="2600" spc="35" dirty="0">
                <a:latin typeface="Arial"/>
                <a:cs typeface="Arial"/>
              </a:rPr>
              <a:t>&amp; </a:t>
            </a:r>
            <a:r>
              <a:rPr sz="2600" spc="-155" dirty="0">
                <a:latin typeface="Arial"/>
                <a:cs typeface="Arial"/>
              </a:rPr>
              <a:t>Kalidoss, </a:t>
            </a:r>
            <a:r>
              <a:rPr sz="2600" spc="-114" dirty="0">
                <a:latin typeface="Arial"/>
                <a:cs typeface="Arial"/>
              </a:rPr>
              <a:t>2009). </a:t>
            </a:r>
            <a:r>
              <a:rPr sz="2600" spc="-155" dirty="0">
                <a:latin typeface="Arial"/>
                <a:cs typeface="Arial"/>
              </a:rPr>
              <a:t>Podría </a:t>
            </a:r>
            <a:r>
              <a:rPr sz="2600" spc="-130" dirty="0">
                <a:latin typeface="Arial"/>
                <a:cs typeface="Arial"/>
              </a:rPr>
              <a:t>concebirse </a:t>
            </a:r>
            <a:r>
              <a:rPr sz="2600" spc="-120" dirty="0">
                <a:latin typeface="Arial"/>
                <a:cs typeface="Arial"/>
              </a:rPr>
              <a:t>como 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14" dirty="0">
                <a:latin typeface="Arial"/>
                <a:cs typeface="Arial"/>
              </a:rPr>
              <a:t>macro </a:t>
            </a:r>
            <a:r>
              <a:rPr sz="2600" spc="-130" dirty="0">
                <a:latin typeface="Arial"/>
                <a:cs typeface="Arial"/>
              </a:rPr>
              <a:t>proceso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95" dirty="0">
                <a:latin typeface="Arial"/>
                <a:cs typeface="Arial"/>
              </a:rPr>
              <a:t>involucra la </a:t>
            </a:r>
            <a:r>
              <a:rPr sz="2600" spc="-105" dirty="0">
                <a:latin typeface="Arial"/>
                <a:cs typeface="Arial"/>
              </a:rPr>
              <a:t>gestión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todos </a:t>
            </a:r>
            <a:r>
              <a:rPr sz="2600" spc="-105" dirty="0">
                <a:latin typeface="Arial"/>
                <a:cs typeface="Arial"/>
              </a:rPr>
              <a:t>aquellos  </a:t>
            </a:r>
            <a:r>
              <a:rPr sz="2600" spc="-150" dirty="0">
                <a:latin typeface="Arial"/>
                <a:cs typeface="Arial"/>
              </a:rPr>
              <a:t>aspectos </a:t>
            </a:r>
            <a:r>
              <a:rPr sz="2600" spc="-110" dirty="0">
                <a:latin typeface="Arial"/>
                <a:cs typeface="Arial"/>
              </a:rPr>
              <a:t>vinculados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0" dirty="0">
                <a:latin typeface="Arial"/>
                <a:cs typeface="Arial"/>
              </a:rPr>
              <a:t>relacionamiento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95" dirty="0">
                <a:latin typeface="Arial"/>
                <a:cs typeface="Arial"/>
              </a:rPr>
              <a:t>clientes  </a:t>
            </a:r>
            <a:r>
              <a:rPr sz="2600" spc="-145" dirty="0">
                <a:latin typeface="Arial"/>
                <a:cs typeface="Arial"/>
              </a:rPr>
              <a:t>(Sabri </a:t>
            </a:r>
            <a:r>
              <a:rPr sz="2600" spc="35" dirty="0">
                <a:latin typeface="Arial"/>
                <a:cs typeface="Arial"/>
              </a:rPr>
              <a:t>&amp; </a:t>
            </a:r>
            <a:r>
              <a:rPr sz="2600" spc="-160" dirty="0">
                <a:latin typeface="Arial"/>
                <a:cs typeface="Arial"/>
              </a:rPr>
              <a:t>Shaikh,</a:t>
            </a:r>
            <a:r>
              <a:rPr sz="2600" spc="-26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2010).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72071" y="4114800"/>
            <a:ext cx="2171700" cy="2105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200" y="4139946"/>
            <a:ext cx="2907660" cy="1935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328410" cy="5928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latin typeface="Trebuchet MS"/>
                <a:cs typeface="Trebuchet MS"/>
              </a:rPr>
              <a:t>Objetivos:</a:t>
            </a:r>
            <a:endParaRPr sz="2600">
              <a:latin typeface="Trebuchet MS"/>
              <a:cs typeface="Trebuchet MS"/>
            </a:endParaRPr>
          </a:p>
          <a:p>
            <a:pPr marL="527050" marR="5715" indent="-51435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200" i="1" spc="-180" dirty="0">
                <a:latin typeface="Trebuchet MS"/>
                <a:cs typeface="Trebuchet MS"/>
              </a:rPr>
              <a:t>Tener </a:t>
            </a:r>
            <a:r>
              <a:rPr sz="2200" i="1" spc="-70" dirty="0">
                <a:latin typeface="Trebuchet MS"/>
                <a:cs typeface="Trebuchet MS"/>
              </a:rPr>
              <a:t>una </a:t>
            </a:r>
            <a:r>
              <a:rPr sz="2200" i="1" spc="-105" dirty="0">
                <a:latin typeface="Trebuchet MS"/>
                <a:cs typeface="Trebuchet MS"/>
              </a:rPr>
              <a:t>visión integrada y </a:t>
            </a:r>
            <a:r>
              <a:rPr sz="2200" i="1" spc="-100" dirty="0">
                <a:latin typeface="Trebuchet MS"/>
                <a:cs typeface="Trebuchet MS"/>
              </a:rPr>
              <a:t>única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00" dirty="0">
                <a:latin typeface="Trebuchet MS"/>
                <a:cs typeface="Trebuchet MS"/>
              </a:rPr>
              <a:t>los </a:t>
            </a:r>
            <a:r>
              <a:rPr sz="2200" i="1" spc="-140" dirty="0">
                <a:latin typeface="Trebuchet MS"/>
                <a:cs typeface="Trebuchet MS"/>
              </a:rPr>
              <a:t>clientes  </a:t>
            </a:r>
            <a:r>
              <a:rPr sz="2200" i="1" spc="-120" dirty="0">
                <a:latin typeface="Trebuchet MS"/>
                <a:cs typeface="Trebuchet MS"/>
              </a:rPr>
              <a:t>(potenciales </a:t>
            </a:r>
            <a:r>
              <a:rPr sz="2200" i="1" spc="-105" dirty="0">
                <a:latin typeface="Trebuchet MS"/>
                <a:cs typeface="Trebuchet MS"/>
              </a:rPr>
              <a:t>y</a:t>
            </a:r>
            <a:r>
              <a:rPr sz="2200" i="1" spc="-235" dirty="0">
                <a:latin typeface="Trebuchet MS"/>
                <a:cs typeface="Trebuchet MS"/>
              </a:rPr>
              <a:t> </a:t>
            </a:r>
            <a:r>
              <a:rPr sz="2200" i="1" spc="-125" dirty="0">
                <a:latin typeface="Trebuchet MS"/>
                <a:cs typeface="Trebuchet MS"/>
              </a:rPr>
              <a:t>actuales);</a:t>
            </a:r>
            <a:endParaRPr sz="2200">
              <a:latin typeface="Trebuchet MS"/>
              <a:cs typeface="Trebuchet MS"/>
            </a:endParaRPr>
          </a:p>
          <a:p>
            <a:pPr marL="527050" marR="508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200" i="1" spc="-110" dirty="0">
                <a:latin typeface="Trebuchet MS"/>
                <a:cs typeface="Trebuchet MS"/>
              </a:rPr>
              <a:t>Gestionar </a:t>
            </a:r>
            <a:r>
              <a:rPr sz="2200" i="1" spc="-120" dirty="0">
                <a:latin typeface="Trebuchet MS"/>
                <a:cs typeface="Trebuchet MS"/>
              </a:rPr>
              <a:t>la relación </a:t>
            </a:r>
            <a:r>
              <a:rPr sz="2200" i="1" spc="-85" dirty="0">
                <a:latin typeface="Trebuchet MS"/>
                <a:cs typeface="Trebuchet MS"/>
              </a:rPr>
              <a:t>con </a:t>
            </a:r>
            <a:r>
              <a:rPr sz="2200" i="1" spc="-105" dirty="0">
                <a:latin typeface="Trebuchet MS"/>
                <a:cs typeface="Trebuchet MS"/>
              </a:rPr>
              <a:t>los </a:t>
            </a:r>
            <a:r>
              <a:rPr sz="2200" i="1" spc="-140" dirty="0">
                <a:latin typeface="Trebuchet MS"/>
                <a:cs typeface="Trebuchet MS"/>
              </a:rPr>
              <a:t>clientes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90" dirty="0">
                <a:latin typeface="Trebuchet MS"/>
                <a:cs typeface="Trebuchet MS"/>
              </a:rPr>
              <a:t>manera  </a:t>
            </a:r>
            <a:r>
              <a:rPr sz="2200" i="1" spc="-100" dirty="0">
                <a:latin typeface="Trebuchet MS"/>
                <a:cs typeface="Trebuchet MS"/>
              </a:rPr>
              <a:t>única </a:t>
            </a:r>
            <a:r>
              <a:rPr sz="2200" i="1" spc="-130" dirty="0">
                <a:latin typeface="Trebuchet MS"/>
                <a:cs typeface="Trebuchet MS"/>
              </a:rPr>
              <a:t>independientemente </a:t>
            </a:r>
            <a:r>
              <a:rPr sz="2200" i="1" spc="-145" dirty="0">
                <a:latin typeface="Trebuchet MS"/>
                <a:cs typeface="Trebuchet MS"/>
              </a:rPr>
              <a:t>del </a:t>
            </a:r>
            <a:r>
              <a:rPr sz="2200" i="1" spc="-95" dirty="0">
                <a:latin typeface="Trebuchet MS"/>
                <a:cs typeface="Trebuchet MS"/>
              </a:rPr>
              <a:t>canal </a:t>
            </a:r>
            <a:r>
              <a:rPr sz="2200" i="1" spc="-114" dirty="0">
                <a:latin typeface="Trebuchet MS"/>
                <a:cs typeface="Trebuchet MS"/>
              </a:rPr>
              <a:t>de</a:t>
            </a:r>
            <a:r>
              <a:rPr sz="2200" i="1" spc="-459" dirty="0">
                <a:latin typeface="Trebuchet MS"/>
                <a:cs typeface="Trebuchet MS"/>
              </a:rPr>
              <a:t> </a:t>
            </a:r>
            <a:r>
              <a:rPr sz="2200" i="1" spc="-125" dirty="0">
                <a:latin typeface="Trebuchet MS"/>
                <a:cs typeface="Trebuchet MS"/>
              </a:rPr>
              <a:t>contacto;</a:t>
            </a:r>
            <a:endParaRPr sz="2200">
              <a:latin typeface="Trebuchet MS"/>
              <a:cs typeface="Trebuchet MS"/>
            </a:endParaRPr>
          </a:p>
          <a:p>
            <a:pPr marL="527050" marR="6350" indent="-514350" algn="just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200" i="1" spc="-95" dirty="0">
                <a:latin typeface="Trebuchet MS"/>
                <a:cs typeface="Trebuchet MS"/>
              </a:rPr>
              <a:t>Mejorar </a:t>
            </a:r>
            <a:r>
              <a:rPr sz="2200" i="1" spc="-120" dirty="0">
                <a:latin typeface="Trebuchet MS"/>
                <a:cs typeface="Trebuchet MS"/>
              </a:rPr>
              <a:t>la </a:t>
            </a:r>
            <a:r>
              <a:rPr sz="2200" i="1" spc="-125" dirty="0">
                <a:latin typeface="Trebuchet MS"/>
                <a:cs typeface="Trebuchet MS"/>
              </a:rPr>
              <a:t>eficacia </a:t>
            </a:r>
            <a:r>
              <a:rPr sz="2200" i="1" spc="-105" dirty="0">
                <a:latin typeface="Trebuchet MS"/>
                <a:cs typeface="Trebuchet MS"/>
              </a:rPr>
              <a:t>y </a:t>
            </a:r>
            <a:r>
              <a:rPr sz="2200" i="1" spc="-130" dirty="0">
                <a:latin typeface="Trebuchet MS"/>
                <a:cs typeface="Trebuchet MS"/>
              </a:rPr>
              <a:t>eficiencia </a:t>
            </a:r>
            <a:r>
              <a:rPr sz="2200" i="1" spc="-135" dirty="0">
                <a:latin typeface="Trebuchet MS"/>
                <a:cs typeface="Trebuchet MS"/>
              </a:rPr>
              <a:t>(rentabilidad)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05" dirty="0">
                <a:latin typeface="Trebuchet MS"/>
                <a:cs typeface="Trebuchet MS"/>
              </a:rPr>
              <a:t>los  </a:t>
            </a:r>
            <a:r>
              <a:rPr sz="2200" i="1" spc="-95" dirty="0">
                <a:latin typeface="Trebuchet MS"/>
                <a:cs typeface="Trebuchet MS"/>
              </a:rPr>
              <a:t>procesos </a:t>
            </a:r>
            <a:r>
              <a:rPr sz="2200" i="1" spc="-114" dirty="0">
                <a:latin typeface="Trebuchet MS"/>
                <a:cs typeface="Trebuchet MS"/>
              </a:rPr>
              <a:t>implicados</a:t>
            </a:r>
            <a:r>
              <a:rPr sz="2200" i="1" spc="430" dirty="0">
                <a:latin typeface="Trebuchet MS"/>
                <a:cs typeface="Trebuchet MS"/>
              </a:rPr>
              <a:t> </a:t>
            </a:r>
            <a:r>
              <a:rPr sz="2200" i="1" spc="-105" dirty="0">
                <a:latin typeface="Trebuchet MS"/>
                <a:cs typeface="Trebuchet MS"/>
              </a:rPr>
              <a:t>en </a:t>
            </a:r>
            <a:r>
              <a:rPr sz="2200" i="1" spc="-95" dirty="0">
                <a:latin typeface="Trebuchet MS"/>
                <a:cs typeface="Trebuchet MS"/>
              </a:rPr>
              <a:t>las </a:t>
            </a:r>
            <a:r>
              <a:rPr sz="2200" i="1" spc="-114" dirty="0">
                <a:latin typeface="Trebuchet MS"/>
                <a:cs typeface="Trebuchet MS"/>
              </a:rPr>
              <a:t>relaciones  </a:t>
            </a:r>
            <a:r>
              <a:rPr sz="2200" i="1" spc="-85" dirty="0">
                <a:latin typeface="Trebuchet MS"/>
                <a:cs typeface="Trebuchet MS"/>
              </a:rPr>
              <a:t>con </a:t>
            </a:r>
            <a:r>
              <a:rPr sz="2200" i="1" spc="-105" dirty="0">
                <a:latin typeface="Trebuchet MS"/>
                <a:cs typeface="Trebuchet MS"/>
              </a:rPr>
              <a:t>los  </a:t>
            </a:r>
            <a:r>
              <a:rPr sz="2200" i="1" spc="-145" dirty="0">
                <a:latin typeface="Trebuchet MS"/>
                <a:cs typeface="Trebuchet MS"/>
              </a:rPr>
              <a:t>clientes;</a:t>
            </a:r>
            <a:endParaRPr sz="2200">
              <a:latin typeface="Trebuchet MS"/>
              <a:cs typeface="Trebuchet MS"/>
            </a:endParaRPr>
          </a:p>
          <a:p>
            <a:pPr marL="527050" marR="508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200" i="1" spc="-85" dirty="0">
                <a:latin typeface="Trebuchet MS"/>
                <a:cs typeface="Trebuchet MS"/>
              </a:rPr>
              <a:t>Que </a:t>
            </a:r>
            <a:r>
              <a:rPr sz="2200" i="1" spc="-170" dirty="0">
                <a:latin typeface="Trebuchet MS"/>
                <a:cs typeface="Trebuchet MS"/>
              </a:rPr>
              <a:t>el </a:t>
            </a:r>
            <a:r>
              <a:rPr sz="2200" i="1" spc="-155" dirty="0">
                <a:latin typeface="Trebuchet MS"/>
                <a:cs typeface="Trebuchet MS"/>
              </a:rPr>
              <a:t>cliente </a:t>
            </a:r>
            <a:r>
              <a:rPr sz="2200" i="1" spc="-85" dirty="0">
                <a:latin typeface="Trebuchet MS"/>
                <a:cs typeface="Trebuchet MS"/>
              </a:rPr>
              <a:t>tenga </a:t>
            </a:r>
            <a:r>
              <a:rPr sz="2200" i="1" spc="-70" dirty="0">
                <a:latin typeface="Trebuchet MS"/>
                <a:cs typeface="Trebuchet MS"/>
              </a:rPr>
              <a:t>una </a:t>
            </a:r>
            <a:r>
              <a:rPr sz="2200" i="1" spc="-110" dirty="0">
                <a:latin typeface="Trebuchet MS"/>
                <a:cs typeface="Trebuchet MS"/>
              </a:rPr>
              <a:t>visión </a:t>
            </a:r>
            <a:r>
              <a:rPr sz="2200" i="1" spc="-105" dirty="0">
                <a:latin typeface="Trebuchet MS"/>
                <a:cs typeface="Trebuchet MS"/>
              </a:rPr>
              <a:t>integrada y </a:t>
            </a:r>
            <a:r>
              <a:rPr sz="2200" i="1" spc="-100" dirty="0">
                <a:latin typeface="Trebuchet MS"/>
                <a:cs typeface="Trebuchet MS"/>
              </a:rPr>
              <a:t>única  </a:t>
            </a:r>
            <a:r>
              <a:rPr sz="2200" i="1" spc="-114" dirty="0">
                <a:latin typeface="Trebuchet MS"/>
                <a:cs typeface="Trebuchet MS"/>
              </a:rPr>
              <a:t>de</a:t>
            </a:r>
            <a:r>
              <a:rPr sz="2200" i="1" spc="-175" dirty="0">
                <a:latin typeface="Trebuchet MS"/>
                <a:cs typeface="Trebuchet MS"/>
              </a:rPr>
              <a:t> </a:t>
            </a:r>
            <a:r>
              <a:rPr sz="2200" i="1" spc="-114" dirty="0">
                <a:latin typeface="Trebuchet MS"/>
                <a:cs typeface="Trebuchet MS"/>
              </a:rPr>
              <a:t>la</a:t>
            </a:r>
            <a:r>
              <a:rPr sz="2200" i="1" spc="-175" dirty="0">
                <a:latin typeface="Trebuchet MS"/>
                <a:cs typeface="Trebuchet MS"/>
              </a:rPr>
              <a:t> </a:t>
            </a:r>
            <a:r>
              <a:rPr sz="2200" i="1" spc="-100" dirty="0">
                <a:latin typeface="Trebuchet MS"/>
                <a:cs typeface="Trebuchet MS"/>
              </a:rPr>
              <a:t>organización</a:t>
            </a:r>
            <a:r>
              <a:rPr sz="2200" i="1" spc="-185" dirty="0">
                <a:latin typeface="Trebuchet MS"/>
                <a:cs typeface="Trebuchet MS"/>
              </a:rPr>
              <a:t> </a:t>
            </a:r>
            <a:r>
              <a:rPr sz="2200" i="1" spc="-105" dirty="0">
                <a:latin typeface="Trebuchet MS"/>
                <a:cs typeface="Trebuchet MS"/>
              </a:rPr>
              <a:t>en</a:t>
            </a:r>
            <a:r>
              <a:rPr sz="2200" i="1" spc="-170" dirty="0">
                <a:latin typeface="Trebuchet MS"/>
                <a:cs typeface="Trebuchet MS"/>
              </a:rPr>
              <a:t> </a:t>
            </a:r>
            <a:r>
              <a:rPr sz="2200" i="1" spc="-95" dirty="0">
                <a:latin typeface="Trebuchet MS"/>
                <a:cs typeface="Trebuchet MS"/>
              </a:rPr>
              <a:t>todos</a:t>
            </a:r>
            <a:r>
              <a:rPr sz="2200" i="1" spc="-175" dirty="0">
                <a:latin typeface="Trebuchet MS"/>
                <a:cs typeface="Trebuchet MS"/>
              </a:rPr>
              <a:t> </a:t>
            </a:r>
            <a:r>
              <a:rPr sz="2200" i="1" spc="-100" dirty="0">
                <a:latin typeface="Trebuchet MS"/>
                <a:cs typeface="Trebuchet MS"/>
              </a:rPr>
              <a:t>los</a:t>
            </a:r>
            <a:r>
              <a:rPr sz="2200" i="1" spc="-190" dirty="0">
                <a:latin typeface="Trebuchet MS"/>
                <a:cs typeface="Trebuchet MS"/>
              </a:rPr>
              <a:t> </a:t>
            </a:r>
            <a:r>
              <a:rPr sz="2200" i="1" spc="-114" dirty="0">
                <a:latin typeface="Trebuchet MS"/>
                <a:cs typeface="Trebuchet MS"/>
              </a:rPr>
              <a:t>canales.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46355" marR="38735" indent="-3810" algn="ctr">
              <a:lnSpc>
                <a:spcPct val="100000"/>
              </a:lnSpc>
            </a:pPr>
            <a:r>
              <a:rPr sz="2600" spc="-125" dirty="0">
                <a:latin typeface="Arial"/>
                <a:cs typeface="Arial"/>
              </a:rPr>
              <a:t>Prospecting </a:t>
            </a:r>
            <a:r>
              <a:rPr sz="2600" spc="-225" dirty="0">
                <a:latin typeface="Arial"/>
                <a:cs typeface="Arial"/>
              </a:rPr>
              <a:t>+ </a:t>
            </a:r>
            <a:r>
              <a:rPr sz="2600" spc="-105" dirty="0">
                <a:latin typeface="Arial"/>
                <a:cs typeface="Arial"/>
              </a:rPr>
              <a:t>Atracción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clientes </a:t>
            </a:r>
            <a:r>
              <a:rPr sz="2600" spc="-225" dirty="0">
                <a:latin typeface="Arial"/>
                <a:cs typeface="Arial"/>
              </a:rPr>
              <a:t>+  </a:t>
            </a:r>
            <a:r>
              <a:rPr sz="2600" spc="-100" dirty="0">
                <a:latin typeface="Arial"/>
                <a:cs typeface="Arial"/>
              </a:rPr>
              <a:t>Adquisición </a:t>
            </a:r>
            <a:r>
              <a:rPr sz="2600" spc="-114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clientes </a:t>
            </a:r>
            <a:r>
              <a:rPr sz="2600" spc="-225" dirty="0">
                <a:latin typeface="Arial"/>
                <a:cs typeface="Arial"/>
              </a:rPr>
              <a:t>+ </a:t>
            </a:r>
            <a:r>
              <a:rPr sz="2600" spc="-130" dirty="0">
                <a:latin typeface="Arial"/>
                <a:cs typeface="Arial"/>
              </a:rPr>
              <a:t>Retención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clientes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600" spc="-225" dirty="0">
                <a:latin typeface="Arial"/>
                <a:cs typeface="Arial"/>
              </a:rPr>
              <a:t>= </a:t>
            </a:r>
            <a:r>
              <a:rPr sz="2600" b="1" spc="-165" dirty="0">
                <a:latin typeface="Trebuchet MS"/>
                <a:cs typeface="Trebuchet MS"/>
              </a:rPr>
              <a:t>Clientes </a:t>
            </a:r>
            <a:r>
              <a:rPr sz="2600" b="1" spc="-140" dirty="0">
                <a:latin typeface="Trebuchet MS"/>
                <a:cs typeface="Trebuchet MS"/>
              </a:rPr>
              <a:t>vitalicios </a:t>
            </a:r>
            <a:r>
              <a:rPr sz="2600" b="1" spc="-155" dirty="0">
                <a:latin typeface="Trebuchet MS"/>
                <a:cs typeface="Trebuchet MS"/>
              </a:rPr>
              <a:t>(life-time</a:t>
            </a:r>
            <a:r>
              <a:rPr sz="2600" b="1" spc="-14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customers)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81038" y="1219200"/>
            <a:ext cx="2175509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81038" y="4390644"/>
            <a:ext cx="2188463" cy="2010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78059" y="3222744"/>
            <a:ext cx="1989309" cy="10333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7771130" cy="3340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45" dirty="0">
                <a:latin typeface="Trebuchet MS"/>
                <a:cs typeface="Trebuchet MS"/>
              </a:rPr>
              <a:t>Componentes </a:t>
            </a:r>
            <a:r>
              <a:rPr sz="2600" b="1" spc="-180" dirty="0">
                <a:latin typeface="Trebuchet MS"/>
                <a:cs typeface="Trebuchet MS"/>
              </a:rPr>
              <a:t>clave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CRM:</a:t>
            </a:r>
            <a:endParaRPr sz="2600">
              <a:latin typeface="Trebuchet MS"/>
              <a:cs typeface="Trebuchet MS"/>
            </a:endParaRPr>
          </a:p>
          <a:p>
            <a:pPr marL="527050" marR="1982470" indent="-514350" algn="just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527685" algn="l"/>
              </a:tabLst>
            </a:pPr>
            <a:r>
              <a:rPr sz="2200" spc="-75" dirty="0">
                <a:latin typeface="Arial"/>
                <a:cs typeface="Arial"/>
              </a:rPr>
              <a:t>Administración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0" dirty="0">
                <a:latin typeface="Arial"/>
                <a:cs typeface="Arial"/>
              </a:rPr>
              <a:t>información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los  </a:t>
            </a:r>
            <a:r>
              <a:rPr sz="2200" spc="-95" dirty="0">
                <a:latin typeface="Arial"/>
                <a:cs typeface="Arial"/>
              </a:rPr>
              <a:t>contactos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95" dirty="0">
                <a:latin typeface="Arial"/>
                <a:cs typeface="Arial"/>
              </a:rPr>
              <a:t>(fax, </a:t>
            </a:r>
            <a:r>
              <a:rPr sz="2200" spc="-55" dirty="0">
                <a:latin typeface="Arial"/>
                <a:cs typeface="Arial"/>
              </a:rPr>
              <a:t>teléfono, </a:t>
            </a:r>
            <a:r>
              <a:rPr sz="2200" spc="-70" dirty="0">
                <a:latin typeface="Arial"/>
                <a:cs typeface="Arial"/>
              </a:rPr>
              <a:t>email,  etc.)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10" dirty="0">
                <a:latin typeface="Arial"/>
                <a:cs typeface="Arial"/>
              </a:rPr>
              <a:t>cuentas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</a:t>
            </a:r>
            <a:r>
              <a:rPr sz="2200" spc="-24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clientes.</a:t>
            </a:r>
            <a:endParaRPr sz="2200">
              <a:latin typeface="Arial"/>
              <a:cs typeface="Arial"/>
            </a:endParaRPr>
          </a:p>
          <a:p>
            <a:pPr marL="984250" marR="1981835" lvl="1" indent="-514350" algn="just">
              <a:lnSpc>
                <a:spcPct val="100000"/>
              </a:lnSpc>
              <a:buFont typeface="Arial"/>
              <a:buChar char="•"/>
              <a:tabLst>
                <a:tab pos="984885" algn="l"/>
              </a:tabLst>
            </a:pPr>
            <a:r>
              <a:rPr sz="2200" i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Ejemplo</a:t>
            </a:r>
            <a:r>
              <a:rPr sz="2200" i="1" spc="-155" dirty="0">
                <a:latin typeface="Trebuchet MS"/>
                <a:cs typeface="Trebuchet MS"/>
              </a:rPr>
              <a:t>: </a:t>
            </a:r>
            <a:r>
              <a:rPr sz="2200" i="1" spc="-110" dirty="0">
                <a:latin typeface="Trebuchet MS"/>
                <a:cs typeface="Trebuchet MS"/>
              </a:rPr>
              <a:t>cantidad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05" dirty="0">
                <a:latin typeface="Trebuchet MS"/>
                <a:cs typeface="Trebuchet MS"/>
              </a:rPr>
              <a:t>veces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170" dirty="0">
                <a:latin typeface="Trebuchet MS"/>
                <a:cs typeface="Trebuchet MS"/>
              </a:rPr>
              <a:t>el </a:t>
            </a:r>
            <a:r>
              <a:rPr sz="2200" i="1" spc="-155" dirty="0">
                <a:latin typeface="Trebuchet MS"/>
                <a:cs typeface="Trebuchet MS"/>
              </a:rPr>
              <a:t>cliente  </a:t>
            </a:r>
            <a:r>
              <a:rPr sz="2200" i="1" spc="-130" dirty="0">
                <a:latin typeface="Trebuchet MS"/>
                <a:cs typeface="Trebuchet MS"/>
              </a:rPr>
              <a:t>recibió </a:t>
            </a:r>
            <a:r>
              <a:rPr sz="2200" i="1" spc="-85" dirty="0">
                <a:latin typeface="Trebuchet MS"/>
                <a:cs typeface="Trebuchet MS"/>
              </a:rPr>
              <a:t>un </a:t>
            </a:r>
            <a:r>
              <a:rPr sz="2200" i="1" spc="-165" dirty="0">
                <a:latin typeface="Trebuchet MS"/>
                <a:cs typeface="Trebuchet MS"/>
              </a:rPr>
              <a:t>folleto </a:t>
            </a:r>
            <a:r>
              <a:rPr sz="2200" i="1" spc="-105" dirty="0">
                <a:latin typeface="Trebuchet MS"/>
                <a:cs typeface="Trebuchet MS"/>
              </a:rPr>
              <a:t>y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150" dirty="0">
                <a:latin typeface="Trebuchet MS"/>
                <a:cs typeface="Trebuchet MS"/>
              </a:rPr>
              <a:t>fue </a:t>
            </a:r>
            <a:r>
              <a:rPr sz="2200" i="1" spc="-25" dirty="0">
                <a:latin typeface="Trebuchet MS"/>
                <a:cs typeface="Trebuchet MS"/>
              </a:rPr>
              <a:t>a </a:t>
            </a:r>
            <a:r>
              <a:rPr sz="2200" i="1" spc="-85" dirty="0">
                <a:latin typeface="Trebuchet MS"/>
                <a:cs typeface="Trebuchet MS"/>
              </a:rPr>
              <a:t>un </a:t>
            </a:r>
            <a:r>
              <a:rPr sz="2200" i="1" spc="-130" dirty="0">
                <a:latin typeface="Trebuchet MS"/>
                <a:cs typeface="Trebuchet MS"/>
              </a:rPr>
              <a:t>evento </a:t>
            </a:r>
            <a:r>
              <a:rPr sz="2200" i="1" spc="-120" dirty="0">
                <a:latin typeface="Trebuchet MS"/>
                <a:cs typeface="Trebuchet MS"/>
              </a:rPr>
              <a:t>de  </a:t>
            </a:r>
            <a:r>
              <a:rPr sz="2200" i="1" spc="-114" dirty="0">
                <a:latin typeface="Trebuchet MS"/>
                <a:cs typeface="Trebuchet MS"/>
              </a:rPr>
              <a:t>la</a:t>
            </a:r>
            <a:r>
              <a:rPr sz="2200" i="1" spc="-180" dirty="0">
                <a:latin typeface="Trebuchet MS"/>
                <a:cs typeface="Trebuchet MS"/>
              </a:rPr>
              <a:t> </a:t>
            </a:r>
            <a:r>
              <a:rPr sz="2200" i="1" spc="-100" dirty="0">
                <a:latin typeface="Trebuchet MS"/>
                <a:cs typeface="Trebuchet MS"/>
              </a:rPr>
              <a:t>empresa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3843782"/>
            <a:ext cx="2981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050" algn="l"/>
                <a:tab pos="1605280" algn="l"/>
              </a:tabLst>
            </a:pPr>
            <a:r>
              <a:rPr sz="2200" spc="-90" dirty="0">
                <a:latin typeface="Arial"/>
                <a:cs typeface="Arial"/>
              </a:rPr>
              <a:t>2.	</a:t>
            </a:r>
            <a:r>
              <a:rPr sz="2200" spc="-130" dirty="0">
                <a:latin typeface="Arial"/>
                <a:cs typeface="Arial"/>
              </a:rPr>
              <a:t>Ventas:	</a:t>
            </a:r>
            <a:r>
              <a:rPr sz="2200" spc="-65" dirty="0">
                <a:latin typeface="Arial"/>
                <a:cs typeface="Arial"/>
              </a:rPr>
              <a:t>información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7635" y="3843782"/>
            <a:ext cx="2595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  <a:tabLst>
                <a:tab pos="365760" algn="l"/>
                <a:tab pos="540385" algn="l"/>
                <a:tab pos="1914525" algn="l"/>
                <a:tab pos="2295525" algn="l"/>
                <a:tab pos="2383790" algn="l"/>
              </a:tabLst>
            </a:pPr>
            <a:r>
              <a:rPr sz="2200" spc="-105" dirty="0">
                <a:latin typeface="Arial"/>
                <a:cs typeface="Arial"/>
              </a:rPr>
              <a:t>d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	</a:t>
            </a:r>
            <a:r>
              <a:rPr sz="2200" spc="-25" dirty="0">
                <a:latin typeface="Arial"/>
                <a:cs typeface="Arial"/>
              </a:rPr>
              <a:t>p</a:t>
            </a:r>
            <a:r>
              <a:rPr sz="2200" spc="-60" dirty="0">
                <a:latin typeface="Arial"/>
                <a:cs typeface="Arial"/>
              </a:rPr>
              <a:t>r</a:t>
            </a:r>
            <a:r>
              <a:rPr sz="2200" spc="-75" dirty="0">
                <a:latin typeface="Arial"/>
                <a:cs typeface="Arial"/>
              </a:rPr>
              <a:t>od</a:t>
            </a:r>
            <a:r>
              <a:rPr sz="2200" spc="-85" dirty="0">
                <a:latin typeface="Arial"/>
                <a:cs typeface="Arial"/>
              </a:rPr>
              <a:t>u</a:t>
            </a:r>
            <a:r>
              <a:rPr sz="2200" spc="-30" dirty="0">
                <a:latin typeface="Arial"/>
                <a:cs typeface="Arial"/>
              </a:rPr>
              <a:t>c</a:t>
            </a:r>
            <a:r>
              <a:rPr sz="2200" spc="-45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2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0" dirty="0">
                <a:latin typeface="Arial"/>
                <a:cs typeface="Arial"/>
              </a:rPr>
              <a:t>de  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5" dirty="0">
                <a:latin typeface="Arial"/>
                <a:cs typeface="Arial"/>
              </a:rPr>
              <a:t>i</a:t>
            </a:r>
            <a:r>
              <a:rPr sz="2200" spc="-55" dirty="0">
                <a:latin typeface="Arial"/>
                <a:cs typeface="Arial"/>
              </a:rPr>
              <a:t>n</a:t>
            </a:r>
            <a:r>
              <a:rPr sz="2200" spc="10" dirty="0">
                <a:latin typeface="Arial"/>
                <a:cs typeface="Arial"/>
              </a:rPr>
              <a:t>f</a:t>
            </a:r>
            <a:r>
              <a:rPr sz="2200" spc="-75" dirty="0">
                <a:latin typeface="Arial"/>
                <a:cs typeface="Arial"/>
              </a:rPr>
              <a:t>orm</a:t>
            </a:r>
            <a:r>
              <a:rPr sz="2200" spc="-80" dirty="0">
                <a:latin typeface="Arial"/>
                <a:cs typeface="Arial"/>
              </a:rPr>
              <a:t>a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ó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	</a:t>
            </a:r>
            <a:r>
              <a:rPr sz="2200" spc="-85" dirty="0">
                <a:latin typeface="Arial"/>
                <a:cs typeface="Arial"/>
              </a:rPr>
              <a:t>la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872" y="4179061"/>
            <a:ext cx="2556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42720" algn="l"/>
                <a:tab pos="1912620" algn="l"/>
              </a:tabLst>
            </a:pPr>
            <a:r>
              <a:rPr sz="2200" spc="-25" dirty="0">
                <a:latin typeface="Arial"/>
                <a:cs typeface="Arial"/>
              </a:rPr>
              <a:t>p</a:t>
            </a:r>
            <a:r>
              <a:rPr sz="2200" spc="-60" dirty="0">
                <a:latin typeface="Arial"/>
                <a:cs typeface="Arial"/>
              </a:rPr>
              <a:t>r</a:t>
            </a:r>
            <a:r>
              <a:rPr sz="2200" spc="-130" dirty="0">
                <a:latin typeface="Arial"/>
                <a:cs typeface="Arial"/>
              </a:rPr>
              <a:t>os</a:t>
            </a:r>
            <a:r>
              <a:rPr sz="2200" spc="-140" dirty="0">
                <a:latin typeface="Arial"/>
                <a:cs typeface="Arial"/>
              </a:rPr>
              <a:t>p</a:t>
            </a:r>
            <a:r>
              <a:rPr sz="2200" spc="-70" dirty="0">
                <a:latin typeface="Arial"/>
                <a:cs typeface="Arial"/>
              </a:rPr>
              <a:t>ec</a:t>
            </a:r>
            <a:r>
              <a:rPr sz="2200" spc="-65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40" dirty="0">
                <a:latin typeface="Arial"/>
                <a:cs typeface="Arial"/>
              </a:rPr>
              <a:t>v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spc="-114" dirty="0">
                <a:latin typeface="Arial"/>
                <a:cs typeface="Arial"/>
              </a:rPr>
              <a:t>n</a:t>
            </a:r>
            <a:r>
              <a:rPr sz="2200" spc="85" dirty="0">
                <a:latin typeface="Arial"/>
                <a:cs typeface="Arial"/>
              </a:rPr>
              <a:t>t</a:t>
            </a:r>
            <a:r>
              <a:rPr sz="2200" spc="-114" dirty="0">
                <a:latin typeface="Arial"/>
                <a:cs typeface="Arial"/>
              </a:rPr>
              <a:t>a  </a:t>
            </a:r>
            <a:r>
              <a:rPr sz="2200" spc="-85" dirty="0">
                <a:latin typeface="Arial"/>
                <a:cs typeface="Arial"/>
              </a:rPr>
              <a:t>cuenta.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3615" y="4849622"/>
            <a:ext cx="173926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335" algn="l"/>
              </a:tabLst>
            </a:pPr>
            <a:r>
              <a:rPr sz="2200" i="1" spc="-110" dirty="0">
                <a:latin typeface="Trebuchet MS"/>
                <a:cs typeface="Trebuchet MS"/>
              </a:rPr>
              <a:t>v</a:t>
            </a:r>
            <a:r>
              <a:rPr sz="2200" i="1" spc="-130" dirty="0">
                <a:latin typeface="Trebuchet MS"/>
                <a:cs typeface="Trebuchet MS"/>
              </a:rPr>
              <a:t>e</a:t>
            </a:r>
            <a:r>
              <a:rPr sz="2200" i="1" spc="-80" dirty="0">
                <a:latin typeface="Trebuchet MS"/>
                <a:cs typeface="Trebuchet MS"/>
              </a:rPr>
              <a:t>n</a:t>
            </a:r>
            <a:r>
              <a:rPr sz="2200" i="1" spc="-114" dirty="0">
                <a:latin typeface="Trebuchet MS"/>
                <a:cs typeface="Trebuchet MS"/>
              </a:rPr>
              <a:t>de</a:t>
            </a:r>
            <a:r>
              <a:rPr sz="2200" i="1" spc="-125" dirty="0">
                <a:latin typeface="Trebuchet MS"/>
                <a:cs typeface="Trebuchet MS"/>
              </a:rPr>
              <a:t>d</a:t>
            </a:r>
            <a:r>
              <a:rPr sz="2200" i="1" spc="-65" dirty="0">
                <a:latin typeface="Trebuchet MS"/>
                <a:cs typeface="Trebuchet MS"/>
              </a:rPr>
              <a:t>o</a:t>
            </a:r>
            <a:r>
              <a:rPr sz="2200" i="1" spc="-165" dirty="0">
                <a:latin typeface="Trebuchet MS"/>
                <a:cs typeface="Trebuchet MS"/>
              </a:rPr>
              <a:t>r</a:t>
            </a:r>
            <a:r>
              <a:rPr sz="2200" i="1" dirty="0">
                <a:latin typeface="Trebuchet MS"/>
                <a:cs typeface="Trebuchet MS"/>
              </a:rPr>
              <a:t>	</a:t>
            </a:r>
            <a:r>
              <a:rPr sz="2200" i="1" spc="-95" dirty="0">
                <a:latin typeface="Trebuchet MS"/>
                <a:cs typeface="Trebuchet MS"/>
              </a:rPr>
              <a:t>l</a:t>
            </a:r>
            <a:r>
              <a:rPr sz="2200" i="1" spc="-170" dirty="0">
                <a:latin typeface="Trebuchet MS"/>
                <a:cs typeface="Trebuchet MS"/>
              </a:rPr>
              <a:t>o</a:t>
            </a:r>
            <a:r>
              <a:rPr sz="2200" i="1" spc="-35" dirty="0">
                <a:latin typeface="Trebuchet MS"/>
                <a:cs typeface="Trebuchet MS"/>
              </a:rPr>
              <a:t>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4849622"/>
            <a:ext cx="35344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080" indent="-5143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6415" algn="l"/>
                <a:tab pos="527050" algn="l"/>
                <a:tab pos="1847850" algn="l"/>
                <a:tab pos="1968500" algn="l"/>
                <a:tab pos="2503170" algn="l"/>
                <a:tab pos="3061970" algn="l"/>
              </a:tabLst>
            </a:pPr>
            <a:r>
              <a:rPr sz="2200" i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Ejemplo</a:t>
            </a:r>
            <a:r>
              <a:rPr sz="2200" i="1" spc="-155" dirty="0">
                <a:latin typeface="Trebuchet MS"/>
                <a:cs typeface="Trebuchet MS"/>
              </a:rPr>
              <a:t>:	</a:t>
            </a:r>
            <a:r>
              <a:rPr sz="2200" i="1" spc="-114" dirty="0">
                <a:latin typeface="Trebuchet MS"/>
                <a:cs typeface="Trebuchet MS"/>
              </a:rPr>
              <a:t>avisarle	</a:t>
            </a:r>
            <a:r>
              <a:rPr sz="2200" i="1" spc="-120" dirty="0">
                <a:latin typeface="Trebuchet MS"/>
                <a:cs typeface="Trebuchet MS"/>
              </a:rPr>
              <a:t>al  </a:t>
            </a:r>
            <a:r>
              <a:rPr sz="2200" i="1" spc="-155" dirty="0">
                <a:latin typeface="Trebuchet MS"/>
                <a:cs typeface="Trebuchet MS"/>
              </a:rPr>
              <a:t>p</a:t>
            </a:r>
            <a:r>
              <a:rPr sz="2200" i="1" spc="-120" dirty="0">
                <a:latin typeface="Trebuchet MS"/>
                <a:cs typeface="Trebuchet MS"/>
              </a:rPr>
              <a:t>r</a:t>
            </a:r>
            <a:r>
              <a:rPr sz="2200" i="1" spc="-65" dirty="0">
                <a:latin typeface="Trebuchet MS"/>
                <a:cs typeface="Trebuchet MS"/>
              </a:rPr>
              <a:t>o</a:t>
            </a:r>
            <a:r>
              <a:rPr sz="2200" i="1" spc="-140" dirty="0">
                <a:latin typeface="Trebuchet MS"/>
                <a:cs typeface="Trebuchet MS"/>
              </a:rPr>
              <a:t>bl</a:t>
            </a:r>
            <a:r>
              <a:rPr sz="2200" i="1" spc="-185" dirty="0">
                <a:latin typeface="Trebuchet MS"/>
                <a:cs typeface="Trebuchet MS"/>
              </a:rPr>
              <a:t>e</a:t>
            </a:r>
            <a:r>
              <a:rPr sz="2200" i="1" spc="-95" dirty="0">
                <a:latin typeface="Trebuchet MS"/>
                <a:cs typeface="Trebuchet MS"/>
              </a:rPr>
              <a:t>m</a:t>
            </a:r>
            <a:r>
              <a:rPr sz="2200" i="1" spc="-40" dirty="0">
                <a:latin typeface="Trebuchet MS"/>
                <a:cs typeface="Trebuchet MS"/>
              </a:rPr>
              <a:t>a</a:t>
            </a:r>
            <a:r>
              <a:rPr sz="2200" i="1" spc="-25" dirty="0">
                <a:latin typeface="Trebuchet MS"/>
                <a:cs typeface="Trebuchet MS"/>
              </a:rPr>
              <a:t>s</a:t>
            </a:r>
            <a:r>
              <a:rPr sz="2200" i="1" dirty="0">
                <a:latin typeface="Trebuchet MS"/>
                <a:cs typeface="Trebuchet MS"/>
              </a:rPr>
              <a:t>		</a:t>
            </a:r>
            <a:r>
              <a:rPr sz="2200" i="1" spc="-70" dirty="0">
                <a:latin typeface="Trebuchet MS"/>
                <a:cs typeface="Trebuchet MS"/>
              </a:rPr>
              <a:t>n</a:t>
            </a:r>
            <a:r>
              <a:rPr sz="2200" i="1" spc="-60" dirty="0">
                <a:latin typeface="Trebuchet MS"/>
                <a:cs typeface="Trebuchet MS"/>
              </a:rPr>
              <a:t>o</a:t>
            </a:r>
            <a:r>
              <a:rPr sz="2200" i="1" dirty="0">
                <a:latin typeface="Trebuchet MS"/>
                <a:cs typeface="Trebuchet MS"/>
              </a:rPr>
              <a:t>	</a:t>
            </a:r>
            <a:r>
              <a:rPr sz="2200" i="1" spc="-130" dirty="0">
                <a:latin typeface="Trebuchet MS"/>
                <a:cs typeface="Trebuchet MS"/>
              </a:rPr>
              <a:t>r</a:t>
            </a:r>
            <a:r>
              <a:rPr sz="2200" i="1" spc="-175" dirty="0">
                <a:latin typeface="Trebuchet MS"/>
                <a:cs typeface="Trebuchet MS"/>
              </a:rPr>
              <a:t>e</a:t>
            </a:r>
            <a:r>
              <a:rPr sz="2200" i="1" spc="-60" dirty="0">
                <a:latin typeface="Trebuchet MS"/>
                <a:cs typeface="Trebuchet MS"/>
              </a:rPr>
              <a:t>s</a:t>
            </a:r>
            <a:r>
              <a:rPr sz="2200" i="1" spc="-85" dirty="0">
                <a:latin typeface="Trebuchet MS"/>
                <a:cs typeface="Trebuchet MS"/>
              </a:rPr>
              <a:t>u</a:t>
            </a:r>
            <a:r>
              <a:rPr sz="2200" i="1" spc="-175" dirty="0">
                <a:latin typeface="Trebuchet MS"/>
                <a:cs typeface="Trebuchet MS"/>
              </a:rPr>
              <a:t>el</a:t>
            </a:r>
            <a:r>
              <a:rPr sz="2200" i="1" spc="-210" dirty="0">
                <a:latin typeface="Trebuchet MS"/>
                <a:cs typeface="Trebuchet MS"/>
              </a:rPr>
              <a:t>t</a:t>
            </a:r>
            <a:r>
              <a:rPr sz="2200" i="1" spc="-65" dirty="0">
                <a:latin typeface="Trebuchet MS"/>
                <a:cs typeface="Trebuchet MS"/>
              </a:rPr>
              <a:t>o</a:t>
            </a:r>
            <a:r>
              <a:rPr sz="2200" i="1" spc="-35" dirty="0">
                <a:latin typeface="Trebuchet MS"/>
                <a:cs typeface="Trebuchet MS"/>
              </a:rPr>
              <a:t>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4397" y="5185155"/>
            <a:ext cx="157861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200" i="1" spc="-114" dirty="0">
                <a:latin typeface="Trebuchet MS"/>
                <a:cs typeface="Trebuchet MS"/>
              </a:rPr>
              <a:t>de	</a:t>
            </a:r>
            <a:r>
              <a:rPr sz="2200" i="1" spc="-80" dirty="0">
                <a:latin typeface="Trebuchet MS"/>
                <a:cs typeface="Trebuchet MS"/>
              </a:rPr>
              <a:t>s</a:t>
            </a:r>
            <a:r>
              <a:rPr sz="2200" i="1" spc="-105" dirty="0">
                <a:latin typeface="Trebuchet MS"/>
                <a:cs typeface="Trebuchet MS"/>
              </a:rPr>
              <a:t>e</a:t>
            </a:r>
            <a:r>
              <a:rPr sz="2200" i="1" spc="-155" dirty="0">
                <a:latin typeface="Trebuchet MS"/>
                <a:cs typeface="Trebuchet MS"/>
              </a:rPr>
              <a:t>r</a:t>
            </a:r>
            <a:r>
              <a:rPr sz="2200" i="1" spc="-165" dirty="0">
                <a:latin typeface="Trebuchet MS"/>
                <a:cs typeface="Trebuchet MS"/>
              </a:rPr>
              <a:t>v</a:t>
            </a:r>
            <a:r>
              <a:rPr sz="2200" i="1" spc="-120" dirty="0">
                <a:latin typeface="Trebuchet MS"/>
                <a:cs typeface="Trebuchet MS"/>
              </a:rPr>
              <a:t>i</a:t>
            </a:r>
            <a:r>
              <a:rPr sz="2200" i="1" spc="-95" dirty="0">
                <a:latin typeface="Trebuchet MS"/>
                <a:cs typeface="Trebuchet MS"/>
              </a:rPr>
              <a:t>ci</a:t>
            </a:r>
            <a:r>
              <a:rPr sz="2200" i="1" spc="-145" dirty="0">
                <a:latin typeface="Trebuchet MS"/>
                <a:cs typeface="Trebuchet MS"/>
              </a:rPr>
              <a:t>o</a:t>
            </a:r>
            <a:r>
              <a:rPr sz="2200" i="1" spc="-155" dirty="0">
                <a:latin typeface="Trebuchet MS"/>
                <a:cs typeface="Trebuchet MS"/>
              </a:rPr>
              <a:t>s,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1072" y="5520435"/>
            <a:ext cx="48221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i="1" spc="-100" dirty="0">
                <a:latin typeface="Trebuchet MS"/>
                <a:cs typeface="Trebuchet MS"/>
              </a:rPr>
              <a:t>entregas </a:t>
            </a:r>
            <a:r>
              <a:rPr sz="2200" i="1" spc="-55" dirty="0">
                <a:latin typeface="Trebuchet MS"/>
                <a:cs typeface="Trebuchet MS"/>
              </a:rPr>
              <a:t>o </a:t>
            </a:r>
            <a:r>
              <a:rPr sz="2200" i="1" spc="-45" dirty="0">
                <a:latin typeface="Trebuchet MS"/>
                <a:cs typeface="Trebuchet MS"/>
              </a:rPr>
              <a:t>pagos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85" dirty="0">
                <a:latin typeface="Trebuchet MS"/>
                <a:cs typeface="Trebuchet MS"/>
              </a:rPr>
              <a:t>se </a:t>
            </a:r>
            <a:r>
              <a:rPr sz="2200" i="1" spc="-110" dirty="0">
                <a:latin typeface="Trebuchet MS"/>
                <a:cs typeface="Trebuchet MS"/>
              </a:rPr>
              <a:t>pueden </a:t>
            </a:r>
            <a:r>
              <a:rPr sz="2200" i="1" spc="-130" dirty="0">
                <a:latin typeface="Trebuchet MS"/>
                <a:cs typeface="Trebuchet MS"/>
              </a:rPr>
              <a:t>resolver  </a:t>
            </a:r>
            <a:r>
              <a:rPr sz="2200" i="1" spc="-105" dirty="0">
                <a:latin typeface="Trebuchet MS"/>
                <a:cs typeface="Trebuchet MS"/>
              </a:rPr>
              <a:t>contactando </a:t>
            </a:r>
            <a:r>
              <a:rPr sz="2200" i="1" spc="-114" dirty="0">
                <a:latin typeface="Trebuchet MS"/>
                <a:cs typeface="Trebuchet MS"/>
              </a:rPr>
              <a:t>personalmente al</a:t>
            </a:r>
            <a:r>
              <a:rPr sz="2200" i="1" spc="-335" dirty="0">
                <a:latin typeface="Trebuchet MS"/>
                <a:cs typeface="Trebuchet MS"/>
              </a:rPr>
              <a:t> </a:t>
            </a:r>
            <a:r>
              <a:rPr sz="2200" i="1" spc="-150" dirty="0">
                <a:latin typeface="Trebuchet MS"/>
                <a:cs typeface="Trebuchet MS"/>
              </a:rPr>
              <a:t>cliente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27114" y="1229105"/>
            <a:ext cx="2000250" cy="22760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49390" y="4343400"/>
            <a:ext cx="2213609" cy="14729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458200" cy="233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r>
              <a:rPr sz="18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45" dirty="0">
                <a:latin typeface="Trebuchet MS"/>
                <a:cs typeface="Trebuchet MS"/>
              </a:rPr>
              <a:t>Componentes </a:t>
            </a:r>
            <a:r>
              <a:rPr sz="2600" b="1" spc="-180" dirty="0">
                <a:latin typeface="Trebuchet MS"/>
                <a:cs typeface="Trebuchet MS"/>
              </a:rPr>
              <a:t>clave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b="1" spc="-175" dirty="0">
                <a:latin typeface="Trebuchet MS"/>
                <a:cs typeface="Trebuchet MS"/>
              </a:rPr>
              <a:t>(Cont.):</a:t>
            </a:r>
            <a:endParaRPr sz="2600">
              <a:latin typeface="Trebuchet MS"/>
              <a:cs typeface="Trebuchet MS"/>
            </a:endParaRPr>
          </a:p>
          <a:p>
            <a:pPr marL="527050" marR="2820670" indent="-514984" algn="just">
              <a:lnSpc>
                <a:spcPct val="100000"/>
              </a:lnSpc>
              <a:spcBef>
                <a:spcPts val="25"/>
              </a:spcBef>
            </a:pPr>
            <a:r>
              <a:rPr sz="2200" spc="-90" dirty="0">
                <a:latin typeface="Arial"/>
                <a:cs typeface="Arial"/>
              </a:rPr>
              <a:t>3. </a:t>
            </a:r>
            <a:r>
              <a:rPr sz="2200" spc="-60" dirty="0">
                <a:latin typeface="Arial"/>
                <a:cs typeface="Arial"/>
              </a:rPr>
              <a:t>Marketing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0" dirty="0">
                <a:latin typeface="Arial"/>
                <a:cs typeface="Arial"/>
              </a:rPr>
              <a:t>ejecución: </a:t>
            </a:r>
            <a:r>
              <a:rPr sz="2200" spc="-130" dirty="0">
                <a:latin typeface="Arial"/>
                <a:cs typeface="Arial"/>
              </a:rPr>
              <a:t>ayuda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ejecución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50" dirty="0">
                <a:latin typeface="Arial"/>
                <a:cs typeface="Arial"/>
              </a:rPr>
              <a:t>campañas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marketing </a:t>
            </a:r>
            <a:r>
              <a:rPr sz="2200" spc="-50" dirty="0">
                <a:latin typeface="Arial"/>
                <a:cs typeface="Arial"/>
              </a:rPr>
              <a:t>directo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40" dirty="0">
                <a:latin typeface="Arial"/>
                <a:cs typeface="Arial"/>
              </a:rPr>
              <a:t>tratamiento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20" dirty="0">
                <a:latin typeface="Arial"/>
                <a:cs typeface="Arial"/>
              </a:rPr>
              <a:t>respuestas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clientes.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2837942"/>
            <a:ext cx="1784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050" algn="l"/>
                <a:tab pos="1644650" algn="l"/>
              </a:tabLst>
            </a:pPr>
            <a:r>
              <a:rPr sz="2200" spc="-120" dirty="0">
                <a:latin typeface="Arial"/>
                <a:cs typeface="Arial"/>
              </a:rPr>
              <a:t>4</a:t>
            </a:r>
            <a:r>
              <a:rPr sz="2200" spc="-55" dirty="0">
                <a:latin typeface="Arial"/>
                <a:cs typeface="Arial"/>
              </a:rPr>
              <a:t>.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25" dirty="0">
                <a:latin typeface="Arial"/>
                <a:cs typeface="Arial"/>
              </a:rPr>
              <a:t>Se</a:t>
            </a:r>
            <a:r>
              <a:rPr sz="2200" spc="-110" dirty="0">
                <a:latin typeface="Arial"/>
                <a:cs typeface="Arial"/>
              </a:rPr>
              <a:t>r</a:t>
            </a:r>
            <a:r>
              <a:rPr sz="2200" spc="-65" dirty="0">
                <a:latin typeface="Arial"/>
                <a:cs typeface="Arial"/>
              </a:rPr>
              <a:t>v</a:t>
            </a:r>
            <a:r>
              <a:rPr sz="2200" spc="-40" dirty="0">
                <a:latin typeface="Arial"/>
                <a:cs typeface="Arial"/>
              </a:rPr>
              <a:t>i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1389" y="2837942"/>
            <a:ext cx="3649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705" algn="l"/>
                <a:tab pos="1371600" algn="l"/>
                <a:tab pos="2437130" algn="l"/>
                <a:tab pos="2949575" algn="l"/>
                <a:tab pos="3315970" algn="l"/>
              </a:tabLst>
            </a:pP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p</a:t>
            </a:r>
            <a:r>
              <a:rPr sz="2200" spc="-75" dirty="0">
                <a:latin typeface="Arial"/>
                <a:cs typeface="Arial"/>
              </a:rPr>
              <a:t>o</a:t>
            </a:r>
            <a:r>
              <a:rPr sz="2200" spc="-135" dirty="0">
                <a:latin typeface="Arial"/>
                <a:cs typeface="Arial"/>
              </a:rPr>
              <a:t>y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0" dirty="0">
                <a:latin typeface="Arial"/>
                <a:cs typeface="Arial"/>
              </a:rPr>
              <a:t>al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25" dirty="0">
                <a:latin typeface="Arial"/>
                <a:cs typeface="Arial"/>
              </a:rPr>
              <a:t>li</a:t>
            </a:r>
            <a:r>
              <a:rPr sz="2200" spc="-65" dirty="0">
                <a:latin typeface="Arial"/>
                <a:cs typeface="Arial"/>
              </a:rPr>
              <a:t>e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spc="-2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l</a:t>
            </a:r>
            <a:r>
              <a:rPr sz="2200" spc="-160" dirty="0">
                <a:latin typeface="Arial"/>
                <a:cs typeface="Arial"/>
              </a:rPr>
              <a:t>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3173222"/>
            <a:ext cx="564261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6350">
              <a:lnSpc>
                <a:spcPct val="100000"/>
              </a:lnSpc>
              <a:spcBef>
                <a:spcPts val="100"/>
              </a:spcBef>
              <a:tabLst>
                <a:tab pos="2529205" algn="l"/>
                <a:tab pos="3106420" algn="l"/>
                <a:tab pos="4264025" algn="l"/>
              </a:tabLst>
            </a:pP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65" dirty="0">
                <a:latin typeface="Arial"/>
                <a:cs typeface="Arial"/>
              </a:rPr>
              <a:t>ep</a:t>
            </a:r>
            <a:r>
              <a:rPr sz="2200" spc="-75" dirty="0">
                <a:latin typeface="Arial"/>
                <a:cs typeface="Arial"/>
              </a:rPr>
              <a:t>r</a:t>
            </a:r>
            <a:r>
              <a:rPr sz="2200" spc="-140" dirty="0">
                <a:latin typeface="Arial"/>
                <a:cs typeface="Arial"/>
              </a:rPr>
              <a:t>ese</a:t>
            </a:r>
            <a:r>
              <a:rPr sz="2200" spc="-160" dirty="0">
                <a:latin typeface="Arial"/>
                <a:cs typeface="Arial"/>
              </a:rPr>
              <a:t>n</a:t>
            </a:r>
            <a:r>
              <a:rPr sz="2200" spc="85" dirty="0">
                <a:latin typeface="Arial"/>
                <a:cs typeface="Arial"/>
              </a:rPr>
              <a:t>t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50" dirty="0">
                <a:latin typeface="Arial"/>
                <a:cs typeface="Arial"/>
              </a:rPr>
              <a:t>n</a:t>
            </a:r>
            <a:r>
              <a:rPr sz="2200" spc="95" dirty="0">
                <a:latin typeface="Arial"/>
                <a:cs typeface="Arial"/>
              </a:rPr>
              <a:t>t</a:t>
            </a:r>
            <a:r>
              <a:rPr sz="2200" spc="-185" dirty="0">
                <a:latin typeface="Arial"/>
                <a:cs typeface="Arial"/>
              </a:rPr>
              <a:t>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5" dirty="0">
                <a:latin typeface="Arial"/>
                <a:cs typeface="Arial"/>
              </a:rPr>
              <a:t>se</a:t>
            </a:r>
            <a:r>
              <a:rPr sz="2200" spc="-65" dirty="0">
                <a:latin typeface="Arial"/>
                <a:cs typeface="Arial"/>
              </a:rPr>
              <a:t>rv</a:t>
            </a:r>
            <a:r>
              <a:rPr sz="2200" spc="-45" dirty="0">
                <a:latin typeface="Arial"/>
                <a:cs typeface="Arial"/>
              </a:rPr>
              <a:t>i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25" dirty="0">
                <a:latin typeface="Arial"/>
                <a:cs typeface="Arial"/>
              </a:rPr>
              <a:t>io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85" dirty="0">
                <a:latin typeface="Arial"/>
                <a:cs typeface="Arial"/>
              </a:rPr>
              <a:t>n</a:t>
            </a:r>
            <a:r>
              <a:rPr sz="2200" spc="10" dirty="0">
                <a:latin typeface="Arial"/>
                <a:cs typeface="Arial"/>
              </a:rPr>
              <a:t>f</a:t>
            </a:r>
            <a:r>
              <a:rPr sz="2200" spc="-75" dirty="0">
                <a:latin typeface="Arial"/>
                <a:cs typeface="Arial"/>
              </a:rPr>
              <a:t>orm</a:t>
            </a:r>
            <a:r>
              <a:rPr sz="2200" spc="-80" dirty="0">
                <a:latin typeface="Arial"/>
                <a:cs typeface="Arial"/>
              </a:rPr>
              <a:t>a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55" dirty="0">
                <a:latin typeface="Arial"/>
                <a:cs typeface="Arial"/>
              </a:rPr>
              <a:t>ón  </a:t>
            </a:r>
            <a:r>
              <a:rPr sz="2200" spc="-100" dirty="0">
                <a:latin typeface="Arial"/>
                <a:cs typeface="Arial"/>
              </a:rPr>
              <a:t>sobre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cliente.</a:t>
            </a:r>
            <a:endParaRPr sz="2200">
              <a:latin typeface="Arial"/>
              <a:cs typeface="Arial"/>
            </a:endParaRPr>
          </a:p>
          <a:p>
            <a:pPr marL="984250" marR="5080" indent="-514350" algn="just">
              <a:lnSpc>
                <a:spcPct val="100000"/>
              </a:lnSpc>
              <a:buFont typeface="Arial"/>
              <a:buChar char="•"/>
              <a:tabLst>
                <a:tab pos="984885" algn="l"/>
              </a:tabLst>
            </a:pPr>
            <a:r>
              <a:rPr sz="2200" i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Ejemplo</a:t>
            </a:r>
            <a:r>
              <a:rPr sz="2200" i="1" spc="-155" dirty="0">
                <a:latin typeface="Trebuchet MS"/>
                <a:cs typeface="Trebuchet MS"/>
              </a:rPr>
              <a:t>: </a:t>
            </a:r>
            <a:r>
              <a:rPr sz="2200" i="1" spc="-100" dirty="0">
                <a:latin typeface="Trebuchet MS"/>
                <a:cs typeface="Trebuchet MS"/>
              </a:rPr>
              <a:t>hace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170" dirty="0">
                <a:latin typeface="Trebuchet MS"/>
                <a:cs typeface="Trebuchet MS"/>
              </a:rPr>
              <a:t>el </a:t>
            </a:r>
            <a:r>
              <a:rPr sz="2200" i="1" spc="-155" dirty="0">
                <a:latin typeface="Trebuchet MS"/>
                <a:cs typeface="Trebuchet MS"/>
              </a:rPr>
              <a:t>cliente </a:t>
            </a:r>
            <a:r>
              <a:rPr sz="2200" i="1" spc="-70" dirty="0">
                <a:latin typeface="Trebuchet MS"/>
                <a:cs typeface="Trebuchet MS"/>
              </a:rPr>
              <a:t>sea</a:t>
            </a:r>
            <a:r>
              <a:rPr sz="2200" i="1" spc="-270" dirty="0">
                <a:latin typeface="Trebuchet MS"/>
                <a:cs typeface="Trebuchet MS"/>
              </a:rPr>
              <a:t> </a:t>
            </a:r>
            <a:r>
              <a:rPr sz="2200" i="1" spc="-114" dirty="0">
                <a:latin typeface="Trebuchet MS"/>
                <a:cs typeface="Trebuchet MS"/>
              </a:rPr>
              <a:t>atendido  </a:t>
            </a:r>
            <a:r>
              <a:rPr sz="2200" i="1" spc="-110" dirty="0">
                <a:latin typeface="Trebuchet MS"/>
                <a:cs typeface="Trebuchet MS"/>
              </a:rPr>
              <a:t>por </a:t>
            </a:r>
            <a:r>
              <a:rPr sz="2200" i="1" spc="-120" dirty="0">
                <a:latin typeface="Trebuchet MS"/>
                <a:cs typeface="Trebuchet MS"/>
              </a:rPr>
              <a:t>la </a:t>
            </a:r>
            <a:r>
              <a:rPr sz="2200" i="1" spc="-90" dirty="0">
                <a:latin typeface="Trebuchet MS"/>
                <a:cs typeface="Trebuchet MS"/>
              </a:rPr>
              <a:t>persona </a:t>
            </a:r>
            <a:r>
              <a:rPr sz="2200" i="1" spc="-80" dirty="0">
                <a:latin typeface="Trebuchet MS"/>
                <a:cs typeface="Trebuchet MS"/>
              </a:rPr>
              <a:t>adecuada </a:t>
            </a:r>
            <a:r>
              <a:rPr sz="2200" i="1" spc="-105" dirty="0">
                <a:latin typeface="Trebuchet MS"/>
                <a:cs typeface="Trebuchet MS"/>
              </a:rPr>
              <a:t>en </a:t>
            </a:r>
            <a:r>
              <a:rPr sz="2200" i="1" spc="-170" dirty="0">
                <a:latin typeface="Trebuchet MS"/>
                <a:cs typeface="Trebuchet MS"/>
              </a:rPr>
              <a:t>el </a:t>
            </a:r>
            <a:r>
              <a:rPr sz="2200" i="1" spc="-140" dirty="0">
                <a:latin typeface="Trebuchet MS"/>
                <a:cs typeface="Trebuchet MS"/>
              </a:rPr>
              <a:t>call  </a:t>
            </a:r>
            <a:r>
              <a:rPr sz="2200" i="1" spc="-185" dirty="0">
                <a:latin typeface="Trebuchet MS"/>
                <a:cs typeface="Trebuchet MS"/>
              </a:rPr>
              <a:t>center.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527050" marR="5715" indent="-514984" algn="just">
              <a:lnSpc>
                <a:spcPct val="100000"/>
              </a:lnSpc>
            </a:pPr>
            <a:r>
              <a:rPr sz="2200" spc="-90" dirty="0">
                <a:latin typeface="Arial"/>
                <a:cs typeface="Arial"/>
              </a:rPr>
              <a:t>5. </a:t>
            </a:r>
            <a:r>
              <a:rPr sz="2200" spc="-145" dirty="0">
                <a:latin typeface="Arial"/>
                <a:cs typeface="Arial"/>
              </a:rPr>
              <a:t>Programas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0" dirty="0">
                <a:latin typeface="Arial"/>
                <a:cs typeface="Arial"/>
              </a:rPr>
              <a:t>Retención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Lealtad: </a:t>
            </a:r>
            <a:r>
              <a:rPr sz="2200" spc="-130" dirty="0">
                <a:latin typeface="Arial"/>
                <a:cs typeface="Arial"/>
              </a:rPr>
              <a:t>ayuda </a:t>
            </a:r>
            <a:r>
              <a:rPr sz="2200" spc="-170" dirty="0">
                <a:latin typeface="Arial"/>
                <a:cs typeface="Arial"/>
              </a:rPr>
              <a:t>a  </a:t>
            </a:r>
            <a:r>
              <a:rPr sz="2200" spc="-40" dirty="0">
                <a:latin typeface="Arial"/>
                <a:cs typeface="Arial"/>
              </a:rPr>
              <a:t>identificar </a:t>
            </a:r>
            <a:r>
              <a:rPr sz="2200" spc="-105" dirty="0">
                <a:latin typeface="Arial"/>
                <a:cs typeface="Arial"/>
              </a:rPr>
              <a:t>y recompensar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165" dirty="0">
                <a:latin typeface="Arial"/>
                <a:cs typeface="Arial"/>
              </a:rPr>
              <a:t>más  </a:t>
            </a:r>
            <a:r>
              <a:rPr sz="2200" spc="-105" dirty="0">
                <a:latin typeface="Arial"/>
                <a:cs typeface="Arial"/>
              </a:rPr>
              <a:t>leales y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rentables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000" y="1514855"/>
            <a:ext cx="2860548" cy="1761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00" y="3787140"/>
            <a:ext cx="2708148" cy="2385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458835" cy="5687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r>
              <a:rPr sz="1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Tipos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0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CRM:</a:t>
            </a:r>
            <a:endParaRPr sz="26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50" dirty="0">
                <a:latin typeface="Trebuchet MS"/>
                <a:cs typeface="Trebuchet MS"/>
              </a:rPr>
              <a:t>CRM</a:t>
            </a:r>
            <a:r>
              <a:rPr sz="2200" b="1" i="1" spc="-180" dirty="0">
                <a:latin typeface="Trebuchet MS"/>
                <a:cs typeface="Trebuchet MS"/>
              </a:rPr>
              <a:t> </a:t>
            </a:r>
            <a:r>
              <a:rPr sz="2200" b="1" i="1" spc="-160" dirty="0">
                <a:latin typeface="Trebuchet MS"/>
                <a:cs typeface="Trebuchet MS"/>
              </a:rPr>
              <a:t>Operativo</a:t>
            </a:r>
            <a:endParaRPr sz="2200">
              <a:latin typeface="Trebuchet MS"/>
              <a:cs typeface="Trebuchet MS"/>
            </a:endParaRPr>
          </a:p>
          <a:p>
            <a:pPr marL="927100" marR="2821305" lvl="1" indent="-457200" algn="just">
              <a:lnSpc>
                <a:spcPct val="100000"/>
              </a:lnSpc>
              <a:buChar char="•"/>
              <a:tabLst>
                <a:tab pos="927735" algn="l"/>
              </a:tabLst>
            </a:pPr>
            <a:r>
              <a:rPr sz="2200" spc="-65" dirty="0">
                <a:latin typeface="Arial"/>
                <a:cs typeface="Arial"/>
              </a:rPr>
              <a:t>Habilita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75" dirty="0">
                <a:latin typeface="Arial"/>
                <a:cs typeface="Arial"/>
              </a:rPr>
              <a:t>interacción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170" dirty="0">
                <a:latin typeface="Arial"/>
                <a:cs typeface="Arial"/>
              </a:rPr>
              <a:t>a  </a:t>
            </a:r>
            <a:r>
              <a:rPr sz="2200" spc="-105" dirty="0">
                <a:latin typeface="Arial"/>
                <a:cs typeface="Arial"/>
              </a:rPr>
              <a:t>través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0" dirty="0">
                <a:latin typeface="Arial"/>
                <a:cs typeface="Arial"/>
              </a:rPr>
              <a:t>teléfono, </a:t>
            </a:r>
            <a:r>
              <a:rPr sz="2200" spc="-100" dirty="0">
                <a:latin typeface="Arial"/>
                <a:cs typeface="Arial"/>
              </a:rPr>
              <a:t>fax, </a:t>
            </a:r>
            <a:r>
              <a:rPr sz="2200" spc="-70" dirty="0">
                <a:latin typeface="Arial"/>
                <a:cs typeface="Arial"/>
              </a:rPr>
              <a:t>email, </a:t>
            </a:r>
            <a:r>
              <a:rPr sz="2200" spc="-80" dirty="0">
                <a:latin typeface="Arial"/>
                <a:cs typeface="Arial"/>
              </a:rPr>
              <a:t>chat,  </a:t>
            </a:r>
            <a:r>
              <a:rPr sz="2200" spc="-85" dirty="0">
                <a:latin typeface="Arial"/>
                <a:cs typeface="Arial"/>
              </a:rPr>
              <a:t>dispositivos móviles,</a:t>
            </a:r>
            <a:r>
              <a:rPr sz="2200" spc="-16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etc.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50" dirty="0">
                <a:latin typeface="Trebuchet MS"/>
                <a:cs typeface="Trebuchet MS"/>
              </a:rPr>
              <a:t>CRM</a:t>
            </a:r>
            <a:r>
              <a:rPr sz="2200" b="1" i="1" spc="-180" dirty="0">
                <a:latin typeface="Trebuchet MS"/>
                <a:cs typeface="Trebuchet MS"/>
              </a:rPr>
              <a:t> </a:t>
            </a:r>
            <a:r>
              <a:rPr sz="2200" b="1" i="1" spc="-140" dirty="0">
                <a:latin typeface="Trebuchet MS"/>
                <a:cs typeface="Trebuchet MS"/>
              </a:rPr>
              <a:t>Analítico</a:t>
            </a:r>
            <a:endParaRPr sz="2200">
              <a:latin typeface="Trebuchet MS"/>
              <a:cs typeface="Trebuchet MS"/>
            </a:endParaRPr>
          </a:p>
          <a:p>
            <a:pPr marL="927100" marR="2821305" lvl="1" indent="-457200" algn="just">
              <a:lnSpc>
                <a:spcPct val="100000"/>
              </a:lnSpc>
              <a:buChar char="•"/>
              <a:tabLst>
                <a:tab pos="927735" algn="l"/>
              </a:tabLst>
            </a:pPr>
            <a:r>
              <a:rPr sz="2200" spc="-80" dirty="0">
                <a:latin typeface="Arial"/>
                <a:cs typeface="Arial"/>
              </a:rPr>
              <a:t>Permite </a:t>
            </a:r>
            <a:r>
              <a:rPr sz="2200" spc="-100" dirty="0">
                <a:latin typeface="Arial"/>
                <a:cs typeface="Arial"/>
              </a:rPr>
              <a:t>analizar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0" dirty="0">
                <a:latin typeface="Arial"/>
                <a:cs typeface="Arial"/>
              </a:rPr>
              <a:t>predecir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valor </a:t>
            </a:r>
            <a:r>
              <a:rPr sz="2200" spc="235" dirty="0">
                <a:latin typeface="Arial"/>
                <a:cs typeface="Arial"/>
              </a:rPr>
              <a:t>/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55" dirty="0">
                <a:latin typeface="Arial"/>
                <a:cs typeface="Arial"/>
              </a:rPr>
              <a:t>comportamiento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80" dirty="0">
                <a:latin typeface="Arial"/>
                <a:cs typeface="Arial"/>
              </a:rPr>
              <a:t>clientes </a:t>
            </a:r>
            <a:r>
              <a:rPr sz="2200" spc="-105" dirty="0">
                <a:latin typeface="Arial"/>
                <a:cs typeface="Arial"/>
              </a:rPr>
              <a:t>y  </a:t>
            </a:r>
            <a:r>
              <a:rPr sz="2200" spc="-70" dirty="0">
                <a:latin typeface="Arial"/>
                <a:cs typeface="Arial"/>
              </a:rPr>
              <a:t>pronosticar </a:t>
            </a:r>
            <a:r>
              <a:rPr sz="2200" spc="-155" dirty="0">
                <a:latin typeface="Arial"/>
                <a:cs typeface="Arial"/>
              </a:rPr>
              <a:t>su</a:t>
            </a:r>
            <a:r>
              <a:rPr sz="2200" spc="-19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demanda.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50" dirty="0">
                <a:latin typeface="Trebuchet MS"/>
                <a:cs typeface="Trebuchet MS"/>
              </a:rPr>
              <a:t>CRM</a:t>
            </a:r>
            <a:r>
              <a:rPr sz="2200" b="1" i="1" spc="-180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Colaborativo</a:t>
            </a:r>
            <a:endParaRPr sz="2200">
              <a:latin typeface="Trebuchet MS"/>
              <a:cs typeface="Trebuchet MS"/>
            </a:endParaRPr>
          </a:p>
          <a:p>
            <a:pPr marL="927100" marR="2822575" lvl="1" indent="-45720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927735" algn="l"/>
              </a:tabLst>
            </a:pPr>
            <a:r>
              <a:rPr sz="2200" spc="-80" dirty="0">
                <a:latin typeface="Arial"/>
                <a:cs typeface="Arial"/>
              </a:rPr>
              <a:t>Permite la </a:t>
            </a:r>
            <a:r>
              <a:rPr sz="2200" spc="-90" dirty="0">
                <a:latin typeface="Arial"/>
                <a:cs typeface="Arial"/>
              </a:rPr>
              <a:t>colaboración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105" dirty="0">
                <a:latin typeface="Arial"/>
                <a:cs typeface="Arial"/>
              </a:rPr>
              <a:t>y  </a:t>
            </a:r>
            <a:r>
              <a:rPr sz="2200" spc="-95" dirty="0">
                <a:latin typeface="Arial"/>
                <a:cs typeface="Arial"/>
              </a:rPr>
              <a:t>proveedores.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58509" y="4876800"/>
            <a:ext cx="1455333" cy="1315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84620" y="2641092"/>
            <a:ext cx="2142744" cy="213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200" y="1096517"/>
            <a:ext cx="1979511" cy="14172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458835" cy="6179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r>
              <a:rPr sz="1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Orientaciones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CRM:</a:t>
            </a:r>
            <a:endParaRPr sz="26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150" dirty="0">
                <a:latin typeface="Trebuchet MS"/>
                <a:cs typeface="Trebuchet MS"/>
              </a:rPr>
              <a:t>Orientación </a:t>
            </a:r>
            <a:r>
              <a:rPr sz="2200" b="1" i="1" spc="-155" dirty="0">
                <a:latin typeface="Trebuchet MS"/>
                <a:cs typeface="Trebuchet MS"/>
              </a:rPr>
              <a:t>al</a:t>
            </a:r>
            <a:r>
              <a:rPr sz="2200" b="1" i="1" spc="-200" dirty="0">
                <a:latin typeface="Trebuchet MS"/>
                <a:cs typeface="Trebuchet MS"/>
              </a:rPr>
              <a:t> </a:t>
            </a:r>
            <a:r>
              <a:rPr sz="2200" b="1" i="1" spc="-150" dirty="0">
                <a:latin typeface="Trebuchet MS"/>
                <a:cs typeface="Trebuchet MS"/>
              </a:rPr>
              <a:t>mercado:</a:t>
            </a:r>
            <a:endParaRPr sz="2200">
              <a:latin typeface="Trebuchet MS"/>
              <a:cs typeface="Trebuchet MS"/>
            </a:endParaRPr>
          </a:p>
          <a:p>
            <a:pPr marL="927100" marR="2288540" lvl="1" indent="-457200" algn="just">
              <a:lnSpc>
                <a:spcPct val="100000"/>
              </a:lnSpc>
              <a:spcBef>
                <a:spcPts val="25"/>
              </a:spcBef>
              <a:buChar char="•"/>
              <a:tabLst>
                <a:tab pos="927735" algn="l"/>
              </a:tabLst>
            </a:pPr>
            <a:r>
              <a:rPr sz="1800" spc="-120" dirty="0">
                <a:latin typeface="Arial"/>
                <a:cs typeface="Arial"/>
              </a:rPr>
              <a:t>Persigue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desarrollo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65" dirty="0">
                <a:latin typeface="Arial"/>
                <a:cs typeface="Arial"/>
              </a:rPr>
              <a:t>servicio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valor </a:t>
            </a:r>
            <a:r>
              <a:rPr sz="1800" spc="-105" dirty="0">
                <a:latin typeface="Arial"/>
                <a:cs typeface="Arial"/>
              </a:rPr>
              <a:t>agregado 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50" dirty="0">
                <a:latin typeface="Arial"/>
                <a:cs typeface="Arial"/>
              </a:rPr>
              <a:t>cliente, </a:t>
            </a:r>
            <a:r>
              <a:rPr sz="1800" spc="-80" dirty="0">
                <a:latin typeface="Arial"/>
                <a:cs typeface="Arial"/>
              </a:rPr>
              <a:t>caracterizado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60" dirty="0">
                <a:latin typeface="Arial"/>
                <a:cs typeface="Arial"/>
              </a:rPr>
              <a:t>atención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elevada  </a:t>
            </a:r>
            <a:r>
              <a:rPr sz="1800" spc="-75" dirty="0">
                <a:latin typeface="Arial"/>
                <a:cs typeface="Arial"/>
              </a:rPr>
              <a:t>calidad </a:t>
            </a:r>
            <a:r>
              <a:rPr sz="1800" spc="-85" dirty="0">
                <a:latin typeface="Arial"/>
                <a:cs typeface="Arial"/>
              </a:rPr>
              <a:t>y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5" dirty="0">
                <a:latin typeface="Arial"/>
                <a:cs typeface="Arial"/>
              </a:rPr>
              <a:t>voluntad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40" dirty="0">
                <a:latin typeface="Arial"/>
                <a:cs typeface="Arial"/>
              </a:rPr>
              <a:t>brindar </a:t>
            </a:r>
            <a:r>
              <a:rPr sz="1800" spc="-90" dirty="0">
                <a:latin typeface="Arial"/>
                <a:cs typeface="Arial"/>
              </a:rPr>
              <a:t>respuesta </a:t>
            </a:r>
            <a:r>
              <a:rPr sz="1800" spc="195" dirty="0">
                <a:latin typeface="Arial"/>
                <a:cs typeface="Arial"/>
              </a:rPr>
              <a:t>/  </a:t>
            </a:r>
            <a:r>
              <a:rPr sz="1800" spc="-90" dirty="0">
                <a:latin typeface="Arial"/>
                <a:cs typeface="Arial"/>
              </a:rPr>
              <a:t>feedback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55" dirty="0">
                <a:latin typeface="Arial"/>
                <a:cs typeface="Arial"/>
              </a:rPr>
              <a:t>distintas </a:t>
            </a:r>
            <a:r>
              <a:rPr sz="1800" spc="-110" dirty="0">
                <a:latin typeface="Arial"/>
                <a:cs typeface="Arial"/>
              </a:rPr>
              <a:t>necesidades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peticiones.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2615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150" dirty="0">
                <a:latin typeface="Trebuchet MS"/>
                <a:cs typeface="Trebuchet MS"/>
              </a:rPr>
              <a:t>Orientación </a:t>
            </a:r>
            <a:r>
              <a:rPr sz="2200" b="1" i="1" spc="-145" dirty="0">
                <a:latin typeface="Trebuchet MS"/>
                <a:cs typeface="Trebuchet MS"/>
              </a:rPr>
              <a:t>a</a:t>
            </a:r>
            <a:r>
              <a:rPr sz="2200" b="1" i="1" spc="-195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procesos:</a:t>
            </a:r>
            <a:endParaRPr sz="2200">
              <a:latin typeface="Trebuchet MS"/>
              <a:cs typeface="Trebuchet MS"/>
            </a:endParaRPr>
          </a:p>
          <a:p>
            <a:pPr marL="927100" marR="2288540" lvl="1" indent="-457200" algn="just">
              <a:lnSpc>
                <a:spcPct val="100000"/>
              </a:lnSpc>
              <a:spcBef>
                <a:spcPts val="30"/>
              </a:spcBef>
              <a:buChar char="•"/>
              <a:tabLst>
                <a:tab pos="927735" algn="l"/>
              </a:tabLst>
            </a:pPr>
            <a:r>
              <a:rPr sz="1800" spc="-195" dirty="0">
                <a:latin typeface="Arial"/>
                <a:cs typeface="Arial"/>
              </a:rPr>
              <a:t>La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compañía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65" dirty="0">
                <a:latin typeface="Arial"/>
                <a:cs typeface="Arial"/>
              </a:rPr>
              <a:t>centra </a:t>
            </a:r>
            <a:r>
              <a:rPr sz="1800" spc="-50" dirty="0">
                <a:latin typeface="Arial"/>
                <a:cs typeface="Arial"/>
              </a:rPr>
              <a:t>principalmente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60" dirty="0">
                <a:latin typeface="Arial"/>
                <a:cs typeface="Arial"/>
              </a:rPr>
              <a:t>mejora  </a:t>
            </a:r>
            <a:r>
              <a:rPr sz="1800" spc="-55" dirty="0">
                <a:latin typeface="Arial"/>
                <a:cs typeface="Arial"/>
              </a:rPr>
              <a:t>continua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85" dirty="0">
                <a:latin typeface="Arial"/>
                <a:cs typeface="Arial"/>
              </a:rPr>
              <a:t>para </a:t>
            </a:r>
            <a:r>
              <a:rPr sz="1800" spc="-45" dirty="0">
                <a:latin typeface="Arial"/>
                <a:cs typeface="Arial"/>
              </a:rPr>
              <a:t>optimizar </a:t>
            </a:r>
            <a:r>
              <a:rPr sz="1800" spc="-75" dirty="0">
                <a:latin typeface="Arial"/>
                <a:cs typeface="Arial"/>
              </a:rPr>
              <a:t>la 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65" dirty="0">
                <a:latin typeface="Arial"/>
                <a:cs typeface="Arial"/>
              </a:rPr>
              <a:t>clientes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50" dirty="0">
                <a:latin typeface="Arial"/>
                <a:cs typeface="Arial"/>
              </a:rPr>
              <a:t>reducir </a:t>
            </a:r>
            <a:r>
              <a:rPr sz="1800" spc="-145" dirty="0">
                <a:latin typeface="Arial"/>
                <a:cs typeface="Arial"/>
              </a:rPr>
              <a:t>así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costos </a:t>
            </a:r>
            <a:r>
              <a:rPr sz="1800" spc="-50" dirty="0">
                <a:latin typeface="Arial"/>
                <a:cs typeface="Arial"/>
              </a:rPr>
              <a:t>del  </a:t>
            </a:r>
            <a:r>
              <a:rPr sz="1800" spc="-45" dirty="0">
                <a:latin typeface="Arial"/>
                <a:cs typeface="Arial"/>
              </a:rPr>
              <a:t>producto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70" dirty="0">
                <a:latin typeface="Arial"/>
                <a:cs typeface="Arial"/>
              </a:rPr>
              <a:t>servicio </a:t>
            </a:r>
            <a:r>
              <a:rPr sz="1800" spc="-45" dirty="0">
                <a:latin typeface="Arial"/>
                <a:cs typeface="Arial"/>
              </a:rPr>
              <a:t>ofrecido. </a:t>
            </a:r>
            <a:r>
              <a:rPr sz="1800" spc="-210" dirty="0">
                <a:latin typeface="Arial"/>
                <a:cs typeface="Arial"/>
              </a:rPr>
              <a:t>CRM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50" dirty="0">
                <a:latin typeface="Arial"/>
                <a:cs typeface="Arial"/>
              </a:rPr>
              <a:t>define </a:t>
            </a:r>
            <a:r>
              <a:rPr sz="1800" spc="-65" dirty="0">
                <a:latin typeface="Arial"/>
                <a:cs typeface="Arial"/>
              </a:rPr>
              <a:t>la  </a:t>
            </a:r>
            <a:r>
              <a:rPr sz="1800" spc="-75" dirty="0">
                <a:latin typeface="Arial"/>
                <a:cs typeface="Arial"/>
              </a:rPr>
              <a:t>estrategia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90" dirty="0">
                <a:latin typeface="Arial"/>
                <a:cs typeface="Arial"/>
              </a:rPr>
              <a:t>compañía, </a:t>
            </a:r>
            <a:r>
              <a:rPr sz="1800" spc="-80" dirty="0">
                <a:latin typeface="Arial"/>
                <a:cs typeface="Arial"/>
              </a:rPr>
              <a:t>sino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0" dirty="0">
                <a:latin typeface="Arial"/>
                <a:cs typeface="Arial"/>
              </a:rPr>
              <a:t>subordina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145" dirty="0">
                <a:latin typeface="Arial"/>
                <a:cs typeface="Arial"/>
              </a:rPr>
              <a:t>ya  </a:t>
            </a:r>
            <a:r>
              <a:rPr sz="1800" spc="-65" dirty="0">
                <a:latin typeface="Arial"/>
                <a:cs typeface="Arial"/>
              </a:rPr>
              <a:t>existente, </a:t>
            </a:r>
            <a:r>
              <a:rPr sz="1800" spc="-40" dirty="0">
                <a:latin typeface="Arial"/>
                <a:cs typeface="Arial"/>
              </a:rPr>
              <a:t>intentando </a:t>
            </a:r>
            <a:r>
              <a:rPr sz="1800" spc="-55" dirty="0">
                <a:latin typeface="Arial"/>
                <a:cs typeface="Arial"/>
              </a:rPr>
              <a:t>mediante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95" dirty="0">
                <a:latin typeface="Arial"/>
                <a:cs typeface="Arial"/>
              </a:rPr>
              <a:t>esfuerzos,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sea  </a:t>
            </a:r>
            <a:r>
              <a:rPr sz="1800" spc="-135" dirty="0">
                <a:latin typeface="Arial"/>
                <a:cs typeface="Arial"/>
              </a:rPr>
              <a:t>más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efectiva.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2615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200" b="1" i="1" spc="-130" dirty="0">
                <a:latin typeface="Trebuchet MS"/>
                <a:cs typeface="Trebuchet MS"/>
              </a:rPr>
              <a:t>Acciones</a:t>
            </a:r>
            <a:r>
              <a:rPr sz="2200" b="1" i="1" spc="-195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defensivas</a:t>
            </a:r>
            <a:endParaRPr sz="2200">
              <a:latin typeface="Trebuchet MS"/>
              <a:cs typeface="Trebuchet MS"/>
            </a:endParaRPr>
          </a:p>
          <a:p>
            <a:pPr marL="927100" marR="2288540" lvl="1" indent="-457200" algn="just">
              <a:lnSpc>
                <a:spcPct val="100000"/>
              </a:lnSpc>
              <a:spcBef>
                <a:spcPts val="30"/>
              </a:spcBef>
              <a:buChar char="•"/>
              <a:tabLst>
                <a:tab pos="92773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30" dirty="0">
                <a:latin typeface="Arial"/>
                <a:cs typeface="Arial"/>
              </a:rPr>
              <a:t>trata </a:t>
            </a:r>
            <a:r>
              <a:rPr sz="1800" spc="-80" dirty="0">
                <a:latin typeface="Arial"/>
                <a:cs typeface="Arial"/>
              </a:rPr>
              <a:t>de los </a:t>
            </a:r>
            <a:r>
              <a:rPr sz="1800" spc="-110" dirty="0">
                <a:latin typeface="Arial"/>
                <a:cs typeface="Arial"/>
              </a:rPr>
              <a:t>clásicos </a:t>
            </a:r>
            <a:r>
              <a:rPr sz="1800" spc="-95" dirty="0">
                <a:latin typeface="Arial"/>
                <a:cs typeface="Arial"/>
              </a:rPr>
              <a:t>programas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fidelización  </a:t>
            </a:r>
            <a:r>
              <a:rPr sz="1800" spc="-125" dirty="0">
                <a:latin typeface="Arial"/>
                <a:cs typeface="Arial"/>
              </a:rPr>
              <a:t>basados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75" dirty="0">
                <a:latin typeface="Arial"/>
                <a:cs typeface="Arial"/>
              </a:rPr>
              <a:t>acumulación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puntos, </a:t>
            </a:r>
            <a:r>
              <a:rPr sz="1800" spc="-95" dirty="0">
                <a:latin typeface="Arial"/>
                <a:cs typeface="Arial"/>
              </a:rPr>
              <a:t>regalos </a:t>
            </a:r>
            <a:r>
              <a:rPr sz="1800" spc="-90" dirty="0">
                <a:latin typeface="Arial"/>
                <a:cs typeface="Arial"/>
              </a:rPr>
              <a:t>y  descuentos.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29400" y="1676400"/>
            <a:ext cx="2286000" cy="1249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53592" y="2971800"/>
            <a:ext cx="1952280" cy="2114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15328" y="5073396"/>
            <a:ext cx="1885950" cy="1278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411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r>
              <a:rPr sz="1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418020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50" dirty="0">
                <a:latin typeface="Trebuchet MS"/>
                <a:cs typeface="Trebuchet MS"/>
              </a:rPr>
              <a:t>Orientaciones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r>
              <a:rPr sz="2600" b="1" spc="-265" dirty="0">
                <a:latin typeface="Trebuchet MS"/>
                <a:cs typeface="Trebuchet MS"/>
              </a:rPr>
              <a:t> </a:t>
            </a:r>
            <a:r>
              <a:rPr sz="2600" b="1" spc="-175" dirty="0">
                <a:latin typeface="Trebuchet MS"/>
                <a:cs typeface="Trebuchet MS"/>
              </a:rPr>
              <a:t>(Cont.):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318" y="1676399"/>
            <a:ext cx="8585454" cy="3988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2909" y="5892546"/>
            <a:ext cx="8151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9995" marR="5080" indent="-2487930">
              <a:lnSpc>
                <a:spcPct val="100000"/>
              </a:lnSpc>
              <a:spcBef>
                <a:spcPts val="100"/>
              </a:spcBef>
            </a:pP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000" spc="-45" dirty="0">
                <a:latin typeface="Arial"/>
                <a:cs typeface="Arial"/>
              </a:rPr>
              <a:t>: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Lerner,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A.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(2009).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i="1" spc="-50" dirty="0">
                <a:latin typeface="Trebuchet MS"/>
                <a:cs typeface="Trebuchet MS"/>
              </a:rPr>
              <a:t>Descripción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45" dirty="0">
                <a:latin typeface="Trebuchet MS"/>
                <a:cs typeface="Trebuchet MS"/>
              </a:rPr>
              <a:t>y</a:t>
            </a:r>
            <a:r>
              <a:rPr sz="1000" i="1" spc="-6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Trebuchet MS"/>
                <a:cs typeface="Trebuchet MS"/>
              </a:rPr>
              <a:t>análisis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Trebuchet MS"/>
                <a:cs typeface="Trebuchet MS"/>
              </a:rPr>
              <a:t>Descripción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45" dirty="0">
                <a:latin typeface="Trebuchet MS"/>
                <a:cs typeface="Trebuchet MS"/>
              </a:rPr>
              <a:t>y</a:t>
            </a:r>
            <a:r>
              <a:rPr sz="1000" i="1" spc="-7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Trebuchet MS"/>
                <a:cs typeface="Trebuchet MS"/>
              </a:rPr>
              <a:t>análisis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70" dirty="0">
                <a:latin typeface="Trebuchet MS"/>
                <a:cs typeface="Trebuchet MS"/>
              </a:rPr>
              <a:t>del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40" dirty="0">
                <a:latin typeface="Trebuchet MS"/>
                <a:cs typeface="Trebuchet MS"/>
              </a:rPr>
              <a:t>estado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actual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de</a:t>
            </a:r>
            <a:r>
              <a:rPr sz="1000" i="1" spc="-75" dirty="0">
                <a:latin typeface="Trebuchet MS"/>
                <a:cs typeface="Trebuchet MS"/>
              </a:rPr>
              <a:t> </a:t>
            </a:r>
            <a:r>
              <a:rPr sz="1000" i="1" spc="-40" dirty="0">
                <a:latin typeface="Trebuchet MS"/>
                <a:cs typeface="Trebuchet MS"/>
              </a:rPr>
              <a:t>adopción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de</a:t>
            </a:r>
            <a:r>
              <a:rPr sz="1000" i="1" spc="-75" dirty="0">
                <a:latin typeface="Trebuchet MS"/>
                <a:cs typeface="Trebuchet MS"/>
              </a:rPr>
              <a:t> </a:t>
            </a:r>
            <a:r>
              <a:rPr sz="1000" i="1" spc="-10" dirty="0">
                <a:latin typeface="Trebuchet MS"/>
                <a:cs typeface="Trebuchet MS"/>
              </a:rPr>
              <a:t>CRM</a:t>
            </a:r>
            <a:r>
              <a:rPr sz="1000" i="1" spc="-75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(Customer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Relationship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30" dirty="0">
                <a:latin typeface="Trebuchet MS"/>
                <a:cs typeface="Trebuchet MS"/>
              </a:rPr>
              <a:t>Management)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45" dirty="0">
                <a:latin typeface="Trebuchet MS"/>
                <a:cs typeface="Trebuchet MS"/>
              </a:rPr>
              <a:t>en</a:t>
            </a:r>
            <a:r>
              <a:rPr sz="1000" i="1" spc="-75" dirty="0">
                <a:latin typeface="Trebuchet MS"/>
                <a:cs typeface="Trebuchet MS"/>
              </a:rPr>
              <a:t> el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sector  </a:t>
            </a:r>
            <a:r>
              <a:rPr sz="1000" i="1" spc="-50" dirty="0">
                <a:latin typeface="Trebuchet MS"/>
                <a:cs typeface="Trebuchet MS"/>
              </a:rPr>
              <a:t>corporativo </a:t>
            </a:r>
            <a:r>
              <a:rPr sz="1000" i="1" spc="-55" dirty="0">
                <a:latin typeface="Trebuchet MS"/>
                <a:cs typeface="Trebuchet MS"/>
              </a:rPr>
              <a:t>argentino. </a:t>
            </a:r>
            <a:r>
              <a:rPr sz="1000" spc="-90" dirty="0">
                <a:latin typeface="Arial"/>
                <a:cs typeface="Arial"/>
              </a:rPr>
              <a:t>España</a:t>
            </a:r>
            <a:r>
              <a:rPr sz="1000" i="1" spc="-90" dirty="0">
                <a:latin typeface="Trebuchet MS"/>
                <a:cs typeface="Trebuchet MS"/>
              </a:rPr>
              <a:t>: </a:t>
            </a:r>
            <a:r>
              <a:rPr sz="1000" spc="-30" dirty="0">
                <a:latin typeface="Arial"/>
                <a:cs typeface="Arial"/>
              </a:rPr>
              <a:t>Editorial</a:t>
            </a:r>
            <a:r>
              <a:rPr sz="1000" spc="-19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Académica </a:t>
            </a:r>
            <a:r>
              <a:rPr sz="1000" spc="-65" dirty="0">
                <a:latin typeface="Arial"/>
                <a:cs typeface="Arial"/>
              </a:rPr>
              <a:t>Española.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8411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</a:t>
            </a:r>
            <a:r>
              <a:rPr sz="2000" spc="-440" dirty="0"/>
              <a:t>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 </a:t>
            </a:r>
            <a:r>
              <a:rPr sz="2000" spc="-125" dirty="0"/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Componentes </a:t>
            </a:r>
            <a:r>
              <a:rPr sz="1800" b="0" spc="-85" dirty="0">
                <a:latin typeface="Arial"/>
                <a:cs typeface="Arial"/>
              </a:rPr>
              <a:t>clave, </a:t>
            </a:r>
            <a:r>
              <a:rPr sz="1800" b="0" spc="-40" dirty="0">
                <a:latin typeface="Arial"/>
                <a:cs typeface="Arial"/>
              </a:rPr>
              <a:t>tipos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5" dirty="0">
                <a:latin typeface="Arial"/>
                <a:cs typeface="Arial"/>
              </a:rPr>
              <a:t>orientaciones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75" dirty="0">
                <a:latin typeface="Arial"/>
                <a:cs typeface="Arial"/>
              </a:rPr>
              <a:t>CRM. </a:t>
            </a:r>
            <a:r>
              <a:rPr sz="1800" b="0" spc="-65" dirty="0">
                <a:latin typeface="Arial"/>
                <a:cs typeface="Arial"/>
              </a:rPr>
              <a:t>Mercado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soluciones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215" dirty="0">
                <a:latin typeface="Arial"/>
                <a:cs typeface="Arial"/>
              </a:rPr>
              <a:t>CRM</a:t>
            </a:r>
            <a:r>
              <a:rPr sz="1800" b="0" spc="-19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25742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0" dirty="0">
                <a:latin typeface="Trebuchet MS"/>
                <a:cs typeface="Trebuchet MS"/>
              </a:rPr>
              <a:t>Evolución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50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CRM: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0616" y="6102096"/>
            <a:ext cx="52362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000" spc="-45" dirty="0">
                <a:latin typeface="Arial"/>
                <a:cs typeface="Arial"/>
              </a:rPr>
              <a:t>: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Howard-Healy,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M.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(2006).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i="1" spc="-70" dirty="0">
                <a:latin typeface="Trebuchet MS"/>
                <a:cs typeface="Trebuchet MS"/>
              </a:rPr>
              <a:t>The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evolution</a:t>
            </a:r>
            <a:r>
              <a:rPr sz="1000" i="1" spc="-75" dirty="0">
                <a:latin typeface="Trebuchet MS"/>
                <a:cs typeface="Trebuchet MS"/>
              </a:rPr>
              <a:t> </a:t>
            </a:r>
            <a:r>
              <a:rPr sz="1000" i="1" spc="-65" dirty="0">
                <a:latin typeface="Trebuchet MS"/>
                <a:cs typeface="Trebuchet MS"/>
              </a:rPr>
              <a:t>of</a:t>
            </a:r>
            <a:r>
              <a:rPr sz="1000" i="1" spc="-75" dirty="0">
                <a:latin typeface="Trebuchet MS"/>
                <a:cs typeface="Trebuchet MS"/>
              </a:rPr>
              <a:t> </a:t>
            </a:r>
            <a:r>
              <a:rPr sz="1000" i="1" spc="-35" dirty="0">
                <a:latin typeface="Trebuchet MS"/>
                <a:cs typeface="Trebuchet MS"/>
              </a:rPr>
              <a:t>CRM: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60" dirty="0">
                <a:latin typeface="Trebuchet MS"/>
                <a:cs typeface="Trebuchet MS"/>
              </a:rPr>
              <a:t>implications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70" dirty="0">
                <a:latin typeface="Trebuchet MS"/>
                <a:cs typeface="Trebuchet MS"/>
              </a:rPr>
              <a:t>for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60" dirty="0">
                <a:latin typeface="Trebuchet MS"/>
                <a:cs typeface="Trebuchet MS"/>
              </a:rPr>
              <a:t>telecom</a:t>
            </a:r>
            <a:r>
              <a:rPr sz="1000" i="1" spc="-90" dirty="0">
                <a:latin typeface="Trebuchet MS"/>
                <a:cs typeface="Trebuchet MS"/>
              </a:rPr>
              <a:t> </a:t>
            </a:r>
            <a:r>
              <a:rPr sz="1000" i="1" spc="-45" dirty="0">
                <a:latin typeface="Trebuchet MS"/>
                <a:cs typeface="Trebuchet MS"/>
              </a:rPr>
              <a:t>operators</a:t>
            </a:r>
            <a:r>
              <a:rPr sz="1000" spc="-45" dirty="0">
                <a:latin typeface="Arial"/>
                <a:cs typeface="Arial"/>
              </a:rPr>
              <a:t>.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Analysis.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1670304"/>
            <a:ext cx="6244844" cy="3600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36257" y="1545844"/>
            <a:ext cx="2239010" cy="407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8610" algn="r">
              <a:lnSpc>
                <a:spcPct val="100000"/>
              </a:lnSpc>
              <a:spcBef>
                <a:spcPts val="95"/>
              </a:spcBef>
            </a:pPr>
            <a:r>
              <a:rPr sz="1400" spc="-155" dirty="0">
                <a:latin typeface="Arial"/>
                <a:cs typeface="Arial"/>
              </a:rPr>
              <a:t>La </a:t>
            </a:r>
            <a:r>
              <a:rPr sz="1400" spc="-50" dirty="0">
                <a:latin typeface="Arial"/>
                <a:cs typeface="Arial"/>
              </a:rPr>
              <a:t>realidad</a:t>
            </a:r>
            <a:r>
              <a:rPr sz="1400" spc="-2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actual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muestra 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170" dirty="0">
                <a:latin typeface="Arial"/>
                <a:cs typeface="Arial"/>
              </a:rPr>
              <a:t>CRM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25" dirty="0">
                <a:latin typeface="Arial"/>
                <a:cs typeface="Arial"/>
              </a:rPr>
              <a:t>se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encuentra  evolucionando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drásticamente 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75" dirty="0">
                <a:latin typeface="Arial"/>
                <a:cs typeface="Arial"/>
              </a:rPr>
              <a:t>ser </a:t>
            </a:r>
            <a:r>
              <a:rPr sz="1400" spc="-70" dirty="0">
                <a:latin typeface="Arial"/>
                <a:cs typeface="Arial"/>
              </a:rPr>
              <a:t>una </a:t>
            </a:r>
            <a:r>
              <a:rPr sz="1400" spc="-55" dirty="0">
                <a:latin typeface="Arial"/>
                <a:cs typeface="Arial"/>
              </a:rPr>
              <a:t>solución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puntual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convertirse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0" dirty="0">
                <a:latin typeface="Arial"/>
                <a:cs typeface="Arial"/>
              </a:rPr>
              <a:t>parte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una 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plataforma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informática </a:t>
            </a:r>
            <a:r>
              <a:rPr sz="1400" spc="-55" dirty="0">
                <a:latin typeface="Arial"/>
                <a:cs typeface="Arial"/>
              </a:rPr>
              <a:t> integrada. </a:t>
            </a:r>
            <a:r>
              <a:rPr sz="1400" spc="-50" dirty="0">
                <a:latin typeface="Arial"/>
                <a:cs typeface="Arial"/>
              </a:rPr>
              <a:t>Actualmente,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30" dirty="0">
                <a:latin typeface="Arial"/>
                <a:cs typeface="Arial"/>
              </a:rPr>
              <a:t> ámbito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0" dirty="0">
                <a:latin typeface="Arial"/>
                <a:cs typeface="Arial"/>
              </a:rPr>
              <a:t>la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industria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servicios </a:t>
            </a:r>
            <a:r>
              <a:rPr sz="1400" spc="-70" dirty="0">
                <a:latin typeface="Arial"/>
                <a:cs typeface="Arial"/>
              </a:rPr>
              <a:t>de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alto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valor 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agregado, </a:t>
            </a:r>
            <a:r>
              <a:rPr sz="1400" spc="-170" dirty="0">
                <a:latin typeface="Arial"/>
                <a:cs typeface="Arial"/>
              </a:rPr>
              <a:t>CRM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ha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conjugado 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numerosas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aplicaciones:  </a:t>
            </a:r>
            <a:r>
              <a:rPr sz="1400" spc="-75" dirty="0">
                <a:latin typeface="Arial"/>
                <a:cs typeface="Arial"/>
              </a:rPr>
              <a:t>ventas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(gestión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oportunidades,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venta 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interactiva,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etc.),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Marketing 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(gestión </a:t>
            </a:r>
            <a:r>
              <a:rPr sz="1400" spc="-70" dirty="0">
                <a:latin typeface="Arial"/>
                <a:cs typeface="Arial"/>
              </a:rPr>
              <a:t>de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contenidos</a:t>
            </a:r>
            <a:r>
              <a:rPr sz="1400" spc="-70" dirty="0">
                <a:latin typeface="Arial"/>
                <a:cs typeface="Arial"/>
              </a:rPr>
              <a:t> y 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campañas, </a:t>
            </a:r>
            <a:r>
              <a:rPr sz="1400" spc="-60" dirty="0">
                <a:latin typeface="Arial"/>
                <a:cs typeface="Arial"/>
              </a:rPr>
              <a:t>data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analytics, </a:t>
            </a:r>
            <a:r>
              <a:rPr sz="1400" spc="-45" dirty="0">
                <a:latin typeface="Arial"/>
                <a:cs typeface="Arial"/>
              </a:rPr>
              <a:t>etc.) 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atención al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cliente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(gestión 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5" dirty="0">
                <a:latin typeface="Arial"/>
                <a:cs typeface="Arial"/>
              </a:rPr>
              <a:t>reclamos, </a:t>
            </a:r>
            <a:r>
              <a:rPr sz="1400" spc="-70" dirty="0">
                <a:latin typeface="Arial"/>
                <a:cs typeface="Arial"/>
              </a:rPr>
              <a:t>aplicaciones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</a:t>
            </a:r>
            <a:endParaRPr sz="1400">
              <a:latin typeface="Arial"/>
              <a:cs typeface="Arial"/>
            </a:endParaRPr>
          </a:p>
          <a:p>
            <a:pPr marR="6985" algn="r">
              <a:lnSpc>
                <a:spcPct val="100000"/>
              </a:lnSpc>
              <a:spcBef>
                <a:spcPts val="5"/>
              </a:spcBef>
            </a:pPr>
            <a:r>
              <a:rPr sz="1400" spc="-55" dirty="0">
                <a:latin typeface="Arial"/>
                <a:cs typeface="Arial"/>
              </a:rPr>
              <a:t>servicio </a:t>
            </a:r>
            <a:r>
              <a:rPr sz="1400" spc="-50" dirty="0">
                <a:latin typeface="Arial"/>
                <a:cs typeface="Arial"/>
              </a:rPr>
              <a:t>web,</a:t>
            </a:r>
            <a:r>
              <a:rPr sz="1400" spc="-14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etc.).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8411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</a:t>
            </a:r>
            <a:r>
              <a:rPr sz="2000" spc="-440" dirty="0"/>
              <a:t>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 </a:t>
            </a:r>
            <a:r>
              <a:rPr sz="2000" spc="-125" dirty="0"/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Componentes </a:t>
            </a:r>
            <a:r>
              <a:rPr sz="1800" b="0" spc="-85" dirty="0">
                <a:latin typeface="Arial"/>
                <a:cs typeface="Arial"/>
              </a:rPr>
              <a:t>clave, </a:t>
            </a:r>
            <a:r>
              <a:rPr sz="1800" b="0" spc="-40" dirty="0">
                <a:latin typeface="Arial"/>
                <a:cs typeface="Arial"/>
              </a:rPr>
              <a:t>tipos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5" dirty="0">
                <a:latin typeface="Arial"/>
                <a:cs typeface="Arial"/>
              </a:rPr>
              <a:t>orientaciones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75" dirty="0">
                <a:latin typeface="Arial"/>
                <a:cs typeface="Arial"/>
              </a:rPr>
              <a:t>CRM. </a:t>
            </a:r>
            <a:r>
              <a:rPr sz="1800" b="0" spc="-65" dirty="0">
                <a:latin typeface="Arial"/>
                <a:cs typeface="Arial"/>
              </a:rPr>
              <a:t>Mercado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soluciones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215" dirty="0">
                <a:latin typeface="Arial"/>
                <a:cs typeface="Arial"/>
              </a:rPr>
              <a:t>CRM</a:t>
            </a:r>
            <a:r>
              <a:rPr sz="1800" b="0" spc="-19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35839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0" dirty="0">
                <a:latin typeface="Trebuchet MS"/>
                <a:cs typeface="Trebuchet MS"/>
              </a:rPr>
              <a:t>Evolución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r>
              <a:rPr sz="2600" b="1" spc="-285" dirty="0">
                <a:latin typeface="Trebuchet MS"/>
                <a:cs typeface="Trebuchet MS"/>
              </a:rPr>
              <a:t> </a:t>
            </a:r>
            <a:r>
              <a:rPr sz="2600" b="1" spc="-175" dirty="0">
                <a:latin typeface="Trebuchet MS"/>
                <a:cs typeface="Trebuchet MS"/>
              </a:rPr>
              <a:t>(Cont.):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5250" y="6102096"/>
            <a:ext cx="3726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000" spc="-45" dirty="0">
                <a:latin typeface="Arial"/>
                <a:cs typeface="Arial"/>
              </a:rPr>
              <a:t>: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Vaskelis, </a:t>
            </a:r>
            <a:r>
              <a:rPr sz="1000" spc="-70" dirty="0">
                <a:latin typeface="Arial"/>
                <a:cs typeface="Arial"/>
              </a:rPr>
              <a:t>D.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(2009). </a:t>
            </a:r>
            <a:r>
              <a:rPr sz="1000" i="1" spc="-10" dirty="0">
                <a:latin typeface="Trebuchet MS"/>
                <a:cs typeface="Trebuchet MS"/>
              </a:rPr>
              <a:t>CRM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65" dirty="0">
                <a:latin typeface="Trebuchet MS"/>
                <a:cs typeface="Trebuchet MS"/>
              </a:rPr>
              <a:t>2.0: </a:t>
            </a:r>
            <a:r>
              <a:rPr sz="1000" i="1" spc="-55" dirty="0">
                <a:latin typeface="Trebuchet MS"/>
                <a:cs typeface="Trebuchet MS"/>
              </a:rPr>
              <a:t>Trends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55" dirty="0">
                <a:latin typeface="Trebuchet MS"/>
                <a:cs typeface="Trebuchet MS"/>
              </a:rPr>
              <a:t>in</a:t>
            </a:r>
            <a:r>
              <a:rPr sz="1000" i="1" spc="-80" dirty="0">
                <a:latin typeface="Trebuchet MS"/>
                <a:cs typeface="Trebuchet MS"/>
              </a:rPr>
              <a:t> </a:t>
            </a:r>
            <a:r>
              <a:rPr sz="1000" i="1" spc="-10" dirty="0">
                <a:latin typeface="Trebuchet MS"/>
                <a:cs typeface="Trebuchet MS"/>
              </a:rPr>
              <a:t>CRM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70" dirty="0">
                <a:latin typeface="Trebuchet MS"/>
                <a:cs typeface="Trebuchet MS"/>
              </a:rPr>
              <a:t>for</a:t>
            </a:r>
            <a:r>
              <a:rPr sz="1000" i="1" spc="-85" dirty="0">
                <a:latin typeface="Trebuchet MS"/>
                <a:cs typeface="Trebuchet MS"/>
              </a:rPr>
              <a:t> </a:t>
            </a:r>
            <a:r>
              <a:rPr sz="1000" i="1" spc="-20" dirty="0">
                <a:latin typeface="Trebuchet MS"/>
                <a:cs typeface="Trebuchet MS"/>
              </a:rPr>
              <a:t>2010</a:t>
            </a:r>
            <a:r>
              <a:rPr sz="1000" spc="-20" dirty="0">
                <a:latin typeface="Arial"/>
                <a:cs typeface="Arial"/>
              </a:rPr>
              <a:t>.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Sakonent.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97833" y="1627253"/>
          <a:ext cx="6688455" cy="4126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50" b="1" spc="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Frente </a:t>
                      </a:r>
                      <a:r>
                        <a:rPr sz="1350" b="1" spc="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35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análisis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50" b="1" spc="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CRM</a:t>
                      </a:r>
                      <a:r>
                        <a:rPr sz="135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Tradicional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50" b="1" spc="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CRM</a:t>
                      </a:r>
                      <a:r>
                        <a:rPr sz="135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b="1" spc="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(en</a:t>
                      </a:r>
                      <a:r>
                        <a:rPr sz="135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evolución)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250" b="1" spc="85" dirty="0">
                          <a:latin typeface="Arial"/>
                          <a:cs typeface="Arial"/>
                        </a:rPr>
                        <a:t>Filosofía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377190" marR="111760" indent="-251460">
                        <a:lnSpc>
                          <a:spcPct val="102499"/>
                        </a:lnSpc>
                        <a:spcBef>
                          <a:spcPts val="805"/>
                        </a:spcBef>
                      </a:pPr>
                      <a:r>
                        <a:rPr sz="850" spc="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adentro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hacia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45" dirty="0">
                          <a:latin typeface="Arial"/>
                          <a:cs typeface="Arial"/>
                        </a:rPr>
                        <a:t>af</a:t>
                      </a:r>
                      <a:r>
                        <a:rPr sz="85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uera</a:t>
                      </a:r>
                      <a:r>
                        <a:rPr sz="85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“big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5" dirty="0">
                          <a:latin typeface="Arial"/>
                          <a:cs typeface="Arial"/>
                        </a:rPr>
                        <a:t>bang” 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(demoras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meses/años)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68275" marR="140970" algn="ctr">
                        <a:lnSpc>
                          <a:spcPct val="102400"/>
                        </a:lnSpc>
                        <a:spcBef>
                          <a:spcPts val="280"/>
                        </a:spcBef>
                      </a:pPr>
                      <a:r>
                        <a:rPr sz="850" spc="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45" dirty="0">
                          <a:latin typeface="Arial"/>
                          <a:cs typeface="Arial"/>
                        </a:rPr>
                        <a:t>af</a:t>
                      </a:r>
                      <a:r>
                        <a:rPr sz="85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uera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hacia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adentro</a:t>
                      </a:r>
                      <a:r>
                        <a:rPr sz="85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“rápido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e 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iterativo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(demoras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días/semanas)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50" b="1" spc="100" dirty="0">
                          <a:latin typeface="Arial"/>
                          <a:cs typeface="Arial"/>
                        </a:rPr>
                        <a:t>Implementación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444500" marR="221615" indent="-203200">
                        <a:lnSpc>
                          <a:spcPct val="102499"/>
                        </a:lnSpc>
                        <a:spcBef>
                          <a:spcPts val="295"/>
                        </a:spcBef>
                      </a:pPr>
                      <a:r>
                        <a:rPr sz="850" spc="45" dirty="0">
                          <a:latin typeface="Arial"/>
                          <a:cs typeface="Arial"/>
                        </a:rPr>
                        <a:t>Re-Ingeniería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/ </a:t>
                      </a:r>
                      <a:r>
                        <a:rPr sz="850" spc="85" dirty="0">
                          <a:latin typeface="Arial"/>
                          <a:cs typeface="Arial"/>
                        </a:rPr>
                        <a:t>Proceso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lento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e  implementación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“onsite”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389255" indent="-77470">
                        <a:lnSpc>
                          <a:spcPct val="102499"/>
                        </a:lnSpc>
                        <a:spcBef>
                          <a:spcPts val="295"/>
                        </a:spcBef>
                      </a:pPr>
                      <a:r>
                        <a:rPr sz="850" spc="80" dirty="0">
                          <a:latin typeface="Arial"/>
                          <a:cs typeface="Arial"/>
                        </a:rPr>
                        <a:t>Despliegue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0" dirty="0">
                          <a:latin typeface="Arial"/>
                          <a:cs typeface="Arial"/>
                        </a:rPr>
                        <a:t>ágil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rápido</a:t>
                      </a:r>
                      <a:r>
                        <a:rPr sz="85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/ 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Mejoramiento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continuo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50" b="1" spc="90" dirty="0">
                          <a:latin typeface="Arial"/>
                          <a:cs typeface="Arial"/>
                        </a:rPr>
                        <a:t>Tecnología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90" dirty="0">
                          <a:latin typeface="Arial"/>
                          <a:cs typeface="Arial"/>
                        </a:rPr>
                        <a:t>Compromiso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masivo</a:t>
                      </a:r>
                      <a:r>
                        <a:rPr sz="85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plataf</a:t>
                      </a:r>
                      <a:r>
                        <a:rPr sz="85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orma.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50" spc="60" dirty="0">
                          <a:latin typeface="Arial"/>
                          <a:cs typeface="Arial"/>
                        </a:rPr>
                        <a:t>Cerrado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563880" marR="205740" indent="-338455">
                        <a:lnSpc>
                          <a:spcPct val="102400"/>
                        </a:lnSpc>
                        <a:spcBef>
                          <a:spcPts val="275"/>
                        </a:spcBef>
                      </a:pPr>
                      <a:r>
                        <a:rPr sz="850" spc="75" dirty="0">
                          <a:latin typeface="Arial"/>
                          <a:cs typeface="Arial"/>
                        </a:rPr>
                        <a:t>Abierto, modular.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Casi</a:t>
                      </a:r>
                      <a:r>
                        <a:rPr sz="85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siempre, 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alojado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850" spc="45" dirty="0">
                          <a:latin typeface="Arial"/>
                          <a:cs typeface="Arial"/>
                        </a:rPr>
                        <a:t>“la</a:t>
                      </a:r>
                      <a:r>
                        <a:rPr sz="85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nube”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250" b="1" spc="100" dirty="0">
                          <a:latin typeface="Arial"/>
                          <a:cs typeface="Arial"/>
                        </a:rPr>
                        <a:t>Integración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753745" marR="174625" indent="-560705">
                        <a:lnSpc>
                          <a:spcPct val="102499"/>
                        </a:lnSpc>
                        <a:spcBef>
                          <a:spcPts val="775"/>
                        </a:spcBef>
                      </a:pPr>
                      <a:r>
                        <a:rPr sz="850" spc="60" dirty="0">
                          <a:latin typeface="Arial"/>
                          <a:cs typeface="Arial"/>
                        </a:rPr>
                        <a:t>Tensa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uerte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85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interior</a:t>
                      </a:r>
                      <a:r>
                        <a:rPr sz="85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organización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293370" marR="262890" indent="4445" algn="ctr">
                        <a:lnSpc>
                          <a:spcPct val="102400"/>
                        </a:lnSpc>
                        <a:spcBef>
                          <a:spcPts val="254"/>
                        </a:spcBef>
                      </a:pPr>
                      <a:r>
                        <a:rPr sz="850" spc="70" dirty="0">
                          <a:latin typeface="Arial"/>
                          <a:cs typeface="Arial"/>
                        </a:rPr>
                        <a:t>Flexible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dentro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5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uera</a:t>
                      </a:r>
                      <a:r>
                        <a:rPr sz="85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organización. Interacción</a:t>
                      </a:r>
                      <a:r>
                        <a:rPr sz="85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con 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0" dirty="0">
                          <a:latin typeface="Arial"/>
                          <a:cs typeface="Arial"/>
                        </a:rPr>
                        <a:t>uentes</a:t>
                      </a:r>
                      <a:r>
                        <a:rPr sz="85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5" dirty="0">
                          <a:latin typeface="Arial"/>
                          <a:cs typeface="Arial"/>
                        </a:rPr>
                        <a:t>basadas</a:t>
                      </a:r>
                      <a:r>
                        <a:rPr sz="85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Internet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50" b="1" spc="105" dirty="0">
                          <a:latin typeface="Arial"/>
                          <a:cs typeface="Arial"/>
                        </a:rPr>
                        <a:t>Sponsorship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67030" marR="357505">
                        <a:lnSpc>
                          <a:spcPct val="102400"/>
                        </a:lnSpc>
                        <a:spcBef>
                          <a:spcPts val="5"/>
                        </a:spcBef>
                      </a:pPr>
                      <a:r>
                        <a:rPr sz="850" spc="7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850" spc="50" dirty="0">
                          <a:latin typeface="Arial"/>
                          <a:cs typeface="Arial"/>
                        </a:rPr>
                        <a:t>área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selecciona</a:t>
                      </a:r>
                      <a:r>
                        <a:rPr sz="85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tecnología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8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850" spc="85" dirty="0">
                          <a:latin typeface="Arial"/>
                          <a:cs typeface="Arial"/>
                        </a:rPr>
                        <a:t>negocio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9539" marR="114300" indent="1270" algn="ctr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sz="850" spc="6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Dirección selecciona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tecnología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850" spc="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negocio</a:t>
                      </a:r>
                      <a:r>
                        <a:rPr sz="85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asistida  </a:t>
                      </a:r>
                      <a:r>
                        <a:rPr sz="850" spc="100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IT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250" b="1" spc="110" dirty="0">
                          <a:latin typeface="Arial"/>
                          <a:cs typeface="Arial"/>
                        </a:rPr>
                        <a:t>Usuarios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850" spc="80" dirty="0">
                          <a:latin typeface="Arial"/>
                          <a:cs typeface="Arial"/>
                        </a:rPr>
                        <a:t>Forzados</a:t>
                      </a:r>
                      <a:r>
                        <a:rPr sz="85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gestionar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un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50" spc="80" dirty="0">
                          <a:latin typeface="Arial"/>
                          <a:cs typeface="Arial"/>
                        </a:rPr>
                        <a:t>sistema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anti-social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102870" algn="ctr">
                        <a:lnSpc>
                          <a:spcPct val="102400"/>
                        </a:lnSpc>
                        <a:spcBef>
                          <a:spcPts val="280"/>
                        </a:spcBef>
                      </a:pPr>
                      <a:r>
                        <a:rPr sz="850" spc="7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sistema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5" dirty="0">
                          <a:latin typeface="Arial"/>
                          <a:cs typeface="Arial"/>
                        </a:rPr>
                        <a:t>cumple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adecuadamente 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usuarios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850" spc="60" dirty="0">
                          <a:latin typeface="Arial"/>
                          <a:cs typeface="Arial"/>
                        </a:rPr>
                        <a:t>clientes 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colaboradores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50" b="1" spc="114" dirty="0">
                          <a:latin typeface="Arial"/>
                          <a:cs typeface="Arial"/>
                        </a:rPr>
                        <a:t>Datos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50" spc="75" dirty="0">
                          <a:latin typeface="Arial"/>
                          <a:cs typeface="Arial"/>
                        </a:rPr>
                        <a:t>Estructurados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(tablas/pantallas)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390525" marR="149225" indent="-232410">
                        <a:lnSpc>
                          <a:spcPct val="102400"/>
                        </a:lnSpc>
                        <a:spcBef>
                          <a:spcPts val="325"/>
                        </a:spcBef>
                      </a:pPr>
                      <a:r>
                        <a:rPr sz="850" spc="75" dirty="0">
                          <a:latin typeface="Arial"/>
                          <a:cs typeface="Arial"/>
                        </a:rPr>
                        <a:t>Estructurados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desestructurados 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(documentos/blogs/wikis)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250" b="1" spc="110" dirty="0">
                          <a:latin typeface="Arial"/>
                          <a:cs typeface="Arial"/>
                        </a:rPr>
                        <a:t>Finanzas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850" spc="65" dirty="0">
                          <a:latin typeface="Arial"/>
                          <a:cs typeface="Arial"/>
                        </a:rPr>
                        <a:t>Construir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vs.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Adquirir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12494" marR="142240" indent="-744220">
                        <a:lnSpc>
                          <a:spcPct val="102400"/>
                        </a:lnSpc>
                        <a:spcBef>
                          <a:spcPts val="305"/>
                        </a:spcBef>
                      </a:pPr>
                      <a:r>
                        <a:rPr sz="850" spc="70" dirty="0">
                          <a:latin typeface="Arial"/>
                          <a:cs typeface="Arial"/>
                        </a:rPr>
                        <a:t>Comprar/Rentar/Construir/Código  Abierto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50" b="1" spc="105" dirty="0">
                          <a:latin typeface="Arial"/>
                          <a:cs typeface="Arial"/>
                        </a:rPr>
                        <a:t>Mantenimiento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850" spc="90" dirty="0">
                          <a:latin typeface="Arial"/>
                          <a:cs typeface="Arial"/>
                        </a:rPr>
                        <a:t>Equipo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90" dirty="0">
                          <a:latin typeface="Arial"/>
                          <a:cs typeface="Arial"/>
                        </a:rPr>
                        <a:t>dedicado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CRM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283845" marR="226060" indent="-29209">
                        <a:lnSpc>
                          <a:spcPct val="102400"/>
                        </a:lnSpc>
                        <a:spcBef>
                          <a:spcPts val="285"/>
                        </a:spcBef>
                      </a:pPr>
                      <a:r>
                        <a:rPr sz="850" spc="90" dirty="0">
                          <a:latin typeface="Arial"/>
                          <a:cs typeface="Arial"/>
                        </a:rPr>
                        <a:t>Equipo </a:t>
                      </a:r>
                      <a:r>
                        <a:rPr sz="850" spc="55" dirty="0">
                          <a:latin typeface="Arial"/>
                          <a:cs typeface="Arial"/>
                        </a:rPr>
                        <a:t>tercerizado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50" spc="70" dirty="0">
                          <a:latin typeface="Arial"/>
                          <a:cs typeface="Arial"/>
                        </a:rPr>
                        <a:t>escala</a:t>
                      </a:r>
                      <a:r>
                        <a:rPr sz="85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en  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5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75" dirty="0">
                          <a:latin typeface="Arial"/>
                          <a:cs typeface="Arial"/>
                        </a:rPr>
                        <a:t>unción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80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85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65" dirty="0">
                          <a:latin typeface="Arial"/>
                          <a:cs typeface="Arial"/>
                        </a:rPr>
                        <a:t>requerimientos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411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clave,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tipos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orientaciones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CRM.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Mercado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CRM</a:t>
            </a:r>
            <a:r>
              <a:rPr sz="1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43268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soluciones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50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17180" y="1071372"/>
            <a:ext cx="945642" cy="311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55820" y="1767574"/>
            <a:ext cx="4335780" cy="4553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8749" y="1752066"/>
            <a:ext cx="4372676" cy="4468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84118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</a:t>
            </a:r>
            <a:r>
              <a:rPr sz="2000" spc="-440" dirty="0"/>
              <a:t>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 </a:t>
            </a:r>
            <a:r>
              <a:rPr sz="2000" spc="-125" dirty="0"/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Componentes </a:t>
            </a:r>
            <a:r>
              <a:rPr sz="1800" b="0" spc="-85" dirty="0">
                <a:latin typeface="Arial"/>
                <a:cs typeface="Arial"/>
              </a:rPr>
              <a:t>clave, </a:t>
            </a:r>
            <a:r>
              <a:rPr sz="1800" b="0" spc="-40" dirty="0">
                <a:latin typeface="Arial"/>
                <a:cs typeface="Arial"/>
              </a:rPr>
              <a:t>tipos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5" dirty="0">
                <a:latin typeface="Arial"/>
                <a:cs typeface="Arial"/>
              </a:rPr>
              <a:t>orientaciones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75" dirty="0">
                <a:latin typeface="Arial"/>
                <a:cs typeface="Arial"/>
              </a:rPr>
              <a:t>CRM. </a:t>
            </a:r>
            <a:r>
              <a:rPr sz="1800" b="0" spc="-65" dirty="0">
                <a:latin typeface="Arial"/>
                <a:cs typeface="Arial"/>
              </a:rPr>
              <a:t>Mercado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soluciones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215" dirty="0">
                <a:latin typeface="Arial"/>
                <a:cs typeface="Arial"/>
              </a:rPr>
              <a:t>CRM</a:t>
            </a:r>
            <a:r>
              <a:rPr sz="1800" b="0" spc="-19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43268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soluciones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50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17180" y="1071372"/>
            <a:ext cx="945642" cy="311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8591" y="2129789"/>
            <a:ext cx="833627" cy="8602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0903" y="2133600"/>
            <a:ext cx="1235537" cy="8237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2553" y="3064001"/>
            <a:ext cx="1041443" cy="4838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80097" y="3113328"/>
            <a:ext cx="1127247" cy="3680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2171" y="3652837"/>
            <a:ext cx="972595" cy="4600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75544" y="3614463"/>
            <a:ext cx="861813" cy="6204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12280" y="4213097"/>
            <a:ext cx="1037081" cy="5417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89576" y="4250435"/>
            <a:ext cx="975112" cy="5602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38059" y="4948428"/>
            <a:ext cx="1095755" cy="6370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51476" y="5898134"/>
            <a:ext cx="390271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Fuente: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0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12"/>
              </a:rPr>
              <a:t>https://www.cms-connected.com/News-Archive/November-2018/The- </a:t>
            </a:r>
            <a:r>
              <a:rPr sz="1000" spc="-5" dirty="0">
                <a:solidFill>
                  <a:srgbClr val="8E248D"/>
                </a:solidFill>
                <a:latin typeface="Arial"/>
                <a:cs typeface="Arial"/>
                <a:hlinkClick r:id="rId12"/>
              </a:rPr>
              <a:t> </a:t>
            </a:r>
            <a:r>
              <a:rPr sz="10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12"/>
              </a:rPr>
              <a:t>Forrester-Wave-CRM-Suites,-Q4-2018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741" y="2004182"/>
            <a:ext cx="4877040" cy="35416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833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48717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75" dirty="0">
                <a:latin typeface="Trebuchet MS"/>
                <a:cs typeface="Trebuchet MS"/>
              </a:rPr>
              <a:t>Fases </a:t>
            </a:r>
            <a:r>
              <a:rPr sz="2600" b="1" spc="-145" dirty="0">
                <a:latin typeface="Trebuchet MS"/>
                <a:cs typeface="Trebuchet MS"/>
              </a:rPr>
              <a:t>típicas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5" dirty="0">
                <a:latin typeface="Trebuchet MS"/>
                <a:cs typeface="Trebuchet MS"/>
              </a:rPr>
              <a:t>un proceso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65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CRM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1669542"/>
            <a:ext cx="8041385" cy="457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950" cy="599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70" dirty="0">
                <a:latin typeface="Trebuchet MS"/>
                <a:cs typeface="Trebuchet MS"/>
              </a:rPr>
              <a:t>Fallas 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spc="-595" dirty="0">
                <a:latin typeface="Trebuchet MS"/>
                <a:cs typeface="Trebuchet MS"/>
              </a:rPr>
              <a:t> </a:t>
            </a:r>
            <a:r>
              <a:rPr sz="2800" b="1" spc="-135" dirty="0">
                <a:latin typeface="Trebuchet MS"/>
                <a:cs typeface="Trebuchet MS"/>
              </a:rPr>
              <a:t>Causas </a:t>
            </a:r>
            <a:r>
              <a:rPr sz="2800" b="1" spc="-165" dirty="0">
                <a:latin typeface="Trebuchet MS"/>
                <a:cs typeface="Trebuchet MS"/>
              </a:rPr>
              <a:t>de </a:t>
            </a:r>
            <a:r>
              <a:rPr sz="2800" b="1" spc="-155" dirty="0">
                <a:latin typeface="Trebuchet MS"/>
                <a:cs typeface="Trebuchet MS"/>
              </a:rPr>
              <a:t>fracaso </a:t>
            </a:r>
            <a:r>
              <a:rPr sz="2800" b="1" spc="-180" dirty="0">
                <a:latin typeface="Trebuchet MS"/>
                <a:cs typeface="Trebuchet MS"/>
              </a:rPr>
              <a:t>en </a:t>
            </a:r>
            <a:r>
              <a:rPr sz="2800" b="1" spc="-155" dirty="0">
                <a:latin typeface="Trebuchet MS"/>
                <a:cs typeface="Trebuchet MS"/>
              </a:rPr>
              <a:t>implementación </a:t>
            </a:r>
            <a:r>
              <a:rPr sz="2800" b="1" spc="-165" dirty="0">
                <a:latin typeface="Trebuchet MS"/>
                <a:cs typeface="Trebuchet MS"/>
              </a:rPr>
              <a:t>de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endParaRPr sz="2800">
              <a:latin typeface="Trebuchet MS"/>
              <a:cs typeface="Trebuchet MS"/>
            </a:endParaRPr>
          </a:p>
          <a:p>
            <a:pPr marL="527050" marR="6350" indent="-514350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527050" algn="l"/>
                <a:tab pos="527685" algn="l"/>
                <a:tab pos="1348105" algn="l"/>
                <a:tab pos="1861820" algn="l"/>
                <a:tab pos="3650615" algn="l"/>
                <a:tab pos="3975735" algn="l"/>
                <a:tab pos="5901690" algn="l"/>
                <a:tab pos="8003540" algn="l"/>
              </a:tabLst>
            </a:pPr>
            <a:r>
              <a:rPr sz="2600" spc="-465" dirty="0">
                <a:latin typeface="Arial"/>
                <a:cs typeface="Arial"/>
              </a:rPr>
              <a:t>F</a:t>
            </a:r>
            <a:r>
              <a:rPr sz="2600" spc="-15" dirty="0">
                <a:latin typeface="Arial"/>
                <a:cs typeface="Arial"/>
              </a:rPr>
              <a:t>al</a:t>
            </a:r>
            <a:r>
              <a:rPr sz="2600" spc="-30" dirty="0">
                <a:latin typeface="Arial"/>
                <a:cs typeface="Arial"/>
              </a:rPr>
              <a:t>t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-55" dirty="0">
                <a:latin typeface="Arial"/>
                <a:cs typeface="Arial"/>
              </a:rPr>
              <a:t>r</a:t>
            </a:r>
            <a:r>
              <a:rPr sz="2600" spc="-110" dirty="0">
                <a:latin typeface="Arial"/>
                <a:cs typeface="Arial"/>
              </a:rPr>
              <a:t>epa</a:t>
            </a:r>
            <a:r>
              <a:rPr sz="2600" spc="-125" dirty="0">
                <a:latin typeface="Arial"/>
                <a:cs typeface="Arial"/>
              </a:rPr>
              <a:t>r</a:t>
            </a:r>
            <a:r>
              <a:rPr sz="2600" spc="-215" dirty="0">
                <a:latin typeface="Arial"/>
                <a:cs typeface="Arial"/>
              </a:rPr>
              <a:t>a</a:t>
            </a:r>
            <a:r>
              <a:rPr sz="2600" spc="-190" dirty="0">
                <a:latin typeface="Arial"/>
                <a:cs typeface="Arial"/>
              </a:rPr>
              <a:t>c</a:t>
            </a:r>
            <a:r>
              <a:rPr sz="2600" spc="-50" dirty="0">
                <a:latin typeface="Arial"/>
                <a:cs typeface="Arial"/>
              </a:rPr>
              <a:t>ión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25" dirty="0">
                <a:latin typeface="Arial"/>
                <a:cs typeface="Arial"/>
              </a:rPr>
              <a:t>c</a:t>
            </a:r>
            <a:r>
              <a:rPr sz="2600" spc="-65" dirty="0">
                <a:latin typeface="Arial"/>
                <a:cs typeface="Arial"/>
              </a:rPr>
              <a:t>omp</a:t>
            </a:r>
            <a:r>
              <a:rPr sz="2600" spc="-70" dirty="0">
                <a:latin typeface="Arial"/>
                <a:cs typeface="Arial"/>
              </a:rPr>
              <a:t>r</a:t>
            </a:r>
            <a:r>
              <a:rPr sz="2600" spc="-110" dirty="0">
                <a:latin typeface="Arial"/>
                <a:cs typeface="Arial"/>
              </a:rPr>
              <a:t>ensión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0" dirty="0">
                <a:latin typeface="Arial"/>
                <a:cs typeface="Arial"/>
              </a:rPr>
              <a:t>o</a:t>
            </a:r>
            <a:r>
              <a:rPr sz="2600" spc="-50" dirty="0">
                <a:latin typeface="Arial"/>
                <a:cs typeface="Arial"/>
              </a:rPr>
              <a:t>r</a:t>
            </a:r>
            <a:r>
              <a:rPr sz="2600" spc="-270" dirty="0">
                <a:latin typeface="Arial"/>
                <a:cs typeface="Arial"/>
              </a:rPr>
              <a:t>g</a:t>
            </a:r>
            <a:r>
              <a:rPr sz="2600" spc="-110" dirty="0">
                <a:latin typeface="Arial"/>
                <a:cs typeface="Arial"/>
              </a:rPr>
              <a:t>an</a:t>
            </a:r>
            <a:r>
              <a:rPr sz="2600" spc="-40" dirty="0">
                <a:latin typeface="Arial"/>
                <a:cs typeface="Arial"/>
              </a:rPr>
              <a:t>i</a:t>
            </a:r>
            <a:r>
              <a:rPr sz="2600" spc="-320" dirty="0">
                <a:latin typeface="Arial"/>
                <a:cs typeface="Arial"/>
              </a:rPr>
              <a:t>z</a:t>
            </a:r>
            <a:r>
              <a:rPr sz="2600" spc="-110" dirty="0">
                <a:latin typeface="Arial"/>
                <a:cs typeface="Arial"/>
              </a:rPr>
              <a:t>aci</a:t>
            </a:r>
            <a:r>
              <a:rPr sz="2600" spc="-130" dirty="0">
                <a:latin typeface="Arial"/>
                <a:cs typeface="Arial"/>
              </a:rPr>
              <a:t>o</a:t>
            </a:r>
            <a:r>
              <a:rPr sz="2600" spc="-114" dirty="0">
                <a:latin typeface="Arial"/>
                <a:cs typeface="Arial"/>
              </a:rPr>
              <a:t>na</a:t>
            </a:r>
            <a:r>
              <a:rPr sz="2600" spc="-45" dirty="0">
                <a:latin typeface="Arial"/>
                <a:cs typeface="Arial"/>
              </a:rPr>
              <a:t>l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0" dirty="0">
                <a:latin typeface="Arial"/>
                <a:cs typeface="Arial"/>
              </a:rPr>
              <a:t>pa</a:t>
            </a:r>
            <a:r>
              <a:rPr sz="2600" spc="-105" dirty="0">
                <a:latin typeface="Arial"/>
                <a:cs typeface="Arial"/>
              </a:rPr>
              <a:t>r</a:t>
            </a:r>
            <a:r>
              <a:rPr sz="2600" spc="-135" dirty="0">
                <a:latin typeface="Arial"/>
                <a:cs typeface="Arial"/>
              </a:rPr>
              <a:t>a  </a:t>
            </a:r>
            <a:r>
              <a:rPr sz="2600" spc="-125" dirty="0">
                <a:latin typeface="Arial"/>
                <a:cs typeface="Arial"/>
              </a:rPr>
              <a:t>encarar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iniciativa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40"/>
              </a:spcBef>
              <a:buChar char="•"/>
              <a:tabLst>
                <a:tab pos="927100" algn="l"/>
                <a:tab pos="927735" algn="l"/>
                <a:tab pos="1353820" algn="l"/>
                <a:tab pos="1709420" algn="l"/>
                <a:tab pos="3001645" algn="l"/>
                <a:tab pos="3423285" algn="l"/>
                <a:tab pos="4409440" algn="l"/>
                <a:tab pos="4799965" algn="l"/>
                <a:tab pos="5220970" algn="l"/>
                <a:tab pos="6269355" algn="l"/>
                <a:tab pos="6659880" algn="l"/>
                <a:tab pos="7600315" algn="l"/>
                <a:tab pos="7920990" algn="l"/>
                <a:tab pos="8311515" algn="l"/>
              </a:tabLst>
            </a:pPr>
            <a:r>
              <a:rPr sz="2000" spc="-125" dirty="0">
                <a:latin typeface="Arial"/>
                <a:cs typeface="Arial"/>
              </a:rPr>
              <a:t>N</a:t>
            </a:r>
            <a:r>
              <a:rPr sz="2000" spc="-9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65" dirty="0">
                <a:latin typeface="Arial"/>
                <a:cs typeface="Arial"/>
              </a:rPr>
              <a:t>s</a:t>
            </a:r>
            <a:r>
              <a:rPr sz="2000" spc="-18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200" dirty="0">
                <a:latin typeface="Arial"/>
                <a:cs typeface="Arial"/>
              </a:rPr>
              <a:t>a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50" dirty="0">
                <a:latin typeface="Arial"/>
                <a:cs typeface="Arial"/>
              </a:rPr>
              <a:t>olla</a:t>
            </a:r>
            <a:r>
              <a:rPr sz="2000" spc="-6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75" dirty="0">
                <a:latin typeface="Arial"/>
                <a:cs typeface="Arial"/>
              </a:rPr>
              <a:t>c</a:t>
            </a:r>
            <a:r>
              <a:rPr sz="2000" spc="-150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mbios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en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</a:t>
            </a:r>
            <a:r>
              <a:rPr sz="2000" spc="-125" dirty="0">
                <a:latin typeface="Arial"/>
                <a:cs typeface="Arial"/>
              </a:rPr>
              <a:t>oceso</a:t>
            </a:r>
            <a:r>
              <a:rPr sz="2000" spc="-220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25" dirty="0">
                <a:latin typeface="Arial"/>
                <a:cs typeface="Arial"/>
              </a:rPr>
              <a:t>ne</a:t>
            </a:r>
            <a:r>
              <a:rPr sz="2000" spc="-140" dirty="0">
                <a:latin typeface="Arial"/>
                <a:cs typeface="Arial"/>
              </a:rPr>
              <a:t>g</a:t>
            </a:r>
            <a:r>
              <a:rPr sz="2000" spc="-65" dirty="0">
                <a:latin typeface="Arial"/>
                <a:cs typeface="Arial"/>
              </a:rPr>
              <a:t>oci</a:t>
            </a:r>
            <a:r>
              <a:rPr sz="2000" spc="-80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40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85" dirty="0">
                <a:latin typeface="Arial"/>
                <a:cs typeface="Arial"/>
              </a:rPr>
              <a:t>e</a:t>
            </a:r>
            <a:r>
              <a:rPr sz="2000" spc="-90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000" spc="-105" dirty="0">
                <a:latin typeface="Arial"/>
                <a:cs typeface="Arial"/>
              </a:rPr>
              <a:t>programas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5" dirty="0">
                <a:latin typeface="Arial"/>
                <a:cs typeface="Arial"/>
              </a:rPr>
              <a:t>se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requieren.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buAutoNum type="arabicPeriod" startAt="2"/>
              <a:tabLst>
                <a:tab pos="527050" algn="l"/>
                <a:tab pos="527685" algn="l"/>
              </a:tabLst>
            </a:pPr>
            <a:r>
              <a:rPr sz="2600" spc="-145" dirty="0">
                <a:latin typeface="Arial"/>
                <a:cs typeface="Arial"/>
              </a:rPr>
              <a:t>Falta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70" dirty="0">
                <a:latin typeface="Arial"/>
                <a:cs typeface="Arial"/>
              </a:rPr>
              <a:t>participación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todos </a:t>
            </a:r>
            <a:r>
              <a:rPr sz="2600" spc="-114" dirty="0">
                <a:latin typeface="Arial"/>
                <a:cs typeface="Arial"/>
              </a:rPr>
              <a:t>los actores </a:t>
            </a:r>
            <a:r>
              <a:rPr sz="2600" spc="-110" dirty="0">
                <a:latin typeface="Arial"/>
                <a:cs typeface="Arial"/>
              </a:rPr>
              <a:t>involucrados </a:t>
            </a:r>
            <a:r>
              <a:rPr sz="2600" spc="-125" dirty="0">
                <a:latin typeface="Arial"/>
                <a:cs typeface="Arial"/>
              </a:rPr>
              <a:t>y  afectados</a:t>
            </a:r>
            <a:endParaRPr sz="2600">
              <a:latin typeface="Arial"/>
              <a:cs typeface="Arial"/>
            </a:endParaRPr>
          </a:p>
          <a:p>
            <a:pPr marL="927100" marR="5080" lvl="1" indent="-457200" algn="just">
              <a:lnSpc>
                <a:spcPct val="100000"/>
              </a:lnSpc>
              <a:spcBef>
                <a:spcPts val="35"/>
              </a:spcBef>
              <a:buChar char="•"/>
              <a:tabLst>
                <a:tab pos="927735" algn="l"/>
              </a:tabLst>
            </a:pPr>
            <a:r>
              <a:rPr sz="2000" spc="-105" dirty="0">
                <a:latin typeface="Arial"/>
                <a:cs typeface="Arial"/>
              </a:rPr>
              <a:t>Muchas </a:t>
            </a:r>
            <a:r>
              <a:rPr sz="2000" spc="-145" dirty="0">
                <a:latin typeface="Arial"/>
                <a:cs typeface="Arial"/>
              </a:rPr>
              <a:t>veces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65" dirty="0">
                <a:latin typeface="Arial"/>
                <a:cs typeface="Arial"/>
              </a:rPr>
              <a:t>un proyecto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Marketing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30" dirty="0">
                <a:latin typeface="Arial"/>
                <a:cs typeface="Arial"/>
              </a:rPr>
              <a:t>Ventas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dejan </a:t>
            </a:r>
            <a:r>
              <a:rPr sz="2000" spc="-80" dirty="0">
                <a:latin typeface="Arial"/>
                <a:cs typeface="Arial"/>
              </a:rPr>
              <a:t>afuera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100" dirty="0">
                <a:latin typeface="Arial"/>
                <a:cs typeface="Arial"/>
              </a:rPr>
              <a:t>Servicio </a:t>
            </a:r>
            <a:r>
              <a:rPr sz="2000" spc="-75" dirty="0">
                <a:latin typeface="Arial"/>
                <a:cs typeface="Arial"/>
              </a:rPr>
              <a:t>al </a:t>
            </a:r>
            <a:r>
              <a:rPr sz="2000" spc="-90" dirty="0">
                <a:latin typeface="Arial"/>
                <a:cs typeface="Arial"/>
              </a:rPr>
              <a:t>Cliente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Sistemas.</a:t>
            </a:r>
            <a:endParaRPr sz="2000">
              <a:latin typeface="Arial"/>
              <a:cs typeface="Arial"/>
            </a:endParaRPr>
          </a:p>
          <a:p>
            <a:pPr marL="927100" marR="5715" lvl="1" indent="-457200" algn="just">
              <a:lnSpc>
                <a:spcPct val="100000"/>
              </a:lnSpc>
              <a:buChar char="•"/>
              <a:tabLst>
                <a:tab pos="927735" algn="l"/>
              </a:tabLst>
            </a:pPr>
            <a:r>
              <a:rPr sz="2000" spc="-185" dirty="0">
                <a:latin typeface="Arial"/>
                <a:cs typeface="Arial"/>
              </a:rPr>
              <a:t>87% </a:t>
            </a:r>
            <a:r>
              <a:rPr sz="2000" spc="-100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65" dirty="0">
                <a:latin typeface="Arial"/>
                <a:cs typeface="Arial"/>
              </a:rPr>
              <a:t>iniciativas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adopción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110" dirty="0">
                <a:latin typeface="Arial"/>
                <a:cs typeface="Arial"/>
              </a:rPr>
              <a:t>fracasan </a:t>
            </a:r>
            <a:r>
              <a:rPr sz="2000" spc="-65" dirty="0">
                <a:latin typeface="Arial"/>
                <a:cs typeface="Arial"/>
              </a:rPr>
              <a:t>debido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5" dirty="0">
                <a:latin typeface="Arial"/>
                <a:cs typeface="Arial"/>
              </a:rPr>
              <a:t>una  </a:t>
            </a:r>
            <a:r>
              <a:rPr sz="2000" spc="-100" dirty="0">
                <a:latin typeface="Arial"/>
                <a:cs typeface="Arial"/>
              </a:rPr>
              <a:t>inadecuada </a:t>
            </a:r>
            <a:r>
              <a:rPr sz="2000" spc="-80" dirty="0">
                <a:latin typeface="Arial"/>
                <a:cs typeface="Arial"/>
              </a:rPr>
              <a:t>gestión </a:t>
            </a:r>
            <a:r>
              <a:rPr sz="2000" spc="-60" dirty="0">
                <a:latin typeface="Arial"/>
                <a:cs typeface="Arial"/>
              </a:rPr>
              <a:t>del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cambio.</a:t>
            </a:r>
            <a:endParaRPr sz="2000">
              <a:latin typeface="Arial"/>
              <a:cs typeface="Arial"/>
            </a:endParaRPr>
          </a:p>
          <a:p>
            <a:pPr marL="927100" marR="5080" lvl="1" indent="-45720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927735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110" dirty="0">
                <a:latin typeface="Arial"/>
                <a:cs typeface="Arial"/>
              </a:rPr>
              <a:t>necesidad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capacitación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adaptación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45" dirty="0">
                <a:latin typeface="Arial"/>
                <a:cs typeface="Arial"/>
              </a:rPr>
              <a:t>cultura </a:t>
            </a:r>
            <a:r>
              <a:rPr sz="2000" spc="-90" dirty="0">
                <a:latin typeface="Arial"/>
                <a:cs typeface="Arial"/>
              </a:rPr>
              <a:t>organizacional,  </a:t>
            </a:r>
            <a:r>
              <a:rPr sz="2000" spc="-160" dirty="0">
                <a:latin typeface="Arial"/>
                <a:cs typeface="Arial"/>
              </a:rPr>
              <a:t>así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cambios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70" dirty="0">
                <a:latin typeface="Arial"/>
                <a:cs typeface="Arial"/>
              </a:rPr>
              <a:t>estructuras </a:t>
            </a:r>
            <a:r>
              <a:rPr sz="2000" spc="-100" dirty="0">
                <a:latin typeface="Arial"/>
                <a:cs typeface="Arial"/>
              </a:rPr>
              <a:t>organizativas </a:t>
            </a:r>
            <a:r>
              <a:rPr sz="2000" spc="-85" dirty="0">
                <a:latin typeface="Arial"/>
                <a:cs typeface="Arial"/>
              </a:rPr>
              <a:t>deberán </a:t>
            </a:r>
            <a:r>
              <a:rPr sz="2000" spc="-105" dirty="0">
                <a:latin typeface="Arial"/>
                <a:cs typeface="Arial"/>
              </a:rPr>
              <a:t>ser  </a:t>
            </a:r>
            <a:r>
              <a:rPr sz="2000" spc="-35" dirty="0">
                <a:latin typeface="Arial"/>
                <a:cs typeface="Arial"/>
              </a:rPr>
              <a:t>prioritarios </a:t>
            </a:r>
            <a:r>
              <a:rPr sz="2000" spc="-60" dirty="0">
                <a:latin typeface="Arial"/>
                <a:cs typeface="Arial"/>
              </a:rPr>
              <a:t>previo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20" dirty="0">
                <a:latin typeface="Arial"/>
                <a:cs typeface="Arial"/>
              </a:rPr>
              <a:t>invertir </a:t>
            </a:r>
            <a:r>
              <a:rPr sz="2000" spc="-114" dirty="0">
                <a:latin typeface="Arial"/>
                <a:cs typeface="Arial"/>
              </a:rPr>
              <a:t>esfuerzos 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tecnología.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7585" cy="471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 marR="6985">
              <a:lnSpc>
                <a:spcPct val="100000"/>
              </a:lnSpc>
              <a:spcBef>
                <a:spcPts val="5"/>
              </a:spcBef>
              <a:tabLst>
                <a:tab pos="1000760" algn="l"/>
                <a:tab pos="1318895" algn="l"/>
                <a:tab pos="2498725" algn="l"/>
                <a:tab pos="3034030" algn="l"/>
                <a:tab pos="4263390" algn="l"/>
                <a:tab pos="4798695" algn="l"/>
                <a:tab pos="7366634" algn="l"/>
                <a:tab pos="7902575" algn="l"/>
              </a:tabLst>
            </a:pPr>
            <a:r>
              <a:rPr sz="2800" b="1" spc="-434" dirty="0">
                <a:latin typeface="Trebuchet MS"/>
                <a:cs typeface="Trebuchet MS"/>
              </a:rPr>
              <a:t>F</a:t>
            </a:r>
            <a:r>
              <a:rPr sz="2800" b="1" spc="-114" dirty="0">
                <a:latin typeface="Trebuchet MS"/>
                <a:cs typeface="Trebuchet MS"/>
              </a:rPr>
              <a:t>all</a:t>
            </a:r>
            <a:r>
              <a:rPr sz="2800" b="1" spc="-155" dirty="0">
                <a:latin typeface="Trebuchet MS"/>
                <a:cs typeface="Trebuchet MS"/>
              </a:rPr>
              <a:t>a</a:t>
            </a:r>
            <a:r>
              <a:rPr sz="2800" b="1" spc="-9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40" dirty="0">
                <a:latin typeface="Trebuchet MS"/>
                <a:cs typeface="Trebuchet MS"/>
              </a:rPr>
              <a:t>Causa</a:t>
            </a:r>
            <a:r>
              <a:rPr sz="2800" b="1" spc="-11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f</a:t>
            </a:r>
            <a:r>
              <a:rPr sz="2800" b="1" spc="-250" dirty="0">
                <a:latin typeface="Trebuchet MS"/>
                <a:cs typeface="Trebuchet MS"/>
              </a:rPr>
              <a:t>r</a:t>
            </a:r>
            <a:r>
              <a:rPr sz="2800" b="1" spc="-190" dirty="0">
                <a:latin typeface="Trebuchet MS"/>
                <a:cs typeface="Trebuchet MS"/>
              </a:rPr>
              <a:t>a</a:t>
            </a:r>
            <a:r>
              <a:rPr sz="2800" b="1" spc="-200" dirty="0">
                <a:latin typeface="Trebuchet MS"/>
                <a:cs typeface="Trebuchet MS"/>
              </a:rPr>
              <a:t>c</a:t>
            </a:r>
            <a:r>
              <a:rPr sz="2800" b="1" spc="-95" dirty="0">
                <a:latin typeface="Trebuchet MS"/>
                <a:cs typeface="Trebuchet MS"/>
              </a:rPr>
              <a:t>aso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80" dirty="0">
                <a:latin typeface="Trebuchet MS"/>
                <a:cs typeface="Trebuchet MS"/>
              </a:rPr>
              <a:t>en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55" dirty="0">
                <a:latin typeface="Trebuchet MS"/>
                <a:cs typeface="Trebuchet MS"/>
              </a:rPr>
              <a:t>imp</a:t>
            </a:r>
            <a:r>
              <a:rPr sz="2800" b="1" spc="-95" dirty="0">
                <a:latin typeface="Trebuchet MS"/>
                <a:cs typeface="Trebuchet MS"/>
              </a:rPr>
              <a:t>l</a:t>
            </a:r>
            <a:r>
              <a:rPr sz="2800" b="1" spc="-180" dirty="0">
                <a:latin typeface="Trebuchet MS"/>
                <a:cs typeface="Trebuchet MS"/>
              </a:rPr>
              <a:t>emen</a:t>
            </a:r>
            <a:r>
              <a:rPr sz="2800" b="1" spc="-170" dirty="0">
                <a:latin typeface="Trebuchet MS"/>
                <a:cs typeface="Trebuchet MS"/>
              </a:rPr>
              <a:t>t</a:t>
            </a:r>
            <a:r>
              <a:rPr sz="2800" b="1" spc="-150" dirty="0">
                <a:latin typeface="Trebuchet MS"/>
                <a:cs typeface="Trebuchet MS"/>
              </a:rPr>
              <a:t>ación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5" dirty="0">
                <a:latin typeface="Trebuchet MS"/>
                <a:cs typeface="Trebuchet MS"/>
              </a:rPr>
              <a:t>CRM  </a:t>
            </a:r>
            <a:r>
              <a:rPr sz="2800" b="1" spc="-175" dirty="0">
                <a:latin typeface="Trebuchet MS"/>
                <a:cs typeface="Trebuchet MS"/>
              </a:rPr>
              <a:t>(Cont.)</a:t>
            </a:r>
            <a:endParaRPr sz="2800">
              <a:latin typeface="Trebuchet MS"/>
              <a:cs typeface="Trebuchet MS"/>
            </a:endParaRPr>
          </a:p>
          <a:p>
            <a:pPr marL="527050" marR="6350" indent="-514350">
              <a:lnSpc>
                <a:spcPct val="100000"/>
              </a:lnSpc>
              <a:spcBef>
                <a:spcPts val="10"/>
              </a:spcBef>
              <a:buAutoNum type="arabicPeriod" startAt="3"/>
              <a:tabLst>
                <a:tab pos="527050" algn="l"/>
                <a:tab pos="527685" algn="l"/>
                <a:tab pos="1717675" algn="l"/>
                <a:tab pos="3034030" algn="l"/>
                <a:tab pos="3930015" algn="l"/>
                <a:tab pos="5034280" algn="l"/>
                <a:tab pos="5450205" algn="l"/>
                <a:tab pos="6785609" algn="l"/>
                <a:tab pos="7277100" algn="l"/>
              </a:tabLst>
            </a:pPr>
            <a:r>
              <a:rPr sz="2600" spc="-229" dirty="0">
                <a:latin typeface="Arial"/>
                <a:cs typeface="Arial"/>
              </a:rPr>
              <a:t>Des</a:t>
            </a:r>
            <a:r>
              <a:rPr sz="2600" spc="-225" dirty="0">
                <a:latin typeface="Arial"/>
                <a:cs typeface="Arial"/>
              </a:rPr>
              <a:t>e</a:t>
            </a:r>
            <a:r>
              <a:rPr sz="2600" spc="-85" dirty="0">
                <a:latin typeface="Arial"/>
                <a:cs typeface="Arial"/>
              </a:rPr>
              <a:t>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65" dirty="0">
                <a:latin typeface="Arial"/>
                <a:cs typeface="Arial"/>
              </a:rPr>
              <a:t>adop</a:t>
            </a:r>
            <a:r>
              <a:rPr sz="2600" spc="-70" dirty="0">
                <a:latin typeface="Arial"/>
                <a:cs typeface="Arial"/>
              </a:rPr>
              <a:t>t</a:t>
            </a:r>
            <a:r>
              <a:rPr sz="2600" spc="-85" dirty="0">
                <a:latin typeface="Arial"/>
                <a:cs typeface="Arial"/>
              </a:rPr>
              <a:t>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95" dirty="0">
                <a:latin typeface="Arial"/>
                <a:cs typeface="Arial"/>
              </a:rPr>
              <a:t>CR</a:t>
            </a:r>
            <a:r>
              <a:rPr sz="2600" spc="-335" dirty="0">
                <a:latin typeface="Arial"/>
                <a:cs typeface="Arial"/>
              </a:rPr>
              <a:t>M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-55" dirty="0">
                <a:latin typeface="Arial"/>
                <a:cs typeface="Arial"/>
              </a:rPr>
              <a:t>r</a:t>
            </a:r>
            <a:r>
              <a:rPr sz="2600" spc="-170" dirty="0">
                <a:latin typeface="Arial"/>
                <a:cs typeface="Arial"/>
              </a:rPr>
              <a:t>e</a:t>
            </a:r>
            <a:r>
              <a:rPr sz="2600" spc="-65" dirty="0">
                <a:latin typeface="Arial"/>
                <a:cs typeface="Arial"/>
              </a:rPr>
              <a:t>vio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35" dirty="0">
                <a:latin typeface="Arial"/>
                <a:cs typeface="Arial"/>
              </a:rPr>
              <a:t>c</a:t>
            </a:r>
            <a:r>
              <a:rPr sz="2600" spc="-105" dirty="0">
                <a:latin typeface="Arial"/>
                <a:cs typeface="Arial"/>
              </a:rPr>
              <a:t>onoce</a:t>
            </a:r>
            <a:r>
              <a:rPr sz="2600" spc="-60" dirty="0">
                <a:latin typeface="Arial"/>
                <a:cs typeface="Arial"/>
              </a:rPr>
              <a:t>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35" dirty="0">
                <a:latin typeface="Arial"/>
                <a:cs typeface="Arial"/>
              </a:rPr>
              <a:t>e</a:t>
            </a:r>
            <a:r>
              <a:rPr sz="2600" spc="-250" dirty="0">
                <a:latin typeface="Arial"/>
                <a:cs typeface="Arial"/>
              </a:rPr>
              <a:t>s</a:t>
            </a:r>
            <a:r>
              <a:rPr sz="2600" spc="85" dirty="0">
                <a:latin typeface="Arial"/>
                <a:cs typeface="Arial"/>
              </a:rPr>
              <a:t>t</a:t>
            </a:r>
            <a:r>
              <a:rPr sz="2600" spc="55" dirty="0">
                <a:latin typeface="Arial"/>
                <a:cs typeface="Arial"/>
              </a:rPr>
              <a:t>r</a:t>
            </a:r>
            <a:r>
              <a:rPr sz="2600" spc="-229" dirty="0">
                <a:latin typeface="Arial"/>
                <a:cs typeface="Arial"/>
              </a:rPr>
              <a:t>a</a:t>
            </a:r>
            <a:r>
              <a:rPr sz="2600" spc="120" dirty="0">
                <a:latin typeface="Arial"/>
                <a:cs typeface="Arial"/>
              </a:rPr>
              <a:t>t</a:t>
            </a:r>
            <a:r>
              <a:rPr sz="2600" spc="-125" dirty="0">
                <a:latin typeface="Arial"/>
                <a:cs typeface="Arial"/>
              </a:rPr>
              <a:t>egia  </a:t>
            </a:r>
            <a:r>
              <a:rPr sz="2600" spc="-80" dirty="0">
                <a:latin typeface="Arial"/>
                <a:cs typeface="Arial"/>
              </a:rPr>
              <a:t>(corporativa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35" dirty="0">
                <a:latin typeface="Arial"/>
                <a:cs typeface="Arial"/>
              </a:rPr>
              <a:t>negocios)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22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organización;</a:t>
            </a:r>
            <a:endParaRPr sz="2600">
              <a:latin typeface="Arial"/>
              <a:cs typeface="Arial"/>
            </a:endParaRPr>
          </a:p>
          <a:p>
            <a:pPr marL="812800" marR="6350" lvl="1" indent="-342900" algn="just">
              <a:lnSpc>
                <a:spcPct val="100000"/>
              </a:lnSpc>
              <a:spcBef>
                <a:spcPts val="40"/>
              </a:spcBef>
              <a:buChar char="•"/>
              <a:tabLst>
                <a:tab pos="813435" algn="l"/>
              </a:tabLst>
            </a:pPr>
            <a:r>
              <a:rPr sz="2000" spc="-85" dirty="0">
                <a:latin typeface="Arial"/>
                <a:cs typeface="Arial"/>
              </a:rPr>
              <a:t>Muchos </a:t>
            </a:r>
            <a:r>
              <a:rPr sz="2000" spc="-110" dirty="0">
                <a:latin typeface="Arial"/>
                <a:cs typeface="Arial"/>
              </a:rPr>
              <a:t>Managers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80" dirty="0">
                <a:latin typeface="Arial"/>
                <a:cs typeface="Arial"/>
              </a:rPr>
              <a:t>Directores </a:t>
            </a:r>
            <a:r>
              <a:rPr sz="2000" spc="-125" dirty="0">
                <a:latin typeface="Arial"/>
                <a:cs typeface="Arial"/>
              </a:rPr>
              <a:t>buscan </a:t>
            </a:r>
            <a:r>
              <a:rPr sz="2000" spc="-55" dirty="0">
                <a:latin typeface="Arial"/>
                <a:cs typeface="Arial"/>
              </a:rPr>
              <a:t>adoptar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95" dirty="0">
                <a:latin typeface="Arial"/>
                <a:cs typeface="Arial"/>
              </a:rPr>
              <a:t>sin </a:t>
            </a:r>
            <a:r>
              <a:rPr sz="2000" spc="-90" dirty="0">
                <a:latin typeface="Arial"/>
                <a:cs typeface="Arial"/>
              </a:rPr>
              <a:t>conocer </a:t>
            </a:r>
            <a:r>
              <a:rPr sz="2000" spc="-60" dirty="0">
                <a:latin typeface="Arial"/>
                <a:cs typeface="Arial"/>
              </a:rPr>
              <a:t>realmente  </a:t>
            </a:r>
            <a:r>
              <a:rPr sz="2000" spc="-90" dirty="0">
                <a:latin typeface="Arial"/>
                <a:cs typeface="Arial"/>
              </a:rPr>
              <a:t>cuál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50" dirty="0">
                <a:latin typeface="Arial"/>
                <a:cs typeface="Arial"/>
              </a:rPr>
              <a:t>principal propósito. </a:t>
            </a:r>
            <a:r>
              <a:rPr sz="2000" spc="-85" dirty="0">
                <a:latin typeface="Arial"/>
                <a:cs typeface="Arial"/>
              </a:rPr>
              <a:t>Muchos </a:t>
            </a:r>
            <a:r>
              <a:rPr sz="2000" spc="-70" dirty="0">
                <a:latin typeface="Arial"/>
                <a:cs typeface="Arial"/>
              </a:rPr>
              <a:t>ejecutivos </a:t>
            </a:r>
            <a:r>
              <a:rPr sz="2000" spc="-90" dirty="0">
                <a:latin typeface="Arial"/>
                <a:cs typeface="Arial"/>
              </a:rPr>
              <a:t>creen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estrategia 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14" dirty="0">
                <a:latin typeface="Arial"/>
                <a:cs typeface="Arial"/>
              </a:rPr>
              <a:t>asemeja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estrategia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Marketing.</a:t>
            </a:r>
            <a:endParaRPr sz="2000">
              <a:latin typeface="Arial"/>
              <a:cs typeface="Arial"/>
            </a:endParaRPr>
          </a:p>
          <a:p>
            <a:pPr marL="812800" marR="5080" lvl="1" indent="-342900" algn="just">
              <a:lnSpc>
                <a:spcPct val="100000"/>
              </a:lnSpc>
              <a:buChar char="•"/>
              <a:tabLst>
                <a:tab pos="813435" algn="l"/>
              </a:tabLst>
            </a:pPr>
            <a:r>
              <a:rPr sz="2000" spc="-85" dirty="0">
                <a:latin typeface="Arial"/>
                <a:cs typeface="Arial"/>
              </a:rPr>
              <a:t>Muchos proyectos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adopción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80" dirty="0">
                <a:latin typeface="Arial"/>
                <a:cs typeface="Arial"/>
              </a:rPr>
              <a:t>cuentan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5" dirty="0">
                <a:latin typeface="Arial"/>
                <a:cs typeface="Arial"/>
              </a:rPr>
              <a:t>estrategia,  </a:t>
            </a:r>
            <a:r>
              <a:rPr sz="2000" i="1" spc="-85" dirty="0">
                <a:latin typeface="Trebuchet MS"/>
                <a:cs typeface="Trebuchet MS"/>
              </a:rPr>
              <a:t>business </a:t>
            </a:r>
            <a:r>
              <a:rPr sz="2000" i="1" spc="-75" dirty="0">
                <a:latin typeface="Trebuchet MS"/>
                <a:cs typeface="Trebuchet MS"/>
              </a:rPr>
              <a:t>case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80" dirty="0">
                <a:latin typeface="Arial"/>
                <a:cs typeface="Arial"/>
              </a:rPr>
              <a:t>indicadores </a:t>
            </a:r>
            <a:r>
              <a:rPr sz="2000" spc="-135" dirty="0">
                <a:latin typeface="Arial"/>
                <a:cs typeface="Arial"/>
              </a:rPr>
              <a:t>claves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0" dirty="0">
                <a:latin typeface="Arial"/>
                <a:cs typeface="Arial"/>
              </a:rPr>
              <a:t>rendimiento </a:t>
            </a:r>
            <a:r>
              <a:rPr sz="2000" spc="-150" dirty="0">
                <a:latin typeface="Arial"/>
                <a:cs typeface="Arial"/>
              </a:rPr>
              <a:t>(KPIs). Como </a:t>
            </a:r>
            <a:r>
              <a:rPr sz="2000" spc="-70" dirty="0">
                <a:latin typeface="Arial"/>
                <a:cs typeface="Arial"/>
              </a:rPr>
              <a:t>resultado, 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incumbentes </a:t>
            </a:r>
            <a:r>
              <a:rPr sz="2000" spc="-110" dirty="0">
                <a:latin typeface="Arial"/>
                <a:cs typeface="Arial"/>
              </a:rPr>
              <a:t>desconocen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5" dirty="0">
                <a:latin typeface="Arial"/>
                <a:cs typeface="Arial"/>
              </a:rPr>
              <a:t>intentaban </a:t>
            </a:r>
            <a:r>
              <a:rPr sz="2000" spc="-114" dirty="0">
                <a:latin typeface="Arial"/>
                <a:cs typeface="Arial"/>
              </a:rPr>
              <a:t>alcanzar </a:t>
            </a:r>
            <a:r>
              <a:rPr sz="2000" spc="-95" dirty="0">
                <a:latin typeface="Arial"/>
                <a:cs typeface="Arial"/>
              </a:rPr>
              <a:t>antes de </a:t>
            </a:r>
            <a:r>
              <a:rPr sz="2000" spc="-110" dirty="0">
                <a:latin typeface="Arial"/>
                <a:cs typeface="Arial"/>
              </a:rPr>
              <a:t>comenzar </a:t>
            </a:r>
            <a:r>
              <a:rPr sz="2000" spc="-45" dirty="0">
                <a:latin typeface="Arial"/>
                <a:cs typeface="Arial"/>
              </a:rPr>
              <a:t>el  </a:t>
            </a:r>
            <a:r>
              <a:rPr sz="2000" spc="-65" dirty="0">
                <a:latin typeface="Arial"/>
                <a:cs typeface="Arial"/>
              </a:rPr>
              <a:t>proyecto.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3809" y="4724400"/>
            <a:ext cx="1258061" cy="1635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24600" y="4724400"/>
            <a:ext cx="1235202" cy="1635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8855" cy="5323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 marR="8255">
              <a:lnSpc>
                <a:spcPct val="100000"/>
              </a:lnSpc>
              <a:spcBef>
                <a:spcPts val="5"/>
              </a:spcBef>
              <a:tabLst>
                <a:tab pos="1000760" algn="l"/>
                <a:tab pos="1318895" algn="l"/>
                <a:tab pos="2498725" algn="l"/>
                <a:tab pos="3034030" algn="l"/>
                <a:tab pos="4263390" algn="l"/>
                <a:tab pos="4798695" algn="l"/>
                <a:tab pos="7366634" algn="l"/>
                <a:tab pos="7902575" algn="l"/>
              </a:tabLst>
            </a:pPr>
            <a:r>
              <a:rPr sz="2800" b="1" spc="-434" dirty="0">
                <a:latin typeface="Trebuchet MS"/>
                <a:cs typeface="Trebuchet MS"/>
              </a:rPr>
              <a:t>F</a:t>
            </a:r>
            <a:r>
              <a:rPr sz="2800" b="1" spc="-114" dirty="0">
                <a:latin typeface="Trebuchet MS"/>
                <a:cs typeface="Trebuchet MS"/>
              </a:rPr>
              <a:t>all</a:t>
            </a:r>
            <a:r>
              <a:rPr sz="2800" b="1" spc="-155" dirty="0">
                <a:latin typeface="Trebuchet MS"/>
                <a:cs typeface="Trebuchet MS"/>
              </a:rPr>
              <a:t>a</a:t>
            </a:r>
            <a:r>
              <a:rPr sz="2800" b="1" spc="-9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40" dirty="0">
                <a:latin typeface="Trebuchet MS"/>
                <a:cs typeface="Trebuchet MS"/>
              </a:rPr>
              <a:t>Causa</a:t>
            </a:r>
            <a:r>
              <a:rPr sz="2800" b="1" spc="-11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f</a:t>
            </a:r>
            <a:r>
              <a:rPr sz="2800" b="1" spc="-250" dirty="0">
                <a:latin typeface="Trebuchet MS"/>
                <a:cs typeface="Trebuchet MS"/>
              </a:rPr>
              <a:t>r</a:t>
            </a:r>
            <a:r>
              <a:rPr sz="2800" b="1" spc="-190" dirty="0">
                <a:latin typeface="Trebuchet MS"/>
                <a:cs typeface="Trebuchet MS"/>
              </a:rPr>
              <a:t>a</a:t>
            </a:r>
            <a:r>
              <a:rPr sz="2800" b="1" spc="-200" dirty="0">
                <a:latin typeface="Trebuchet MS"/>
                <a:cs typeface="Trebuchet MS"/>
              </a:rPr>
              <a:t>c</a:t>
            </a:r>
            <a:r>
              <a:rPr sz="2800" b="1" spc="-95" dirty="0">
                <a:latin typeface="Trebuchet MS"/>
                <a:cs typeface="Trebuchet MS"/>
              </a:rPr>
              <a:t>aso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80" dirty="0">
                <a:latin typeface="Trebuchet MS"/>
                <a:cs typeface="Trebuchet MS"/>
              </a:rPr>
              <a:t>en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55" dirty="0">
                <a:latin typeface="Trebuchet MS"/>
                <a:cs typeface="Trebuchet MS"/>
              </a:rPr>
              <a:t>imp</a:t>
            </a:r>
            <a:r>
              <a:rPr sz="2800" b="1" spc="-95" dirty="0">
                <a:latin typeface="Trebuchet MS"/>
                <a:cs typeface="Trebuchet MS"/>
              </a:rPr>
              <a:t>l</a:t>
            </a:r>
            <a:r>
              <a:rPr sz="2800" b="1" spc="-180" dirty="0">
                <a:latin typeface="Trebuchet MS"/>
                <a:cs typeface="Trebuchet MS"/>
              </a:rPr>
              <a:t>emen</a:t>
            </a:r>
            <a:r>
              <a:rPr sz="2800" b="1" spc="-170" dirty="0">
                <a:latin typeface="Trebuchet MS"/>
                <a:cs typeface="Trebuchet MS"/>
              </a:rPr>
              <a:t>t</a:t>
            </a:r>
            <a:r>
              <a:rPr sz="2800" b="1" spc="-150" dirty="0">
                <a:latin typeface="Trebuchet MS"/>
                <a:cs typeface="Trebuchet MS"/>
              </a:rPr>
              <a:t>ación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5" dirty="0">
                <a:latin typeface="Trebuchet MS"/>
                <a:cs typeface="Trebuchet MS"/>
              </a:rPr>
              <a:t>CRM  </a:t>
            </a:r>
            <a:r>
              <a:rPr sz="2800" b="1" spc="-175" dirty="0">
                <a:latin typeface="Trebuchet MS"/>
                <a:cs typeface="Trebuchet MS"/>
              </a:rPr>
              <a:t>(Cont.)</a:t>
            </a:r>
            <a:endParaRPr sz="2800">
              <a:latin typeface="Trebuchet MS"/>
              <a:cs typeface="Trebuchet MS"/>
            </a:endParaRPr>
          </a:p>
          <a:p>
            <a:pPr marL="527050" marR="6350" indent="-514350">
              <a:lnSpc>
                <a:spcPct val="100000"/>
              </a:lnSpc>
              <a:spcBef>
                <a:spcPts val="10"/>
              </a:spcBef>
              <a:buAutoNum type="arabicPeriod" startAt="4"/>
              <a:tabLst>
                <a:tab pos="527050" algn="l"/>
                <a:tab pos="527685" algn="l"/>
                <a:tab pos="1690370" algn="l"/>
                <a:tab pos="2147570" algn="l"/>
                <a:tab pos="3187700" algn="l"/>
                <a:tab pos="3742054" algn="l"/>
                <a:tab pos="4468495" algn="l"/>
                <a:tab pos="5234940" algn="l"/>
                <a:tab pos="6875145" algn="l"/>
                <a:tab pos="8053070" algn="l"/>
              </a:tabLst>
            </a:pPr>
            <a:r>
              <a:rPr sz="2600" spc="-155" dirty="0">
                <a:latin typeface="Arial"/>
                <a:cs typeface="Arial"/>
              </a:rPr>
              <a:t>Asu</a:t>
            </a:r>
            <a:r>
              <a:rPr sz="2600" spc="-235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ir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hecho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qu</a:t>
            </a:r>
            <a:r>
              <a:rPr sz="2600" spc="-1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95" dirty="0">
                <a:latin typeface="Arial"/>
                <a:cs typeface="Arial"/>
              </a:rPr>
              <a:t>más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5" dirty="0">
                <a:latin typeface="Arial"/>
                <a:cs typeface="Arial"/>
              </a:rPr>
              <a:t>T</a:t>
            </a:r>
            <a:r>
              <a:rPr sz="2600" spc="-125" dirty="0">
                <a:latin typeface="Arial"/>
                <a:cs typeface="Arial"/>
              </a:rPr>
              <a:t>ecnolog</a:t>
            </a:r>
            <a:r>
              <a:rPr sz="2600" spc="-65" dirty="0">
                <a:latin typeface="Arial"/>
                <a:cs typeface="Arial"/>
              </a:rPr>
              <a:t>í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impli</a:t>
            </a:r>
            <a:r>
              <a:rPr sz="2600" spc="-80" dirty="0">
                <a:latin typeface="Arial"/>
                <a:cs typeface="Arial"/>
              </a:rPr>
              <a:t>c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0" dirty="0">
                <a:latin typeface="Arial"/>
                <a:cs typeface="Arial"/>
              </a:rPr>
              <a:t>más  </a:t>
            </a:r>
            <a:r>
              <a:rPr sz="2600" spc="-105" dirty="0">
                <a:latin typeface="Arial"/>
                <a:cs typeface="Arial"/>
              </a:rPr>
              <a:t>resultados.</a:t>
            </a:r>
            <a:endParaRPr sz="2600">
              <a:latin typeface="Arial"/>
              <a:cs typeface="Arial"/>
            </a:endParaRPr>
          </a:p>
          <a:p>
            <a:pPr marL="812800" marR="7620" lvl="1" indent="-342900" algn="just">
              <a:lnSpc>
                <a:spcPct val="100000"/>
              </a:lnSpc>
              <a:spcBef>
                <a:spcPts val="40"/>
              </a:spcBef>
              <a:buChar char="•"/>
              <a:tabLst>
                <a:tab pos="813435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60" dirty="0">
                <a:latin typeface="Arial"/>
                <a:cs typeface="Arial"/>
              </a:rPr>
              <a:t>objetivos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130" dirty="0">
                <a:latin typeface="Arial"/>
                <a:cs typeface="Arial"/>
              </a:rPr>
              <a:t>alcanzarse </a:t>
            </a:r>
            <a:r>
              <a:rPr sz="2000" spc="-95" dirty="0">
                <a:latin typeface="Arial"/>
                <a:cs typeface="Arial"/>
              </a:rPr>
              <a:t>sin </a:t>
            </a:r>
            <a:r>
              <a:rPr sz="2000" spc="-35" dirty="0">
                <a:latin typeface="Arial"/>
                <a:cs typeface="Arial"/>
              </a:rPr>
              <a:t>tener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20" dirty="0">
                <a:latin typeface="Arial"/>
                <a:cs typeface="Arial"/>
              </a:rPr>
              <a:t>invertir </a:t>
            </a:r>
            <a:r>
              <a:rPr sz="2000" spc="-114" dirty="0">
                <a:latin typeface="Arial"/>
                <a:cs typeface="Arial"/>
              </a:rPr>
              <a:t>grandes  </a:t>
            </a:r>
            <a:r>
              <a:rPr sz="2000" spc="-150" dirty="0">
                <a:latin typeface="Arial"/>
                <a:cs typeface="Arial"/>
              </a:rPr>
              <a:t>sumas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dinero 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tecnología.</a:t>
            </a:r>
            <a:endParaRPr sz="2000">
              <a:latin typeface="Arial"/>
              <a:cs typeface="Arial"/>
            </a:endParaRPr>
          </a:p>
          <a:p>
            <a:pPr marL="812800" marR="5080" lvl="1" indent="-342900" algn="just">
              <a:lnSpc>
                <a:spcPct val="100000"/>
              </a:lnSpc>
              <a:buChar char="•"/>
              <a:tabLst>
                <a:tab pos="813435" algn="l"/>
              </a:tabLst>
            </a:pPr>
            <a:r>
              <a:rPr sz="2000" spc="-170" dirty="0">
                <a:latin typeface="Arial"/>
                <a:cs typeface="Arial"/>
              </a:rPr>
              <a:t>Para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0" dirty="0">
                <a:latin typeface="Arial"/>
                <a:cs typeface="Arial"/>
              </a:rPr>
              <a:t>tenga algún </a:t>
            </a:r>
            <a:r>
              <a:rPr sz="2000" spc="-55" dirty="0">
                <a:latin typeface="Arial"/>
                <a:cs typeface="Arial"/>
              </a:rPr>
              <a:t>impacto </a:t>
            </a:r>
            <a:r>
              <a:rPr sz="2000" spc="-60" dirty="0">
                <a:latin typeface="Arial"/>
                <a:cs typeface="Arial"/>
              </a:rPr>
              <a:t>real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operación, </a:t>
            </a:r>
            <a:r>
              <a:rPr sz="2000" spc="-95" dirty="0">
                <a:latin typeface="Arial"/>
                <a:cs typeface="Arial"/>
              </a:rPr>
              <a:t>debe  </a:t>
            </a:r>
            <a:r>
              <a:rPr sz="2000" spc="-55" dirty="0">
                <a:latin typeface="Arial"/>
                <a:cs typeface="Arial"/>
              </a:rPr>
              <a:t>existir </a:t>
            </a:r>
            <a:r>
              <a:rPr sz="2000" spc="-110" dirty="0">
                <a:latin typeface="Arial"/>
                <a:cs typeface="Arial"/>
              </a:rPr>
              <a:t>(a </a:t>
            </a:r>
            <a:r>
              <a:rPr sz="2000" spc="-20" dirty="0">
                <a:latin typeface="Arial"/>
                <a:cs typeface="Arial"/>
              </a:rPr>
              <a:t>priori)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45" dirty="0">
                <a:latin typeface="Arial"/>
                <a:cs typeface="Arial"/>
              </a:rPr>
              <a:t>profundo </a:t>
            </a:r>
            <a:r>
              <a:rPr sz="2000" spc="-65" dirty="0">
                <a:latin typeface="Arial"/>
                <a:cs typeface="Arial"/>
              </a:rPr>
              <a:t>conocimiento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0" dirty="0">
                <a:latin typeface="Arial"/>
                <a:cs typeface="Arial"/>
              </a:rPr>
              <a:t>negocios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0" dirty="0">
                <a:latin typeface="Arial"/>
                <a:cs typeface="Arial"/>
              </a:rPr>
              <a:t>segmentos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0" dirty="0">
                <a:latin typeface="Arial"/>
                <a:cs typeface="Arial"/>
              </a:rPr>
              <a:t>clientes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van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05" dirty="0">
                <a:latin typeface="Arial"/>
                <a:cs typeface="Arial"/>
              </a:rPr>
              <a:t>ser </a:t>
            </a:r>
            <a:r>
              <a:rPr sz="2000" spc="-75" dirty="0">
                <a:latin typeface="Arial"/>
                <a:cs typeface="Arial"/>
              </a:rPr>
              <a:t>incorporados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5" dirty="0">
                <a:latin typeface="Arial"/>
                <a:cs typeface="Arial"/>
              </a:rPr>
              <a:t>input </a:t>
            </a:r>
            <a:r>
              <a:rPr sz="2000" spc="-70" dirty="0">
                <a:latin typeface="Arial"/>
                <a:cs typeface="Arial"/>
              </a:rPr>
              <a:t>al  </a:t>
            </a:r>
            <a:r>
              <a:rPr sz="2000" spc="-105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implementación.</a:t>
            </a:r>
            <a:endParaRPr sz="2000">
              <a:latin typeface="Arial"/>
              <a:cs typeface="Arial"/>
            </a:endParaRPr>
          </a:p>
          <a:p>
            <a:pPr marL="812800" marR="6985" lvl="1" indent="-342900" algn="just">
              <a:lnSpc>
                <a:spcPct val="100000"/>
              </a:lnSpc>
              <a:buChar char="•"/>
              <a:tabLst>
                <a:tab pos="813435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75" dirty="0">
                <a:latin typeface="Arial"/>
                <a:cs typeface="Arial"/>
              </a:rPr>
              <a:t>adopción </a:t>
            </a:r>
            <a:r>
              <a:rPr sz="2000" spc="-90" dirty="0">
                <a:latin typeface="Arial"/>
                <a:cs typeface="Arial"/>
              </a:rPr>
              <a:t>exitosa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40" dirty="0">
                <a:latin typeface="Arial"/>
                <a:cs typeface="Arial"/>
              </a:rPr>
              <a:t>CRM </a:t>
            </a:r>
            <a:r>
              <a:rPr sz="2000" spc="-60" dirty="0">
                <a:latin typeface="Arial"/>
                <a:cs typeface="Arial"/>
              </a:rPr>
              <a:t>requiere </a:t>
            </a:r>
            <a:r>
              <a:rPr sz="2000" spc="-70" dirty="0">
                <a:latin typeface="Arial"/>
                <a:cs typeface="Arial"/>
              </a:rPr>
              <a:t>combinar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0" dirty="0">
                <a:latin typeface="Arial"/>
                <a:cs typeface="Arial"/>
              </a:rPr>
              <a:t>esfuerzos </a:t>
            </a:r>
            <a:r>
              <a:rPr sz="2000" spc="-120" dirty="0">
                <a:latin typeface="Arial"/>
                <a:cs typeface="Arial"/>
              </a:rPr>
              <a:t>e </a:t>
            </a:r>
            <a:r>
              <a:rPr sz="2000" spc="-65" dirty="0">
                <a:latin typeface="Arial"/>
                <a:cs typeface="Arial"/>
              </a:rPr>
              <a:t>iniciativas 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85" dirty="0">
                <a:latin typeface="Arial"/>
                <a:cs typeface="Arial"/>
              </a:rPr>
              <a:t>personal </a:t>
            </a:r>
            <a:r>
              <a:rPr sz="2000" spc="-100" dirty="0">
                <a:latin typeface="Arial"/>
                <a:cs typeface="Arial"/>
              </a:rPr>
              <a:t>con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ventajas </a:t>
            </a:r>
            <a:r>
              <a:rPr sz="2000" spc="-80" dirty="0">
                <a:latin typeface="Arial"/>
                <a:cs typeface="Arial"/>
              </a:rPr>
              <a:t>ofrecidas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0" dirty="0">
                <a:latin typeface="Arial"/>
                <a:cs typeface="Arial"/>
              </a:rPr>
              <a:t>(como </a:t>
            </a:r>
            <a:r>
              <a:rPr sz="2000" spc="-45" dirty="0">
                <a:latin typeface="Arial"/>
                <a:cs typeface="Arial"/>
              </a:rPr>
              <a:t>facilitador), 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no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viceversa.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315" cy="4927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  <a:tabLst>
                <a:tab pos="1000760" algn="l"/>
                <a:tab pos="1318895" algn="l"/>
                <a:tab pos="2498725" algn="l"/>
                <a:tab pos="3034030" algn="l"/>
                <a:tab pos="4263390" algn="l"/>
                <a:tab pos="4798695" algn="l"/>
                <a:tab pos="7366634" algn="l"/>
                <a:tab pos="7902575" algn="l"/>
              </a:tabLst>
            </a:pPr>
            <a:r>
              <a:rPr sz="2800" b="1" spc="-434" dirty="0">
                <a:latin typeface="Trebuchet MS"/>
                <a:cs typeface="Trebuchet MS"/>
              </a:rPr>
              <a:t>F</a:t>
            </a:r>
            <a:r>
              <a:rPr sz="2800" b="1" spc="-114" dirty="0">
                <a:latin typeface="Trebuchet MS"/>
                <a:cs typeface="Trebuchet MS"/>
              </a:rPr>
              <a:t>all</a:t>
            </a:r>
            <a:r>
              <a:rPr sz="2800" b="1" spc="-155" dirty="0">
                <a:latin typeface="Trebuchet MS"/>
                <a:cs typeface="Trebuchet MS"/>
              </a:rPr>
              <a:t>a</a:t>
            </a:r>
            <a:r>
              <a:rPr sz="2800" b="1" spc="-9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40" dirty="0">
                <a:latin typeface="Trebuchet MS"/>
                <a:cs typeface="Trebuchet MS"/>
              </a:rPr>
              <a:t>Causa</a:t>
            </a:r>
            <a:r>
              <a:rPr sz="2800" b="1" spc="-110" dirty="0">
                <a:latin typeface="Trebuchet MS"/>
                <a:cs typeface="Trebuchet MS"/>
              </a:rPr>
              <a:t>s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f</a:t>
            </a:r>
            <a:r>
              <a:rPr sz="2800" b="1" spc="-250" dirty="0">
                <a:latin typeface="Trebuchet MS"/>
                <a:cs typeface="Trebuchet MS"/>
              </a:rPr>
              <a:t>r</a:t>
            </a:r>
            <a:r>
              <a:rPr sz="2800" b="1" spc="-190" dirty="0">
                <a:latin typeface="Trebuchet MS"/>
                <a:cs typeface="Trebuchet MS"/>
              </a:rPr>
              <a:t>a</a:t>
            </a:r>
            <a:r>
              <a:rPr sz="2800" b="1" spc="-200" dirty="0">
                <a:latin typeface="Trebuchet MS"/>
                <a:cs typeface="Trebuchet MS"/>
              </a:rPr>
              <a:t>c</a:t>
            </a:r>
            <a:r>
              <a:rPr sz="2800" b="1" spc="-95" dirty="0">
                <a:latin typeface="Trebuchet MS"/>
                <a:cs typeface="Trebuchet MS"/>
              </a:rPr>
              <a:t>aso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80" dirty="0">
                <a:latin typeface="Trebuchet MS"/>
                <a:cs typeface="Trebuchet MS"/>
              </a:rPr>
              <a:t>en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55" dirty="0">
                <a:latin typeface="Trebuchet MS"/>
                <a:cs typeface="Trebuchet MS"/>
              </a:rPr>
              <a:t>imp</a:t>
            </a:r>
            <a:r>
              <a:rPr sz="2800" b="1" spc="-95" dirty="0">
                <a:latin typeface="Trebuchet MS"/>
                <a:cs typeface="Trebuchet MS"/>
              </a:rPr>
              <a:t>l</a:t>
            </a:r>
            <a:r>
              <a:rPr sz="2800" b="1" spc="-180" dirty="0">
                <a:latin typeface="Trebuchet MS"/>
                <a:cs typeface="Trebuchet MS"/>
              </a:rPr>
              <a:t>emen</a:t>
            </a:r>
            <a:r>
              <a:rPr sz="2800" b="1" spc="-170" dirty="0">
                <a:latin typeface="Trebuchet MS"/>
                <a:cs typeface="Trebuchet MS"/>
              </a:rPr>
              <a:t>t</a:t>
            </a:r>
            <a:r>
              <a:rPr sz="2800" b="1" spc="-150" dirty="0">
                <a:latin typeface="Trebuchet MS"/>
                <a:cs typeface="Trebuchet MS"/>
              </a:rPr>
              <a:t>ación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170" dirty="0">
                <a:latin typeface="Trebuchet MS"/>
                <a:cs typeface="Trebuchet MS"/>
              </a:rPr>
              <a:t>d</a:t>
            </a:r>
            <a:r>
              <a:rPr sz="2800" b="1" spc="-160" dirty="0">
                <a:latin typeface="Trebuchet MS"/>
                <a:cs typeface="Trebuchet MS"/>
              </a:rPr>
              <a:t>e</a:t>
            </a:r>
            <a:r>
              <a:rPr sz="2800" b="1" dirty="0">
                <a:latin typeface="Trebuchet MS"/>
                <a:cs typeface="Trebuchet MS"/>
              </a:rPr>
              <a:t>	</a:t>
            </a:r>
            <a:r>
              <a:rPr sz="2800" b="1" spc="-5" dirty="0">
                <a:latin typeface="Trebuchet MS"/>
                <a:cs typeface="Trebuchet MS"/>
              </a:rPr>
              <a:t>CRM  </a:t>
            </a:r>
            <a:r>
              <a:rPr sz="2800" b="1" spc="-175" dirty="0">
                <a:latin typeface="Trebuchet MS"/>
                <a:cs typeface="Trebuchet MS"/>
              </a:rPr>
              <a:t>(Cont.)</a:t>
            </a:r>
            <a:endParaRPr sz="2800">
              <a:latin typeface="Trebuchet MS"/>
              <a:cs typeface="Trebuchet MS"/>
            </a:endParaRPr>
          </a:p>
          <a:p>
            <a:pPr marL="527050" indent="-514350">
              <a:lnSpc>
                <a:spcPct val="100000"/>
              </a:lnSpc>
              <a:spcBef>
                <a:spcPts val="10"/>
              </a:spcBef>
              <a:buAutoNum type="arabicPeriod" startAt="5"/>
              <a:tabLst>
                <a:tab pos="527050" algn="l"/>
                <a:tab pos="527685" algn="l"/>
              </a:tabLst>
            </a:pPr>
            <a:r>
              <a:rPr sz="2600" spc="-140" dirty="0">
                <a:latin typeface="Arial"/>
                <a:cs typeface="Arial"/>
              </a:rPr>
              <a:t>No </a:t>
            </a:r>
            <a:r>
              <a:rPr sz="2600" spc="-5" dirty="0">
                <a:latin typeface="Arial"/>
                <a:cs typeface="Arial"/>
              </a:rPr>
              <a:t>“cortejar” </a:t>
            </a:r>
            <a:r>
              <a:rPr sz="2600" spc="-125" dirty="0">
                <a:latin typeface="Arial"/>
                <a:cs typeface="Arial"/>
              </a:rPr>
              <a:t>adecuadamente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14" dirty="0">
                <a:latin typeface="Arial"/>
                <a:cs typeface="Arial"/>
              </a:rPr>
              <a:t>los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clientes.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0"/>
              </a:spcBef>
              <a:buChar char="•"/>
              <a:tabLst>
                <a:tab pos="984250" algn="l"/>
                <a:tab pos="984885" algn="l"/>
                <a:tab pos="1348105" algn="l"/>
                <a:tab pos="2981325" algn="l"/>
                <a:tab pos="3376929" algn="l"/>
                <a:tab pos="3780154" algn="l"/>
                <a:tab pos="4610100" algn="l"/>
                <a:tab pos="5659120" algn="l"/>
                <a:tab pos="6115050" algn="l"/>
                <a:tab pos="6661784" algn="l"/>
                <a:tab pos="7058025" algn="l"/>
                <a:tab pos="8092440" algn="l"/>
                <a:tab pos="8343265" algn="l"/>
              </a:tabLst>
            </a:pPr>
            <a:r>
              <a:rPr sz="2000" spc="-220" dirty="0">
                <a:latin typeface="Arial"/>
                <a:cs typeface="Arial"/>
              </a:rPr>
              <a:t>L</a:t>
            </a:r>
            <a:r>
              <a:rPr sz="2000" spc="-2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45" dirty="0">
                <a:latin typeface="Arial"/>
                <a:cs typeface="Arial"/>
              </a:rPr>
              <a:t>r</a:t>
            </a:r>
            <a:r>
              <a:rPr sz="2000" spc="-120" dirty="0">
                <a:latin typeface="Arial"/>
                <a:cs typeface="Arial"/>
              </a:rPr>
              <a:t>e</a:t>
            </a:r>
            <a:r>
              <a:rPr sz="2000" spc="-80" dirty="0">
                <a:latin typeface="Arial"/>
                <a:cs typeface="Arial"/>
              </a:rPr>
              <a:t>disp</a:t>
            </a:r>
            <a:r>
              <a:rPr sz="2000" spc="-85" dirty="0">
                <a:latin typeface="Arial"/>
                <a:cs typeface="Arial"/>
              </a:rPr>
              <a:t>o</a:t>
            </a:r>
            <a:r>
              <a:rPr sz="2000" spc="-150" dirty="0">
                <a:latin typeface="Arial"/>
                <a:cs typeface="Arial"/>
              </a:rPr>
              <a:t>s</a:t>
            </a:r>
            <a:r>
              <a:rPr sz="2000" spc="-65" dirty="0">
                <a:latin typeface="Arial"/>
                <a:cs typeface="Arial"/>
              </a:rPr>
              <a:t>ición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u</a:t>
            </a:r>
            <a:r>
              <a:rPr sz="2000" spc="-6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l</a:t>
            </a:r>
            <a:r>
              <a:rPr sz="2000" spc="-50" dirty="0">
                <a:latin typeface="Arial"/>
                <a:cs typeface="Arial"/>
              </a:rPr>
              <a:t>ie</a:t>
            </a:r>
            <a:r>
              <a:rPr sz="2000" spc="-80" dirty="0">
                <a:latin typeface="Arial"/>
                <a:cs typeface="Arial"/>
              </a:rPr>
              <a:t>n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2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depend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de</a:t>
            </a:r>
            <a:r>
              <a:rPr sz="2000" spc="-30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114" dirty="0">
                <a:latin typeface="Arial"/>
                <a:cs typeface="Arial"/>
              </a:rPr>
              <a:t>t</a:t>
            </a:r>
            <a:r>
              <a:rPr sz="2000" spc="-35" dirty="0">
                <a:latin typeface="Arial"/>
                <a:cs typeface="Arial"/>
              </a:rPr>
              <a:t>ipo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emp</a:t>
            </a:r>
            <a:r>
              <a:rPr sz="2000" spc="-60" dirty="0">
                <a:latin typeface="Arial"/>
                <a:cs typeface="Arial"/>
              </a:rPr>
              <a:t>r</a:t>
            </a:r>
            <a:r>
              <a:rPr sz="2000" spc="-120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200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  <a:p>
            <a:pPr marL="984250">
              <a:lnSpc>
                <a:spcPct val="100000"/>
              </a:lnSpc>
            </a:pPr>
            <a:r>
              <a:rPr sz="2000" spc="-90" dirty="0">
                <a:latin typeface="Arial"/>
                <a:cs typeface="Arial"/>
              </a:rPr>
              <a:t>relaciones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00" dirty="0">
                <a:latin typeface="Arial"/>
                <a:cs typeface="Arial"/>
              </a:rPr>
              <a:t>organización </a:t>
            </a:r>
            <a:r>
              <a:rPr sz="2000" spc="-105" dirty="0">
                <a:latin typeface="Arial"/>
                <a:cs typeface="Arial"/>
              </a:rPr>
              <a:t>busque </a:t>
            </a:r>
            <a:r>
              <a:rPr sz="2000" spc="-85" dirty="0">
                <a:latin typeface="Arial"/>
                <a:cs typeface="Arial"/>
              </a:rPr>
              <a:t>establecer </a:t>
            </a:r>
            <a:r>
              <a:rPr sz="2000" spc="-105" dirty="0">
                <a:latin typeface="Arial"/>
                <a:cs typeface="Arial"/>
              </a:rPr>
              <a:t>con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él.</a:t>
            </a:r>
            <a:endParaRPr sz="20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000" spc="-110" dirty="0">
                <a:latin typeface="Arial"/>
                <a:cs typeface="Arial"/>
              </a:rPr>
              <a:t>No </a:t>
            </a:r>
            <a:r>
              <a:rPr sz="2000" spc="-120" dirty="0">
                <a:latin typeface="Arial"/>
                <a:cs typeface="Arial"/>
              </a:rPr>
              <a:t>hay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0" dirty="0">
                <a:latin typeface="Arial"/>
                <a:cs typeface="Arial"/>
              </a:rPr>
              <a:t>confundir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80" dirty="0">
                <a:latin typeface="Arial"/>
                <a:cs typeface="Arial"/>
              </a:rPr>
              <a:t>concepto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satisfacción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fidelidad.</a:t>
            </a:r>
            <a:endParaRPr sz="2000">
              <a:latin typeface="Arial"/>
              <a:cs typeface="Arial"/>
            </a:endParaRPr>
          </a:p>
          <a:p>
            <a:pPr marL="984250" marR="5080" lvl="1" indent="-51435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000" spc="-105" dirty="0">
                <a:latin typeface="Arial"/>
                <a:cs typeface="Arial"/>
              </a:rPr>
              <a:t>Muchas organizaciones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75" dirty="0">
                <a:latin typeface="Arial"/>
                <a:cs typeface="Arial"/>
              </a:rPr>
              <a:t>logran </a:t>
            </a:r>
            <a:r>
              <a:rPr sz="2000" spc="-25" dirty="0">
                <a:latin typeface="Arial"/>
                <a:cs typeface="Arial"/>
              </a:rPr>
              <a:t>definir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60" dirty="0">
                <a:latin typeface="Arial"/>
                <a:cs typeface="Arial"/>
              </a:rPr>
              <a:t>exactitud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resultados  </a:t>
            </a:r>
            <a:r>
              <a:rPr sz="2000" spc="-114" dirty="0">
                <a:latin typeface="Arial"/>
                <a:cs typeface="Arial"/>
              </a:rPr>
              <a:t>esperados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80" dirty="0">
                <a:latin typeface="Arial"/>
                <a:cs typeface="Arial"/>
              </a:rPr>
              <a:t>derivarán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105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adopción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90" dirty="0">
                <a:latin typeface="Arial"/>
                <a:cs typeface="Arial"/>
              </a:rPr>
              <a:t>CRM.</a:t>
            </a:r>
            <a:endParaRPr sz="2000">
              <a:latin typeface="Arial"/>
              <a:cs typeface="Arial"/>
            </a:endParaRPr>
          </a:p>
          <a:p>
            <a:pPr marL="984250" marR="6350" lvl="1" indent="-51435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70" dirty="0">
                <a:latin typeface="Arial"/>
                <a:cs typeface="Arial"/>
              </a:rPr>
              <a:t>ejecutivos </a:t>
            </a:r>
            <a:r>
              <a:rPr sz="2000" spc="-85" dirty="0">
                <a:latin typeface="Arial"/>
                <a:cs typeface="Arial"/>
              </a:rPr>
              <a:t>deben </a:t>
            </a:r>
            <a:r>
              <a:rPr sz="2000" spc="-80" dirty="0">
                <a:latin typeface="Arial"/>
                <a:cs typeface="Arial"/>
              </a:rPr>
              <a:t>tomarse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30" dirty="0">
                <a:latin typeface="Arial"/>
                <a:cs typeface="Arial"/>
              </a:rPr>
              <a:t>tiempo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0" dirty="0">
                <a:latin typeface="Arial"/>
                <a:cs typeface="Arial"/>
              </a:rPr>
              <a:t>decidir </a:t>
            </a:r>
            <a:r>
              <a:rPr sz="2000" spc="-85" dirty="0">
                <a:latin typeface="Arial"/>
                <a:cs typeface="Arial"/>
              </a:rPr>
              <a:t>qué </a:t>
            </a:r>
            <a:r>
              <a:rPr sz="2000" spc="-225" dirty="0">
                <a:latin typeface="Arial"/>
                <a:cs typeface="Arial"/>
              </a:rPr>
              <a:t>ROI </a:t>
            </a:r>
            <a:r>
              <a:rPr sz="2000" spc="-110" dirty="0">
                <a:latin typeface="Arial"/>
                <a:cs typeface="Arial"/>
              </a:rPr>
              <a:t>esperan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140" dirty="0">
                <a:latin typeface="Arial"/>
                <a:cs typeface="Arial"/>
              </a:rPr>
              <a:t>cada </a:t>
            </a:r>
            <a:r>
              <a:rPr sz="2000" spc="-70" dirty="0">
                <a:latin typeface="Arial"/>
                <a:cs typeface="Arial"/>
              </a:rPr>
              <a:t>situación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específica.</a:t>
            </a:r>
            <a:endParaRPr sz="2000">
              <a:latin typeface="Arial"/>
              <a:cs typeface="Arial"/>
            </a:endParaRPr>
          </a:p>
          <a:p>
            <a:pPr marL="984250" marR="5715" lvl="1" indent="-51435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225" dirty="0">
                <a:latin typeface="Arial"/>
                <a:cs typeface="Arial"/>
              </a:rPr>
              <a:t>CIO </a:t>
            </a:r>
            <a:r>
              <a:rPr sz="2000" spc="-110" dirty="0">
                <a:latin typeface="Arial"/>
                <a:cs typeface="Arial"/>
              </a:rPr>
              <a:t>está </a:t>
            </a:r>
            <a:r>
              <a:rPr sz="2000" spc="-60" dirty="0">
                <a:latin typeface="Arial"/>
                <a:cs typeface="Arial"/>
              </a:rPr>
              <a:t>medido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preocupaciones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40" dirty="0">
                <a:latin typeface="Arial"/>
                <a:cs typeface="Arial"/>
              </a:rPr>
              <a:t>por  </a:t>
            </a:r>
            <a:r>
              <a:rPr sz="2000" spc="-90" dirty="0">
                <a:latin typeface="Arial"/>
                <a:cs typeface="Arial"/>
              </a:rPr>
              <a:t>los problemas </a:t>
            </a:r>
            <a:r>
              <a:rPr sz="2000" spc="-60" dirty="0">
                <a:latin typeface="Arial"/>
                <a:cs typeface="Arial"/>
              </a:rPr>
              <a:t>del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negocio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43116" y="4876800"/>
            <a:ext cx="2272283" cy="15125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</a:t>
            </a:r>
            <a:r>
              <a:rPr sz="2000" spc="-440" dirty="0"/>
              <a:t>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 </a:t>
            </a:r>
            <a:r>
              <a:rPr sz="2000" spc="-125" dirty="0"/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Puntos </a:t>
            </a:r>
            <a:r>
              <a:rPr sz="1800" b="0" spc="-60" dirty="0">
                <a:latin typeface="Arial"/>
                <a:cs typeface="Arial"/>
              </a:rPr>
              <a:t>críticos </a:t>
            </a:r>
            <a:r>
              <a:rPr sz="1800" b="0" spc="-80" dirty="0">
                <a:latin typeface="Arial"/>
                <a:cs typeface="Arial"/>
              </a:rPr>
              <a:t>para </a:t>
            </a:r>
            <a:r>
              <a:rPr sz="1800" b="0" spc="-130" dirty="0">
                <a:latin typeface="Arial"/>
                <a:cs typeface="Arial"/>
              </a:rPr>
              <a:t>su </a:t>
            </a:r>
            <a:r>
              <a:rPr sz="1800" b="0" spc="-105" dirty="0">
                <a:latin typeface="Arial"/>
                <a:cs typeface="Arial"/>
              </a:rPr>
              <a:t>adecuada </a:t>
            </a:r>
            <a:r>
              <a:rPr sz="1800" b="0" spc="-65" dirty="0">
                <a:latin typeface="Arial"/>
                <a:cs typeface="Arial"/>
              </a:rPr>
              <a:t>gestión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r>
              <a:rPr sz="1800" b="0" spc="-8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4114800" cy="3425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881" y="4568952"/>
            <a:ext cx="8631936" cy="1840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1000" y="1143000"/>
            <a:ext cx="2467355" cy="1847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1238" y="2942844"/>
            <a:ext cx="1661160" cy="1485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34100" y="1200150"/>
            <a:ext cx="2628900" cy="17335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05600" y="2986277"/>
            <a:ext cx="1509522" cy="15095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0" dirty="0"/>
              <a:t>CRM</a:t>
            </a:r>
            <a:r>
              <a:rPr sz="2000" spc="-440" dirty="0"/>
              <a:t> </a:t>
            </a:r>
            <a:r>
              <a:rPr sz="2000" spc="-125" dirty="0"/>
              <a:t>(</a:t>
            </a:r>
            <a:r>
              <a:rPr sz="2000" i="1" spc="-125" dirty="0">
                <a:latin typeface="Trebuchet MS"/>
                <a:cs typeface="Trebuchet MS"/>
              </a:rPr>
              <a:t>Customer </a:t>
            </a:r>
            <a:r>
              <a:rPr sz="2000" i="1" spc="-130" dirty="0">
                <a:latin typeface="Trebuchet MS"/>
                <a:cs typeface="Trebuchet MS"/>
              </a:rPr>
              <a:t>Relationship </a:t>
            </a:r>
            <a:r>
              <a:rPr sz="2000" i="1" spc="-80" dirty="0">
                <a:latin typeface="Trebuchet MS"/>
                <a:cs typeface="Trebuchet MS"/>
              </a:rPr>
              <a:t>Management</a:t>
            </a:r>
            <a:r>
              <a:rPr sz="2000" spc="-80" dirty="0"/>
              <a:t>) </a:t>
            </a:r>
            <a:r>
              <a:rPr sz="2000" spc="-125" dirty="0"/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Puntos </a:t>
            </a:r>
            <a:r>
              <a:rPr sz="1800" b="0" spc="-60" dirty="0">
                <a:latin typeface="Arial"/>
                <a:cs typeface="Arial"/>
              </a:rPr>
              <a:t>críticos </a:t>
            </a:r>
            <a:r>
              <a:rPr sz="1800" b="0" spc="-80" dirty="0">
                <a:latin typeface="Arial"/>
                <a:cs typeface="Arial"/>
              </a:rPr>
              <a:t>para </a:t>
            </a:r>
            <a:r>
              <a:rPr sz="1800" b="0" spc="-130" dirty="0">
                <a:latin typeface="Arial"/>
                <a:cs typeface="Arial"/>
              </a:rPr>
              <a:t>su </a:t>
            </a:r>
            <a:r>
              <a:rPr sz="1800" b="0" spc="-105" dirty="0">
                <a:latin typeface="Arial"/>
                <a:cs typeface="Arial"/>
              </a:rPr>
              <a:t>adecuada </a:t>
            </a:r>
            <a:r>
              <a:rPr sz="1800" b="0" spc="-65" dirty="0">
                <a:latin typeface="Arial"/>
                <a:cs typeface="Arial"/>
              </a:rPr>
              <a:t>gestión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r>
              <a:rPr sz="1800" b="0" spc="-8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704" y="1084325"/>
            <a:ext cx="3782567" cy="5348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0" y="1084325"/>
            <a:ext cx="2286000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02146" y="1084325"/>
            <a:ext cx="2341626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52900" y="2798826"/>
            <a:ext cx="2324100" cy="3604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7000" y="2895600"/>
            <a:ext cx="2366772" cy="1742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77000" y="4716017"/>
            <a:ext cx="2362200" cy="15841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7461" y="1392936"/>
            <a:ext cx="8571738" cy="5007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9400" y="1060449"/>
            <a:ext cx="78701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latin typeface="Trebuchet MS"/>
                <a:cs typeface="Trebuchet MS"/>
              </a:rPr>
              <a:t>Problemas</a:t>
            </a:r>
            <a:r>
              <a:rPr sz="2800" b="1" spc="-225" dirty="0">
                <a:latin typeface="Trebuchet MS"/>
                <a:cs typeface="Trebuchet MS"/>
              </a:rPr>
              <a:t> 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135" dirty="0">
                <a:latin typeface="Trebuchet MS"/>
                <a:cs typeface="Trebuchet MS"/>
              </a:rPr>
              <a:t>riesgos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145" dirty="0">
                <a:latin typeface="Trebuchet MS"/>
                <a:cs typeface="Trebuchet MS"/>
              </a:rPr>
              <a:t>vinculados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b="1" spc="-110" dirty="0">
                <a:latin typeface="Trebuchet MS"/>
                <a:cs typeface="Trebuchet MS"/>
              </a:rPr>
              <a:t>a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b="1" spc="-125" dirty="0">
                <a:latin typeface="Trebuchet MS"/>
                <a:cs typeface="Trebuchet MS"/>
              </a:rPr>
              <a:t>la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135" dirty="0">
                <a:latin typeface="Trebuchet MS"/>
                <a:cs typeface="Trebuchet MS"/>
              </a:rPr>
              <a:t>adopción</a:t>
            </a:r>
            <a:r>
              <a:rPr sz="2800" b="1" spc="-229" dirty="0">
                <a:latin typeface="Trebuchet MS"/>
                <a:cs typeface="Trebuchet MS"/>
              </a:rPr>
              <a:t> </a:t>
            </a:r>
            <a:r>
              <a:rPr sz="2800" b="1" spc="-165" dirty="0">
                <a:latin typeface="Trebuchet MS"/>
                <a:cs typeface="Trebuchet MS"/>
              </a:rPr>
              <a:t>de</a:t>
            </a:r>
            <a:r>
              <a:rPr sz="2800" b="1" spc="-225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504" y="1605533"/>
            <a:ext cx="8769096" cy="48714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9400" y="1060449"/>
            <a:ext cx="84118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85" dirty="0">
                <a:latin typeface="Trebuchet MS"/>
                <a:cs typeface="Trebuchet MS"/>
              </a:rPr>
              <a:t>Errores </a:t>
            </a:r>
            <a:r>
              <a:rPr sz="2800" b="1" spc="-114" dirty="0">
                <a:latin typeface="Trebuchet MS"/>
                <a:cs typeface="Trebuchet MS"/>
              </a:rPr>
              <a:t>más </a:t>
            </a:r>
            <a:r>
              <a:rPr sz="2800" b="1" spc="-190" dirty="0">
                <a:latin typeface="Trebuchet MS"/>
                <a:cs typeface="Trebuchet MS"/>
              </a:rPr>
              <a:t>frecuentes </a:t>
            </a:r>
            <a:r>
              <a:rPr sz="2800" b="1" spc="-145" dirty="0">
                <a:latin typeface="Trebuchet MS"/>
                <a:cs typeface="Trebuchet MS"/>
              </a:rPr>
              <a:t>derivados </a:t>
            </a:r>
            <a:r>
              <a:rPr sz="2800" b="1" spc="-165" dirty="0">
                <a:latin typeface="Trebuchet MS"/>
                <a:cs typeface="Trebuchet MS"/>
              </a:rPr>
              <a:t>de </a:t>
            </a:r>
            <a:r>
              <a:rPr sz="2800" b="1" spc="-125" dirty="0">
                <a:latin typeface="Trebuchet MS"/>
                <a:cs typeface="Trebuchet MS"/>
              </a:rPr>
              <a:t>la </a:t>
            </a:r>
            <a:r>
              <a:rPr sz="2800" b="1" spc="-135" dirty="0">
                <a:latin typeface="Trebuchet MS"/>
                <a:cs typeface="Trebuchet MS"/>
              </a:rPr>
              <a:t>adopción </a:t>
            </a:r>
            <a:r>
              <a:rPr sz="2800" b="1" spc="-165" dirty="0">
                <a:latin typeface="Trebuchet MS"/>
                <a:cs typeface="Trebuchet MS"/>
              </a:rPr>
              <a:t>de</a:t>
            </a:r>
            <a:r>
              <a:rPr sz="2800" b="1" spc="-6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60449"/>
            <a:ext cx="88760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15" dirty="0">
                <a:latin typeface="Trebuchet MS"/>
                <a:cs typeface="Trebuchet MS"/>
              </a:rPr>
              <a:t>Tasa </a:t>
            </a:r>
            <a:r>
              <a:rPr sz="2800" b="1" spc="-165" dirty="0">
                <a:latin typeface="Trebuchet MS"/>
                <a:cs typeface="Trebuchet MS"/>
              </a:rPr>
              <a:t>de </a:t>
            </a:r>
            <a:r>
              <a:rPr sz="2800" b="1" spc="-135" dirty="0">
                <a:latin typeface="Trebuchet MS"/>
                <a:cs typeface="Trebuchet MS"/>
              </a:rPr>
              <a:t>adopción </a:t>
            </a:r>
            <a:r>
              <a:rPr sz="2800" b="1" spc="-165" dirty="0">
                <a:latin typeface="Trebuchet MS"/>
                <a:cs typeface="Trebuchet MS"/>
              </a:rPr>
              <a:t>de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r>
              <a:rPr sz="2800" b="1" spc="-605" dirty="0">
                <a:latin typeface="Trebuchet MS"/>
                <a:cs typeface="Trebuchet MS"/>
              </a:rPr>
              <a:t> </a:t>
            </a:r>
            <a:r>
              <a:rPr sz="2800" b="1" spc="-175" dirty="0">
                <a:latin typeface="Trebuchet MS"/>
                <a:cs typeface="Trebuchet MS"/>
              </a:rPr>
              <a:t>en el </a:t>
            </a:r>
            <a:r>
              <a:rPr sz="2800" b="1" spc="-165" dirty="0">
                <a:latin typeface="Trebuchet MS"/>
                <a:cs typeface="Trebuchet MS"/>
              </a:rPr>
              <a:t>sector </a:t>
            </a:r>
            <a:r>
              <a:rPr sz="2800" b="1" spc="-155" dirty="0">
                <a:latin typeface="Trebuchet MS"/>
                <a:cs typeface="Trebuchet MS"/>
              </a:rPr>
              <a:t>corporativo </a:t>
            </a:r>
            <a:r>
              <a:rPr sz="2800" b="1" spc="-150" dirty="0">
                <a:latin typeface="Trebuchet MS"/>
                <a:cs typeface="Trebuchet MS"/>
              </a:rPr>
              <a:t>argentino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8234" y="1591817"/>
            <a:ext cx="8414766" cy="4808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5233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840" y="1060449"/>
            <a:ext cx="85032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15" dirty="0">
                <a:latin typeface="Trebuchet MS"/>
                <a:cs typeface="Trebuchet MS"/>
              </a:rPr>
              <a:t>Tasa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65" dirty="0">
                <a:latin typeface="Trebuchet MS"/>
                <a:cs typeface="Trebuchet MS"/>
              </a:rPr>
              <a:t>de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85" dirty="0">
                <a:latin typeface="Trebuchet MS"/>
                <a:cs typeface="Trebuchet MS"/>
              </a:rPr>
              <a:t>éxito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110" dirty="0">
                <a:latin typeface="Trebuchet MS"/>
                <a:cs typeface="Trebuchet MS"/>
              </a:rPr>
              <a:t>/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55" dirty="0">
                <a:latin typeface="Trebuchet MS"/>
                <a:cs typeface="Trebuchet MS"/>
              </a:rPr>
              <a:t>fracaso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60" dirty="0">
                <a:latin typeface="Trebuchet MS"/>
                <a:cs typeface="Trebuchet MS"/>
              </a:rPr>
              <a:t>de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165" dirty="0">
                <a:latin typeface="Trebuchet MS"/>
                <a:cs typeface="Trebuchet MS"/>
              </a:rPr>
              <a:t>proyectos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65" dirty="0">
                <a:latin typeface="Trebuchet MS"/>
                <a:cs typeface="Trebuchet MS"/>
              </a:rPr>
              <a:t>de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180" dirty="0">
                <a:latin typeface="Trebuchet MS"/>
                <a:cs typeface="Trebuchet MS"/>
              </a:rPr>
              <a:t>en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b="1" spc="-150" dirty="0">
                <a:latin typeface="Trebuchet MS"/>
                <a:cs typeface="Trebuchet MS"/>
              </a:rPr>
              <a:t>Argentina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1744979"/>
            <a:ext cx="8148066" cy="4732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950" cy="373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60" dirty="0">
                <a:latin typeface="Trebuchet MS"/>
                <a:cs typeface="Trebuchet MS"/>
              </a:rPr>
              <a:t>Recomendaciones </a:t>
            </a:r>
            <a:r>
              <a:rPr sz="2800" b="1" spc="-150" dirty="0">
                <a:latin typeface="Trebuchet MS"/>
                <a:cs typeface="Trebuchet MS"/>
              </a:rPr>
              <a:t>para </a:t>
            </a:r>
            <a:r>
              <a:rPr sz="2800" b="1" spc="-160" dirty="0">
                <a:latin typeface="Trebuchet MS"/>
                <a:cs typeface="Trebuchet MS"/>
              </a:rPr>
              <a:t>implementar </a:t>
            </a:r>
            <a:r>
              <a:rPr sz="2800" b="1" spc="-165" dirty="0">
                <a:latin typeface="Trebuchet MS"/>
                <a:cs typeface="Trebuchet MS"/>
              </a:rPr>
              <a:t>exitosamente</a:t>
            </a:r>
            <a:r>
              <a:rPr sz="2800" b="1" spc="-42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endParaRPr sz="2800">
              <a:latin typeface="Trebuchet MS"/>
              <a:cs typeface="Trebuchet MS"/>
            </a:endParaRPr>
          </a:p>
          <a:p>
            <a:pPr marL="527050" marR="5080" indent="-514350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527050" algn="l"/>
                <a:tab pos="527685" algn="l"/>
                <a:tab pos="1478915" algn="l"/>
                <a:tab pos="2208530" algn="l"/>
                <a:tab pos="3374390" algn="l"/>
                <a:tab pos="5525770" algn="l"/>
                <a:tab pos="6812280" algn="l"/>
                <a:tab pos="7195184" algn="l"/>
                <a:tab pos="7654925" algn="l"/>
              </a:tabLst>
            </a:pPr>
            <a:r>
              <a:rPr sz="2600" spc="-315" dirty="0">
                <a:latin typeface="Arial"/>
                <a:cs typeface="Arial"/>
              </a:rPr>
              <a:t>C</a:t>
            </a:r>
            <a:r>
              <a:rPr sz="2600" spc="-175" dirty="0">
                <a:latin typeface="Arial"/>
                <a:cs typeface="Arial"/>
              </a:rPr>
              <a:t>r</a:t>
            </a:r>
            <a:r>
              <a:rPr sz="2600" spc="-105" dirty="0">
                <a:latin typeface="Arial"/>
                <a:cs typeface="Arial"/>
              </a:rPr>
              <a:t>ear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30" dirty="0">
                <a:latin typeface="Arial"/>
                <a:cs typeface="Arial"/>
              </a:rPr>
              <a:t>un</a:t>
            </a:r>
            <a:r>
              <a:rPr sz="2600" spc="-12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40" dirty="0">
                <a:latin typeface="Arial"/>
                <a:cs typeface="Arial"/>
              </a:rPr>
              <a:t>cult</a:t>
            </a:r>
            <a:r>
              <a:rPr sz="2600" spc="-50" dirty="0">
                <a:latin typeface="Arial"/>
                <a:cs typeface="Arial"/>
              </a:rPr>
              <a:t>u</a:t>
            </a:r>
            <a:r>
              <a:rPr sz="2600" spc="-15" dirty="0">
                <a:latin typeface="Arial"/>
                <a:cs typeface="Arial"/>
              </a:rPr>
              <a:t>r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0" dirty="0">
                <a:latin typeface="Arial"/>
                <a:cs typeface="Arial"/>
              </a:rPr>
              <a:t>o</a:t>
            </a:r>
            <a:r>
              <a:rPr sz="2600" spc="-45" dirty="0">
                <a:latin typeface="Arial"/>
                <a:cs typeface="Arial"/>
              </a:rPr>
              <a:t>r</a:t>
            </a:r>
            <a:r>
              <a:rPr sz="2600" spc="-270" dirty="0">
                <a:latin typeface="Arial"/>
                <a:cs typeface="Arial"/>
              </a:rPr>
              <a:t>g</a:t>
            </a:r>
            <a:r>
              <a:rPr sz="2600" spc="-135" dirty="0">
                <a:latin typeface="Arial"/>
                <a:cs typeface="Arial"/>
              </a:rPr>
              <a:t>ani</a:t>
            </a:r>
            <a:r>
              <a:rPr sz="2600" spc="-190" dirty="0">
                <a:latin typeface="Arial"/>
                <a:cs typeface="Arial"/>
              </a:rPr>
              <a:t>z</a:t>
            </a:r>
            <a:r>
              <a:rPr sz="2600" spc="-110" dirty="0">
                <a:latin typeface="Arial"/>
                <a:cs typeface="Arial"/>
              </a:rPr>
              <a:t>aci</a:t>
            </a:r>
            <a:r>
              <a:rPr sz="2600" spc="-130" dirty="0">
                <a:latin typeface="Arial"/>
                <a:cs typeface="Arial"/>
              </a:rPr>
              <a:t>o</a:t>
            </a:r>
            <a:r>
              <a:rPr sz="2600" spc="-114" dirty="0">
                <a:latin typeface="Arial"/>
                <a:cs typeface="Arial"/>
              </a:rPr>
              <a:t>na</a:t>
            </a:r>
            <a:r>
              <a:rPr sz="2600" spc="-45" dirty="0">
                <a:latin typeface="Arial"/>
                <a:cs typeface="Arial"/>
              </a:rPr>
              <a:t>l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-60" dirty="0">
                <a:latin typeface="Arial"/>
                <a:cs typeface="Arial"/>
              </a:rPr>
              <a:t>r</a:t>
            </a:r>
            <a:r>
              <a:rPr sz="2600" spc="-155" dirty="0">
                <a:latin typeface="Arial"/>
                <a:cs typeface="Arial"/>
              </a:rPr>
              <a:t>o</a:t>
            </a:r>
            <a:r>
              <a:rPr sz="2600" spc="-130" dirty="0">
                <a:latin typeface="Arial"/>
                <a:cs typeface="Arial"/>
              </a:rPr>
              <a:t>c</a:t>
            </a:r>
            <a:r>
              <a:rPr sz="2600" spc="-25" dirty="0">
                <a:latin typeface="Arial"/>
                <a:cs typeface="Arial"/>
              </a:rPr>
              <a:t>li</a:t>
            </a:r>
            <a:r>
              <a:rPr sz="2600" spc="-70" dirty="0">
                <a:latin typeface="Arial"/>
                <a:cs typeface="Arial"/>
              </a:rPr>
              <a:t>v</a:t>
            </a:r>
            <a:r>
              <a:rPr sz="2600" spc="-15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mejo</a:t>
            </a:r>
            <a:r>
              <a:rPr sz="2600" spc="-80" dirty="0">
                <a:latin typeface="Arial"/>
                <a:cs typeface="Arial"/>
              </a:rPr>
              <a:t>r</a:t>
            </a:r>
            <a:r>
              <a:rPr sz="2600" spc="-135" dirty="0">
                <a:latin typeface="Arial"/>
                <a:cs typeface="Arial"/>
              </a:rPr>
              <a:t>a  </a:t>
            </a:r>
            <a:r>
              <a:rPr sz="2600" spc="-75" dirty="0">
                <a:latin typeface="Arial"/>
                <a:cs typeface="Arial"/>
              </a:rPr>
              <a:t>continua;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spc="-190" dirty="0">
                <a:latin typeface="Arial"/>
                <a:cs typeface="Arial"/>
              </a:rPr>
              <a:t>Pensar </a:t>
            </a:r>
            <a:r>
              <a:rPr sz="2600" spc="-130" dirty="0">
                <a:latin typeface="Arial"/>
                <a:cs typeface="Arial"/>
              </a:rPr>
              <a:t>antes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actuar;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spc="-160" dirty="0">
                <a:latin typeface="Arial"/>
                <a:cs typeface="Arial"/>
              </a:rPr>
              <a:t>Nunca </a:t>
            </a:r>
            <a:r>
              <a:rPr sz="2600" spc="-65" dirty="0">
                <a:latin typeface="Arial"/>
                <a:cs typeface="Arial"/>
              </a:rPr>
              <a:t>olvidar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55" dirty="0">
                <a:latin typeface="Arial"/>
                <a:cs typeface="Arial"/>
              </a:rPr>
              <a:t>sponsors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proyecto;</a:t>
            </a:r>
            <a:endParaRPr sz="2600">
              <a:latin typeface="Arial"/>
              <a:cs typeface="Arial"/>
            </a:endParaRPr>
          </a:p>
          <a:p>
            <a:pPr marL="527050" marR="63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spc="-145" dirty="0">
                <a:latin typeface="Arial"/>
                <a:cs typeface="Arial"/>
              </a:rPr>
              <a:t>Seleccionar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85" dirty="0">
                <a:latin typeface="Arial"/>
                <a:cs typeface="Arial"/>
              </a:rPr>
              <a:t>proveedor </a:t>
            </a:r>
            <a:r>
              <a:rPr sz="2600" spc="-135" dirty="0">
                <a:latin typeface="Arial"/>
                <a:cs typeface="Arial"/>
              </a:rPr>
              <a:t>adecuado </a:t>
            </a:r>
            <a:r>
              <a:rPr sz="2600" spc="-125" dirty="0">
                <a:latin typeface="Arial"/>
                <a:cs typeface="Arial"/>
              </a:rPr>
              <a:t>para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60" dirty="0">
                <a:latin typeface="Arial"/>
                <a:cs typeface="Arial"/>
              </a:rPr>
              <a:t>brinde </a:t>
            </a:r>
            <a:r>
              <a:rPr sz="2600" spc="-80" dirty="0">
                <a:latin typeface="Arial"/>
                <a:cs typeface="Arial"/>
              </a:rPr>
              <a:t>soporte 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30" dirty="0">
                <a:latin typeface="Arial"/>
                <a:cs typeface="Arial"/>
              </a:rPr>
              <a:t>proceso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0" dirty="0">
                <a:latin typeface="Arial"/>
                <a:cs typeface="Arial"/>
              </a:rPr>
              <a:t>implementación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(técnica);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3902455"/>
            <a:ext cx="29648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  <a:tab pos="2223770" algn="l"/>
              </a:tabLst>
            </a:pPr>
            <a:r>
              <a:rPr sz="2600" spc="-140" dirty="0">
                <a:latin typeface="Arial"/>
                <a:cs typeface="Arial"/>
              </a:rPr>
              <a:t>5</a:t>
            </a:r>
            <a:r>
              <a:rPr sz="2600" spc="-70" dirty="0">
                <a:latin typeface="Arial"/>
                <a:cs typeface="Arial"/>
              </a:rPr>
              <a:t>.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5" dirty="0">
                <a:latin typeface="Arial"/>
                <a:cs typeface="Arial"/>
              </a:rPr>
              <a:t>Desar</a:t>
            </a:r>
            <a:r>
              <a:rPr sz="2600" spc="-135" dirty="0">
                <a:latin typeface="Arial"/>
                <a:cs typeface="Arial"/>
              </a:rPr>
              <a:t>r</a:t>
            </a:r>
            <a:r>
              <a:rPr sz="2600" spc="-25" dirty="0">
                <a:latin typeface="Arial"/>
                <a:cs typeface="Arial"/>
              </a:rPr>
              <a:t>ol</a:t>
            </a:r>
            <a:r>
              <a:rPr sz="2600" spc="-5" dirty="0">
                <a:latin typeface="Arial"/>
                <a:cs typeface="Arial"/>
              </a:rPr>
              <a:t>l</a:t>
            </a:r>
            <a:r>
              <a:rPr sz="2600" spc="-85" dirty="0">
                <a:latin typeface="Arial"/>
                <a:cs typeface="Arial"/>
              </a:rPr>
              <a:t>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25" dirty="0">
                <a:latin typeface="Arial"/>
                <a:cs typeface="Arial"/>
              </a:rPr>
              <a:t>c</a:t>
            </a:r>
            <a:r>
              <a:rPr sz="2600" spc="-215" dirty="0">
                <a:latin typeface="Arial"/>
                <a:cs typeface="Arial"/>
              </a:rPr>
              <a:t>asos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2678" y="3902455"/>
            <a:ext cx="54629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4515" algn="l"/>
                <a:tab pos="1834514" algn="l"/>
                <a:tab pos="2559050" algn="l"/>
                <a:tab pos="4005579" algn="l"/>
                <a:tab pos="5210175" algn="l"/>
              </a:tabLst>
            </a:pPr>
            <a:r>
              <a:rPr sz="2600" spc="-120" dirty="0">
                <a:latin typeface="Arial"/>
                <a:cs typeface="Arial"/>
              </a:rPr>
              <a:t>de	</a:t>
            </a:r>
            <a:r>
              <a:rPr sz="2600" spc="-125" dirty="0">
                <a:latin typeface="Arial"/>
                <a:cs typeface="Arial"/>
              </a:rPr>
              <a:t>n</a:t>
            </a:r>
            <a:r>
              <a:rPr sz="2600" spc="-135" dirty="0">
                <a:latin typeface="Arial"/>
                <a:cs typeface="Arial"/>
              </a:rPr>
              <a:t>e</a:t>
            </a:r>
            <a:r>
              <a:rPr sz="2600" spc="-245" dirty="0">
                <a:latin typeface="Arial"/>
                <a:cs typeface="Arial"/>
              </a:rPr>
              <a:t>g</a:t>
            </a:r>
            <a:r>
              <a:rPr sz="2600" spc="-155" dirty="0">
                <a:latin typeface="Arial"/>
                <a:cs typeface="Arial"/>
              </a:rPr>
              <a:t>o</a:t>
            </a:r>
            <a:r>
              <a:rPr sz="2600" spc="-130" dirty="0">
                <a:latin typeface="Arial"/>
                <a:cs typeface="Arial"/>
              </a:rPr>
              <a:t>c</a:t>
            </a:r>
            <a:r>
              <a:rPr sz="2600" spc="-30" dirty="0">
                <a:latin typeface="Arial"/>
                <a:cs typeface="Arial"/>
              </a:rPr>
              <a:t>io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qu</a:t>
            </a:r>
            <a:r>
              <a:rPr sz="2600" spc="-1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0" dirty="0">
                <a:latin typeface="Arial"/>
                <a:cs typeface="Arial"/>
              </a:rPr>
              <a:t>permi</a:t>
            </a:r>
            <a:r>
              <a:rPr sz="2600" spc="-45" dirty="0">
                <a:latin typeface="Arial"/>
                <a:cs typeface="Arial"/>
              </a:rPr>
              <a:t>t</a:t>
            </a:r>
            <a:r>
              <a:rPr sz="2600" spc="-145" dirty="0">
                <a:latin typeface="Arial"/>
                <a:cs typeface="Arial"/>
              </a:rPr>
              <a:t>an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70" dirty="0">
                <a:latin typeface="Arial"/>
                <a:cs typeface="Arial"/>
              </a:rPr>
              <a:t>e</a:t>
            </a:r>
            <a:r>
              <a:rPr sz="2600" spc="-165" dirty="0">
                <a:latin typeface="Arial"/>
                <a:cs typeface="Arial"/>
              </a:rPr>
              <a:t>v</a:t>
            </a:r>
            <a:r>
              <a:rPr sz="2600" spc="-80" dirty="0">
                <a:latin typeface="Arial"/>
                <a:cs typeface="Arial"/>
              </a:rPr>
              <a:t>al</a:t>
            </a:r>
            <a:r>
              <a:rPr sz="2600" spc="-105" dirty="0">
                <a:latin typeface="Arial"/>
                <a:cs typeface="Arial"/>
              </a:rPr>
              <a:t>u</a:t>
            </a:r>
            <a:r>
              <a:rPr sz="2600" spc="-85" dirty="0">
                <a:latin typeface="Arial"/>
                <a:cs typeface="Arial"/>
              </a:rPr>
              <a:t>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75" dirty="0">
                <a:latin typeface="Arial"/>
                <a:cs typeface="Arial"/>
              </a:rPr>
              <a:t>el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4298696"/>
            <a:ext cx="8615680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95"/>
              </a:spcBef>
            </a:pPr>
            <a:r>
              <a:rPr sz="2600" spc="-75" dirty="0">
                <a:latin typeface="Arial"/>
                <a:cs typeface="Arial"/>
              </a:rPr>
              <a:t>impacto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21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iniciativa;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AutoNum type="arabicPeriod" startAt="6"/>
              <a:tabLst>
                <a:tab pos="527050" algn="l"/>
                <a:tab pos="527685" algn="l"/>
              </a:tabLst>
            </a:pPr>
            <a:r>
              <a:rPr sz="2600" spc="-140" dirty="0">
                <a:latin typeface="Arial"/>
                <a:cs typeface="Arial"/>
              </a:rPr>
              <a:t>Capacitar </a:t>
            </a:r>
            <a:r>
              <a:rPr sz="2600" spc="-125" dirty="0">
                <a:latin typeface="Arial"/>
                <a:cs typeface="Arial"/>
              </a:rPr>
              <a:t>adecuadamente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114" dirty="0">
                <a:latin typeface="Arial"/>
                <a:cs typeface="Arial"/>
              </a:rPr>
              <a:t>personal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involucrado;</a:t>
            </a:r>
            <a:endParaRPr sz="2600">
              <a:latin typeface="Arial"/>
              <a:cs typeface="Arial"/>
            </a:endParaRPr>
          </a:p>
          <a:p>
            <a:pPr marL="527050" marR="5080" indent="-514350">
              <a:lnSpc>
                <a:spcPct val="100000"/>
              </a:lnSpc>
              <a:buAutoNum type="arabicPeriod" startAt="6"/>
              <a:tabLst>
                <a:tab pos="527050" algn="l"/>
                <a:tab pos="527685" algn="l"/>
              </a:tabLst>
            </a:pPr>
            <a:r>
              <a:rPr sz="2600" spc="-185" dirty="0">
                <a:latin typeface="Arial"/>
                <a:cs typeface="Arial"/>
              </a:rPr>
              <a:t>Tener </a:t>
            </a:r>
            <a:r>
              <a:rPr sz="2600" spc="-80" dirty="0">
                <a:latin typeface="Arial"/>
                <a:cs typeface="Arial"/>
              </a:rPr>
              <a:t>bien </a:t>
            </a:r>
            <a:r>
              <a:rPr sz="2600" spc="-120" dirty="0">
                <a:latin typeface="Arial"/>
                <a:cs typeface="Arial"/>
              </a:rPr>
              <a:t>clara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00" dirty="0">
                <a:latin typeface="Arial"/>
                <a:cs typeface="Arial"/>
              </a:rPr>
              <a:t>estrategia </a:t>
            </a:r>
            <a:r>
              <a:rPr sz="2600" spc="-105" dirty="0">
                <a:latin typeface="Arial"/>
                <a:cs typeface="Arial"/>
              </a:rPr>
              <a:t>desarrollada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65" dirty="0">
                <a:latin typeface="Arial"/>
                <a:cs typeface="Arial"/>
              </a:rPr>
              <a:t>implementar 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40" dirty="0">
                <a:latin typeface="Arial"/>
                <a:cs typeface="Arial"/>
              </a:rPr>
              <a:t>nueva </a:t>
            </a:r>
            <a:r>
              <a:rPr sz="2600" spc="-95" dirty="0">
                <a:latin typeface="Arial"/>
                <a:cs typeface="Arial"/>
              </a:rPr>
              <a:t>metodología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trabajo.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838315" cy="3675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CRM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20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Ejemplos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aplicación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65" dirty="0">
                <a:latin typeface="Trebuchet MS"/>
                <a:cs typeface="Trebuchet MS"/>
              </a:rPr>
              <a:t>Ejemplos de </a:t>
            </a:r>
            <a:r>
              <a:rPr sz="2800" b="1" spc="-155" dirty="0">
                <a:latin typeface="Trebuchet MS"/>
                <a:cs typeface="Trebuchet MS"/>
              </a:rPr>
              <a:t>aplicación </a:t>
            </a:r>
            <a:r>
              <a:rPr sz="2800" b="1" spc="-165" dirty="0">
                <a:latin typeface="Trebuchet MS"/>
                <a:cs typeface="Trebuchet MS"/>
              </a:rPr>
              <a:t>de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CRM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spc="-305" dirty="0">
                <a:latin typeface="Arial"/>
                <a:cs typeface="Arial"/>
              </a:rPr>
              <a:t>CRM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40" dirty="0">
                <a:latin typeface="Arial"/>
                <a:cs typeface="Arial"/>
              </a:rPr>
              <a:t>retail: </a:t>
            </a:r>
            <a:r>
              <a:rPr sz="2600" spc="-270" dirty="0">
                <a:latin typeface="Arial"/>
                <a:cs typeface="Arial"/>
              </a:rPr>
              <a:t>Caso </a:t>
            </a:r>
            <a:r>
              <a:rPr sz="2600" spc="-105" dirty="0">
                <a:latin typeface="Arial"/>
                <a:cs typeface="Arial"/>
              </a:rPr>
              <a:t>Harry</a:t>
            </a:r>
            <a:r>
              <a:rPr sz="2600" spc="-295" dirty="0">
                <a:latin typeface="Arial"/>
                <a:cs typeface="Arial"/>
              </a:rPr>
              <a:t> </a:t>
            </a:r>
            <a:r>
              <a:rPr sz="2600" spc="-229" dirty="0">
                <a:latin typeface="Arial"/>
                <a:cs typeface="Arial"/>
              </a:rPr>
              <a:t>Rosen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000" b="1" i="1" spc="-150" dirty="0">
                <a:latin typeface="Trebuchet MS"/>
                <a:cs typeface="Trebuchet MS"/>
              </a:rPr>
              <a:t>Video:</a:t>
            </a:r>
            <a:r>
              <a:rPr sz="2000" b="1" i="1" spc="-125" dirty="0">
                <a:solidFill>
                  <a:srgbClr val="8E248D"/>
                </a:solidFill>
                <a:latin typeface="Trebuchet MS"/>
                <a:cs typeface="Trebuchet MS"/>
              </a:rPr>
              <a:t> </a:t>
            </a:r>
            <a:r>
              <a:rPr sz="2000" u="heavy" spc="-6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https://www.youtube.com/watch?v=r5dtF0xde-Y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spc="-305" dirty="0">
                <a:latin typeface="Arial"/>
                <a:cs typeface="Arial"/>
              </a:rPr>
              <a:t>CRM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90" dirty="0">
                <a:latin typeface="Arial"/>
                <a:cs typeface="Arial"/>
              </a:rPr>
              <a:t>PyME: </a:t>
            </a:r>
            <a:r>
              <a:rPr sz="2600" spc="-270" dirty="0">
                <a:latin typeface="Arial"/>
                <a:cs typeface="Arial"/>
              </a:rPr>
              <a:t>Caso</a:t>
            </a:r>
            <a:r>
              <a:rPr sz="2600" spc="-37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Papelmatic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000" b="1" i="1" spc="-120" dirty="0">
                <a:latin typeface="Trebuchet MS"/>
                <a:cs typeface="Trebuchet MS"/>
              </a:rPr>
              <a:t>Video</a:t>
            </a:r>
            <a:r>
              <a:rPr sz="2000" spc="-120" dirty="0">
                <a:latin typeface="Arial"/>
                <a:cs typeface="Arial"/>
              </a:rPr>
              <a:t>:</a:t>
            </a:r>
            <a:r>
              <a:rPr sz="2000" spc="-130" dirty="0">
                <a:solidFill>
                  <a:srgbClr val="8E248D"/>
                </a:solidFill>
                <a:latin typeface="Arial"/>
                <a:cs typeface="Arial"/>
              </a:rPr>
              <a:t> </a:t>
            </a:r>
            <a:r>
              <a:rPr sz="2000" u="heavy" spc="-6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https://www.youtube.com/watch?v=Tpu-tl7uzFM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32626" y="1512569"/>
            <a:ext cx="2306574" cy="697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9800" y="4043171"/>
            <a:ext cx="2819400" cy="6507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79B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3445" y="523494"/>
            <a:ext cx="279400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600" spc="-120" dirty="0">
                <a:solidFill>
                  <a:srgbClr val="00338D"/>
                </a:solidFill>
              </a:rPr>
              <a:t>Sistemas </a:t>
            </a:r>
            <a:r>
              <a:rPr sz="2600" spc="-155" dirty="0">
                <a:solidFill>
                  <a:srgbClr val="00338D"/>
                </a:solidFill>
              </a:rPr>
              <a:t>de</a:t>
            </a:r>
            <a:r>
              <a:rPr sz="2600" spc="-325" dirty="0">
                <a:solidFill>
                  <a:srgbClr val="00338D"/>
                </a:solidFill>
              </a:rPr>
              <a:t> </a:t>
            </a:r>
            <a:r>
              <a:rPr sz="2600" spc="-125" dirty="0">
                <a:solidFill>
                  <a:srgbClr val="00338D"/>
                </a:solidFill>
              </a:rPr>
              <a:t>soporte  </a:t>
            </a:r>
            <a:r>
              <a:rPr sz="2600" spc="-130" dirty="0">
                <a:solidFill>
                  <a:srgbClr val="00338D"/>
                </a:solidFill>
              </a:rPr>
              <a:t>para </a:t>
            </a:r>
            <a:r>
              <a:rPr sz="2600" spc="-120" dirty="0">
                <a:solidFill>
                  <a:srgbClr val="00338D"/>
                </a:solidFill>
              </a:rPr>
              <a:t>la </a:t>
            </a:r>
            <a:r>
              <a:rPr sz="2600" spc="-110" dirty="0">
                <a:solidFill>
                  <a:srgbClr val="00338D"/>
                </a:solidFill>
              </a:rPr>
              <a:t>toma </a:t>
            </a:r>
            <a:r>
              <a:rPr sz="2600" spc="-155" dirty="0">
                <a:solidFill>
                  <a:srgbClr val="00338D"/>
                </a:solidFill>
              </a:rPr>
              <a:t>de  </a:t>
            </a:r>
            <a:r>
              <a:rPr sz="2600" spc="-145" dirty="0">
                <a:solidFill>
                  <a:srgbClr val="00338D"/>
                </a:solidFill>
              </a:rPr>
              <a:t>decisiones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051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440" dirty="0"/>
              <a:t>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95" dirty="0"/>
              <a:t>Sistemas </a:t>
            </a:r>
            <a:r>
              <a:rPr sz="2000" spc="-120" dirty="0"/>
              <a:t>de </a:t>
            </a:r>
            <a:r>
              <a:rPr sz="2000" spc="-95" dirty="0"/>
              <a:t>soporte </a:t>
            </a:r>
            <a:r>
              <a:rPr sz="2000" spc="-100" dirty="0"/>
              <a:t>para </a:t>
            </a:r>
            <a:r>
              <a:rPr sz="2000" spc="-90" dirty="0"/>
              <a:t>la toma </a:t>
            </a:r>
            <a:r>
              <a:rPr sz="2000" spc="-120" dirty="0"/>
              <a:t>de </a:t>
            </a:r>
            <a:r>
              <a:rPr sz="2000" spc="-114" dirty="0"/>
              <a:t>decisiones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45" dirty="0">
                <a:latin typeface="Arial"/>
                <a:cs typeface="Arial"/>
              </a:rPr>
              <a:t>información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65" dirty="0">
                <a:latin typeface="Arial"/>
                <a:cs typeface="Arial"/>
              </a:rPr>
              <a:t>la</a:t>
            </a:r>
            <a:r>
              <a:rPr sz="1800" b="0" spc="-10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organización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61944" y="1504950"/>
            <a:ext cx="2039112" cy="1762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84676" y="2067051"/>
            <a:ext cx="993775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latin typeface="Trebuchet MS"/>
                <a:cs typeface="Trebuchet MS"/>
              </a:rPr>
              <a:t>Admin.</a:t>
            </a:r>
            <a:endParaRPr sz="1600">
              <a:latin typeface="Trebuchet MS"/>
              <a:cs typeface="Trebuchet MS"/>
            </a:endParaRPr>
          </a:p>
          <a:p>
            <a:pPr marL="80010" indent="-43180">
              <a:lnSpc>
                <a:spcPct val="100000"/>
              </a:lnSpc>
              <a:spcBef>
                <a:spcPts val="30"/>
              </a:spcBef>
            </a:pPr>
            <a:r>
              <a:rPr sz="1600" b="1" spc="-100" dirty="0">
                <a:latin typeface="Trebuchet MS"/>
                <a:cs typeface="Trebuchet MS"/>
              </a:rPr>
              <a:t>Estratégica</a:t>
            </a:r>
            <a:endParaRPr sz="1600">
              <a:latin typeface="Trebuchet MS"/>
              <a:cs typeface="Trebuchet MS"/>
            </a:endParaRPr>
          </a:p>
          <a:p>
            <a:pPr marL="12700" marR="5080" indent="67310">
              <a:lnSpc>
                <a:spcPct val="101600"/>
              </a:lnSpc>
              <a:spcBef>
                <a:spcPts val="10"/>
              </a:spcBef>
            </a:pPr>
            <a:r>
              <a:rPr sz="1600" spc="-80" dirty="0">
                <a:latin typeface="Arial"/>
                <a:cs typeface="Arial"/>
              </a:rPr>
              <a:t>Ejecutivos  </a:t>
            </a:r>
            <a:r>
              <a:rPr sz="1600" spc="-75" dirty="0">
                <a:latin typeface="Arial"/>
                <a:cs typeface="Arial"/>
              </a:rPr>
              <a:t>y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directores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3535" y="3080004"/>
            <a:ext cx="3995928" cy="1658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63823" y="3285794"/>
            <a:ext cx="2436495" cy="10928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indent="263525">
              <a:lnSpc>
                <a:spcPct val="100000"/>
              </a:lnSpc>
              <a:spcBef>
                <a:spcPts val="620"/>
              </a:spcBef>
            </a:pPr>
            <a:r>
              <a:rPr sz="1600" b="1" spc="-85" dirty="0">
                <a:latin typeface="Trebuchet MS"/>
                <a:cs typeface="Trebuchet MS"/>
              </a:rPr>
              <a:t>Administración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100" dirty="0">
                <a:latin typeface="Trebuchet MS"/>
                <a:cs typeface="Trebuchet MS"/>
              </a:rPr>
              <a:t>táctica</a:t>
            </a:r>
            <a:endParaRPr sz="1600">
              <a:latin typeface="Trebuchet MS"/>
              <a:cs typeface="Trebuchet MS"/>
            </a:endParaRPr>
          </a:p>
          <a:p>
            <a:pPr marL="12700" marR="5080" algn="ctr">
              <a:lnSpc>
                <a:spcPts val="1760"/>
              </a:lnSpc>
              <a:spcBef>
                <a:spcPts val="720"/>
              </a:spcBef>
            </a:pPr>
            <a:r>
              <a:rPr sz="1600" spc="-60" dirty="0">
                <a:latin typeface="Arial"/>
                <a:cs typeface="Arial"/>
              </a:rPr>
              <a:t>Administradores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17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unidades  de </a:t>
            </a:r>
            <a:r>
              <a:rPr sz="1600" spc="-90" dirty="0">
                <a:latin typeface="Arial"/>
                <a:cs typeface="Arial"/>
              </a:rPr>
              <a:t>negocios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equipos  </a:t>
            </a:r>
            <a:r>
              <a:rPr sz="1600" spc="-45" dirty="0">
                <a:latin typeface="Arial"/>
                <a:cs typeface="Arial"/>
              </a:rPr>
              <a:t>autodirigidos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05889" y="4654296"/>
            <a:ext cx="5951220" cy="16588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87726" y="4972355"/>
            <a:ext cx="2987040" cy="8699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indent="419100">
              <a:lnSpc>
                <a:spcPct val="100000"/>
              </a:lnSpc>
              <a:spcBef>
                <a:spcPts val="620"/>
              </a:spcBef>
            </a:pPr>
            <a:r>
              <a:rPr sz="1600" b="1" spc="-85" dirty="0">
                <a:latin typeface="Trebuchet MS"/>
                <a:cs typeface="Trebuchet MS"/>
              </a:rPr>
              <a:t>Administración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operativa</a:t>
            </a:r>
            <a:endParaRPr sz="1600">
              <a:latin typeface="Trebuchet MS"/>
              <a:cs typeface="Trebuchet MS"/>
            </a:endParaRPr>
          </a:p>
          <a:p>
            <a:pPr marL="12065" marR="5080" algn="ctr">
              <a:lnSpc>
                <a:spcPts val="1760"/>
              </a:lnSpc>
              <a:spcBef>
                <a:spcPts val="720"/>
              </a:spcBef>
            </a:pPr>
            <a:r>
              <a:rPr sz="1600" spc="-65" dirty="0">
                <a:latin typeface="Arial"/>
                <a:cs typeface="Arial"/>
              </a:rPr>
              <a:t>Directivos </a:t>
            </a:r>
            <a:r>
              <a:rPr sz="1600" spc="-75" dirty="0">
                <a:latin typeface="Arial"/>
                <a:cs typeface="Arial"/>
              </a:rPr>
              <a:t>de operaciones y</a:t>
            </a:r>
            <a:r>
              <a:rPr sz="1600" spc="-15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equipos  </a:t>
            </a:r>
            <a:r>
              <a:rPr sz="1600" spc="-45" dirty="0">
                <a:latin typeface="Arial"/>
                <a:cs typeface="Arial"/>
              </a:rPr>
              <a:t>autodirigidos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380" y="1527428"/>
            <a:ext cx="2895600" cy="4721860"/>
          </a:xfrm>
          <a:custGeom>
            <a:avLst/>
            <a:gdLst/>
            <a:ahLst/>
            <a:cxnLst/>
            <a:rect l="l" t="t" r="r" b="b"/>
            <a:pathLst>
              <a:path w="2895600" h="4721860">
                <a:moveTo>
                  <a:pt x="2850350" y="4659734"/>
                </a:moveTo>
                <a:lnTo>
                  <a:pt x="2823337" y="4676317"/>
                </a:lnTo>
                <a:lnTo>
                  <a:pt x="2895600" y="4721352"/>
                </a:lnTo>
                <a:lnTo>
                  <a:pt x="2891192" y="4670564"/>
                </a:lnTo>
                <a:lnTo>
                  <a:pt x="2856992" y="4670564"/>
                </a:lnTo>
                <a:lnTo>
                  <a:pt x="2850350" y="4659734"/>
                </a:lnTo>
                <a:close/>
              </a:path>
              <a:path w="2895600" h="4721860">
                <a:moveTo>
                  <a:pt x="2861151" y="4653103"/>
                </a:moveTo>
                <a:lnTo>
                  <a:pt x="2850350" y="4659734"/>
                </a:lnTo>
                <a:lnTo>
                  <a:pt x="2856992" y="4670564"/>
                </a:lnTo>
                <a:lnTo>
                  <a:pt x="2867787" y="4663922"/>
                </a:lnTo>
                <a:lnTo>
                  <a:pt x="2861151" y="4653103"/>
                </a:lnTo>
                <a:close/>
              </a:path>
              <a:path w="2895600" h="4721860">
                <a:moveTo>
                  <a:pt x="2888234" y="4636477"/>
                </a:moveTo>
                <a:lnTo>
                  <a:pt x="2861151" y="4653103"/>
                </a:lnTo>
                <a:lnTo>
                  <a:pt x="2867787" y="4663922"/>
                </a:lnTo>
                <a:lnTo>
                  <a:pt x="2856992" y="4670564"/>
                </a:lnTo>
                <a:lnTo>
                  <a:pt x="2891192" y="4670564"/>
                </a:lnTo>
                <a:lnTo>
                  <a:pt x="2888234" y="4636477"/>
                </a:lnTo>
                <a:close/>
              </a:path>
              <a:path w="2895600" h="4721860">
                <a:moveTo>
                  <a:pt x="45250" y="61630"/>
                </a:moveTo>
                <a:lnTo>
                  <a:pt x="34459" y="68240"/>
                </a:lnTo>
                <a:lnTo>
                  <a:pt x="2850350" y="4659734"/>
                </a:lnTo>
                <a:lnTo>
                  <a:pt x="2861151" y="4653103"/>
                </a:lnTo>
                <a:lnTo>
                  <a:pt x="45250" y="61630"/>
                </a:lnTo>
                <a:close/>
              </a:path>
              <a:path w="2895600" h="4721860">
                <a:moveTo>
                  <a:pt x="0" y="0"/>
                </a:moveTo>
                <a:lnTo>
                  <a:pt x="7366" y="84836"/>
                </a:lnTo>
                <a:lnTo>
                  <a:pt x="34459" y="68240"/>
                </a:lnTo>
                <a:lnTo>
                  <a:pt x="27813" y="57404"/>
                </a:lnTo>
                <a:lnTo>
                  <a:pt x="38608" y="50800"/>
                </a:lnTo>
                <a:lnTo>
                  <a:pt x="62932" y="50800"/>
                </a:lnTo>
                <a:lnTo>
                  <a:pt x="72263" y="45085"/>
                </a:lnTo>
                <a:lnTo>
                  <a:pt x="0" y="0"/>
                </a:lnTo>
                <a:close/>
              </a:path>
              <a:path w="2895600" h="4721860">
                <a:moveTo>
                  <a:pt x="38608" y="50800"/>
                </a:moveTo>
                <a:lnTo>
                  <a:pt x="27813" y="57404"/>
                </a:lnTo>
                <a:lnTo>
                  <a:pt x="34459" y="68240"/>
                </a:lnTo>
                <a:lnTo>
                  <a:pt x="45250" y="61630"/>
                </a:lnTo>
                <a:lnTo>
                  <a:pt x="38608" y="50800"/>
                </a:lnTo>
                <a:close/>
              </a:path>
              <a:path w="2895600" h="4721860">
                <a:moveTo>
                  <a:pt x="62932" y="50800"/>
                </a:moveTo>
                <a:lnTo>
                  <a:pt x="38608" y="50800"/>
                </a:lnTo>
                <a:lnTo>
                  <a:pt x="45250" y="61630"/>
                </a:lnTo>
                <a:lnTo>
                  <a:pt x="62932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95780" y="1527428"/>
            <a:ext cx="2895600" cy="4645660"/>
          </a:xfrm>
          <a:custGeom>
            <a:avLst/>
            <a:gdLst/>
            <a:ahLst/>
            <a:cxnLst/>
            <a:rect l="l" t="t" r="r" b="b"/>
            <a:pathLst>
              <a:path w="2895600" h="4645660">
                <a:moveTo>
                  <a:pt x="8000" y="4560328"/>
                </a:moveTo>
                <a:lnTo>
                  <a:pt x="0" y="4645152"/>
                </a:lnTo>
                <a:lnTo>
                  <a:pt x="72643" y="4600638"/>
                </a:lnTo>
                <a:lnTo>
                  <a:pt x="63031" y="4594644"/>
                </a:lnTo>
                <a:lnTo>
                  <a:pt x="38988" y="4594644"/>
                </a:lnTo>
                <a:lnTo>
                  <a:pt x="28193" y="4587925"/>
                </a:lnTo>
                <a:lnTo>
                  <a:pt x="34929" y="4577120"/>
                </a:lnTo>
                <a:lnTo>
                  <a:pt x="8000" y="4560328"/>
                </a:lnTo>
                <a:close/>
              </a:path>
              <a:path w="2895600" h="4645660">
                <a:moveTo>
                  <a:pt x="34929" y="4577120"/>
                </a:moveTo>
                <a:lnTo>
                  <a:pt x="28193" y="4587925"/>
                </a:lnTo>
                <a:lnTo>
                  <a:pt x="38988" y="4594644"/>
                </a:lnTo>
                <a:lnTo>
                  <a:pt x="45718" y="4583848"/>
                </a:lnTo>
                <a:lnTo>
                  <a:pt x="34929" y="4577120"/>
                </a:lnTo>
                <a:close/>
              </a:path>
              <a:path w="2895600" h="4645660">
                <a:moveTo>
                  <a:pt x="45718" y="4583848"/>
                </a:moveTo>
                <a:lnTo>
                  <a:pt x="38988" y="4594644"/>
                </a:lnTo>
                <a:lnTo>
                  <a:pt x="63031" y="4594644"/>
                </a:lnTo>
                <a:lnTo>
                  <a:pt x="45718" y="4583848"/>
                </a:lnTo>
                <a:close/>
              </a:path>
              <a:path w="2895600" h="4645660">
                <a:moveTo>
                  <a:pt x="2849912" y="61291"/>
                </a:moveTo>
                <a:lnTo>
                  <a:pt x="34929" y="4577120"/>
                </a:lnTo>
                <a:lnTo>
                  <a:pt x="45718" y="4583848"/>
                </a:lnTo>
                <a:lnTo>
                  <a:pt x="2860701" y="68031"/>
                </a:lnTo>
                <a:lnTo>
                  <a:pt x="2849912" y="61291"/>
                </a:lnTo>
                <a:close/>
              </a:path>
              <a:path w="2895600" h="4645660">
                <a:moveTo>
                  <a:pt x="2890832" y="50546"/>
                </a:moveTo>
                <a:lnTo>
                  <a:pt x="2856610" y="50546"/>
                </a:lnTo>
                <a:lnTo>
                  <a:pt x="2867406" y="57276"/>
                </a:lnTo>
                <a:lnTo>
                  <a:pt x="2860701" y="68031"/>
                </a:lnTo>
                <a:lnTo>
                  <a:pt x="2887598" y="84836"/>
                </a:lnTo>
                <a:lnTo>
                  <a:pt x="2890832" y="50546"/>
                </a:lnTo>
                <a:close/>
              </a:path>
              <a:path w="2895600" h="4645660">
                <a:moveTo>
                  <a:pt x="2856610" y="50546"/>
                </a:moveTo>
                <a:lnTo>
                  <a:pt x="2849912" y="61291"/>
                </a:lnTo>
                <a:lnTo>
                  <a:pt x="2860701" y="68031"/>
                </a:lnTo>
                <a:lnTo>
                  <a:pt x="2867406" y="57276"/>
                </a:lnTo>
                <a:lnTo>
                  <a:pt x="2856610" y="50546"/>
                </a:lnTo>
                <a:close/>
              </a:path>
              <a:path w="2895600" h="4645660">
                <a:moveTo>
                  <a:pt x="2895599" y="0"/>
                </a:moveTo>
                <a:lnTo>
                  <a:pt x="2822956" y="44450"/>
                </a:lnTo>
                <a:lnTo>
                  <a:pt x="2849912" y="61291"/>
                </a:lnTo>
                <a:lnTo>
                  <a:pt x="2856610" y="50546"/>
                </a:lnTo>
                <a:lnTo>
                  <a:pt x="2890832" y="50546"/>
                </a:lnTo>
                <a:lnTo>
                  <a:pt x="28955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43708" y="3270503"/>
            <a:ext cx="650240" cy="932180"/>
          </a:xfrm>
          <a:custGeom>
            <a:avLst/>
            <a:gdLst/>
            <a:ahLst/>
            <a:cxnLst/>
            <a:rect l="l" t="t" r="r" b="b"/>
            <a:pathLst>
              <a:path w="650239" h="932179">
                <a:moveTo>
                  <a:pt x="87630" y="784860"/>
                </a:moveTo>
                <a:lnTo>
                  <a:pt x="79843" y="784860"/>
                </a:lnTo>
                <a:lnTo>
                  <a:pt x="64984" y="787400"/>
                </a:lnTo>
                <a:lnTo>
                  <a:pt x="57912" y="791210"/>
                </a:lnTo>
                <a:lnTo>
                  <a:pt x="52324" y="793750"/>
                </a:lnTo>
                <a:lnTo>
                  <a:pt x="46863" y="797560"/>
                </a:lnTo>
                <a:lnTo>
                  <a:pt x="41275" y="802640"/>
                </a:lnTo>
                <a:lnTo>
                  <a:pt x="37157" y="807719"/>
                </a:lnTo>
                <a:lnTo>
                  <a:pt x="28827" y="817880"/>
                </a:lnTo>
                <a:lnTo>
                  <a:pt x="24638" y="824230"/>
                </a:lnTo>
                <a:lnTo>
                  <a:pt x="0" y="864869"/>
                </a:lnTo>
                <a:lnTo>
                  <a:pt x="109474" y="932180"/>
                </a:lnTo>
                <a:lnTo>
                  <a:pt x="133604" y="894080"/>
                </a:lnTo>
                <a:lnTo>
                  <a:pt x="135137" y="891540"/>
                </a:lnTo>
                <a:lnTo>
                  <a:pt x="106553" y="891540"/>
                </a:lnTo>
                <a:lnTo>
                  <a:pt x="37973" y="849630"/>
                </a:lnTo>
                <a:lnTo>
                  <a:pt x="42418" y="842010"/>
                </a:lnTo>
                <a:lnTo>
                  <a:pt x="46228" y="835660"/>
                </a:lnTo>
                <a:lnTo>
                  <a:pt x="49276" y="831850"/>
                </a:lnTo>
                <a:lnTo>
                  <a:pt x="51689" y="829310"/>
                </a:lnTo>
                <a:lnTo>
                  <a:pt x="54102" y="825500"/>
                </a:lnTo>
                <a:lnTo>
                  <a:pt x="56896" y="824230"/>
                </a:lnTo>
                <a:lnTo>
                  <a:pt x="66548" y="817880"/>
                </a:lnTo>
                <a:lnTo>
                  <a:pt x="73152" y="816610"/>
                </a:lnTo>
                <a:lnTo>
                  <a:pt x="140623" y="816610"/>
                </a:lnTo>
                <a:lnTo>
                  <a:pt x="138007" y="812800"/>
                </a:lnTo>
                <a:lnTo>
                  <a:pt x="132730" y="806450"/>
                </a:lnTo>
                <a:lnTo>
                  <a:pt x="126525" y="800100"/>
                </a:lnTo>
                <a:lnTo>
                  <a:pt x="119380" y="795019"/>
                </a:lnTo>
                <a:lnTo>
                  <a:pt x="103457" y="787400"/>
                </a:lnTo>
                <a:lnTo>
                  <a:pt x="87630" y="784860"/>
                </a:lnTo>
                <a:close/>
              </a:path>
              <a:path w="650239" h="932179">
                <a:moveTo>
                  <a:pt x="140623" y="816610"/>
                </a:moveTo>
                <a:lnTo>
                  <a:pt x="79883" y="816610"/>
                </a:lnTo>
                <a:lnTo>
                  <a:pt x="86741" y="817880"/>
                </a:lnTo>
                <a:lnTo>
                  <a:pt x="93726" y="820419"/>
                </a:lnTo>
                <a:lnTo>
                  <a:pt x="121920" y="850900"/>
                </a:lnTo>
                <a:lnTo>
                  <a:pt x="121666" y="858519"/>
                </a:lnTo>
                <a:lnTo>
                  <a:pt x="121412" y="862330"/>
                </a:lnTo>
                <a:lnTo>
                  <a:pt x="120650" y="866140"/>
                </a:lnTo>
                <a:lnTo>
                  <a:pt x="119380" y="868680"/>
                </a:lnTo>
                <a:lnTo>
                  <a:pt x="117983" y="872490"/>
                </a:lnTo>
                <a:lnTo>
                  <a:pt x="115189" y="877569"/>
                </a:lnTo>
                <a:lnTo>
                  <a:pt x="106553" y="891540"/>
                </a:lnTo>
                <a:lnTo>
                  <a:pt x="135137" y="891540"/>
                </a:lnTo>
                <a:lnTo>
                  <a:pt x="137437" y="887730"/>
                </a:lnTo>
                <a:lnTo>
                  <a:pt x="140747" y="881380"/>
                </a:lnTo>
                <a:lnTo>
                  <a:pt x="143533" y="876300"/>
                </a:lnTo>
                <a:lnTo>
                  <a:pt x="145796" y="869950"/>
                </a:lnTo>
                <a:lnTo>
                  <a:pt x="148463" y="863600"/>
                </a:lnTo>
                <a:lnTo>
                  <a:pt x="149860" y="855980"/>
                </a:lnTo>
                <a:lnTo>
                  <a:pt x="142367" y="819150"/>
                </a:lnTo>
                <a:lnTo>
                  <a:pt x="140623" y="816610"/>
                </a:lnTo>
                <a:close/>
              </a:path>
              <a:path w="650239" h="932179">
                <a:moveTo>
                  <a:pt x="164135" y="690880"/>
                </a:moveTo>
                <a:lnTo>
                  <a:pt x="155702" y="690880"/>
                </a:lnTo>
                <a:lnTo>
                  <a:pt x="147675" y="694690"/>
                </a:lnTo>
                <a:lnTo>
                  <a:pt x="120898" y="726440"/>
                </a:lnTo>
                <a:lnTo>
                  <a:pt x="116286" y="748030"/>
                </a:lnTo>
                <a:lnTo>
                  <a:pt x="117093" y="756919"/>
                </a:lnTo>
                <a:lnTo>
                  <a:pt x="141732" y="789940"/>
                </a:lnTo>
                <a:lnTo>
                  <a:pt x="172075" y="798830"/>
                </a:lnTo>
                <a:lnTo>
                  <a:pt x="181864" y="796290"/>
                </a:lnTo>
                <a:lnTo>
                  <a:pt x="191339" y="792480"/>
                </a:lnTo>
                <a:lnTo>
                  <a:pt x="200326" y="786130"/>
                </a:lnTo>
                <a:lnTo>
                  <a:pt x="208813" y="777240"/>
                </a:lnTo>
                <a:lnTo>
                  <a:pt x="213244" y="770890"/>
                </a:lnTo>
                <a:lnTo>
                  <a:pt x="176022" y="770890"/>
                </a:lnTo>
                <a:lnTo>
                  <a:pt x="169545" y="769619"/>
                </a:lnTo>
                <a:lnTo>
                  <a:pt x="162814" y="765810"/>
                </a:lnTo>
                <a:lnTo>
                  <a:pt x="168333" y="756919"/>
                </a:lnTo>
                <a:lnTo>
                  <a:pt x="147320" y="756919"/>
                </a:lnTo>
                <a:lnTo>
                  <a:pt x="141732" y="751840"/>
                </a:lnTo>
                <a:lnTo>
                  <a:pt x="138557" y="748030"/>
                </a:lnTo>
                <a:lnTo>
                  <a:pt x="137922" y="742950"/>
                </a:lnTo>
                <a:lnTo>
                  <a:pt x="137414" y="737869"/>
                </a:lnTo>
                <a:lnTo>
                  <a:pt x="138684" y="732790"/>
                </a:lnTo>
                <a:lnTo>
                  <a:pt x="141859" y="727710"/>
                </a:lnTo>
                <a:lnTo>
                  <a:pt x="145288" y="722630"/>
                </a:lnTo>
                <a:lnTo>
                  <a:pt x="149225" y="718819"/>
                </a:lnTo>
                <a:lnTo>
                  <a:pt x="153543" y="718819"/>
                </a:lnTo>
                <a:lnTo>
                  <a:pt x="157988" y="717550"/>
                </a:lnTo>
                <a:lnTo>
                  <a:pt x="192775" y="717550"/>
                </a:lnTo>
                <a:lnTo>
                  <a:pt x="200660" y="704850"/>
                </a:lnTo>
                <a:lnTo>
                  <a:pt x="181955" y="694690"/>
                </a:lnTo>
                <a:lnTo>
                  <a:pt x="172878" y="692150"/>
                </a:lnTo>
                <a:lnTo>
                  <a:pt x="164135" y="690880"/>
                </a:lnTo>
                <a:close/>
              </a:path>
              <a:path w="650239" h="932179">
                <a:moveTo>
                  <a:pt x="210185" y="713740"/>
                </a:moveTo>
                <a:lnTo>
                  <a:pt x="208280" y="716280"/>
                </a:lnTo>
                <a:lnTo>
                  <a:pt x="208788" y="721360"/>
                </a:lnTo>
                <a:lnTo>
                  <a:pt x="208280" y="726440"/>
                </a:lnTo>
                <a:lnTo>
                  <a:pt x="207010" y="732790"/>
                </a:lnTo>
                <a:lnTo>
                  <a:pt x="205867" y="739140"/>
                </a:lnTo>
                <a:lnTo>
                  <a:pt x="203454" y="745490"/>
                </a:lnTo>
                <a:lnTo>
                  <a:pt x="199898" y="750569"/>
                </a:lnTo>
                <a:lnTo>
                  <a:pt x="194437" y="759460"/>
                </a:lnTo>
                <a:lnTo>
                  <a:pt x="188595" y="765810"/>
                </a:lnTo>
                <a:lnTo>
                  <a:pt x="176022" y="770890"/>
                </a:lnTo>
                <a:lnTo>
                  <a:pt x="213244" y="770890"/>
                </a:lnTo>
                <a:lnTo>
                  <a:pt x="216789" y="765810"/>
                </a:lnTo>
                <a:lnTo>
                  <a:pt x="220726" y="759460"/>
                </a:lnTo>
                <a:lnTo>
                  <a:pt x="223901" y="753110"/>
                </a:lnTo>
                <a:lnTo>
                  <a:pt x="226060" y="746760"/>
                </a:lnTo>
                <a:lnTo>
                  <a:pt x="228346" y="740410"/>
                </a:lnTo>
                <a:lnTo>
                  <a:pt x="230124" y="734060"/>
                </a:lnTo>
                <a:lnTo>
                  <a:pt x="231394" y="726440"/>
                </a:lnTo>
                <a:lnTo>
                  <a:pt x="210185" y="713740"/>
                </a:lnTo>
                <a:close/>
              </a:path>
              <a:path w="650239" h="932179">
                <a:moveTo>
                  <a:pt x="192775" y="717550"/>
                </a:moveTo>
                <a:lnTo>
                  <a:pt x="157988" y="717550"/>
                </a:lnTo>
                <a:lnTo>
                  <a:pt x="163068" y="718819"/>
                </a:lnTo>
                <a:lnTo>
                  <a:pt x="168656" y="722630"/>
                </a:lnTo>
                <a:lnTo>
                  <a:pt x="147320" y="756919"/>
                </a:lnTo>
                <a:lnTo>
                  <a:pt x="168333" y="756919"/>
                </a:lnTo>
                <a:lnTo>
                  <a:pt x="192775" y="717550"/>
                </a:lnTo>
                <a:close/>
              </a:path>
              <a:path w="650239" h="932179">
                <a:moveTo>
                  <a:pt x="214757" y="589280"/>
                </a:moveTo>
                <a:lnTo>
                  <a:pt x="190119" y="614680"/>
                </a:lnTo>
                <a:lnTo>
                  <a:pt x="186309" y="621030"/>
                </a:lnTo>
                <a:lnTo>
                  <a:pt x="183261" y="627380"/>
                </a:lnTo>
                <a:lnTo>
                  <a:pt x="181229" y="633730"/>
                </a:lnTo>
                <a:lnTo>
                  <a:pt x="179324" y="640080"/>
                </a:lnTo>
                <a:lnTo>
                  <a:pt x="178562" y="647700"/>
                </a:lnTo>
                <a:lnTo>
                  <a:pt x="180086" y="660400"/>
                </a:lnTo>
                <a:lnTo>
                  <a:pt x="182499" y="668019"/>
                </a:lnTo>
                <a:lnTo>
                  <a:pt x="186563" y="673100"/>
                </a:lnTo>
                <a:lnTo>
                  <a:pt x="190500" y="679450"/>
                </a:lnTo>
                <a:lnTo>
                  <a:pt x="196342" y="684530"/>
                </a:lnTo>
                <a:lnTo>
                  <a:pt x="204089" y="689610"/>
                </a:lnTo>
                <a:lnTo>
                  <a:pt x="211328" y="694690"/>
                </a:lnTo>
                <a:lnTo>
                  <a:pt x="218440" y="697230"/>
                </a:lnTo>
                <a:lnTo>
                  <a:pt x="232410" y="698500"/>
                </a:lnTo>
                <a:lnTo>
                  <a:pt x="239014" y="698500"/>
                </a:lnTo>
                <a:lnTo>
                  <a:pt x="245237" y="695960"/>
                </a:lnTo>
                <a:lnTo>
                  <a:pt x="251587" y="694690"/>
                </a:lnTo>
                <a:lnTo>
                  <a:pt x="257429" y="690880"/>
                </a:lnTo>
                <a:lnTo>
                  <a:pt x="268351" y="680719"/>
                </a:lnTo>
                <a:lnTo>
                  <a:pt x="273304" y="674369"/>
                </a:lnTo>
                <a:lnTo>
                  <a:pt x="276859" y="669290"/>
                </a:lnTo>
                <a:lnTo>
                  <a:pt x="236347" y="669290"/>
                </a:lnTo>
                <a:lnTo>
                  <a:pt x="229108" y="666750"/>
                </a:lnTo>
                <a:lnTo>
                  <a:pt x="221107" y="662940"/>
                </a:lnTo>
                <a:lnTo>
                  <a:pt x="213487" y="657860"/>
                </a:lnTo>
                <a:lnTo>
                  <a:pt x="208534" y="651510"/>
                </a:lnTo>
                <a:lnTo>
                  <a:pt x="204216" y="638810"/>
                </a:lnTo>
                <a:lnTo>
                  <a:pt x="205359" y="632460"/>
                </a:lnTo>
                <a:lnTo>
                  <a:pt x="209804" y="624840"/>
                </a:lnTo>
                <a:lnTo>
                  <a:pt x="211836" y="621030"/>
                </a:lnTo>
                <a:lnTo>
                  <a:pt x="213868" y="618490"/>
                </a:lnTo>
                <a:lnTo>
                  <a:pt x="216027" y="617219"/>
                </a:lnTo>
                <a:lnTo>
                  <a:pt x="218313" y="614680"/>
                </a:lnTo>
                <a:lnTo>
                  <a:pt x="222885" y="612140"/>
                </a:lnTo>
                <a:lnTo>
                  <a:pt x="225298" y="610869"/>
                </a:lnTo>
                <a:lnTo>
                  <a:pt x="227584" y="609600"/>
                </a:lnTo>
                <a:lnTo>
                  <a:pt x="229616" y="608330"/>
                </a:lnTo>
                <a:lnTo>
                  <a:pt x="231775" y="608330"/>
                </a:lnTo>
                <a:lnTo>
                  <a:pt x="233553" y="607060"/>
                </a:lnTo>
                <a:lnTo>
                  <a:pt x="235077" y="607060"/>
                </a:lnTo>
                <a:lnTo>
                  <a:pt x="237363" y="603250"/>
                </a:lnTo>
                <a:lnTo>
                  <a:pt x="214757" y="589280"/>
                </a:lnTo>
                <a:close/>
              </a:path>
              <a:path w="650239" h="932179">
                <a:moveTo>
                  <a:pt x="266319" y="621030"/>
                </a:moveTo>
                <a:lnTo>
                  <a:pt x="264033" y="624840"/>
                </a:lnTo>
                <a:lnTo>
                  <a:pt x="264287" y="627380"/>
                </a:lnTo>
                <a:lnTo>
                  <a:pt x="264668" y="628650"/>
                </a:lnTo>
                <a:lnTo>
                  <a:pt x="265176" y="632460"/>
                </a:lnTo>
                <a:lnTo>
                  <a:pt x="265176" y="638810"/>
                </a:lnTo>
                <a:lnTo>
                  <a:pt x="264795" y="642619"/>
                </a:lnTo>
                <a:lnTo>
                  <a:pt x="263779" y="645160"/>
                </a:lnTo>
                <a:lnTo>
                  <a:pt x="262890" y="648969"/>
                </a:lnTo>
                <a:lnTo>
                  <a:pt x="236347" y="669290"/>
                </a:lnTo>
                <a:lnTo>
                  <a:pt x="276859" y="669290"/>
                </a:lnTo>
                <a:lnTo>
                  <a:pt x="288925" y="635000"/>
                </a:lnTo>
                <a:lnTo>
                  <a:pt x="266319" y="621030"/>
                </a:lnTo>
                <a:close/>
              </a:path>
              <a:path w="650239" h="932179">
                <a:moveTo>
                  <a:pt x="237871" y="542290"/>
                </a:moveTo>
                <a:lnTo>
                  <a:pt x="221361" y="568960"/>
                </a:lnTo>
                <a:lnTo>
                  <a:pt x="303911" y="621030"/>
                </a:lnTo>
                <a:lnTo>
                  <a:pt x="320548" y="594360"/>
                </a:lnTo>
                <a:lnTo>
                  <a:pt x="237871" y="542290"/>
                </a:lnTo>
                <a:close/>
              </a:path>
              <a:path w="650239" h="932179">
                <a:moveTo>
                  <a:pt x="367947" y="509270"/>
                </a:moveTo>
                <a:lnTo>
                  <a:pt x="339852" y="509270"/>
                </a:lnTo>
                <a:lnTo>
                  <a:pt x="341884" y="510539"/>
                </a:lnTo>
                <a:lnTo>
                  <a:pt x="344043" y="511810"/>
                </a:lnTo>
                <a:lnTo>
                  <a:pt x="345059" y="514350"/>
                </a:lnTo>
                <a:lnTo>
                  <a:pt x="344678" y="516889"/>
                </a:lnTo>
                <a:lnTo>
                  <a:pt x="344170" y="520700"/>
                </a:lnTo>
                <a:lnTo>
                  <a:pt x="342392" y="524510"/>
                </a:lnTo>
                <a:lnTo>
                  <a:pt x="339090" y="529590"/>
                </a:lnTo>
                <a:lnTo>
                  <a:pt x="336677" y="533400"/>
                </a:lnTo>
                <a:lnTo>
                  <a:pt x="334010" y="537210"/>
                </a:lnTo>
                <a:lnTo>
                  <a:pt x="330962" y="539750"/>
                </a:lnTo>
                <a:lnTo>
                  <a:pt x="328041" y="543560"/>
                </a:lnTo>
                <a:lnTo>
                  <a:pt x="325120" y="546100"/>
                </a:lnTo>
                <a:lnTo>
                  <a:pt x="322199" y="547369"/>
                </a:lnTo>
                <a:lnTo>
                  <a:pt x="319024" y="549910"/>
                </a:lnTo>
                <a:lnTo>
                  <a:pt x="316230" y="552450"/>
                </a:lnTo>
                <a:lnTo>
                  <a:pt x="311912" y="553719"/>
                </a:lnTo>
                <a:lnTo>
                  <a:pt x="308102" y="556260"/>
                </a:lnTo>
                <a:lnTo>
                  <a:pt x="306578" y="557530"/>
                </a:lnTo>
                <a:lnTo>
                  <a:pt x="328422" y="571500"/>
                </a:lnTo>
                <a:lnTo>
                  <a:pt x="356489" y="541019"/>
                </a:lnTo>
                <a:lnTo>
                  <a:pt x="361868" y="532130"/>
                </a:lnTo>
                <a:lnTo>
                  <a:pt x="365617" y="521970"/>
                </a:lnTo>
                <a:lnTo>
                  <a:pt x="367722" y="513080"/>
                </a:lnTo>
                <a:lnTo>
                  <a:pt x="367947" y="509270"/>
                </a:lnTo>
                <a:close/>
              </a:path>
              <a:path w="650239" h="932179">
                <a:moveTo>
                  <a:pt x="206502" y="521970"/>
                </a:moveTo>
                <a:lnTo>
                  <a:pt x="188976" y="549910"/>
                </a:lnTo>
                <a:lnTo>
                  <a:pt x="209042" y="562610"/>
                </a:lnTo>
                <a:lnTo>
                  <a:pt x="226568" y="534669"/>
                </a:lnTo>
                <a:lnTo>
                  <a:pt x="206502" y="521970"/>
                </a:lnTo>
                <a:close/>
              </a:path>
              <a:path w="650239" h="932179">
                <a:moveTo>
                  <a:pt x="299593" y="452120"/>
                </a:moveTo>
                <a:lnTo>
                  <a:pt x="269035" y="488950"/>
                </a:lnTo>
                <a:lnTo>
                  <a:pt x="263017" y="514350"/>
                </a:lnTo>
                <a:lnTo>
                  <a:pt x="264163" y="521970"/>
                </a:lnTo>
                <a:lnTo>
                  <a:pt x="288290" y="543560"/>
                </a:lnTo>
                <a:lnTo>
                  <a:pt x="301117" y="541019"/>
                </a:lnTo>
                <a:lnTo>
                  <a:pt x="307594" y="538480"/>
                </a:lnTo>
                <a:lnTo>
                  <a:pt x="314198" y="532130"/>
                </a:lnTo>
                <a:lnTo>
                  <a:pt x="319278" y="527050"/>
                </a:lnTo>
                <a:lnTo>
                  <a:pt x="321818" y="523239"/>
                </a:lnTo>
                <a:lnTo>
                  <a:pt x="324485" y="520700"/>
                </a:lnTo>
                <a:lnTo>
                  <a:pt x="326644" y="518160"/>
                </a:lnTo>
                <a:lnTo>
                  <a:pt x="328295" y="516889"/>
                </a:lnTo>
                <a:lnTo>
                  <a:pt x="331597" y="513080"/>
                </a:lnTo>
                <a:lnTo>
                  <a:pt x="334264" y="510539"/>
                </a:lnTo>
                <a:lnTo>
                  <a:pt x="291338" y="510539"/>
                </a:lnTo>
                <a:lnTo>
                  <a:pt x="289306" y="509270"/>
                </a:lnTo>
                <a:lnTo>
                  <a:pt x="287147" y="508000"/>
                </a:lnTo>
                <a:lnTo>
                  <a:pt x="286512" y="505460"/>
                </a:lnTo>
                <a:lnTo>
                  <a:pt x="287782" y="497839"/>
                </a:lnTo>
                <a:lnTo>
                  <a:pt x="289433" y="494030"/>
                </a:lnTo>
                <a:lnTo>
                  <a:pt x="292100" y="490220"/>
                </a:lnTo>
                <a:lnTo>
                  <a:pt x="295275" y="485139"/>
                </a:lnTo>
                <a:lnTo>
                  <a:pt x="299212" y="480060"/>
                </a:lnTo>
                <a:lnTo>
                  <a:pt x="308864" y="472439"/>
                </a:lnTo>
                <a:lnTo>
                  <a:pt x="313944" y="468630"/>
                </a:lnTo>
                <a:lnTo>
                  <a:pt x="319024" y="467360"/>
                </a:lnTo>
                <a:lnTo>
                  <a:pt x="320421" y="464820"/>
                </a:lnTo>
                <a:lnTo>
                  <a:pt x="299593" y="452120"/>
                </a:lnTo>
                <a:close/>
              </a:path>
              <a:path w="650239" h="932179">
                <a:moveTo>
                  <a:pt x="343027" y="476250"/>
                </a:moveTo>
                <a:lnTo>
                  <a:pt x="313436" y="492760"/>
                </a:lnTo>
                <a:lnTo>
                  <a:pt x="306197" y="500380"/>
                </a:lnTo>
                <a:lnTo>
                  <a:pt x="304038" y="502920"/>
                </a:lnTo>
                <a:lnTo>
                  <a:pt x="299974" y="506730"/>
                </a:lnTo>
                <a:lnTo>
                  <a:pt x="296926" y="509270"/>
                </a:lnTo>
                <a:lnTo>
                  <a:pt x="295148" y="510539"/>
                </a:lnTo>
                <a:lnTo>
                  <a:pt x="334264" y="510539"/>
                </a:lnTo>
                <a:lnTo>
                  <a:pt x="336042" y="509270"/>
                </a:lnTo>
                <a:lnTo>
                  <a:pt x="367947" y="509270"/>
                </a:lnTo>
                <a:lnTo>
                  <a:pt x="368173" y="505460"/>
                </a:lnTo>
                <a:lnTo>
                  <a:pt x="348869" y="477520"/>
                </a:lnTo>
                <a:lnTo>
                  <a:pt x="343027" y="476250"/>
                </a:lnTo>
                <a:close/>
              </a:path>
              <a:path w="650239" h="932179">
                <a:moveTo>
                  <a:pt x="325755" y="401320"/>
                </a:moveTo>
                <a:lnTo>
                  <a:pt x="309118" y="427989"/>
                </a:lnTo>
                <a:lnTo>
                  <a:pt x="391795" y="480060"/>
                </a:lnTo>
                <a:lnTo>
                  <a:pt x="408305" y="453389"/>
                </a:lnTo>
                <a:lnTo>
                  <a:pt x="325755" y="401320"/>
                </a:lnTo>
                <a:close/>
              </a:path>
              <a:path w="650239" h="932179">
                <a:moveTo>
                  <a:pt x="294259" y="381000"/>
                </a:moveTo>
                <a:lnTo>
                  <a:pt x="276860" y="408939"/>
                </a:lnTo>
                <a:lnTo>
                  <a:pt x="296926" y="421639"/>
                </a:lnTo>
                <a:lnTo>
                  <a:pt x="314325" y="393700"/>
                </a:lnTo>
                <a:lnTo>
                  <a:pt x="294259" y="381000"/>
                </a:lnTo>
                <a:close/>
              </a:path>
              <a:path w="650239" h="932179">
                <a:moveTo>
                  <a:pt x="405477" y="308610"/>
                </a:moveTo>
                <a:lnTo>
                  <a:pt x="370320" y="326389"/>
                </a:lnTo>
                <a:lnTo>
                  <a:pt x="353183" y="367030"/>
                </a:lnTo>
                <a:lnTo>
                  <a:pt x="354203" y="375920"/>
                </a:lnTo>
                <a:lnTo>
                  <a:pt x="378968" y="407670"/>
                </a:lnTo>
                <a:lnTo>
                  <a:pt x="408846" y="417830"/>
                </a:lnTo>
                <a:lnTo>
                  <a:pt x="418465" y="416560"/>
                </a:lnTo>
                <a:lnTo>
                  <a:pt x="450977" y="389889"/>
                </a:lnTo>
                <a:lnTo>
                  <a:pt x="451680" y="388620"/>
                </a:lnTo>
                <a:lnTo>
                  <a:pt x="412623" y="388620"/>
                </a:lnTo>
                <a:lnTo>
                  <a:pt x="408686" y="387350"/>
                </a:lnTo>
                <a:lnTo>
                  <a:pt x="404876" y="386080"/>
                </a:lnTo>
                <a:lnTo>
                  <a:pt x="400685" y="383539"/>
                </a:lnTo>
                <a:lnTo>
                  <a:pt x="396240" y="381000"/>
                </a:lnTo>
                <a:lnTo>
                  <a:pt x="391160" y="377189"/>
                </a:lnTo>
                <a:lnTo>
                  <a:pt x="387223" y="374650"/>
                </a:lnTo>
                <a:lnTo>
                  <a:pt x="384556" y="372110"/>
                </a:lnTo>
                <a:lnTo>
                  <a:pt x="377952" y="356870"/>
                </a:lnTo>
                <a:lnTo>
                  <a:pt x="378460" y="354330"/>
                </a:lnTo>
                <a:lnTo>
                  <a:pt x="379095" y="351789"/>
                </a:lnTo>
                <a:lnTo>
                  <a:pt x="380111" y="349250"/>
                </a:lnTo>
                <a:lnTo>
                  <a:pt x="381762" y="346710"/>
                </a:lnTo>
                <a:lnTo>
                  <a:pt x="383286" y="344170"/>
                </a:lnTo>
                <a:lnTo>
                  <a:pt x="385191" y="342900"/>
                </a:lnTo>
                <a:lnTo>
                  <a:pt x="389636" y="339089"/>
                </a:lnTo>
                <a:lnTo>
                  <a:pt x="392176" y="337820"/>
                </a:lnTo>
                <a:lnTo>
                  <a:pt x="455446" y="337820"/>
                </a:lnTo>
                <a:lnTo>
                  <a:pt x="451738" y="331470"/>
                </a:lnTo>
                <a:lnTo>
                  <a:pt x="444547" y="323850"/>
                </a:lnTo>
                <a:lnTo>
                  <a:pt x="435356" y="317500"/>
                </a:lnTo>
                <a:lnTo>
                  <a:pt x="425237" y="312420"/>
                </a:lnTo>
                <a:lnTo>
                  <a:pt x="415274" y="309879"/>
                </a:lnTo>
                <a:lnTo>
                  <a:pt x="405477" y="308610"/>
                </a:lnTo>
                <a:close/>
              </a:path>
              <a:path w="650239" h="932179">
                <a:moveTo>
                  <a:pt x="455446" y="337820"/>
                </a:moveTo>
                <a:lnTo>
                  <a:pt x="401574" y="337820"/>
                </a:lnTo>
                <a:lnTo>
                  <a:pt x="409194" y="340360"/>
                </a:lnTo>
                <a:lnTo>
                  <a:pt x="413512" y="341630"/>
                </a:lnTo>
                <a:lnTo>
                  <a:pt x="418465" y="345439"/>
                </a:lnTo>
                <a:lnTo>
                  <a:pt x="435102" y="363220"/>
                </a:lnTo>
                <a:lnTo>
                  <a:pt x="436118" y="365760"/>
                </a:lnTo>
                <a:lnTo>
                  <a:pt x="436372" y="368300"/>
                </a:lnTo>
                <a:lnTo>
                  <a:pt x="435737" y="370839"/>
                </a:lnTo>
                <a:lnTo>
                  <a:pt x="435229" y="373380"/>
                </a:lnTo>
                <a:lnTo>
                  <a:pt x="416052" y="388620"/>
                </a:lnTo>
                <a:lnTo>
                  <a:pt x="451680" y="388620"/>
                </a:lnTo>
                <a:lnTo>
                  <a:pt x="456602" y="379730"/>
                </a:lnTo>
                <a:lnTo>
                  <a:pt x="459978" y="369570"/>
                </a:lnTo>
                <a:lnTo>
                  <a:pt x="461138" y="359410"/>
                </a:lnTo>
                <a:lnTo>
                  <a:pt x="460121" y="349250"/>
                </a:lnTo>
                <a:lnTo>
                  <a:pt x="456930" y="340360"/>
                </a:lnTo>
                <a:lnTo>
                  <a:pt x="455446" y="337820"/>
                </a:lnTo>
                <a:close/>
              </a:path>
              <a:path w="650239" h="932179">
                <a:moveTo>
                  <a:pt x="422402" y="246379"/>
                </a:moveTo>
                <a:lnTo>
                  <a:pt x="405892" y="273050"/>
                </a:lnTo>
                <a:lnTo>
                  <a:pt x="488442" y="323850"/>
                </a:lnTo>
                <a:lnTo>
                  <a:pt x="505079" y="298450"/>
                </a:lnTo>
                <a:lnTo>
                  <a:pt x="446405" y="261620"/>
                </a:lnTo>
                <a:lnTo>
                  <a:pt x="446532" y="257810"/>
                </a:lnTo>
                <a:lnTo>
                  <a:pt x="446913" y="254000"/>
                </a:lnTo>
                <a:lnTo>
                  <a:pt x="447675" y="251460"/>
                </a:lnTo>
                <a:lnTo>
                  <a:pt x="431546" y="251460"/>
                </a:lnTo>
                <a:lnTo>
                  <a:pt x="422402" y="246379"/>
                </a:lnTo>
                <a:close/>
              </a:path>
              <a:path w="650239" h="932179">
                <a:moveTo>
                  <a:pt x="527733" y="233679"/>
                </a:moveTo>
                <a:lnTo>
                  <a:pt x="465963" y="233679"/>
                </a:lnTo>
                <a:lnTo>
                  <a:pt x="468757" y="234950"/>
                </a:lnTo>
                <a:lnTo>
                  <a:pt x="472313" y="236220"/>
                </a:lnTo>
                <a:lnTo>
                  <a:pt x="475869" y="238760"/>
                </a:lnTo>
                <a:lnTo>
                  <a:pt x="479298" y="240029"/>
                </a:lnTo>
                <a:lnTo>
                  <a:pt x="482600" y="242570"/>
                </a:lnTo>
                <a:lnTo>
                  <a:pt x="523621" y="267970"/>
                </a:lnTo>
                <a:lnTo>
                  <a:pt x="540131" y="241300"/>
                </a:lnTo>
                <a:lnTo>
                  <a:pt x="527733" y="233679"/>
                </a:lnTo>
                <a:close/>
              </a:path>
              <a:path w="650239" h="932179">
                <a:moveTo>
                  <a:pt x="471614" y="200660"/>
                </a:moveTo>
                <a:lnTo>
                  <a:pt x="458343" y="200660"/>
                </a:lnTo>
                <a:lnTo>
                  <a:pt x="452391" y="203200"/>
                </a:lnTo>
                <a:lnTo>
                  <a:pt x="431546" y="233679"/>
                </a:lnTo>
                <a:lnTo>
                  <a:pt x="430784" y="238760"/>
                </a:lnTo>
                <a:lnTo>
                  <a:pt x="430784" y="245110"/>
                </a:lnTo>
                <a:lnTo>
                  <a:pt x="431546" y="251460"/>
                </a:lnTo>
                <a:lnTo>
                  <a:pt x="447675" y="251460"/>
                </a:lnTo>
                <a:lnTo>
                  <a:pt x="448437" y="247650"/>
                </a:lnTo>
                <a:lnTo>
                  <a:pt x="449580" y="245110"/>
                </a:lnTo>
                <a:lnTo>
                  <a:pt x="451104" y="242570"/>
                </a:lnTo>
                <a:lnTo>
                  <a:pt x="453136" y="240029"/>
                </a:lnTo>
                <a:lnTo>
                  <a:pt x="455295" y="237489"/>
                </a:lnTo>
                <a:lnTo>
                  <a:pt x="457327" y="236220"/>
                </a:lnTo>
                <a:lnTo>
                  <a:pt x="459232" y="234950"/>
                </a:lnTo>
                <a:lnTo>
                  <a:pt x="461518" y="233679"/>
                </a:lnTo>
                <a:lnTo>
                  <a:pt x="527733" y="233679"/>
                </a:lnTo>
                <a:lnTo>
                  <a:pt x="486410" y="208279"/>
                </a:lnTo>
                <a:lnTo>
                  <a:pt x="478809" y="203200"/>
                </a:lnTo>
                <a:lnTo>
                  <a:pt x="471614" y="200660"/>
                </a:lnTo>
                <a:close/>
              </a:path>
              <a:path w="650239" h="932179">
                <a:moveTo>
                  <a:pt x="533088" y="97789"/>
                </a:moveTo>
                <a:lnTo>
                  <a:pt x="495554" y="123189"/>
                </a:lnTo>
                <a:lnTo>
                  <a:pt x="485177" y="154939"/>
                </a:lnTo>
                <a:lnTo>
                  <a:pt x="486156" y="165100"/>
                </a:lnTo>
                <a:lnTo>
                  <a:pt x="510794" y="198120"/>
                </a:lnTo>
                <a:lnTo>
                  <a:pt x="531082" y="205739"/>
                </a:lnTo>
                <a:lnTo>
                  <a:pt x="541012" y="205739"/>
                </a:lnTo>
                <a:lnTo>
                  <a:pt x="577748" y="184150"/>
                </a:lnTo>
                <a:lnTo>
                  <a:pt x="582179" y="177800"/>
                </a:lnTo>
                <a:lnTo>
                  <a:pt x="538607" y="177800"/>
                </a:lnTo>
                <a:lnTo>
                  <a:pt x="531876" y="173989"/>
                </a:lnTo>
                <a:lnTo>
                  <a:pt x="538162" y="163829"/>
                </a:lnTo>
                <a:lnTo>
                  <a:pt x="516255" y="163829"/>
                </a:lnTo>
                <a:lnTo>
                  <a:pt x="510667" y="160020"/>
                </a:lnTo>
                <a:lnTo>
                  <a:pt x="507619" y="154939"/>
                </a:lnTo>
                <a:lnTo>
                  <a:pt x="506349" y="146050"/>
                </a:lnTo>
                <a:lnTo>
                  <a:pt x="507619" y="140970"/>
                </a:lnTo>
                <a:lnTo>
                  <a:pt x="510794" y="135889"/>
                </a:lnTo>
                <a:lnTo>
                  <a:pt x="514223" y="129539"/>
                </a:lnTo>
                <a:lnTo>
                  <a:pt x="518160" y="127000"/>
                </a:lnTo>
                <a:lnTo>
                  <a:pt x="527050" y="124460"/>
                </a:lnTo>
                <a:lnTo>
                  <a:pt x="562522" y="124460"/>
                </a:lnTo>
                <a:lnTo>
                  <a:pt x="569595" y="113029"/>
                </a:lnTo>
                <a:lnTo>
                  <a:pt x="560324" y="106679"/>
                </a:lnTo>
                <a:lnTo>
                  <a:pt x="550943" y="101600"/>
                </a:lnTo>
                <a:lnTo>
                  <a:pt x="541861" y="99060"/>
                </a:lnTo>
                <a:lnTo>
                  <a:pt x="533088" y="97789"/>
                </a:lnTo>
                <a:close/>
              </a:path>
              <a:path w="650239" h="932179">
                <a:moveTo>
                  <a:pt x="579120" y="120650"/>
                </a:moveTo>
                <a:lnTo>
                  <a:pt x="577342" y="124460"/>
                </a:lnTo>
                <a:lnTo>
                  <a:pt x="577596" y="127000"/>
                </a:lnTo>
                <a:lnTo>
                  <a:pt x="577627" y="129539"/>
                </a:lnTo>
                <a:lnTo>
                  <a:pt x="563499" y="167639"/>
                </a:lnTo>
                <a:lnTo>
                  <a:pt x="545084" y="177800"/>
                </a:lnTo>
                <a:lnTo>
                  <a:pt x="582179" y="177800"/>
                </a:lnTo>
                <a:lnTo>
                  <a:pt x="599059" y="142239"/>
                </a:lnTo>
                <a:lnTo>
                  <a:pt x="600456" y="134620"/>
                </a:lnTo>
                <a:lnTo>
                  <a:pt x="579120" y="120650"/>
                </a:lnTo>
                <a:close/>
              </a:path>
              <a:path w="650239" h="932179">
                <a:moveTo>
                  <a:pt x="562522" y="124460"/>
                </a:moveTo>
                <a:lnTo>
                  <a:pt x="527050" y="124460"/>
                </a:lnTo>
                <a:lnTo>
                  <a:pt x="532003" y="125729"/>
                </a:lnTo>
                <a:lnTo>
                  <a:pt x="537718" y="129539"/>
                </a:lnTo>
                <a:lnTo>
                  <a:pt x="516255" y="163829"/>
                </a:lnTo>
                <a:lnTo>
                  <a:pt x="538162" y="163829"/>
                </a:lnTo>
                <a:lnTo>
                  <a:pt x="562522" y="124460"/>
                </a:lnTo>
                <a:close/>
              </a:path>
              <a:path w="650239" h="932179">
                <a:moveTo>
                  <a:pt x="649597" y="57150"/>
                </a:moveTo>
                <a:lnTo>
                  <a:pt x="621411" y="57150"/>
                </a:lnTo>
                <a:lnTo>
                  <a:pt x="623443" y="58420"/>
                </a:lnTo>
                <a:lnTo>
                  <a:pt x="625729" y="59689"/>
                </a:lnTo>
                <a:lnTo>
                  <a:pt x="626618" y="62229"/>
                </a:lnTo>
                <a:lnTo>
                  <a:pt x="612521" y="87629"/>
                </a:lnTo>
                <a:lnTo>
                  <a:pt x="609600" y="91439"/>
                </a:lnTo>
                <a:lnTo>
                  <a:pt x="606679" y="93979"/>
                </a:lnTo>
                <a:lnTo>
                  <a:pt x="600583" y="97789"/>
                </a:lnTo>
                <a:lnTo>
                  <a:pt x="597789" y="100329"/>
                </a:lnTo>
                <a:lnTo>
                  <a:pt x="593471" y="101600"/>
                </a:lnTo>
                <a:lnTo>
                  <a:pt x="591439" y="102870"/>
                </a:lnTo>
                <a:lnTo>
                  <a:pt x="589788" y="104139"/>
                </a:lnTo>
                <a:lnTo>
                  <a:pt x="588264" y="105410"/>
                </a:lnTo>
                <a:lnTo>
                  <a:pt x="609981" y="119379"/>
                </a:lnTo>
                <a:lnTo>
                  <a:pt x="638048" y="88900"/>
                </a:lnTo>
                <a:lnTo>
                  <a:pt x="643429" y="80010"/>
                </a:lnTo>
                <a:lnTo>
                  <a:pt x="647192" y="69850"/>
                </a:lnTo>
                <a:lnTo>
                  <a:pt x="649335" y="60960"/>
                </a:lnTo>
                <a:lnTo>
                  <a:pt x="649597" y="57150"/>
                </a:lnTo>
                <a:close/>
              </a:path>
              <a:path w="650239" h="932179">
                <a:moveTo>
                  <a:pt x="581152" y="0"/>
                </a:moveTo>
                <a:lnTo>
                  <a:pt x="550612" y="36829"/>
                </a:lnTo>
                <a:lnTo>
                  <a:pt x="544576" y="62229"/>
                </a:lnTo>
                <a:lnTo>
                  <a:pt x="545722" y="69850"/>
                </a:lnTo>
                <a:lnTo>
                  <a:pt x="569849" y="91439"/>
                </a:lnTo>
                <a:lnTo>
                  <a:pt x="582676" y="88900"/>
                </a:lnTo>
                <a:lnTo>
                  <a:pt x="589153" y="86360"/>
                </a:lnTo>
                <a:lnTo>
                  <a:pt x="595884" y="80010"/>
                </a:lnTo>
                <a:lnTo>
                  <a:pt x="598297" y="77470"/>
                </a:lnTo>
                <a:lnTo>
                  <a:pt x="600837" y="74929"/>
                </a:lnTo>
                <a:lnTo>
                  <a:pt x="603377" y="71120"/>
                </a:lnTo>
                <a:lnTo>
                  <a:pt x="606044" y="68579"/>
                </a:lnTo>
                <a:lnTo>
                  <a:pt x="608203" y="66039"/>
                </a:lnTo>
                <a:lnTo>
                  <a:pt x="609854" y="64770"/>
                </a:lnTo>
                <a:lnTo>
                  <a:pt x="613283" y="60960"/>
                </a:lnTo>
                <a:lnTo>
                  <a:pt x="615823" y="58420"/>
                </a:lnTo>
                <a:lnTo>
                  <a:pt x="572897" y="58420"/>
                </a:lnTo>
                <a:lnTo>
                  <a:pt x="570992" y="57150"/>
                </a:lnTo>
                <a:lnTo>
                  <a:pt x="568833" y="55879"/>
                </a:lnTo>
                <a:lnTo>
                  <a:pt x="568071" y="53339"/>
                </a:lnTo>
                <a:lnTo>
                  <a:pt x="569341" y="45720"/>
                </a:lnTo>
                <a:lnTo>
                  <a:pt x="570992" y="41910"/>
                </a:lnTo>
                <a:lnTo>
                  <a:pt x="573659" y="38100"/>
                </a:lnTo>
                <a:lnTo>
                  <a:pt x="576834" y="33020"/>
                </a:lnTo>
                <a:lnTo>
                  <a:pt x="580898" y="27939"/>
                </a:lnTo>
                <a:lnTo>
                  <a:pt x="590550" y="20320"/>
                </a:lnTo>
                <a:lnTo>
                  <a:pt x="595503" y="16510"/>
                </a:lnTo>
                <a:lnTo>
                  <a:pt x="600583" y="15239"/>
                </a:lnTo>
                <a:lnTo>
                  <a:pt x="602107" y="12700"/>
                </a:lnTo>
                <a:lnTo>
                  <a:pt x="581152" y="0"/>
                </a:lnTo>
                <a:close/>
              </a:path>
              <a:path w="650239" h="932179">
                <a:moveTo>
                  <a:pt x="624586" y="24129"/>
                </a:moveTo>
                <a:lnTo>
                  <a:pt x="592582" y="43179"/>
                </a:lnTo>
                <a:lnTo>
                  <a:pt x="587756" y="48260"/>
                </a:lnTo>
                <a:lnTo>
                  <a:pt x="585597" y="50800"/>
                </a:lnTo>
                <a:lnTo>
                  <a:pt x="581533" y="54610"/>
                </a:lnTo>
                <a:lnTo>
                  <a:pt x="578485" y="57150"/>
                </a:lnTo>
                <a:lnTo>
                  <a:pt x="576707" y="58420"/>
                </a:lnTo>
                <a:lnTo>
                  <a:pt x="615823" y="58420"/>
                </a:lnTo>
                <a:lnTo>
                  <a:pt x="617728" y="57150"/>
                </a:lnTo>
                <a:lnTo>
                  <a:pt x="649597" y="57150"/>
                </a:lnTo>
                <a:lnTo>
                  <a:pt x="649859" y="53339"/>
                </a:lnTo>
                <a:lnTo>
                  <a:pt x="630428" y="25400"/>
                </a:lnTo>
                <a:lnTo>
                  <a:pt x="624586" y="24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76630" y="2219960"/>
            <a:ext cx="14611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Verdana"/>
                <a:cs typeface="Verdana"/>
              </a:rPr>
              <a:t>No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Estructurada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751" y="3617214"/>
            <a:ext cx="16027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Verdana"/>
                <a:cs typeface="Verdana"/>
              </a:rPr>
              <a:t>Semiestructurada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340" y="5267959"/>
            <a:ext cx="11588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Verdana"/>
                <a:cs typeface="Verdana"/>
              </a:rPr>
              <a:t>Estructurada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10758" y="3274440"/>
            <a:ext cx="710565" cy="1089660"/>
          </a:xfrm>
          <a:custGeom>
            <a:avLst/>
            <a:gdLst/>
            <a:ahLst/>
            <a:cxnLst/>
            <a:rect l="l" t="t" r="r" b="b"/>
            <a:pathLst>
              <a:path w="710565" h="1089660">
                <a:moveTo>
                  <a:pt x="693716" y="996950"/>
                </a:moveTo>
                <a:lnTo>
                  <a:pt x="660400" y="996950"/>
                </a:lnTo>
                <a:lnTo>
                  <a:pt x="663828" y="999490"/>
                </a:lnTo>
                <a:lnTo>
                  <a:pt x="666750" y="1000760"/>
                </a:lnTo>
                <a:lnTo>
                  <a:pt x="669163" y="1003300"/>
                </a:lnTo>
                <a:lnTo>
                  <a:pt x="678814" y="1021080"/>
                </a:lnTo>
                <a:lnTo>
                  <a:pt x="678433" y="1023620"/>
                </a:lnTo>
                <a:lnTo>
                  <a:pt x="677290" y="1024890"/>
                </a:lnTo>
                <a:lnTo>
                  <a:pt x="676147" y="1027430"/>
                </a:lnTo>
                <a:lnTo>
                  <a:pt x="674115" y="1028700"/>
                </a:lnTo>
                <a:lnTo>
                  <a:pt x="671067" y="1031240"/>
                </a:lnTo>
                <a:lnTo>
                  <a:pt x="664717" y="1036320"/>
                </a:lnTo>
                <a:lnTo>
                  <a:pt x="661415" y="1037590"/>
                </a:lnTo>
                <a:lnTo>
                  <a:pt x="620394" y="1064260"/>
                </a:lnTo>
                <a:lnTo>
                  <a:pt x="636904" y="1089660"/>
                </a:lnTo>
                <a:lnTo>
                  <a:pt x="690752" y="1056640"/>
                </a:lnTo>
                <a:lnTo>
                  <a:pt x="710178" y="1028700"/>
                </a:lnTo>
                <a:lnTo>
                  <a:pt x="709596" y="1022350"/>
                </a:lnTo>
                <a:lnTo>
                  <a:pt x="707562" y="1016000"/>
                </a:lnTo>
                <a:lnTo>
                  <a:pt x="704088" y="1008380"/>
                </a:lnTo>
                <a:lnTo>
                  <a:pt x="700786" y="1003300"/>
                </a:lnTo>
                <a:lnTo>
                  <a:pt x="696848" y="999490"/>
                </a:lnTo>
                <a:lnTo>
                  <a:pt x="693716" y="996950"/>
                </a:lnTo>
                <a:close/>
              </a:path>
              <a:path w="710565" h="1089660">
                <a:moveTo>
                  <a:pt x="667892" y="956310"/>
                </a:moveTo>
                <a:lnTo>
                  <a:pt x="585215" y="1007110"/>
                </a:lnTo>
                <a:lnTo>
                  <a:pt x="601726" y="1033780"/>
                </a:lnTo>
                <a:lnTo>
                  <a:pt x="660400" y="996950"/>
                </a:lnTo>
                <a:lnTo>
                  <a:pt x="693716" y="996950"/>
                </a:lnTo>
                <a:lnTo>
                  <a:pt x="692149" y="995680"/>
                </a:lnTo>
                <a:lnTo>
                  <a:pt x="687577" y="993140"/>
                </a:lnTo>
                <a:lnTo>
                  <a:pt x="681863" y="990600"/>
                </a:lnTo>
                <a:lnTo>
                  <a:pt x="675258" y="988060"/>
                </a:lnTo>
                <a:lnTo>
                  <a:pt x="684402" y="981710"/>
                </a:lnTo>
                <a:lnTo>
                  <a:pt x="667892" y="956310"/>
                </a:lnTo>
                <a:close/>
              </a:path>
              <a:path w="710565" h="1089660">
                <a:moveTo>
                  <a:pt x="588295" y="862330"/>
                </a:moveTo>
                <a:lnTo>
                  <a:pt x="549100" y="878840"/>
                </a:lnTo>
                <a:lnTo>
                  <a:pt x="532455" y="913130"/>
                </a:lnTo>
                <a:lnTo>
                  <a:pt x="533622" y="923290"/>
                </a:lnTo>
                <a:lnTo>
                  <a:pt x="557450" y="961390"/>
                </a:lnTo>
                <a:lnTo>
                  <a:pt x="584801" y="971550"/>
                </a:lnTo>
                <a:lnTo>
                  <a:pt x="594598" y="970280"/>
                </a:lnTo>
                <a:lnTo>
                  <a:pt x="631063" y="948690"/>
                </a:lnTo>
                <a:lnTo>
                  <a:pt x="634770" y="942340"/>
                </a:lnTo>
                <a:lnTo>
                  <a:pt x="571372" y="942340"/>
                </a:lnTo>
                <a:lnTo>
                  <a:pt x="568832" y="941070"/>
                </a:lnTo>
                <a:lnTo>
                  <a:pt x="564514" y="937260"/>
                </a:lnTo>
                <a:lnTo>
                  <a:pt x="562737" y="935990"/>
                </a:lnTo>
                <a:lnTo>
                  <a:pt x="559434" y="930910"/>
                </a:lnTo>
                <a:lnTo>
                  <a:pt x="558418" y="928370"/>
                </a:lnTo>
                <a:lnTo>
                  <a:pt x="557402" y="922020"/>
                </a:lnTo>
                <a:lnTo>
                  <a:pt x="557656" y="919480"/>
                </a:lnTo>
                <a:lnTo>
                  <a:pt x="592581" y="891540"/>
                </a:lnTo>
                <a:lnTo>
                  <a:pt x="631124" y="891540"/>
                </a:lnTo>
                <a:lnTo>
                  <a:pt x="630427" y="890270"/>
                </a:lnTo>
                <a:lnTo>
                  <a:pt x="623401" y="880110"/>
                </a:lnTo>
                <a:lnTo>
                  <a:pt x="615648" y="872490"/>
                </a:lnTo>
                <a:lnTo>
                  <a:pt x="607157" y="867410"/>
                </a:lnTo>
                <a:lnTo>
                  <a:pt x="597915" y="863600"/>
                </a:lnTo>
                <a:lnTo>
                  <a:pt x="588295" y="862330"/>
                </a:lnTo>
                <a:close/>
              </a:path>
              <a:path w="710565" h="1089660">
                <a:moveTo>
                  <a:pt x="631124" y="891540"/>
                </a:moveTo>
                <a:lnTo>
                  <a:pt x="598931" y="891540"/>
                </a:lnTo>
                <a:lnTo>
                  <a:pt x="602106" y="892810"/>
                </a:lnTo>
                <a:lnTo>
                  <a:pt x="604774" y="894080"/>
                </a:lnTo>
                <a:lnTo>
                  <a:pt x="608583" y="896620"/>
                </a:lnTo>
                <a:lnTo>
                  <a:pt x="610362" y="899160"/>
                </a:lnTo>
                <a:lnTo>
                  <a:pt x="611886" y="901700"/>
                </a:lnTo>
                <a:lnTo>
                  <a:pt x="613537" y="904240"/>
                </a:lnTo>
                <a:lnTo>
                  <a:pt x="614552" y="906780"/>
                </a:lnTo>
                <a:lnTo>
                  <a:pt x="615061" y="909320"/>
                </a:lnTo>
                <a:lnTo>
                  <a:pt x="615695" y="911860"/>
                </a:lnTo>
                <a:lnTo>
                  <a:pt x="615441" y="914400"/>
                </a:lnTo>
                <a:lnTo>
                  <a:pt x="613409" y="920750"/>
                </a:lnTo>
                <a:lnTo>
                  <a:pt x="611504" y="923290"/>
                </a:lnTo>
                <a:lnTo>
                  <a:pt x="608838" y="925830"/>
                </a:lnTo>
                <a:lnTo>
                  <a:pt x="606043" y="929640"/>
                </a:lnTo>
                <a:lnTo>
                  <a:pt x="602233" y="932180"/>
                </a:lnTo>
                <a:lnTo>
                  <a:pt x="597407" y="934720"/>
                </a:lnTo>
                <a:lnTo>
                  <a:pt x="592201" y="938530"/>
                </a:lnTo>
                <a:lnTo>
                  <a:pt x="587755" y="941070"/>
                </a:lnTo>
                <a:lnTo>
                  <a:pt x="584326" y="941070"/>
                </a:lnTo>
                <a:lnTo>
                  <a:pt x="580770" y="942340"/>
                </a:lnTo>
                <a:lnTo>
                  <a:pt x="634770" y="942340"/>
                </a:lnTo>
                <a:lnTo>
                  <a:pt x="636254" y="939800"/>
                </a:lnTo>
                <a:lnTo>
                  <a:pt x="639444" y="930910"/>
                </a:lnTo>
                <a:lnTo>
                  <a:pt x="640518" y="920750"/>
                </a:lnTo>
                <a:lnTo>
                  <a:pt x="639365" y="910590"/>
                </a:lnTo>
                <a:lnTo>
                  <a:pt x="635998" y="900430"/>
                </a:lnTo>
                <a:lnTo>
                  <a:pt x="631124" y="891540"/>
                </a:lnTo>
                <a:close/>
              </a:path>
              <a:path w="710565" h="1089660">
                <a:moveTo>
                  <a:pt x="668654" y="866140"/>
                </a:moveTo>
                <a:lnTo>
                  <a:pt x="628395" y="866140"/>
                </a:lnTo>
                <a:lnTo>
                  <a:pt x="639699" y="883920"/>
                </a:lnTo>
                <a:lnTo>
                  <a:pt x="683259" y="892810"/>
                </a:lnTo>
                <a:lnTo>
                  <a:pt x="684783" y="892810"/>
                </a:lnTo>
                <a:lnTo>
                  <a:pt x="668654" y="866140"/>
                </a:lnTo>
                <a:close/>
              </a:path>
              <a:path w="710565" h="1089660">
                <a:moveTo>
                  <a:pt x="571118" y="800100"/>
                </a:moveTo>
                <a:lnTo>
                  <a:pt x="488568" y="852170"/>
                </a:lnTo>
                <a:lnTo>
                  <a:pt x="505078" y="878840"/>
                </a:lnTo>
                <a:lnTo>
                  <a:pt x="587755" y="826770"/>
                </a:lnTo>
                <a:lnTo>
                  <a:pt x="571118" y="800100"/>
                </a:lnTo>
                <a:close/>
              </a:path>
              <a:path w="710565" h="1089660">
                <a:moveTo>
                  <a:pt x="506983" y="722630"/>
                </a:moveTo>
                <a:lnTo>
                  <a:pt x="500125" y="722630"/>
                </a:lnTo>
                <a:lnTo>
                  <a:pt x="485647" y="723900"/>
                </a:lnTo>
                <a:lnTo>
                  <a:pt x="478281" y="727710"/>
                </a:lnTo>
                <a:lnTo>
                  <a:pt x="470534" y="731520"/>
                </a:lnTo>
                <a:lnTo>
                  <a:pt x="446404" y="765810"/>
                </a:lnTo>
                <a:lnTo>
                  <a:pt x="445642" y="772160"/>
                </a:lnTo>
                <a:lnTo>
                  <a:pt x="446150" y="779780"/>
                </a:lnTo>
                <a:lnTo>
                  <a:pt x="448182" y="786130"/>
                </a:lnTo>
                <a:lnTo>
                  <a:pt x="450214" y="793750"/>
                </a:lnTo>
                <a:lnTo>
                  <a:pt x="472947" y="825500"/>
                </a:lnTo>
                <a:lnTo>
                  <a:pt x="481838" y="831850"/>
                </a:lnTo>
                <a:lnTo>
                  <a:pt x="504443" y="817880"/>
                </a:lnTo>
                <a:lnTo>
                  <a:pt x="502030" y="814070"/>
                </a:lnTo>
                <a:lnTo>
                  <a:pt x="500379" y="814070"/>
                </a:lnTo>
                <a:lnTo>
                  <a:pt x="498601" y="812800"/>
                </a:lnTo>
                <a:lnTo>
                  <a:pt x="496696" y="812800"/>
                </a:lnTo>
                <a:lnTo>
                  <a:pt x="494918" y="811530"/>
                </a:lnTo>
                <a:lnTo>
                  <a:pt x="492887" y="811530"/>
                </a:lnTo>
                <a:lnTo>
                  <a:pt x="488822" y="808990"/>
                </a:lnTo>
                <a:lnTo>
                  <a:pt x="486537" y="807720"/>
                </a:lnTo>
                <a:lnTo>
                  <a:pt x="484124" y="805180"/>
                </a:lnTo>
                <a:lnTo>
                  <a:pt x="481583" y="802640"/>
                </a:lnTo>
                <a:lnTo>
                  <a:pt x="479425" y="800100"/>
                </a:lnTo>
                <a:lnTo>
                  <a:pt x="477265" y="796290"/>
                </a:lnTo>
                <a:lnTo>
                  <a:pt x="472820" y="789940"/>
                </a:lnTo>
                <a:lnTo>
                  <a:pt x="471424" y="782320"/>
                </a:lnTo>
                <a:lnTo>
                  <a:pt x="473201" y="775970"/>
                </a:lnTo>
                <a:lnTo>
                  <a:pt x="474852" y="769620"/>
                </a:lnTo>
                <a:lnTo>
                  <a:pt x="479678" y="764540"/>
                </a:lnTo>
                <a:lnTo>
                  <a:pt x="487679" y="759460"/>
                </a:lnTo>
                <a:lnTo>
                  <a:pt x="495300" y="754380"/>
                </a:lnTo>
                <a:lnTo>
                  <a:pt x="502665" y="753110"/>
                </a:lnTo>
                <a:lnTo>
                  <a:pt x="544576" y="753110"/>
                </a:lnTo>
                <a:lnTo>
                  <a:pt x="540638" y="746760"/>
                </a:lnTo>
                <a:lnTo>
                  <a:pt x="536066" y="740410"/>
                </a:lnTo>
                <a:lnTo>
                  <a:pt x="530732" y="736600"/>
                </a:lnTo>
                <a:lnTo>
                  <a:pt x="525526" y="731520"/>
                </a:lnTo>
                <a:lnTo>
                  <a:pt x="519811" y="727710"/>
                </a:lnTo>
                <a:lnTo>
                  <a:pt x="506983" y="722630"/>
                </a:lnTo>
                <a:close/>
              </a:path>
              <a:path w="710565" h="1089660">
                <a:moveTo>
                  <a:pt x="602488" y="779780"/>
                </a:moveTo>
                <a:lnTo>
                  <a:pt x="582421" y="792480"/>
                </a:lnTo>
                <a:lnTo>
                  <a:pt x="599947" y="820420"/>
                </a:lnTo>
                <a:lnTo>
                  <a:pt x="620013" y="807720"/>
                </a:lnTo>
                <a:lnTo>
                  <a:pt x="602488" y="779780"/>
                </a:lnTo>
                <a:close/>
              </a:path>
              <a:path w="710565" h="1089660">
                <a:moveTo>
                  <a:pt x="544576" y="753110"/>
                </a:moveTo>
                <a:lnTo>
                  <a:pt x="502665" y="753110"/>
                </a:lnTo>
                <a:lnTo>
                  <a:pt x="516381" y="754380"/>
                </a:lnTo>
                <a:lnTo>
                  <a:pt x="521969" y="758190"/>
                </a:lnTo>
                <a:lnTo>
                  <a:pt x="526288" y="765810"/>
                </a:lnTo>
                <a:lnTo>
                  <a:pt x="528319" y="768350"/>
                </a:lnTo>
                <a:lnTo>
                  <a:pt x="529716" y="772160"/>
                </a:lnTo>
                <a:lnTo>
                  <a:pt x="531240" y="777240"/>
                </a:lnTo>
                <a:lnTo>
                  <a:pt x="531749" y="779780"/>
                </a:lnTo>
                <a:lnTo>
                  <a:pt x="531876" y="783590"/>
                </a:lnTo>
                <a:lnTo>
                  <a:pt x="532129" y="786130"/>
                </a:lnTo>
                <a:lnTo>
                  <a:pt x="532129" y="788670"/>
                </a:lnTo>
                <a:lnTo>
                  <a:pt x="531749" y="789940"/>
                </a:lnTo>
                <a:lnTo>
                  <a:pt x="531240" y="795020"/>
                </a:lnTo>
                <a:lnTo>
                  <a:pt x="530987" y="796290"/>
                </a:lnTo>
                <a:lnTo>
                  <a:pt x="533400" y="800100"/>
                </a:lnTo>
                <a:lnTo>
                  <a:pt x="555878" y="786130"/>
                </a:lnTo>
                <a:lnTo>
                  <a:pt x="548004" y="758190"/>
                </a:lnTo>
                <a:lnTo>
                  <a:pt x="544576" y="753110"/>
                </a:lnTo>
                <a:close/>
              </a:path>
              <a:path w="710565" h="1089660">
                <a:moveTo>
                  <a:pt x="413130" y="636270"/>
                </a:moveTo>
                <a:lnTo>
                  <a:pt x="402081" y="636270"/>
                </a:lnTo>
                <a:lnTo>
                  <a:pt x="396366" y="637540"/>
                </a:lnTo>
                <a:lnTo>
                  <a:pt x="382777" y="646430"/>
                </a:lnTo>
                <a:lnTo>
                  <a:pt x="378205" y="652780"/>
                </a:lnTo>
                <a:lnTo>
                  <a:pt x="376681" y="661670"/>
                </a:lnTo>
                <a:lnTo>
                  <a:pt x="376080" y="666750"/>
                </a:lnTo>
                <a:lnTo>
                  <a:pt x="376729" y="673100"/>
                </a:lnTo>
                <a:lnTo>
                  <a:pt x="378592" y="679450"/>
                </a:lnTo>
                <a:lnTo>
                  <a:pt x="381634" y="685800"/>
                </a:lnTo>
                <a:lnTo>
                  <a:pt x="383666" y="688340"/>
                </a:lnTo>
                <a:lnTo>
                  <a:pt x="385952" y="692150"/>
                </a:lnTo>
                <a:lnTo>
                  <a:pt x="390525" y="695960"/>
                </a:lnTo>
                <a:lnTo>
                  <a:pt x="393064" y="698500"/>
                </a:lnTo>
                <a:lnTo>
                  <a:pt x="395858" y="701040"/>
                </a:lnTo>
                <a:lnTo>
                  <a:pt x="397890" y="702310"/>
                </a:lnTo>
                <a:lnTo>
                  <a:pt x="400303" y="703580"/>
                </a:lnTo>
                <a:lnTo>
                  <a:pt x="403225" y="703580"/>
                </a:lnTo>
                <a:lnTo>
                  <a:pt x="406018" y="704850"/>
                </a:lnTo>
                <a:lnTo>
                  <a:pt x="408431" y="706120"/>
                </a:lnTo>
                <a:lnTo>
                  <a:pt x="410337" y="707390"/>
                </a:lnTo>
                <a:lnTo>
                  <a:pt x="401574" y="712470"/>
                </a:lnTo>
                <a:lnTo>
                  <a:pt x="417956" y="739140"/>
                </a:lnTo>
                <a:lnTo>
                  <a:pt x="474217" y="703580"/>
                </a:lnTo>
                <a:lnTo>
                  <a:pt x="479127" y="699770"/>
                </a:lnTo>
                <a:lnTo>
                  <a:pt x="423290" y="699770"/>
                </a:lnTo>
                <a:lnTo>
                  <a:pt x="420242" y="698500"/>
                </a:lnTo>
                <a:lnTo>
                  <a:pt x="417321" y="695960"/>
                </a:lnTo>
                <a:lnTo>
                  <a:pt x="411733" y="692150"/>
                </a:lnTo>
                <a:lnTo>
                  <a:pt x="409575" y="689610"/>
                </a:lnTo>
                <a:lnTo>
                  <a:pt x="407924" y="687070"/>
                </a:lnTo>
                <a:lnTo>
                  <a:pt x="405764" y="684530"/>
                </a:lnTo>
                <a:lnTo>
                  <a:pt x="404494" y="681990"/>
                </a:lnTo>
                <a:lnTo>
                  <a:pt x="403478" y="678180"/>
                </a:lnTo>
                <a:lnTo>
                  <a:pt x="403351" y="675640"/>
                </a:lnTo>
                <a:lnTo>
                  <a:pt x="403859" y="673100"/>
                </a:lnTo>
                <a:lnTo>
                  <a:pt x="404494" y="670560"/>
                </a:lnTo>
                <a:lnTo>
                  <a:pt x="405383" y="670560"/>
                </a:lnTo>
                <a:lnTo>
                  <a:pt x="406272" y="669290"/>
                </a:lnTo>
                <a:lnTo>
                  <a:pt x="407542" y="668020"/>
                </a:lnTo>
                <a:lnTo>
                  <a:pt x="409193" y="666750"/>
                </a:lnTo>
                <a:lnTo>
                  <a:pt x="411861" y="665480"/>
                </a:lnTo>
                <a:lnTo>
                  <a:pt x="446011" y="665480"/>
                </a:lnTo>
                <a:lnTo>
                  <a:pt x="444001" y="662940"/>
                </a:lnTo>
                <a:lnTo>
                  <a:pt x="429132" y="645160"/>
                </a:lnTo>
                <a:lnTo>
                  <a:pt x="418464" y="638810"/>
                </a:lnTo>
                <a:lnTo>
                  <a:pt x="413130" y="636270"/>
                </a:lnTo>
                <a:close/>
              </a:path>
              <a:path w="710565" h="1089660">
                <a:moveTo>
                  <a:pt x="446011" y="665480"/>
                </a:moveTo>
                <a:lnTo>
                  <a:pt x="419353" y="665480"/>
                </a:lnTo>
                <a:lnTo>
                  <a:pt x="421766" y="666750"/>
                </a:lnTo>
                <a:lnTo>
                  <a:pt x="424306" y="669290"/>
                </a:lnTo>
                <a:lnTo>
                  <a:pt x="426338" y="670560"/>
                </a:lnTo>
                <a:lnTo>
                  <a:pt x="428878" y="673100"/>
                </a:lnTo>
                <a:lnTo>
                  <a:pt x="431926" y="676910"/>
                </a:lnTo>
                <a:lnTo>
                  <a:pt x="435101" y="681990"/>
                </a:lnTo>
                <a:lnTo>
                  <a:pt x="437895" y="684530"/>
                </a:lnTo>
                <a:lnTo>
                  <a:pt x="440436" y="688340"/>
                </a:lnTo>
                <a:lnTo>
                  <a:pt x="423290" y="699770"/>
                </a:lnTo>
                <a:lnTo>
                  <a:pt x="479127" y="699770"/>
                </a:lnTo>
                <a:lnTo>
                  <a:pt x="480764" y="698500"/>
                </a:lnTo>
                <a:lnTo>
                  <a:pt x="485536" y="693420"/>
                </a:lnTo>
                <a:lnTo>
                  <a:pt x="488523" y="687070"/>
                </a:lnTo>
                <a:lnTo>
                  <a:pt x="489712" y="680720"/>
                </a:lnTo>
                <a:lnTo>
                  <a:pt x="489529" y="678180"/>
                </a:lnTo>
                <a:lnTo>
                  <a:pt x="456056" y="678180"/>
                </a:lnTo>
                <a:lnTo>
                  <a:pt x="446011" y="665480"/>
                </a:lnTo>
                <a:close/>
              </a:path>
              <a:path w="710565" h="1089660">
                <a:moveTo>
                  <a:pt x="451992" y="613410"/>
                </a:moveTo>
                <a:lnTo>
                  <a:pt x="432053" y="626110"/>
                </a:lnTo>
                <a:lnTo>
                  <a:pt x="433577" y="627380"/>
                </a:lnTo>
                <a:lnTo>
                  <a:pt x="435737" y="629920"/>
                </a:lnTo>
                <a:lnTo>
                  <a:pt x="461899" y="662940"/>
                </a:lnTo>
                <a:lnTo>
                  <a:pt x="463041" y="671830"/>
                </a:lnTo>
                <a:lnTo>
                  <a:pt x="461009" y="675640"/>
                </a:lnTo>
                <a:lnTo>
                  <a:pt x="456438" y="678180"/>
                </a:lnTo>
                <a:lnTo>
                  <a:pt x="489529" y="678180"/>
                </a:lnTo>
                <a:lnTo>
                  <a:pt x="472439" y="637540"/>
                </a:lnTo>
                <a:lnTo>
                  <a:pt x="454405" y="615950"/>
                </a:lnTo>
                <a:lnTo>
                  <a:pt x="451992" y="613410"/>
                </a:lnTo>
                <a:close/>
              </a:path>
              <a:path w="710565" h="1089660">
                <a:moveTo>
                  <a:pt x="413384" y="547370"/>
                </a:moveTo>
                <a:lnTo>
                  <a:pt x="379856" y="547370"/>
                </a:lnTo>
                <a:lnTo>
                  <a:pt x="383413" y="548640"/>
                </a:lnTo>
                <a:lnTo>
                  <a:pt x="386333" y="551180"/>
                </a:lnTo>
                <a:lnTo>
                  <a:pt x="388365" y="552450"/>
                </a:lnTo>
                <a:lnTo>
                  <a:pt x="390525" y="553720"/>
                </a:lnTo>
                <a:lnTo>
                  <a:pt x="392175" y="556260"/>
                </a:lnTo>
                <a:lnTo>
                  <a:pt x="395604" y="561340"/>
                </a:lnTo>
                <a:lnTo>
                  <a:pt x="396747" y="563880"/>
                </a:lnTo>
                <a:lnTo>
                  <a:pt x="397509" y="568960"/>
                </a:lnTo>
                <a:lnTo>
                  <a:pt x="397001" y="571500"/>
                </a:lnTo>
                <a:lnTo>
                  <a:pt x="395731" y="572770"/>
                </a:lnTo>
                <a:lnTo>
                  <a:pt x="394462" y="575310"/>
                </a:lnTo>
                <a:lnTo>
                  <a:pt x="392556" y="576580"/>
                </a:lnTo>
                <a:lnTo>
                  <a:pt x="387222" y="580390"/>
                </a:lnTo>
                <a:lnTo>
                  <a:pt x="383793" y="582930"/>
                </a:lnTo>
                <a:lnTo>
                  <a:pt x="338454" y="610870"/>
                </a:lnTo>
                <a:lnTo>
                  <a:pt x="408813" y="604520"/>
                </a:lnTo>
                <a:lnTo>
                  <a:pt x="428678" y="576580"/>
                </a:lnTo>
                <a:lnTo>
                  <a:pt x="428259" y="570230"/>
                </a:lnTo>
                <a:lnTo>
                  <a:pt x="426340" y="563880"/>
                </a:lnTo>
                <a:lnTo>
                  <a:pt x="422909" y="557530"/>
                </a:lnTo>
                <a:lnTo>
                  <a:pt x="419988" y="552450"/>
                </a:lnTo>
                <a:lnTo>
                  <a:pt x="415670" y="548640"/>
                </a:lnTo>
                <a:lnTo>
                  <a:pt x="413384" y="547370"/>
                </a:lnTo>
                <a:close/>
              </a:path>
              <a:path w="710565" h="1089660">
                <a:moveTo>
                  <a:pt x="379793" y="492760"/>
                </a:moveTo>
                <a:lnTo>
                  <a:pt x="346075" y="492760"/>
                </a:lnTo>
                <a:lnTo>
                  <a:pt x="348361" y="494030"/>
                </a:lnTo>
                <a:lnTo>
                  <a:pt x="350900" y="495300"/>
                </a:lnTo>
                <a:lnTo>
                  <a:pt x="353440" y="497840"/>
                </a:lnTo>
                <a:lnTo>
                  <a:pt x="356107" y="499110"/>
                </a:lnTo>
                <a:lnTo>
                  <a:pt x="358139" y="501650"/>
                </a:lnTo>
                <a:lnTo>
                  <a:pt x="359790" y="504190"/>
                </a:lnTo>
                <a:lnTo>
                  <a:pt x="361822" y="506730"/>
                </a:lnTo>
                <a:lnTo>
                  <a:pt x="362965" y="510540"/>
                </a:lnTo>
                <a:lnTo>
                  <a:pt x="363219" y="511810"/>
                </a:lnTo>
                <a:lnTo>
                  <a:pt x="363600" y="514350"/>
                </a:lnTo>
                <a:lnTo>
                  <a:pt x="363092" y="516890"/>
                </a:lnTo>
                <a:lnTo>
                  <a:pt x="361950" y="518160"/>
                </a:lnTo>
                <a:lnTo>
                  <a:pt x="360679" y="520700"/>
                </a:lnTo>
                <a:lnTo>
                  <a:pt x="358775" y="523240"/>
                </a:lnTo>
                <a:lnTo>
                  <a:pt x="355980" y="524510"/>
                </a:lnTo>
                <a:lnTo>
                  <a:pt x="353313" y="525780"/>
                </a:lnTo>
                <a:lnTo>
                  <a:pt x="350012" y="528320"/>
                </a:lnTo>
                <a:lnTo>
                  <a:pt x="304672" y="556260"/>
                </a:lnTo>
                <a:lnTo>
                  <a:pt x="321182" y="582930"/>
                </a:lnTo>
                <a:lnTo>
                  <a:pt x="379856" y="547370"/>
                </a:lnTo>
                <a:lnTo>
                  <a:pt x="413384" y="547370"/>
                </a:lnTo>
                <a:lnTo>
                  <a:pt x="404240" y="542290"/>
                </a:lnTo>
                <a:lnTo>
                  <a:pt x="397637" y="538480"/>
                </a:lnTo>
                <a:lnTo>
                  <a:pt x="389763" y="535940"/>
                </a:lnTo>
                <a:lnTo>
                  <a:pt x="393064" y="530860"/>
                </a:lnTo>
                <a:lnTo>
                  <a:pt x="394588" y="525780"/>
                </a:lnTo>
                <a:lnTo>
                  <a:pt x="394334" y="514350"/>
                </a:lnTo>
                <a:lnTo>
                  <a:pt x="392556" y="509270"/>
                </a:lnTo>
                <a:lnTo>
                  <a:pt x="389127" y="502920"/>
                </a:lnTo>
                <a:lnTo>
                  <a:pt x="385952" y="497840"/>
                </a:lnTo>
                <a:lnTo>
                  <a:pt x="382142" y="494030"/>
                </a:lnTo>
                <a:lnTo>
                  <a:pt x="379793" y="492760"/>
                </a:lnTo>
                <a:close/>
              </a:path>
              <a:path w="710565" h="1089660">
                <a:moveTo>
                  <a:pt x="353567" y="450850"/>
                </a:moveTo>
                <a:lnTo>
                  <a:pt x="270890" y="502920"/>
                </a:lnTo>
                <a:lnTo>
                  <a:pt x="287400" y="529590"/>
                </a:lnTo>
                <a:lnTo>
                  <a:pt x="346075" y="492760"/>
                </a:lnTo>
                <a:lnTo>
                  <a:pt x="379793" y="492760"/>
                </a:lnTo>
                <a:lnTo>
                  <a:pt x="377443" y="491490"/>
                </a:lnTo>
                <a:lnTo>
                  <a:pt x="372871" y="488950"/>
                </a:lnTo>
                <a:lnTo>
                  <a:pt x="367411" y="486410"/>
                </a:lnTo>
                <a:lnTo>
                  <a:pt x="360933" y="483870"/>
                </a:lnTo>
                <a:lnTo>
                  <a:pt x="370077" y="477520"/>
                </a:lnTo>
                <a:lnTo>
                  <a:pt x="353567" y="450850"/>
                </a:lnTo>
                <a:close/>
              </a:path>
              <a:path w="710565" h="1089660">
                <a:moveTo>
                  <a:pt x="306831" y="375920"/>
                </a:moveTo>
                <a:lnTo>
                  <a:pt x="224154" y="427990"/>
                </a:lnTo>
                <a:lnTo>
                  <a:pt x="240791" y="454660"/>
                </a:lnTo>
                <a:lnTo>
                  <a:pt x="296037" y="420370"/>
                </a:lnTo>
                <a:lnTo>
                  <a:pt x="331571" y="420370"/>
                </a:lnTo>
                <a:lnTo>
                  <a:pt x="326389" y="416560"/>
                </a:lnTo>
                <a:lnTo>
                  <a:pt x="319913" y="412750"/>
                </a:lnTo>
                <a:lnTo>
                  <a:pt x="311276" y="410210"/>
                </a:lnTo>
                <a:lnTo>
                  <a:pt x="323341" y="402590"/>
                </a:lnTo>
                <a:lnTo>
                  <a:pt x="306831" y="375920"/>
                </a:lnTo>
                <a:close/>
              </a:path>
              <a:path w="710565" h="1089660">
                <a:moveTo>
                  <a:pt x="331571" y="420370"/>
                </a:moveTo>
                <a:lnTo>
                  <a:pt x="296037" y="420370"/>
                </a:lnTo>
                <a:lnTo>
                  <a:pt x="299338" y="422910"/>
                </a:lnTo>
                <a:lnTo>
                  <a:pt x="302132" y="425450"/>
                </a:lnTo>
                <a:lnTo>
                  <a:pt x="308990" y="433070"/>
                </a:lnTo>
                <a:lnTo>
                  <a:pt x="311403" y="436880"/>
                </a:lnTo>
                <a:lnTo>
                  <a:pt x="312419" y="439420"/>
                </a:lnTo>
                <a:lnTo>
                  <a:pt x="313563" y="440690"/>
                </a:lnTo>
                <a:lnTo>
                  <a:pt x="316356" y="445770"/>
                </a:lnTo>
                <a:lnTo>
                  <a:pt x="317500" y="449580"/>
                </a:lnTo>
                <a:lnTo>
                  <a:pt x="318896" y="452120"/>
                </a:lnTo>
                <a:lnTo>
                  <a:pt x="344169" y="435610"/>
                </a:lnTo>
                <a:lnTo>
                  <a:pt x="343662" y="435610"/>
                </a:lnTo>
                <a:lnTo>
                  <a:pt x="343153" y="434340"/>
                </a:lnTo>
                <a:lnTo>
                  <a:pt x="342391" y="433070"/>
                </a:lnTo>
                <a:lnTo>
                  <a:pt x="341121" y="430530"/>
                </a:lnTo>
                <a:lnTo>
                  <a:pt x="340613" y="429260"/>
                </a:lnTo>
                <a:lnTo>
                  <a:pt x="338327" y="426720"/>
                </a:lnTo>
                <a:lnTo>
                  <a:pt x="335025" y="422910"/>
                </a:lnTo>
                <a:lnTo>
                  <a:pt x="331571" y="420370"/>
                </a:lnTo>
                <a:close/>
              </a:path>
              <a:path w="710565" h="1089660">
                <a:moveTo>
                  <a:pt x="227288" y="283210"/>
                </a:moveTo>
                <a:lnTo>
                  <a:pt x="188041" y="299720"/>
                </a:lnTo>
                <a:lnTo>
                  <a:pt x="171519" y="334010"/>
                </a:lnTo>
                <a:lnTo>
                  <a:pt x="172672" y="344170"/>
                </a:lnTo>
                <a:lnTo>
                  <a:pt x="196389" y="382270"/>
                </a:lnTo>
                <a:lnTo>
                  <a:pt x="223740" y="392430"/>
                </a:lnTo>
                <a:lnTo>
                  <a:pt x="233537" y="391160"/>
                </a:lnTo>
                <a:lnTo>
                  <a:pt x="270001" y="368300"/>
                </a:lnTo>
                <a:lnTo>
                  <a:pt x="273462" y="363220"/>
                </a:lnTo>
                <a:lnTo>
                  <a:pt x="210438" y="363220"/>
                </a:lnTo>
                <a:lnTo>
                  <a:pt x="207899" y="361950"/>
                </a:lnTo>
                <a:lnTo>
                  <a:pt x="203580" y="358140"/>
                </a:lnTo>
                <a:lnTo>
                  <a:pt x="201675" y="356870"/>
                </a:lnTo>
                <a:lnTo>
                  <a:pt x="200151" y="354330"/>
                </a:lnTo>
                <a:lnTo>
                  <a:pt x="198500" y="350520"/>
                </a:lnTo>
                <a:lnTo>
                  <a:pt x="197357" y="347980"/>
                </a:lnTo>
                <a:lnTo>
                  <a:pt x="196341" y="342900"/>
                </a:lnTo>
                <a:lnTo>
                  <a:pt x="196595" y="340360"/>
                </a:lnTo>
                <a:lnTo>
                  <a:pt x="197612" y="337820"/>
                </a:lnTo>
                <a:lnTo>
                  <a:pt x="198500" y="334010"/>
                </a:lnTo>
                <a:lnTo>
                  <a:pt x="200405" y="331470"/>
                </a:lnTo>
                <a:lnTo>
                  <a:pt x="205993" y="326389"/>
                </a:lnTo>
                <a:lnTo>
                  <a:pt x="209676" y="322580"/>
                </a:lnTo>
                <a:lnTo>
                  <a:pt x="214249" y="320039"/>
                </a:lnTo>
                <a:lnTo>
                  <a:pt x="219201" y="317500"/>
                </a:lnTo>
                <a:lnTo>
                  <a:pt x="223774" y="314960"/>
                </a:lnTo>
                <a:lnTo>
                  <a:pt x="231647" y="312420"/>
                </a:lnTo>
                <a:lnTo>
                  <a:pt x="270620" y="312420"/>
                </a:lnTo>
                <a:lnTo>
                  <a:pt x="269366" y="309880"/>
                </a:lnTo>
                <a:lnTo>
                  <a:pt x="262342" y="300989"/>
                </a:lnTo>
                <a:lnTo>
                  <a:pt x="254603" y="293370"/>
                </a:lnTo>
                <a:lnTo>
                  <a:pt x="246149" y="288289"/>
                </a:lnTo>
                <a:lnTo>
                  <a:pt x="236981" y="284480"/>
                </a:lnTo>
                <a:lnTo>
                  <a:pt x="227288" y="283210"/>
                </a:lnTo>
                <a:close/>
              </a:path>
              <a:path w="710565" h="1089660">
                <a:moveTo>
                  <a:pt x="270620" y="312420"/>
                </a:moveTo>
                <a:lnTo>
                  <a:pt x="237997" y="312420"/>
                </a:lnTo>
                <a:lnTo>
                  <a:pt x="241172" y="313689"/>
                </a:lnTo>
                <a:lnTo>
                  <a:pt x="243712" y="313689"/>
                </a:lnTo>
                <a:lnTo>
                  <a:pt x="247522" y="317500"/>
                </a:lnTo>
                <a:lnTo>
                  <a:pt x="249300" y="320039"/>
                </a:lnTo>
                <a:lnTo>
                  <a:pt x="250951" y="321310"/>
                </a:lnTo>
                <a:lnTo>
                  <a:pt x="252475" y="323850"/>
                </a:lnTo>
                <a:lnTo>
                  <a:pt x="253618" y="326389"/>
                </a:lnTo>
                <a:lnTo>
                  <a:pt x="254431" y="331470"/>
                </a:lnTo>
                <a:lnTo>
                  <a:pt x="254507" y="334010"/>
                </a:lnTo>
                <a:lnTo>
                  <a:pt x="254380" y="335280"/>
                </a:lnTo>
                <a:lnTo>
                  <a:pt x="252349" y="340360"/>
                </a:lnTo>
                <a:lnTo>
                  <a:pt x="250570" y="344170"/>
                </a:lnTo>
                <a:lnTo>
                  <a:pt x="244982" y="349250"/>
                </a:lnTo>
                <a:lnTo>
                  <a:pt x="241300" y="353060"/>
                </a:lnTo>
                <a:lnTo>
                  <a:pt x="236346" y="355600"/>
                </a:lnTo>
                <a:lnTo>
                  <a:pt x="231139" y="359410"/>
                </a:lnTo>
                <a:lnTo>
                  <a:pt x="226821" y="360680"/>
                </a:lnTo>
                <a:lnTo>
                  <a:pt x="219709" y="363220"/>
                </a:lnTo>
                <a:lnTo>
                  <a:pt x="273462" y="363220"/>
                </a:lnTo>
                <a:lnTo>
                  <a:pt x="275193" y="360680"/>
                </a:lnTo>
                <a:lnTo>
                  <a:pt x="278383" y="351790"/>
                </a:lnTo>
                <a:lnTo>
                  <a:pt x="279528" y="341630"/>
                </a:lnTo>
                <a:lnTo>
                  <a:pt x="278399" y="331470"/>
                </a:lnTo>
                <a:lnTo>
                  <a:pt x="275008" y="321310"/>
                </a:lnTo>
                <a:lnTo>
                  <a:pt x="270620" y="312420"/>
                </a:lnTo>
                <a:close/>
              </a:path>
              <a:path w="710565" h="1089660">
                <a:moveTo>
                  <a:pt x="197103" y="199389"/>
                </a:moveTo>
                <a:lnTo>
                  <a:pt x="179069" y="210820"/>
                </a:lnTo>
                <a:lnTo>
                  <a:pt x="186181" y="222250"/>
                </a:lnTo>
                <a:lnTo>
                  <a:pt x="121538" y="262889"/>
                </a:lnTo>
                <a:lnTo>
                  <a:pt x="138049" y="289560"/>
                </a:lnTo>
                <a:lnTo>
                  <a:pt x="202691" y="248920"/>
                </a:lnTo>
                <a:lnTo>
                  <a:pt x="227234" y="248920"/>
                </a:lnTo>
                <a:lnTo>
                  <a:pt x="220090" y="237489"/>
                </a:lnTo>
                <a:lnTo>
                  <a:pt x="220725" y="236220"/>
                </a:lnTo>
                <a:lnTo>
                  <a:pt x="226187" y="233680"/>
                </a:lnTo>
                <a:lnTo>
                  <a:pt x="230250" y="232410"/>
                </a:lnTo>
                <a:lnTo>
                  <a:pt x="262043" y="232410"/>
                </a:lnTo>
                <a:lnTo>
                  <a:pt x="261492" y="231139"/>
                </a:lnTo>
                <a:lnTo>
                  <a:pt x="259333" y="227330"/>
                </a:lnTo>
                <a:lnTo>
                  <a:pt x="256920" y="223520"/>
                </a:lnTo>
                <a:lnTo>
                  <a:pt x="251708" y="215900"/>
                </a:lnTo>
                <a:lnTo>
                  <a:pt x="246173" y="210820"/>
                </a:lnTo>
                <a:lnTo>
                  <a:pt x="204088" y="210820"/>
                </a:lnTo>
                <a:lnTo>
                  <a:pt x="197103" y="199389"/>
                </a:lnTo>
                <a:close/>
              </a:path>
              <a:path w="710565" h="1089660">
                <a:moveTo>
                  <a:pt x="227234" y="248920"/>
                </a:moveTo>
                <a:lnTo>
                  <a:pt x="202691" y="248920"/>
                </a:lnTo>
                <a:lnTo>
                  <a:pt x="214883" y="269239"/>
                </a:lnTo>
                <a:lnTo>
                  <a:pt x="232790" y="257810"/>
                </a:lnTo>
                <a:lnTo>
                  <a:pt x="227234" y="248920"/>
                </a:lnTo>
                <a:close/>
              </a:path>
              <a:path w="710565" h="1089660">
                <a:moveTo>
                  <a:pt x="262043" y="232410"/>
                </a:moveTo>
                <a:lnTo>
                  <a:pt x="230250" y="232410"/>
                </a:lnTo>
                <a:lnTo>
                  <a:pt x="236346" y="233680"/>
                </a:lnTo>
                <a:lnTo>
                  <a:pt x="239394" y="236220"/>
                </a:lnTo>
                <a:lnTo>
                  <a:pt x="242696" y="241300"/>
                </a:lnTo>
                <a:lnTo>
                  <a:pt x="243966" y="243839"/>
                </a:lnTo>
                <a:lnTo>
                  <a:pt x="244982" y="245110"/>
                </a:lnTo>
                <a:lnTo>
                  <a:pt x="246506" y="250189"/>
                </a:lnTo>
                <a:lnTo>
                  <a:pt x="247395" y="252730"/>
                </a:lnTo>
                <a:lnTo>
                  <a:pt x="248665" y="255270"/>
                </a:lnTo>
                <a:lnTo>
                  <a:pt x="267334" y="243839"/>
                </a:lnTo>
                <a:lnTo>
                  <a:pt x="266318" y="241300"/>
                </a:lnTo>
                <a:lnTo>
                  <a:pt x="264921" y="237489"/>
                </a:lnTo>
                <a:lnTo>
                  <a:pt x="263143" y="234950"/>
                </a:lnTo>
                <a:lnTo>
                  <a:pt x="262043" y="232410"/>
                </a:lnTo>
                <a:close/>
              </a:path>
              <a:path w="710565" h="1089660">
                <a:moveTo>
                  <a:pt x="161840" y="143510"/>
                </a:moveTo>
                <a:lnTo>
                  <a:pt x="128524" y="143510"/>
                </a:lnTo>
                <a:lnTo>
                  <a:pt x="131952" y="146050"/>
                </a:lnTo>
                <a:lnTo>
                  <a:pt x="134874" y="147320"/>
                </a:lnTo>
                <a:lnTo>
                  <a:pt x="139572" y="151130"/>
                </a:lnTo>
                <a:lnTo>
                  <a:pt x="141477" y="153670"/>
                </a:lnTo>
                <a:lnTo>
                  <a:pt x="143001" y="156210"/>
                </a:lnTo>
                <a:lnTo>
                  <a:pt x="145161" y="158750"/>
                </a:lnTo>
                <a:lnTo>
                  <a:pt x="146303" y="162560"/>
                </a:lnTo>
                <a:lnTo>
                  <a:pt x="147065" y="167639"/>
                </a:lnTo>
                <a:lnTo>
                  <a:pt x="146557" y="168910"/>
                </a:lnTo>
                <a:lnTo>
                  <a:pt x="145414" y="171450"/>
                </a:lnTo>
                <a:lnTo>
                  <a:pt x="144271" y="172720"/>
                </a:lnTo>
                <a:lnTo>
                  <a:pt x="142239" y="175260"/>
                </a:lnTo>
                <a:lnTo>
                  <a:pt x="139191" y="177800"/>
                </a:lnTo>
                <a:lnTo>
                  <a:pt x="132841" y="182880"/>
                </a:lnTo>
                <a:lnTo>
                  <a:pt x="129539" y="184150"/>
                </a:lnTo>
                <a:lnTo>
                  <a:pt x="88518" y="209550"/>
                </a:lnTo>
                <a:lnTo>
                  <a:pt x="158876" y="203200"/>
                </a:lnTo>
                <a:lnTo>
                  <a:pt x="178355" y="175260"/>
                </a:lnTo>
                <a:lnTo>
                  <a:pt x="177736" y="168910"/>
                </a:lnTo>
                <a:lnTo>
                  <a:pt x="175688" y="161289"/>
                </a:lnTo>
                <a:lnTo>
                  <a:pt x="172212" y="154939"/>
                </a:lnTo>
                <a:lnTo>
                  <a:pt x="168909" y="149860"/>
                </a:lnTo>
                <a:lnTo>
                  <a:pt x="164972" y="146050"/>
                </a:lnTo>
                <a:lnTo>
                  <a:pt x="161840" y="143510"/>
                </a:lnTo>
                <a:close/>
              </a:path>
              <a:path w="710565" h="1089660">
                <a:moveTo>
                  <a:pt x="234187" y="203200"/>
                </a:moveTo>
                <a:lnTo>
                  <a:pt x="220948" y="203200"/>
                </a:lnTo>
                <a:lnTo>
                  <a:pt x="213828" y="205739"/>
                </a:lnTo>
                <a:lnTo>
                  <a:pt x="206375" y="209550"/>
                </a:lnTo>
                <a:lnTo>
                  <a:pt x="204088" y="210820"/>
                </a:lnTo>
                <a:lnTo>
                  <a:pt x="246173" y="210820"/>
                </a:lnTo>
                <a:lnTo>
                  <a:pt x="240329" y="205739"/>
                </a:lnTo>
                <a:lnTo>
                  <a:pt x="234187" y="203200"/>
                </a:lnTo>
                <a:close/>
              </a:path>
              <a:path w="710565" h="1089660">
                <a:moveTo>
                  <a:pt x="136016" y="101600"/>
                </a:moveTo>
                <a:lnTo>
                  <a:pt x="53339" y="153670"/>
                </a:lnTo>
                <a:lnTo>
                  <a:pt x="69850" y="180339"/>
                </a:lnTo>
                <a:lnTo>
                  <a:pt x="128524" y="143510"/>
                </a:lnTo>
                <a:lnTo>
                  <a:pt x="161840" y="143510"/>
                </a:lnTo>
                <a:lnTo>
                  <a:pt x="160274" y="142239"/>
                </a:lnTo>
                <a:lnTo>
                  <a:pt x="155701" y="139700"/>
                </a:lnTo>
                <a:lnTo>
                  <a:pt x="149987" y="137160"/>
                </a:lnTo>
                <a:lnTo>
                  <a:pt x="143382" y="134620"/>
                </a:lnTo>
                <a:lnTo>
                  <a:pt x="152526" y="128270"/>
                </a:lnTo>
                <a:lnTo>
                  <a:pt x="136016" y="101600"/>
                </a:lnTo>
                <a:close/>
              </a:path>
              <a:path w="710565" h="1089660">
                <a:moveTo>
                  <a:pt x="19430" y="55880"/>
                </a:moveTo>
                <a:lnTo>
                  <a:pt x="0" y="67310"/>
                </a:lnTo>
                <a:lnTo>
                  <a:pt x="40004" y="132080"/>
                </a:lnTo>
                <a:lnTo>
                  <a:pt x="59436" y="120650"/>
                </a:lnTo>
                <a:lnTo>
                  <a:pt x="48259" y="101600"/>
                </a:lnTo>
                <a:lnTo>
                  <a:pt x="94032" y="73660"/>
                </a:lnTo>
                <a:lnTo>
                  <a:pt x="30606" y="73660"/>
                </a:lnTo>
                <a:lnTo>
                  <a:pt x="19430" y="55880"/>
                </a:lnTo>
                <a:close/>
              </a:path>
              <a:path w="710565" h="1089660">
                <a:moveTo>
                  <a:pt x="146405" y="58420"/>
                </a:moveTo>
                <a:lnTo>
                  <a:pt x="118999" y="58420"/>
                </a:lnTo>
                <a:lnTo>
                  <a:pt x="130175" y="76200"/>
                </a:lnTo>
                <a:lnTo>
                  <a:pt x="149605" y="63500"/>
                </a:lnTo>
                <a:lnTo>
                  <a:pt x="146405" y="58420"/>
                </a:lnTo>
                <a:close/>
              </a:path>
              <a:path w="710565" h="1089660">
                <a:moveTo>
                  <a:pt x="109600" y="0"/>
                </a:moveTo>
                <a:lnTo>
                  <a:pt x="90169" y="11430"/>
                </a:lnTo>
                <a:lnTo>
                  <a:pt x="101345" y="29210"/>
                </a:lnTo>
                <a:lnTo>
                  <a:pt x="30606" y="73660"/>
                </a:lnTo>
                <a:lnTo>
                  <a:pt x="94032" y="73660"/>
                </a:lnTo>
                <a:lnTo>
                  <a:pt x="118999" y="58420"/>
                </a:lnTo>
                <a:lnTo>
                  <a:pt x="146405" y="58420"/>
                </a:lnTo>
                <a:lnTo>
                  <a:pt x="109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877811" y="1958086"/>
            <a:ext cx="165481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175" marR="5080" indent="512445" algn="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Verdana"/>
                <a:cs typeface="Verdana"/>
              </a:rPr>
              <a:t>Esp</a:t>
            </a:r>
            <a:r>
              <a:rPr sz="1400" spc="-5" dirty="0">
                <a:latin typeface="Verdana"/>
                <a:cs typeface="Verdana"/>
              </a:rPr>
              <a:t>ecíf</a:t>
            </a:r>
            <a:r>
              <a:rPr sz="1400" spc="-15" dirty="0">
                <a:latin typeface="Verdana"/>
                <a:cs typeface="Verdana"/>
              </a:rPr>
              <a:t>i</a:t>
            </a:r>
            <a:r>
              <a:rPr sz="1400" spc="-5" dirty="0">
                <a:latin typeface="Verdana"/>
                <a:cs typeface="Verdana"/>
              </a:rPr>
              <a:t>ca  No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programada</a:t>
            </a:r>
            <a:endParaRPr sz="1400">
              <a:latin typeface="Verdana"/>
              <a:cs typeface="Verdana"/>
            </a:endParaRPr>
          </a:p>
          <a:p>
            <a:pPr marL="325120" marR="5080" indent="447675" algn="r">
              <a:lnSpc>
                <a:spcPct val="100000"/>
              </a:lnSpc>
            </a:pPr>
            <a:r>
              <a:rPr sz="1400" spc="-45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es</a:t>
            </a:r>
            <a:r>
              <a:rPr sz="1400" spc="-1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mida  </a:t>
            </a:r>
            <a:r>
              <a:rPr sz="1400" spc="-15" dirty="0">
                <a:latin typeface="Verdana"/>
                <a:cs typeface="Verdana"/>
              </a:rPr>
              <a:t>Poco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frecuente  Pro</a:t>
            </a:r>
            <a:r>
              <a:rPr sz="1400" spc="-10" dirty="0">
                <a:latin typeface="Verdana"/>
                <a:cs typeface="Verdana"/>
              </a:rPr>
              <a:t>specti</a:t>
            </a:r>
            <a:r>
              <a:rPr sz="1400" spc="-4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  <a:p>
            <a:pPr marL="12700" marR="5080" indent="939800" algn="r">
              <a:lnSpc>
                <a:spcPct val="100000"/>
              </a:lnSpc>
            </a:pPr>
            <a:r>
              <a:rPr sz="1400" spc="-10" dirty="0">
                <a:latin typeface="Verdana"/>
                <a:cs typeface="Verdana"/>
              </a:rPr>
              <a:t>Exter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  De amplio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alcance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8738" y="3998214"/>
            <a:ext cx="110426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1280" algn="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Verdana"/>
                <a:cs typeface="Verdana"/>
              </a:rPr>
              <a:t>Predefin</a:t>
            </a:r>
            <a:r>
              <a:rPr sz="1400" dirty="0">
                <a:latin typeface="Verdana"/>
                <a:cs typeface="Verdana"/>
              </a:rPr>
              <a:t>i</a:t>
            </a:r>
            <a:r>
              <a:rPr sz="1400" spc="-10" dirty="0">
                <a:latin typeface="Verdana"/>
                <a:cs typeface="Verdana"/>
              </a:rPr>
              <a:t>da  </a:t>
            </a:r>
            <a:r>
              <a:rPr sz="1400" spc="-5" dirty="0">
                <a:latin typeface="Verdana"/>
                <a:cs typeface="Verdana"/>
              </a:rPr>
              <a:t>Detallada  Prog</a:t>
            </a:r>
            <a:r>
              <a:rPr sz="1400" spc="-40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amada  Fre</a:t>
            </a:r>
            <a:r>
              <a:rPr sz="1400" spc="-10" dirty="0">
                <a:latin typeface="Verdana"/>
                <a:cs typeface="Verdana"/>
              </a:rPr>
              <a:t>c</a:t>
            </a:r>
            <a:r>
              <a:rPr sz="1400" spc="-5" dirty="0">
                <a:latin typeface="Verdana"/>
                <a:cs typeface="Verdana"/>
              </a:rPr>
              <a:t>ue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spc="-10" dirty="0">
                <a:latin typeface="Verdana"/>
                <a:cs typeface="Verdana"/>
              </a:rPr>
              <a:t>te  Históri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spc="-5" dirty="0">
                <a:latin typeface="Verdana"/>
                <a:cs typeface="Verdana"/>
              </a:rPr>
              <a:t>a  Inter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  <a:p>
            <a:pPr marR="6350" algn="r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De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enfoque</a:t>
            </a:r>
            <a:endParaRPr sz="1400">
              <a:latin typeface="Verdana"/>
              <a:cs typeface="Verdana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Verdana"/>
                <a:cs typeface="Verdana"/>
              </a:rPr>
              <a:t>red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cido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66800" y="1358646"/>
            <a:ext cx="2469642" cy="400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66113" y="1404112"/>
            <a:ext cx="22536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Verdana"/>
                <a:cs typeface="Verdana"/>
              </a:rPr>
              <a:t>Estructura </a:t>
            </a: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decisión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63311" y="1358646"/>
            <a:ext cx="3518153" cy="4008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62879" y="1404112"/>
            <a:ext cx="33020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Verdana"/>
                <a:cs typeface="Verdana"/>
              </a:rPr>
              <a:t>Características de la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información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45" dirty="0">
                <a:latin typeface="Arial"/>
                <a:cs typeface="Arial"/>
              </a:rPr>
              <a:t>información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80" dirty="0">
                <a:latin typeface="Arial"/>
                <a:cs typeface="Arial"/>
              </a:rPr>
              <a:t>organización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8450" y="1212850"/>
          <a:ext cx="8539479" cy="522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4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515">
                <a:tc>
                  <a:txBody>
                    <a:bodyPr/>
                    <a:lstStyle/>
                    <a:p>
                      <a:pPr marL="683260" marR="313055" indent="-3492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Estructura 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b="1" spc="-2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la  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decisión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622935" marR="337185" indent="-2667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Admini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ió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  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operativa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758825" marR="337185" indent="-40259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Admini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ió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  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táctica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557530" marR="337185" indent="-2012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Admini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ió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  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estratégica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i="1" spc="-45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800" b="1" i="1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i="1" spc="-130" dirty="0">
                          <a:latin typeface="Trebuchet MS"/>
                          <a:cs typeface="Trebuchet MS"/>
                        </a:rPr>
                        <a:t>estructurada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800" i="1" spc="-50" dirty="0">
                          <a:latin typeface="Trebuchet MS"/>
                          <a:cs typeface="Trebuchet MS"/>
                        </a:rPr>
                        <a:t>Manejo </a:t>
                      </a:r>
                      <a:r>
                        <a:rPr sz="1800" i="1" spc="-120" dirty="0"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sz="1800" i="1" spc="-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i="1" spc="-114" dirty="0">
                          <a:latin typeface="Trebuchet MS"/>
                          <a:cs typeface="Trebuchet MS"/>
                        </a:rPr>
                        <a:t>efectivo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106680" indent="190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95" dirty="0">
                          <a:latin typeface="Arial"/>
                          <a:cs typeface="Arial"/>
                        </a:rPr>
                        <a:t>Reingeniería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procesos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negocio 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Análisis de 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desempeño 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grupo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trabajo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09220" marR="901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30" dirty="0">
                          <a:latin typeface="Arial"/>
                          <a:cs typeface="Arial"/>
                        </a:rPr>
                        <a:t>Nuevas 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iniciativas</a:t>
                      </a:r>
                      <a:r>
                        <a:rPr sz="18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negocios  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electrónicos  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Reorganización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empresa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6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1800" b="1" i="1" spc="-125" dirty="0">
                          <a:latin typeface="Trebuchet MS"/>
                          <a:cs typeface="Trebuchet MS"/>
                        </a:rPr>
                        <a:t>Semiestructurada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68910" marR="149225" indent="-1270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i="1" spc="-50" dirty="0">
                          <a:latin typeface="Trebuchet MS"/>
                          <a:cs typeface="Trebuchet MS"/>
                        </a:rPr>
                        <a:t>Manejo </a:t>
                      </a:r>
                      <a:r>
                        <a:rPr sz="1800" i="1" spc="-95" dirty="0">
                          <a:latin typeface="Trebuchet MS"/>
                          <a:cs typeface="Trebuchet MS"/>
                        </a:rPr>
                        <a:t>de </a:t>
                      </a:r>
                      <a:r>
                        <a:rPr sz="1800" i="1" spc="-110" dirty="0">
                          <a:latin typeface="Trebuchet MS"/>
                          <a:cs typeface="Trebuchet MS"/>
                        </a:rPr>
                        <a:t>crédito  </a:t>
                      </a:r>
                      <a:r>
                        <a:rPr sz="1800" i="1" spc="-65" dirty="0">
                          <a:latin typeface="Trebuchet MS"/>
                          <a:cs typeface="Trebuchet MS"/>
                        </a:rPr>
                        <a:t>Programación </a:t>
                      </a:r>
                      <a:r>
                        <a:rPr sz="1800" i="1" spc="-9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i="1" spc="-2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i="1" spc="-95" dirty="0">
                          <a:latin typeface="Trebuchet MS"/>
                          <a:cs typeface="Trebuchet MS"/>
                        </a:rPr>
                        <a:t>la  </a:t>
                      </a:r>
                      <a:r>
                        <a:rPr sz="1800" i="1" spc="-90" dirty="0">
                          <a:latin typeface="Trebuchet MS"/>
                          <a:cs typeface="Trebuchet MS"/>
                        </a:rPr>
                        <a:t>producción  </a:t>
                      </a:r>
                      <a:r>
                        <a:rPr sz="1800" i="1" spc="-60" dirty="0">
                          <a:latin typeface="Trebuchet MS"/>
                          <a:cs typeface="Trebuchet MS"/>
                        </a:rPr>
                        <a:t>Asignación </a:t>
                      </a:r>
                      <a:r>
                        <a:rPr sz="1800" i="1" spc="-125" dirty="0">
                          <a:latin typeface="Trebuchet MS"/>
                          <a:cs typeface="Trebuchet MS"/>
                        </a:rPr>
                        <a:t>del  </a:t>
                      </a:r>
                      <a:r>
                        <a:rPr sz="1800" i="1" spc="-100" dirty="0">
                          <a:latin typeface="Trebuchet MS"/>
                          <a:cs typeface="Trebuchet MS"/>
                        </a:rPr>
                        <a:t>trabajo</a:t>
                      </a:r>
                      <a:r>
                        <a:rPr sz="1800" i="1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i="1" spc="-100" dirty="0">
                          <a:latin typeface="Trebuchet MS"/>
                          <a:cs typeface="Trebuchet MS"/>
                        </a:rPr>
                        <a:t>diario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78105" indent="-1270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spc="-105" dirty="0">
                          <a:latin typeface="Arial"/>
                          <a:cs typeface="Arial"/>
                        </a:rPr>
                        <a:t>Evaluación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desempeño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empleados 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Presupuestación  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(capital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programas)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224790" marR="205740" algn="ctr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800" spc="-95" dirty="0">
                          <a:latin typeface="Arial"/>
                          <a:cs typeface="Arial"/>
                        </a:rPr>
                        <a:t>Planeación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productos  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Fusiones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y 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adquisiciones  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Ubicación 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8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sitio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i="1" spc="-135" dirty="0">
                          <a:latin typeface="Trebuchet MS"/>
                          <a:cs typeface="Trebuchet MS"/>
                        </a:rPr>
                        <a:t>Estructurada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543560" indent="3302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i="1" spc="-110" dirty="0">
                          <a:latin typeface="Trebuchet MS"/>
                          <a:cs typeface="Trebuchet MS"/>
                        </a:rPr>
                        <a:t>Control </a:t>
                      </a:r>
                      <a:r>
                        <a:rPr sz="1800" i="1" spc="-100" dirty="0">
                          <a:latin typeface="Trebuchet MS"/>
                          <a:cs typeface="Trebuchet MS"/>
                        </a:rPr>
                        <a:t>de  </a:t>
                      </a:r>
                      <a:r>
                        <a:rPr sz="1800" i="1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800" i="1" spc="-3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800" i="1" dirty="0">
                          <a:latin typeface="Trebuchet MS"/>
                          <a:cs typeface="Trebuchet MS"/>
                        </a:rPr>
                        <a:t>ve</a:t>
                      </a:r>
                      <a:r>
                        <a:rPr sz="1800" i="1" spc="-2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800" i="1" spc="-3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i="1" spc="-5" dirty="0">
                          <a:latin typeface="Trebuchet MS"/>
                          <a:cs typeface="Trebuchet MS"/>
                        </a:rPr>
                        <a:t>arios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577215" marR="558165" indent="889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Control</a:t>
                      </a:r>
                      <a:r>
                        <a:rPr sz="18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og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amas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spc="-55" dirty="0">
                          <a:latin typeface="Arial"/>
                          <a:cs typeface="Arial"/>
                        </a:rPr>
                        <a:t>N/A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Necesidades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información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organización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53868"/>
            <a:ext cx="7804784" cy="42024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200" dirty="0">
                <a:latin typeface="Trebuchet MS"/>
                <a:cs typeface="Trebuchet MS"/>
              </a:rPr>
              <a:t>Tiempo</a:t>
            </a:r>
            <a:endParaRPr sz="3200">
              <a:latin typeface="Trebuchet MS"/>
              <a:cs typeface="Trebuchet MS"/>
            </a:endParaRPr>
          </a:p>
          <a:p>
            <a:pPr marL="755650" marR="12700" lvl="1" indent="-285750">
              <a:lnSpc>
                <a:spcPts val="3020"/>
              </a:lnSpc>
              <a:spcBef>
                <a:spcPts val="750"/>
              </a:spcBef>
              <a:buChar char="–"/>
              <a:tabLst>
                <a:tab pos="755650" algn="l"/>
              </a:tabLst>
            </a:pPr>
            <a:r>
              <a:rPr sz="2800" spc="-80" dirty="0">
                <a:latin typeface="Arial"/>
                <a:cs typeface="Arial"/>
              </a:rPr>
              <a:t>Oportunidad, </a:t>
            </a:r>
            <a:r>
              <a:rPr sz="2800" spc="-95" dirty="0">
                <a:latin typeface="Arial"/>
                <a:cs typeface="Arial"/>
              </a:rPr>
              <a:t>Actualidad, </a:t>
            </a:r>
            <a:r>
              <a:rPr sz="2800" spc="-150" dirty="0">
                <a:latin typeface="Arial"/>
                <a:cs typeface="Arial"/>
              </a:rPr>
              <a:t>Frecuencia, </a:t>
            </a:r>
            <a:r>
              <a:rPr sz="2800" spc="-145" dirty="0">
                <a:latin typeface="Arial"/>
                <a:cs typeface="Arial"/>
              </a:rPr>
              <a:t>Período</a:t>
            </a:r>
            <a:r>
              <a:rPr sz="2800" spc="-3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de  </a:t>
            </a:r>
            <a:r>
              <a:rPr sz="2800" spc="-50" dirty="0">
                <a:latin typeface="Arial"/>
                <a:cs typeface="Arial"/>
              </a:rPr>
              <a:t>tiempo.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180" dirty="0">
                <a:latin typeface="Trebuchet MS"/>
                <a:cs typeface="Trebuchet MS"/>
              </a:rPr>
              <a:t>Contenido</a:t>
            </a:r>
            <a:endParaRPr sz="3200">
              <a:latin typeface="Trebuchet MS"/>
              <a:cs typeface="Trebuchet MS"/>
            </a:endParaRPr>
          </a:p>
          <a:p>
            <a:pPr marL="755650" marR="10160" lvl="1" indent="-285750">
              <a:lnSpc>
                <a:spcPts val="3020"/>
              </a:lnSpc>
              <a:spcBef>
                <a:spcPts val="745"/>
              </a:spcBef>
              <a:buChar char="–"/>
              <a:tabLst>
                <a:tab pos="755650" algn="l"/>
              </a:tabLst>
            </a:pPr>
            <a:r>
              <a:rPr sz="2800" spc="-110" dirty="0">
                <a:latin typeface="Arial"/>
                <a:cs typeface="Arial"/>
              </a:rPr>
              <a:t>Exactitud, </a:t>
            </a:r>
            <a:r>
              <a:rPr sz="2800" spc="-80" dirty="0">
                <a:latin typeface="Arial"/>
                <a:cs typeface="Arial"/>
              </a:rPr>
              <a:t>Importancia, </a:t>
            </a:r>
            <a:r>
              <a:rPr sz="2800" spc="-85" dirty="0">
                <a:latin typeface="Arial"/>
                <a:cs typeface="Arial"/>
              </a:rPr>
              <a:t>Integridad,</a:t>
            </a:r>
            <a:r>
              <a:rPr sz="2800" spc="-28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Especificidad,  </a:t>
            </a:r>
            <a:r>
              <a:rPr sz="2800" spc="-155" dirty="0">
                <a:latin typeface="Arial"/>
                <a:cs typeface="Arial"/>
              </a:rPr>
              <a:t>Alcance,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Desempeño.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210" dirty="0">
                <a:latin typeface="Trebuchet MS"/>
                <a:cs typeface="Trebuchet MS"/>
              </a:rPr>
              <a:t>Forma</a:t>
            </a:r>
            <a:endParaRPr sz="3200">
              <a:latin typeface="Trebuchet MS"/>
              <a:cs typeface="Trebuchet MS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50"/>
              </a:spcBef>
              <a:buChar char="–"/>
              <a:tabLst>
                <a:tab pos="755650" algn="l"/>
              </a:tabLst>
            </a:pPr>
            <a:r>
              <a:rPr sz="2800" spc="-130" dirty="0">
                <a:latin typeface="Arial"/>
                <a:cs typeface="Arial"/>
              </a:rPr>
              <a:t>Claridad, </a:t>
            </a:r>
            <a:r>
              <a:rPr sz="2800" spc="-100" dirty="0">
                <a:latin typeface="Arial"/>
                <a:cs typeface="Arial"/>
              </a:rPr>
              <a:t>Detalle, </a:t>
            </a:r>
            <a:r>
              <a:rPr sz="2800" spc="-125" dirty="0">
                <a:latin typeface="Arial"/>
                <a:cs typeface="Arial"/>
              </a:rPr>
              <a:t>Orden, </a:t>
            </a:r>
            <a:r>
              <a:rPr sz="2800" spc="-135" dirty="0">
                <a:latin typeface="Arial"/>
                <a:cs typeface="Arial"/>
              </a:rPr>
              <a:t>Presentación, </a:t>
            </a:r>
            <a:r>
              <a:rPr sz="2800" spc="-55" dirty="0">
                <a:latin typeface="Arial"/>
                <a:cs typeface="Arial"/>
              </a:rPr>
              <a:t>Medio</a:t>
            </a:r>
            <a:r>
              <a:rPr sz="2800" spc="-30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de  </a:t>
            </a:r>
            <a:r>
              <a:rPr sz="2800" spc="-140" dirty="0">
                <a:latin typeface="Arial"/>
                <a:cs typeface="Arial"/>
              </a:rPr>
              <a:t>Comunicación.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45" dirty="0">
                <a:latin typeface="Arial"/>
                <a:cs typeface="Arial"/>
              </a:rPr>
              <a:t>información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80" dirty="0">
                <a:latin typeface="Arial"/>
                <a:cs typeface="Arial"/>
              </a:rPr>
              <a:t>organización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195" y="1295445"/>
            <a:ext cx="8759606" cy="4846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230620" cy="4588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20" dirty="0">
                <a:solidFill>
                  <a:srgbClr val="FFFFFF"/>
                </a:solidFill>
                <a:latin typeface="Arial"/>
                <a:cs typeface="Arial"/>
              </a:rPr>
              <a:t>DSS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1280160" algn="just">
              <a:lnSpc>
                <a:spcPct val="100000"/>
              </a:lnSpc>
            </a:pPr>
            <a:r>
              <a:rPr sz="2400" b="1" spc="-155" dirty="0">
                <a:latin typeface="Trebuchet MS"/>
                <a:cs typeface="Trebuchet MS"/>
              </a:rPr>
              <a:t>Concepto: </a:t>
            </a:r>
            <a:r>
              <a:rPr sz="2400" spc="-60" dirty="0">
                <a:latin typeface="Arial"/>
                <a:cs typeface="Arial"/>
              </a:rPr>
              <a:t>conjunto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programas </a:t>
            </a:r>
            <a:r>
              <a:rPr sz="2400" spc="-114" dirty="0">
                <a:latin typeface="Arial"/>
                <a:cs typeface="Arial"/>
              </a:rPr>
              <a:t>y  </a:t>
            </a:r>
            <a:r>
              <a:rPr sz="2400" spc="-90" dirty="0">
                <a:latin typeface="Arial"/>
                <a:cs typeface="Arial"/>
              </a:rPr>
              <a:t>herramientas</a:t>
            </a:r>
            <a:r>
              <a:rPr sz="2400" spc="484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45" dirty="0">
                <a:latin typeface="Arial"/>
                <a:cs typeface="Arial"/>
              </a:rPr>
              <a:t>permiten </a:t>
            </a:r>
            <a:r>
              <a:rPr sz="2400" spc="-55" dirty="0">
                <a:latin typeface="Arial"/>
                <a:cs typeface="Arial"/>
              </a:rPr>
              <a:t>obtener  </a:t>
            </a:r>
            <a:r>
              <a:rPr sz="2400" spc="-100" dirty="0">
                <a:latin typeface="Arial"/>
                <a:cs typeface="Arial"/>
              </a:rPr>
              <a:t>(de </a:t>
            </a:r>
            <a:r>
              <a:rPr sz="2400" spc="-114" dirty="0">
                <a:latin typeface="Arial"/>
                <a:cs typeface="Arial"/>
              </a:rPr>
              <a:t>manera </a:t>
            </a:r>
            <a:r>
              <a:rPr sz="2400" spc="-55" dirty="0">
                <a:latin typeface="Arial"/>
                <a:cs typeface="Arial"/>
              </a:rPr>
              <a:t>oportuna)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65" dirty="0">
                <a:latin typeface="Arial"/>
                <a:cs typeface="Arial"/>
              </a:rPr>
              <a:t>información 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70" dirty="0">
                <a:latin typeface="Arial"/>
                <a:cs typeface="Arial"/>
              </a:rPr>
              <a:t>requiere durante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20" dirty="0">
                <a:latin typeface="Arial"/>
                <a:cs typeface="Arial"/>
              </a:rPr>
              <a:t>proceso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65" dirty="0">
                <a:latin typeface="Arial"/>
                <a:cs typeface="Arial"/>
              </a:rPr>
              <a:t>toma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decisiones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90" dirty="0">
                <a:latin typeface="Arial"/>
                <a:cs typeface="Arial"/>
              </a:rPr>
              <a:t>desarrolla 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75" dirty="0">
                <a:latin typeface="Arial"/>
                <a:cs typeface="Arial"/>
              </a:rPr>
              <a:t>ambiente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50" dirty="0">
                <a:latin typeface="Arial"/>
                <a:cs typeface="Arial"/>
              </a:rPr>
              <a:t>incertidumbre. </a:t>
            </a:r>
            <a:r>
              <a:rPr sz="2400" spc="-265" dirty="0">
                <a:latin typeface="Arial"/>
                <a:cs typeface="Arial"/>
              </a:rPr>
              <a:t>La  </a:t>
            </a:r>
            <a:r>
              <a:rPr sz="2400" spc="-110" dirty="0">
                <a:latin typeface="Arial"/>
                <a:cs typeface="Arial"/>
              </a:rPr>
              <a:t>existencia de </a:t>
            </a:r>
            <a:r>
              <a:rPr sz="2400" spc="-75" dirty="0">
                <a:latin typeface="Arial"/>
                <a:cs typeface="Arial"/>
              </a:rPr>
              <a:t>un </a:t>
            </a:r>
            <a:r>
              <a:rPr sz="2400" spc="-40" dirty="0">
                <a:latin typeface="Arial"/>
                <a:cs typeface="Arial"/>
              </a:rPr>
              <a:t>tiempo  </a:t>
            </a:r>
            <a:r>
              <a:rPr sz="2400" spc="-35" dirty="0">
                <a:latin typeface="Arial"/>
                <a:cs typeface="Arial"/>
              </a:rPr>
              <a:t>límite </a:t>
            </a:r>
            <a:r>
              <a:rPr sz="2400" spc="-70" dirty="0">
                <a:latin typeface="Arial"/>
                <a:cs typeface="Arial"/>
              </a:rPr>
              <a:t>o  </a:t>
            </a:r>
            <a:r>
              <a:rPr sz="2400" spc="-105" dirty="0">
                <a:latin typeface="Arial"/>
                <a:cs typeface="Arial"/>
              </a:rPr>
              <a:t>máximo </a:t>
            </a:r>
            <a:r>
              <a:rPr sz="2400" spc="-165" dirty="0">
                <a:latin typeface="Arial"/>
                <a:cs typeface="Arial"/>
              </a:rPr>
              <a:t>agrega </a:t>
            </a:r>
            <a:r>
              <a:rPr sz="2400" spc="-110" dirty="0">
                <a:latin typeface="Arial"/>
                <a:cs typeface="Arial"/>
              </a:rPr>
              <a:t>necesariamente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70" dirty="0">
                <a:latin typeface="Arial"/>
                <a:cs typeface="Arial"/>
              </a:rPr>
              <a:t>el  </a:t>
            </a:r>
            <a:r>
              <a:rPr sz="2400" spc="-95" dirty="0">
                <a:latin typeface="Arial"/>
                <a:cs typeface="Arial"/>
              </a:rPr>
              <a:t>verdadero </a:t>
            </a:r>
            <a:r>
              <a:rPr sz="2400" spc="-45" dirty="0">
                <a:latin typeface="Arial"/>
                <a:cs typeface="Arial"/>
              </a:rPr>
              <a:t>objetivo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125" dirty="0">
                <a:latin typeface="Arial"/>
                <a:cs typeface="Arial"/>
              </a:rPr>
              <a:t>sistema </a:t>
            </a:r>
            <a:r>
              <a:rPr sz="2400" spc="-114" dirty="0">
                <a:latin typeface="Arial"/>
                <a:cs typeface="Arial"/>
              </a:rPr>
              <a:t>de  apoyo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5" dirty="0">
                <a:latin typeface="Arial"/>
                <a:cs typeface="Arial"/>
              </a:rPr>
              <a:t>decisiones </a:t>
            </a:r>
            <a:r>
              <a:rPr sz="2400" i="1" spc="-80" dirty="0">
                <a:latin typeface="Trebuchet MS"/>
                <a:cs typeface="Trebuchet MS"/>
              </a:rPr>
              <a:t>(DSS </a:t>
            </a:r>
            <a:r>
              <a:rPr sz="2400" i="1" spc="-140" dirty="0">
                <a:latin typeface="Arial"/>
                <a:cs typeface="Arial"/>
              </a:rPr>
              <a:t>–</a:t>
            </a:r>
            <a:r>
              <a:rPr sz="2400" i="1" spc="-330" dirty="0">
                <a:latin typeface="Arial"/>
                <a:cs typeface="Arial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Decision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4756657"/>
            <a:ext cx="9975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0" dirty="0">
                <a:latin typeface="Trebuchet MS"/>
                <a:cs typeface="Trebuchet MS"/>
              </a:rPr>
              <a:t>Sup</a:t>
            </a:r>
            <a:r>
              <a:rPr sz="2400" i="1" spc="-90" dirty="0">
                <a:latin typeface="Trebuchet MS"/>
                <a:cs typeface="Trebuchet MS"/>
              </a:rPr>
              <a:t>p</a:t>
            </a:r>
            <a:r>
              <a:rPr sz="2400" i="1" spc="-155" dirty="0">
                <a:latin typeface="Trebuchet MS"/>
                <a:cs typeface="Trebuchet MS"/>
              </a:rPr>
              <a:t>ort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105" dirty="0">
                <a:latin typeface="Arial"/>
                <a:cs typeface="Arial"/>
              </a:rPr>
              <a:t>mayor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4756657"/>
            <a:ext cx="37604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0000"/>
              </a:lnSpc>
              <a:spcBef>
                <a:spcPts val="100"/>
              </a:spcBef>
              <a:tabLst>
                <a:tab pos="1198880" algn="l"/>
                <a:tab pos="1518285" algn="l"/>
                <a:tab pos="1691639" algn="l"/>
                <a:tab pos="2255520" algn="l"/>
                <a:tab pos="3530600" algn="l"/>
              </a:tabLst>
            </a:pPr>
            <a:r>
              <a:rPr sz="2400" i="1" spc="-100" dirty="0">
                <a:latin typeface="Trebuchet MS"/>
                <a:cs typeface="Trebuchet MS"/>
              </a:rPr>
              <a:t>S</a:t>
            </a:r>
            <a:r>
              <a:rPr sz="2400" i="1" spc="-90" dirty="0">
                <a:latin typeface="Trebuchet MS"/>
                <a:cs typeface="Trebuchet MS"/>
              </a:rPr>
              <a:t>y</a:t>
            </a:r>
            <a:r>
              <a:rPr sz="2400" i="1" spc="-100" dirty="0">
                <a:latin typeface="Trebuchet MS"/>
                <a:cs typeface="Trebuchet MS"/>
              </a:rPr>
              <a:t>s</a:t>
            </a:r>
            <a:r>
              <a:rPr sz="2400" i="1" spc="-229" dirty="0">
                <a:latin typeface="Trebuchet MS"/>
                <a:cs typeface="Trebuchet MS"/>
              </a:rPr>
              <a:t>t</a:t>
            </a:r>
            <a:r>
              <a:rPr sz="2400" i="1" spc="-95" dirty="0">
                <a:latin typeface="Trebuchet MS"/>
                <a:cs typeface="Trebuchet MS"/>
              </a:rPr>
              <a:t>e</a:t>
            </a:r>
            <a:r>
              <a:rPr sz="2400" i="1" spc="-150" dirty="0">
                <a:latin typeface="Trebuchet MS"/>
                <a:cs typeface="Trebuchet MS"/>
              </a:rPr>
              <a:t>m</a:t>
            </a:r>
            <a:r>
              <a:rPr sz="2400" i="1" spc="-155" dirty="0">
                <a:latin typeface="Trebuchet MS"/>
                <a:cs typeface="Trebuchet MS"/>
              </a:rPr>
              <a:t>)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spc="-220" dirty="0">
                <a:latin typeface="Arial"/>
                <a:cs typeface="Arial"/>
              </a:rPr>
              <a:t>e</a:t>
            </a:r>
            <a:r>
              <a:rPr sz="2400" spc="-19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	</a:t>
            </a:r>
            <a:r>
              <a:rPr sz="2400" spc="-30" dirty="0">
                <a:latin typeface="Arial"/>
                <a:cs typeface="Arial"/>
              </a:rPr>
              <a:t>p</a:t>
            </a:r>
            <a:r>
              <a:rPr sz="2400" spc="-55" dirty="0">
                <a:latin typeface="Arial"/>
                <a:cs typeface="Arial"/>
              </a:rPr>
              <a:t>ropo</a:t>
            </a:r>
            <a:r>
              <a:rPr sz="2400" spc="-70" dirty="0">
                <a:latin typeface="Arial"/>
                <a:cs typeface="Arial"/>
              </a:rPr>
              <a:t>r</a:t>
            </a:r>
            <a:r>
              <a:rPr sz="2400" spc="-80" dirty="0">
                <a:latin typeface="Arial"/>
                <a:cs typeface="Arial"/>
              </a:rPr>
              <a:t>cionar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la  </a:t>
            </a:r>
            <a:r>
              <a:rPr sz="2400" spc="-215" dirty="0">
                <a:latin typeface="Arial"/>
                <a:cs typeface="Arial"/>
              </a:rPr>
              <a:t>c</a:t>
            </a:r>
            <a:r>
              <a:rPr sz="2400" spc="-130" dirty="0">
                <a:latin typeface="Arial"/>
                <a:cs typeface="Arial"/>
              </a:rPr>
              <a:t>a</a:t>
            </a:r>
            <a:r>
              <a:rPr sz="2400" spc="-155" dirty="0">
                <a:latin typeface="Arial"/>
                <a:cs typeface="Arial"/>
              </a:rPr>
              <a:t>n</a:t>
            </a:r>
            <a:r>
              <a:rPr sz="2400" spc="-40" dirty="0">
                <a:latin typeface="Arial"/>
                <a:cs typeface="Arial"/>
              </a:rPr>
              <a:t>tidad</a:t>
            </a:r>
            <a:r>
              <a:rPr sz="2400" dirty="0">
                <a:latin typeface="Arial"/>
                <a:cs typeface="Arial"/>
              </a:rPr>
              <a:t>	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" dirty="0">
                <a:latin typeface="Arial"/>
                <a:cs typeface="Arial"/>
              </a:rPr>
              <a:t>i</a:t>
            </a:r>
            <a:r>
              <a:rPr sz="2400" spc="-60" dirty="0">
                <a:latin typeface="Arial"/>
                <a:cs typeface="Arial"/>
              </a:rPr>
              <a:t>n</a:t>
            </a:r>
            <a:r>
              <a:rPr sz="2400" spc="15" dirty="0">
                <a:latin typeface="Arial"/>
                <a:cs typeface="Arial"/>
              </a:rPr>
              <a:t>f</a:t>
            </a:r>
            <a:r>
              <a:rPr sz="2400" spc="-95" dirty="0">
                <a:latin typeface="Arial"/>
                <a:cs typeface="Arial"/>
              </a:rPr>
              <a:t>ormac</a:t>
            </a:r>
            <a:r>
              <a:rPr sz="2400" spc="-50" dirty="0">
                <a:latin typeface="Arial"/>
                <a:cs typeface="Arial"/>
              </a:rPr>
              <a:t>i</a:t>
            </a:r>
            <a:r>
              <a:rPr sz="2400" spc="-80" dirty="0">
                <a:latin typeface="Arial"/>
                <a:cs typeface="Arial"/>
              </a:rPr>
              <a:t>ón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5488432"/>
            <a:ext cx="49549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Arial"/>
                <a:cs typeface="Arial"/>
              </a:rPr>
              <a:t>relevante </a:t>
            </a:r>
            <a:r>
              <a:rPr sz="2400" spc="-105" dirty="0">
                <a:latin typeface="Arial"/>
                <a:cs typeface="Arial"/>
              </a:rPr>
              <a:t>en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70" dirty="0">
                <a:latin typeface="Arial"/>
                <a:cs typeface="Arial"/>
              </a:rPr>
              <a:t>menor </a:t>
            </a:r>
            <a:r>
              <a:rPr sz="2400" spc="-40" dirty="0">
                <a:latin typeface="Arial"/>
                <a:cs typeface="Arial"/>
              </a:rPr>
              <a:t>tiempo </a:t>
            </a:r>
            <a:r>
              <a:rPr sz="2400" spc="-90" dirty="0">
                <a:latin typeface="Arial"/>
                <a:cs typeface="Arial"/>
              </a:rPr>
              <a:t>posible, 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5" dirty="0">
                <a:latin typeface="Arial"/>
                <a:cs typeface="Arial"/>
              </a:rPr>
              <a:t>fin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45" dirty="0">
                <a:latin typeface="Arial"/>
                <a:cs typeface="Arial"/>
              </a:rPr>
              <a:t>tomar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45" dirty="0">
                <a:latin typeface="Arial"/>
                <a:cs typeface="Arial"/>
              </a:rPr>
              <a:t>mejor</a:t>
            </a:r>
            <a:r>
              <a:rPr sz="2400" spc="-4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decisión.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38405" y="1237494"/>
            <a:ext cx="3536616" cy="23869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3600" y="3744467"/>
            <a:ext cx="2354579" cy="2656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320" dirty="0">
                <a:solidFill>
                  <a:srgbClr val="FFFFFF"/>
                </a:solidFill>
                <a:latin typeface="Arial"/>
                <a:cs typeface="Arial"/>
              </a:rPr>
              <a:t>DSS</a:t>
            </a: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404873"/>
            <a:ext cx="5220970" cy="46266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66115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50" dirty="0">
                <a:latin typeface="Arial"/>
                <a:cs typeface="Arial"/>
              </a:rPr>
              <a:t>Ayudan </a:t>
            </a:r>
            <a:r>
              <a:rPr sz="2700" spc="-210" dirty="0">
                <a:latin typeface="Arial"/>
                <a:cs typeface="Arial"/>
              </a:rPr>
              <a:t>a </a:t>
            </a:r>
            <a:r>
              <a:rPr sz="2700" spc="-50" dirty="0">
                <a:latin typeface="Arial"/>
                <a:cs typeface="Arial"/>
              </a:rPr>
              <a:t>tomar </a:t>
            </a:r>
            <a:r>
              <a:rPr sz="2700" spc="-140" dirty="0">
                <a:latin typeface="Arial"/>
                <a:cs typeface="Arial"/>
              </a:rPr>
              <a:t>decisiones </a:t>
            </a:r>
            <a:r>
              <a:rPr sz="2700" b="1" spc="-114" dirty="0">
                <a:latin typeface="Trebuchet MS"/>
                <a:cs typeface="Trebuchet MS"/>
              </a:rPr>
              <a:t>no  </a:t>
            </a:r>
            <a:r>
              <a:rPr sz="2700" b="1" spc="-155" dirty="0">
                <a:latin typeface="Trebuchet MS"/>
                <a:cs typeface="Trebuchet MS"/>
              </a:rPr>
              <a:t>estructuradas </a:t>
            </a:r>
            <a:r>
              <a:rPr sz="2700" spc="-125" dirty="0">
                <a:latin typeface="Arial"/>
                <a:cs typeface="Arial"/>
              </a:rPr>
              <a:t>en </a:t>
            </a:r>
            <a:r>
              <a:rPr sz="2700" spc="-114" dirty="0">
                <a:latin typeface="Arial"/>
                <a:cs typeface="Arial"/>
              </a:rPr>
              <a:t>situaciones  </a:t>
            </a:r>
            <a:r>
              <a:rPr sz="2700" spc="-90" dirty="0">
                <a:latin typeface="Arial"/>
                <a:cs typeface="Arial"/>
              </a:rPr>
              <a:t>particulares</a:t>
            </a:r>
            <a:r>
              <a:rPr sz="2700" spc="-160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(únicas)</a:t>
            </a:r>
            <a:endParaRPr sz="2700">
              <a:latin typeface="Arial"/>
              <a:cs typeface="Arial"/>
            </a:endParaRPr>
          </a:p>
          <a:p>
            <a:pPr marL="355600" marR="236220" indent="-342900">
              <a:lnSpc>
                <a:spcPts val="2590"/>
              </a:lnSpc>
              <a:spcBef>
                <a:spcPts val="63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65" dirty="0">
                <a:latin typeface="Arial"/>
                <a:cs typeface="Arial"/>
              </a:rPr>
              <a:t>Resulta </a:t>
            </a:r>
            <a:r>
              <a:rPr sz="2700" spc="-50" dirty="0">
                <a:latin typeface="Arial"/>
                <a:cs typeface="Arial"/>
              </a:rPr>
              <a:t>difícil </a:t>
            </a:r>
            <a:r>
              <a:rPr sz="2700" spc="-60" dirty="0">
                <a:latin typeface="Arial"/>
                <a:cs typeface="Arial"/>
              </a:rPr>
              <a:t>determinar </a:t>
            </a:r>
            <a:r>
              <a:rPr sz="2700" spc="-95" dirty="0">
                <a:latin typeface="Arial"/>
                <a:cs typeface="Arial"/>
              </a:rPr>
              <a:t>la  </a:t>
            </a:r>
            <a:r>
              <a:rPr sz="2700" b="1" spc="-145" dirty="0">
                <a:latin typeface="Trebuchet MS"/>
                <a:cs typeface="Trebuchet MS"/>
              </a:rPr>
              <a:t>información</a:t>
            </a:r>
            <a:r>
              <a:rPr sz="2700" spc="-145" dirty="0">
                <a:latin typeface="Arial"/>
                <a:cs typeface="Arial"/>
              </a:rPr>
              <a:t>, </a:t>
            </a:r>
            <a:r>
              <a:rPr sz="2700" b="1" spc="-165" dirty="0">
                <a:latin typeface="Trebuchet MS"/>
                <a:cs typeface="Trebuchet MS"/>
              </a:rPr>
              <a:t>factores </a:t>
            </a:r>
            <a:r>
              <a:rPr sz="2700" spc="-130" dirty="0">
                <a:latin typeface="Arial"/>
                <a:cs typeface="Arial"/>
              </a:rPr>
              <a:t>y  </a:t>
            </a:r>
            <a:r>
              <a:rPr sz="2700" b="1" spc="-150" dirty="0">
                <a:latin typeface="Trebuchet MS"/>
                <a:cs typeface="Trebuchet MS"/>
              </a:rPr>
              <a:t>procedimientos </a:t>
            </a:r>
            <a:r>
              <a:rPr sz="2700" b="1" spc="-165" dirty="0">
                <a:latin typeface="Trebuchet MS"/>
                <a:cs typeface="Trebuchet MS"/>
              </a:rPr>
              <a:t>con</a:t>
            </a:r>
            <a:r>
              <a:rPr sz="2700" b="1" spc="-290" dirty="0">
                <a:latin typeface="Trebuchet MS"/>
                <a:cs typeface="Trebuchet MS"/>
              </a:rPr>
              <a:t> </a:t>
            </a:r>
            <a:r>
              <a:rPr sz="2700" b="1" spc="-155" dirty="0">
                <a:latin typeface="Trebuchet MS"/>
                <a:cs typeface="Trebuchet MS"/>
              </a:rPr>
              <a:t>anticipación</a:t>
            </a:r>
            <a:endParaRPr sz="2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75" dirty="0">
                <a:latin typeface="Arial"/>
                <a:cs typeface="Arial"/>
              </a:rPr>
              <a:t>Utilizan:</a:t>
            </a:r>
            <a:endParaRPr sz="2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Char char="–"/>
              <a:tabLst>
                <a:tab pos="755650" algn="l"/>
              </a:tabLst>
            </a:pPr>
            <a:r>
              <a:rPr sz="2400" spc="-80" dirty="0">
                <a:latin typeface="Arial"/>
                <a:cs typeface="Arial"/>
              </a:rPr>
              <a:t>Modelos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Analíticos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400" spc="-229" dirty="0">
                <a:latin typeface="Arial"/>
                <a:cs typeface="Arial"/>
              </a:rPr>
              <a:t>Bases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0" dirty="0">
                <a:latin typeface="Arial"/>
                <a:cs typeface="Arial"/>
              </a:rPr>
              <a:t>Datos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especializadas</a:t>
            </a:r>
            <a:endParaRPr sz="2400">
              <a:latin typeface="Arial"/>
              <a:cs typeface="Arial"/>
            </a:endParaRPr>
          </a:p>
          <a:p>
            <a:pPr marL="755650" marR="357505" lvl="1" indent="-285750">
              <a:lnSpc>
                <a:spcPct val="8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140" dirty="0">
                <a:latin typeface="Arial"/>
                <a:cs typeface="Arial"/>
              </a:rPr>
              <a:t>Percepciones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80" dirty="0">
                <a:latin typeface="Arial"/>
                <a:cs typeface="Arial"/>
              </a:rPr>
              <a:t>juicios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personales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quien </a:t>
            </a:r>
            <a:r>
              <a:rPr sz="2400" spc="-60" dirty="0">
                <a:latin typeface="Arial"/>
                <a:cs typeface="Arial"/>
              </a:rPr>
              <a:t>toma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decisiones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ts val="230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spc="-160" dirty="0">
                <a:latin typeface="Arial"/>
                <a:cs typeface="Arial"/>
              </a:rPr>
              <a:t>Proceso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modelización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interactivo  </a:t>
            </a:r>
            <a:r>
              <a:rPr sz="2400" spc="-150" dirty="0">
                <a:latin typeface="Arial"/>
                <a:cs typeface="Arial"/>
              </a:rPr>
              <a:t>basado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90" dirty="0">
                <a:latin typeface="Arial"/>
                <a:cs typeface="Arial"/>
              </a:rPr>
              <a:t>computadora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0" y="2286000"/>
            <a:ext cx="2976372" cy="2948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950" cy="620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320" dirty="0">
                <a:solidFill>
                  <a:srgbClr val="FFFFFF"/>
                </a:solidFill>
                <a:latin typeface="Arial"/>
                <a:cs typeface="Arial"/>
              </a:rPr>
              <a:t>DSS</a:t>
            </a:r>
            <a:r>
              <a:rPr sz="1800" spc="-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latin typeface="Trebuchet MS"/>
                <a:cs typeface="Trebuchet MS"/>
              </a:rPr>
              <a:t>Objetivos:</a:t>
            </a:r>
            <a:endParaRPr sz="26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0"/>
              </a:spcBef>
              <a:buChar char="•"/>
              <a:tabLst>
                <a:tab pos="356235" algn="l"/>
              </a:tabLst>
            </a:pPr>
            <a:r>
              <a:rPr sz="2000" spc="-105" dirty="0">
                <a:latin typeface="Arial"/>
                <a:cs typeface="Arial"/>
              </a:rPr>
              <a:t>Tienen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45" dirty="0">
                <a:latin typeface="Arial"/>
                <a:cs typeface="Arial"/>
              </a:rPr>
              <a:t>finalidad </a:t>
            </a:r>
            <a:r>
              <a:rPr sz="2000" spc="-90" dirty="0">
                <a:latin typeface="Arial"/>
                <a:cs typeface="Arial"/>
              </a:rPr>
              <a:t>apoyar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toma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decisiones </a:t>
            </a:r>
            <a:r>
              <a:rPr sz="2000" spc="-65" dirty="0">
                <a:latin typeface="Arial"/>
                <a:cs typeface="Arial"/>
              </a:rPr>
              <a:t>mediante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generación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90" dirty="0">
                <a:latin typeface="Arial"/>
                <a:cs typeface="Arial"/>
              </a:rPr>
              <a:t>evaluación </a:t>
            </a:r>
            <a:r>
              <a:rPr sz="2000" spc="-85" dirty="0">
                <a:latin typeface="Arial"/>
                <a:cs typeface="Arial"/>
              </a:rPr>
              <a:t>sistemática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diferentes </a:t>
            </a:r>
            <a:r>
              <a:rPr sz="2000" spc="-65" dirty="0">
                <a:latin typeface="Arial"/>
                <a:cs typeface="Arial"/>
              </a:rPr>
              <a:t>alternativas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05" dirty="0">
                <a:latin typeface="Arial"/>
                <a:cs typeface="Arial"/>
              </a:rPr>
              <a:t>escenarios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decisión  </a:t>
            </a:r>
            <a:r>
              <a:rPr sz="2000" spc="-65" dirty="0">
                <a:latin typeface="Arial"/>
                <a:cs typeface="Arial"/>
              </a:rPr>
              <a:t>mediante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70" dirty="0">
                <a:latin typeface="Arial"/>
                <a:cs typeface="Arial"/>
              </a:rPr>
              <a:t>empleo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modelos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herramientas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computacionales.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350" dirty="0">
                <a:latin typeface="Arial"/>
                <a:cs typeface="Arial"/>
              </a:rPr>
              <a:t>DSS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85" dirty="0">
                <a:latin typeface="Arial"/>
                <a:cs typeface="Arial"/>
              </a:rPr>
              <a:t>soluciona problemas, </a:t>
            </a:r>
            <a:r>
              <a:rPr sz="2000" spc="-145" dirty="0">
                <a:latin typeface="Arial"/>
                <a:cs typeface="Arial"/>
              </a:rPr>
              <a:t>ya </a:t>
            </a:r>
            <a:r>
              <a:rPr sz="2000" spc="-85" dirty="0">
                <a:latin typeface="Arial"/>
                <a:cs typeface="Arial"/>
              </a:rPr>
              <a:t>que sólo </a:t>
            </a:r>
            <a:r>
              <a:rPr sz="2000" spc="-114" dirty="0">
                <a:latin typeface="Arial"/>
                <a:cs typeface="Arial"/>
              </a:rPr>
              <a:t>apoya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toma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00" dirty="0">
                <a:latin typeface="Arial"/>
                <a:cs typeface="Arial"/>
              </a:rPr>
              <a:t>decisiones.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responsabilidad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35" dirty="0">
                <a:latin typeface="Arial"/>
                <a:cs typeface="Arial"/>
              </a:rPr>
              <a:t>tomar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0" dirty="0">
                <a:latin typeface="Arial"/>
                <a:cs typeface="Arial"/>
              </a:rPr>
              <a:t>decisión,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adoptarla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ponerla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práctica </a:t>
            </a:r>
            <a:r>
              <a:rPr sz="2000" spc="-165" dirty="0">
                <a:latin typeface="Arial"/>
                <a:cs typeface="Arial"/>
              </a:rPr>
              <a:t>es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administradores,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60" dirty="0">
                <a:latin typeface="Arial"/>
                <a:cs typeface="Arial"/>
              </a:rPr>
              <a:t>del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275" dirty="0">
                <a:latin typeface="Arial"/>
                <a:cs typeface="Arial"/>
              </a:rPr>
              <a:t>DSS.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350" dirty="0">
                <a:latin typeface="Arial"/>
                <a:cs typeface="Arial"/>
              </a:rPr>
              <a:t>DSS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135" dirty="0">
                <a:latin typeface="Arial"/>
                <a:cs typeface="Arial"/>
              </a:rPr>
              <a:t>usarse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45" dirty="0">
                <a:latin typeface="Arial"/>
                <a:cs typeface="Arial"/>
              </a:rPr>
              <a:t>obtener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80" dirty="0">
                <a:latin typeface="Arial"/>
                <a:cs typeface="Arial"/>
              </a:rPr>
              <a:t>revele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elementos </a:t>
            </a:r>
            <a:r>
              <a:rPr sz="2000" spc="-114" dirty="0">
                <a:latin typeface="Arial"/>
                <a:cs typeface="Arial"/>
              </a:rPr>
              <a:t>clave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problemas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relaciones </a:t>
            </a:r>
            <a:r>
              <a:rPr sz="2000" spc="-40" dirty="0">
                <a:latin typeface="Arial"/>
                <a:cs typeface="Arial"/>
              </a:rPr>
              <a:t>entre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ellos.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125" dirty="0">
                <a:latin typeface="Arial"/>
                <a:cs typeface="Arial"/>
              </a:rPr>
              <a:t>También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130" dirty="0">
                <a:latin typeface="Arial"/>
                <a:cs typeface="Arial"/>
              </a:rPr>
              <a:t>usarse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0" dirty="0">
                <a:latin typeface="Arial"/>
                <a:cs typeface="Arial"/>
              </a:rPr>
              <a:t>identificar, </a:t>
            </a:r>
            <a:r>
              <a:rPr sz="2000" spc="-80" dirty="0">
                <a:latin typeface="Arial"/>
                <a:cs typeface="Arial"/>
              </a:rPr>
              <a:t>crear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80" dirty="0">
                <a:latin typeface="Arial"/>
                <a:cs typeface="Arial"/>
              </a:rPr>
              <a:t>comunicar </a:t>
            </a:r>
            <a:r>
              <a:rPr sz="2000" spc="-120" dirty="0">
                <a:latin typeface="Arial"/>
                <a:cs typeface="Arial"/>
              </a:rPr>
              <a:t>cursos </a:t>
            </a:r>
            <a:r>
              <a:rPr sz="2000" spc="-95" dirty="0">
                <a:latin typeface="Arial"/>
                <a:cs typeface="Arial"/>
              </a:rPr>
              <a:t>de acción  </a:t>
            </a:r>
            <a:r>
              <a:rPr sz="2000" spc="-80" dirty="0">
                <a:latin typeface="Arial"/>
                <a:cs typeface="Arial"/>
              </a:rPr>
              <a:t>disponibles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alternativas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decisión.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100" dirty="0">
                <a:latin typeface="Arial"/>
                <a:cs typeface="Arial"/>
              </a:rPr>
              <a:t>Asimismo, para </a:t>
            </a:r>
            <a:r>
              <a:rPr sz="2000" spc="-35" dirty="0">
                <a:latin typeface="Arial"/>
                <a:cs typeface="Arial"/>
              </a:rPr>
              <a:t>facilitar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 selección </a:t>
            </a:r>
            <a:r>
              <a:rPr sz="2000" spc="-65" dirty="0">
                <a:latin typeface="Arial"/>
                <a:cs typeface="Arial"/>
              </a:rPr>
              <a:t>mediante </a:t>
            </a:r>
            <a:r>
              <a:rPr sz="2000" spc="-75" dirty="0">
                <a:latin typeface="Arial"/>
                <a:cs typeface="Arial"/>
              </a:rPr>
              <a:t>la estimación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14" dirty="0">
                <a:latin typeface="Arial"/>
                <a:cs typeface="Arial"/>
              </a:rPr>
              <a:t>costos </a:t>
            </a:r>
            <a:r>
              <a:rPr sz="2000" spc="-95" dirty="0">
                <a:latin typeface="Arial"/>
                <a:cs typeface="Arial"/>
              </a:rPr>
              <a:t>y </a:t>
            </a:r>
            <a:r>
              <a:rPr sz="2000" spc="-80" dirty="0">
                <a:latin typeface="Arial"/>
                <a:cs typeface="Arial"/>
              </a:rPr>
              <a:t>beneficios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resultan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40" dirty="0">
                <a:latin typeface="Arial"/>
                <a:cs typeface="Arial"/>
              </a:rPr>
              <a:t>cada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alternativa.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000" spc="-75" dirty="0">
                <a:latin typeface="Arial"/>
                <a:cs typeface="Arial"/>
              </a:rPr>
              <a:t>Integran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100" dirty="0">
                <a:latin typeface="Arial"/>
                <a:cs typeface="Arial"/>
              </a:rPr>
              <a:t>mayoría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10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modelos que </a:t>
            </a:r>
            <a:r>
              <a:rPr sz="2000" spc="-105" dirty="0">
                <a:latin typeface="Arial"/>
                <a:cs typeface="Arial"/>
              </a:rPr>
              <a:t>apoyan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65" dirty="0">
                <a:latin typeface="Arial"/>
                <a:cs typeface="Arial"/>
              </a:rPr>
              <a:t>diferentes  </a:t>
            </a:r>
            <a:r>
              <a:rPr sz="2000" spc="-100" dirty="0">
                <a:latin typeface="Arial"/>
                <a:cs typeface="Arial"/>
              </a:rPr>
              <a:t>decisiones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enfrente </a:t>
            </a:r>
            <a:r>
              <a:rPr sz="2000" spc="-65" dirty="0">
                <a:latin typeface="Arial"/>
                <a:cs typeface="Arial"/>
              </a:rPr>
              <a:t>quien </a:t>
            </a:r>
            <a:r>
              <a:rPr sz="2000" spc="-90" dirty="0">
                <a:latin typeface="Arial"/>
                <a:cs typeface="Arial"/>
              </a:rPr>
              <a:t>debe </a:t>
            </a:r>
            <a:r>
              <a:rPr sz="2000" spc="-65" dirty="0">
                <a:latin typeface="Arial"/>
                <a:cs typeface="Arial"/>
              </a:rPr>
              <a:t>tomarlas. </a:t>
            </a: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10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modelos 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10" dirty="0">
                <a:latin typeface="Arial"/>
                <a:cs typeface="Arial"/>
              </a:rPr>
              <a:t>conoce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45" dirty="0">
                <a:latin typeface="Arial"/>
                <a:cs typeface="Arial"/>
              </a:rPr>
              <a:t>base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modelos.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320" dirty="0">
                <a:solidFill>
                  <a:srgbClr val="FFFFFF"/>
                </a:solidFill>
                <a:latin typeface="Arial"/>
                <a:cs typeface="Arial"/>
              </a:rPr>
              <a:t>DSS</a:t>
            </a:r>
            <a:r>
              <a:rPr sz="1800" spc="-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56461"/>
            <a:ext cx="5882640" cy="455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95" dirty="0">
                <a:latin typeface="Trebuchet MS"/>
                <a:cs typeface="Trebuchet MS"/>
              </a:rPr>
              <a:t>Modelación </a:t>
            </a:r>
            <a:r>
              <a:rPr sz="2700" b="1" spc="-145" dirty="0">
                <a:latin typeface="Trebuchet MS"/>
                <a:cs typeface="Trebuchet MS"/>
              </a:rPr>
              <a:t>analítica</a:t>
            </a:r>
            <a:r>
              <a:rPr sz="2700" b="1" spc="-310" dirty="0">
                <a:latin typeface="Trebuchet MS"/>
                <a:cs typeface="Trebuchet MS"/>
              </a:rPr>
              <a:t> </a:t>
            </a:r>
            <a:r>
              <a:rPr sz="2700" b="1" spc="-160" dirty="0">
                <a:latin typeface="Trebuchet MS"/>
                <a:cs typeface="Trebuchet MS"/>
              </a:rPr>
              <a:t>(Ejemplos)</a:t>
            </a:r>
            <a:endParaRPr sz="2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b="1" spc="-114" dirty="0">
                <a:latin typeface="Trebuchet MS"/>
                <a:cs typeface="Trebuchet MS"/>
              </a:rPr>
              <a:t>Análisis </a:t>
            </a:r>
            <a:r>
              <a:rPr sz="2700" b="1" spc="-160" dirty="0">
                <a:latin typeface="Trebuchet MS"/>
                <a:cs typeface="Trebuchet MS"/>
              </a:rPr>
              <a:t>de</a:t>
            </a:r>
            <a:r>
              <a:rPr sz="2700" b="1" spc="-300" dirty="0">
                <a:latin typeface="Trebuchet MS"/>
                <a:cs typeface="Trebuchet MS"/>
              </a:rPr>
              <a:t> </a:t>
            </a:r>
            <a:r>
              <a:rPr sz="2700" b="1" spc="-150" dirty="0">
                <a:latin typeface="Trebuchet MS"/>
                <a:cs typeface="Trebuchet MS"/>
              </a:rPr>
              <a:t>escenarios</a:t>
            </a:r>
            <a:endParaRPr sz="2700">
              <a:latin typeface="Trebuchet MS"/>
              <a:cs typeface="Trebuchet MS"/>
            </a:endParaRPr>
          </a:p>
          <a:p>
            <a:pPr marL="755650" marR="655320" lvl="1" indent="-285750">
              <a:lnSpc>
                <a:spcPct val="8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150" dirty="0">
                <a:latin typeface="Arial"/>
                <a:cs typeface="Arial"/>
              </a:rPr>
              <a:t>Cambio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variables, afectan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otras  </a:t>
            </a:r>
            <a:r>
              <a:rPr sz="2400" spc="-105" dirty="0">
                <a:latin typeface="Arial"/>
                <a:cs typeface="Arial"/>
              </a:rPr>
              <a:t>variables</a:t>
            </a:r>
            <a:endParaRPr sz="2400">
              <a:latin typeface="Arial"/>
              <a:cs typeface="Arial"/>
            </a:endParaRPr>
          </a:p>
          <a:p>
            <a:pPr marL="755650" marR="291465" lvl="1" indent="-285750">
              <a:lnSpc>
                <a:spcPct val="80000"/>
              </a:lnSpc>
              <a:spcBef>
                <a:spcPts val="580"/>
              </a:spcBef>
              <a:buChar char="–"/>
              <a:tabLst>
                <a:tab pos="755650" algn="l"/>
              </a:tabLst>
            </a:pPr>
            <a:r>
              <a:rPr sz="2400" spc="-100" dirty="0">
                <a:latin typeface="Arial"/>
                <a:cs typeface="Arial"/>
              </a:rPr>
              <a:t>Ejemplo: </a:t>
            </a: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45" dirty="0">
                <a:latin typeface="Arial"/>
                <a:cs typeface="Arial"/>
              </a:rPr>
              <a:t>pasaría </a:t>
            </a:r>
            <a:r>
              <a:rPr sz="2400" spc="-125" dirty="0">
                <a:latin typeface="Arial"/>
                <a:cs typeface="Arial"/>
              </a:rPr>
              <a:t>con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0" dirty="0">
                <a:latin typeface="Arial"/>
                <a:cs typeface="Arial"/>
              </a:rPr>
              <a:t>ventas </a:t>
            </a:r>
            <a:r>
              <a:rPr sz="2400" spc="-130" dirty="0">
                <a:latin typeface="Arial"/>
                <a:cs typeface="Arial"/>
              </a:rPr>
              <a:t>si  </a:t>
            </a:r>
            <a:r>
              <a:rPr sz="2400" spc="-100" dirty="0">
                <a:latin typeface="Arial"/>
                <a:cs typeface="Arial"/>
              </a:rPr>
              <a:t>reducimos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75" dirty="0">
                <a:latin typeface="Arial"/>
                <a:cs typeface="Arial"/>
              </a:rPr>
              <a:t>publicidad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0" dirty="0">
                <a:latin typeface="Arial"/>
                <a:cs typeface="Arial"/>
              </a:rPr>
              <a:t>un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10%?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–"/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b="1" spc="-114" dirty="0">
                <a:latin typeface="Trebuchet MS"/>
                <a:cs typeface="Trebuchet MS"/>
              </a:rPr>
              <a:t>Análisis </a:t>
            </a:r>
            <a:r>
              <a:rPr sz="2700" b="1" spc="-155" dirty="0">
                <a:latin typeface="Trebuchet MS"/>
                <a:cs typeface="Trebuchet MS"/>
              </a:rPr>
              <a:t>de</a:t>
            </a:r>
            <a:r>
              <a:rPr sz="2700" b="1" spc="-310" dirty="0">
                <a:latin typeface="Trebuchet MS"/>
                <a:cs typeface="Trebuchet MS"/>
              </a:rPr>
              <a:t> </a:t>
            </a:r>
            <a:r>
              <a:rPr sz="2700" b="1" spc="-130" dirty="0">
                <a:latin typeface="Trebuchet MS"/>
                <a:cs typeface="Trebuchet MS"/>
              </a:rPr>
              <a:t>sensibilidad</a:t>
            </a:r>
            <a:endParaRPr sz="2700">
              <a:latin typeface="Trebuchet MS"/>
              <a:cs typeface="Trebuchet MS"/>
            </a:endParaRPr>
          </a:p>
          <a:p>
            <a:pPr marL="755650" marR="45085" lvl="1" indent="-285750">
              <a:lnSpc>
                <a:spcPct val="8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spc="-150" dirty="0">
                <a:latin typeface="Arial"/>
                <a:cs typeface="Arial"/>
              </a:rPr>
              <a:t>Cambio </a:t>
            </a:r>
            <a:r>
              <a:rPr sz="2400" spc="-45" dirty="0">
                <a:latin typeface="Arial"/>
                <a:cs typeface="Arial"/>
              </a:rPr>
              <a:t>repetido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85" dirty="0">
                <a:latin typeface="Arial"/>
                <a:cs typeface="Arial"/>
              </a:rPr>
              <a:t>variable </a:t>
            </a:r>
            <a:r>
              <a:rPr sz="2400" spc="-100" dirty="0">
                <a:latin typeface="Arial"/>
                <a:cs typeface="Arial"/>
              </a:rPr>
              <a:t>afecta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85" dirty="0">
                <a:latin typeface="Arial"/>
                <a:cs typeface="Arial"/>
              </a:rPr>
              <a:t>otras</a:t>
            </a:r>
            <a:endParaRPr sz="2400">
              <a:latin typeface="Arial"/>
              <a:cs typeface="Arial"/>
            </a:endParaRPr>
          </a:p>
          <a:p>
            <a:pPr marL="755650" marR="5080" lvl="1" indent="-28575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spc="-100" dirty="0">
                <a:latin typeface="Arial"/>
                <a:cs typeface="Arial"/>
              </a:rPr>
              <a:t>Ejemplo: </a:t>
            </a:r>
            <a:r>
              <a:rPr sz="2400" spc="-190" dirty="0">
                <a:latin typeface="Arial"/>
                <a:cs typeface="Arial"/>
              </a:rPr>
              <a:t>Reduzcamos </a:t>
            </a:r>
            <a:r>
              <a:rPr sz="2400" spc="-65" dirty="0">
                <a:latin typeface="Arial"/>
                <a:cs typeface="Arial"/>
              </a:rPr>
              <a:t>repetidamente </a:t>
            </a:r>
            <a:r>
              <a:rPr sz="2400" spc="-105" dirty="0">
                <a:latin typeface="Arial"/>
                <a:cs typeface="Arial"/>
              </a:rPr>
              <a:t>los  </a:t>
            </a:r>
            <a:r>
              <a:rPr sz="2400" spc="-160" dirty="0">
                <a:latin typeface="Arial"/>
                <a:cs typeface="Arial"/>
              </a:rPr>
              <a:t>gastos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publicidad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20" dirty="0">
                <a:latin typeface="Arial"/>
                <a:cs typeface="Arial"/>
              </a:rPr>
              <a:t>$10000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veamos  </a:t>
            </a:r>
            <a:r>
              <a:rPr sz="2400" spc="-110" dirty="0">
                <a:latin typeface="Arial"/>
                <a:cs typeface="Arial"/>
              </a:rPr>
              <a:t>como </a:t>
            </a:r>
            <a:r>
              <a:rPr sz="2400" spc="-105" dirty="0">
                <a:latin typeface="Arial"/>
                <a:cs typeface="Arial"/>
              </a:rPr>
              <a:t>afecta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ventas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9171" y="1514504"/>
            <a:ext cx="2514600" cy="1676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15100" y="3792473"/>
            <a:ext cx="2142744" cy="21435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580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Concepto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320" dirty="0">
                <a:solidFill>
                  <a:srgbClr val="FFFFFF"/>
                </a:solidFill>
                <a:latin typeface="Arial"/>
                <a:cs typeface="Arial"/>
              </a:rPr>
              <a:t>DSS</a:t>
            </a:r>
            <a:r>
              <a:rPr sz="1800" spc="-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2700" b="1" spc="-95" dirty="0">
                <a:latin typeface="Trebuchet MS"/>
                <a:cs typeface="Trebuchet MS"/>
              </a:rPr>
              <a:t>Modelación </a:t>
            </a:r>
            <a:r>
              <a:rPr sz="2700" b="1" spc="-145" dirty="0">
                <a:latin typeface="Trebuchet MS"/>
                <a:cs typeface="Trebuchet MS"/>
              </a:rPr>
              <a:t>analítica </a:t>
            </a:r>
            <a:r>
              <a:rPr sz="2700" b="1" spc="-160" dirty="0">
                <a:latin typeface="Trebuchet MS"/>
                <a:cs typeface="Trebuchet MS"/>
              </a:rPr>
              <a:t>(Ejemplos </a:t>
            </a:r>
            <a:r>
              <a:rPr sz="2700" b="1" spc="-160" dirty="0">
                <a:latin typeface="Arial"/>
                <a:cs typeface="Arial"/>
              </a:rPr>
              <a:t>–</a:t>
            </a:r>
            <a:r>
              <a:rPr sz="2700" b="1" spc="-390" dirty="0">
                <a:latin typeface="Arial"/>
                <a:cs typeface="Arial"/>
              </a:rPr>
              <a:t> </a:t>
            </a:r>
            <a:r>
              <a:rPr sz="2700" b="1" spc="-175" dirty="0">
                <a:latin typeface="Trebuchet MS"/>
                <a:cs typeface="Trebuchet MS"/>
              </a:rPr>
              <a:t>Cont.)</a:t>
            </a:r>
            <a:endParaRPr sz="2700">
              <a:latin typeface="Trebuchet MS"/>
              <a:cs typeface="Trebuchet MS"/>
            </a:endParaRPr>
          </a:p>
          <a:p>
            <a:pPr marL="447040" indent="-342900">
              <a:lnSpc>
                <a:spcPct val="100000"/>
              </a:lnSpc>
              <a:buFont typeface="Arial"/>
              <a:buChar char="•"/>
              <a:tabLst>
                <a:tab pos="446405" algn="l"/>
                <a:tab pos="447040" algn="l"/>
              </a:tabLst>
            </a:pPr>
            <a:r>
              <a:rPr sz="2700" b="1" spc="-114" dirty="0">
                <a:latin typeface="Trebuchet MS"/>
                <a:cs typeface="Trebuchet MS"/>
              </a:rPr>
              <a:t>Análisis </a:t>
            </a:r>
            <a:r>
              <a:rPr sz="2700" b="1" spc="-160" dirty="0">
                <a:latin typeface="Trebuchet MS"/>
                <a:cs typeface="Trebuchet MS"/>
              </a:rPr>
              <a:t>de </a:t>
            </a:r>
            <a:r>
              <a:rPr sz="2700" b="1" spc="-135" dirty="0">
                <a:latin typeface="Trebuchet MS"/>
                <a:cs typeface="Trebuchet MS"/>
              </a:rPr>
              <a:t>búsqueda </a:t>
            </a:r>
            <a:r>
              <a:rPr sz="2700" b="1" spc="-160" dirty="0">
                <a:latin typeface="Trebuchet MS"/>
                <a:cs typeface="Trebuchet MS"/>
              </a:rPr>
              <a:t>de</a:t>
            </a:r>
            <a:r>
              <a:rPr sz="2700" b="1" spc="-425" dirty="0">
                <a:latin typeface="Trebuchet MS"/>
                <a:cs typeface="Trebuchet MS"/>
              </a:rPr>
              <a:t> </a:t>
            </a:r>
            <a:r>
              <a:rPr sz="2700" b="1" spc="-150" dirty="0">
                <a:latin typeface="Trebuchet MS"/>
                <a:cs typeface="Trebuchet MS"/>
              </a:rPr>
              <a:t>objetivos</a:t>
            </a:r>
            <a:endParaRPr sz="2700">
              <a:latin typeface="Trebuchet MS"/>
              <a:cs typeface="Trebuchet MS"/>
            </a:endParaRPr>
          </a:p>
          <a:p>
            <a:pPr marL="847090" marR="316230" lvl="1" indent="-285750">
              <a:lnSpc>
                <a:spcPct val="80000"/>
              </a:lnSpc>
              <a:spcBef>
                <a:spcPts val="590"/>
              </a:spcBef>
              <a:buChar char="–"/>
              <a:tabLst>
                <a:tab pos="847090" algn="l"/>
              </a:tabLst>
            </a:pPr>
            <a:r>
              <a:rPr sz="2400" spc="-150" dirty="0">
                <a:latin typeface="Arial"/>
                <a:cs typeface="Arial"/>
              </a:rPr>
              <a:t>Cambio </a:t>
            </a:r>
            <a:r>
              <a:rPr sz="2400" spc="-70" dirty="0">
                <a:latin typeface="Arial"/>
                <a:cs typeface="Arial"/>
              </a:rPr>
              <a:t>repetidos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variables </a:t>
            </a:r>
            <a:r>
              <a:rPr sz="2400" spc="-130" dirty="0">
                <a:latin typeface="Arial"/>
                <a:cs typeface="Arial"/>
              </a:rPr>
              <a:t>hasta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que 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40" dirty="0">
                <a:latin typeface="Arial"/>
                <a:cs typeface="Arial"/>
              </a:rPr>
              <a:t>alcance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65" dirty="0">
                <a:latin typeface="Arial"/>
                <a:cs typeface="Arial"/>
              </a:rPr>
              <a:t>determinado </a:t>
            </a:r>
            <a:r>
              <a:rPr sz="2400" spc="-75" dirty="0">
                <a:latin typeface="Arial"/>
                <a:cs typeface="Arial"/>
              </a:rPr>
              <a:t>valor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meta.</a:t>
            </a:r>
            <a:endParaRPr sz="2400">
              <a:latin typeface="Arial"/>
              <a:cs typeface="Arial"/>
            </a:endParaRPr>
          </a:p>
          <a:p>
            <a:pPr marL="847090" marR="512445" lvl="1" indent="-285750">
              <a:lnSpc>
                <a:spcPct val="80000"/>
              </a:lnSpc>
              <a:spcBef>
                <a:spcPts val="575"/>
              </a:spcBef>
              <a:buChar char="–"/>
              <a:tabLst>
                <a:tab pos="847090" algn="l"/>
              </a:tabLst>
            </a:pPr>
            <a:r>
              <a:rPr sz="2400" spc="-100" dirty="0">
                <a:latin typeface="Arial"/>
                <a:cs typeface="Arial"/>
              </a:rPr>
              <a:t>Ejemplo: </a:t>
            </a:r>
            <a:r>
              <a:rPr sz="2400" spc="-140" dirty="0">
                <a:latin typeface="Arial"/>
                <a:cs typeface="Arial"/>
              </a:rPr>
              <a:t>Probemos </a:t>
            </a:r>
            <a:r>
              <a:rPr sz="2400" spc="-90" dirty="0">
                <a:latin typeface="Arial"/>
                <a:cs typeface="Arial"/>
              </a:rPr>
              <a:t>aumentando </a:t>
            </a:r>
            <a:r>
              <a:rPr sz="2400" spc="-85" dirty="0">
                <a:latin typeface="Arial"/>
                <a:cs typeface="Arial"/>
              </a:rPr>
              <a:t>la  </a:t>
            </a:r>
            <a:r>
              <a:rPr sz="2400" spc="-75" dirty="0">
                <a:latin typeface="Arial"/>
                <a:cs typeface="Arial"/>
              </a:rPr>
              <a:t>publicidad </a:t>
            </a:r>
            <a:r>
              <a:rPr sz="2400" spc="-130" dirty="0">
                <a:latin typeface="Arial"/>
                <a:cs typeface="Arial"/>
              </a:rPr>
              <a:t>hasta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5" dirty="0">
                <a:latin typeface="Arial"/>
                <a:cs typeface="Arial"/>
              </a:rPr>
              <a:t>ventas </a:t>
            </a:r>
            <a:r>
              <a:rPr sz="2400" spc="-90" dirty="0">
                <a:latin typeface="Arial"/>
                <a:cs typeface="Arial"/>
              </a:rPr>
              <a:t>lleguen  </a:t>
            </a:r>
            <a:r>
              <a:rPr sz="2400" spc="-85" dirty="0">
                <a:latin typeface="Arial"/>
                <a:cs typeface="Arial"/>
              </a:rPr>
              <a:t>al </a:t>
            </a:r>
            <a:r>
              <a:rPr sz="2400" spc="-30" dirty="0">
                <a:latin typeface="Arial"/>
                <a:cs typeface="Arial"/>
              </a:rPr>
              <a:t>millón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dólares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–"/>
            </a:pPr>
            <a:endParaRPr sz="2250">
              <a:latin typeface="Times New Roman"/>
              <a:cs typeface="Times New Roman"/>
            </a:endParaRPr>
          </a:p>
          <a:p>
            <a:pPr marL="447040" indent="-342900">
              <a:lnSpc>
                <a:spcPct val="100000"/>
              </a:lnSpc>
              <a:buFont typeface="Arial"/>
              <a:buChar char="•"/>
              <a:tabLst>
                <a:tab pos="446405" algn="l"/>
                <a:tab pos="447040" algn="l"/>
              </a:tabLst>
            </a:pPr>
            <a:r>
              <a:rPr sz="2500" b="1" spc="-110" dirty="0">
                <a:latin typeface="Trebuchet MS"/>
                <a:cs typeface="Trebuchet MS"/>
              </a:rPr>
              <a:t>Análisis </a:t>
            </a:r>
            <a:r>
              <a:rPr sz="2500" b="1" spc="-145" dirty="0">
                <a:latin typeface="Trebuchet MS"/>
                <a:cs typeface="Trebuchet MS"/>
              </a:rPr>
              <a:t>de</a:t>
            </a:r>
            <a:r>
              <a:rPr sz="2500" b="1" spc="-285" dirty="0">
                <a:latin typeface="Trebuchet MS"/>
                <a:cs typeface="Trebuchet MS"/>
              </a:rPr>
              <a:t> </a:t>
            </a:r>
            <a:r>
              <a:rPr sz="2500" b="1" spc="-145" dirty="0">
                <a:latin typeface="Trebuchet MS"/>
                <a:cs typeface="Trebuchet MS"/>
              </a:rPr>
              <a:t>optimización</a:t>
            </a:r>
            <a:endParaRPr sz="2500">
              <a:latin typeface="Trebuchet MS"/>
              <a:cs typeface="Trebuchet MS"/>
            </a:endParaRPr>
          </a:p>
          <a:p>
            <a:pPr marL="847090" marR="960119" lvl="1" indent="-285750">
              <a:lnSpc>
                <a:spcPts val="2110"/>
              </a:lnSpc>
              <a:spcBef>
                <a:spcPts val="525"/>
              </a:spcBef>
              <a:buChar char="–"/>
              <a:tabLst>
                <a:tab pos="846455" algn="l"/>
                <a:tab pos="847090" algn="l"/>
              </a:tabLst>
            </a:pPr>
            <a:r>
              <a:rPr sz="2200" spc="-95" dirty="0">
                <a:latin typeface="Arial"/>
                <a:cs typeface="Arial"/>
              </a:rPr>
              <a:t>Encontrar </a:t>
            </a:r>
            <a:r>
              <a:rPr sz="2200" spc="-70" dirty="0">
                <a:latin typeface="Arial"/>
                <a:cs typeface="Arial"/>
              </a:rPr>
              <a:t>valor </a:t>
            </a:r>
            <a:r>
              <a:rPr sz="2200" spc="-25" dirty="0">
                <a:latin typeface="Arial"/>
                <a:cs typeface="Arial"/>
              </a:rPr>
              <a:t>óptimo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variable  </a:t>
            </a:r>
            <a:r>
              <a:rPr sz="2200" spc="-114" dirty="0">
                <a:latin typeface="Arial"/>
                <a:cs typeface="Arial"/>
              </a:rPr>
              <a:t>seleccionad </a:t>
            </a:r>
            <a:r>
              <a:rPr sz="2200" spc="-150" dirty="0">
                <a:latin typeface="Arial"/>
                <a:cs typeface="Arial"/>
              </a:rPr>
              <a:t>dadas </a:t>
            </a:r>
            <a:r>
              <a:rPr sz="2200" spc="-85" dirty="0">
                <a:latin typeface="Arial"/>
                <a:cs typeface="Arial"/>
              </a:rPr>
              <a:t>ciertas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restricciones</a:t>
            </a:r>
            <a:endParaRPr sz="2200">
              <a:latin typeface="Arial"/>
              <a:cs typeface="Arial"/>
            </a:endParaRPr>
          </a:p>
          <a:p>
            <a:pPr marL="847090" marR="269240" lvl="1" indent="-285750">
              <a:lnSpc>
                <a:spcPts val="2110"/>
              </a:lnSpc>
              <a:spcBef>
                <a:spcPts val="530"/>
              </a:spcBef>
              <a:buChar char="–"/>
              <a:tabLst>
                <a:tab pos="846455" algn="l"/>
                <a:tab pos="847090" algn="l"/>
              </a:tabLst>
            </a:pPr>
            <a:r>
              <a:rPr sz="2200" spc="-95" dirty="0">
                <a:latin typeface="Arial"/>
                <a:cs typeface="Arial"/>
              </a:rPr>
              <a:t>Ejemplo: </a:t>
            </a:r>
            <a:r>
              <a:rPr sz="2200" spc="-200" dirty="0">
                <a:latin typeface="Arial"/>
                <a:cs typeface="Arial"/>
              </a:rPr>
              <a:t>¿Cuál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40" dirty="0">
                <a:latin typeface="Arial"/>
                <a:cs typeface="Arial"/>
              </a:rPr>
              <a:t>mejor </a:t>
            </a:r>
            <a:r>
              <a:rPr sz="2200" spc="-70" dirty="0">
                <a:latin typeface="Arial"/>
                <a:cs typeface="Arial"/>
              </a:rPr>
              <a:t>mix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publicidad 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14" dirty="0">
                <a:latin typeface="Arial"/>
                <a:cs typeface="Arial"/>
              </a:rPr>
              <a:t>debemos </a:t>
            </a:r>
            <a:r>
              <a:rPr sz="2200" spc="-40" dirty="0">
                <a:latin typeface="Arial"/>
                <a:cs typeface="Arial"/>
              </a:rPr>
              <a:t>tener </a:t>
            </a:r>
            <a:r>
              <a:rPr sz="2200" spc="-95" dirty="0">
                <a:latin typeface="Arial"/>
                <a:cs typeface="Arial"/>
              </a:rPr>
              <a:t>dado </a:t>
            </a:r>
            <a:r>
              <a:rPr sz="2200" spc="-75" dirty="0">
                <a:latin typeface="Arial"/>
                <a:cs typeface="Arial"/>
              </a:rPr>
              <a:t>nuestro  </a:t>
            </a:r>
            <a:r>
              <a:rPr sz="2200" spc="-95" dirty="0">
                <a:latin typeface="Arial"/>
                <a:cs typeface="Arial"/>
              </a:rPr>
              <a:t>presupuesto </a:t>
            </a:r>
            <a:r>
              <a:rPr sz="2200" spc="-105" dirty="0">
                <a:latin typeface="Arial"/>
                <a:cs typeface="Arial"/>
              </a:rPr>
              <a:t>y selección de </a:t>
            </a:r>
            <a:r>
              <a:rPr sz="2200" spc="-95" dirty="0">
                <a:latin typeface="Arial"/>
                <a:cs typeface="Arial"/>
              </a:rPr>
              <a:t>medios </a:t>
            </a:r>
            <a:r>
              <a:rPr sz="2200" spc="-105" dirty="0">
                <a:latin typeface="Arial"/>
                <a:cs typeface="Arial"/>
              </a:rPr>
              <a:t>de  comunicación?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1155953"/>
            <a:ext cx="2628900" cy="1733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49746" y="4038600"/>
            <a:ext cx="2467355" cy="1847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Concepto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0" dirty="0">
                <a:latin typeface="Arial"/>
                <a:cs typeface="Arial"/>
              </a:rPr>
              <a:t>objetivos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320" dirty="0">
                <a:latin typeface="Arial"/>
                <a:cs typeface="Arial"/>
              </a:rPr>
              <a:t>DSS</a:t>
            </a:r>
            <a:r>
              <a:rPr sz="1800" b="0" spc="-15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8617585" cy="509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70" dirty="0">
                <a:latin typeface="Trebuchet MS"/>
                <a:cs typeface="Trebuchet MS"/>
              </a:rPr>
              <a:t>Características:</a:t>
            </a:r>
            <a:endParaRPr sz="2600">
              <a:latin typeface="Trebuchet MS"/>
              <a:cs typeface="Trebuchet MS"/>
            </a:endParaRPr>
          </a:p>
          <a:p>
            <a:pPr marL="355600" marR="8255" indent="-34290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Interactividad</a:t>
            </a:r>
            <a:r>
              <a:rPr sz="1800" spc="-100" dirty="0">
                <a:latin typeface="Arial"/>
                <a:cs typeface="Arial"/>
              </a:rPr>
              <a:t>: </a:t>
            </a:r>
            <a:r>
              <a:rPr sz="1800" spc="-75" dirty="0">
                <a:latin typeface="Arial"/>
                <a:cs typeface="Arial"/>
              </a:rPr>
              <a:t>puede </a:t>
            </a:r>
            <a:r>
              <a:rPr sz="1800" spc="-45" dirty="0">
                <a:latin typeface="Arial"/>
                <a:cs typeface="Arial"/>
              </a:rPr>
              <a:t>interactuar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45" dirty="0">
                <a:latin typeface="Arial"/>
                <a:cs typeface="Arial"/>
              </a:rPr>
              <a:t>forma </a:t>
            </a:r>
            <a:r>
              <a:rPr sz="1800" spc="-85" dirty="0">
                <a:latin typeface="Arial"/>
                <a:cs typeface="Arial"/>
              </a:rPr>
              <a:t>amigable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con </a:t>
            </a:r>
            <a:r>
              <a:rPr sz="1800" spc="-100" dirty="0">
                <a:latin typeface="Arial"/>
                <a:cs typeface="Arial"/>
              </a:rPr>
              <a:t>respuestas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30" dirty="0">
                <a:latin typeface="Arial"/>
                <a:cs typeface="Arial"/>
              </a:rPr>
              <a:t>tiempo </a:t>
            </a:r>
            <a:r>
              <a:rPr sz="1800" spc="-60" dirty="0">
                <a:latin typeface="Arial"/>
                <a:cs typeface="Arial"/>
              </a:rPr>
              <a:t>real </a:t>
            </a:r>
            <a:r>
              <a:rPr sz="1800" spc="-90" dirty="0">
                <a:latin typeface="Arial"/>
                <a:cs typeface="Arial"/>
              </a:rPr>
              <a:t>en 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00" dirty="0">
                <a:latin typeface="Arial"/>
                <a:cs typeface="Arial"/>
              </a:rPr>
              <a:t>encargado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35" dirty="0">
                <a:latin typeface="Arial"/>
                <a:cs typeface="Arial"/>
              </a:rPr>
              <a:t>tomar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decisiones.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897255" algn="l"/>
                <a:tab pos="1261745" algn="l"/>
                <a:tab pos="2435225" algn="l"/>
                <a:tab pos="3123565" algn="l"/>
                <a:tab pos="3418840" algn="l"/>
                <a:tab pos="4286250" algn="l"/>
                <a:tab pos="4649470" algn="l"/>
                <a:tab pos="5265420" algn="l"/>
                <a:tab pos="5628640" algn="l"/>
                <a:tab pos="6728459" algn="l"/>
                <a:tab pos="8130540" algn="l"/>
                <a:tab pos="8362950" algn="l"/>
              </a:tabLst>
            </a:pPr>
            <a:r>
              <a:rPr sz="1800" b="1" u="heavy" spc="-2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</a:t>
            </a: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</a:t>
            </a:r>
            <a:r>
              <a:rPr sz="1800" b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</a:t>
            </a:r>
            <a:r>
              <a:rPr sz="1800" b="1" u="heavy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</a:t>
            </a:r>
            <a:r>
              <a:rPr sz="1800" b="1" u="heavy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</a:t>
            </a: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</a:t>
            </a:r>
            <a:r>
              <a:rPr sz="1800" b="1" u="heavy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</a:t>
            </a: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</a:t>
            </a:r>
            <a:r>
              <a:rPr sz="1800" b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io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800" b="1" u="heavy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</a:t>
            </a:r>
            <a:r>
              <a:rPr sz="1800" b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</a:t>
            </a:r>
            <a:r>
              <a:rPr sz="1800" spc="-20" dirty="0">
                <a:latin typeface="Arial"/>
                <a:cs typeface="Arial"/>
              </a:rPr>
              <a:t>: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35" dirty="0">
                <a:latin typeface="Arial"/>
                <a:cs typeface="Arial"/>
              </a:rPr>
              <a:t>a</a:t>
            </a:r>
            <a:r>
              <a:rPr sz="1800" spc="-60" dirty="0">
                <a:latin typeface="Arial"/>
                <a:cs typeface="Arial"/>
              </a:rPr>
              <a:t>p</a:t>
            </a:r>
            <a:r>
              <a:rPr sz="1800" spc="-65" dirty="0">
                <a:latin typeface="Arial"/>
                <a:cs typeface="Arial"/>
              </a:rPr>
              <a:t>o</a:t>
            </a:r>
            <a:r>
              <a:rPr sz="1800" spc="-120" dirty="0">
                <a:latin typeface="Arial"/>
                <a:cs typeface="Arial"/>
              </a:rPr>
              <a:t>y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75" dirty="0">
                <a:latin typeface="Arial"/>
                <a:cs typeface="Arial"/>
              </a:rPr>
              <a:t>e</a:t>
            </a:r>
            <a:r>
              <a:rPr sz="1800" spc="-30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p</a:t>
            </a:r>
            <a:r>
              <a:rPr sz="1800" spc="-45" dirty="0">
                <a:latin typeface="Arial"/>
                <a:cs typeface="Arial"/>
              </a:rPr>
              <a:t>r</a:t>
            </a:r>
            <a:r>
              <a:rPr sz="1800" spc="-110" dirty="0">
                <a:latin typeface="Arial"/>
                <a:cs typeface="Arial"/>
              </a:rPr>
              <a:t>o</a:t>
            </a:r>
            <a:r>
              <a:rPr sz="1800" spc="-95" dirty="0">
                <a:latin typeface="Arial"/>
                <a:cs typeface="Arial"/>
              </a:rPr>
              <a:t>c</a:t>
            </a:r>
            <a:r>
              <a:rPr sz="1800" spc="-120" dirty="0">
                <a:latin typeface="Arial"/>
                <a:cs typeface="Arial"/>
              </a:rPr>
              <a:t>eso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0" dirty="0">
                <a:latin typeface="Arial"/>
                <a:cs typeface="Arial"/>
              </a:rPr>
              <a:t>d</a:t>
            </a:r>
            <a:r>
              <a:rPr sz="1800" spc="-8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85" dirty="0">
                <a:latin typeface="Arial"/>
                <a:cs typeface="Arial"/>
              </a:rPr>
              <a:t>t</a:t>
            </a:r>
            <a:r>
              <a:rPr sz="1800" spc="-100" dirty="0">
                <a:latin typeface="Arial"/>
                <a:cs typeface="Arial"/>
              </a:rPr>
              <a:t>om</a:t>
            </a:r>
            <a:r>
              <a:rPr sz="1800" spc="-7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0" dirty="0">
                <a:latin typeface="Arial"/>
                <a:cs typeface="Arial"/>
              </a:rPr>
              <a:t>d</a:t>
            </a:r>
            <a:r>
              <a:rPr sz="1800" spc="-8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d</a:t>
            </a:r>
            <a:r>
              <a:rPr sz="1800" spc="-95" dirty="0">
                <a:latin typeface="Arial"/>
                <a:cs typeface="Arial"/>
              </a:rPr>
              <a:t>ecisiones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60" dirty="0">
                <a:latin typeface="Arial"/>
                <a:cs typeface="Arial"/>
              </a:rPr>
              <a:t>e</a:t>
            </a:r>
            <a:r>
              <a:rPr sz="1800" spc="-170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tructu</a:t>
            </a:r>
            <a:r>
              <a:rPr sz="1800" spc="-35" dirty="0">
                <a:latin typeface="Arial"/>
                <a:cs typeface="Arial"/>
              </a:rPr>
              <a:t>r</a:t>
            </a:r>
            <a:r>
              <a:rPr sz="1800" spc="-135" dirty="0">
                <a:latin typeface="Arial"/>
                <a:cs typeface="Arial"/>
              </a:rPr>
              <a:t>adas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no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800" spc="-70" dirty="0">
                <a:latin typeface="Arial"/>
                <a:cs typeface="Arial"/>
              </a:rPr>
              <a:t>estructuradas.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Frecuencia 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800" b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uso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90" dirty="0">
                <a:latin typeface="Arial"/>
                <a:cs typeface="Arial"/>
              </a:rPr>
              <a:t>gerencia </a:t>
            </a:r>
            <a:r>
              <a:rPr sz="1800" spc="-70" dirty="0">
                <a:latin typeface="Arial"/>
                <a:cs typeface="Arial"/>
              </a:rPr>
              <a:t>media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-35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alta.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Variedad de </a:t>
            </a:r>
            <a:r>
              <a:rPr sz="1800" b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usuarios</a:t>
            </a:r>
            <a:r>
              <a:rPr sz="1800" spc="-80" dirty="0">
                <a:latin typeface="Arial"/>
                <a:cs typeface="Arial"/>
              </a:rPr>
              <a:t>: puede </a:t>
            </a:r>
            <a:r>
              <a:rPr sz="1800" spc="-95" dirty="0">
                <a:latin typeface="Arial"/>
                <a:cs typeface="Arial"/>
              </a:rPr>
              <a:t>ser </a:t>
            </a:r>
            <a:r>
              <a:rPr sz="1800" spc="-75" dirty="0">
                <a:latin typeface="Arial"/>
                <a:cs typeface="Arial"/>
              </a:rPr>
              <a:t>empleado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85" dirty="0">
                <a:latin typeface="Arial"/>
                <a:cs typeface="Arial"/>
              </a:rPr>
              <a:t>usuarios de </a:t>
            </a:r>
            <a:r>
              <a:rPr sz="1800" spc="-60" dirty="0">
                <a:latin typeface="Arial"/>
                <a:cs typeface="Arial"/>
              </a:rPr>
              <a:t>diferentes </a:t>
            </a:r>
            <a:r>
              <a:rPr sz="1800" spc="-114" dirty="0">
                <a:latin typeface="Arial"/>
                <a:cs typeface="Arial"/>
              </a:rPr>
              <a:t>áreas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funcionales.</a:t>
            </a:r>
            <a:endParaRPr sz="1800">
              <a:latin typeface="Arial"/>
              <a:cs typeface="Arial"/>
            </a:endParaRPr>
          </a:p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Flexibilidad</a:t>
            </a:r>
            <a:r>
              <a:rPr sz="1800" spc="-110" dirty="0">
                <a:latin typeface="Arial"/>
                <a:cs typeface="Arial"/>
              </a:rPr>
              <a:t>: </a:t>
            </a:r>
            <a:r>
              <a:rPr sz="1800" spc="-30" dirty="0">
                <a:latin typeface="Arial"/>
                <a:cs typeface="Arial"/>
              </a:rPr>
              <a:t>permite </a:t>
            </a:r>
            <a:r>
              <a:rPr sz="1800" spc="-95" dirty="0">
                <a:latin typeface="Arial"/>
                <a:cs typeface="Arial"/>
              </a:rPr>
              <a:t>acoplarse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5" dirty="0">
                <a:latin typeface="Arial"/>
                <a:cs typeface="Arial"/>
              </a:rPr>
              <a:t>variedad </a:t>
            </a:r>
            <a:r>
              <a:rPr sz="1800" spc="-55" dirty="0">
                <a:latin typeface="Arial"/>
                <a:cs typeface="Arial"/>
              </a:rPr>
              <a:t>determinada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estilos </a:t>
            </a:r>
            <a:r>
              <a:rPr sz="1800" spc="-55" dirty="0">
                <a:latin typeface="Arial"/>
                <a:cs typeface="Arial"/>
              </a:rPr>
              <a:t>administrativos;  </a:t>
            </a:r>
            <a:r>
              <a:rPr sz="1800" spc="-65" dirty="0">
                <a:latin typeface="Arial"/>
                <a:cs typeface="Arial"/>
              </a:rPr>
              <a:t>autocráticos, </a:t>
            </a:r>
            <a:r>
              <a:rPr sz="1800" spc="-50" dirty="0">
                <a:latin typeface="Arial"/>
                <a:cs typeface="Arial"/>
              </a:rPr>
              <a:t>participativos,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Desarrollo</a:t>
            </a:r>
            <a:r>
              <a:rPr sz="1800" spc="-85" dirty="0">
                <a:latin typeface="Arial"/>
                <a:cs typeface="Arial"/>
              </a:rPr>
              <a:t>: </a:t>
            </a:r>
            <a:r>
              <a:rPr sz="1800" spc="-30" dirty="0">
                <a:latin typeface="Arial"/>
                <a:cs typeface="Arial"/>
              </a:rPr>
              <a:t>permite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70" dirty="0">
                <a:latin typeface="Arial"/>
                <a:cs typeface="Arial"/>
              </a:rPr>
              <a:t>usuario </a:t>
            </a:r>
            <a:r>
              <a:rPr sz="1800" spc="-65" dirty="0">
                <a:latin typeface="Arial"/>
                <a:cs typeface="Arial"/>
              </a:rPr>
              <a:t>desarrolle </a:t>
            </a:r>
            <a:r>
              <a:rPr sz="1800" spc="-85" dirty="0">
                <a:latin typeface="Arial"/>
                <a:cs typeface="Arial"/>
              </a:rPr>
              <a:t>de manera </a:t>
            </a:r>
            <a:r>
              <a:rPr sz="1800" spc="-55" dirty="0">
                <a:latin typeface="Arial"/>
                <a:cs typeface="Arial"/>
              </a:rPr>
              <a:t>directa </a:t>
            </a:r>
            <a:r>
              <a:rPr sz="1800" spc="-75" dirty="0">
                <a:latin typeface="Arial"/>
                <a:cs typeface="Arial"/>
              </a:rPr>
              <a:t>modelos </a:t>
            </a:r>
            <a:r>
              <a:rPr sz="1800" spc="-80" dirty="0">
                <a:latin typeface="Arial"/>
                <a:cs typeface="Arial"/>
              </a:rPr>
              <a:t>de decisión </a:t>
            </a:r>
            <a:r>
              <a:rPr sz="1800" spc="-85" dirty="0">
                <a:latin typeface="Arial"/>
                <a:cs typeface="Arial"/>
              </a:rPr>
              <a:t>sin 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0" dirty="0">
                <a:latin typeface="Arial"/>
                <a:cs typeface="Arial"/>
              </a:rPr>
              <a:t>participación </a:t>
            </a:r>
            <a:r>
              <a:rPr sz="1800" spc="-60" dirty="0">
                <a:latin typeface="Arial"/>
                <a:cs typeface="Arial"/>
              </a:rPr>
              <a:t>operativa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profesionales </a:t>
            </a:r>
            <a:r>
              <a:rPr sz="1800" spc="-85" dirty="0">
                <a:latin typeface="Arial"/>
                <a:cs typeface="Arial"/>
              </a:rPr>
              <a:t>en</a:t>
            </a:r>
            <a:r>
              <a:rPr sz="1800" spc="-18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informática.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Interacción </a:t>
            </a: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ambiental</a:t>
            </a:r>
            <a:r>
              <a:rPr sz="1800" spc="-90" dirty="0">
                <a:latin typeface="Arial"/>
                <a:cs typeface="Arial"/>
              </a:rPr>
              <a:t>: </a:t>
            </a:r>
            <a:r>
              <a:rPr sz="1800" spc="-30" dirty="0">
                <a:latin typeface="Arial"/>
                <a:cs typeface="Arial"/>
              </a:rPr>
              <a:t>permite </a:t>
            </a:r>
            <a:r>
              <a:rPr sz="1800" spc="-40" dirty="0">
                <a:latin typeface="Arial"/>
                <a:cs typeface="Arial"/>
              </a:rPr>
              <a:t>interactuar </a:t>
            </a:r>
            <a:r>
              <a:rPr sz="1800" spc="-95" dirty="0">
                <a:latin typeface="Arial"/>
                <a:cs typeface="Arial"/>
              </a:rPr>
              <a:t>con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65" dirty="0">
                <a:latin typeface="Arial"/>
                <a:cs typeface="Arial"/>
              </a:rPr>
              <a:t>externa </a:t>
            </a:r>
            <a:r>
              <a:rPr sz="1800" spc="-85" dirty="0">
                <a:latin typeface="Arial"/>
                <a:cs typeface="Arial"/>
              </a:rPr>
              <a:t>como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0" dirty="0">
                <a:latin typeface="Arial"/>
                <a:cs typeface="Arial"/>
              </a:rPr>
              <a:t>de los  </a:t>
            </a:r>
            <a:r>
              <a:rPr sz="1800" spc="-75" dirty="0">
                <a:latin typeface="Arial"/>
                <a:cs typeface="Arial"/>
              </a:rPr>
              <a:t>modelos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decisión.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Comunicación interorganizacional</a:t>
            </a:r>
            <a:r>
              <a:rPr sz="1800" spc="-110" dirty="0">
                <a:latin typeface="Arial"/>
                <a:cs typeface="Arial"/>
              </a:rPr>
              <a:t>: </a:t>
            </a:r>
            <a:r>
              <a:rPr sz="1800" spc="-40" dirty="0">
                <a:latin typeface="Arial"/>
                <a:cs typeface="Arial"/>
              </a:rPr>
              <a:t>facilita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comunicación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65" dirty="0">
                <a:latin typeface="Arial"/>
                <a:cs typeface="Arial"/>
              </a:rPr>
              <a:t>relevante</a:t>
            </a:r>
            <a:r>
              <a:rPr sz="1800" spc="31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800" spc="-80" dirty="0">
                <a:latin typeface="Arial"/>
                <a:cs typeface="Arial"/>
              </a:rPr>
              <a:t>los niveles </a:t>
            </a:r>
            <a:r>
              <a:rPr sz="1800" spc="-60" dirty="0">
                <a:latin typeface="Arial"/>
                <a:cs typeface="Arial"/>
              </a:rPr>
              <a:t>altos </a:t>
            </a:r>
            <a:r>
              <a:rPr sz="1800" spc="-95" dirty="0">
                <a:latin typeface="Arial"/>
                <a:cs typeface="Arial"/>
              </a:rPr>
              <a:t>hacia </a:t>
            </a:r>
            <a:r>
              <a:rPr sz="1800" spc="-80" dirty="0">
                <a:latin typeface="Arial"/>
                <a:cs typeface="Arial"/>
              </a:rPr>
              <a:t>los niveles </a:t>
            </a:r>
            <a:r>
              <a:rPr sz="1800" spc="-65" dirty="0">
                <a:latin typeface="Arial"/>
                <a:cs typeface="Arial"/>
              </a:rPr>
              <a:t>operativos </a:t>
            </a:r>
            <a:r>
              <a:rPr sz="1800" spc="-85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viceversa,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85" dirty="0">
                <a:latin typeface="Arial"/>
                <a:cs typeface="Arial"/>
              </a:rPr>
              <a:t>través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gráficas.</a:t>
            </a:r>
            <a:endParaRPr sz="18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Acceso </a:t>
            </a:r>
            <a:r>
              <a:rPr sz="1800" b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 </a:t>
            </a:r>
            <a:r>
              <a:rPr sz="1800" b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bases 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800" b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datos</a:t>
            </a:r>
            <a:r>
              <a:rPr sz="1800" spc="-75" dirty="0">
                <a:latin typeface="Arial"/>
                <a:cs typeface="Arial"/>
              </a:rPr>
              <a:t>: </a:t>
            </a:r>
            <a:r>
              <a:rPr sz="1800" spc="-100" dirty="0">
                <a:latin typeface="Arial"/>
                <a:cs typeface="Arial"/>
              </a:rPr>
              <a:t>capacidad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acceder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45" dirty="0">
                <a:latin typeface="Arial"/>
                <a:cs typeface="Arial"/>
              </a:rPr>
              <a:t>bases </a:t>
            </a:r>
            <a:r>
              <a:rPr sz="1800" spc="-80" dirty="0">
                <a:latin typeface="Arial"/>
                <a:cs typeface="Arial"/>
              </a:rPr>
              <a:t>de datos  </a:t>
            </a:r>
            <a:r>
              <a:rPr sz="1800" spc="-70" dirty="0">
                <a:latin typeface="Arial"/>
                <a:cs typeface="Arial"/>
              </a:rPr>
              <a:t>corporativas.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Simplicidad</a:t>
            </a:r>
            <a:r>
              <a:rPr sz="1800" spc="-90" dirty="0">
                <a:latin typeface="Arial"/>
                <a:cs typeface="Arial"/>
              </a:rPr>
              <a:t>: </a:t>
            </a:r>
            <a:r>
              <a:rPr sz="1800" spc="-70" dirty="0">
                <a:latin typeface="Arial"/>
                <a:cs typeface="Arial"/>
              </a:rPr>
              <a:t>simple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50" dirty="0">
                <a:latin typeface="Arial"/>
                <a:cs typeface="Arial"/>
              </a:rPr>
              <a:t>fácil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aprender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35" dirty="0">
                <a:latin typeface="Arial"/>
                <a:cs typeface="Arial"/>
              </a:rPr>
              <a:t>utilizar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70" dirty="0">
                <a:latin typeface="Arial"/>
                <a:cs typeface="Arial"/>
              </a:rPr>
              <a:t>usuario</a:t>
            </a:r>
            <a:r>
              <a:rPr sz="1800" spc="-33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final.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Concepto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0" dirty="0">
                <a:latin typeface="Arial"/>
                <a:cs typeface="Arial"/>
              </a:rPr>
              <a:t>objetivos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320" dirty="0">
                <a:latin typeface="Arial"/>
                <a:cs typeface="Arial"/>
              </a:rPr>
              <a:t>DSS</a:t>
            </a:r>
            <a:r>
              <a:rPr sz="1800" b="0" spc="-30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8501" y="1321546"/>
            <a:ext cx="7077996" cy="4799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Business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Intelligence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(BI)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166179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Concepto: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85" dirty="0">
                <a:latin typeface="Arial"/>
                <a:cs typeface="Arial"/>
              </a:rPr>
              <a:t>apli</a:t>
            </a:r>
            <a:r>
              <a:rPr sz="2600" spc="-125" dirty="0">
                <a:latin typeface="Arial"/>
                <a:cs typeface="Arial"/>
              </a:rPr>
              <a:t>c</a:t>
            </a:r>
            <a:r>
              <a:rPr sz="2600" spc="-215" dirty="0">
                <a:latin typeface="Arial"/>
                <a:cs typeface="Arial"/>
              </a:rPr>
              <a:t>a</a:t>
            </a:r>
            <a:r>
              <a:rPr sz="2600" spc="-190" dirty="0">
                <a:latin typeface="Arial"/>
                <a:cs typeface="Arial"/>
              </a:rPr>
              <a:t>c</a:t>
            </a:r>
            <a:r>
              <a:rPr sz="2600" spc="-120" dirty="0">
                <a:latin typeface="Arial"/>
                <a:cs typeface="Arial"/>
              </a:rPr>
              <a:t>iones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7060" y="1098041"/>
            <a:ext cx="697992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5080" indent="-218440">
              <a:lnSpc>
                <a:spcPct val="100000"/>
              </a:lnSpc>
              <a:spcBef>
                <a:spcPts val="95"/>
              </a:spcBef>
              <a:tabLst>
                <a:tab pos="551180" algn="l"/>
                <a:tab pos="598170" algn="l"/>
                <a:tab pos="1302385" algn="l"/>
                <a:tab pos="2345690" algn="l"/>
                <a:tab pos="2800985" algn="l"/>
                <a:tab pos="3075940" algn="l"/>
                <a:tab pos="3556635" algn="l"/>
                <a:tab pos="4532630" algn="l"/>
                <a:tab pos="4599305" algn="l"/>
                <a:tab pos="5193665" algn="l"/>
                <a:tab pos="5859145" algn="l"/>
                <a:tab pos="6628765" algn="l"/>
              </a:tabLst>
            </a:pPr>
            <a:r>
              <a:rPr sz="2600" spc="-240" dirty="0">
                <a:latin typeface="Arial"/>
                <a:cs typeface="Arial"/>
              </a:rPr>
              <a:t>e</a:t>
            </a:r>
            <a:r>
              <a:rPr sz="2600" spc="-210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30" dirty="0">
                <a:latin typeface="Arial"/>
                <a:cs typeface="Arial"/>
              </a:rPr>
              <a:t>un</a:t>
            </a:r>
            <a:r>
              <a:rPr sz="2600" spc="-12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disciplin</a:t>
            </a:r>
            <a:r>
              <a:rPr sz="2600" spc="-120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qu</a:t>
            </a:r>
            <a:r>
              <a:rPr sz="2600" spc="-1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20" dirty="0">
                <a:latin typeface="Arial"/>
                <a:cs typeface="Arial"/>
              </a:rPr>
              <a:t>uti</a:t>
            </a:r>
            <a:r>
              <a:rPr sz="2600" spc="15" dirty="0">
                <a:latin typeface="Arial"/>
                <a:cs typeface="Arial"/>
              </a:rPr>
              <a:t>l</a:t>
            </a:r>
            <a:r>
              <a:rPr sz="2600" spc="-80" dirty="0">
                <a:latin typeface="Arial"/>
                <a:cs typeface="Arial"/>
              </a:rPr>
              <a:t>i</a:t>
            </a:r>
            <a:r>
              <a:rPr sz="2600" spc="-220" dirty="0">
                <a:latin typeface="Arial"/>
                <a:cs typeface="Arial"/>
              </a:rPr>
              <a:t>z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	</a:t>
            </a:r>
            <a:r>
              <a:rPr sz="2600" spc="-85" dirty="0">
                <a:latin typeface="Arial"/>
                <a:cs typeface="Arial"/>
              </a:rPr>
              <a:t>un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35" dirty="0">
                <a:latin typeface="Arial"/>
                <a:cs typeface="Arial"/>
              </a:rPr>
              <a:t>c</a:t>
            </a:r>
            <a:r>
              <a:rPr sz="2600" spc="-85" dirty="0">
                <a:latin typeface="Arial"/>
                <a:cs typeface="Arial"/>
              </a:rPr>
              <a:t>o</a:t>
            </a:r>
            <a:r>
              <a:rPr sz="2600" spc="-80" dirty="0">
                <a:latin typeface="Arial"/>
                <a:cs typeface="Arial"/>
              </a:rPr>
              <a:t>n</a:t>
            </a:r>
            <a:r>
              <a:rPr sz="2600" spc="-40" dirty="0">
                <a:latin typeface="Arial"/>
                <a:cs typeface="Arial"/>
              </a:rPr>
              <a:t>ju</a:t>
            </a:r>
            <a:r>
              <a:rPr sz="2600" spc="-80" dirty="0">
                <a:latin typeface="Arial"/>
                <a:cs typeface="Arial"/>
              </a:rPr>
              <a:t>n</a:t>
            </a:r>
            <a:r>
              <a:rPr sz="2600" spc="120" dirty="0">
                <a:latin typeface="Arial"/>
                <a:cs typeface="Arial"/>
              </a:rPr>
              <a:t>t</a:t>
            </a:r>
            <a:r>
              <a:rPr sz="2600" spc="-8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de 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dirty="0">
                <a:latin typeface="Arial"/>
                <a:cs typeface="Arial"/>
              </a:rPr>
              <a:t>		</a:t>
            </a:r>
            <a:r>
              <a:rPr sz="2600" spc="110" dirty="0">
                <a:latin typeface="Arial"/>
                <a:cs typeface="Arial"/>
              </a:rPr>
              <a:t>t</a:t>
            </a:r>
            <a:r>
              <a:rPr sz="2600" spc="-95" dirty="0">
                <a:latin typeface="Arial"/>
                <a:cs typeface="Arial"/>
              </a:rPr>
              <a:t>ecnol</a:t>
            </a:r>
            <a:r>
              <a:rPr sz="2600" spc="-105" dirty="0">
                <a:latin typeface="Arial"/>
                <a:cs typeface="Arial"/>
              </a:rPr>
              <a:t>o</a:t>
            </a:r>
            <a:r>
              <a:rPr sz="2600" spc="-235" dirty="0">
                <a:latin typeface="Arial"/>
                <a:cs typeface="Arial"/>
              </a:rPr>
              <a:t>g</a:t>
            </a:r>
            <a:r>
              <a:rPr sz="2600" spc="-114" dirty="0">
                <a:latin typeface="Arial"/>
                <a:cs typeface="Arial"/>
              </a:rPr>
              <a:t>í</a:t>
            </a:r>
            <a:r>
              <a:rPr sz="2600" spc="-245" dirty="0">
                <a:latin typeface="Arial"/>
                <a:cs typeface="Arial"/>
              </a:rPr>
              <a:t>as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0" dirty="0">
                <a:latin typeface="Arial"/>
                <a:cs typeface="Arial"/>
              </a:rPr>
              <a:t>que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0" dirty="0">
                <a:latin typeface="Arial"/>
                <a:cs typeface="Arial"/>
              </a:rPr>
              <a:t>permi</a:t>
            </a:r>
            <a:r>
              <a:rPr sz="2600" spc="-40" dirty="0">
                <a:latin typeface="Arial"/>
                <a:cs typeface="Arial"/>
              </a:rPr>
              <a:t>t</a:t>
            </a:r>
            <a:r>
              <a:rPr sz="2600" spc="-120" dirty="0">
                <a:latin typeface="Arial"/>
                <a:cs typeface="Arial"/>
              </a:rPr>
              <a:t>en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90" dirty="0">
                <a:latin typeface="Arial"/>
                <a:cs typeface="Arial"/>
              </a:rPr>
              <a:t>acc</a:t>
            </a:r>
            <a:r>
              <a:rPr sz="2600" spc="-210" dirty="0">
                <a:latin typeface="Arial"/>
                <a:cs typeface="Arial"/>
              </a:rPr>
              <a:t>e</a:t>
            </a:r>
            <a:r>
              <a:rPr sz="2600" spc="-125" dirty="0">
                <a:latin typeface="Arial"/>
                <a:cs typeface="Arial"/>
              </a:rPr>
              <a:t>de</a:t>
            </a:r>
            <a:r>
              <a:rPr sz="2600" spc="-195" dirty="0">
                <a:latin typeface="Arial"/>
                <a:cs typeface="Arial"/>
              </a:rPr>
              <a:t>r</a:t>
            </a:r>
            <a:r>
              <a:rPr sz="2600" spc="-75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15" dirty="0">
                <a:latin typeface="Arial"/>
                <a:cs typeface="Arial"/>
              </a:rPr>
              <a:t>a</a:t>
            </a:r>
            <a:r>
              <a:rPr sz="2600" spc="-210" dirty="0">
                <a:latin typeface="Arial"/>
                <a:cs typeface="Arial"/>
              </a:rPr>
              <a:t>g</a:t>
            </a:r>
            <a:r>
              <a:rPr sz="2600" spc="-85" dirty="0">
                <a:latin typeface="Arial"/>
                <a:cs typeface="Arial"/>
              </a:rPr>
              <a:t>rupa</a:t>
            </a:r>
            <a:r>
              <a:rPr sz="2600" spc="-180" dirty="0">
                <a:latin typeface="Arial"/>
                <a:cs typeface="Arial"/>
              </a:rPr>
              <a:t>r</a:t>
            </a:r>
            <a:r>
              <a:rPr sz="2600" spc="-75" dirty="0">
                <a:latin typeface="Arial"/>
                <a:cs typeface="Arial"/>
              </a:rPr>
              <a:t>,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990" y="2213127"/>
            <a:ext cx="8617585" cy="398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</a:pPr>
            <a:r>
              <a:rPr sz="2600" spc="-120" dirty="0">
                <a:latin typeface="Arial"/>
                <a:cs typeface="Arial"/>
              </a:rPr>
              <a:t>analizar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10" dirty="0">
                <a:latin typeface="Arial"/>
                <a:cs typeface="Arial"/>
              </a:rPr>
              <a:t>guardar datos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70" dirty="0">
                <a:latin typeface="Arial"/>
                <a:cs typeface="Arial"/>
              </a:rPr>
              <a:t>forma </a:t>
            </a:r>
            <a:r>
              <a:rPr sz="2600" spc="-20" dirty="0">
                <a:latin typeface="Arial"/>
                <a:cs typeface="Arial"/>
              </a:rPr>
              <a:t>tal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75" dirty="0">
                <a:latin typeface="Arial"/>
                <a:cs typeface="Arial"/>
              </a:rPr>
              <a:t>contribuyan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25" dirty="0">
                <a:latin typeface="Arial"/>
                <a:cs typeface="Arial"/>
              </a:rPr>
              <a:t>una  </a:t>
            </a:r>
            <a:r>
              <a:rPr sz="2600" spc="-50" dirty="0">
                <a:latin typeface="Arial"/>
                <a:cs typeface="Arial"/>
              </a:rPr>
              <a:t>mejor </a:t>
            </a:r>
            <a:r>
              <a:rPr sz="2600" spc="-65" dirty="0">
                <a:latin typeface="Arial"/>
                <a:cs typeface="Arial"/>
              </a:rPr>
              <a:t>toma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29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decisiones.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i="1" spc="-90" dirty="0">
                <a:latin typeface="Trebuchet MS"/>
                <a:cs typeface="Trebuchet MS"/>
              </a:rPr>
              <a:t>Es </a:t>
            </a:r>
            <a:r>
              <a:rPr sz="2600" i="1" spc="-100" dirty="0">
                <a:latin typeface="Trebuchet MS"/>
                <a:cs typeface="Trebuchet MS"/>
              </a:rPr>
              <a:t>un </a:t>
            </a:r>
            <a:r>
              <a:rPr sz="2600" i="1" spc="-110" dirty="0">
                <a:latin typeface="Trebuchet MS"/>
                <a:cs typeface="Trebuchet MS"/>
              </a:rPr>
              <a:t>proceso </a:t>
            </a:r>
            <a:r>
              <a:rPr sz="2600" i="1" spc="-155" dirty="0">
                <a:latin typeface="Trebuchet MS"/>
                <a:cs typeface="Trebuchet MS"/>
              </a:rPr>
              <a:t>interactivo </a:t>
            </a:r>
            <a:r>
              <a:rPr sz="2600" i="1" spc="-100" dirty="0">
                <a:latin typeface="Trebuchet MS"/>
                <a:cs typeface="Trebuchet MS"/>
              </a:rPr>
              <a:t>para </a:t>
            </a:r>
            <a:r>
              <a:rPr sz="2600" i="1" spc="-160" dirty="0">
                <a:latin typeface="Trebuchet MS"/>
                <a:cs typeface="Trebuchet MS"/>
              </a:rPr>
              <a:t>explorar </a:t>
            </a:r>
            <a:r>
              <a:rPr sz="2600" i="1" spc="-125" dirty="0">
                <a:latin typeface="Trebuchet MS"/>
                <a:cs typeface="Trebuchet MS"/>
              </a:rPr>
              <a:t>y </a:t>
            </a:r>
            <a:r>
              <a:rPr sz="2600" i="1" spc="-135" dirty="0">
                <a:latin typeface="Trebuchet MS"/>
                <a:cs typeface="Trebuchet MS"/>
              </a:rPr>
              <a:t>analizar información  </a:t>
            </a:r>
            <a:r>
              <a:rPr sz="2600" i="1" spc="-130" dirty="0">
                <a:latin typeface="Trebuchet MS"/>
                <a:cs typeface="Trebuchet MS"/>
              </a:rPr>
              <a:t>estructurada </a:t>
            </a:r>
            <a:r>
              <a:rPr sz="2600" i="1" spc="-120" dirty="0">
                <a:latin typeface="Trebuchet MS"/>
                <a:cs typeface="Trebuchet MS"/>
              </a:rPr>
              <a:t>sobre </a:t>
            </a:r>
            <a:r>
              <a:rPr sz="2600" i="1" spc="-105" dirty="0">
                <a:latin typeface="Trebuchet MS"/>
                <a:cs typeface="Trebuchet MS"/>
              </a:rPr>
              <a:t>un </a:t>
            </a:r>
            <a:r>
              <a:rPr sz="2600" i="1" spc="-110" dirty="0">
                <a:latin typeface="Trebuchet MS"/>
                <a:cs typeface="Trebuchet MS"/>
              </a:rPr>
              <a:t>área </a:t>
            </a:r>
            <a:r>
              <a:rPr sz="2600" i="1" spc="-140" dirty="0">
                <a:latin typeface="Trebuchet MS"/>
                <a:cs typeface="Trebuchet MS"/>
              </a:rPr>
              <a:t>(normalmente </a:t>
            </a:r>
            <a:r>
              <a:rPr sz="2600" i="1" spc="-100" dirty="0">
                <a:latin typeface="Trebuchet MS"/>
                <a:cs typeface="Trebuchet MS"/>
              </a:rPr>
              <a:t>almacenada </a:t>
            </a:r>
            <a:r>
              <a:rPr sz="2600" i="1" spc="-125" dirty="0">
                <a:latin typeface="Trebuchet MS"/>
                <a:cs typeface="Trebuchet MS"/>
              </a:rPr>
              <a:t>en </a:t>
            </a:r>
            <a:r>
              <a:rPr sz="2600" i="1" spc="-105" dirty="0">
                <a:latin typeface="Trebuchet MS"/>
                <a:cs typeface="Trebuchet MS"/>
              </a:rPr>
              <a:t>un  </a:t>
            </a:r>
            <a:r>
              <a:rPr sz="2600" i="1" spc="-125" dirty="0">
                <a:latin typeface="Trebuchet MS"/>
                <a:cs typeface="Trebuchet MS"/>
              </a:rPr>
              <a:t>datawarehouse), </a:t>
            </a:r>
            <a:r>
              <a:rPr sz="2600" i="1" spc="-100" dirty="0">
                <a:latin typeface="Trebuchet MS"/>
                <a:cs typeface="Trebuchet MS"/>
              </a:rPr>
              <a:t>para </a:t>
            </a:r>
            <a:r>
              <a:rPr sz="2600" i="1" spc="-145" dirty="0">
                <a:latin typeface="Trebuchet MS"/>
                <a:cs typeface="Trebuchet MS"/>
              </a:rPr>
              <a:t>descubrir </a:t>
            </a:r>
            <a:r>
              <a:rPr sz="2600" i="1" spc="-125" dirty="0">
                <a:latin typeface="Trebuchet MS"/>
                <a:cs typeface="Trebuchet MS"/>
              </a:rPr>
              <a:t>tendencias </a:t>
            </a:r>
            <a:r>
              <a:rPr sz="2600" i="1" spc="-65" dirty="0">
                <a:latin typeface="Trebuchet MS"/>
                <a:cs typeface="Trebuchet MS"/>
              </a:rPr>
              <a:t>o </a:t>
            </a:r>
            <a:r>
              <a:rPr sz="2600" i="1" spc="-140" dirty="0">
                <a:latin typeface="Trebuchet MS"/>
                <a:cs typeface="Trebuchet MS"/>
              </a:rPr>
              <a:t>patrones, </a:t>
            </a:r>
            <a:r>
              <a:rPr sz="2600" i="1" spc="-35" dirty="0">
                <a:latin typeface="Trebuchet MS"/>
                <a:cs typeface="Trebuchet MS"/>
              </a:rPr>
              <a:t>a </a:t>
            </a:r>
            <a:r>
              <a:rPr sz="2600" i="1" spc="-165" dirty="0">
                <a:latin typeface="Trebuchet MS"/>
                <a:cs typeface="Trebuchet MS"/>
              </a:rPr>
              <a:t>partir 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14" dirty="0">
                <a:latin typeface="Trebuchet MS"/>
                <a:cs typeface="Trebuchet MS"/>
              </a:rPr>
              <a:t>los cuales </a:t>
            </a:r>
            <a:r>
              <a:rPr sz="2600" i="1" spc="-150" dirty="0">
                <a:latin typeface="Trebuchet MS"/>
                <a:cs typeface="Trebuchet MS"/>
              </a:rPr>
              <a:t>derivar </a:t>
            </a:r>
            <a:r>
              <a:rPr sz="2600" i="1" spc="-110" dirty="0">
                <a:latin typeface="Trebuchet MS"/>
                <a:cs typeface="Trebuchet MS"/>
              </a:rPr>
              <a:t>ideas </a:t>
            </a:r>
            <a:r>
              <a:rPr sz="2600" i="1" spc="-125" dirty="0">
                <a:latin typeface="Trebuchet MS"/>
                <a:cs typeface="Trebuchet MS"/>
              </a:rPr>
              <a:t>y </a:t>
            </a:r>
            <a:r>
              <a:rPr sz="2600" i="1" spc="-170" dirty="0">
                <a:latin typeface="Trebuchet MS"/>
                <a:cs typeface="Trebuchet MS"/>
              </a:rPr>
              <a:t>extraer </a:t>
            </a:r>
            <a:r>
              <a:rPr sz="2600" i="1" spc="-130" dirty="0">
                <a:latin typeface="Trebuchet MS"/>
                <a:cs typeface="Trebuchet MS"/>
              </a:rPr>
              <a:t>conclusiones. </a:t>
            </a:r>
            <a:r>
              <a:rPr sz="2600" i="1" spc="-185" dirty="0">
                <a:latin typeface="Trebuchet MS"/>
                <a:cs typeface="Trebuchet MS"/>
              </a:rPr>
              <a:t>El </a:t>
            </a:r>
            <a:r>
              <a:rPr sz="2600" i="1" spc="-110" dirty="0">
                <a:latin typeface="Trebuchet MS"/>
                <a:cs typeface="Trebuchet MS"/>
              </a:rPr>
              <a:t>proceso </a:t>
            </a:r>
            <a:r>
              <a:rPr sz="2600" i="1" spc="-135" dirty="0">
                <a:latin typeface="Trebuchet MS"/>
                <a:cs typeface="Trebuchet MS"/>
              </a:rPr>
              <a:t>de  </a:t>
            </a:r>
            <a:r>
              <a:rPr sz="2600" i="1" spc="-65" dirty="0">
                <a:latin typeface="Trebuchet MS"/>
                <a:cs typeface="Trebuchet MS"/>
              </a:rPr>
              <a:t>BI </a:t>
            </a:r>
            <a:r>
              <a:rPr sz="2600" i="1" spc="-150" dirty="0">
                <a:latin typeface="Trebuchet MS"/>
                <a:cs typeface="Trebuchet MS"/>
              </a:rPr>
              <a:t>incluye </a:t>
            </a:r>
            <a:r>
              <a:rPr sz="2600" i="1" spc="-135" dirty="0">
                <a:latin typeface="Trebuchet MS"/>
                <a:cs typeface="Trebuchet MS"/>
              </a:rPr>
              <a:t>la </a:t>
            </a:r>
            <a:r>
              <a:rPr sz="2600" i="1" spc="-110" dirty="0">
                <a:latin typeface="Trebuchet MS"/>
                <a:cs typeface="Trebuchet MS"/>
              </a:rPr>
              <a:t>comunicación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14" dirty="0">
                <a:latin typeface="Trebuchet MS"/>
                <a:cs typeface="Trebuchet MS"/>
              </a:rPr>
              <a:t>los </a:t>
            </a:r>
            <a:r>
              <a:rPr sz="2600" i="1" spc="-135" dirty="0">
                <a:latin typeface="Trebuchet MS"/>
                <a:cs typeface="Trebuchet MS"/>
              </a:rPr>
              <a:t>descubrimientos </a:t>
            </a:r>
            <a:r>
              <a:rPr sz="2600" i="1" spc="-125" dirty="0">
                <a:latin typeface="Trebuchet MS"/>
                <a:cs typeface="Trebuchet MS"/>
              </a:rPr>
              <a:t>y </a:t>
            </a:r>
            <a:r>
              <a:rPr sz="2600" i="1" spc="-160" dirty="0">
                <a:latin typeface="Trebuchet MS"/>
                <a:cs typeface="Trebuchet MS"/>
              </a:rPr>
              <a:t>efectuar </a:t>
            </a:r>
            <a:r>
              <a:rPr sz="2600" i="1" spc="-114" dirty="0">
                <a:latin typeface="Trebuchet MS"/>
                <a:cs typeface="Trebuchet MS"/>
              </a:rPr>
              <a:t>los  </a:t>
            </a:r>
            <a:r>
              <a:rPr sz="2600" i="1" spc="-100" dirty="0">
                <a:latin typeface="Trebuchet MS"/>
                <a:cs typeface="Trebuchet MS"/>
              </a:rPr>
              <a:t>cambios </a:t>
            </a:r>
            <a:r>
              <a:rPr sz="2600" i="1" spc="-170" dirty="0">
                <a:latin typeface="Trebuchet MS"/>
                <a:cs typeface="Trebuchet MS"/>
              </a:rPr>
              <a:t>pertinentes. </a:t>
            </a:r>
            <a:r>
              <a:rPr sz="2600" i="1" spc="-105" dirty="0">
                <a:latin typeface="Trebuchet MS"/>
                <a:cs typeface="Trebuchet MS"/>
              </a:rPr>
              <a:t>Las </a:t>
            </a:r>
            <a:r>
              <a:rPr sz="2600" i="1" spc="-95" dirty="0">
                <a:latin typeface="Trebuchet MS"/>
                <a:cs typeface="Trebuchet MS"/>
              </a:rPr>
              <a:t>áreas </a:t>
            </a:r>
            <a:r>
              <a:rPr sz="2600" i="1" spc="-114" dirty="0">
                <a:latin typeface="Trebuchet MS"/>
                <a:cs typeface="Trebuchet MS"/>
              </a:rPr>
              <a:t>involucradas </a:t>
            </a:r>
            <a:r>
              <a:rPr sz="2600" i="1" spc="-140" dirty="0">
                <a:latin typeface="Trebuchet MS"/>
                <a:cs typeface="Trebuchet MS"/>
              </a:rPr>
              <a:t>incluyen </a:t>
            </a:r>
            <a:r>
              <a:rPr sz="2600" i="1" spc="-175" dirty="0">
                <a:latin typeface="Trebuchet MS"/>
                <a:cs typeface="Trebuchet MS"/>
              </a:rPr>
              <a:t>clientes,  </a:t>
            </a:r>
            <a:r>
              <a:rPr sz="2600" i="1" spc="-145" dirty="0">
                <a:latin typeface="Trebuchet MS"/>
                <a:cs typeface="Trebuchet MS"/>
              </a:rPr>
              <a:t>proveedores, productos, </a:t>
            </a:r>
            <a:r>
              <a:rPr sz="2600" i="1" spc="-130" dirty="0">
                <a:latin typeface="Trebuchet MS"/>
                <a:cs typeface="Trebuchet MS"/>
              </a:rPr>
              <a:t>servicios </a:t>
            </a:r>
            <a:r>
              <a:rPr sz="2600" i="1" spc="-125" dirty="0">
                <a:latin typeface="Trebuchet MS"/>
                <a:cs typeface="Trebuchet MS"/>
              </a:rPr>
              <a:t>y</a:t>
            </a:r>
            <a:r>
              <a:rPr sz="2600" i="1" spc="-305" dirty="0">
                <a:latin typeface="Trebuchet MS"/>
                <a:cs typeface="Trebuchet MS"/>
              </a:rPr>
              <a:t> </a:t>
            </a:r>
            <a:r>
              <a:rPr sz="2600" i="1" spc="-150" dirty="0">
                <a:latin typeface="Trebuchet MS"/>
                <a:cs typeface="Trebuchet MS"/>
              </a:rPr>
              <a:t>competidores.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38364" y="5861199"/>
            <a:ext cx="1068927" cy="34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Business </a:t>
            </a:r>
            <a:r>
              <a:rPr sz="1800" b="0" spc="-55" dirty="0">
                <a:latin typeface="Arial"/>
                <a:cs typeface="Arial"/>
              </a:rPr>
              <a:t>Intelligence </a:t>
            </a:r>
            <a:r>
              <a:rPr sz="1800" b="0" spc="-100" dirty="0">
                <a:latin typeface="Arial"/>
                <a:cs typeface="Arial"/>
              </a:rPr>
              <a:t>(BI)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8704" y="1042327"/>
            <a:ext cx="8572500" cy="542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Business </a:t>
            </a:r>
            <a:r>
              <a:rPr sz="1800" b="0" spc="-55" dirty="0">
                <a:latin typeface="Arial"/>
                <a:cs typeface="Arial"/>
              </a:rPr>
              <a:t>Intelligence </a:t>
            </a:r>
            <a:r>
              <a:rPr sz="1800" b="0" spc="-100" dirty="0">
                <a:latin typeface="Arial"/>
                <a:cs typeface="Arial"/>
              </a:rPr>
              <a:t>(BI)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247" y="1454866"/>
            <a:ext cx="8365527" cy="4610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Business </a:t>
            </a:r>
            <a:r>
              <a:rPr sz="1800" b="0" spc="-55" dirty="0">
                <a:latin typeface="Arial"/>
                <a:cs typeface="Arial"/>
              </a:rPr>
              <a:t>Intelligence </a:t>
            </a:r>
            <a:r>
              <a:rPr sz="1800" b="0" spc="-100" dirty="0">
                <a:latin typeface="Arial"/>
                <a:cs typeface="Arial"/>
              </a:rPr>
              <a:t>(BI)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690" y="1455068"/>
            <a:ext cx="8217977" cy="47939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950" cy="489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Business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Intelligence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(BI)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05" dirty="0">
                <a:latin typeface="Trebuchet MS"/>
                <a:cs typeface="Trebuchet MS"/>
              </a:rPr>
              <a:t>Una </a:t>
            </a:r>
            <a:r>
              <a:rPr sz="2600" b="1" spc="-130" dirty="0">
                <a:latin typeface="Trebuchet MS"/>
                <a:cs typeface="Trebuchet MS"/>
              </a:rPr>
              <a:t>solución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65" dirty="0">
                <a:latin typeface="Trebuchet MS"/>
                <a:cs typeface="Trebuchet MS"/>
              </a:rPr>
              <a:t>BI </a:t>
            </a:r>
            <a:r>
              <a:rPr sz="2600" b="1" spc="-150" dirty="0">
                <a:latin typeface="Trebuchet MS"/>
                <a:cs typeface="Trebuchet MS"/>
              </a:rPr>
              <a:t>adecuadamente</a:t>
            </a:r>
            <a:r>
              <a:rPr sz="2600" b="1" spc="-470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articulada: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2600" spc="-130" dirty="0">
                <a:latin typeface="Arial"/>
                <a:cs typeface="Arial"/>
              </a:rPr>
              <a:t>Agrupa </a:t>
            </a:r>
            <a:r>
              <a:rPr sz="2600" spc="-60" dirty="0">
                <a:latin typeface="Arial"/>
                <a:cs typeface="Arial"/>
              </a:rPr>
              <a:t>toda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0" dirty="0">
                <a:latin typeface="Arial"/>
                <a:cs typeface="Arial"/>
              </a:rPr>
              <a:t>información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40" dirty="0">
                <a:latin typeface="Arial"/>
                <a:cs typeface="Arial"/>
              </a:rPr>
              <a:t>sola </a:t>
            </a:r>
            <a:r>
              <a:rPr sz="2600" spc="-240" dirty="0">
                <a:latin typeface="Arial"/>
                <a:cs typeface="Arial"/>
              </a:rPr>
              <a:t>Base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40" dirty="0">
                <a:latin typeface="Arial"/>
                <a:cs typeface="Arial"/>
              </a:rPr>
              <a:t>Datos, </a:t>
            </a:r>
            <a:r>
              <a:rPr sz="2600" spc="-229" dirty="0">
                <a:latin typeface="Arial"/>
                <a:cs typeface="Arial"/>
              </a:rPr>
              <a:t>es  </a:t>
            </a:r>
            <a:r>
              <a:rPr sz="2600" spc="-120" dirty="0">
                <a:latin typeface="Arial"/>
                <a:cs typeface="Arial"/>
              </a:rPr>
              <a:t>decir, </a:t>
            </a:r>
            <a:r>
              <a:rPr sz="2600" spc="-80" dirty="0">
                <a:latin typeface="Arial"/>
                <a:cs typeface="Arial"/>
              </a:rPr>
              <a:t>un </a:t>
            </a:r>
            <a:r>
              <a:rPr sz="2600" spc="-155" dirty="0">
                <a:latin typeface="Arial"/>
                <a:cs typeface="Arial"/>
              </a:rPr>
              <a:t>Data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600" spc="-135" dirty="0">
                <a:latin typeface="Arial"/>
                <a:cs typeface="Arial"/>
              </a:rPr>
              <a:t>Warehouse;</a:t>
            </a:r>
            <a:endParaRPr sz="26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  <a:tab pos="470534" algn="l"/>
              </a:tabLst>
            </a:pPr>
            <a:r>
              <a:rPr sz="2600" spc="-380" dirty="0">
                <a:latin typeface="Arial"/>
                <a:cs typeface="Arial"/>
              </a:rPr>
              <a:t>Es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80" dirty="0">
                <a:latin typeface="Arial"/>
                <a:cs typeface="Arial"/>
              </a:rPr>
              <a:t>capa </a:t>
            </a:r>
            <a:r>
              <a:rPr sz="2600" spc="-80" dirty="0">
                <a:latin typeface="Arial"/>
                <a:cs typeface="Arial"/>
              </a:rPr>
              <a:t>superior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90" dirty="0">
                <a:latin typeface="Arial"/>
                <a:cs typeface="Arial"/>
              </a:rPr>
              <a:t>su </a:t>
            </a:r>
            <a:r>
              <a:rPr sz="2600" spc="-434" dirty="0">
                <a:latin typeface="Arial"/>
                <a:cs typeface="Arial"/>
              </a:rPr>
              <a:t>ERP, </a:t>
            </a:r>
            <a:r>
              <a:rPr sz="2600" spc="-305" dirty="0">
                <a:latin typeface="Arial"/>
                <a:cs typeface="Arial"/>
              </a:rPr>
              <a:t>CRM </a:t>
            </a:r>
            <a:r>
              <a:rPr sz="2600" spc="-80" dirty="0">
                <a:latin typeface="Arial"/>
                <a:cs typeface="Arial"/>
              </a:rPr>
              <a:t>o cualquier </a:t>
            </a:r>
            <a:r>
              <a:rPr sz="2600" spc="-135" dirty="0">
                <a:latin typeface="Arial"/>
                <a:cs typeface="Arial"/>
              </a:rPr>
              <a:t>sistema </a:t>
            </a:r>
            <a:r>
              <a:rPr sz="2600" spc="-120" dirty="0">
                <a:latin typeface="Arial"/>
                <a:cs typeface="Arial"/>
              </a:rPr>
              <a:t>de  </a:t>
            </a:r>
            <a:r>
              <a:rPr sz="2600" spc="-100" dirty="0">
                <a:latin typeface="Arial"/>
                <a:cs typeface="Arial"/>
              </a:rPr>
              <a:t>gestión. </a:t>
            </a:r>
            <a:r>
              <a:rPr sz="2600" spc="-140" dirty="0">
                <a:latin typeface="Arial"/>
                <a:cs typeface="Arial"/>
              </a:rPr>
              <a:t>No </a:t>
            </a:r>
            <a:r>
              <a:rPr sz="2600" spc="-90" dirty="0">
                <a:latin typeface="Arial"/>
                <a:cs typeface="Arial"/>
              </a:rPr>
              <a:t>sustituye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434" dirty="0">
                <a:latin typeface="Arial"/>
                <a:cs typeface="Arial"/>
              </a:rPr>
              <a:t>ERP, </a:t>
            </a:r>
            <a:r>
              <a:rPr sz="2600" spc="-110" dirty="0">
                <a:latin typeface="Arial"/>
                <a:cs typeface="Arial"/>
              </a:rPr>
              <a:t>sino que </a:t>
            </a:r>
            <a:r>
              <a:rPr sz="2600" spc="-35" dirty="0">
                <a:latin typeface="Arial"/>
                <a:cs typeface="Arial"/>
              </a:rPr>
              <a:t>lo</a:t>
            </a:r>
            <a:r>
              <a:rPr sz="2600" spc="-26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potencia.</a:t>
            </a:r>
            <a:endParaRPr sz="26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2600" spc="-170" dirty="0">
                <a:latin typeface="Arial"/>
                <a:cs typeface="Arial"/>
              </a:rPr>
              <a:t>Genera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75" dirty="0">
                <a:latin typeface="Arial"/>
                <a:cs typeface="Arial"/>
              </a:rPr>
              <a:t>nivel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70" dirty="0">
                <a:latin typeface="Arial"/>
                <a:cs typeface="Arial"/>
              </a:rPr>
              <a:t>información </a:t>
            </a:r>
            <a:r>
              <a:rPr sz="2600" spc="-55" dirty="0">
                <a:latin typeface="Arial"/>
                <a:cs typeface="Arial"/>
              </a:rPr>
              <a:t>tan </a:t>
            </a:r>
            <a:r>
              <a:rPr sz="2600" spc="-95" dirty="0">
                <a:latin typeface="Arial"/>
                <a:cs typeface="Arial"/>
              </a:rPr>
              <a:t>dinámico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14" dirty="0">
                <a:latin typeface="Arial"/>
                <a:cs typeface="Arial"/>
              </a:rPr>
              <a:t>los  </a:t>
            </a:r>
            <a:r>
              <a:rPr sz="2600" spc="-80" dirty="0">
                <a:latin typeface="Arial"/>
                <a:cs typeface="Arial"/>
              </a:rPr>
              <a:t>informes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50" dirty="0">
                <a:latin typeface="Arial"/>
                <a:cs typeface="Arial"/>
              </a:rPr>
              <a:t>tornan </a:t>
            </a:r>
            <a:r>
              <a:rPr sz="2600" spc="-105" dirty="0">
                <a:latin typeface="Arial"/>
                <a:cs typeface="Arial"/>
              </a:rPr>
              <a:t>obsoletos, </a:t>
            </a:r>
            <a:r>
              <a:rPr sz="2600" spc="-114" dirty="0">
                <a:latin typeface="Arial"/>
                <a:cs typeface="Arial"/>
              </a:rPr>
              <a:t>siendo  </a:t>
            </a:r>
            <a:r>
              <a:rPr sz="2600" spc="-140" dirty="0">
                <a:latin typeface="Arial"/>
                <a:cs typeface="Arial"/>
              </a:rPr>
              <a:t>reemplazados  </a:t>
            </a:r>
            <a:r>
              <a:rPr sz="2600" spc="-125" dirty="0">
                <a:latin typeface="Arial"/>
                <a:cs typeface="Arial"/>
              </a:rPr>
              <a:t>y  </a:t>
            </a:r>
            <a:r>
              <a:rPr sz="2600" spc="-75" dirty="0">
                <a:latin typeface="Arial"/>
                <a:cs typeface="Arial"/>
              </a:rPr>
              <a:t>brindando </a:t>
            </a:r>
            <a:r>
              <a:rPr sz="2600" spc="-195" dirty="0">
                <a:latin typeface="Arial"/>
                <a:cs typeface="Arial"/>
              </a:rPr>
              <a:t>más </a:t>
            </a:r>
            <a:r>
              <a:rPr sz="2600" spc="-95" dirty="0">
                <a:latin typeface="Arial"/>
                <a:cs typeface="Arial"/>
              </a:rPr>
              <a:t>autonomía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05" dirty="0">
                <a:latin typeface="Arial"/>
                <a:cs typeface="Arial"/>
              </a:rPr>
              <a:t>Dirección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40" dirty="0">
                <a:latin typeface="Arial"/>
                <a:cs typeface="Arial"/>
              </a:rPr>
              <a:t>búsqueda 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información.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60441"/>
            <a:ext cx="25533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900" algn="l"/>
                <a:tab pos="470534" algn="l"/>
                <a:tab pos="1720850" algn="l"/>
              </a:tabLst>
            </a:pPr>
            <a:r>
              <a:rPr sz="2600" spc="-450" dirty="0">
                <a:latin typeface="Arial"/>
                <a:cs typeface="Arial"/>
              </a:rPr>
              <a:t>P</a:t>
            </a:r>
            <a:r>
              <a:rPr sz="2600" spc="-10" dirty="0">
                <a:latin typeface="Arial"/>
                <a:cs typeface="Arial"/>
              </a:rPr>
              <a:t>ermi</a:t>
            </a:r>
            <a:r>
              <a:rPr sz="2600" spc="-45" dirty="0">
                <a:latin typeface="Arial"/>
                <a:cs typeface="Arial"/>
              </a:rPr>
              <a:t>t</a:t>
            </a:r>
            <a:r>
              <a:rPr sz="2600" spc="-15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125" dirty="0">
                <a:latin typeface="Arial"/>
                <a:cs typeface="Arial"/>
              </a:rPr>
              <a:t>t</a:t>
            </a:r>
            <a:r>
              <a:rPr sz="2600" spc="-90" dirty="0">
                <a:latin typeface="Arial"/>
                <a:cs typeface="Arial"/>
              </a:rPr>
              <a:t>omar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6720" y="5060441"/>
            <a:ext cx="5888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8455" algn="l"/>
                <a:tab pos="2783205" algn="l"/>
                <a:tab pos="3130550" algn="l"/>
                <a:tab pos="4429125" algn="l"/>
              </a:tabLst>
            </a:pPr>
            <a:r>
              <a:rPr sz="2600" spc="-145" dirty="0">
                <a:latin typeface="Arial"/>
                <a:cs typeface="Arial"/>
              </a:rPr>
              <a:t>deci</a:t>
            </a:r>
            <a:r>
              <a:rPr sz="2600" spc="-165" dirty="0">
                <a:latin typeface="Arial"/>
                <a:cs typeface="Arial"/>
              </a:rPr>
              <a:t>s</a:t>
            </a:r>
            <a:r>
              <a:rPr sz="2600" spc="-114" dirty="0">
                <a:latin typeface="Arial"/>
                <a:cs typeface="Arial"/>
              </a:rPr>
              <a:t>iones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r</a:t>
            </a:r>
            <a:r>
              <a:rPr sz="2600" spc="-140" dirty="0">
                <a:latin typeface="Arial"/>
                <a:cs typeface="Arial"/>
              </a:rPr>
              <a:t>ápidas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15" dirty="0">
                <a:latin typeface="Arial"/>
                <a:cs typeface="Arial"/>
              </a:rPr>
              <a:t>s</a:t>
            </a:r>
            <a:r>
              <a:rPr sz="2600" spc="-245" dirty="0">
                <a:latin typeface="Arial"/>
                <a:cs typeface="Arial"/>
              </a:rPr>
              <a:t>e</a:t>
            </a:r>
            <a:r>
              <a:rPr sz="2600" spc="-105" dirty="0">
                <a:latin typeface="Arial"/>
                <a:cs typeface="Arial"/>
              </a:rPr>
              <a:t>gu</a:t>
            </a:r>
            <a:r>
              <a:rPr sz="2600" spc="-114" dirty="0">
                <a:latin typeface="Arial"/>
                <a:cs typeface="Arial"/>
              </a:rPr>
              <a:t>r</a:t>
            </a:r>
            <a:r>
              <a:rPr sz="2600" spc="-190" dirty="0">
                <a:latin typeface="Arial"/>
                <a:cs typeface="Arial"/>
              </a:rPr>
              <a:t>as,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anali</a:t>
            </a:r>
            <a:r>
              <a:rPr sz="2600" spc="-180" dirty="0">
                <a:latin typeface="Arial"/>
                <a:cs typeface="Arial"/>
              </a:rPr>
              <a:t>z</a:t>
            </a:r>
            <a:r>
              <a:rPr sz="2600" spc="-110" dirty="0">
                <a:latin typeface="Arial"/>
                <a:cs typeface="Arial"/>
              </a:rPr>
              <a:t>ando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2" y="5457190"/>
            <a:ext cx="59391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70" dirty="0">
                <a:latin typeface="Arial"/>
                <a:cs typeface="Arial"/>
              </a:rPr>
              <a:t>información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05" dirty="0">
                <a:latin typeface="Arial"/>
                <a:cs typeface="Arial"/>
              </a:rPr>
              <a:t>velocidad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195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pensamiento.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Business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Intelligence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(BI)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25139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55" dirty="0">
                <a:latin typeface="Trebuchet MS"/>
                <a:cs typeface="Trebuchet MS"/>
              </a:rPr>
              <a:t>Proveedores de</a:t>
            </a:r>
            <a:r>
              <a:rPr sz="2600" b="1" spc="-260" dirty="0">
                <a:latin typeface="Trebuchet MS"/>
                <a:cs typeface="Trebuchet MS"/>
              </a:rPr>
              <a:t> </a:t>
            </a:r>
            <a:r>
              <a:rPr sz="2600" b="1" spc="-65" dirty="0">
                <a:latin typeface="Trebuchet MS"/>
                <a:cs typeface="Trebuchet MS"/>
              </a:rPr>
              <a:t>BI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67104" y="1226819"/>
            <a:ext cx="4279919" cy="47440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2200" y="6096000"/>
            <a:ext cx="945642" cy="312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693" y="1819233"/>
            <a:ext cx="1848106" cy="71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4372" y="1752600"/>
            <a:ext cx="2052827" cy="8420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04" y="2801873"/>
            <a:ext cx="1673352" cy="8282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473" y="2667761"/>
            <a:ext cx="2095500" cy="1219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8704" y="3982211"/>
            <a:ext cx="4065270" cy="9243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3900" y="5150739"/>
            <a:ext cx="3276600" cy="9239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76" y="193801"/>
            <a:ext cx="6294120" cy="5962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255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Business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Intelligence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(BI)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imes New Roman"/>
              <a:cs typeface="Times New Roman"/>
            </a:endParaRPr>
          </a:p>
          <a:p>
            <a:pPr marL="36195" marR="3649979" algn="ctr">
              <a:lnSpc>
                <a:spcPct val="100000"/>
              </a:lnSpc>
            </a:pPr>
            <a:r>
              <a:rPr sz="2200" spc="-80" dirty="0">
                <a:latin typeface="Arial"/>
                <a:cs typeface="Arial"/>
              </a:rPr>
              <a:t>Posibilita </a:t>
            </a:r>
            <a:r>
              <a:rPr sz="2200" spc="-85" dirty="0">
                <a:latin typeface="Arial"/>
                <a:cs typeface="Arial"/>
              </a:rPr>
              <a:t>la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generación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tableros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90" dirty="0">
                <a:latin typeface="Arial"/>
                <a:cs typeface="Arial"/>
              </a:rPr>
              <a:t>indicadores </a:t>
            </a:r>
            <a:r>
              <a:rPr sz="2200" spc="-204" dirty="0">
                <a:latin typeface="Arial"/>
                <a:cs typeface="Arial"/>
              </a:rPr>
              <a:t>(KPIs </a:t>
            </a:r>
            <a:r>
              <a:rPr sz="2200" spc="-130" dirty="0">
                <a:latin typeface="Arial"/>
                <a:cs typeface="Arial"/>
              </a:rPr>
              <a:t>– </a:t>
            </a:r>
            <a:r>
              <a:rPr sz="2200" i="1" spc="-140" dirty="0">
                <a:latin typeface="Trebuchet MS"/>
                <a:cs typeface="Trebuchet MS"/>
              </a:rPr>
              <a:t>Key  </a:t>
            </a:r>
            <a:r>
              <a:rPr sz="2200" i="1" spc="-120" dirty="0">
                <a:latin typeface="Trebuchet MS"/>
                <a:cs typeface="Trebuchet MS"/>
              </a:rPr>
              <a:t>Performance  </a:t>
            </a:r>
            <a:r>
              <a:rPr sz="2200" i="1" spc="-100" dirty="0">
                <a:latin typeface="Trebuchet MS"/>
                <a:cs typeface="Trebuchet MS"/>
              </a:rPr>
              <a:t>Indicators</a:t>
            </a:r>
            <a:r>
              <a:rPr sz="2200" spc="-100" dirty="0">
                <a:latin typeface="Arial"/>
                <a:cs typeface="Arial"/>
              </a:rPr>
              <a:t>),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100" dirty="0">
                <a:latin typeface="Arial"/>
                <a:cs typeface="Arial"/>
              </a:rPr>
              <a:t>decir, 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95" dirty="0">
                <a:latin typeface="Arial"/>
                <a:cs typeface="Arial"/>
              </a:rPr>
              <a:t>reagrupación </a:t>
            </a:r>
            <a:r>
              <a:rPr sz="2200" spc="-65" dirty="0">
                <a:latin typeface="Arial"/>
                <a:cs typeface="Arial"/>
              </a:rPr>
              <a:t>del  </a:t>
            </a:r>
            <a:r>
              <a:rPr sz="2200" spc="-70" dirty="0">
                <a:latin typeface="Arial"/>
                <a:cs typeface="Arial"/>
              </a:rPr>
              <a:t>conocimiento </a:t>
            </a:r>
            <a:r>
              <a:rPr sz="2200" spc="-100" dirty="0">
                <a:latin typeface="Arial"/>
                <a:cs typeface="Arial"/>
              </a:rPr>
              <a:t>sobre </a:t>
            </a:r>
            <a:r>
              <a:rPr sz="2200" spc="-80" dirty="0">
                <a:latin typeface="Arial"/>
                <a:cs typeface="Arial"/>
              </a:rPr>
              <a:t>la  </a:t>
            </a:r>
            <a:r>
              <a:rPr sz="2200" spc="-85" dirty="0">
                <a:latin typeface="Arial"/>
                <a:cs typeface="Arial"/>
              </a:rPr>
              <a:t>ejecución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una  </a:t>
            </a:r>
            <a:r>
              <a:rPr sz="2200" spc="-85" dirty="0">
                <a:latin typeface="Arial"/>
                <a:cs typeface="Arial"/>
              </a:rPr>
              <a:t>estrategia </a:t>
            </a:r>
            <a:r>
              <a:rPr sz="2200" spc="-100" dirty="0">
                <a:latin typeface="Arial"/>
                <a:cs typeface="Arial"/>
              </a:rPr>
              <a:t>presentada  en </a:t>
            </a:r>
            <a:r>
              <a:rPr sz="2200" spc="-60" dirty="0">
                <a:latin typeface="Arial"/>
                <a:cs typeface="Arial"/>
              </a:rPr>
              <a:t>forma</a:t>
            </a:r>
            <a:r>
              <a:rPr sz="2200" spc="-15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ejecutiva.</a:t>
            </a:r>
            <a:endParaRPr sz="2200">
              <a:latin typeface="Arial"/>
              <a:cs typeface="Arial"/>
            </a:endParaRPr>
          </a:p>
          <a:p>
            <a:pPr marL="12065" marR="3625215" indent="635" algn="ctr">
              <a:lnSpc>
                <a:spcPct val="100000"/>
              </a:lnSpc>
            </a:pPr>
            <a:r>
              <a:rPr sz="2200" spc="-145" dirty="0">
                <a:latin typeface="Arial"/>
                <a:cs typeface="Arial"/>
              </a:rPr>
              <a:t>Puede </a:t>
            </a:r>
            <a:r>
              <a:rPr sz="2200" spc="-105" dirty="0">
                <a:latin typeface="Arial"/>
                <a:cs typeface="Arial"/>
              </a:rPr>
              <a:t>emplearse </a:t>
            </a:r>
            <a:r>
              <a:rPr sz="2200" spc="-110" dirty="0">
                <a:latin typeface="Arial"/>
                <a:cs typeface="Arial"/>
              </a:rPr>
              <a:t>para  </a:t>
            </a:r>
            <a:r>
              <a:rPr sz="2200" spc="-95" dirty="0">
                <a:latin typeface="Arial"/>
                <a:cs typeface="Arial"/>
              </a:rPr>
              <a:t>evaluar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85" dirty="0">
                <a:latin typeface="Arial"/>
                <a:cs typeface="Arial"/>
              </a:rPr>
              <a:t>gestión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45" dirty="0">
                <a:latin typeface="Arial"/>
                <a:cs typeface="Arial"/>
              </a:rPr>
              <a:t>control, </a:t>
            </a:r>
            <a:r>
              <a:rPr sz="2200" spc="-175" dirty="0">
                <a:latin typeface="Arial"/>
                <a:cs typeface="Arial"/>
              </a:rPr>
              <a:t>así </a:t>
            </a:r>
            <a:r>
              <a:rPr sz="2200" spc="-105" dirty="0">
                <a:latin typeface="Arial"/>
                <a:cs typeface="Arial"/>
              </a:rPr>
              <a:t>como  </a:t>
            </a:r>
            <a:r>
              <a:rPr sz="2200" spc="-60" dirty="0">
                <a:latin typeface="Arial"/>
                <a:cs typeface="Arial"/>
              </a:rPr>
              <a:t>también,</a:t>
            </a:r>
            <a:r>
              <a:rPr sz="2200" spc="-195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cumplimiento 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objetivos.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01339" y="1219200"/>
            <a:ext cx="5742432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Business </a:t>
            </a:r>
            <a:r>
              <a:rPr sz="1800" b="0" spc="-55" dirty="0">
                <a:latin typeface="Arial"/>
                <a:cs typeface="Arial"/>
              </a:rPr>
              <a:t>Intelligence </a:t>
            </a:r>
            <a:r>
              <a:rPr sz="1800" b="0" spc="-100" dirty="0">
                <a:latin typeface="Arial"/>
                <a:cs typeface="Arial"/>
              </a:rPr>
              <a:t>(BI)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0" y="1028700"/>
            <a:ext cx="5783580" cy="5439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Business </a:t>
            </a:r>
            <a:r>
              <a:rPr sz="1800" b="0" spc="-55" dirty="0">
                <a:latin typeface="Arial"/>
                <a:cs typeface="Arial"/>
              </a:rPr>
              <a:t>Intelligence </a:t>
            </a:r>
            <a:r>
              <a:rPr sz="1800" b="0" spc="-100" dirty="0">
                <a:latin typeface="Arial"/>
                <a:cs typeface="Arial"/>
              </a:rPr>
              <a:t>(BI)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5423" y="1198545"/>
            <a:ext cx="7119508" cy="4355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3485" y="5732526"/>
            <a:ext cx="5181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885">
              <a:lnSpc>
                <a:spcPct val="100000"/>
              </a:lnSpc>
              <a:spcBef>
                <a:spcPts val="95"/>
              </a:spcBef>
            </a:pPr>
            <a:r>
              <a:rPr sz="2000" b="1" i="1" spc="-120" dirty="0">
                <a:latin typeface="Trebuchet MS"/>
                <a:cs typeface="Trebuchet MS"/>
              </a:rPr>
              <a:t>Video</a:t>
            </a:r>
            <a:r>
              <a:rPr sz="2000" spc="-120" dirty="0">
                <a:latin typeface="Arial"/>
                <a:cs typeface="Arial"/>
              </a:rPr>
              <a:t>: </a:t>
            </a:r>
            <a:r>
              <a:rPr sz="2000" spc="-90" dirty="0">
                <a:latin typeface="Arial"/>
                <a:cs typeface="Arial"/>
              </a:rPr>
              <a:t>Ejemplo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Solución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55" dirty="0">
                <a:latin typeface="Arial"/>
                <a:cs typeface="Arial"/>
              </a:rPr>
              <a:t>Litebi:  </a:t>
            </a:r>
            <a:r>
              <a:rPr sz="2000" u="heavy" spc="-8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https://www.youtube.com/watch?v=77F7hYlp3RY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8220" cy="300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Mining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(DM)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70" dirty="0">
                <a:latin typeface="Trebuchet MS"/>
                <a:cs typeface="Trebuchet MS"/>
              </a:rPr>
              <a:t>Concepto:</a:t>
            </a:r>
            <a:endParaRPr sz="26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25"/>
              </a:spcBef>
            </a:pPr>
            <a:r>
              <a:rPr sz="2200" i="1" spc="-75" dirty="0">
                <a:latin typeface="Trebuchet MS"/>
                <a:cs typeface="Trebuchet MS"/>
              </a:rPr>
              <a:t>Es </a:t>
            </a:r>
            <a:r>
              <a:rPr sz="2200" i="1" spc="-170" dirty="0">
                <a:latin typeface="Trebuchet MS"/>
                <a:cs typeface="Trebuchet MS"/>
              </a:rPr>
              <a:t>el </a:t>
            </a:r>
            <a:r>
              <a:rPr sz="2200" i="1" spc="-100" dirty="0">
                <a:latin typeface="Trebuchet MS"/>
                <a:cs typeface="Trebuchet MS"/>
              </a:rPr>
              <a:t>proceso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25" dirty="0">
                <a:latin typeface="Trebuchet MS"/>
                <a:cs typeface="Trebuchet MS"/>
              </a:rPr>
              <a:t>descubrir correlaciones, </a:t>
            </a:r>
            <a:r>
              <a:rPr sz="2200" i="1" spc="-100" dirty="0">
                <a:latin typeface="Trebuchet MS"/>
                <a:cs typeface="Trebuchet MS"/>
              </a:rPr>
              <a:t>patrones </a:t>
            </a:r>
            <a:r>
              <a:rPr sz="2200" i="1" spc="-105" dirty="0">
                <a:latin typeface="Trebuchet MS"/>
                <a:cs typeface="Trebuchet MS"/>
              </a:rPr>
              <a:t>y </a:t>
            </a:r>
            <a:r>
              <a:rPr sz="2200" i="1" spc="-110" dirty="0">
                <a:latin typeface="Trebuchet MS"/>
                <a:cs typeface="Trebuchet MS"/>
              </a:rPr>
              <a:t>tendencias</a:t>
            </a:r>
            <a:r>
              <a:rPr sz="2200" i="1" spc="-500" dirty="0">
                <a:latin typeface="Trebuchet MS"/>
                <a:cs typeface="Trebuchet MS"/>
              </a:rPr>
              <a:t> </a:t>
            </a:r>
            <a:r>
              <a:rPr sz="2200" i="1" spc="-110" dirty="0">
                <a:latin typeface="Trebuchet MS"/>
                <a:cs typeface="Trebuchet MS"/>
              </a:rPr>
              <a:t>significativas  ocultas </a:t>
            </a:r>
            <a:r>
              <a:rPr sz="2200" i="1" spc="-105" dirty="0">
                <a:latin typeface="Trebuchet MS"/>
                <a:cs typeface="Trebuchet MS"/>
              </a:rPr>
              <a:t>en </a:t>
            </a:r>
            <a:r>
              <a:rPr sz="2200" i="1" spc="-90" dirty="0">
                <a:latin typeface="Trebuchet MS"/>
                <a:cs typeface="Trebuchet MS"/>
              </a:rPr>
              <a:t>las  </a:t>
            </a:r>
            <a:r>
              <a:rPr sz="2200" i="1" spc="-70" dirty="0">
                <a:latin typeface="Trebuchet MS"/>
                <a:cs typeface="Trebuchet MS"/>
              </a:rPr>
              <a:t>bases </a:t>
            </a:r>
            <a:r>
              <a:rPr sz="2200" i="1" spc="-114" dirty="0">
                <a:latin typeface="Trebuchet MS"/>
                <a:cs typeface="Trebuchet MS"/>
              </a:rPr>
              <a:t>de  </a:t>
            </a:r>
            <a:r>
              <a:rPr sz="2200" i="1" spc="-120" dirty="0">
                <a:latin typeface="Trebuchet MS"/>
                <a:cs typeface="Trebuchet MS"/>
              </a:rPr>
              <a:t>datos, </a:t>
            </a:r>
            <a:r>
              <a:rPr sz="2200" i="1" spc="-125" dirty="0">
                <a:latin typeface="Trebuchet MS"/>
                <a:cs typeface="Trebuchet MS"/>
              </a:rPr>
              <a:t>mediante </a:t>
            </a:r>
            <a:r>
              <a:rPr sz="2200" i="1" spc="-85" dirty="0">
                <a:latin typeface="Trebuchet MS"/>
                <a:cs typeface="Trebuchet MS"/>
              </a:rPr>
              <a:t>un </a:t>
            </a:r>
            <a:r>
              <a:rPr sz="2200" i="1" spc="-130" dirty="0">
                <a:latin typeface="Trebuchet MS"/>
                <a:cs typeface="Trebuchet MS"/>
              </a:rPr>
              <a:t>conjunto </a:t>
            </a:r>
            <a:r>
              <a:rPr sz="2200" i="1" spc="-114" dirty="0">
                <a:latin typeface="Trebuchet MS"/>
                <a:cs typeface="Trebuchet MS"/>
              </a:rPr>
              <a:t>de  </a:t>
            </a:r>
            <a:r>
              <a:rPr sz="2200" i="1" spc="-110" dirty="0">
                <a:latin typeface="Trebuchet MS"/>
                <a:cs typeface="Trebuchet MS"/>
              </a:rPr>
              <a:t>técnicas  </a:t>
            </a:r>
            <a:r>
              <a:rPr sz="2200" i="1" spc="-125" dirty="0">
                <a:latin typeface="Trebuchet MS"/>
                <a:cs typeface="Trebuchet MS"/>
              </a:rPr>
              <a:t>estadísticas, </a:t>
            </a:r>
            <a:r>
              <a:rPr sz="2200" i="1" spc="-105" dirty="0">
                <a:latin typeface="Trebuchet MS"/>
                <a:cs typeface="Trebuchet MS"/>
              </a:rPr>
              <a:t>matemáticas y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20" dirty="0">
                <a:latin typeface="Trebuchet MS"/>
                <a:cs typeface="Trebuchet MS"/>
              </a:rPr>
              <a:t>reconocimiento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20" dirty="0">
                <a:latin typeface="Trebuchet MS"/>
                <a:cs typeface="Trebuchet MS"/>
              </a:rPr>
              <a:t>patrones. </a:t>
            </a:r>
            <a:r>
              <a:rPr sz="2200" i="1" spc="-75" dirty="0">
                <a:latin typeface="Trebuchet MS"/>
                <a:cs typeface="Trebuchet MS"/>
              </a:rPr>
              <a:t>Es </a:t>
            </a:r>
            <a:r>
              <a:rPr sz="2200" i="1" spc="-85" dirty="0">
                <a:latin typeface="Trebuchet MS"/>
                <a:cs typeface="Trebuchet MS"/>
              </a:rPr>
              <a:t>un </a:t>
            </a:r>
            <a:r>
              <a:rPr sz="2200" i="1" spc="-100" dirty="0">
                <a:latin typeface="Trebuchet MS"/>
                <a:cs typeface="Trebuchet MS"/>
              </a:rPr>
              <a:t>proceso 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145" dirty="0">
                <a:latin typeface="Trebuchet MS"/>
                <a:cs typeface="Trebuchet MS"/>
              </a:rPr>
              <a:t>permite </a:t>
            </a:r>
            <a:r>
              <a:rPr sz="2200" i="1" spc="-114" dirty="0">
                <a:latin typeface="Trebuchet MS"/>
                <a:cs typeface="Trebuchet MS"/>
              </a:rPr>
              <a:t>transformar información </a:t>
            </a:r>
            <a:r>
              <a:rPr sz="2200" i="1" spc="-105" dirty="0">
                <a:latin typeface="Trebuchet MS"/>
                <a:cs typeface="Trebuchet MS"/>
              </a:rPr>
              <a:t>en </a:t>
            </a:r>
            <a:r>
              <a:rPr sz="2200" i="1" spc="-130" dirty="0">
                <a:latin typeface="Trebuchet MS"/>
                <a:cs typeface="Trebuchet MS"/>
              </a:rPr>
              <a:t>conocimiento, </a:t>
            </a:r>
            <a:r>
              <a:rPr sz="2200" i="1" spc="-110" dirty="0">
                <a:latin typeface="Trebuchet MS"/>
                <a:cs typeface="Trebuchet MS"/>
              </a:rPr>
              <a:t>que </a:t>
            </a:r>
            <a:r>
              <a:rPr sz="2200" i="1" spc="-105" dirty="0">
                <a:latin typeface="Trebuchet MS"/>
                <a:cs typeface="Trebuchet MS"/>
              </a:rPr>
              <a:t>redunda </a:t>
            </a:r>
            <a:r>
              <a:rPr sz="2200" i="1" spc="-110" dirty="0">
                <a:latin typeface="Trebuchet MS"/>
                <a:cs typeface="Trebuchet MS"/>
              </a:rPr>
              <a:t>en  </a:t>
            </a:r>
            <a:r>
              <a:rPr sz="2200" i="1" spc="-85" dirty="0">
                <a:latin typeface="Trebuchet MS"/>
                <a:cs typeface="Trebuchet MS"/>
              </a:rPr>
              <a:t>mayores</a:t>
            </a:r>
            <a:r>
              <a:rPr sz="2200" i="1" spc="-190" dirty="0">
                <a:latin typeface="Trebuchet MS"/>
                <a:cs typeface="Trebuchet MS"/>
              </a:rPr>
              <a:t> </a:t>
            </a:r>
            <a:r>
              <a:rPr sz="2200" i="1" spc="-125" dirty="0">
                <a:latin typeface="Trebuchet MS"/>
                <a:cs typeface="Trebuchet MS"/>
              </a:rPr>
              <a:t>beneficios</a:t>
            </a:r>
            <a:r>
              <a:rPr sz="2200" i="1" spc="-170" dirty="0">
                <a:latin typeface="Trebuchet MS"/>
                <a:cs typeface="Trebuchet MS"/>
              </a:rPr>
              <a:t> </a:t>
            </a:r>
            <a:r>
              <a:rPr sz="2200" i="1" spc="-110" dirty="0">
                <a:latin typeface="Trebuchet MS"/>
                <a:cs typeface="Trebuchet MS"/>
              </a:rPr>
              <a:t>traducidos</a:t>
            </a:r>
            <a:r>
              <a:rPr sz="2200" i="1" spc="-190" dirty="0">
                <a:latin typeface="Trebuchet MS"/>
                <a:cs typeface="Trebuchet MS"/>
              </a:rPr>
              <a:t> </a:t>
            </a:r>
            <a:r>
              <a:rPr sz="2200" i="1" spc="-105" dirty="0">
                <a:latin typeface="Trebuchet MS"/>
                <a:cs typeface="Trebuchet MS"/>
              </a:rPr>
              <a:t>en</a:t>
            </a:r>
            <a:r>
              <a:rPr sz="2200" i="1" spc="-170" dirty="0">
                <a:latin typeface="Trebuchet MS"/>
                <a:cs typeface="Trebuchet MS"/>
              </a:rPr>
              <a:t> </a:t>
            </a:r>
            <a:r>
              <a:rPr sz="2200" i="1" spc="-95" dirty="0">
                <a:latin typeface="Trebuchet MS"/>
                <a:cs typeface="Trebuchet MS"/>
              </a:rPr>
              <a:t>menores</a:t>
            </a:r>
            <a:r>
              <a:rPr sz="2200" i="1" spc="-185" dirty="0">
                <a:latin typeface="Trebuchet MS"/>
                <a:cs typeface="Trebuchet MS"/>
              </a:rPr>
              <a:t> </a:t>
            </a:r>
            <a:r>
              <a:rPr sz="2200" i="1" spc="-90" dirty="0">
                <a:latin typeface="Trebuchet MS"/>
                <a:cs typeface="Trebuchet MS"/>
              </a:rPr>
              <a:t>costos</a:t>
            </a:r>
            <a:r>
              <a:rPr sz="2200" i="1" spc="-195" dirty="0">
                <a:latin typeface="Trebuchet MS"/>
                <a:cs typeface="Trebuchet MS"/>
              </a:rPr>
              <a:t> </a:t>
            </a:r>
            <a:r>
              <a:rPr sz="2200" i="1" spc="-105" dirty="0">
                <a:latin typeface="Trebuchet MS"/>
                <a:cs typeface="Trebuchet MS"/>
              </a:rPr>
              <a:t>y</a:t>
            </a:r>
            <a:r>
              <a:rPr sz="2200" i="1" spc="-160" dirty="0">
                <a:latin typeface="Trebuchet MS"/>
                <a:cs typeface="Trebuchet MS"/>
              </a:rPr>
              <a:t> </a:t>
            </a:r>
            <a:r>
              <a:rPr sz="2200" i="1" spc="-85" dirty="0">
                <a:latin typeface="Trebuchet MS"/>
                <a:cs typeface="Trebuchet MS"/>
              </a:rPr>
              <a:t>mayores</a:t>
            </a:r>
            <a:r>
              <a:rPr sz="2200" i="1" spc="-195" dirty="0">
                <a:latin typeface="Trebuchet MS"/>
                <a:cs typeface="Trebuchet MS"/>
              </a:rPr>
              <a:t> </a:t>
            </a:r>
            <a:r>
              <a:rPr sz="2200" i="1" spc="-80" dirty="0">
                <a:latin typeface="Trebuchet MS"/>
                <a:cs typeface="Trebuchet MS"/>
              </a:rPr>
              <a:t>ganancias.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60283" y="3346599"/>
            <a:ext cx="1068927" cy="34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8940" y="3911404"/>
            <a:ext cx="8001481" cy="2528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Data </a:t>
            </a:r>
            <a:r>
              <a:rPr sz="1800" b="0" spc="-35" dirty="0">
                <a:latin typeface="Arial"/>
                <a:cs typeface="Arial"/>
              </a:rPr>
              <a:t>Mining </a:t>
            </a:r>
            <a:r>
              <a:rPr sz="1800" b="0" spc="-70" dirty="0">
                <a:latin typeface="Arial"/>
                <a:cs typeface="Arial"/>
              </a:rPr>
              <a:t>(DM)</a:t>
            </a:r>
            <a:r>
              <a:rPr sz="1800" b="0" spc="-13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209359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70" dirty="0">
                <a:latin typeface="Trebuchet MS"/>
                <a:cs typeface="Trebuchet MS"/>
              </a:rPr>
              <a:t>Características: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pc="-75" dirty="0"/>
              <a:t>Permite </a:t>
            </a:r>
            <a:r>
              <a:rPr spc="-95" dirty="0"/>
              <a:t>analizar </a:t>
            </a:r>
            <a:r>
              <a:rPr spc="-80" dirty="0"/>
              <a:t>cientos </a:t>
            </a:r>
            <a:r>
              <a:rPr spc="-95" dirty="0"/>
              <a:t>de características </a:t>
            </a:r>
            <a:r>
              <a:rPr spc="-75" dirty="0"/>
              <a:t>al </a:t>
            </a:r>
            <a:r>
              <a:rPr spc="-85" dirty="0"/>
              <a:t>mismo </a:t>
            </a:r>
            <a:r>
              <a:rPr spc="-35" dirty="0"/>
              <a:t>tiempo.</a:t>
            </a: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pc="-114" dirty="0"/>
              <a:t>Analiza </a:t>
            </a:r>
            <a:r>
              <a:rPr spc="-65" dirty="0"/>
              <a:t>automáticamente </a:t>
            </a:r>
            <a:r>
              <a:rPr spc="-75" dirty="0"/>
              <a:t>la </a:t>
            </a:r>
            <a:r>
              <a:rPr spc="-70" dirty="0"/>
              <a:t>correlación </a:t>
            </a:r>
            <a:r>
              <a:rPr spc="-95" dirty="0"/>
              <a:t>de </a:t>
            </a:r>
            <a:r>
              <a:rPr spc="-120" dirty="0"/>
              <a:t>las</a:t>
            </a:r>
            <a:r>
              <a:rPr spc="-105" dirty="0"/>
              <a:t> </a:t>
            </a:r>
            <a:r>
              <a:rPr spc="-90" dirty="0"/>
              <a:t>variables</a:t>
            </a:r>
          </a:p>
          <a:p>
            <a:pPr marL="355600" marR="5715" indent="-342900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pc="-75" dirty="0"/>
              <a:t>Permite </a:t>
            </a:r>
            <a:r>
              <a:rPr spc="-95" dirty="0"/>
              <a:t>segmentación </a:t>
            </a:r>
            <a:r>
              <a:rPr spc="-90" dirty="0"/>
              <a:t>difusas, </a:t>
            </a:r>
            <a:r>
              <a:rPr spc="-35" dirty="0"/>
              <a:t>tiene </a:t>
            </a:r>
            <a:r>
              <a:rPr spc="-95" dirty="0"/>
              <a:t>en </a:t>
            </a:r>
            <a:r>
              <a:rPr spc="-80" dirty="0"/>
              <a:t>cuenta </a:t>
            </a:r>
            <a:r>
              <a:rPr spc="-65" dirty="0"/>
              <a:t>todos </a:t>
            </a:r>
            <a:r>
              <a:rPr spc="-90" dirty="0"/>
              <a:t>los </a:t>
            </a:r>
            <a:r>
              <a:rPr spc="-114" dirty="0"/>
              <a:t>aspectos </a:t>
            </a:r>
            <a:r>
              <a:rPr spc="-70" dirty="0"/>
              <a:t>al </a:t>
            </a:r>
            <a:r>
              <a:rPr spc="-85" dirty="0"/>
              <a:t>mismo  </a:t>
            </a:r>
            <a:r>
              <a:rPr spc="-35" dirty="0"/>
              <a:t>tiempo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pc="-120" dirty="0"/>
              <a:t>Estima </a:t>
            </a:r>
            <a:r>
              <a:rPr spc="-75" dirty="0"/>
              <a:t>la </a:t>
            </a:r>
            <a:r>
              <a:rPr spc="-60" dirty="0"/>
              <a:t>probabilidad </a:t>
            </a:r>
            <a:r>
              <a:rPr spc="-130" dirty="0"/>
              <a:t>(Score) </a:t>
            </a:r>
            <a:r>
              <a:rPr spc="-95" dirty="0"/>
              <a:t>de </a:t>
            </a:r>
            <a:r>
              <a:rPr spc="-65" dirty="0"/>
              <a:t>un </a:t>
            </a:r>
            <a:r>
              <a:rPr spc="-75" dirty="0"/>
              <a:t>evento</a:t>
            </a:r>
            <a:r>
              <a:rPr spc="-105" dirty="0"/>
              <a:t> </a:t>
            </a:r>
            <a:r>
              <a:rPr spc="-10" dirty="0"/>
              <a:t>futuro:</a:t>
            </a:r>
          </a:p>
          <a:p>
            <a:pPr marL="812800" marR="5080" lvl="1" indent="-342900">
              <a:lnSpc>
                <a:spcPct val="100000"/>
              </a:lnSpc>
              <a:spcBef>
                <a:spcPts val="15"/>
              </a:spcBef>
              <a:buChar char="•"/>
              <a:tabLst>
                <a:tab pos="812800" algn="l"/>
                <a:tab pos="813435" algn="l"/>
                <a:tab pos="1120775" algn="l"/>
                <a:tab pos="1760855" algn="l"/>
                <a:tab pos="2108200" algn="l"/>
                <a:tab pos="2493645" algn="l"/>
                <a:tab pos="3373120" algn="l"/>
                <a:tab pos="3872865" algn="l"/>
                <a:tab pos="4755515" algn="l"/>
                <a:tab pos="5640705" algn="l"/>
                <a:tab pos="6036945" algn="l"/>
                <a:tab pos="6904355" algn="l"/>
                <a:tab pos="7284084" algn="l"/>
                <a:tab pos="8187055" algn="l"/>
                <a:tab pos="8441055" algn="l"/>
              </a:tabLst>
            </a:pPr>
            <a:r>
              <a:rPr sz="1800" spc="-240" dirty="0">
                <a:latin typeface="Arial"/>
                <a:cs typeface="Arial"/>
              </a:rPr>
              <a:t>E</a:t>
            </a:r>
            <a:r>
              <a:rPr sz="1800" spc="-80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75" dirty="0">
                <a:latin typeface="Arial"/>
                <a:cs typeface="Arial"/>
              </a:rPr>
              <a:t>s</a:t>
            </a:r>
            <a:r>
              <a:rPr sz="1800" spc="-190" dirty="0">
                <a:latin typeface="Arial"/>
                <a:cs typeface="Arial"/>
              </a:rPr>
              <a:t>c</a:t>
            </a:r>
            <a:r>
              <a:rPr sz="1800" spc="-20" dirty="0">
                <a:latin typeface="Arial"/>
                <a:cs typeface="Arial"/>
              </a:rPr>
              <a:t>o</a:t>
            </a:r>
            <a:r>
              <a:rPr sz="1800" spc="-35" dirty="0">
                <a:latin typeface="Arial"/>
                <a:cs typeface="Arial"/>
              </a:rPr>
              <a:t>r</a:t>
            </a:r>
            <a:r>
              <a:rPr sz="1800" spc="-1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65" dirty="0">
                <a:latin typeface="Arial"/>
                <a:cs typeface="Arial"/>
              </a:rPr>
              <a:t>e</a:t>
            </a:r>
            <a:r>
              <a:rPr sz="1800" spc="-145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u</a:t>
            </a:r>
            <a:r>
              <a:rPr sz="1800" spc="-6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n</a:t>
            </a:r>
            <a:r>
              <a:rPr sz="1800" spc="-65" dirty="0">
                <a:latin typeface="Arial"/>
                <a:cs typeface="Arial"/>
              </a:rPr>
              <a:t>úme</a:t>
            </a:r>
            <a:r>
              <a:rPr sz="1800" spc="-60" dirty="0">
                <a:latin typeface="Arial"/>
                <a:cs typeface="Arial"/>
              </a:rPr>
              <a:t>r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65" dirty="0">
                <a:latin typeface="Arial"/>
                <a:cs typeface="Arial"/>
              </a:rPr>
              <a:t>q</a:t>
            </a:r>
            <a:r>
              <a:rPr sz="1800" spc="-50" dirty="0">
                <a:latin typeface="Arial"/>
                <a:cs typeface="Arial"/>
              </a:rPr>
              <a:t>u</a:t>
            </a:r>
            <a:r>
              <a:rPr sz="1800" spc="-1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p</a:t>
            </a:r>
            <a:r>
              <a:rPr sz="1800" spc="-5" dirty="0">
                <a:latin typeface="Arial"/>
                <a:cs typeface="Arial"/>
              </a:rPr>
              <a:t>ermi</a:t>
            </a:r>
            <a:r>
              <a:rPr sz="1800" spc="-25" dirty="0">
                <a:latin typeface="Arial"/>
                <a:cs typeface="Arial"/>
              </a:rPr>
              <a:t>t</a:t>
            </a:r>
            <a:r>
              <a:rPr sz="1800" spc="-1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o</a:t>
            </a:r>
            <a:r>
              <a:rPr sz="1800" spc="-35" dirty="0">
                <a:latin typeface="Arial"/>
                <a:cs typeface="Arial"/>
              </a:rPr>
              <a:t>r</a:t>
            </a:r>
            <a:r>
              <a:rPr sz="1800" spc="-95" dirty="0">
                <a:latin typeface="Arial"/>
                <a:cs typeface="Arial"/>
              </a:rPr>
              <a:t>den</a:t>
            </a:r>
            <a:r>
              <a:rPr sz="1800" spc="-90" dirty="0">
                <a:latin typeface="Arial"/>
                <a:cs typeface="Arial"/>
              </a:rPr>
              <a:t>a</a:t>
            </a:r>
            <a:r>
              <a:rPr sz="1800" spc="25" dirty="0">
                <a:latin typeface="Arial"/>
                <a:cs typeface="Arial"/>
              </a:rPr>
              <a:t>r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40" dirty="0">
                <a:latin typeface="Arial"/>
                <a:cs typeface="Arial"/>
              </a:rPr>
              <a:t>l</a:t>
            </a:r>
            <a:r>
              <a:rPr sz="1800" spc="-85" dirty="0">
                <a:latin typeface="Arial"/>
                <a:cs typeface="Arial"/>
              </a:rPr>
              <a:t>a</a:t>
            </a:r>
            <a:r>
              <a:rPr sz="1800" spc="-200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5" dirty="0">
                <a:latin typeface="Arial"/>
                <a:cs typeface="Arial"/>
              </a:rPr>
              <a:t>c</a:t>
            </a:r>
            <a:r>
              <a:rPr sz="1800" spc="-100" dirty="0">
                <a:latin typeface="Arial"/>
                <a:cs typeface="Arial"/>
              </a:rPr>
              <a:t>u</a:t>
            </a:r>
            <a:r>
              <a:rPr sz="1800" spc="-85" dirty="0">
                <a:latin typeface="Arial"/>
                <a:cs typeface="Arial"/>
              </a:rPr>
              <a:t>e</a:t>
            </a:r>
            <a:r>
              <a:rPr sz="1800" spc="-95" dirty="0">
                <a:latin typeface="Arial"/>
                <a:cs typeface="Arial"/>
              </a:rPr>
              <a:t>n</a:t>
            </a:r>
            <a:r>
              <a:rPr sz="1800" spc="75" dirty="0">
                <a:latin typeface="Arial"/>
                <a:cs typeface="Arial"/>
              </a:rPr>
              <a:t>t</a:t>
            </a:r>
            <a:r>
              <a:rPr sz="1800" spc="-170" dirty="0">
                <a:latin typeface="Arial"/>
                <a:cs typeface="Arial"/>
              </a:rPr>
              <a:t>as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0" dirty="0">
                <a:latin typeface="Arial"/>
                <a:cs typeface="Arial"/>
              </a:rPr>
              <a:t>d</a:t>
            </a:r>
            <a:r>
              <a:rPr sz="1800" spc="-8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0" dirty="0">
                <a:latin typeface="Arial"/>
                <a:cs typeface="Arial"/>
              </a:rPr>
              <a:t>acue</a:t>
            </a:r>
            <a:r>
              <a:rPr sz="1800" spc="-75" dirty="0">
                <a:latin typeface="Arial"/>
                <a:cs typeface="Arial"/>
              </a:rPr>
              <a:t>r</a:t>
            </a:r>
            <a:r>
              <a:rPr sz="1800" spc="-60" dirty="0">
                <a:latin typeface="Arial"/>
                <a:cs typeface="Arial"/>
              </a:rPr>
              <a:t>d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5" dirty="0">
                <a:latin typeface="Arial"/>
                <a:cs typeface="Arial"/>
              </a:rPr>
              <a:t>la  </a:t>
            </a:r>
            <a:r>
              <a:rPr sz="1800" spc="-50" dirty="0">
                <a:latin typeface="Arial"/>
                <a:cs typeface="Arial"/>
              </a:rPr>
              <a:t>probabilidad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ocurrencia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un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evento.</a:t>
            </a:r>
            <a:endParaRPr sz="1800">
              <a:latin typeface="Arial"/>
              <a:cs typeface="Arial"/>
            </a:endParaRPr>
          </a:p>
          <a:p>
            <a:pPr marL="812800" marR="6350" lvl="1" indent="-342900">
              <a:lnSpc>
                <a:spcPct val="100000"/>
              </a:lnSpc>
              <a:buChar char="•"/>
              <a:tabLst>
                <a:tab pos="812800" algn="l"/>
                <a:tab pos="813435" algn="l"/>
              </a:tabLst>
            </a:pPr>
            <a:r>
              <a:rPr sz="1800" spc="-135" dirty="0">
                <a:latin typeface="Arial"/>
                <a:cs typeface="Arial"/>
              </a:rPr>
              <a:t>Esto </a:t>
            </a:r>
            <a:r>
              <a:rPr sz="1800" spc="-30" dirty="0">
                <a:latin typeface="Arial"/>
                <a:cs typeface="Arial"/>
              </a:rPr>
              <a:t>permite </a:t>
            </a:r>
            <a:r>
              <a:rPr sz="1800" spc="-70" dirty="0">
                <a:latin typeface="Arial"/>
                <a:cs typeface="Arial"/>
              </a:rPr>
              <a:t>realizar </a:t>
            </a:r>
            <a:r>
              <a:rPr sz="1800" spc="-105" dirty="0">
                <a:latin typeface="Arial"/>
                <a:cs typeface="Arial"/>
              </a:rPr>
              <a:t>acciones </a:t>
            </a:r>
            <a:r>
              <a:rPr sz="1800" spc="-70" dirty="0">
                <a:latin typeface="Arial"/>
                <a:cs typeface="Arial"/>
              </a:rPr>
              <a:t>diferenciadas: </a:t>
            </a:r>
            <a:r>
              <a:rPr sz="1800" spc="-40" dirty="0">
                <a:latin typeface="Arial"/>
                <a:cs typeface="Arial"/>
              </a:rPr>
              <a:t>limites, </a:t>
            </a:r>
            <a:r>
              <a:rPr sz="1800" spc="-60" dirty="0">
                <a:latin typeface="Arial"/>
                <a:cs typeface="Arial"/>
              </a:rPr>
              <a:t>incentivos, </a:t>
            </a:r>
            <a:r>
              <a:rPr sz="1800" spc="-75" dirty="0">
                <a:latin typeface="Arial"/>
                <a:cs typeface="Arial"/>
              </a:rPr>
              <a:t>precios, </a:t>
            </a:r>
            <a:r>
              <a:rPr sz="1800" spc="-90" dirty="0">
                <a:latin typeface="Arial"/>
                <a:cs typeface="Arial"/>
              </a:rPr>
              <a:t>canal, </a:t>
            </a:r>
            <a:r>
              <a:rPr sz="1800" spc="-65" dirty="0">
                <a:latin typeface="Arial"/>
                <a:cs typeface="Arial"/>
              </a:rPr>
              <a:t>etc  </a:t>
            </a:r>
            <a:r>
              <a:rPr sz="1800" spc="-60" dirty="0">
                <a:latin typeface="Arial"/>
                <a:cs typeface="Arial"/>
              </a:rPr>
              <a:t>diferentes </a:t>
            </a:r>
            <a:r>
              <a:rPr sz="1800" spc="-120" dirty="0">
                <a:latin typeface="Arial"/>
                <a:cs typeface="Arial"/>
              </a:rPr>
              <a:t>según </a:t>
            </a:r>
            <a:r>
              <a:rPr sz="1800" spc="-50" dirty="0">
                <a:latin typeface="Arial"/>
                <a:cs typeface="Arial"/>
              </a:rPr>
              <a:t>el nivel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probabilidad.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2179" y="4424724"/>
            <a:ext cx="4336800" cy="1905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55564" y="4042257"/>
            <a:ext cx="1980640" cy="23168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55594" y="1163573"/>
            <a:ext cx="5493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u="heavy" spc="-11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Trebuchet MS"/>
                <a:cs typeface="Trebuchet MS"/>
                <a:hlinkClick r:id="rId4"/>
              </a:rPr>
              <a:t>Video</a:t>
            </a:r>
            <a:r>
              <a:rPr sz="1800" u="heavy" spc="-11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:</a:t>
            </a:r>
            <a:r>
              <a:rPr sz="1800" u="heavy" spc="-114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800" u="heavy" spc="-6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https://www.youtube.com/watch?v=43mS9M1ZjU8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Data </a:t>
            </a:r>
            <a:r>
              <a:rPr sz="1800" b="0" spc="-35" dirty="0">
                <a:latin typeface="Arial"/>
                <a:cs typeface="Arial"/>
              </a:rPr>
              <a:t>Mining </a:t>
            </a:r>
            <a:r>
              <a:rPr sz="1800" b="0" spc="-70" dirty="0">
                <a:latin typeface="Arial"/>
                <a:cs typeface="Arial"/>
              </a:rPr>
              <a:t>(DM)</a:t>
            </a:r>
            <a:r>
              <a:rPr sz="1800" b="0" spc="-13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5843" y="1137059"/>
            <a:ext cx="8079750" cy="5259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Data </a:t>
            </a:r>
            <a:r>
              <a:rPr sz="1800" b="0" spc="-35" dirty="0">
                <a:latin typeface="Arial"/>
                <a:cs typeface="Arial"/>
              </a:rPr>
              <a:t>Mining </a:t>
            </a:r>
            <a:r>
              <a:rPr sz="1800" b="0" spc="-70" dirty="0">
                <a:latin typeface="Arial"/>
                <a:cs typeface="Arial"/>
              </a:rPr>
              <a:t>(DM)</a:t>
            </a:r>
            <a:r>
              <a:rPr sz="1800" b="0" spc="-13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3504" y="1066930"/>
            <a:ext cx="7921171" cy="5302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Big </a:t>
            </a:r>
            <a:r>
              <a:rPr sz="1800" b="0" spc="-95" dirty="0">
                <a:latin typeface="Arial"/>
                <a:cs typeface="Arial"/>
              </a:rPr>
              <a:t>Data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140" dirty="0">
                <a:latin typeface="Arial"/>
                <a:cs typeface="Arial"/>
              </a:rPr>
              <a:t>(BD)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1117853"/>
            <a:ext cx="4277106" cy="49781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1238" y="1117853"/>
            <a:ext cx="4277106" cy="49781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939" y="6155435"/>
            <a:ext cx="8733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Manyika,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J;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Chui,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M.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et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alter.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-35" dirty="0">
                <a:latin typeface="Trebuchet MS"/>
                <a:cs typeface="Trebuchet MS"/>
              </a:rPr>
              <a:t>Big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Data: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75" dirty="0">
                <a:latin typeface="Trebuchet MS"/>
                <a:cs typeface="Trebuchet MS"/>
              </a:rPr>
              <a:t>the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80" dirty="0">
                <a:latin typeface="Trebuchet MS"/>
                <a:cs typeface="Trebuchet MS"/>
              </a:rPr>
              <a:t>next</a:t>
            </a:r>
            <a:r>
              <a:rPr sz="1200" i="1" spc="-85" dirty="0">
                <a:latin typeface="Trebuchet MS"/>
                <a:cs typeface="Trebuchet MS"/>
              </a:rPr>
              <a:t> frontier</a:t>
            </a:r>
            <a:r>
              <a:rPr sz="1200" i="1" spc="-90" dirty="0">
                <a:latin typeface="Trebuchet MS"/>
                <a:cs typeface="Trebuchet MS"/>
              </a:rPr>
              <a:t> </a:t>
            </a:r>
            <a:r>
              <a:rPr sz="1200" i="1" spc="-85" dirty="0">
                <a:latin typeface="Trebuchet MS"/>
                <a:cs typeface="Trebuchet MS"/>
              </a:rPr>
              <a:t>for </a:t>
            </a:r>
            <a:r>
              <a:rPr sz="1200" i="1" spc="-65" dirty="0">
                <a:latin typeface="Trebuchet MS"/>
                <a:cs typeface="Trebuchet MS"/>
              </a:rPr>
              <a:t>innovation,</a:t>
            </a:r>
            <a:r>
              <a:rPr sz="1200" i="1" spc="-9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competition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40" dirty="0">
                <a:latin typeface="Trebuchet MS"/>
                <a:cs typeface="Trebuchet MS"/>
              </a:rPr>
              <a:t>and</a:t>
            </a:r>
            <a:r>
              <a:rPr sz="1200" i="1" spc="-9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productivity</a:t>
            </a:r>
            <a:r>
              <a:rPr sz="1200" spc="-70" dirty="0">
                <a:latin typeface="Arial"/>
                <a:cs typeface="Arial"/>
              </a:rPr>
              <a:t>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McKinsey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Global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Institute,</a:t>
            </a:r>
            <a:r>
              <a:rPr sz="1200" spc="-60" dirty="0">
                <a:latin typeface="Arial"/>
                <a:cs typeface="Arial"/>
              </a:rPr>
              <a:t> 2011.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Big </a:t>
            </a:r>
            <a:r>
              <a:rPr sz="1800" b="0" spc="-95" dirty="0">
                <a:latin typeface="Arial"/>
                <a:cs typeface="Arial"/>
              </a:rPr>
              <a:t>Data </a:t>
            </a:r>
            <a:r>
              <a:rPr sz="1800" b="0" spc="-135" dirty="0">
                <a:latin typeface="Arial"/>
                <a:cs typeface="Arial"/>
              </a:rPr>
              <a:t>(BD)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1093469"/>
            <a:ext cx="3639185" cy="520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Concepto</a:t>
            </a:r>
            <a:r>
              <a:rPr sz="2000" spc="-110" dirty="0">
                <a:latin typeface="Arial"/>
                <a:cs typeface="Arial"/>
              </a:rPr>
              <a:t>: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70" dirty="0">
                <a:latin typeface="Arial"/>
                <a:cs typeface="Arial"/>
              </a:rPr>
              <a:t>un </a:t>
            </a:r>
            <a:r>
              <a:rPr sz="2000" spc="-25" dirty="0">
                <a:latin typeface="Arial"/>
                <a:cs typeface="Arial"/>
              </a:rPr>
              <a:t>término </a:t>
            </a:r>
            <a:r>
              <a:rPr sz="2000" spc="-85" dirty="0">
                <a:latin typeface="Arial"/>
                <a:cs typeface="Arial"/>
              </a:rPr>
              <a:t>aplicado 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conjuntos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05" dirty="0">
                <a:latin typeface="Arial"/>
                <a:cs typeface="Arial"/>
              </a:rPr>
              <a:t>superan 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10" dirty="0">
                <a:latin typeface="Arial"/>
                <a:cs typeface="Arial"/>
              </a:rPr>
              <a:t>capacidad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55" dirty="0">
                <a:latin typeface="Arial"/>
                <a:cs typeface="Arial"/>
              </a:rPr>
              <a:t>software </a:t>
            </a:r>
            <a:r>
              <a:rPr sz="2000" spc="-50" dirty="0">
                <a:latin typeface="Arial"/>
                <a:cs typeface="Arial"/>
              </a:rPr>
              <a:t>habitual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110" dirty="0">
                <a:latin typeface="Arial"/>
                <a:cs typeface="Arial"/>
              </a:rPr>
              <a:t>ser </a:t>
            </a:r>
            <a:r>
              <a:rPr sz="2000" spc="-85" dirty="0">
                <a:latin typeface="Arial"/>
                <a:cs typeface="Arial"/>
              </a:rPr>
              <a:t>capturados, </a:t>
            </a:r>
            <a:r>
              <a:rPr sz="2000" spc="-100" dirty="0">
                <a:latin typeface="Arial"/>
                <a:cs typeface="Arial"/>
              </a:rPr>
              <a:t>gestionados y  </a:t>
            </a:r>
            <a:r>
              <a:rPr sz="2000" spc="-114" dirty="0">
                <a:latin typeface="Arial"/>
                <a:cs typeface="Arial"/>
              </a:rPr>
              <a:t>procesados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0" dirty="0">
                <a:latin typeface="Arial"/>
                <a:cs typeface="Arial"/>
              </a:rPr>
              <a:t>un </a:t>
            </a:r>
            <a:r>
              <a:rPr sz="2000" spc="-35" dirty="0">
                <a:latin typeface="Arial"/>
                <a:cs typeface="Arial"/>
              </a:rPr>
              <a:t>tiempo  </a:t>
            </a:r>
            <a:r>
              <a:rPr sz="2000" spc="-95" dirty="0">
                <a:latin typeface="Arial"/>
                <a:cs typeface="Arial"/>
              </a:rPr>
              <a:t>razonable. </a:t>
            </a:r>
            <a:r>
              <a:rPr sz="2000" spc="-160" dirty="0">
                <a:latin typeface="Arial"/>
                <a:cs typeface="Arial"/>
              </a:rPr>
              <a:t>Este </a:t>
            </a:r>
            <a:r>
              <a:rPr sz="2000" spc="-80" dirty="0">
                <a:latin typeface="Arial"/>
                <a:cs typeface="Arial"/>
              </a:rPr>
              <a:t>concepto </a:t>
            </a:r>
            <a:r>
              <a:rPr sz="2000" spc="-90" dirty="0">
                <a:latin typeface="Arial"/>
                <a:cs typeface="Arial"/>
              </a:rPr>
              <a:t>engloba  </a:t>
            </a:r>
            <a:r>
              <a:rPr sz="2000" spc="-60" dirty="0">
                <a:latin typeface="Arial"/>
                <a:cs typeface="Arial"/>
              </a:rPr>
              <a:t>infraestructuras, </a:t>
            </a:r>
            <a:r>
              <a:rPr sz="2000" spc="-95" dirty="0">
                <a:latin typeface="Arial"/>
                <a:cs typeface="Arial"/>
              </a:rPr>
              <a:t>tecnologías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95" dirty="0">
                <a:latin typeface="Arial"/>
                <a:cs typeface="Arial"/>
              </a:rPr>
              <a:t>servicios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00" dirty="0">
                <a:latin typeface="Arial"/>
                <a:cs typeface="Arial"/>
              </a:rPr>
              <a:t>han </a:t>
            </a:r>
            <a:r>
              <a:rPr sz="2000" spc="-90" dirty="0">
                <a:latin typeface="Arial"/>
                <a:cs typeface="Arial"/>
              </a:rPr>
              <a:t>sido </a:t>
            </a:r>
            <a:r>
              <a:rPr sz="2000" spc="-110" dirty="0">
                <a:latin typeface="Arial"/>
                <a:cs typeface="Arial"/>
              </a:rPr>
              <a:t>creados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70" dirty="0">
                <a:latin typeface="Arial"/>
                <a:cs typeface="Arial"/>
              </a:rPr>
              <a:t>dar </a:t>
            </a:r>
            <a:r>
              <a:rPr sz="2000" spc="-80" dirty="0">
                <a:latin typeface="Arial"/>
                <a:cs typeface="Arial"/>
              </a:rPr>
              <a:t>solución </a:t>
            </a:r>
            <a:r>
              <a:rPr sz="2000" spc="-75" dirty="0">
                <a:latin typeface="Arial"/>
                <a:cs typeface="Arial"/>
              </a:rPr>
              <a:t>al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procesamiento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enormes </a:t>
            </a:r>
            <a:r>
              <a:rPr sz="2000" spc="-70" dirty="0">
                <a:latin typeface="Arial"/>
                <a:cs typeface="Arial"/>
              </a:rPr>
              <a:t>conjuntos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  </a:t>
            </a:r>
            <a:r>
              <a:rPr sz="2000" spc="-70" dirty="0">
                <a:latin typeface="Arial"/>
                <a:cs typeface="Arial"/>
              </a:rPr>
              <a:t>estructurados,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70" dirty="0">
                <a:latin typeface="Arial"/>
                <a:cs typeface="Arial"/>
              </a:rPr>
              <a:t>estructurados </a:t>
            </a:r>
            <a:r>
              <a:rPr sz="2000" spc="-60" dirty="0">
                <a:latin typeface="Arial"/>
                <a:cs typeface="Arial"/>
              </a:rPr>
              <a:t>o  </a:t>
            </a:r>
            <a:r>
              <a:rPr sz="2000" spc="-75" dirty="0">
                <a:latin typeface="Arial"/>
                <a:cs typeface="Arial"/>
              </a:rPr>
              <a:t>semi-estructurados </a:t>
            </a:r>
            <a:r>
              <a:rPr sz="2000" spc="-114" dirty="0">
                <a:latin typeface="Arial"/>
                <a:cs typeface="Arial"/>
              </a:rPr>
              <a:t>(mensajes </a:t>
            </a:r>
            <a:r>
              <a:rPr sz="2000" spc="-95" dirty="0">
                <a:latin typeface="Arial"/>
                <a:cs typeface="Arial"/>
              </a:rPr>
              <a:t>en 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114" dirty="0">
                <a:latin typeface="Arial"/>
                <a:cs typeface="Arial"/>
              </a:rPr>
              <a:t>sociales, </a:t>
            </a:r>
            <a:r>
              <a:rPr sz="2000" spc="-130" dirty="0">
                <a:latin typeface="Arial"/>
                <a:cs typeface="Arial"/>
              </a:rPr>
              <a:t>señales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0" dirty="0">
                <a:latin typeface="Arial"/>
                <a:cs typeface="Arial"/>
              </a:rPr>
              <a:t>móvil,  </a:t>
            </a:r>
            <a:r>
              <a:rPr sz="2000" spc="-100" dirty="0">
                <a:latin typeface="Arial"/>
                <a:cs typeface="Arial"/>
              </a:rPr>
              <a:t>archivos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audio, </a:t>
            </a:r>
            <a:r>
              <a:rPr sz="2000" spc="-65" dirty="0">
                <a:latin typeface="Arial"/>
                <a:cs typeface="Arial"/>
              </a:rPr>
              <a:t>etc.) </a:t>
            </a:r>
            <a:r>
              <a:rPr sz="2000" spc="-90" dirty="0">
                <a:latin typeface="Arial"/>
                <a:cs typeface="Arial"/>
              </a:rPr>
              <a:t>que  pueden </a:t>
            </a:r>
            <a:r>
              <a:rPr sz="2000" spc="-50" dirty="0">
                <a:latin typeface="Arial"/>
                <a:cs typeface="Arial"/>
              </a:rPr>
              <a:t>provenir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5" dirty="0">
                <a:latin typeface="Arial"/>
                <a:cs typeface="Arial"/>
              </a:rPr>
              <a:t>sensores,  </a:t>
            </a:r>
            <a:r>
              <a:rPr sz="2000" spc="-70" dirty="0">
                <a:latin typeface="Arial"/>
                <a:cs typeface="Arial"/>
              </a:rPr>
              <a:t>micrófonos, </a:t>
            </a:r>
            <a:r>
              <a:rPr sz="2000" spc="-125" dirty="0">
                <a:latin typeface="Arial"/>
                <a:cs typeface="Arial"/>
              </a:rPr>
              <a:t>cámaras, </a:t>
            </a:r>
            <a:r>
              <a:rPr sz="2000" spc="-130" dirty="0">
                <a:latin typeface="Arial"/>
                <a:cs typeface="Arial"/>
              </a:rPr>
              <a:t>escáneres  </a:t>
            </a:r>
            <a:r>
              <a:rPr sz="2000" spc="-95" dirty="0">
                <a:latin typeface="Arial"/>
                <a:cs typeface="Arial"/>
              </a:rPr>
              <a:t>médicos, </a:t>
            </a:r>
            <a:r>
              <a:rPr sz="2000" spc="-110" dirty="0">
                <a:latin typeface="Arial"/>
                <a:cs typeface="Arial"/>
              </a:rPr>
              <a:t>imágenes,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4205" y="4539587"/>
            <a:ext cx="2209436" cy="1685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80688" y="1114805"/>
            <a:ext cx="4988814" cy="32819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6321" y="4487417"/>
            <a:ext cx="2447546" cy="1847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/>
          <p:nvPr/>
        </p:nvSpPr>
        <p:spPr>
          <a:xfrm>
            <a:off x="8726169" y="6523387"/>
            <a:ext cx="1524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55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soporte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toma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decisiones</a:t>
            </a:r>
            <a:r>
              <a:rPr sz="20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Big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(BD)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1084071"/>
            <a:ext cx="3957954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Objetivo</a:t>
            </a:r>
            <a:r>
              <a:rPr sz="2000" spc="-110" dirty="0">
                <a:latin typeface="Arial"/>
                <a:cs typeface="Arial"/>
              </a:rPr>
              <a:t>: </a:t>
            </a:r>
            <a:r>
              <a:rPr sz="2000" spc="-70" dirty="0">
                <a:latin typeface="Arial"/>
                <a:cs typeface="Arial"/>
              </a:rPr>
              <a:t>al </a:t>
            </a:r>
            <a:r>
              <a:rPr sz="2000" spc="-75" dirty="0">
                <a:latin typeface="Arial"/>
                <a:cs typeface="Arial"/>
              </a:rPr>
              <a:t>igual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sistemas  </a:t>
            </a:r>
            <a:r>
              <a:rPr sz="2000" spc="-80" dirty="0">
                <a:latin typeface="Arial"/>
                <a:cs typeface="Arial"/>
              </a:rPr>
              <a:t>analíticos </a:t>
            </a:r>
            <a:r>
              <a:rPr sz="2000" spc="-95" dirty="0">
                <a:latin typeface="Arial"/>
                <a:cs typeface="Arial"/>
              </a:rPr>
              <a:t>convencionales,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35" dirty="0">
                <a:latin typeface="Arial"/>
                <a:cs typeface="Arial"/>
              </a:rPr>
              <a:t>objetivo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esta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45" dirty="0">
                <a:latin typeface="Arial"/>
                <a:cs typeface="Arial"/>
              </a:rPr>
              <a:t>convertir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998472"/>
            <a:ext cx="395668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90" dirty="0">
                <a:latin typeface="Arial"/>
                <a:cs typeface="Arial"/>
              </a:rPr>
              <a:t>Dato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40" dirty="0">
                <a:latin typeface="Arial"/>
                <a:cs typeface="Arial"/>
              </a:rPr>
              <a:t>facilita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55" dirty="0">
                <a:latin typeface="Arial"/>
                <a:cs typeface="Arial"/>
              </a:rPr>
              <a:t>toma </a:t>
            </a:r>
            <a:r>
              <a:rPr sz="2000" spc="-95" dirty="0">
                <a:latin typeface="Arial"/>
                <a:cs typeface="Arial"/>
              </a:rPr>
              <a:t>de decisiones, </a:t>
            </a:r>
            <a:r>
              <a:rPr sz="2000" spc="-75" dirty="0">
                <a:latin typeface="Arial"/>
                <a:cs typeface="Arial"/>
              </a:rPr>
              <a:t>incluso </a:t>
            </a:r>
            <a:r>
              <a:rPr sz="2000" spc="-95" dirty="0">
                <a:latin typeface="Arial"/>
                <a:cs typeface="Arial"/>
              </a:rPr>
              <a:t>en  </a:t>
            </a:r>
            <a:r>
              <a:rPr sz="2000" spc="-30" dirty="0">
                <a:latin typeface="Arial"/>
                <a:cs typeface="Arial"/>
              </a:rPr>
              <a:t>tiempo </a:t>
            </a:r>
            <a:r>
              <a:rPr sz="2000" spc="-60" dirty="0">
                <a:latin typeface="Arial"/>
                <a:cs typeface="Arial"/>
              </a:rPr>
              <a:t>real. </a:t>
            </a:r>
            <a:r>
              <a:rPr sz="2000" spc="-155" dirty="0">
                <a:latin typeface="Arial"/>
                <a:cs typeface="Arial"/>
              </a:rPr>
              <a:t>Sin </a:t>
            </a:r>
            <a:r>
              <a:rPr sz="2000" spc="-95" dirty="0">
                <a:latin typeface="Arial"/>
                <a:cs typeface="Arial"/>
              </a:rPr>
              <a:t>embargo,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0" dirty="0">
                <a:latin typeface="Arial"/>
                <a:cs typeface="Arial"/>
              </a:rPr>
              <a:t>cuestión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tamaño, </a:t>
            </a:r>
            <a:r>
              <a:rPr sz="2000" spc="-60" dirty="0">
                <a:latin typeface="Arial"/>
                <a:cs typeface="Arial"/>
              </a:rPr>
              <a:t>constituye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45" dirty="0">
                <a:latin typeface="Arial"/>
                <a:cs typeface="Arial"/>
              </a:rPr>
              <a:t>oportunidad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negocio.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20" dirty="0">
                <a:latin typeface="Arial"/>
                <a:cs typeface="Arial"/>
              </a:rPr>
              <a:t>Las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3522471"/>
            <a:ext cx="39560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20" dirty="0">
                <a:latin typeface="Arial"/>
                <a:cs typeface="Arial"/>
              </a:rPr>
              <a:t>empresas </a:t>
            </a:r>
            <a:r>
              <a:rPr sz="2000" spc="-145" dirty="0">
                <a:latin typeface="Arial"/>
                <a:cs typeface="Arial"/>
              </a:rPr>
              <a:t>ya </a:t>
            </a:r>
            <a:r>
              <a:rPr sz="2000" spc="-100" dirty="0">
                <a:latin typeface="Arial"/>
                <a:cs typeface="Arial"/>
              </a:rPr>
              <a:t>están </a:t>
            </a:r>
            <a:r>
              <a:rPr sz="2000" spc="-50" dirty="0">
                <a:latin typeface="Arial"/>
                <a:cs typeface="Arial"/>
              </a:rPr>
              <a:t>utilizando </a:t>
            </a:r>
            <a:r>
              <a:rPr sz="2000" spc="-135" dirty="0">
                <a:latin typeface="Arial"/>
                <a:cs typeface="Arial"/>
              </a:rPr>
              <a:t>Big </a:t>
            </a:r>
            <a:r>
              <a:rPr sz="2000" spc="-114" dirty="0">
                <a:latin typeface="Arial"/>
                <a:cs typeface="Arial"/>
              </a:rPr>
              <a:t>Data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5" dirty="0">
                <a:latin typeface="Arial"/>
                <a:cs typeface="Arial"/>
              </a:rPr>
              <a:t>entender el </a:t>
            </a:r>
            <a:r>
              <a:rPr sz="2000" spc="-20" dirty="0">
                <a:latin typeface="Arial"/>
                <a:cs typeface="Arial"/>
              </a:rPr>
              <a:t>perfil, </a:t>
            </a:r>
            <a:r>
              <a:rPr sz="2000" spc="-120" dirty="0">
                <a:latin typeface="Arial"/>
                <a:cs typeface="Arial"/>
              </a:rPr>
              <a:t>las  necesidades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45" dirty="0">
                <a:latin typeface="Arial"/>
                <a:cs typeface="Arial"/>
              </a:rPr>
              <a:t>sentir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70" dirty="0">
                <a:latin typeface="Arial"/>
                <a:cs typeface="Arial"/>
              </a:rPr>
              <a:t>clientes  </a:t>
            </a:r>
            <a:r>
              <a:rPr sz="2000" spc="-80" dirty="0">
                <a:latin typeface="Arial"/>
                <a:cs typeface="Arial"/>
              </a:rPr>
              <a:t>respecto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0" dirty="0">
                <a:latin typeface="Arial"/>
                <a:cs typeface="Arial"/>
              </a:rPr>
              <a:t>productos </a:t>
            </a:r>
            <a:r>
              <a:rPr sz="2000" spc="5" dirty="0">
                <a:latin typeface="Arial"/>
                <a:cs typeface="Arial"/>
              </a:rPr>
              <a:t>y/o </a:t>
            </a:r>
            <a:r>
              <a:rPr sz="2000" spc="-90" dirty="0">
                <a:latin typeface="Arial"/>
                <a:cs typeface="Arial"/>
              </a:rPr>
              <a:t>servicios  </a:t>
            </a:r>
            <a:r>
              <a:rPr sz="2000" spc="-85" dirty="0">
                <a:latin typeface="Arial"/>
                <a:cs typeface="Arial"/>
              </a:rPr>
              <a:t>vendidos. </a:t>
            </a:r>
            <a:r>
              <a:rPr sz="2000" spc="-145" dirty="0">
                <a:latin typeface="Arial"/>
                <a:cs typeface="Arial"/>
              </a:rPr>
              <a:t>Esto </a:t>
            </a:r>
            <a:r>
              <a:rPr sz="2000" spc="-70" dirty="0">
                <a:latin typeface="Arial"/>
                <a:cs typeface="Arial"/>
              </a:rPr>
              <a:t>adquiere</a:t>
            </a:r>
            <a:r>
              <a:rPr sz="2000" spc="34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especial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5046726"/>
            <a:ext cx="395668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90" dirty="0">
                <a:latin typeface="Arial"/>
                <a:cs typeface="Arial"/>
              </a:rPr>
              <a:t>relevancia </a:t>
            </a:r>
            <a:r>
              <a:rPr sz="2000" spc="-145" dirty="0">
                <a:latin typeface="Arial"/>
                <a:cs typeface="Arial"/>
              </a:rPr>
              <a:t>ya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35" dirty="0">
                <a:latin typeface="Arial"/>
                <a:cs typeface="Arial"/>
              </a:rPr>
              <a:t>permite </a:t>
            </a:r>
            <a:r>
              <a:rPr sz="2000" spc="-100" dirty="0">
                <a:latin typeface="Arial"/>
                <a:cs typeface="Arial"/>
              </a:rPr>
              <a:t>adecuar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5" dirty="0">
                <a:latin typeface="Arial"/>
                <a:cs typeface="Arial"/>
              </a:rPr>
              <a:t>interactúa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105" dirty="0">
                <a:latin typeface="Arial"/>
                <a:cs typeface="Arial"/>
              </a:rPr>
              <a:t>empresa con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70" dirty="0">
                <a:latin typeface="Arial"/>
                <a:cs typeface="Arial"/>
              </a:rPr>
              <a:t>clientes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en cómo  </a:t>
            </a:r>
            <a:r>
              <a:rPr sz="2000" spc="-110" dirty="0">
                <a:latin typeface="Arial"/>
                <a:cs typeface="Arial"/>
              </a:rPr>
              <a:t>les </a:t>
            </a:r>
            <a:r>
              <a:rPr sz="2000" spc="-80" dirty="0">
                <a:latin typeface="Arial"/>
                <a:cs typeface="Arial"/>
              </a:rPr>
              <a:t>prestan</a:t>
            </a:r>
            <a:r>
              <a:rPr sz="2000" spc="-75" dirty="0">
                <a:latin typeface="Arial"/>
                <a:cs typeface="Arial"/>
              </a:rPr>
              <a:t> servicio.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261" y="998473"/>
            <a:ext cx="4090670" cy="459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5000" b="1" spc="-310" dirty="0">
                <a:latin typeface="Trebuchet MS"/>
                <a:cs typeface="Trebuchet MS"/>
              </a:rPr>
              <a:t>5Vs </a:t>
            </a:r>
            <a:r>
              <a:rPr sz="5000" b="1" spc="-290" dirty="0">
                <a:latin typeface="Trebuchet MS"/>
                <a:cs typeface="Trebuchet MS"/>
              </a:rPr>
              <a:t>de </a:t>
            </a:r>
            <a:r>
              <a:rPr sz="5000" b="1" spc="-195" dirty="0">
                <a:latin typeface="Trebuchet MS"/>
                <a:cs typeface="Trebuchet MS"/>
              </a:rPr>
              <a:t>Big</a:t>
            </a:r>
            <a:r>
              <a:rPr sz="5000" b="1" spc="-600" dirty="0">
                <a:latin typeface="Trebuchet MS"/>
                <a:cs typeface="Trebuchet MS"/>
              </a:rPr>
              <a:t> </a:t>
            </a:r>
            <a:r>
              <a:rPr sz="5000" b="1" spc="-204" dirty="0">
                <a:latin typeface="Trebuchet MS"/>
                <a:cs typeface="Trebuchet MS"/>
              </a:rPr>
              <a:t>Data  </a:t>
            </a:r>
            <a:r>
              <a:rPr sz="5000" b="1" spc="-155" dirty="0">
                <a:solidFill>
                  <a:srgbClr val="FF0000"/>
                </a:solidFill>
                <a:latin typeface="Trebuchet MS"/>
                <a:cs typeface="Trebuchet MS"/>
              </a:rPr>
              <a:t>V</a:t>
            </a:r>
            <a:r>
              <a:rPr sz="5000" spc="-155" dirty="0">
                <a:solidFill>
                  <a:srgbClr val="FF0000"/>
                </a:solidFill>
                <a:latin typeface="Arial"/>
                <a:cs typeface="Arial"/>
              </a:rPr>
              <a:t>olumen  </a:t>
            </a:r>
            <a:r>
              <a:rPr sz="5000" b="1" spc="-180" dirty="0">
                <a:solidFill>
                  <a:srgbClr val="2171FF"/>
                </a:solidFill>
                <a:latin typeface="Trebuchet MS"/>
                <a:cs typeface="Trebuchet MS"/>
              </a:rPr>
              <a:t>V</a:t>
            </a:r>
            <a:r>
              <a:rPr sz="5000" spc="-180" dirty="0">
                <a:solidFill>
                  <a:srgbClr val="2171FF"/>
                </a:solidFill>
                <a:latin typeface="Arial"/>
                <a:cs typeface="Arial"/>
              </a:rPr>
              <a:t>ariedad  </a:t>
            </a:r>
            <a:r>
              <a:rPr sz="5000" b="1" spc="-180" dirty="0">
                <a:solidFill>
                  <a:srgbClr val="C5E63A"/>
                </a:solidFill>
                <a:latin typeface="Trebuchet MS"/>
                <a:cs typeface="Trebuchet MS"/>
              </a:rPr>
              <a:t>V</a:t>
            </a:r>
            <a:r>
              <a:rPr sz="5000" spc="-180" dirty="0">
                <a:solidFill>
                  <a:srgbClr val="C5E63A"/>
                </a:solidFill>
                <a:latin typeface="Arial"/>
                <a:cs typeface="Arial"/>
              </a:rPr>
              <a:t>elocidad  </a:t>
            </a:r>
            <a:r>
              <a:rPr sz="5000" b="1" spc="-215" dirty="0">
                <a:solidFill>
                  <a:srgbClr val="FFC000"/>
                </a:solidFill>
                <a:latin typeface="Trebuchet MS"/>
                <a:cs typeface="Trebuchet MS"/>
              </a:rPr>
              <a:t>V</a:t>
            </a:r>
            <a:r>
              <a:rPr sz="5000" spc="-215" dirty="0">
                <a:solidFill>
                  <a:srgbClr val="FFC000"/>
                </a:solidFill>
                <a:latin typeface="Arial"/>
                <a:cs typeface="Arial"/>
              </a:rPr>
              <a:t>eracidad  </a:t>
            </a:r>
            <a:r>
              <a:rPr sz="5000" b="1" spc="-114" dirty="0">
                <a:solidFill>
                  <a:srgbClr val="6F2F9F"/>
                </a:solidFill>
                <a:latin typeface="Trebuchet MS"/>
                <a:cs typeface="Trebuchet MS"/>
              </a:rPr>
              <a:t>V</a:t>
            </a:r>
            <a:r>
              <a:rPr sz="5000" spc="-114" dirty="0">
                <a:solidFill>
                  <a:srgbClr val="6F2F9F"/>
                </a:solidFill>
                <a:latin typeface="Arial"/>
                <a:cs typeface="Arial"/>
              </a:rPr>
              <a:t>alor</a:t>
            </a:r>
            <a:endParaRPr sz="5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Big </a:t>
            </a:r>
            <a:r>
              <a:rPr sz="1800" b="0" spc="-95" dirty="0">
                <a:latin typeface="Arial"/>
                <a:cs typeface="Arial"/>
              </a:rPr>
              <a:t>Data </a:t>
            </a:r>
            <a:r>
              <a:rPr sz="1800" b="0" spc="-135" dirty="0">
                <a:latin typeface="Arial"/>
                <a:cs typeface="Arial"/>
              </a:rPr>
              <a:t>(BD)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1084071"/>
            <a:ext cx="8534400" cy="490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20" dirty="0">
                <a:latin typeface="Trebuchet MS"/>
                <a:cs typeface="Trebuchet MS"/>
              </a:rPr>
              <a:t>Principales </a:t>
            </a:r>
            <a:r>
              <a:rPr sz="2000" b="1" spc="-95" dirty="0">
                <a:latin typeface="Trebuchet MS"/>
                <a:cs typeface="Trebuchet MS"/>
              </a:rPr>
              <a:t>insights </a:t>
            </a:r>
            <a:r>
              <a:rPr sz="2000" b="1" spc="-110" dirty="0">
                <a:latin typeface="Trebuchet MS"/>
                <a:cs typeface="Trebuchet MS"/>
              </a:rPr>
              <a:t>sobre </a:t>
            </a:r>
            <a:r>
              <a:rPr sz="2000" b="1" spc="-90" dirty="0">
                <a:latin typeface="Trebuchet MS"/>
                <a:cs typeface="Trebuchet MS"/>
              </a:rPr>
              <a:t>la </a:t>
            </a:r>
            <a:r>
              <a:rPr sz="2000" b="1" spc="-110" dirty="0">
                <a:latin typeface="Trebuchet MS"/>
                <a:cs typeface="Trebuchet MS"/>
              </a:rPr>
              <a:t>potencialidad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0" dirty="0">
                <a:latin typeface="Trebuchet MS"/>
                <a:cs typeface="Trebuchet MS"/>
              </a:rPr>
              <a:t>Big</a:t>
            </a:r>
            <a:r>
              <a:rPr sz="2000" b="1" spc="-385" dirty="0">
                <a:latin typeface="Trebuchet MS"/>
                <a:cs typeface="Trebuchet MS"/>
              </a:rPr>
              <a:t> </a:t>
            </a:r>
            <a:r>
              <a:rPr sz="2000" b="1" spc="-105" dirty="0">
                <a:latin typeface="Trebuchet MS"/>
                <a:cs typeface="Trebuchet MS"/>
              </a:rPr>
              <a:t>Data:</a:t>
            </a:r>
            <a:endParaRPr sz="20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i="1" spc="-85" dirty="0">
                <a:latin typeface="Trebuchet MS"/>
                <a:cs typeface="Trebuchet MS"/>
              </a:rPr>
              <a:t>Los datos </a:t>
            </a:r>
            <a:r>
              <a:rPr sz="2000" i="1" spc="-80" dirty="0">
                <a:latin typeface="Trebuchet MS"/>
                <a:cs typeface="Trebuchet MS"/>
              </a:rPr>
              <a:t>se </a:t>
            </a:r>
            <a:r>
              <a:rPr sz="2000" i="1" spc="-65" dirty="0">
                <a:latin typeface="Trebuchet MS"/>
                <a:cs typeface="Trebuchet MS"/>
              </a:rPr>
              <a:t>han </a:t>
            </a:r>
            <a:r>
              <a:rPr sz="2000" i="1" spc="-125" dirty="0">
                <a:latin typeface="Trebuchet MS"/>
                <a:cs typeface="Trebuchet MS"/>
              </a:rPr>
              <a:t>vuelto </a:t>
            </a:r>
            <a:r>
              <a:rPr sz="2000" i="1" spc="-114" dirty="0">
                <a:latin typeface="Trebuchet MS"/>
                <a:cs typeface="Trebuchet MS"/>
              </a:rPr>
              <a:t>críticos </a:t>
            </a:r>
            <a:r>
              <a:rPr sz="2000" i="1" spc="-100" dirty="0">
                <a:latin typeface="Trebuchet MS"/>
                <a:cs typeface="Trebuchet MS"/>
              </a:rPr>
              <a:t>en </a:t>
            </a:r>
            <a:r>
              <a:rPr sz="2000" i="1" spc="-85" dirty="0">
                <a:latin typeface="Trebuchet MS"/>
                <a:cs typeface="Trebuchet MS"/>
              </a:rPr>
              <a:t>todas </a:t>
            </a:r>
            <a:r>
              <a:rPr sz="2000" i="1" spc="-80" dirty="0">
                <a:latin typeface="Trebuchet MS"/>
                <a:cs typeface="Trebuchet MS"/>
              </a:rPr>
              <a:t>las </a:t>
            </a:r>
            <a:r>
              <a:rPr sz="2000" i="1" spc="-100" dirty="0">
                <a:latin typeface="Trebuchet MS"/>
                <a:cs typeface="Trebuchet MS"/>
              </a:rPr>
              <a:t>industrias </a:t>
            </a:r>
            <a:r>
              <a:rPr sz="2000" i="1" spc="-95" dirty="0">
                <a:latin typeface="Trebuchet MS"/>
                <a:cs typeface="Trebuchet MS"/>
              </a:rPr>
              <a:t>y </a:t>
            </a:r>
            <a:r>
              <a:rPr sz="2000" i="1" spc="-100" dirty="0">
                <a:latin typeface="Trebuchet MS"/>
                <a:cs typeface="Trebuchet MS"/>
              </a:rPr>
              <a:t>funciones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80" dirty="0">
                <a:latin typeface="Trebuchet MS"/>
                <a:cs typeface="Trebuchet MS"/>
              </a:rPr>
              <a:t>negocio  </a:t>
            </a:r>
            <a:r>
              <a:rPr sz="2000" i="1" spc="-95" dirty="0">
                <a:latin typeface="Trebuchet MS"/>
                <a:cs typeface="Trebuchet MS"/>
              </a:rPr>
              <a:t>y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se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65" dirty="0">
                <a:latin typeface="Trebuchet MS"/>
                <a:cs typeface="Trebuchet MS"/>
              </a:rPr>
              <a:t>han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convertido</a:t>
            </a:r>
            <a:r>
              <a:rPr sz="2000" i="1" spc="-140" dirty="0">
                <a:latin typeface="Trebuchet MS"/>
                <a:cs typeface="Trebuchet MS"/>
              </a:rPr>
              <a:t> </a:t>
            </a:r>
            <a:r>
              <a:rPr sz="2000" i="1" spc="-100" dirty="0">
                <a:latin typeface="Trebuchet MS"/>
                <a:cs typeface="Trebuchet MS"/>
              </a:rPr>
              <a:t>en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un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125" dirty="0">
                <a:latin typeface="Trebuchet MS"/>
                <a:cs typeface="Trebuchet MS"/>
              </a:rPr>
              <a:t>factor</a:t>
            </a:r>
            <a:r>
              <a:rPr sz="2000" i="1" spc="-145" dirty="0">
                <a:latin typeface="Trebuchet MS"/>
                <a:cs typeface="Trebuchet MS"/>
              </a:rPr>
              <a:t> </a:t>
            </a:r>
            <a:r>
              <a:rPr sz="2000" i="1" spc="-125" dirty="0">
                <a:latin typeface="Trebuchet MS"/>
                <a:cs typeface="Trebuchet MS"/>
              </a:rPr>
              <a:t>crítico</a:t>
            </a:r>
            <a:r>
              <a:rPr sz="2000" i="1" spc="-130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producción.</a:t>
            </a:r>
            <a:endParaRPr sz="2000">
              <a:latin typeface="Trebuchet MS"/>
              <a:cs typeface="Trebuchet MS"/>
            </a:endParaRPr>
          </a:p>
          <a:p>
            <a:pPr marL="647065" marR="6350" lvl="1" indent="-177165" algn="just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47700" algn="l"/>
              </a:tabLst>
            </a:pPr>
            <a:r>
              <a:rPr sz="1600" i="1" spc="-65" dirty="0">
                <a:latin typeface="Trebuchet MS"/>
                <a:cs typeface="Trebuchet MS"/>
              </a:rPr>
              <a:t>Las </a:t>
            </a:r>
            <a:r>
              <a:rPr sz="1600" i="1" spc="-60" dirty="0">
                <a:latin typeface="Trebuchet MS"/>
                <a:cs typeface="Trebuchet MS"/>
              </a:rPr>
              <a:t>compañías almacenaban </a:t>
            </a:r>
            <a:r>
              <a:rPr sz="1600" i="1" spc="-30" dirty="0">
                <a:latin typeface="Trebuchet MS"/>
                <a:cs typeface="Trebuchet MS"/>
              </a:rPr>
              <a:t>7 </a:t>
            </a:r>
            <a:r>
              <a:rPr sz="1600" i="1" spc="-95" dirty="0">
                <a:latin typeface="Trebuchet MS"/>
                <a:cs typeface="Trebuchet MS"/>
              </a:rPr>
              <a:t>exabytes </a:t>
            </a:r>
            <a:r>
              <a:rPr sz="1600" i="1" spc="-85" dirty="0">
                <a:latin typeface="Trebuchet MS"/>
                <a:cs typeface="Trebuchet MS"/>
              </a:rPr>
              <a:t>de datos, mientras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70" dirty="0">
                <a:latin typeface="Trebuchet MS"/>
                <a:cs typeface="Trebuchet MS"/>
              </a:rPr>
              <a:t>los </a:t>
            </a:r>
            <a:r>
              <a:rPr sz="1600" i="1" spc="-105" dirty="0">
                <a:latin typeface="Trebuchet MS"/>
                <a:cs typeface="Trebuchet MS"/>
              </a:rPr>
              <a:t>clientes </a:t>
            </a:r>
            <a:r>
              <a:rPr sz="1600" i="1" spc="-30" dirty="0">
                <a:latin typeface="Trebuchet MS"/>
                <a:cs typeface="Trebuchet MS"/>
              </a:rPr>
              <a:t>6</a:t>
            </a:r>
            <a:r>
              <a:rPr sz="1600" i="1" spc="-320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exabytes </a:t>
            </a:r>
            <a:r>
              <a:rPr sz="1600" i="1" spc="-114" dirty="0">
                <a:latin typeface="Trebuchet MS"/>
                <a:cs typeface="Trebuchet MS"/>
              </a:rPr>
              <a:t>(NOTA: </a:t>
            </a:r>
            <a:r>
              <a:rPr sz="1600" i="1" spc="-30" dirty="0">
                <a:latin typeface="Trebuchet MS"/>
                <a:cs typeface="Trebuchet MS"/>
              </a:rPr>
              <a:t>1  </a:t>
            </a:r>
            <a:r>
              <a:rPr sz="1600" i="1" spc="-105" dirty="0">
                <a:latin typeface="Trebuchet MS"/>
                <a:cs typeface="Trebuchet MS"/>
              </a:rPr>
              <a:t>exabyte </a:t>
            </a:r>
            <a:r>
              <a:rPr sz="1600" i="1" spc="-90" dirty="0">
                <a:latin typeface="Trebuchet MS"/>
                <a:cs typeface="Trebuchet MS"/>
              </a:rPr>
              <a:t>equivale </a:t>
            </a:r>
            <a:r>
              <a:rPr sz="1600" i="1" spc="-20" dirty="0">
                <a:latin typeface="Trebuchet MS"/>
                <a:cs typeface="Trebuchet MS"/>
              </a:rPr>
              <a:t>a </a:t>
            </a:r>
            <a:r>
              <a:rPr sz="1600" i="1" spc="-40" dirty="0">
                <a:latin typeface="Trebuchet MS"/>
                <a:cs typeface="Trebuchet MS"/>
              </a:rPr>
              <a:t>más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30" dirty="0">
                <a:latin typeface="Trebuchet MS"/>
                <a:cs typeface="Trebuchet MS"/>
              </a:rPr>
              <a:t>4000 </a:t>
            </a:r>
            <a:r>
              <a:rPr sz="1600" i="1" spc="-75" dirty="0">
                <a:latin typeface="Trebuchet MS"/>
                <a:cs typeface="Trebuchet MS"/>
              </a:rPr>
              <a:t>veces </a:t>
            </a:r>
            <a:r>
              <a:rPr sz="1600" i="1" spc="-85" dirty="0">
                <a:latin typeface="Trebuchet MS"/>
                <a:cs typeface="Trebuchet MS"/>
              </a:rPr>
              <a:t>la </a:t>
            </a:r>
            <a:r>
              <a:rPr sz="1600" i="1" spc="-75" dirty="0">
                <a:latin typeface="Trebuchet MS"/>
                <a:cs typeface="Trebuchet MS"/>
              </a:rPr>
              <a:t>cantidad </a:t>
            </a:r>
            <a:r>
              <a:rPr sz="1600" i="1" spc="-85" dirty="0">
                <a:latin typeface="Trebuchet MS"/>
                <a:cs typeface="Trebuchet MS"/>
              </a:rPr>
              <a:t>de información </a:t>
            </a:r>
            <a:r>
              <a:rPr sz="1600" i="1" spc="-60" dirty="0">
                <a:latin typeface="Trebuchet MS"/>
                <a:cs typeface="Trebuchet MS"/>
              </a:rPr>
              <a:t>almacenada </a:t>
            </a:r>
            <a:r>
              <a:rPr sz="1600" i="1" spc="-75" dirty="0">
                <a:latin typeface="Trebuchet MS"/>
                <a:cs typeface="Trebuchet MS"/>
              </a:rPr>
              <a:t>en </a:t>
            </a:r>
            <a:r>
              <a:rPr sz="1600" i="1" spc="-85" dirty="0">
                <a:latin typeface="Trebuchet MS"/>
                <a:cs typeface="Trebuchet MS"/>
              </a:rPr>
              <a:t>la </a:t>
            </a:r>
            <a:r>
              <a:rPr sz="1600" i="1" spc="-35" dirty="0">
                <a:latin typeface="Trebuchet MS"/>
                <a:cs typeface="Trebuchet MS"/>
              </a:rPr>
              <a:t>US  </a:t>
            </a:r>
            <a:r>
              <a:rPr sz="1600" i="1" spc="-60" dirty="0">
                <a:latin typeface="Trebuchet MS"/>
                <a:cs typeface="Trebuchet MS"/>
              </a:rPr>
              <a:t>Congress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110" dirty="0">
                <a:latin typeface="Trebuchet MS"/>
                <a:cs typeface="Trebuchet MS"/>
              </a:rPr>
              <a:t>Library).</a:t>
            </a:r>
            <a:endParaRPr sz="1600">
              <a:latin typeface="Trebuchet MS"/>
              <a:cs typeface="Trebuchet MS"/>
            </a:endParaRPr>
          </a:p>
          <a:p>
            <a:pPr marL="647065" marR="5715" lvl="1" indent="-177165">
              <a:lnSpc>
                <a:spcPct val="100000"/>
              </a:lnSpc>
              <a:buFont typeface="Arial"/>
              <a:buChar char="•"/>
              <a:tabLst>
                <a:tab pos="647700" algn="l"/>
                <a:tab pos="970915" algn="l"/>
                <a:tab pos="1910714" algn="l"/>
                <a:tab pos="3336925" algn="l"/>
                <a:tab pos="3679825" algn="l"/>
                <a:tab pos="4828540" algn="l"/>
                <a:tab pos="5273040" algn="l"/>
                <a:tab pos="6181725" algn="l"/>
                <a:tab pos="6520815" algn="l"/>
                <a:tab pos="7112634" algn="l"/>
                <a:tab pos="7494270" algn="l"/>
                <a:tab pos="8272145" algn="l"/>
              </a:tabLst>
            </a:pPr>
            <a:r>
              <a:rPr sz="1600" i="1" spc="-85" dirty="0">
                <a:latin typeface="Trebuchet MS"/>
                <a:cs typeface="Trebuchet MS"/>
              </a:rPr>
              <a:t>L</a:t>
            </a:r>
            <a:r>
              <a:rPr sz="1600" i="1" spc="-80" dirty="0">
                <a:latin typeface="Trebuchet MS"/>
                <a:cs typeface="Trebuchet MS"/>
              </a:rPr>
              <a:t>a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90" dirty="0">
                <a:latin typeface="Trebuchet MS"/>
                <a:cs typeface="Trebuchet MS"/>
              </a:rPr>
              <a:t>ec</a:t>
            </a:r>
            <a:r>
              <a:rPr sz="1600" i="1" spc="-60" dirty="0">
                <a:latin typeface="Trebuchet MS"/>
                <a:cs typeface="Trebuchet MS"/>
              </a:rPr>
              <a:t>onomí</a:t>
            </a:r>
            <a:r>
              <a:rPr sz="1600" i="1" spc="-55" dirty="0">
                <a:latin typeface="Trebuchet MS"/>
                <a:cs typeface="Trebuchet MS"/>
              </a:rPr>
              <a:t>a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70" dirty="0">
                <a:latin typeface="Trebuchet MS"/>
                <a:cs typeface="Trebuchet MS"/>
              </a:rPr>
              <a:t>e</a:t>
            </a:r>
            <a:r>
              <a:rPr sz="1600" i="1" spc="-80" dirty="0">
                <a:latin typeface="Trebuchet MS"/>
                <a:cs typeface="Trebuchet MS"/>
              </a:rPr>
              <a:t>s</a:t>
            </a:r>
            <a:r>
              <a:rPr sz="1600" i="1" spc="-170" dirty="0">
                <a:latin typeface="Trebuchet MS"/>
                <a:cs typeface="Trebuchet MS"/>
              </a:rPr>
              <a:t>t</a:t>
            </a:r>
            <a:r>
              <a:rPr sz="1600" i="1" spc="-50" dirty="0">
                <a:latin typeface="Trebuchet MS"/>
                <a:cs typeface="Trebuchet MS"/>
              </a:rPr>
              <a:t>ad</a:t>
            </a:r>
            <a:r>
              <a:rPr sz="1600" i="1" spc="-40" dirty="0">
                <a:latin typeface="Trebuchet MS"/>
                <a:cs typeface="Trebuchet MS"/>
              </a:rPr>
              <a:t>o</a:t>
            </a:r>
            <a:r>
              <a:rPr sz="1600" i="1" spc="-100" dirty="0">
                <a:latin typeface="Trebuchet MS"/>
                <a:cs typeface="Trebuchet MS"/>
              </a:rPr>
              <a:t>un</a:t>
            </a:r>
            <a:r>
              <a:rPr sz="1600" i="1" spc="-65" dirty="0">
                <a:latin typeface="Trebuchet MS"/>
                <a:cs typeface="Trebuchet MS"/>
              </a:rPr>
              <a:t>i</a:t>
            </a:r>
            <a:r>
              <a:rPr sz="1600" i="1" spc="-90" dirty="0">
                <a:latin typeface="Trebuchet MS"/>
                <a:cs typeface="Trebuchet MS"/>
              </a:rPr>
              <a:t>d</a:t>
            </a:r>
            <a:r>
              <a:rPr sz="1600" i="1" spc="-80" dirty="0">
                <a:latin typeface="Trebuchet MS"/>
                <a:cs typeface="Trebuchet MS"/>
              </a:rPr>
              <a:t>e</a:t>
            </a:r>
            <a:r>
              <a:rPr sz="1600" i="1" spc="-60" dirty="0">
                <a:latin typeface="Trebuchet MS"/>
                <a:cs typeface="Trebuchet MS"/>
              </a:rPr>
              <a:t>ns</a:t>
            </a:r>
            <a:r>
              <a:rPr sz="1600" i="1" spc="-65" dirty="0">
                <a:latin typeface="Trebuchet MS"/>
                <a:cs typeface="Trebuchet MS"/>
              </a:rPr>
              <a:t>e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50" dirty="0">
                <a:latin typeface="Trebuchet MS"/>
                <a:cs typeface="Trebuchet MS"/>
              </a:rPr>
              <a:t>h</a:t>
            </a:r>
            <a:r>
              <a:rPr sz="1600" i="1" spc="-45" dirty="0">
                <a:latin typeface="Trebuchet MS"/>
                <a:cs typeface="Trebuchet MS"/>
              </a:rPr>
              <a:t>a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65" dirty="0">
                <a:latin typeface="Trebuchet MS"/>
                <a:cs typeface="Trebuchet MS"/>
              </a:rPr>
              <a:t>al</a:t>
            </a:r>
            <a:r>
              <a:rPr sz="1600" i="1" spc="-125" dirty="0">
                <a:latin typeface="Trebuchet MS"/>
                <a:cs typeface="Trebuchet MS"/>
              </a:rPr>
              <a:t>m</a:t>
            </a:r>
            <a:r>
              <a:rPr sz="1600" i="1" spc="-55" dirty="0">
                <a:latin typeface="Trebuchet MS"/>
                <a:cs typeface="Trebuchet MS"/>
              </a:rPr>
              <a:t>a</a:t>
            </a:r>
            <a:r>
              <a:rPr sz="1600" i="1" spc="-60" dirty="0">
                <a:latin typeface="Trebuchet MS"/>
                <a:cs typeface="Trebuchet MS"/>
              </a:rPr>
              <a:t>c</a:t>
            </a:r>
            <a:r>
              <a:rPr sz="1600" i="1" spc="-75" dirty="0">
                <a:latin typeface="Trebuchet MS"/>
                <a:cs typeface="Trebuchet MS"/>
              </a:rPr>
              <a:t>e</a:t>
            </a:r>
            <a:r>
              <a:rPr sz="1600" i="1" spc="-80" dirty="0">
                <a:latin typeface="Trebuchet MS"/>
                <a:cs typeface="Trebuchet MS"/>
              </a:rPr>
              <a:t>n</a:t>
            </a:r>
            <a:r>
              <a:rPr sz="1600" i="1" spc="-50" dirty="0">
                <a:latin typeface="Trebuchet MS"/>
                <a:cs typeface="Trebuchet MS"/>
              </a:rPr>
              <a:t>ad</a:t>
            </a:r>
            <a:r>
              <a:rPr sz="1600" i="1" spc="-45" dirty="0">
                <a:latin typeface="Trebuchet MS"/>
                <a:cs typeface="Trebuchet MS"/>
              </a:rPr>
              <a:t>o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30" dirty="0">
                <a:latin typeface="Trebuchet MS"/>
                <a:cs typeface="Trebuchet MS"/>
              </a:rPr>
              <a:t>200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165" dirty="0">
                <a:latin typeface="Trebuchet MS"/>
                <a:cs typeface="Trebuchet MS"/>
              </a:rPr>
              <a:t>t</a:t>
            </a:r>
            <a:r>
              <a:rPr sz="1600" i="1" spc="-75" dirty="0">
                <a:latin typeface="Trebuchet MS"/>
                <a:cs typeface="Trebuchet MS"/>
              </a:rPr>
              <a:t>erab</a:t>
            </a:r>
            <a:r>
              <a:rPr sz="1600" i="1" spc="-70" dirty="0">
                <a:latin typeface="Trebuchet MS"/>
                <a:cs typeface="Trebuchet MS"/>
              </a:rPr>
              <a:t>y</a:t>
            </a:r>
            <a:r>
              <a:rPr sz="1600" i="1" spc="-165" dirty="0">
                <a:latin typeface="Trebuchet MS"/>
                <a:cs typeface="Trebuchet MS"/>
              </a:rPr>
              <a:t>t</a:t>
            </a:r>
            <a:r>
              <a:rPr sz="1600" i="1" spc="-60" dirty="0">
                <a:latin typeface="Trebuchet MS"/>
                <a:cs typeface="Trebuchet MS"/>
              </a:rPr>
              <a:t>es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135" dirty="0">
                <a:latin typeface="Trebuchet MS"/>
                <a:cs typeface="Trebuchet MS"/>
              </a:rPr>
              <a:t>(e</a:t>
            </a:r>
            <a:r>
              <a:rPr sz="1600" i="1" spc="-90" dirty="0">
                <a:latin typeface="Trebuchet MS"/>
                <a:cs typeface="Trebuchet MS"/>
              </a:rPr>
              <a:t>l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90" dirty="0">
                <a:latin typeface="Trebuchet MS"/>
                <a:cs typeface="Trebuchet MS"/>
              </a:rPr>
              <a:t>doble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125" dirty="0">
                <a:latin typeface="Trebuchet MS"/>
                <a:cs typeface="Trebuchet MS"/>
              </a:rPr>
              <a:t>de</a:t>
            </a:r>
            <a:r>
              <a:rPr sz="1600" i="1" spc="-70" dirty="0">
                <a:latin typeface="Trebuchet MS"/>
                <a:cs typeface="Trebuchet MS"/>
              </a:rPr>
              <a:t>l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170" dirty="0">
                <a:latin typeface="Trebuchet MS"/>
                <a:cs typeface="Trebuchet MS"/>
              </a:rPr>
              <a:t>t</a:t>
            </a:r>
            <a:r>
              <a:rPr sz="1600" i="1" spc="-45" dirty="0">
                <a:latin typeface="Trebuchet MS"/>
                <a:cs typeface="Trebuchet MS"/>
              </a:rPr>
              <a:t>amañ</a:t>
            </a:r>
            <a:r>
              <a:rPr sz="1600" i="1" spc="-35" dirty="0">
                <a:latin typeface="Trebuchet MS"/>
                <a:cs typeface="Trebuchet MS"/>
              </a:rPr>
              <a:t>o</a:t>
            </a:r>
            <a:r>
              <a:rPr sz="1600" i="1" dirty="0">
                <a:latin typeface="Trebuchet MS"/>
                <a:cs typeface="Trebuchet MS"/>
              </a:rPr>
              <a:t>	</a:t>
            </a:r>
            <a:r>
              <a:rPr sz="1600" i="1" spc="-100" dirty="0">
                <a:latin typeface="Trebuchet MS"/>
                <a:cs typeface="Trebuchet MS"/>
              </a:rPr>
              <a:t>del </a:t>
            </a:r>
            <a:r>
              <a:rPr sz="1600" i="1" spc="-75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Datawarehouse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75" dirty="0">
                <a:latin typeface="Trebuchet MS"/>
                <a:cs typeface="Trebuchet MS"/>
              </a:rPr>
              <a:t>Walmart en</a:t>
            </a:r>
            <a:r>
              <a:rPr sz="1600" i="1" spc="-245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1999).</a:t>
            </a:r>
            <a:endParaRPr sz="1600">
              <a:latin typeface="Trebuchet MS"/>
              <a:cs typeface="Trebuchet MS"/>
            </a:endParaRPr>
          </a:p>
          <a:p>
            <a:pPr marL="469900" indent="-457200">
              <a:lnSpc>
                <a:spcPts val="237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i="1" spc="-60" dirty="0">
                <a:latin typeface="Trebuchet MS"/>
                <a:cs typeface="Trebuchet MS"/>
              </a:rPr>
              <a:t>Big </a:t>
            </a:r>
            <a:r>
              <a:rPr sz="2000" i="1" spc="-65" dirty="0">
                <a:latin typeface="Trebuchet MS"/>
                <a:cs typeface="Trebuchet MS"/>
              </a:rPr>
              <a:t>Data </a:t>
            </a:r>
            <a:r>
              <a:rPr sz="2000" i="1" spc="-100" dirty="0">
                <a:latin typeface="Trebuchet MS"/>
                <a:cs typeface="Trebuchet MS"/>
              </a:rPr>
              <a:t>crea</a:t>
            </a:r>
            <a:r>
              <a:rPr sz="2000" i="1" spc="-465" dirty="0">
                <a:latin typeface="Trebuchet MS"/>
                <a:cs typeface="Trebuchet MS"/>
              </a:rPr>
              <a:t> </a:t>
            </a:r>
            <a:r>
              <a:rPr sz="2000" i="1" spc="-105" dirty="0">
                <a:latin typeface="Trebuchet MS"/>
                <a:cs typeface="Trebuchet MS"/>
              </a:rPr>
              <a:t>valor </a:t>
            </a:r>
            <a:r>
              <a:rPr sz="2000" i="1" spc="-110" dirty="0">
                <a:latin typeface="Trebuchet MS"/>
                <a:cs typeface="Trebuchet MS"/>
              </a:rPr>
              <a:t>de distintas </a:t>
            </a:r>
            <a:r>
              <a:rPr sz="2000" i="1" spc="-75" dirty="0">
                <a:latin typeface="Trebuchet MS"/>
                <a:cs typeface="Trebuchet MS"/>
              </a:rPr>
              <a:t>maneras</a:t>
            </a:r>
            <a:endParaRPr sz="2000">
              <a:latin typeface="Trebuchet MS"/>
              <a:cs typeface="Trebuchet MS"/>
            </a:endParaRPr>
          </a:p>
          <a:p>
            <a:pPr marL="647065" lvl="1" indent="-1771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47700" algn="l"/>
              </a:tabLst>
            </a:pPr>
            <a:r>
              <a:rPr sz="1600" i="1" spc="-75" dirty="0">
                <a:latin typeface="Trebuchet MS"/>
                <a:cs typeface="Trebuchet MS"/>
              </a:rPr>
              <a:t>Creando</a:t>
            </a:r>
            <a:r>
              <a:rPr sz="1600" i="1" spc="-125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transparencia</a:t>
            </a:r>
            <a:endParaRPr sz="1600">
              <a:latin typeface="Trebuchet MS"/>
              <a:cs typeface="Trebuchet MS"/>
            </a:endParaRPr>
          </a:p>
          <a:p>
            <a:pPr marL="647065" lvl="1" indent="-177165">
              <a:lnSpc>
                <a:spcPct val="100000"/>
              </a:lnSpc>
              <a:buFont typeface="Arial"/>
              <a:buChar char="•"/>
              <a:tabLst>
                <a:tab pos="647700" algn="l"/>
              </a:tabLst>
            </a:pPr>
            <a:r>
              <a:rPr sz="1600" i="1" spc="-95" dirty="0">
                <a:latin typeface="Trebuchet MS"/>
                <a:cs typeface="Trebuchet MS"/>
              </a:rPr>
              <a:t>Permitiendo</a:t>
            </a:r>
            <a:r>
              <a:rPr sz="1600" i="1" spc="-125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la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experimentación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60" dirty="0">
                <a:latin typeface="Trebuchet MS"/>
                <a:cs typeface="Trebuchet MS"/>
              </a:rPr>
              <a:t>para</a:t>
            </a:r>
            <a:r>
              <a:rPr sz="1600" i="1" spc="-110" dirty="0">
                <a:latin typeface="Trebuchet MS"/>
                <a:cs typeface="Trebuchet MS"/>
              </a:rPr>
              <a:t> </a:t>
            </a:r>
            <a:r>
              <a:rPr sz="1600" i="1" spc="-90" dirty="0">
                <a:latin typeface="Trebuchet MS"/>
                <a:cs typeface="Trebuchet MS"/>
              </a:rPr>
              <a:t>descubrir</a:t>
            </a:r>
            <a:r>
              <a:rPr sz="1600" i="1" spc="-125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necesidades</a:t>
            </a:r>
            <a:r>
              <a:rPr sz="1600" i="1" spc="-125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de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datos</a:t>
            </a:r>
            <a:r>
              <a:rPr sz="1600" i="1" spc="-105" dirty="0">
                <a:latin typeface="Trebuchet MS"/>
                <a:cs typeface="Trebuchet MS"/>
              </a:rPr>
              <a:t> </a:t>
            </a:r>
            <a:r>
              <a:rPr sz="1600" i="1" spc="-75" dirty="0">
                <a:latin typeface="Trebuchet MS"/>
                <a:cs typeface="Trebuchet MS"/>
              </a:rPr>
              <a:t>y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mejorar</a:t>
            </a:r>
            <a:r>
              <a:rPr sz="1600" i="1" spc="-120" dirty="0">
                <a:latin typeface="Trebuchet MS"/>
                <a:cs typeface="Trebuchet MS"/>
              </a:rPr>
              <a:t> el</a:t>
            </a:r>
            <a:r>
              <a:rPr sz="1600" i="1" spc="-135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desempeño</a:t>
            </a:r>
            <a:endParaRPr sz="1600">
              <a:latin typeface="Trebuchet MS"/>
              <a:cs typeface="Trebuchet MS"/>
            </a:endParaRPr>
          </a:p>
          <a:p>
            <a:pPr marL="647065" lvl="1" indent="-177165">
              <a:lnSpc>
                <a:spcPct val="100000"/>
              </a:lnSpc>
              <a:buFont typeface="Arial"/>
              <a:buChar char="•"/>
              <a:tabLst>
                <a:tab pos="647700" algn="l"/>
              </a:tabLst>
            </a:pPr>
            <a:r>
              <a:rPr sz="1600" i="1" spc="-70" dirty="0">
                <a:latin typeface="Trebuchet MS"/>
                <a:cs typeface="Trebuchet MS"/>
              </a:rPr>
              <a:t>Segmentando </a:t>
            </a:r>
            <a:r>
              <a:rPr sz="1600" i="1" spc="-75" dirty="0">
                <a:latin typeface="Trebuchet MS"/>
                <a:cs typeface="Trebuchet MS"/>
              </a:rPr>
              <a:t>poblaciones </a:t>
            </a:r>
            <a:r>
              <a:rPr sz="1600" i="1" spc="-60" dirty="0">
                <a:latin typeface="Trebuchet MS"/>
                <a:cs typeface="Trebuchet MS"/>
              </a:rPr>
              <a:t>para </a:t>
            </a:r>
            <a:r>
              <a:rPr sz="1600" i="1" spc="-90" dirty="0">
                <a:latin typeface="Trebuchet MS"/>
                <a:cs typeface="Trebuchet MS"/>
              </a:rPr>
              <a:t>personalizar</a:t>
            </a:r>
            <a:r>
              <a:rPr sz="1600" i="1" spc="-245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acciones</a:t>
            </a:r>
            <a:endParaRPr sz="1600">
              <a:latin typeface="Trebuchet MS"/>
              <a:cs typeface="Trebuchet MS"/>
            </a:endParaRPr>
          </a:p>
          <a:p>
            <a:pPr marL="647065" lvl="1" indent="-177165">
              <a:lnSpc>
                <a:spcPct val="100000"/>
              </a:lnSpc>
              <a:buFont typeface="Arial"/>
              <a:buChar char="•"/>
              <a:tabLst>
                <a:tab pos="647700" algn="l"/>
              </a:tabLst>
            </a:pPr>
            <a:r>
              <a:rPr sz="1600" i="1" spc="-80" dirty="0">
                <a:latin typeface="Trebuchet MS"/>
                <a:cs typeface="Trebuchet MS"/>
              </a:rPr>
              <a:t>Reemplazando </a:t>
            </a:r>
            <a:r>
              <a:rPr sz="1600" i="1" spc="-85" dirty="0">
                <a:latin typeface="Trebuchet MS"/>
                <a:cs typeface="Trebuchet MS"/>
              </a:rPr>
              <a:t>la </a:t>
            </a:r>
            <a:r>
              <a:rPr sz="1600" i="1" spc="-65" dirty="0">
                <a:latin typeface="Trebuchet MS"/>
                <a:cs typeface="Trebuchet MS"/>
              </a:rPr>
              <a:t>acción </a:t>
            </a:r>
            <a:r>
              <a:rPr sz="1600" i="1" spc="-55" dirty="0">
                <a:latin typeface="Trebuchet MS"/>
                <a:cs typeface="Trebuchet MS"/>
              </a:rPr>
              <a:t>humana </a:t>
            </a:r>
            <a:r>
              <a:rPr sz="1600" i="1" spc="-80" dirty="0">
                <a:latin typeface="Trebuchet MS"/>
                <a:cs typeface="Trebuchet MS"/>
              </a:rPr>
              <a:t>por </a:t>
            </a:r>
            <a:r>
              <a:rPr sz="1600" i="1" spc="-75" dirty="0">
                <a:latin typeface="Trebuchet MS"/>
                <a:cs typeface="Trebuchet MS"/>
              </a:rPr>
              <a:t>algoritmos</a:t>
            </a:r>
            <a:r>
              <a:rPr sz="1600" i="1" spc="-340" dirty="0">
                <a:latin typeface="Trebuchet MS"/>
                <a:cs typeface="Trebuchet MS"/>
              </a:rPr>
              <a:t> </a:t>
            </a:r>
            <a:r>
              <a:rPr sz="1600" i="1" spc="-80" dirty="0">
                <a:latin typeface="Trebuchet MS"/>
                <a:cs typeface="Trebuchet MS"/>
              </a:rPr>
              <a:t>automatizados</a:t>
            </a:r>
            <a:endParaRPr sz="1600">
              <a:latin typeface="Trebuchet MS"/>
              <a:cs typeface="Trebuchet MS"/>
            </a:endParaRPr>
          </a:p>
          <a:p>
            <a:pPr marL="647065" lvl="1" indent="-177165">
              <a:lnSpc>
                <a:spcPts val="1905"/>
              </a:lnSpc>
              <a:buFont typeface="Arial"/>
              <a:buChar char="•"/>
              <a:tabLst>
                <a:tab pos="647700" algn="l"/>
              </a:tabLst>
            </a:pPr>
            <a:r>
              <a:rPr sz="1600" i="1" spc="-50" dirty="0">
                <a:latin typeface="Trebuchet MS"/>
                <a:cs typeface="Trebuchet MS"/>
              </a:rPr>
              <a:t>Innovando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20" dirty="0">
                <a:latin typeface="Trebuchet MS"/>
                <a:cs typeface="Trebuchet MS"/>
              </a:rPr>
              <a:t>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105" dirty="0">
                <a:latin typeface="Trebuchet MS"/>
                <a:cs typeface="Trebuchet MS"/>
              </a:rPr>
              <a:t>partir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de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nuevos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modelos</a:t>
            </a:r>
            <a:r>
              <a:rPr sz="1600" i="1" spc="-125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de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negocio,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0" dirty="0">
                <a:latin typeface="Trebuchet MS"/>
                <a:cs typeface="Trebuchet MS"/>
              </a:rPr>
              <a:t>productos</a:t>
            </a:r>
            <a:r>
              <a:rPr sz="1600" i="1" spc="-105" dirty="0">
                <a:latin typeface="Trebuchet MS"/>
                <a:cs typeface="Trebuchet MS"/>
              </a:rPr>
              <a:t> </a:t>
            </a:r>
            <a:r>
              <a:rPr sz="1600" i="1" spc="-75" dirty="0">
                <a:latin typeface="Trebuchet MS"/>
                <a:cs typeface="Trebuchet MS"/>
              </a:rPr>
              <a:t>y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0" dirty="0">
                <a:latin typeface="Trebuchet MS"/>
                <a:cs typeface="Trebuchet MS"/>
              </a:rPr>
              <a:t>servicios</a:t>
            </a:r>
            <a:endParaRPr sz="1600">
              <a:latin typeface="Trebuchet MS"/>
              <a:cs typeface="Trebuchet MS"/>
            </a:endParaRPr>
          </a:p>
          <a:p>
            <a:pPr marL="355600" indent="-342900">
              <a:lnSpc>
                <a:spcPts val="2385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i="1" spc="-140" dirty="0">
                <a:latin typeface="Trebuchet MS"/>
                <a:cs typeface="Trebuchet MS"/>
              </a:rPr>
              <a:t>El</a:t>
            </a:r>
            <a:r>
              <a:rPr sz="2000" i="1" spc="-150" dirty="0">
                <a:latin typeface="Trebuchet MS"/>
                <a:cs typeface="Trebuchet MS"/>
              </a:rPr>
              <a:t> </a:t>
            </a:r>
            <a:r>
              <a:rPr sz="2000" i="1" spc="-60" dirty="0">
                <a:latin typeface="Trebuchet MS"/>
                <a:cs typeface="Trebuchet MS"/>
              </a:rPr>
              <a:t>uso</a:t>
            </a:r>
            <a:r>
              <a:rPr sz="2000" i="1" spc="-16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60" dirty="0">
                <a:latin typeface="Trebuchet MS"/>
                <a:cs typeface="Trebuchet MS"/>
              </a:rPr>
              <a:t>Big</a:t>
            </a:r>
            <a:r>
              <a:rPr sz="2000" i="1" spc="-150" dirty="0">
                <a:latin typeface="Trebuchet MS"/>
                <a:cs typeface="Trebuchet MS"/>
              </a:rPr>
              <a:t> </a:t>
            </a:r>
            <a:r>
              <a:rPr sz="2000" i="1" spc="-65" dirty="0">
                <a:latin typeface="Trebuchet MS"/>
                <a:cs typeface="Trebuchet MS"/>
              </a:rPr>
              <a:t>Data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85" dirty="0">
                <a:latin typeface="Trebuchet MS"/>
                <a:cs typeface="Trebuchet MS"/>
              </a:rPr>
              <a:t>será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un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125" dirty="0">
                <a:latin typeface="Trebuchet MS"/>
                <a:cs typeface="Trebuchet MS"/>
              </a:rPr>
              <a:t>factor</a:t>
            </a:r>
            <a:r>
              <a:rPr sz="2000" i="1" spc="-14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114" dirty="0">
                <a:latin typeface="Trebuchet MS"/>
                <a:cs typeface="Trebuchet MS"/>
              </a:rPr>
              <a:t>competitividad</a:t>
            </a:r>
            <a:r>
              <a:rPr sz="2000" i="1" spc="-120" dirty="0">
                <a:latin typeface="Trebuchet MS"/>
                <a:cs typeface="Trebuchet MS"/>
              </a:rPr>
              <a:t> </a:t>
            </a:r>
            <a:r>
              <a:rPr sz="2000" i="1" spc="-75" dirty="0">
                <a:latin typeface="Trebuchet MS"/>
                <a:cs typeface="Trebuchet MS"/>
              </a:rPr>
              <a:t>para</a:t>
            </a:r>
            <a:r>
              <a:rPr sz="2000" i="1" spc="-150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las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90" dirty="0">
                <a:latin typeface="Trebuchet MS"/>
                <a:cs typeface="Trebuchet MS"/>
              </a:rPr>
              <a:t>organizaciones</a:t>
            </a:r>
            <a:endParaRPr sz="2000">
              <a:latin typeface="Trebuchet MS"/>
              <a:cs typeface="Trebuchet MS"/>
            </a:endParaRPr>
          </a:p>
          <a:p>
            <a:pPr marL="355600" marR="5715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i="1" spc="-140" dirty="0">
                <a:latin typeface="Trebuchet MS"/>
                <a:cs typeface="Trebuchet MS"/>
              </a:rPr>
              <a:t>El </a:t>
            </a:r>
            <a:r>
              <a:rPr sz="2000" i="1" spc="-60" dirty="0">
                <a:latin typeface="Trebuchet MS"/>
                <a:cs typeface="Trebuchet MS"/>
              </a:rPr>
              <a:t>uso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60" dirty="0">
                <a:latin typeface="Trebuchet MS"/>
                <a:cs typeface="Trebuchet MS"/>
              </a:rPr>
              <a:t>Big </a:t>
            </a:r>
            <a:r>
              <a:rPr sz="2000" i="1" spc="-65" dirty="0">
                <a:latin typeface="Trebuchet MS"/>
                <a:cs typeface="Trebuchet MS"/>
              </a:rPr>
              <a:t>Data </a:t>
            </a:r>
            <a:r>
              <a:rPr sz="2000" i="1" spc="-105" dirty="0">
                <a:latin typeface="Trebuchet MS"/>
                <a:cs typeface="Trebuchet MS"/>
              </a:rPr>
              <a:t>conllevará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114" dirty="0">
                <a:latin typeface="Trebuchet MS"/>
                <a:cs typeface="Trebuchet MS"/>
              </a:rPr>
              <a:t>incrementar </a:t>
            </a:r>
            <a:r>
              <a:rPr sz="2000" i="1" spc="-110" dirty="0">
                <a:latin typeface="Trebuchet MS"/>
                <a:cs typeface="Trebuchet MS"/>
              </a:rPr>
              <a:t>la </a:t>
            </a:r>
            <a:r>
              <a:rPr sz="2000" i="1" spc="-105" dirty="0">
                <a:latin typeface="Trebuchet MS"/>
                <a:cs typeface="Trebuchet MS"/>
              </a:rPr>
              <a:t>productividad </a:t>
            </a:r>
            <a:r>
              <a:rPr sz="2000" i="1" spc="-95" dirty="0">
                <a:latin typeface="Trebuchet MS"/>
                <a:cs typeface="Trebuchet MS"/>
              </a:rPr>
              <a:t>y </a:t>
            </a:r>
            <a:r>
              <a:rPr sz="2000" i="1" spc="-155" dirty="0">
                <a:latin typeface="Trebuchet MS"/>
                <a:cs typeface="Trebuchet MS"/>
              </a:rPr>
              <a:t>el </a:t>
            </a:r>
            <a:r>
              <a:rPr sz="2000" i="1" spc="-100" dirty="0">
                <a:latin typeface="Trebuchet MS"/>
                <a:cs typeface="Trebuchet MS"/>
              </a:rPr>
              <a:t>valor </a:t>
            </a:r>
            <a:r>
              <a:rPr sz="2000" i="1" spc="-75" dirty="0">
                <a:latin typeface="Trebuchet MS"/>
                <a:cs typeface="Trebuchet MS"/>
              </a:rPr>
              <a:t>para </a:t>
            </a:r>
            <a:r>
              <a:rPr sz="2000" i="1" spc="-160" dirty="0">
                <a:latin typeface="Trebuchet MS"/>
                <a:cs typeface="Trebuchet MS"/>
              </a:rPr>
              <a:t>el  </a:t>
            </a:r>
            <a:r>
              <a:rPr sz="2000" i="1" spc="-95" dirty="0">
                <a:latin typeface="Trebuchet MS"/>
                <a:cs typeface="Trebuchet MS"/>
              </a:rPr>
              <a:t>consumidor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i="1" spc="-70" dirty="0">
                <a:latin typeface="Trebuchet MS"/>
                <a:cs typeface="Trebuchet MS"/>
              </a:rPr>
              <a:t>Algunos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05" dirty="0">
                <a:latin typeface="Trebuchet MS"/>
                <a:cs typeface="Trebuchet MS"/>
              </a:rPr>
              <a:t>sectores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80" dirty="0">
                <a:latin typeface="Trebuchet MS"/>
                <a:cs typeface="Trebuchet MS"/>
              </a:rPr>
              <a:t>se</a:t>
            </a:r>
            <a:r>
              <a:rPr sz="2000" i="1" spc="-16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beneficiarán</a:t>
            </a:r>
            <a:r>
              <a:rPr sz="2000" i="1" spc="-150" dirty="0">
                <a:latin typeface="Trebuchet MS"/>
                <a:cs typeface="Trebuchet MS"/>
              </a:rPr>
              <a:t> </a:t>
            </a:r>
            <a:r>
              <a:rPr sz="2000" i="1" spc="-50" dirty="0">
                <a:latin typeface="Trebuchet MS"/>
                <a:cs typeface="Trebuchet MS"/>
              </a:rPr>
              <a:t>más</a:t>
            </a:r>
            <a:r>
              <a:rPr sz="2000" i="1" spc="-145" dirty="0">
                <a:latin typeface="Trebuchet MS"/>
                <a:cs typeface="Trebuchet MS"/>
              </a:rPr>
              <a:t> </a:t>
            </a:r>
            <a:r>
              <a:rPr sz="2000" i="1" spc="-135" dirty="0">
                <a:latin typeface="Trebuchet MS"/>
                <a:cs typeface="Trebuchet MS"/>
              </a:rPr>
              <a:t>del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60" dirty="0">
                <a:latin typeface="Trebuchet MS"/>
                <a:cs typeface="Trebuchet MS"/>
              </a:rPr>
              <a:t>uso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60" dirty="0">
                <a:latin typeface="Trebuchet MS"/>
                <a:cs typeface="Trebuchet MS"/>
              </a:rPr>
              <a:t>Big</a:t>
            </a:r>
            <a:r>
              <a:rPr sz="2000" i="1" spc="-155" dirty="0">
                <a:latin typeface="Trebuchet MS"/>
                <a:cs typeface="Trebuchet MS"/>
              </a:rPr>
              <a:t> </a:t>
            </a:r>
            <a:r>
              <a:rPr sz="2000" i="1" spc="-100" dirty="0">
                <a:latin typeface="Trebuchet MS"/>
                <a:cs typeface="Trebuchet MS"/>
              </a:rPr>
              <a:t>Data.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Big </a:t>
            </a:r>
            <a:r>
              <a:rPr sz="1800" b="0" spc="-95" dirty="0">
                <a:latin typeface="Arial"/>
                <a:cs typeface="Arial"/>
              </a:rPr>
              <a:t>Data </a:t>
            </a:r>
            <a:r>
              <a:rPr sz="1800" b="0" spc="-135" dirty="0">
                <a:latin typeface="Arial"/>
                <a:cs typeface="Arial"/>
              </a:rPr>
              <a:t>(BD)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089660"/>
            <a:ext cx="7314643" cy="48342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939" y="6155435"/>
            <a:ext cx="8733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Manyika,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J;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Chui,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M.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et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alter.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i="1" spc="-35" dirty="0">
                <a:latin typeface="Trebuchet MS"/>
                <a:cs typeface="Trebuchet MS"/>
              </a:rPr>
              <a:t>Big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Data: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75" dirty="0">
                <a:latin typeface="Trebuchet MS"/>
                <a:cs typeface="Trebuchet MS"/>
              </a:rPr>
              <a:t>the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80" dirty="0">
                <a:latin typeface="Trebuchet MS"/>
                <a:cs typeface="Trebuchet MS"/>
              </a:rPr>
              <a:t>next</a:t>
            </a:r>
            <a:r>
              <a:rPr sz="1200" i="1" spc="-85" dirty="0">
                <a:latin typeface="Trebuchet MS"/>
                <a:cs typeface="Trebuchet MS"/>
              </a:rPr>
              <a:t> frontier</a:t>
            </a:r>
            <a:r>
              <a:rPr sz="1200" i="1" spc="-90" dirty="0">
                <a:latin typeface="Trebuchet MS"/>
                <a:cs typeface="Trebuchet MS"/>
              </a:rPr>
              <a:t> </a:t>
            </a:r>
            <a:r>
              <a:rPr sz="1200" i="1" spc="-85" dirty="0">
                <a:latin typeface="Trebuchet MS"/>
                <a:cs typeface="Trebuchet MS"/>
              </a:rPr>
              <a:t>for </a:t>
            </a:r>
            <a:r>
              <a:rPr sz="1200" i="1" spc="-65" dirty="0">
                <a:latin typeface="Trebuchet MS"/>
                <a:cs typeface="Trebuchet MS"/>
              </a:rPr>
              <a:t>innovation,</a:t>
            </a:r>
            <a:r>
              <a:rPr sz="1200" i="1" spc="-9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competition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40" dirty="0">
                <a:latin typeface="Trebuchet MS"/>
                <a:cs typeface="Trebuchet MS"/>
              </a:rPr>
              <a:t>and</a:t>
            </a:r>
            <a:r>
              <a:rPr sz="1200" i="1" spc="-9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productivity</a:t>
            </a:r>
            <a:r>
              <a:rPr sz="1200" spc="-70" dirty="0">
                <a:latin typeface="Arial"/>
                <a:cs typeface="Arial"/>
              </a:rPr>
              <a:t>,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McKinsey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Global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Institute,</a:t>
            </a:r>
            <a:r>
              <a:rPr sz="1200" spc="-60" dirty="0">
                <a:latin typeface="Arial"/>
                <a:cs typeface="Arial"/>
              </a:rPr>
              <a:t> 2011.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Big </a:t>
            </a:r>
            <a:r>
              <a:rPr sz="1800" b="0" spc="-95" dirty="0">
                <a:latin typeface="Arial"/>
                <a:cs typeface="Arial"/>
              </a:rPr>
              <a:t>Data </a:t>
            </a:r>
            <a:r>
              <a:rPr sz="1800" b="0" spc="-135" dirty="0">
                <a:latin typeface="Arial"/>
                <a:cs typeface="Arial"/>
              </a:rPr>
              <a:t>(BD)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9621" y="1121314"/>
            <a:ext cx="6933740" cy="5167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18047" y="5814821"/>
            <a:ext cx="3114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 </a:t>
            </a:r>
            <a:r>
              <a:rPr sz="1200" spc="-50" dirty="0">
                <a:latin typeface="Arial"/>
                <a:cs typeface="Arial"/>
              </a:rPr>
              <a:t>Manyika, </a:t>
            </a:r>
            <a:r>
              <a:rPr sz="1200" spc="-114" dirty="0">
                <a:latin typeface="Arial"/>
                <a:cs typeface="Arial"/>
              </a:rPr>
              <a:t>J; </a:t>
            </a:r>
            <a:r>
              <a:rPr sz="1200" spc="-70" dirty="0">
                <a:latin typeface="Arial"/>
                <a:cs typeface="Arial"/>
              </a:rPr>
              <a:t>Chui, </a:t>
            </a:r>
            <a:r>
              <a:rPr sz="1200" spc="-5" dirty="0">
                <a:latin typeface="Arial"/>
                <a:cs typeface="Arial"/>
              </a:rPr>
              <a:t>M. et </a:t>
            </a:r>
            <a:r>
              <a:rPr sz="1200" spc="-40" dirty="0">
                <a:latin typeface="Arial"/>
                <a:cs typeface="Arial"/>
              </a:rPr>
              <a:t>alter. </a:t>
            </a:r>
            <a:r>
              <a:rPr sz="1200" i="1" spc="-35" dirty="0">
                <a:latin typeface="Trebuchet MS"/>
                <a:cs typeface="Trebuchet MS"/>
              </a:rPr>
              <a:t>Big</a:t>
            </a:r>
            <a:r>
              <a:rPr sz="1200" i="1" spc="-28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Data: </a:t>
            </a:r>
            <a:r>
              <a:rPr sz="1200" i="1" spc="-75" dirty="0">
                <a:latin typeface="Trebuchet MS"/>
                <a:cs typeface="Trebuchet MS"/>
              </a:rPr>
              <a:t>the  </a:t>
            </a:r>
            <a:r>
              <a:rPr sz="1200" i="1" spc="-80" dirty="0">
                <a:latin typeface="Trebuchet MS"/>
                <a:cs typeface="Trebuchet MS"/>
              </a:rPr>
              <a:t>next </a:t>
            </a:r>
            <a:r>
              <a:rPr sz="1200" i="1" spc="-85" dirty="0">
                <a:latin typeface="Trebuchet MS"/>
                <a:cs typeface="Trebuchet MS"/>
              </a:rPr>
              <a:t>frontier for </a:t>
            </a:r>
            <a:r>
              <a:rPr sz="1200" i="1" spc="-65" dirty="0">
                <a:latin typeface="Trebuchet MS"/>
                <a:cs typeface="Trebuchet MS"/>
              </a:rPr>
              <a:t>innovation, </a:t>
            </a:r>
            <a:r>
              <a:rPr sz="1200" i="1" spc="-70" dirty="0">
                <a:latin typeface="Trebuchet MS"/>
                <a:cs typeface="Trebuchet MS"/>
              </a:rPr>
              <a:t>competition </a:t>
            </a:r>
            <a:r>
              <a:rPr sz="1200" i="1" spc="-40" dirty="0">
                <a:latin typeface="Trebuchet MS"/>
                <a:cs typeface="Trebuchet MS"/>
              </a:rPr>
              <a:t>and  </a:t>
            </a:r>
            <a:r>
              <a:rPr sz="1200" i="1" spc="-70" dirty="0">
                <a:latin typeface="Trebuchet MS"/>
                <a:cs typeface="Trebuchet MS"/>
              </a:rPr>
              <a:t>productivity</a:t>
            </a:r>
            <a:r>
              <a:rPr sz="1200" spc="-70" dirty="0">
                <a:latin typeface="Arial"/>
                <a:cs typeface="Arial"/>
              </a:rPr>
              <a:t>, McKinsey </a:t>
            </a:r>
            <a:r>
              <a:rPr sz="1200" spc="-60" dirty="0">
                <a:latin typeface="Arial"/>
                <a:cs typeface="Arial"/>
              </a:rPr>
              <a:t>Global </a:t>
            </a:r>
            <a:r>
              <a:rPr sz="1200" spc="-20" dirty="0">
                <a:latin typeface="Arial"/>
                <a:cs typeface="Arial"/>
              </a:rPr>
              <a:t>Institute,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2011.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1836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II</a:t>
            </a:r>
            <a:r>
              <a:rPr sz="2000" spc="-155" dirty="0"/>
              <a:t> </a:t>
            </a:r>
            <a:r>
              <a:rPr sz="2000" spc="-120" dirty="0">
                <a:latin typeface="Arial"/>
                <a:cs typeface="Arial"/>
              </a:rPr>
              <a:t>–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/>
              <a:t>Sistemas</a:t>
            </a:r>
            <a:r>
              <a:rPr sz="2000" spc="-145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95" dirty="0"/>
              <a:t>soporte</a:t>
            </a:r>
            <a:r>
              <a:rPr sz="2000" spc="-145" dirty="0"/>
              <a:t> </a:t>
            </a:r>
            <a:r>
              <a:rPr sz="2000" spc="-100" dirty="0"/>
              <a:t>para</a:t>
            </a:r>
            <a:r>
              <a:rPr sz="2000" spc="-150" dirty="0"/>
              <a:t> </a:t>
            </a:r>
            <a:r>
              <a:rPr sz="2000" spc="-90" dirty="0"/>
              <a:t>la</a:t>
            </a:r>
            <a:r>
              <a:rPr sz="2000" spc="-150" dirty="0"/>
              <a:t> </a:t>
            </a:r>
            <a:r>
              <a:rPr sz="2000" spc="-90" dirty="0"/>
              <a:t>toma</a:t>
            </a:r>
            <a:r>
              <a:rPr sz="2000" spc="-150" dirty="0"/>
              <a:t> </a:t>
            </a:r>
            <a:r>
              <a:rPr sz="2000" spc="-120" dirty="0"/>
              <a:t>de</a:t>
            </a:r>
            <a:r>
              <a:rPr sz="2000" spc="-150" dirty="0"/>
              <a:t> </a:t>
            </a:r>
            <a:r>
              <a:rPr sz="2000" spc="-110" dirty="0"/>
              <a:t>decisiones</a:t>
            </a:r>
            <a:r>
              <a:rPr sz="2000" spc="-14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Proveedores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soluciones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80" dirty="0">
                <a:latin typeface="Arial"/>
                <a:cs typeface="Arial"/>
              </a:rPr>
              <a:t> </a:t>
            </a:r>
            <a:r>
              <a:rPr sz="1800" b="0" spc="-320" dirty="0">
                <a:latin typeface="Arial"/>
                <a:cs typeface="Arial"/>
              </a:rPr>
              <a:t>DSS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1055369"/>
            <a:ext cx="8804147" cy="5375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5273" y="1247647"/>
            <a:ext cx="47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41080" cy="4267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279400" marR="5080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200" spc="-110" dirty="0">
                <a:latin typeface="Arial"/>
                <a:cs typeface="Arial"/>
              </a:rPr>
              <a:t>Describimos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conceptualizamos de </a:t>
            </a:r>
            <a:r>
              <a:rPr sz="2200" spc="-95" dirty="0">
                <a:latin typeface="Arial"/>
                <a:cs typeface="Arial"/>
              </a:rPr>
              <a:t>qué </a:t>
            </a:r>
            <a:r>
              <a:rPr sz="2200" spc="-100" dirty="0">
                <a:latin typeface="Arial"/>
                <a:cs typeface="Arial"/>
              </a:rPr>
              <a:t>manera </a:t>
            </a:r>
            <a:r>
              <a:rPr sz="2200" spc="-190" dirty="0">
                <a:latin typeface="Arial"/>
                <a:cs typeface="Arial"/>
              </a:rPr>
              <a:t>se </a:t>
            </a:r>
            <a:r>
              <a:rPr sz="2200" spc="-95" dirty="0">
                <a:latin typeface="Arial"/>
                <a:cs typeface="Arial"/>
              </a:rPr>
              <a:t>pueden </a:t>
            </a:r>
            <a:r>
              <a:rPr sz="2200" spc="-80" dirty="0">
                <a:latin typeface="Arial"/>
                <a:cs typeface="Arial"/>
              </a:rPr>
              <a:t>gestionar </a:t>
            </a:r>
            <a:r>
              <a:rPr sz="2200" spc="-135" dirty="0">
                <a:latin typeface="Arial"/>
                <a:cs typeface="Arial"/>
              </a:rPr>
              <a:t>las  </a:t>
            </a:r>
            <a:r>
              <a:rPr sz="2200" spc="-95" dirty="0">
                <a:latin typeface="Arial"/>
                <a:cs typeface="Arial"/>
              </a:rPr>
              <a:t>relaciones </a:t>
            </a:r>
            <a:r>
              <a:rPr sz="2200" spc="-100" dirty="0">
                <a:latin typeface="Arial"/>
                <a:cs typeface="Arial"/>
              </a:rPr>
              <a:t>con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75" dirty="0">
                <a:latin typeface="Arial"/>
                <a:cs typeface="Arial"/>
              </a:rPr>
              <a:t>clientes,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0" dirty="0">
                <a:latin typeface="Arial"/>
                <a:cs typeface="Arial"/>
              </a:rPr>
              <a:t>partir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65" dirty="0">
                <a:latin typeface="Arial"/>
                <a:cs typeface="Arial"/>
              </a:rPr>
              <a:t>implementación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430" dirty="0">
                <a:latin typeface="Arial"/>
                <a:cs typeface="Arial"/>
              </a:rPr>
              <a:t> </a:t>
            </a:r>
            <a:r>
              <a:rPr sz="2200" spc="-210" dirty="0">
                <a:latin typeface="Arial"/>
                <a:cs typeface="Arial"/>
              </a:rPr>
              <a:t>CRM.</a:t>
            </a:r>
            <a:endParaRPr sz="2200">
              <a:latin typeface="Arial"/>
              <a:cs typeface="Arial"/>
            </a:endParaRPr>
          </a:p>
          <a:p>
            <a:pPr marL="279400" marR="571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85" dirty="0">
                <a:latin typeface="Arial"/>
                <a:cs typeface="Arial"/>
              </a:rPr>
              <a:t>Definimos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50" dirty="0">
                <a:latin typeface="Arial"/>
                <a:cs typeface="Arial"/>
              </a:rPr>
              <a:t>tipos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260" dirty="0">
                <a:latin typeface="Arial"/>
                <a:cs typeface="Arial"/>
              </a:rPr>
              <a:t>CRM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05" dirty="0">
                <a:latin typeface="Arial"/>
                <a:cs typeface="Arial"/>
              </a:rPr>
              <a:t>diversos </a:t>
            </a:r>
            <a:r>
              <a:rPr sz="2200" spc="-100" dirty="0">
                <a:latin typeface="Arial"/>
                <a:cs typeface="Arial"/>
              </a:rPr>
              <a:t>abordajes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30" dirty="0">
                <a:latin typeface="Arial"/>
                <a:cs typeface="Arial"/>
              </a:rPr>
              <a:t>estas </a:t>
            </a:r>
            <a:r>
              <a:rPr sz="2200" spc="-75" dirty="0">
                <a:latin typeface="Arial"/>
                <a:cs typeface="Arial"/>
              </a:rPr>
              <a:t>iniciativas  </a:t>
            </a:r>
            <a:r>
              <a:rPr sz="2200" spc="-95" dirty="0">
                <a:latin typeface="Arial"/>
                <a:cs typeface="Arial"/>
              </a:rPr>
              <a:t>pueden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tener.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120" dirty="0">
                <a:latin typeface="Arial"/>
                <a:cs typeface="Arial"/>
              </a:rPr>
              <a:t>Exploramos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95" dirty="0">
                <a:latin typeface="Arial"/>
                <a:cs typeface="Arial"/>
              </a:rPr>
              <a:t>mercado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260" dirty="0">
                <a:latin typeface="Arial"/>
                <a:cs typeface="Arial"/>
              </a:rPr>
              <a:t>CRM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20" dirty="0">
                <a:latin typeface="Arial"/>
                <a:cs typeface="Arial"/>
              </a:rPr>
              <a:t>diversas</a:t>
            </a:r>
            <a:r>
              <a:rPr sz="2200" spc="-42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alternativas.</a:t>
            </a:r>
            <a:endParaRPr sz="22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100" dirty="0">
                <a:latin typeface="Arial"/>
                <a:cs typeface="Arial"/>
              </a:rPr>
              <a:t>Discutimos </a:t>
            </a:r>
            <a:r>
              <a:rPr sz="2200" spc="-135" dirty="0">
                <a:latin typeface="Arial"/>
                <a:cs typeface="Arial"/>
              </a:rPr>
              <a:t>acerca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75" dirty="0">
                <a:latin typeface="Arial"/>
                <a:cs typeface="Arial"/>
              </a:rPr>
              <a:t>evolución </a:t>
            </a:r>
            <a:r>
              <a:rPr sz="2200" spc="-105" dirty="0">
                <a:latin typeface="Arial"/>
                <a:cs typeface="Arial"/>
              </a:rPr>
              <a:t>de </a:t>
            </a:r>
            <a:r>
              <a:rPr sz="2200" spc="-254" dirty="0">
                <a:latin typeface="Arial"/>
                <a:cs typeface="Arial"/>
              </a:rPr>
              <a:t>CRM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40" dirty="0">
                <a:latin typeface="Arial"/>
                <a:cs typeface="Arial"/>
              </a:rPr>
              <a:t>tiempo, </a:t>
            </a:r>
            <a:r>
              <a:rPr sz="2200" spc="-175" dirty="0">
                <a:latin typeface="Arial"/>
                <a:cs typeface="Arial"/>
              </a:rPr>
              <a:t>así </a:t>
            </a:r>
            <a:r>
              <a:rPr sz="2200" spc="-100" dirty="0">
                <a:latin typeface="Arial"/>
                <a:cs typeface="Arial"/>
              </a:rPr>
              <a:t>como  </a:t>
            </a:r>
            <a:r>
              <a:rPr sz="2200" spc="-55" dirty="0">
                <a:latin typeface="Arial"/>
                <a:cs typeface="Arial"/>
              </a:rPr>
              <a:t>también, </a:t>
            </a:r>
            <a:r>
              <a:rPr sz="2200" spc="-60" dirty="0">
                <a:latin typeface="Arial"/>
                <a:cs typeface="Arial"/>
              </a:rPr>
              <a:t>el nivel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adopción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60" dirty="0">
                <a:latin typeface="Arial"/>
                <a:cs typeface="Arial"/>
              </a:rPr>
              <a:t>nivel </a:t>
            </a:r>
            <a:r>
              <a:rPr sz="2200" spc="-80" dirty="0">
                <a:latin typeface="Arial"/>
                <a:cs typeface="Arial"/>
              </a:rPr>
              <a:t>local </a:t>
            </a:r>
            <a:r>
              <a:rPr sz="2200" spc="-55" dirty="0">
                <a:latin typeface="Arial"/>
                <a:cs typeface="Arial"/>
              </a:rPr>
              <a:t>(particularmente,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80" dirty="0">
                <a:latin typeface="Arial"/>
                <a:cs typeface="Arial"/>
              </a:rPr>
              <a:t>sector  </a:t>
            </a:r>
            <a:r>
              <a:rPr sz="2200" spc="-50" dirty="0">
                <a:latin typeface="Arial"/>
                <a:cs typeface="Arial"/>
              </a:rPr>
              <a:t>corporativo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argentino).</a:t>
            </a:r>
            <a:endParaRPr sz="2200">
              <a:latin typeface="Arial"/>
              <a:cs typeface="Arial"/>
            </a:endParaRPr>
          </a:p>
          <a:p>
            <a:pPr marL="279400" marR="571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100" dirty="0">
                <a:latin typeface="Arial"/>
                <a:cs typeface="Arial"/>
              </a:rPr>
              <a:t>Explicitamos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85" dirty="0">
                <a:latin typeface="Arial"/>
                <a:cs typeface="Arial"/>
              </a:rPr>
              <a:t>principales </a:t>
            </a:r>
            <a:r>
              <a:rPr sz="2200" spc="-80" dirty="0">
                <a:latin typeface="Arial"/>
                <a:cs typeface="Arial"/>
              </a:rPr>
              <a:t>problemáticas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5" dirty="0">
                <a:latin typeface="Arial"/>
                <a:cs typeface="Arial"/>
              </a:rPr>
              <a:t>fallas </a:t>
            </a:r>
            <a:r>
              <a:rPr sz="2200" spc="-80" dirty="0">
                <a:latin typeface="Arial"/>
                <a:cs typeface="Arial"/>
              </a:rPr>
              <a:t>detrás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un </a:t>
            </a:r>
            <a:r>
              <a:rPr sz="2200" spc="-105" dirty="0">
                <a:latin typeface="Arial"/>
                <a:cs typeface="Arial"/>
              </a:rPr>
              <a:t>proceso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5" dirty="0">
                <a:latin typeface="Arial"/>
                <a:cs typeface="Arial"/>
              </a:rPr>
              <a:t>implementación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210" dirty="0">
                <a:latin typeface="Arial"/>
                <a:cs typeface="Arial"/>
              </a:rPr>
              <a:t>CRM.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42350" cy="620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279400" marR="6350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200" spc="-114" dirty="0">
                <a:latin typeface="Arial"/>
                <a:cs typeface="Arial"/>
              </a:rPr>
              <a:t>Discuta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05" dirty="0">
                <a:latin typeface="Arial"/>
                <a:cs typeface="Arial"/>
              </a:rPr>
              <a:t>diversos </a:t>
            </a:r>
            <a:r>
              <a:rPr sz="2200" spc="-50" dirty="0">
                <a:latin typeface="Arial"/>
                <a:cs typeface="Arial"/>
              </a:rPr>
              <a:t>tipos </a:t>
            </a:r>
            <a:r>
              <a:rPr sz="2200" spc="240" dirty="0">
                <a:latin typeface="Arial"/>
                <a:cs typeface="Arial"/>
              </a:rPr>
              <a:t>/ </a:t>
            </a:r>
            <a:r>
              <a:rPr sz="2200" spc="-60" dirty="0">
                <a:latin typeface="Arial"/>
                <a:cs typeface="Arial"/>
              </a:rPr>
              <a:t>requerimientos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5" dirty="0">
                <a:latin typeface="Arial"/>
                <a:cs typeface="Arial"/>
              </a:rPr>
              <a:t>información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120" dirty="0">
                <a:latin typeface="Arial"/>
                <a:cs typeface="Arial"/>
              </a:rPr>
              <a:t>poseen  </a:t>
            </a:r>
            <a:r>
              <a:rPr sz="2200" spc="-135" dirty="0">
                <a:latin typeface="Arial"/>
                <a:cs typeface="Arial"/>
              </a:rPr>
              <a:t>las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organizaciones.</a:t>
            </a:r>
            <a:endParaRPr sz="2200">
              <a:latin typeface="Arial"/>
              <a:cs typeface="Arial"/>
            </a:endParaRPr>
          </a:p>
          <a:p>
            <a:pPr marL="279400" marR="571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50" dirty="0">
                <a:latin typeface="Arial"/>
                <a:cs typeface="Arial"/>
              </a:rPr>
              <a:t>tipos </a:t>
            </a:r>
            <a:r>
              <a:rPr sz="2200" spc="-105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estructuras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decisión </a:t>
            </a:r>
            <a:r>
              <a:rPr sz="2200" spc="-100" dirty="0">
                <a:latin typeface="Arial"/>
                <a:cs typeface="Arial"/>
              </a:rPr>
              <a:t>existen? </a:t>
            </a: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60" dirty="0">
                <a:latin typeface="Arial"/>
                <a:cs typeface="Arial"/>
              </a:rPr>
              <a:t>nivel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empresa  </a:t>
            </a:r>
            <a:r>
              <a:rPr sz="2200" spc="-165" dirty="0">
                <a:latin typeface="Arial"/>
                <a:cs typeface="Arial"/>
              </a:rPr>
              <a:t>usa </a:t>
            </a:r>
            <a:r>
              <a:rPr sz="2200" spc="-150" dirty="0">
                <a:latin typeface="Arial"/>
                <a:cs typeface="Arial"/>
              </a:rPr>
              <a:t>cada </a:t>
            </a:r>
            <a:r>
              <a:rPr sz="2200" spc="-75" dirty="0">
                <a:latin typeface="Arial"/>
                <a:cs typeface="Arial"/>
              </a:rPr>
              <a:t>estructura? </a:t>
            </a: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100" dirty="0">
                <a:latin typeface="Arial"/>
                <a:cs typeface="Arial"/>
              </a:rPr>
              <a:t>características </a:t>
            </a:r>
            <a:r>
              <a:rPr sz="2200" spc="-40" dirty="0">
                <a:latin typeface="Arial"/>
                <a:cs typeface="Arial"/>
              </a:rPr>
              <a:t>tiene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información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50" dirty="0">
                <a:latin typeface="Arial"/>
                <a:cs typeface="Arial"/>
              </a:rPr>
              <a:t>cada  </a:t>
            </a:r>
            <a:r>
              <a:rPr sz="2200" spc="-135" dirty="0">
                <a:latin typeface="Arial"/>
                <a:cs typeface="Arial"/>
              </a:rPr>
              <a:t>una?</a:t>
            </a:r>
            <a:endParaRPr sz="2200">
              <a:latin typeface="Arial"/>
              <a:cs typeface="Arial"/>
            </a:endParaRPr>
          </a:p>
          <a:p>
            <a:pPr marL="279400" marR="698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85" dirty="0">
                <a:latin typeface="Arial"/>
                <a:cs typeface="Arial"/>
              </a:rPr>
              <a:t>Brinde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60" dirty="0">
                <a:latin typeface="Arial"/>
                <a:cs typeface="Arial"/>
              </a:rPr>
              <a:t>ejemplo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decisión </a:t>
            </a:r>
            <a:r>
              <a:rPr sz="2200" spc="-70" dirty="0">
                <a:latin typeface="Arial"/>
                <a:cs typeface="Arial"/>
              </a:rPr>
              <a:t>estructurada, </a:t>
            </a:r>
            <a:r>
              <a:rPr sz="2200" spc="-80" dirty="0">
                <a:latin typeface="Arial"/>
                <a:cs typeface="Arial"/>
              </a:rPr>
              <a:t>semiestructurada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0" dirty="0">
                <a:latin typeface="Arial"/>
                <a:cs typeface="Arial"/>
              </a:rPr>
              <a:t>no  </a:t>
            </a:r>
            <a:r>
              <a:rPr sz="2200" spc="-65" dirty="0">
                <a:latin typeface="Arial"/>
                <a:cs typeface="Arial"/>
              </a:rPr>
              <a:t>estructurada</a:t>
            </a:r>
            <a:endParaRPr sz="2200">
              <a:latin typeface="Arial"/>
              <a:cs typeface="Arial"/>
            </a:endParaRPr>
          </a:p>
          <a:p>
            <a:pPr marL="279400" marR="698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85" dirty="0">
                <a:latin typeface="Arial"/>
                <a:cs typeface="Arial"/>
              </a:rPr>
              <a:t>Brinde </a:t>
            </a:r>
            <a:r>
              <a:rPr sz="2200" spc="-130" dirty="0">
                <a:latin typeface="Arial"/>
                <a:cs typeface="Arial"/>
              </a:rPr>
              <a:t>dos </a:t>
            </a:r>
            <a:r>
              <a:rPr sz="2200" spc="-85" dirty="0">
                <a:latin typeface="Arial"/>
                <a:cs typeface="Arial"/>
              </a:rPr>
              <a:t>ejemplos </a:t>
            </a:r>
            <a:r>
              <a:rPr sz="2200" spc="-100" dirty="0">
                <a:latin typeface="Arial"/>
                <a:cs typeface="Arial"/>
              </a:rPr>
              <a:t>de características 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información </a:t>
            </a:r>
            <a:r>
              <a:rPr sz="2200" spc="-100" dirty="0">
                <a:latin typeface="Arial"/>
                <a:cs typeface="Arial"/>
              </a:rPr>
              <a:t>para </a:t>
            </a:r>
            <a:r>
              <a:rPr sz="2200" spc="-150" dirty="0">
                <a:latin typeface="Arial"/>
                <a:cs typeface="Arial"/>
              </a:rPr>
              <a:t>cada </a:t>
            </a:r>
            <a:r>
              <a:rPr sz="2200" spc="-75" dirty="0">
                <a:latin typeface="Arial"/>
                <a:cs typeface="Arial"/>
              </a:rPr>
              <a:t>uno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75" dirty="0">
                <a:latin typeface="Arial"/>
                <a:cs typeface="Arial"/>
              </a:rPr>
              <a:t>parámetros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calidad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80" dirty="0">
                <a:latin typeface="Arial"/>
                <a:cs typeface="Arial"/>
              </a:rPr>
              <a:t>Brinde </a:t>
            </a:r>
            <a:r>
              <a:rPr sz="2200" spc="-130" dirty="0">
                <a:latin typeface="Arial"/>
                <a:cs typeface="Arial"/>
              </a:rPr>
              <a:t>dos </a:t>
            </a:r>
            <a:r>
              <a:rPr sz="2200" spc="-85" dirty="0">
                <a:latin typeface="Arial"/>
                <a:cs typeface="Arial"/>
              </a:rPr>
              <a:t>ejemplos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modelación</a:t>
            </a:r>
            <a:r>
              <a:rPr sz="2200" spc="-24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analítica</a:t>
            </a:r>
            <a:endParaRPr sz="2200">
              <a:latin typeface="Arial"/>
              <a:cs typeface="Arial"/>
            </a:endParaRPr>
          </a:p>
          <a:p>
            <a:pPr marL="279400" marR="762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75" dirty="0">
                <a:latin typeface="Arial"/>
                <a:cs typeface="Arial"/>
              </a:rPr>
              <a:t>Inteligencia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5" dirty="0">
                <a:latin typeface="Arial"/>
                <a:cs typeface="Arial"/>
              </a:rPr>
              <a:t>Negocios </a:t>
            </a:r>
            <a:r>
              <a:rPr sz="2200" spc="-150" dirty="0">
                <a:latin typeface="Arial"/>
                <a:cs typeface="Arial"/>
              </a:rPr>
              <a:t>(Business </a:t>
            </a:r>
            <a:r>
              <a:rPr sz="2200" spc="-80" dirty="0">
                <a:latin typeface="Arial"/>
                <a:cs typeface="Arial"/>
              </a:rPr>
              <a:t>Intelligence)? </a:t>
            </a:r>
            <a:r>
              <a:rPr sz="2200" spc="-195" dirty="0">
                <a:latin typeface="Arial"/>
                <a:cs typeface="Arial"/>
              </a:rPr>
              <a:t>¿Qué  </a:t>
            </a:r>
            <a:r>
              <a:rPr sz="2200" spc="-85" dirty="0">
                <a:latin typeface="Arial"/>
                <a:cs typeface="Arial"/>
              </a:rPr>
              <a:t>beneficios </a:t>
            </a:r>
            <a:r>
              <a:rPr sz="2200" spc="-60" dirty="0">
                <a:latin typeface="Arial"/>
                <a:cs typeface="Arial"/>
              </a:rPr>
              <a:t>le </a:t>
            </a:r>
            <a:r>
              <a:rPr sz="2200" spc="-55" dirty="0">
                <a:latin typeface="Arial"/>
                <a:cs typeface="Arial"/>
              </a:rPr>
              <a:t>otorga </a:t>
            </a:r>
            <a:r>
              <a:rPr sz="2200" spc="-80" dirty="0">
                <a:latin typeface="Arial"/>
                <a:cs typeface="Arial"/>
              </a:rPr>
              <a:t>al </a:t>
            </a:r>
            <a:r>
              <a:rPr sz="2200" spc="-110" dirty="0">
                <a:latin typeface="Arial"/>
                <a:cs typeface="Arial"/>
              </a:rPr>
              <a:t>negocio?</a:t>
            </a:r>
            <a:r>
              <a:rPr sz="2200" spc="-32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Ejemplifique.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Minería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Datos </a:t>
            </a:r>
            <a:r>
              <a:rPr sz="2200" spc="-110" dirty="0">
                <a:latin typeface="Arial"/>
                <a:cs typeface="Arial"/>
              </a:rPr>
              <a:t>(Data </a:t>
            </a:r>
            <a:r>
              <a:rPr sz="2200" spc="-70" dirty="0">
                <a:latin typeface="Arial"/>
                <a:cs typeface="Arial"/>
              </a:rPr>
              <a:t>Mining)? </a:t>
            </a:r>
            <a:r>
              <a:rPr sz="2200" spc="-200" dirty="0">
                <a:latin typeface="Arial"/>
                <a:cs typeface="Arial"/>
              </a:rPr>
              <a:t>¿Para </a:t>
            </a:r>
            <a:r>
              <a:rPr sz="2200" spc="-90" dirty="0">
                <a:latin typeface="Arial"/>
                <a:cs typeface="Arial"/>
              </a:rPr>
              <a:t>qué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sirve?</a:t>
            </a:r>
            <a:endParaRPr sz="22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195" dirty="0">
                <a:latin typeface="Arial"/>
                <a:cs typeface="Arial"/>
              </a:rPr>
              <a:t>¿Qué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150" dirty="0">
                <a:latin typeface="Arial"/>
                <a:cs typeface="Arial"/>
              </a:rPr>
              <a:t>Big </a:t>
            </a:r>
            <a:r>
              <a:rPr sz="2200" spc="-135" dirty="0">
                <a:latin typeface="Arial"/>
                <a:cs typeface="Arial"/>
              </a:rPr>
              <a:t>Data? </a:t>
            </a:r>
            <a:r>
              <a:rPr sz="2200" spc="-195" dirty="0">
                <a:latin typeface="Arial"/>
                <a:cs typeface="Arial"/>
              </a:rPr>
              <a:t>¿Cuáles </a:t>
            </a:r>
            <a:r>
              <a:rPr sz="2200" spc="-130" dirty="0">
                <a:latin typeface="Arial"/>
                <a:cs typeface="Arial"/>
              </a:rPr>
              <a:t>son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5" dirty="0">
                <a:latin typeface="Arial"/>
                <a:cs typeface="Arial"/>
              </a:rPr>
              <a:t>tendencias </a:t>
            </a:r>
            <a:r>
              <a:rPr sz="2200" spc="-110" dirty="0">
                <a:latin typeface="Arial"/>
                <a:cs typeface="Arial"/>
              </a:rPr>
              <a:t>derivadas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55" dirty="0">
                <a:latin typeface="Arial"/>
                <a:cs typeface="Arial"/>
              </a:rPr>
              <a:t>su </a:t>
            </a:r>
            <a:r>
              <a:rPr sz="2200" spc="-70" dirty="0">
                <a:latin typeface="Arial"/>
                <a:cs typeface="Arial"/>
              </a:rPr>
              <a:t>utilización?  </a:t>
            </a:r>
            <a:r>
              <a:rPr sz="2200" spc="-50" dirty="0">
                <a:latin typeface="Arial"/>
                <a:cs typeface="Arial"/>
              </a:rPr>
              <a:t>Aporte </a:t>
            </a:r>
            <a:r>
              <a:rPr sz="2200" spc="-95" dirty="0">
                <a:latin typeface="Arial"/>
                <a:cs typeface="Arial"/>
              </a:rPr>
              <a:t>evidencia </a:t>
            </a:r>
            <a:r>
              <a:rPr sz="2200" spc="-114" dirty="0">
                <a:latin typeface="Arial"/>
                <a:cs typeface="Arial"/>
              </a:rPr>
              <a:t>específica </a:t>
            </a:r>
            <a:r>
              <a:rPr sz="2200" spc="-100" dirty="0">
                <a:latin typeface="Arial"/>
                <a:cs typeface="Arial"/>
              </a:rPr>
              <a:t>sobre los </a:t>
            </a:r>
            <a:r>
              <a:rPr sz="2200" spc="-85" dirty="0">
                <a:latin typeface="Arial"/>
                <a:cs typeface="Arial"/>
              </a:rPr>
              <a:t>beneficios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00" dirty="0">
                <a:latin typeface="Arial"/>
                <a:cs typeface="Arial"/>
              </a:rPr>
              <a:t>puede </a:t>
            </a:r>
            <a:r>
              <a:rPr sz="2200" spc="-20" dirty="0">
                <a:latin typeface="Arial"/>
                <a:cs typeface="Arial"/>
              </a:rPr>
              <a:t>traer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05" dirty="0">
                <a:latin typeface="Arial"/>
                <a:cs typeface="Arial"/>
              </a:rPr>
              <a:t>los  diversos sectores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17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economía.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¿Dudas?</a:t>
            </a:r>
          </a:p>
          <a:p>
            <a:pPr marL="12700">
              <a:lnSpc>
                <a:spcPct val="100000"/>
              </a:lnSpc>
            </a:pPr>
            <a:r>
              <a:rPr spc="-105" dirty="0"/>
              <a:t>¿Consultas?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2932</TotalTime>
  <Words>6426</Words>
  <Application>Microsoft Office PowerPoint</Application>
  <PresentationFormat>Presentación en pantalla (4:3)</PresentationFormat>
  <Paragraphs>591</Paragraphs>
  <Slides>64</Slides>
  <Notes>0</Notes>
  <HiddenSlides>17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1" baseType="lpstr">
      <vt:lpstr>Arial</vt:lpstr>
      <vt:lpstr>Calibri</vt:lpstr>
      <vt:lpstr>Times New Roman</vt:lpstr>
      <vt:lpstr>Trebuchet MS</vt:lpstr>
      <vt:lpstr>Verdana</vt:lpstr>
      <vt:lpstr>Wingdings</vt:lpstr>
      <vt:lpstr>Office Theme</vt:lpstr>
      <vt:lpstr>Sistemas de  Información</vt:lpstr>
      <vt:lpstr>Presentación de PowerPoint</vt:lpstr>
      <vt:lpstr>Presentación de PowerPoint</vt:lpstr>
      <vt:lpstr>I – CRM (Customer Relationship Management) Concepto y objetivos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 – CRM (Customer Relationship Management) (Cont.) Componentes clave, tipos y orientaciones de CRM. Mercado de soluciones de CRM (Cont.)</vt:lpstr>
      <vt:lpstr>I – CRM (Customer Relationship Management) (Cont.) Componentes clave, tipos y orientaciones de CRM. Mercado de soluciones de CRM (Cont.)</vt:lpstr>
      <vt:lpstr>Presentación de PowerPoint</vt:lpstr>
      <vt:lpstr>I – CRM (Customer Relationship Management) (Cont.) Componentes clave, tipos y orientaciones de CRM. Mercado de soluciones de CRM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 – CRM (Customer Relationship Management) (Cont.) Puntos críticos para su adecuada gestión en las organizaciones (Cont.)</vt:lpstr>
      <vt:lpstr>I – CRM (Customer Relationship Management) (Cont.) Puntos críticos para su adecuada gestión en las organizaciones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Sistemas de soporte  para la toma de  decisiones</vt:lpstr>
      <vt:lpstr>II – Sistemas de soporte para la toma de decisiones Necesidades de información en la organización</vt:lpstr>
      <vt:lpstr>II – Sistemas de soporte para la toma de decisiones (Cont.) Necesidades de información en la organización (Cont.)</vt:lpstr>
      <vt:lpstr>Presentación de PowerPoint</vt:lpstr>
      <vt:lpstr>II – Sistemas de soporte para la toma de decisiones (Cont.) Necesidades de información en la organización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 – Sistemas de soporte para la toma de decisiones (Cont.) Concepto y objetivos del DSS (Cont.)</vt:lpstr>
      <vt:lpstr>II – Sistemas de soporte para la toma de decisiones (Cont.) Concepto y objetivos del DSS (Cont.)</vt:lpstr>
      <vt:lpstr>Presentación de PowerPoint</vt:lpstr>
      <vt:lpstr>II – Sistemas de soporte para la toma de decisiones (Cont.) Business Intelligence (BI) (Cont.)</vt:lpstr>
      <vt:lpstr>II – Sistemas de soporte para la toma de decisiones (Cont.) Business Intelligence (BI) (Cont.)</vt:lpstr>
      <vt:lpstr>II – Sistemas de soporte para la toma de decisiones (Cont.) Business Intelligence (BI) (Cont.)</vt:lpstr>
      <vt:lpstr>Presentación de PowerPoint</vt:lpstr>
      <vt:lpstr>Presentación de PowerPoint</vt:lpstr>
      <vt:lpstr>Presentación de PowerPoint</vt:lpstr>
      <vt:lpstr>II – Sistemas de soporte para la toma de decisiones (Cont.) Business Intelligence (BI) (Cont.)</vt:lpstr>
      <vt:lpstr>II – Sistemas de soporte para la toma de decisiones (Cont.) Business Intelligence (BI) (Cont.)</vt:lpstr>
      <vt:lpstr>Presentación de PowerPoint</vt:lpstr>
      <vt:lpstr>II – Sistemas de soporte para la toma de decisiones (Cont.) Data Mining (DM) (Cont.)</vt:lpstr>
      <vt:lpstr>II – Sistemas de soporte para la toma de decisiones (Cont.) Data Mining (DM) (Cont.)</vt:lpstr>
      <vt:lpstr>II – Sistemas de soporte para la toma de decisiones (Cont.) Data Mining (DM) (Cont.)</vt:lpstr>
      <vt:lpstr>II – Sistemas de soporte para la toma de decisiones (Cont.) Big Data (BD)</vt:lpstr>
      <vt:lpstr>II – Sistemas de soporte para la toma de decisiones (Cont.) Big Data (BD) (Cont.)</vt:lpstr>
      <vt:lpstr>Presentación de PowerPoint</vt:lpstr>
      <vt:lpstr>II – Sistemas de soporte para la toma de decisiones (Cont.) Big Data (BD) (Cont.)</vt:lpstr>
      <vt:lpstr>II – Sistemas de soporte para la toma de decisiones (Cont.) Big Data (BD) (Cont.)</vt:lpstr>
      <vt:lpstr>II – Sistemas de soporte para la toma de decisiones (Cont.) Big Data (BD) (Cont.)</vt:lpstr>
      <vt:lpstr>II – Sistemas de soporte para la toma de decisiones (Cont.) Proveedores de soluciones de DSS</vt:lpstr>
      <vt:lpstr>Presentación de PowerPoint</vt:lpstr>
      <vt:lpstr>Presentación de PowerPoint</vt:lpstr>
      <vt:lpstr>Presentación de PowerPoint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Klus Javier Fernando</cp:lastModifiedBy>
  <cp:revision>10</cp:revision>
  <cp:lastPrinted>2019-10-16T21:12:02Z</cp:lastPrinted>
  <dcterms:created xsi:type="dcterms:W3CDTF">2019-09-30T15:17:40Z</dcterms:created>
  <dcterms:modified xsi:type="dcterms:W3CDTF">2021-05-17T20:04:15Z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2019-09-30T00:00:00Z</vt:filetime>
  </property>
</Properties>
</file>